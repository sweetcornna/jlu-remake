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e_ch0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e_ch0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6c3d234073c819d.pn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9ba3373f7eec13db.pn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fd20cf7b40f9026.png"/>
</Relationships>
</file>

<file path=ppt/slides/_rels/slide4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cover-hero"/>
          <p:cNvPicPr>
            <a:picLocks noChangeAspect="1"/>
          </p:cNvPicPr>
          <p:nvPr/>
        </p:nvPicPr>
        <p:blipFill>
          <a:blip r:embed="rId2"/>
          <a:stretch>
            <a:fillRect/>
          </a:stretch>
        </p:blipFill>
        <p:spPr>
          <a:xfrm>
            <a:off x="0" y="0"/>
            <a:ext cx="12192000" cy="6858000"/>
          </a:xfrm>
          <a:prstGeom prst="rect">
            <a:avLst/>
          </a:prstGeom>
        </p:spPr>
      </p:pic>
      <p:sp>
        <p:nvSpPr>
          <p:cNvPr id="3" name="cover-scrim"/>
          <p:cNvSpPr/>
          <p:nvPr/>
        </p:nvSpPr>
        <p:spPr>
          <a:xfrm>
            <a:off x="0" y="0"/>
            <a:ext cx="7620000" cy="6858000"/>
          </a:xfrm>
          <a:prstGeom prst="rect">
            <a:avLst/>
          </a:prstGeom>
          <a:gradFill>
            <a:gsLst>
              <a:gs pos="0">
                <a:srgbClr val="FFFFFF">
                  <a:alpha val="97000"/>
                </a:srgbClr>
              </a:gs>
              <a:gs pos="58000">
                <a:srgbClr val="FFFFFF">
                  <a:alpha val="85000"/>
                </a:srgbClr>
              </a:gs>
              <a:gs pos="100000">
                <a:srgbClr val="FFFFFF">
                  <a:alpha val="0"/>
                </a:srgbClr>
              </a:gs>
            </a:gsLst>
            <a:lin ang="0" scaled="1"/>
          </a:gradFill>
          <a:ln>
            <a:noFill/>
          </a:ln>
        </p:spPr>
      </p:sp>
      <p:grpSp>
        <p:nvGrpSpPr>
          <p:cNvPr id="17" name="cover-title"/>
          <p:cNvGrpSpPr/>
          <p:nvPr/>
        </p:nvGrpSpPr>
        <p:grpSpPr>
          <a:xfrm>
            <a:off x="666750" y="1619250"/>
            <a:ext cx="3178302" cy="3437763"/>
            <a:chOff x="666750" y="1619250"/>
            <a:chExt cx="3178302" cy="3437763"/>
          </a:xfrm>
        </p:grpSpPr>
        <p:sp>
          <p:nvSpPr>
            <p:cNvPr id="4" name="Rectangle 4"/>
            <p:cNvSpPr/>
            <p:nvPr/>
          </p:nvSpPr>
          <p:spPr>
            <a:xfrm>
              <a:off x="685800" y="1619250"/>
              <a:ext cx="1593532" cy="342900"/>
            </a:xfrm>
            <a:prstGeom prst="roundRect">
              <a:avLst>
                <a:gd name="adj" fmla="val 50000"/>
              </a:avLst>
            </a:prstGeom>
            <a:solidFill>
              <a:srgbClr val="E7EDF3"/>
            </a:solidFill>
            <a:ln>
              <a:noFill/>
            </a:ln>
          </p:spPr>
        </p:sp>
        <p:sp>
          <p:nvSpPr>
            <p:cNvPr id="5" name="TextBox 5"/>
            <p:cNvSpPr txBox="1"/>
            <p:nvPr/>
          </p:nvSpPr>
          <p:spPr>
            <a:xfrm>
              <a:off x="814010" y="1718310"/>
              <a:ext cx="1338064" cy="234696"/>
            </a:xfrm>
            <a:prstGeom prst="rect">
              <a:avLst/>
            </a:prstGeom>
            <a:noFill/>
            <a:ln>
              <a:noFill/>
            </a:ln>
          </p:spPr>
          <p:txBody>
            <a:bodyPr wrap="none" lIns="0" tIns="0" rIns="0" bIns="0" anchor="t" anchorCtr="0">
              <a:spAutoFit/>
            </a:bodyPr>
            <a:lstStyle/>
            <a:p>
              <a:pPr algn="ctr"/>
              <a:r>
                <a:rPr lang="zh-CN" sz="1200" b="1" dirty="0">
                  <a:solidFill>
                    <a:srgbClr val="334E68"/>
                  </a:solidFill>
                  <a:latin typeface="+mn-lt"/>
                  <a:ea typeface="+mn-ea"/>
                  <a:cs typeface="+mn-cs"/>
                </a:rPr>
                <a:t>软件工程 · 第六章</a:t>
              </a:r>
            </a:p>
          </p:txBody>
        </p:sp>
        <p:sp>
          <p:nvSpPr>
            <p:cNvPr id="6" name="TextBox 6"/>
            <p:cNvSpPr txBox="1"/>
            <p:nvPr/>
          </p:nvSpPr>
          <p:spPr>
            <a:xfrm>
              <a:off x="666750" y="2407920"/>
              <a:ext cx="2299716" cy="819150"/>
            </a:xfrm>
            <a:prstGeom prst="rect">
              <a:avLst/>
            </a:prstGeom>
            <a:noFill/>
            <a:ln>
              <a:noFill/>
            </a:ln>
          </p:spPr>
          <p:txBody>
            <a:bodyPr wrap="none" lIns="0" tIns="0" rIns="0" bIns="0" anchor="t" anchorCtr="0">
              <a:spAutoFit/>
            </a:bodyPr>
            <a:lstStyle/>
            <a:p>
              <a:pPr algn="l"/>
              <a:r>
                <a:rPr lang="zh-CN" sz="4200" b="1" dirty="0">
                  <a:solidFill>
                    <a:srgbClr val="1F2937"/>
                  </a:solidFill>
                  <a:latin typeface="+mn-lt"/>
                  <a:ea typeface="+mn-ea"/>
                  <a:cs typeface="+mn-cs"/>
                </a:rPr>
                <a:t>详细设计</a:t>
              </a:r>
            </a:p>
          </p:txBody>
        </p:sp>
        <p:sp>
          <p:nvSpPr>
            <p:cNvPr id="7" name="Rectangle 7"/>
            <p:cNvSpPr/>
            <p:nvPr/>
          </p:nvSpPr>
          <p:spPr>
            <a:xfrm>
              <a:off x="685800" y="3147060"/>
              <a:ext cx="990600" cy="57150"/>
            </a:xfrm>
            <a:prstGeom prst="roundRect">
              <a:avLst>
                <a:gd name="adj" fmla="val 50000"/>
              </a:avLst>
            </a:prstGeom>
            <a:gradFill>
              <a:gsLst>
                <a:gs pos="0">
                  <a:srgbClr val="334E68"/>
                </a:gs>
                <a:gs pos="100000">
                  <a:srgbClr val="F26B3A"/>
                </a:gs>
              </a:gsLst>
              <a:lin ang="0" scaled="1"/>
            </a:gradFill>
            <a:ln>
              <a:noFill/>
            </a:ln>
          </p:spPr>
        </p:sp>
        <p:sp>
          <p:nvSpPr>
            <p:cNvPr id="8" name="TextBox 8"/>
            <p:cNvSpPr txBox="1"/>
            <p:nvPr/>
          </p:nvSpPr>
          <p:spPr>
            <a:xfrm>
              <a:off x="676656" y="3467100"/>
              <a:ext cx="3168396" cy="352044"/>
            </a:xfrm>
            <a:prstGeom prst="rect">
              <a:avLst/>
            </a:prstGeom>
            <a:noFill/>
            <a:ln>
              <a:noFill/>
            </a:ln>
          </p:spPr>
          <p:txBody>
            <a:bodyPr wrap="none" lIns="0" tIns="0" rIns="0" bIns="0" anchor="t" anchorCtr="0">
              <a:spAutoFit/>
            </a:bodyPr>
            <a:lstStyle/>
            <a:p>
              <a:pPr algn="l"/>
              <a:r>
                <a:rPr lang="zh-CN" sz="1800" dirty="0">
                  <a:solidFill>
                    <a:srgbClr val="1F2937"/>
                  </a:solidFill>
                  <a:latin typeface="+mn-lt"/>
                  <a:ea typeface="+mn-ea"/>
                  <a:cs typeface="+mn-cs"/>
                </a:rPr>
                <a:t>从结构程序设计到复杂度度量</a:t>
              </a:r>
            </a:p>
          </p:txBody>
        </p:sp>
        <p:sp>
          <p:nvSpPr>
            <p:cNvPr id="9" name="Ellipse 9"/>
            <p:cNvSpPr/>
            <p:nvPr/>
          </p:nvSpPr>
          <p:spPr>
            <a:xfrm>
              <a:off x="709612" y="3976688"/>
              <a:ext cx="66675" cy="66675"/>
            </a:xfrm>
            <a:prstGeom prst="ellipse">
              <a:avLst/>
            </a:prstGeom>
            <a:solidFill>
              <a:srgbClr val="F26B3A"/>
            </a:solidFill>
            <a:ln>
              <a:noFill/>
            </a:ln>
          </p:spPr>
        </p:sp>
        <p:sp>
          <p:nvSpPr>
            <p:cNvPr id="10" name="TextBox 10"/>
            <p:cNvSpPr txBox="1"/>
            <p:nvPr/>
          </p:nvSpPr>
          <p:spPr>
            <a:xfrm>
              <a:off x="869442" y="3921442"/>
              <a:ext cx="2012823"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结构程序设计与人机界面</a:t>
              </a:r>
            </a:p>
          </p:txBody>
        </p:sp>
        <p:sp>
          <p:nvSpPr>
            <p:cNvPr id="11" name="Ellipse 11"/>
            <p:cNvSpPr/>
            <p:nvPr/>
          </p:nvSpPr>
          <p:spPr>
            <a:xfrm>
              <a:off x="709612" y="4267200"/>
              <a:ext cx="66675" cy="66675"/>
            </a:xfrm>
            <a:prstGeom prst="ellipse">
              <a:avLst/>
            </a:prstGeom>
            <a:solidFill>
              <a:srgbClr val="F26B3A"/>
            </a:solidFill>
            <a:ln>
              <a:noFill/>
            </a:ln>
          </p:spPr>
        </p:sp>
        <p:sp>
          <p:nvSpPr>
            <p:cNvPr id="12" name="TextBox 12"/>
            <p:cNvSpPr txBox="1"/>
            <p:nvPr/>
          </p:nvSpPr>
          <p:spPr>
            <a:xfrm>
              <a:off x="869442" y="4211955"/>
              <a:ext cx="2518086"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流程图·盒图·PAD·判定表·PDL</a:t>
              </a:r>
            </a:p>
          </p:txBody>
        </p:sp>
        <p:sp>
          <p:nvSpPr>
            <p:cNvPr id="13" name="Ellipse 13"/>
            <p:cNvSpPr/>
            <p:nvPr/>
          </p:nvSpPr>
          <p:spPr>
            <a:xfrm>
              <a:off x="709612" y="4557712"/>
              <a:ext cx="66675" cy="66675"/>
            </a:xfrm>
            <a:prstGeom prst="ellipse">
              <a:avLst/>
            </a:prstGeom>
            <a:solidFill>
              <a:srgbClr val="F26B3A"/>
            </a:solidFill>
            <a:ln>
              <a:noFill/>
            </a:ln>
          </p:spPr>
        </p:sp>
        <p:sp>
          <p:nvSpPr>
            <p:cNvPr id="14" name="TextBox 14"/>
            <p:cNvSpPr txBox="1"/>
            <p:nvPr/>
          </p:nvSpPr>
          <p:spPr>
            <a:xfrm>
              <a:off x="869442" y="4502468"/>
              <a:ext cx="2227919"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Jackson 面向数据结构方法</a:t>
              </a:r>
            </a:p>
          </p:txBody>
        </p:sp>
        <p:sp>
          <p:nvSpPr>
            <p:cNvPr id="15" name="Ellipse 15"/>
            <p:cNvSpPr/>
            <p:nvPr/>
          </p:nvSpPr>
          <p:spPr>
            <a:xfrm>
              <a:off x="709612" y="4848225"/>
              <a:ext cx="66675" cy="66675"/>
            </a:xfrm>
            <a:prstGeom prst="ellipse">
              <a:avLst/>
            </a:prstGeom>
            <a:solidFill>
              <a:srgbClr val="F26B3A"/>
            </a:solidFill>
            <a:ln>
              <a:noFill/>
            </a:ln>
          </p:spPr>
        </p:sp>
        <p:sp>
          <p:nvSpPr>
            <p:cNvPr id="16" name="TextBox 16"/>
            <p:cNvSpPr txBox="1"/>
            <p:nvPr/>
          </p:nvSpPr>
          <p:spPr>
            <a:xfrm>
              <a:off x="869442" y="4792980"/>
              <a:ext cx="2336971"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环形复杂度与 Halstead 度量</a:t>
              </a:r>
            </a:p>
          </p:txBody>
        </p:sp>
      </p:grpSp>
      <p:grpSp>
        <p:nvGrpSpPr>
          <p:cNvPr id="19" name="cover-credit"/>
          <p:cNvGrpSpPr/>
          <p:nvPr/>
        </p:nvGrpSpPr>
        <p:grpSpPr>
          <a:xfrm>
            <a:off x="680466" y="6192202"/>
            <a:ext cx="6251315" cy="205359"/>
            <a:chOff x="680466" y="6192202"/>
            <a:chExt cx="6251315" cy="205359"/>
          </a:xfrm>
        </p:grpSpPr>
        <p:sp>
          <p:nvSpPr>
            <p:cNvPr id="18" name="TextBox 18"/>
            <p:cNvSpPr txBox="1"/>
            <p:nvPr/>
          </p:nvSpPr>
          <p:spPr>
            <a:xfrm>
              <a:off x="680466" y="6192202"/>
              <a:ext cx="6251315"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重制讲义 · 自学复习版｜据吉林大学《软件工程》第六章课件整理，教材为张海藩《软件工程导论》</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2085594" cy="909257"/>
            <a:chOff x="520446" y="342900"/>
            <a:chExt cx="2085594" cy="909257"/>
          </a:xfrm>
        </p:grpSpPr>
        <p:sp>
          <p:nvSpPr>
            <p:cNvPr id="2" name="Rectangle 2"/>
            <p:cNvSpPr/>
            <p:nvPr/>
          </p:nvSpPr>
          <p:spPr>
            <a:xfrm>
              <a:off x="533400" y="342900"/>
              <a:ext cx="1246822" cy="266700"/>
            </a:xfrm>
            <a:prstGeom prst="roundRect">
              <a:avLst>
                <a:gd name="adj" fmla="val 50000"/>
              </a:avLst>
            </a:prstGeom>
            <a:solidFill>
              <a:srgbClr val="E7EDF3"/>
            </a:solidFill>
            <a:ln>
              <a:noFill/>
            </a:ln>
          </p:spPr>
        </p:sp>
        <p:sp>
          <p:nvSpPr>
            <p:cNvPr id="3" name="TextBox 3"/>
            <p:cNvSpPr txBox="1"/>
            <p:nvPr/>
          </p:nvSpPr>
          <p:spPr>
            <a:xfrm>
              <a:off x="631966" y="407194"/>
              <a:ext cx="105064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a:t>
              </a:r>
            </a:p>
          </p:txBody>
        </p:sp>
        <p:sp>
          <p:nvSpPr>
            <p:cNvPr id="4" name="TextBox 4"/>
            <p:cNvSpPr txBox="1"/>
            <p:nvPr/>
          </p:nvSpPr>
          <p:spPr>
            <a:xfrm>
              <a:off x="520446" y="753428"/>
              <a:ext cx="208559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本章学习路线</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0" name="c1-agenda-1"/>
          <p:cNvGrpSpPr/>
          <p:nvPr/>
        </p:nvGrpSpPr>
        <p:grpSpPr>
          <a:xfrm>
            <a:off x="521970" y="1515428"/>
            <a:ext cx="6287453" cy="4461795"/>
            <a:chOff x="521970" y="1515428"/>
            <a:chExt cx="6287453" cy="4461795"/>
          </a:xfrm>
        </p:grpSpPr>
        <p:sp>
          <p:nvSpPr>
            <p:cNvPr id="7" name="TextBox 7"/>
            <p:cNvSpPr txBox="1"/>
            <p:nvPr/>
          </p:nvSpPr>
          <p:spPr>
            <a:xfrm>
              <a:off x="521970" y="1515428"/>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01</a:t>
              </a:r>
            </a:p>
          </p:txBody>
        </p:sp>
        <p:sp>
          <p:nvSpPr>
            <p:cNvPr id="8" name="TextBox 8"/>
            <p:cNvSpPr txBox="1"/>
            <p:nvPr/>
          </p:nvSpPr>
          <p:spPr>
            <a:xfrm>
              <a:off x="1065086" y="1551622"/>
              <a:ext cx="1349502"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详细设计概要</a:t>
              </a:r>
            </a:p>
          </p:txBody>
        </p:sp>
        <p:sp>
          <p:nvSpPr>
            <p:cNvPr id="9" name="TextBox 9"/>
            <p:cNvSpPr txBox="1"/>
            <p:nvPr/>
          </p:nvSpPr>
          <p:spPr>
            <a:xfrm>
              <a:off x="1066990" y="1868329"/>
              <a:ext cx="2253031"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根本目标、与总体设计的分工</a:t>
              </a:r>
            </a:p>
          </p:txBody>
        </p:sp>
        <p:sp>
          <p:nvSpPr>
            <p:cNvPr id="10" name="Rectangle 10"/>
            <p:cNvSpPr/>
            <p:nvPr/>
          </p:nvSpPr>
          <p:spPr>
            <a:xfrm>
              <a:off x="1073468" y="2181225"/>
              <a:ext cx="5735955" cy="9525"/>
            </a:xfrm>
            <a:prstGeom prst="rect">
              <a:avLst/>
            </a:prstGeom>
            <a:solidFill>
              <a:srgbClr val="D9DFEA"/>
            </a:solidFill>
            <a:ln>
              <a:noFill/>
            </a:ln>
          </p:spPr>
        </p:sp>
        <p:sp>
          <p:nvSpPr>
            <p:cNvPr id="11" name="TextBox 11"/>
            <p:cNvSpPr txBox="1"/>
            <p:nvPr/>
          </p:nvSpPr>
          <p:spPr>
            <a:xfrm>
              <a:off x="521970" y="2286952"/>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02</a:t>
              </a:r>
            </a:p>
          </p:txBody>
        </p:sp>
        <p:sp>
          <p:nvSpPr>
            <p:cNvPr id="12" name="TextBox 12"/>
            <p:cNvSpPr txBox="1"/>
            <p:nvPr/>
          </p:nvSpPr>
          <p:spPr>
            <a:xfrm>
              <a:off x="1065086" y="2323148"/>
              <a:ext cx="1349502"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结构程序设计</a:t>
              </a:r>
            </a:p>
          </p:txBody>
        </p:sp>
        <p:sp>
          <p:nvSpPr>
            <p:cNvPr id="13" name="TextBox 13"/>
            <p:cNvSpPr txBox="1"/>
            <p:nvPr/>
          </p:nvSpPr>
          <p:spPr>
            <a:xfrm>
              <a:off x="1066990" y="2639854"/>
              <a:ext cx="3286912"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三种基本结构，经典、扩展、修正三种提法</a:t>
              </a:r>
            </a:p>
          </p:txBody>
        </p:sp>
        <p:sp>
          <p:nvSpPr>
            <p:cNvPr id="14" name="Rectangle 14"/>
            <p:cNvSpPr/>
            <p:nvPr/>
          </p:nvSpPr>
          <p:spPr>
            <a:xfrm>
              <a:off x="1073468" y="2953702"/>
              <a:ext cx="5735955" cy="9525"/>
            </a:xfrm>
            <a:prstGeom prst="rect">
              <a:avLst/>
            </a:prstGeom>
            <a:solidFill>
              <a:srgbClr val="D9DFEA"/>
            </a:solidFill>
            <a:ln>
              <a:noFill/>
            </a:ln>
          </p:spPr>
        </p:sp>
        <p:sp>
          <p:nvSpPr>
            <p:cNvPr id="15" name="TextBox 15"/>
            <p:cNvSpPr txBox="1"/>
            <p:nvPr/>
          </p:nvSpPr>
          <p:spPr>
            <a:xfrm>
              <a:off x="521970" y="3058478"/>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03</a:t>
              </a:r>
            </a:p>
          </p:txBody>
        </p:sp>
        <p:sp>
          <p:nvSpPr>
            <p:cNvPr id="16" name="TextBox 16"/>
            <p:cNvSpPr txBox="1"/>
            <p:nvPr/>
          </p:nvSpPr>
          <p:spPr>
            <a:xfrm>
              <a:off x="1065086" y="3094673"/>
              <a:ext cx="1349502"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人机界面设计</a:t>
              </a:r>
            </a:p>
          </p:txBody>
        </p:sp>
        <p:sp>
          <p:nvSpPr>
            <p:cNvPr id="17" name="TextBox 17"/>
            <p:cNvSpPr txBox="1"/>
            <p:nvPr/>
          </p:nvSpPr>
          <p:spPr>
            <a:xfrm>
              <a:off x="1066990" y="3412331"/>
              <a:ext cx="3114599"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四个设计问题、设计过程、三组设计指南</a:t>
              </a:r>
            </a:p>
          </p:txBody>
        </p:sp>
        <p:sp>
          <p:nvSpPr>
            <p:cNvPr id="18" name="Rectangle 18"/>
            <p:cNvSpPr/>
            <p:nvPr/>
          </p:nvSpPr>
          <p:spPr>
            <a:xfrm>
              <a:off x="1073468" y="3725228"/>
              <a:ext cx="5735955" cy="9525"/>
            </a:xfrm>
            <a:prstGeom prst="rect">
              <a:avLst/>
            </a:prstGeom>
            <a:solidFill>
              <a:srgbClr val="D9DFEA"/>
            </a:solidFill>
            <a:ln>
              <a:noFill/>
            </a:ln>
          </p:spPr>
        </p:sp>
        <p:sp>
          <p:nvSpPr>
            <p:cNvPr id="19" name="TextBox 19"/>
            <p:cNvSpPr txBox="1"/>
            <p:nvPr/>
          </p:nvSpPr>
          <p:spPr>
            <a:xfrm>
              <a:off x="521970" y="3830955"/>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04</a:t>
              </a:r>
            </a:p>
          </p:txBody>
        </p:sp>
        <p:sp>
          <p:nvSpPr>
            <p:cNvPr id="20" name="TextBox 20"/>
            <p:cNvSpPr txBox="1"/>
            <p:nvPr/>
          </p:nvSpPr>
          <p:spPr>
            <a:xfrm>
              <a:off x="1065086" y="3867150"/>
              <a:ext cx="1349502"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过程设计工具</a:t>
              </a:r>
            </a:p>
          </p:txBody>
        </p:sp>
        <p:sp>
          <p:nvSpPr>
            <p:cNvPr id="21" name="TextBox 21"/>
            <p:cNvSpPr txBox="1"/>
            <p:nvPr/>
          </p:nvSpPr>
          <p:spPr>
            <a:xfrm>
              <a:off x="1066990" y="4183856"/>
              <a:ext cx="3370793"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流程图、盒图、PAD、判定表、判定树、PDL</a:t>
              </a:r>
            </a:p>
          </p:txBody>
        </p:sp>
        <p:sp>
          <p:nvSpPr>
            <p:cNvPr id="22" name="Rectangle 22"/>
            <p:cNvSpPr/>
            <p:nvPr/>
          </p:nvSpPr>
          <p:spPr>
            <a:xfrm>
              <a:off x="1073468" y="4497705"/>
              <a:ext cx="5735955" cy="9525"/>
            </a:xfrm>
            <a:prstGeom prst="rect">
              <a:avLst/>
            </a:prstGeom>
            <a:solidFill>
              <a:srgbClr val="D9DFEA"/>
            </a:solidFill>
            <a:ln>
              <a:noFill/>
            </a:ln>
          </p:spPr>
        </p:sp>
        <p:sp>
          <p:nvSpPr>
            <p:cNvPr id="23" name="TextBox 23"/>
            <p:cNvSpPr txBox="1"/>
            <p:nvPr/>
          </p:nvSpPr>
          <p:spPr>
            <a:xfrm>
              <a:off x="521970" y="4602480"/>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05</a:t>
              </a:r>
            </a:p>
          </p:txBody>
        </p:sp>
        <p:sp>
          <p:nvSpPr>
            <p:cNvPr id="24" name="TextBox 24"/>
            <p:cNvSpPr txBox="1"/>
            <p:nvPr/>
          </p:nvSpPr>
          <p:spPr>
            <a:xfrm>
              <a:off x="1065086" y="4638675"/>
              <a:ext cx="2015871"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面向数据结构的设计</a:t>
              </a:r>
            </a:p>
          </p:txBody>
        </p:sp>
        <p:sp>
          <p:nvSpPr>
            <p:cNvPr id="25" name="TextBox 25"/>
            <p:cNvSpPr txBox="1"/>
            <p:nvPr/>
          </p:nvSpPr>
          <p:spPr>
            <a:xfrm>
              <a:off x="1066990" y="4955381"/>
              <a:ext cx="3005544"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Jackson 图、Jackson 方法与两个实例</a:t>
              </a:r>
            </a:p>
          </p:txBody>
        </p:sp>
        <p:sp>
          <p:nvSpPr>
            <p:cNvPr id="26" name="Rectangle 26"/>
            <p:cNvSpPr/>
            <p:nvPr/>
          </p:nvSpPr>
          <p:spPr>
            <a:xfrm>
              <a:off x="1073468" y="5269230"/>
              <a:ext cx="5735955" cy="9525"/>
            </a:xfrm>
            <a:prstGeom prst="rect">
              <a:avLst/>
            </a:prstGeom>
            <a:solidFill>
              <a:srgbClr val="D9DFEA"/>
            </a:solidFill>
            <a:ln>
              <a:noFill/>
            </a:ln>
          </p:spPr>
        </p:sp>
        <p:sp>
          <p:nvSpPr>
            <p:cNvPr id="27" name="TextBox 27"/>
            <p:cNvSpPr txBox="1"/>
            <p:nvPr/>
          </p:nvSpPr>
          <p:spPr>
            <a:xfrm>
              <a:off x="521970" y="5374958"/>
              <a:ext cx="372704" cy="440055"/>
            </a:xfrm>
            <a:prstGeom prst="rect">
              <a:avLst/>
            </a:prstGeom>
            <a:noFill/>
            <a:ln>
              <a:noFill/>
            </a:ln>
          </p:spPr>
          <p:txBody>
            <a:bodyPr wrap="none" lIns="0" tIns="0" rIns="0" bIns="0" anchor="t" anchorCtr="0">
              <a:spAutoFit/>
            </a:bodyPr>
            <a:lstStyle/>
            <a:p>
              <a:pPr algn="l"/>
              <a:r>
                <a:rPr lang="zh-CN" sz="2250" b="1" dirty="0">
                  <a:solidFill>
                    <a:srgbClr val="334E68"/>
                  </a:solidFill>
                  <a:latin typeface="+mn-lt"/>
                  <a:ea typeface="+mn-ea"/>
                  <a:cs typeface="+mn-cs"/>
                </a:rPr>
                <a:t>06</a:t>
              </a:r>
            </a:p>
          </p:txBody>
        </p:sp>
        <p:sp>
          <p:nvSpPr>
            <p:cNvPr id="28" name="TextBox 28"/>
            <p:cNvSpPr txBox="1"/>
            <p:nvPr/>
          </p:nvSpPr>
          <p:spPr>
            <a:xfrm>
              <a:off x="1065086" y="5411152"/>
              <a:ext cx="2015871"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复杂程度的定量度量</a:t>
              </a:r>
            </a:p>
          </p:txBody>
        </p:sp>
        <p:sp>
          <p:nvSpPr>
            <p:cNvPr id="29" name="TextBox 29"/>
            <p:cNvSpPr txBox="1"/>
            <p:nvPr/>
          </p:nvSpPr>
          <p:spPr>
            <a:xfrm>
              <a:off x="1066990" y="5727859"/>
              <a:ext cx="3468025"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McCabe 环形复杂度、Halstead、交点复杂度</a:t>
              </a:r>
            </a:p>
          </p:txBody>
        </p:sp>
      </p:grpSp>
      <p:grpSp>
        <p:nvGrpSpPr>
          <p:cNvPr id="45" name="c2-card-1"/>
          <p:cNvGrpSpPr/>
          <p:nvPr/>
        </p:nvGrpSpPr>
        <p:grpSpPr>
          <a:xfrm>
            <a:off x="7114222" y="1524000"/>
            <a:ext cx="4544378" cy="4402455"/>
            <a:chOff x="7114222" y="1524000"/>
            <a:chExt cx="4544378" cy="4402455"/>
          </a:xfrm>
        </p:grpSpPr>
        <p:sp>
          <p:nvSpPr>
            <p:cNvPr id="31" name="Rectangle 31"/>
            <p:cNvSpPr/>
            <p:nvPr/>
          </p:nvSpPr>
          <p:spPr>
            <a:xfrm>
              <a:off x="7114222" y="1524000"/>
              <a:ext cx="4544378" cy="4402455"/>
            </a:xfrm>
            <a:prstGeom prst="roundRect">
              <a:avLst>
                <a:gd name="adj" fmla="val 3029"/>
              </a:avLst>
            </a:prstGeom>
            <a:solidFill>
              <a:srgbClr val="FFFFFF"/>
            </a:solidFill>
            <a:ln w="14288">
              <a:solidFill>
                <a:srgbClr val="D9DFEA"/>
              </a:solidFill>
            </a:ln>
          </p:spPr>
        </p:sp>
        <p:sp>
          <p:nvSpPr>
            <p:cNvPr id="32" name="Rectangle 32"/>
            <p:cNvSpPr/>
            <p:nvPr/>
          </p:nvSpPr>
          <p:spPr>
            <a:xfrm>
              <a:off x="7123748" y="1657350"/>
              <a:ext cx="47625" cy="4135755"/>
            </a:xfrm>
            <a:prstGeom prst="roundRect">
              <a:avLst>
                <a:gd name="adj" fmla="val 50000"/>
              </a:avLst>
            </a:prstGeom>
            <a:solidFill>
              <a:srgbClr val="334E68"/>
            </a:solidFill>
            <a:ln>
              <a:noFill/>
            </a:ln>
          </p:spPr>
        </p:sp>
        <p:sp>
          <p:nvSpPr>
            <p:cNvPr id="33" name="Rectangle 33"/>
            <p:cNvSpPr/>
            <p:nvPr/>
          </p:nvSpPr>
          <p:spPr>
            <a:xfrm>
              <a:off x="7361872" y="1733550"/>
              <a:ext cx="778192" cy="257175"/>
            </a:xfrm>
            <a:prstGeom prst="roundRect">
              <a:avLst>
                <a:gd name="adj" fmla="val 50000"/>
              </a:avLst>
            </a:prstGeom>
            <a:solidFill>
              <a:srgbClr val="E7EDF3"/>
            </a:solidFill>
            <a:ln>
              <a:noFill/>
            </a:ln>
          </p:spPr>
        </p:sp>
        <p:sp>
          <p:nvSpPr>
            <p:cNvPr id="34" name="TextBox 34"/>
            <p:cNvSpPr txBox="1"/>
            <p:nvPr/>
          </p:nvSpPr>
          <p:spPr>
            <a:xfrm>
              <a:off x="7443229" y="1769269"/>
              <a:ext cx="61452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学习目标</a:t>
              </a:r>
            </a:p>
          </p:txBody>
        </p:sp>
        <p:sp>
          <p:nvSpPr>
            <p:cNvPr id="35" name="Ellipse 35"/>
            <p:cNvSpPr/>
            <p:nvPr/>
          </p:nvSpPr>
          <p:spPr>
            <a:xfrm>
              <a:off x="7367588" y="2173605"/>
              <a:ext cx="64770" cy="64770"/>
            </a:xfrm>
            <a:prstGeom prst="ellipse">
              <a:avLst/>
            </a:prstGeom>
            <a:solidFill>
              <a:srgbClr val="334E68"/>
            </a:solidFill>
            <a:ln>
              <a:noFill/>
            </a:ln>
          </p:spPr>
        </p:sp>
        <p:sp>
          <p:nvSpPr>
            <p:cNvPr id="36" name="TextBox 36"/>
            <p:cNvSpPr txBox="1"/>
            <p:nvPr/>
          </p:nvSpPr>
          <p:spPr>
            <a:xfrm>
              <a:off x="7525702" y="211074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说出经典、扩展、修正三种结构程序设计各</a:t>
              </a:r>
              <a:br/>
              <a:r>
                <a:rPr lang="zh-CN" sz="1500" dirty="0">
                  <a:solidFill>
                    <a:srgbClr val="1F2937"/>
                  </a:solidFill>
                  <a:latin typeface="+mn-lt"/>
                  <a:ea typeface="+mn-ea"/>
                  <a:cs typeface="+mn-cs"/>
                </a:rPr>
                <a:t>允许哪些控制结构</a:t>
              </a:r>
            </a:p>
          </p:txBody>
        </p:sp>
        <p:sp>
          <p:nvSpPr>
            <p:cNvPr id="37" name="Ellipse 37"/>
            <p:cNvSpPr/>
            <p:nvPr/>
          </p:nvSpPr>
          <p:spPr>
            <a:xfrm>
              <a:off x="7367588" y="2794635"/>
              <a:ext cx="64770" cy="64770"/>
            </a:xfrm>
            <a:prstGeom prst="ellipse">
              <a:avLst/>
            </a:prstGeom>
            <a:solidFill>
              <a:srgbClr val="334E68"/>
            </a:solidFill>
            <a:ln>
              <a:noFill/>
            </a:ln>
          </p:spPr>
        </p:sp>
        <p:sp>
          <p:nvSpPr>
            <p:cNvPr id="38" name="TextBox 38"/>
            <p:cNvSpPr txBox="1"/>
            <p:nvPr/>
          </p:nvSpPr>
          <p:spPr>
            <a:xfrm>
              <a:off x="7525702" y="2731770"/>
              <a:ext cx="3444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把一段程序分别画成程序流程图、盒图和</a:t>
              </a:r>
              <a:br/>
              <a:r>
                <a:rPr lang="zh-CN" sz="1500" dirty="0">
                  <a:solidFill>
                    <a:srgbClr val="1F2937"/>
                  </a:solidFill>
                  <a:latin typeface="+mn-lt"/>
                  <a:ea typeface="+mn-ea"/>
                  <a:cs typeface="+mn-cs"/>
                </a:rPr>
                <a:t>PAD 图</a:t>
              </a:r>
            </a:p>
          </p:txBody>
        </p:sp>
        <p:sp>
          <p:nvSpPr>
            <p:cNvPr id="39" name="Ellipse 39"/>
            <p:cNvSpPr/>
            <p:nvPr/>
          </p:nvSpPr>
          <p:spPr>
            <a:xfrm>
              <a:off x="7367588" y="3415665"/>
              <a:ext cx="64770" cy="64770"/>
            </a:xfrm>
            <a:prstGeom prst="ellipse">
              <a:avLst/>
            </a:prstGeom>
            <a:solidFill>
              <a:srgbClr val="334E68"/>
            </a:solidFill>
            <a:ln>
              <a:noFill/>
            </a:ln>
          </p:spPr>
        </p:sp>
        <p:sp>
          <p:nvSpPr>
            <p:cNvPr id="40" name="TextBox 40"/>
            <p:cNvSpPr txBox="1"/>
            <p:nvPr/>
          </p:nvSpPr>
          <p:spPr>
            <a:xfrm>
              <a:off x="7525702" y="335280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为一个多条件的算法组织判定表和判定树，</a:t>
              </a:r>
              <a:br/>
              <a:r>
                <a:rPr lang="zh-CN" sz="1500" dirty="0">
                  <a:solidFill>
                    <a:srgbClr val="1F2937"/>
                  </a:solidFill>
                  <a:latin typeface="+mn-lt"/>
                  <a:ea typeface="+mn-ea"/>
                  <a:cs typeface="+mn-cs"/>
                </a:rPr>
                <a:t>并核对每条规则</a:t>
              </a:r>
            </a:p>
          </p:txBody>
        </p:sp>
        <p:sp>
          <p:nvSpPr>
            <p:cNvPr id="41" name="Ellipse 41"/>
            <p:cNvSpPr/>
            <p:nvPr/>
          </p:nvSpPr>
          <p:spPr>
            <a:xfrm>
              <a:off x="7367588" y="4036695"/>
              <a:ext cx="64770" cy="64770"/>
            </a:xfrm>
            <a:prstGeom prst="ellipse">
              <a:avLst/>
            </a:prstGeom>
            <a:solidFill>
              <a:srgbClr val="334E68"/>
            </a:solidFill>
            <a:ln>
              <a:noFill/>
            </a:ln>
          </p:spPr>
        </p:sp>
        <p:sp>
          <p:nvSpPr>
            <p:cNvPr id="42" name="TextBox 42"/>
            <p:cNvSpPr txBox="1"/>
            <p:nvPr/>
          </p:nvSpPr>
          <p:spPr>
            <a:xfrm>
              <a:off x="7525702" y="3973830"/>
              <a:ext cx="372046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按 Jackson 方法从输入输出数据结构导出程</a:t>
              </a:r>
              <a:br/>
              <a:r>
                <a:rPr lang="zh-CN" sz="1500" dirty="0">
                  <a:solidFill>
                    <a:srgbClr val="1F2937"/>
                  </a:solidFill>
                  <a:latin typeface="+mn-lt"/>
                  <a:ea typeface="+mn-ea"/>
                  <a:cs typeface="+mn-cs"/>
                </a:rPr>
                <a:t>序结构和伪代码</a:t>
              </a:r>
            </a:p>
          </p:txBody>
        </p:sp>
        <p:sp>
          <p:nvSpPr>
            <p:cNvPr id="43" name="Ellipse 43"/>
            <p:cNvSpPr/>
            <p:nvPr/>
          </p:nvSpPr>
          <p:spPr>
            <a:xfrm>
              <a:off x="7367588" y="4657725"/>
              <a:ext cx="64770" cy="64770"/>
            </a:xfrm>
            <a:prstGeom prst="ellipse">
              <a:avLst/>
            </a:prstGeom>
            <a:solidFill>
              <a:srgbClr val="334E68"/>
            </a:solidFill>
            <a:ln>
              <a:noFill/>
            </a:ln>
          </p:spPr>
        </p:sp>
        <p:sp>
          <p:nvSpPr>
            <p:cNvPr id="44" name="TextBox 44"/>
            <p:cNvSpPr txBox="1"/>
            <p:nvPr/>
          </p:nvSpPr>
          <p:spPr>
            <a:xfrm>
              <a:off x="7525702" y="459486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用三种方法算出一张流图的环形复杂度，结</a:t>
              </a:r>
              <a:br/>
              <a:r>
                <a:rPr lang="zh-CN" sz="1500" dirty="0">
                  <a:solidFill>
                    <a:srgbClr val="1F2937"/>
                  </a:solidFill>
                  <a:latin typeface="+mn-lt"/>
                  <a:ea typeface="+mn-ea"/>
                  <a:cs typeface="+mn-cs"/>
                </a:rPr>
                <a:t>果互相验算</a:t>
              </a:r>
            </a:p>
          </p:txBody>
        </p:sp>
      </p:grpSp>
      <p:grpSp>
        <p:nvGrpSpPr>
          <p:cNvPr id="48" name="footer"/>
          <p:cNvGrpSpPr/>
          <p:nvPr/>
        </p:nvGrpSpPr>
        <p:grpSpPr>
          <a:xfrm>
            <a:off x="528447" y="6581299"/>
            <a:ext cx="11135106" cy="190690"/>
            <a:chOff x="528447" y="6581299"/>
            <a:chExt cx="11135106" cy="190690"/>
          </a:xfrm>
        </p:grpSpPr>
        <p:sp>
          <p:nvSpPr>
            <p:cNvPr id="46" name="TextBox 46"/>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47" name="TextBox 47"/>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01</a:t>
              </a:r>
            </a:p>
          </p:txBody>
        </p:sp>
      </p:grpSp>
      <p:grpSp>
        <p:nvGrpSpPr>
          <p:cNvPr id="16" name="section-title"/>
          <p:cNvGrpSpPr/>
          <p:nvPr/>
        </p:nvGrpSpPr>
        <p:grpSpPr>
          <a:xfrm>
            <a:off x="667512" y="1835468"/>
            <a:ext cx="6336792" cy="2997517"/>
            <a:chOff x="667512" y="1835468"/>
            <a:chExt cx="6336792" cy="299751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第一部分</a:t>
              </a:r>
            </a:p>
          </p:txBody>
        </p:sp>
        <p:sp>
          <p:nvSpPr>
            <p:cNvPr id="7" name="TextBox 7"/>
            <p:cNvSpPr txBox="1"/>
            <p:nvPr/>
          </p:nvSpPr>
          <p:spPr>
            <a:xfrm>
              <a:off x="667512" y="2240280"/>
              <a:ext cx="6336792"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详细设计概要与结构程序设计</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6014085"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先说清这一步要交出什么，再说清什么样的控制结构才算规矩</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222637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6.1 详细设计的根本目标</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343795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6.2 结构程序设计的三种基本控制结构</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24384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经典、扩展、修正三种提法</a:t>
              </a:r>
            </a:p>
          </p:txBody>
        </p:sp>
      </p:grpSp>
      <p:grpSp>
        <p:nvGrpSpPr>
          <p:cNvPr id="19" name="footer"/>
          <p:cNvGrpSpPr/>
          <p:nvPr/>
        </p:nvGrpSpPr>
        <p:grpSpPr>
          <a:xfrm>
            <a:off x="528447" y="6581299"/>
            <a:ext cx="11135106" cy="190690"/>
            <a:chOff x="528447" y="6581299"/>
            <a:chExt cx="11135106" cy="190690"/>
          </a:xfrm>
        </p:grpSpPr>
        <p:sp>
          <p:nvSpPr>
            <p:cNvPr id="17" name="TextBox 17"/>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18" name="TextBox 18"/>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71613" cy="909257"/>
            <a:chOff x="520446" y="342900"/>
            <a:chExt cx="5571613" cy="909257"/>
          </a:xfrm>
        </p:grpSpPr>
        <p:sp>
          <p:nvSpPr>
            <p:cNvPr id="2" name="Rectangle 2"/>
            <p:cNvSpPr/>
            <p:nvPr/>
          </p:nvSpPr>
          <p:spPr>
            <a:xfrm>
              <a:off x="533400" y="342900"/>
              <a:ext cx="3268028" cy="266700"/>
            </a:xfrm>
            <a:prstGeom prst="roundRect">
              <a:avLst>
                <a:gd name="adj" fmla="val 50000"/>
              </a:avLst>
            </a:prstGeom>
            <a:solidFill>
              <a:srgbClr val="E7EDF3"/>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详细设计概要与结构程序设计</a:t>
              </a:r>
            </a:p>
          </p:txBody>
        </p:sp>
        <p:sp>
          <p:nvSpPr>
            <p:cNvPr id="4" name="TextBox 4"/>
            <p:cNvSpPr txBox="1"/>
            <p:nvPr/>
          </p:nvSpPr>
          <p:spPr>
            <a:xfrm>
              <a:off x="520446" y="753428"/>
              <a:ext cx="557161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详细设计回答的是"怎样具体地实现"</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6609690" cy="308039"/>
            <a:chOff x="525399" y="1550194"/>
            <a:chExt cx="6609690" cy="308039"/>
          </a:xfrm>
        </p:grpSpPr>
        <p:sp>
          <p:nvSpPr>
            <p:cNvPr id="7" name="TextBox 7"/>
            <p:cNvSpPr txBox="1"/>
            <p:nvPr/>
          </p:nvSpPr>
          <p:spPr>
            <a:xfrm>
              <a:off x="525399" y="1550194"/>
              <a:ext cx="6609690"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总体设计决定系统分成哪些模块，详细设计决定每个模块内部怎么做。</a:t>
              </a:r>
            </a:p>
          </p:txBody>
        </p:sp>
      </p:grpSp>
      <p:grpSp>
        <p:nvGrpSpPr>
          <p:cNvPr id="19" name="c1-card-1"/>
          <p:cNvGrpSpPr/>
          <p:nvPr/>
        </p:nvGrpSpPr>
        <p:grpSpPr>
          <a:xfrm>
            <a:off x="533400" y="1967865"/>
            <a:ext cx="5842635" cy="2005965"/>
            <a:chOff x="533400" y="1967865"/>
            <a:chExt cx="5842635" cy="2005965"/>
          </a:xfrm>
        </p:grpSpPr>
        <p:sp>
          <p:nvSpPr>
            <p:cNvPr id="9" name="Rectangle 9"/>
            <p:cNvSpPr/>
            <p:nvPr/>
          </p:nvSpPr>
          <p:spPr>
            <a:xfrm>
              <a:off x="533400" y="1967865"/>
              <a:ext cx="5842635" cy="2005965"/>
            </a:xfrm>
            <a:prstGeom prst="roundRect">
              <a:avLst>
                <a:gd name="adj" fmla="val 6648"/>
              </a:avLst>
            </a:prstGeom>
            <a:solidFill>
              <a:srgbClr val="FFFFFF"/>
            </a:solidFill>
            <a:ln w="14288">
              <a:solidFill>
                <a:srgbClr val="D9DFEA"/>
              </a:solidFill>
            </a:ln>
          </p:spPr>
        </p:sp>
        <p:sp>
          <p:nvSpPr>
            <p:cNvPr id="10" name="Rectangle 10"/>
            <p:cNvSpPr/>
            <p:nvPr/>
          </p:nvSpPr>
          <p:spPr>
            <a:xfrm>
              <a:off x="542925" y="2101215"/>
              <a:ext cx="47625" cy="1739265"/>
            </a:xfrm>
            <a:prstGeom prst="roundRect">
              <a:avLst>
                <a:gd name="adj" fmla="val 50000"/>
              </a:avLst>
            </a:prstGeom>
            <a:solidFill>
              <a:srgbClr val="334E68"/>
            </a:solidFill>
            <a:ln>
              <a:noFill/>
            </a:ln>
          </p:spPr>
        </p:sp>
        <p:sp>
          <p:nvSpPr>
            <p:cNvPr id="11" name="Rectangle 11"/>
            <p:cNvSpPr/>
            <p:nvPr/>
          </p:nvSpPr>
          <p:spPr>
            <a:xfrm>
              <a:off x="781050" y="2177415"/>
              <a:ext cx="494348" cy="257175"/>
            </a:xfrm>
            <a:prstGeom prst="roundRect">
              <a:avLst>
                <a:gd name="adj" fmla="val 50000"/>
              </a:avLst>
            </a:prstGeom>
            <a:solidFill>
              <a:srgbClr val="E7EDF3"/>
            </a:solidFill>
            <a:ln>
              <a:noFill/>
            </a:ln>
          </p:spPr>
        </p:sp>
        <p:sp>
          <p:nvSpPr>
            <p:cNvPr id="12" name="TextBox 12"/>
            <p:cNvSpPr txBox="1"/>
            <p:nvPr/>
          </p:nvSpPr>
          <p:spPr>
            <a:xfrm>
              <a:off x="871258" y="2213134"/>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定义</a:t>
              </a:r>
            </a:p>
          </p:txBody>
        </p:sp>
        <p:sp>
          <p:nvSpPr>
            <p:cNvPr id="13" name="TextBox 13"/>
            <p:cNvSpPr txBox="1"/>
            <p:nvPr/>
          </p:nvSpPr>
          <p:spPr>
            <a:xfrm>
              <a:off x="1382078" y="2212658"/>
              <a:ext cx="203454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详细设计（过程设计）</a:t>
              </a:r>
            </a:p>
          </p:txBody>
        </p:sp>
        <p:sp>
          <p:nvSpPr>
            <p:cNvPr id="14" name="TextBox 14"/>
            <p:cNvSpPr txBox="1"/>
            <p:nvPr/>
          </p:nvSpPr>
          <p:spPr>
            <a:xfrm>
              <a:off x="773430" y="2573655"/>
              <a:ext cx="5158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详细设计阶段的根本目标，是确定应该怎样具体地实现所要求</a:t>
              </a:r>
              <a:br/>
              <a:r>
                <a:rPr lang="zh-CN" sz="1500" dirty="0">
                  <a:solidFill>
                    <a:srgbClr val="1F2937"/>
                  </a:solidFill>
                  <a:latin typeface="+mn-lt"/>
                  <a:ea typeface="+mn-ea"/>
                  <a:cs typeface="+mn-cs"/>
                </a:rPr>
                <a:t>的系统。</a:t>
              </a:r>
            </a:p>
          </p:txBody>
        </p:sp>
        <p:sp>
          <p:nvSpPr>
            <p:cNvPr id="15" name="Ellipse 15"/>
            <p:cNvSpPr/>
            <p:nvPr/>
          </p:nvSpPr>
          <p:spPr>
            <a:xfrm>
              <a:off x="786765" y="3257550"/>
              <a:ext cx="64770" cy="64770"/>
            </a:xfrm>
            <a:prstGeom prst="ellipse">
              <a:avLst/>
            </a:prstGeom>
            <a:solidFill>
              <a:srgbClr val="334E68"/>
            </a:solidFill>
            <a:ln>
              <a:noFill/>
            </a:ln>
          </p:spPr>
        </p:sp>
        <p:sp>
          <p:nvSpPr>
            <p:cNvPr id="16" name="TextBox 16"/>
            <p:cNvSpPr txBox="1"/>
            <p:nvPr/>
          </p:nvSpPr>
          <p:spPr>
            <a:xfrm>
              <a:off x="944880" y="3194685"/>
              <a:ext cx="28422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为每个模块确定</a:t>
              </a:r>
              <a:r>
                <a:rPr lang="zh-CN" sz="1500" b="1" dirty="0">
                  <a:solidFill>
                    <a:srgbClr val="1F2937"/>
                  </a:solidFill>
                  <a:latin typeface="+mn-lt"/>
                  <a:ea typeface="+mn-ea"/>
                  <a:cs typeface="+mn-cs"/>
                </a:rPr>
                <a:t>算法</a:t>
              </a:r>
              <a:r>
                <a:rPr lang="zh-CN" sz="1500" dirty="0">
                  <a:solidFill>
                    <a:srgbClr val="1F2937"/>
                  </a:solidFill>
                  <a:latin typeface="+mn-lt"/>
                  <a:ea typeface="+mn-ea"/>
                  <a:cs typeface="+mn-cs"/>
                </a:rPr>
                <a:t>和</a:t>
              </a:r>
              <a:r>
                <a:rPr lang="zh-CN" sz="1500" b="1" dirty="0">
                  <a:solidFill>
                    <a:srgbClr val="1F2937"/>
                  </a:solidFill>
                  <a:latin typeface="+mn-lt"/>
                  <a:ea typeface="+mn-ea"/>
                  <a:cs typeface="+mn-cs"/>
                </a:rPr>
                <a:t>数据结构</a:t>
              </a:r>
            </a:p>
          </p:txBody>
        </p:sp>
        <p:sp>
          <p:nvSpPr>
            <p:cNvPr id="17" name="Ellipse 17"/>
            <p:cNvSpPr/>
            <p:nvPr/>
          </p:nvSpPr>
          <p:spPr>
            <a:xfrm>
              <a:off x="786765" y="3592830"/>
              <a:ext cx="64770" cy="64770"/>
            </a:xfrm>
            <a:prstGeom prst="ellipse">
              <a:avLst/>
            </a:prstGeom>
            <a:solidFill>
              <a:srgbClr val="334E68"/>
            </a:solidFill>
            <a:ln>
              <a:noFill/>
            </a:ln>
          </p:spPr>
        </p:sp>
        <p:sp>
          <p:nvSpPr>
            <p:cNvPr id="18" name="TextBox 18"/>
            <p:cNvSpPr txBox="1"/>
            <p:nvPr/>
          </p:nvSpPr>
          <p:spPr>
            <a:xfrm>
              <a:off x="944880" y="3529965"/>
              <a:ext cx="52654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用过程设计工具把处理过程描述出来，交给程序员照着编码</a:t>
              </a:r>
            </a:p>
          </p:txBody>
        </p:sp>
      </p:grpSp>
      <p:grpSp>
        <p:nvGrpSpPr>
          <p:cNvPr id="30" name="c1-card-2"/>
          <p:cNvGrpSpPr/>
          <p:nvPr/>
        </p:nvGrpSpPr>
        <p:grpSpPr>
          <a:xfrm>
            <a:off x="533400" y="4164330"/>
            <a:ext cx="5842635" cy="1662112"/>
            <a:chOff x="533400" y="4164330"/>
            <a:chExt cx="5842635" cy="1662112"/>
          </a:xfrm>
        </p:grpSpPr>
        <p:sp>
          <p:nvSpPr>
            <p:cNvPr id="20" name="Rectangle 20"/>
            <p:cNvSpPr/>
            <p:nvPr/>
          </p:nvSpPr>
          <p:spPr>
            <a:xfrm>
              <a:off x="533400" y="4164330"/>
              <a:ext cx="5842635" cy="1662112"/>
            </a:xfrm>
            <a:prstGeom prst="roundRect">
              <a:avLst>
                <a:gd name="adj" fmla="val 8023"/>
              </a:avLst>
            </a:prstGeom>
            <a:solidFill>
              <a:srgbClr val="334E68"/>
            </a:solidFill>
            <a:ln>
              <a:noFill/>
            </a:ln>
          </p:spPr>
        </p:sp>
        <p:sp>
          <p:nvSpPr>
            <p:cNvPr id="21" name="Rectangle 21"/>
            <p:cNvSpPr/>
            <p:nvPr/>
          </p:nvSpPr>
          <p:spPr>
            <a:xfrm>
              <a:off x="742950" y="4373880"/>
              <a:ext cx="778192" cy="257175"/>
            </a:xfrm>
            <a:prstGeom prst="roundRect">
              <a:avLst>
                <a:gd name="adj" fmla="val 50000"/>
              </a:avLst>
            </a:prstGeom>
            <a:solidFill>
              <a:srgbClr val="243B53"/>
            </a:solidFill>
            <a:ln>
              <a:noFill/>
            </a:ln>
          </p:spPr>
        </p:sp>
        <p:sp>
          <p:nvSpPr>
            <p:cNvPr id="22" name="TextBox 22"/>
            <p:cNvSpPr txBox="1"/>
            <p:nvPr/>
          </p:nvSpPr>
          <p:spPr>
            <a:xfrm>
              <a:off x="825259" y="4409599"/>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两条要求</a:t>
              </a:r>
            </a:p>
          </p:txBody>
        </p:sp>
        <p:sp>
          <p:nvSpPr>
            <p:cNvPr id="23" name="Ellipse 23"/>
            <p:cNvSpPr/>
            <p:nvPr/>
          </p:nvSpPr>
          <p:spPr>
            <a:xfrm>
              <a:off x="742950" y="4737735"/>
              <a:ext cx="213360" cy="213360"/>
            </a:xfrm>
            <a:prstGeom prst="ellipse">
              <a:avLst/>
            </a:prstGeom>
            <a:solidFill>
              <a:srgbClr val="334E68"/>
            </a:solidFill>
            <a:ln>
              <a:noFill/>
            </a:ln>
          </p:spPr>
        </p:sp>
        <p:sp>
          <p:nvSpPr>
            <p:cNvPr id="24" name="TextBox 24"/>
            <p:cNvSpPr txBox="1"/>
            <p:nvPr/>
          </p:nvSpPr>
          <p:spPr>
            <a:xfrm>
              <a:off x="804799" y="478002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1</a:t>
              </a:r>
            </a:p>
          </p:txBody>
        </p:sp>
        <p:sp>
          <p:nvSpPr>
            <p:cNvPr id="25" name="TextBox 25"/>
            <p:cNvSpPr txBox="1"/>
            <p:nvPr/>
          </p:nvSpPr>
          <p:spPr>
            <a:xfrm>
              <a:off x="1043940" y="4751070"/>
              <a:ext cx="304419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逻辑上正确地实现每个模块的功能</a:t>
              </a:r>
            </a:p>
          </p:txBody>
        </p:sp>
        <p:sp>
          <p:nvSpPr>
            <p:cNvPr id="26" name="Ellipse 26"/>
            <p:cNvSpPr/>
            <p:nvPr/>
          </p:nvSpPr>
          <p:spPr>
            <a:xfrm>
              <a:off x="742950" y="5073015"/>
              <a:ext cx="213360" cy="213360"/>
            </a:xfrm>
            <a:prstGeom prst="ellipse">
              <a:avLst/>
            </a:prstGeom>
            <a:solidFill>
              <a:srgbClr val="334E68"/>
            </a:solidFill>
            <a:ln>
              <a:noFill/>
            </a:ln>
          </p:spPr>
        </p:sp>
        <p:sp>
          <p:nvSpPr>
            <p:cNvPr id="27" name="TextBox 27"/>
            <p:cNvSpPr txBox="1"/>
            <p:nvPr/>
          </p:nvSpPr>
          <p:spPr>
            <a:xfrm>
              <a:off x="804799" y="511530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2</a:t>
              </a:r>
            </a:p>
          </p:txBody>
        </p:sp>
        <p:sp>
          <p:nvSpPr>
            <p:cNvPr id="28" name="TextBox 28"/>
            <p:cNvSpPr txBox="1"/>
            <p:nvPr/>
          </p:nvSpPr>
          <p:spPr>
            <a:xfrm>
              <a:off x="1043940" y="5086350"/>
              <a:ext cx="304419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设计出的处理过程尽可能</a:t>
              </a:r>
              <a:r>
                <a:rPr lang="zh-CN" sz="1500" b="1" dirty="0">
                  <a:solidFill>
                    <a:srgbClr val="FFD58A"/>
                  </a:solidFill>
                  <a:latin typeface="+mn-lt"/>
                  <a:ea typeface="+mn-ea"/>
                  <a:cs typeface="+mn-cs"/>
                </a:rPr>
                <a:t>简明易懂</a:t>
              </a:r>
            </a:p>
          </p:txBody>
        </p:sp>
        <p:sp>
          <p:nvSpPr>
            <p:cNvPr id="29" name="TextBox 29"/>
            <p:cNvSpPr txBox="1"/>
            <p:nvPr/>
          </p:nvSpPr>
          <p:spPr>
            <a:xfrm>
              <a:off x="736473" y="5417344"/>
              <a:ext cx="5208209"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课件把第 2 条说成更重要的目标：写得懂，后面才改得动、测得完。</a:t>
              </a:r>
            </a:p>
          </p:txBody>
        </p:sp>
      </p:grpSp>
      <p:grpSp>
        <p:nvGrpSpPr>
          <p:cNvPr id="49" name="c2-flow-1"/>
          <p:cNvGrpSpPr/>
          <p:nvPr/>
        </p:nvGrpSpPr>
        <p:grpSpPr>
          <a:xfrm>
            <a:off x="6855142" y="2145030"/>
            <a:ext cx="4629151" cy="2025968"/>
            <a:chOff x="6855142" y="2145030"/>
            <a:chExt cx="4629151" cy="2025968"/>
          </a:xfrm>
        </p:grpSpPr>
        <p:sp>
          <p:nvSpPr>
            <p:cNvPr id="31" name="Freeform 31"/>
            <p:cNvSpPr/>
            <p:nvPr/>
          </p:nvSpPr>
          <p:spPr>
            <a:xfrm>
              <a:off x="7925752" y="2583180"/>
              <a:ext cx="9525" cy="251460"/>
            </a:xfrm>
            <a:custGeom>
              <a:avLst/>
              <a:gdLst/>
              <a:ahLst/>
              <a:cxnLst/>
              <a:rect l="l" t="t" r="r" b="b"/>
              <a:pathLst>
                <a:path w="9525" h="251460">
                  <a:moveTo>
                    <a:pt x="0" y="0"/>
                  </a:moveTo>
                  <a:lnTo>
                    <a:pt x="0" y="251460"/>
                  </a:lnTo>
                </a:path>
              </a:pathLst>
            </a:custGeom>
            <a:noFill/>
            <a:ln w="15240">
              <a:solidFill>
                <a:srgbClr val="5B6475"/>
              </a:solidFill>
            </a:ln>
          </p:spPr>
        </p:sp>
        <p:sp>
          <p:nvSpPr>
            <p:cNvPr id="32" name="Freeform 32"/>
            <p:cNvSpPr/>
            <p:nvPr/>
          </p:nvSpPr>
          <p:spPr>
            <a:xfrm>
              <a:off x="7873365" y="283464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3" name="Freeform 33"/>
            <p:cNvSpPr/>
            <p:nvPr/>
          </p:nvSpPr>
          <p:spPr>
            <a:xfrm>
              <a:off x="7925752" y="3377565"/>
              <a:ext cx="9525" cy="250507"/>
            </a:xfrm>
            <a:custGeom>
              <a:avLst/>
              <a:gdLst/>
              <a:ahLst/>
              <a:cxnLst/>
              <a:rect l="l" t="t" r="r" b="b"/>
              <a:pathLst>
                <a:path w="9525" h="250507">
                  <a:moveTo>
                    <a:pt x="0" y="0"/>
                  </a:moveTo>
                  <a:lnTo>
                    <a:pt x="0" y="250507"/>
                  </a:lnTo>
                </a:path>
              </a:pathLst>
            </a:custGeom>
            <a:noFill/>
            <a:ln w="15240">
              <a:solidFill>
                <a:srgbClr val="5B6475"/>
              </a:solidFill>
            </a:ln>
          </p:spPr>
        </p:sp>
        <p:sp>
          <p:nvSpPr>
            <p:cNvPr id="34" name="Freeform 34"/>
            <p:cNvSpPr/>
            <p:nvPr/>
          </p:nvSpPr>
          <p:spPr>
            <a:xfrm>
              <a:off x="7873365" y="362807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5" name="Freeform 35"/>
            <p:cNvSpPr/>
            <p:nvPr/>
          </p:nvSpPr>
          <p:spPr>
            <a:xfrm>
              <a:off x="8995410" y="2364105"/>
              <a:ext cx="243840" cy="9525"/>
            </a:xfrm>
            <a:custGeom>
              <a:avLst/>
              <a:gdLst/>
              <a:ahLst/>
              <a:cxnLst/>
              <a:rect l="l" t="t" r="r" b="b"/>
              <a:pathLst>
                <a:path w="243840" h="9525">
                  <a:moveTo>
                    <a:pt x="0" y="0"/>
                  </a:moveTo>
                  <a:lnTo>
                    <a:pt x="243840" y="0"/>
                  </a:lnTo>
                </a:path>
              </a:pathLst>
            </a:custGeom>
            <a:noFill/>
            <a:ln w="15240">
              <a:solidFill>
                <a:srgbClr val="5B6475"/>
              </a:solidFill>
              <a:custDash>
                <a:ds d="375000" sp="250000"/>
              </a:custDash>
            </a:ln>
          </p:spPr>
        </p:sp>
        <p:sp>
          <p:nvSpPr>
            <p:cNvPr id="36" name="Freeform 36"/>
            <p:cNvSpPr/>
            <p:nvPr/>
          </p:nvSpPr>
          <p:spPr>
            <a:xfrm>
              <a:off x="9239250" y="231171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37" name="Freeform 37"/>
            <p:cNvSpPr/>
            <p:nvPr/>
          </p:nvSpPr>
          <p:spPr>
            <a:xfrm>
              <a:off x="8995410" y="3158490"/>
              <a:ext cx="243840" cy="9525"/>
            </a:xfrm>
            <a:custGeom>
              <a:avLst/>
              <a:gdLst/>
              <a:ahLst/>
              <a:cxnLst/>
              <a:rect l="l" t="t" r="r" b="b"/>
              <a:pathLst>
                <a:path w="243840" h="9525">
                  <a:moveTo>
                    <a:pt x="0" y="0"/>
                  </a:moveTo>
                  <a:lnTo>
                    <a:pt x="243840" y="0"/>
                  </a:lnTo>
                </a:path>
              </a:pathLst>
            </a:custGeom>
            <a:noFill/>
            <a:ln w="15240">
              <a:solidFill>
                <a:srgbClr val="5B6475"/>
              </a:solidFill>
              <a:custDash>
                <a:ds d="375000" sp="250000"/>
              </a:custDash>
            </a:ln>
          </p:spPr>
        </p:sp>
        <p:sp>
          <p:nvSpPr>
            <p:cNvPr id="38" name="Freeform 38"/>
            <p:cNvSpPr/>
            <p:nvPr/>
          </p:nvSpPr>
          <p:spPr>
            <a:xfrm>
              <a:off x="9239250" y="3106102"/>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39" name="Rectangle 39"/>
            <p:cNvSpPr/>
            <p:nvPr/>
          </p:nvSpPr>
          <p:spPr>
            <a:xfrm>
              <a:off x="6855142" y="2145030"/>
              <a:ext cx="2140268" cy="438150"/>
            </a:xfrm>
            <a:prstGeom prst="roundRect">
              <a:avLst>
                <a:gd name="adj" fmla="val 21739"/>
              </a:avLst>
            </a:prstGeom>
            <a:solidFill>
              <a:srgbClr val="FFFFFF"/>
            </a:solidFill>
            <a:ln w="15240">
              <a:solidFill>
                <a:srgbClr val="334E68"/>
              </a:solidFill>
            </a:ln>
          </p:spPr>
        </p:sp>
        <p:sp>
          <p:nvSpPr>
            <p:cNvPr id="40" name="Rectangle 40"/>
            <p:cNvSpPr/>
            <p:nvPr/>
          </p:nvSpPr>
          <p:spPr>
            <a:xfrm>
              <a:off x="6855142" y="2939415"/>
              <a:ext cx="2140268" cy="438150"/>
            </a:xfrm>
            <a:prstGeom prst="roundRect">
              <a:avLst>
                <a:gd name="adj" fmla="val 21739"/>
              </a:avLst>
            </a:prstGeom>
            <a:solidFill>
              <a:srgbClr val="E7EDF3"/>
            </a:solidFill>
            <a:ln w="19050">
              <a:solidFill>
                <a:srgbClr val="334E68"/>
              </a:solidFill>
            </a:ln>
          </p:spPr>
        </p:sp>
        <p:sp>
          <p:nvSpPr>
            <p:cNvPr id="41" name="Rectangle 41"/>
            <p:cNvSpPr/>
            <p:nvPr/>
          </p:nvSpPr>
          <p:spPr>
            <a:xfrm>
              <a:off x="6855142" y="3732848"/>
              <a:ext cx="2140268" cy="438150"/>
            </a:xfrm>
            <a:prstGeom prst="roundRect">
              <a:avLst>
                <a:gd name="adj" fmla="val 21739"/>
              </a:avLst>
            </a:prstGeom>
            <a:solidFill>
              <a:srgbClr val="FFFFFF"/>
            </a:solidFill>
            <a:ln w="15240">
              <a:solidFill>
                <a:srgbClr val="334E68"/>
              </a:solidFill>
            </a:ln>
          </p:spPr>
        </p:sp>
        <p:sp>
          <p:nvSpPr>
            <p:cNvPr id="42" name="Rectangle 42"/>
            <p:cNvSpPr/>
            <p:nvPr/>
          </p:nvSpPr>
          <p:spPr>
            <a:xfrm>
              <a:off x="9344025" y="2145030"/>
              <a:ext cx="2140268" cy="438150"/>
            </a:xfrm>
            <a:prstGeom prst="roundRect">
              <a:avLst>
                <a:gd name="adj" fmla="val 17391"/>
              </a:avLst>
            </a:prstGeom>
            <a:solidFill>
              <a:srgbClr val="FEF3C7"/>
            </a:solidFill>
            <a:ln>
              <a:noFill/>
            </a:ln>
          </p:spPr>
        </p:sp>
        <p:sp>
          <p:nvSpPr>
            <p:cNvPr id="43" name="Rectangle 43"/>
            <p:cNvSpPr/>
            <p:nvPr/>
          </p:nvSpPr>
          <p:spPr>
            <a:xfrm>
              <a:off x="9344025" y="2939415"/>
              <a:ext cx="2140268" cy="438150"/>
            </a:xfrm>
            <a:prstGeom prst="roundRect">
              <a:avLst>
                <a:gd name="adj" fmla="val 17391"/>
              </a:avLst>
            </a:prstGeom>
            <a:solidFill>
              <a:srgbClr val="FEF3C7"/>
            </a:solidFill>
            <a:ln>
              <a:noFill/>
            </a:ln>
          </p:spPr>
        </p:sp>
        <p:sp>
          <p:nvSpPr>
            <p:cNvPr id="44" name="TextBox 44"/>
            <p:cNvSpPr txBox="1"/>
            <p:nvPr/>
          </p:nvSpPr>
          <p:spPr>
            <a:xfrm>
              <a:off x="7574648" y="2275046"/>
              <a:ext cx="702208"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总体设计</a:t>
              </a:r>
            </a:p>
          </p:txBody>
        </p:sp>
        <p:sp>
          <p:nvSpPr>
            <p:cNvPr id="45" name="TextBox 45"/>
            <p:cNvSpPr txBox="1"/>
            <p:nvPr/>
          </p:nvSpPr>
          <p:spPr>
            <a:xfrm>
              <a:off x="7574648" y="3069431"/>
              <a:ext cx="702208"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详细设计</a:t>
              </a:r>
            </a:p>
          </p:txBody>
        </p:sp>
        <p:sp>
          <p:nvSpPr>
            <p:cNvPr id="46" name="TextBox 46"/>
            <p:cNvSpPr txBox="1"/>
            <p:nvPr/>
          </p:nvSpPr>
          <p:spPr>
            <a:xfrm>
              <a:off x="7488492" y="3862864"/>
              <a:ext cx="874522"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编码与测试</a:t>
              </a:r>
            </a:p>
          </p:txBody>
        </p:sp>
        <p:sp>
          <p:nvSpPr>
            <p:cNvPr id="47" name="TextBox 47"/>
            <p:cNvSpPr txBox="1"/>
            <p:nvPr/>
          </p:nvSpPr>
          <p:spPr>
            <a:xfrm>
              <a:off x="9792137" y="2275046"/>
              <a:ext cx="124499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模块 + 调用关系</a:t>
              </a:r>
            </a:p>
          </p:txBody>
        </p:sp>
        <p:sp>
          <p:nvSpPr>
            <p:cNvPr id="48" name="TextBox 48"/>
            <p:cNvSpPr txBox="1"/>
            <p:nvPr/>
          </p:nvSpPr>
          <p:spPr>
            <a:xfrm>
              <a:off x="9792137" y="3069431"/>
              <a:ext cx="124499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算法 + 数据结构</a:t>
              </a:r>
            </a:p>
          </p:txBody>
        </p:sp>
      </p:grpSp>
      <p:grpSp>
        <p:nvGrpSpPr>
          <p:cNvPr id="56" name="c2-callout-2"/>
          <p:cNvGrpSpPr/>
          <p:nvPr/>
        </p:nvGrpSpPr>
        <p:grpSpPr>
          <a:xfrm>
            <a:off x="6680835" y="4539615"/>
            <a:ext cx="4977765" cy="1286828"/>
            <a:chOff x="6680835" y="4539615"/>
            <a:chExt cx="4977765" cy="1286828"/>
          </a:xfrm>
        </p:grpSpPr>
        <p:sp>
          <p:nvSpPr>
            <p:cNvPr id="50" name="Rectangle 50"/>
            <p:cNvSpPr/>
            <p:nvPr/>
          </p:nvSpPr>
          <p:spPr>
            <a:xfrm>
              <a:off x="6680835" y="4539615"/>
              <a:ext cx="4977765" cy="1286828"/>
            </a:xfrm>
            <a:prstGeom prst="roundRect">
              <a:avLst>
                <a:gd name="adj" fmla="val 8882"/>
              </a:avLst>
            </a:prstGeom>
            <a:solidFill>
              <a:srgbClr val="FDEEE7"/>
            </a:solidFill>
            <a:ln>
              <a:noFill/>
            </a:ln>
          </p:spPr>
        </p:sp>
        <p:grpSp>
          <p:nvGrpSpPr>
            <p:cNvPr id="54" name="Group 54"/>
            <p:cNvGrpSpPr/>
            <p:nvPr/>
          </p:nvGrpSpPr>
          <p:grpSpPr>
            <a:xfrm>
              <a:off x="6885623" y="5082540"/>
              <a:ext cx="200026" cy="200025"/>
              <a:chOff x="6885623" y="5082540"/>
              <a:chExt cx="200026" cy="200025"/>
            </a:xfrm>
          </p:grpSpPr>
          <p:sp>
            <p:nvSpPr>
              <p:cNvPr id="51" name="Freeform 51"/>
              <p:cNvSpPr/>
              <p:nvPr/>
            </p:nvSpPr>
            <p:spPr>
              <a:xfrm>
                <a:off x="6885623" y="508254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2" name="Freeform 52"/>
              <p:cNvSpPr/>
              <p:nvPr/>
            </p:nvSpPr>
            <p:spPr>
              <a:xfrm>
                <a:off x="6925361" y="512699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3" name="Freeform 53"/>
              <p:cNvSpPr/>
              <p:nvPr/>
            </p:nvSpPr>
            <p:spPr>
              <a:xfrm>
                <a:off x="6960077" y="523811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55" name="TextBox 55"/>
            <p:cNvSpPr txBox="1"/>
            <p:nvPr/>
          </p:nvSpPr>
          <p:spPr>
            <a:xfrm>
              <a:off x="7187565" y="4939665"/>
              <a:ext cx="40157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实现这两条要求的关键技术是结构程序设计，它</a:t>
              </a:r>
              <a:br/>
              <a:r>
                <a:rPr lang="zh-CN" sz="1500" dirty="0">
                  <a:solidFill>
                    <a:srgbClr val="C2410C"/>
                  </a:solidFill>
                  <a:latin typeface="+mn-lt"/>
                  <a:ea typeface="+mn-ea"/>
                  <a:cs typeface="+mn-cs"/>
                </a:rPr>
                <a:t>是详细设计的逻辑基础。</a:t>
              </a:r>
            </a:p>
          </p:txBody>
        </p:sp>
      </p:grpSp>
      <p:grpSp>
        <p:nvGrpSpPr>
          <p:cNvPr id="59" name="footer"/>
          <p:cNvGrpSpPr/>
          <p:nvPr/>
        </p:nvGrpSpPr>
        <p:grpSpPr>
          <a:xfrm>
            <a:off x="528447" y="6581299"/>
            <a:ext cx="11135106" cy="190690"/>
            <a:chOff x="528447" y="6581299"/>
            <a:chExt cx="11135106" cy="190690"/>
          </a:xfrm>
        </p:grpSpPr>
        <p:sp>
          <p:nvSpPr>
            <p:cNvPr id="57" name="TextBox 57"/>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58" name="TextBox 58"/>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687292" cy="909257"/>
            <a:chOff x="520446" y="342900"/>
            <a:chExt cx="6687292" cy="909257"/>
          </a:xfrm>
        </p:grpSpPr>
        <p:sp>
          <p:nvSpPr>
            <p:cNvPr id="2" name="Rectangle 2"/>
            <p:cNvSpPr/>
            <p:nvPr/>
          </p:nvSpPr>
          <p:spPr>
            <a:xfrm>
              <a:off x="533400" y="342900"/>
              <a:ext cx="3268028" cy="266700"/>
            </a:xfrm>
            <a:prstGeom prst="roundRect">
              <a:avLst>
                <a:gd name="adj" fmla="val 50000"/>
              </a:avLst>
            </a:prstGeom>
            <a:solidFill>
              <a:srgbClr val="E7EDF3"/>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详细设计概要与结构程序设计</a:t>
              </a:r>
            </a:p>
          </p:txBody>
        </p:sp>
        <p:sp>
          <p:nvSpPr>
            <p:cNvPr id="4" name="TextBox 4"/>
            <p:cNvSpPr txBox="1"/>
            <p:nvPr/>
          </p:nvSpPr>
          <p:spPr>
            <a:xfrm>
              <a:off x="520446" y="753428"/>
              <a:ext cx="668729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结构程序设计：从"能不能取消 GOTO"问起</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4" name="c1-steps-1"/>
          <p:cNvGrpSpPr/>
          <p:nvPr/>
        </p:nvGrpSpPr>
        <p:grpSpPr>
          <a:xfrm>
            <a:off x="533400" y="1533525"/>
            <a:ext cx="5388991" cy="2890361"/>
            <a:chOff x="533400" y="1533525"/>
            <a:chExt cx="5388991" cy="2890361"/>
          </a:xfrm>
        </p:grpSpPr>
        <p:sp>
          <p:nvSpPr>
            <p:cNvPr id="7" name="Rectangle 7"/>
            <p:cNvSpPr/>
            <p:nvPr/>
          </p:nvSpPr>
          <p:spPr>
            <a:xfrm>
              <a:off x="666750" y="1676400"/>
              <a:ext cx="19050" cy="2163128"/>
            </a:xfrm>
            <a:prstGeom prst="rect">
              <a:avLst/>
            </a:prstGeom>
            <a:solidFill>
              <a:srgbClr val="D9DFEA"/>
            </a:solidFill>
            <a:ln>
              <a:noFill/>
            </a:ln>
          </p:spPr>
        </p:sp>
        <p:sp>
          <p:nvSpPr>
            <p:cNvPr id="8" name="Ellipse 8"/>
            <p:cNvSpPr/>
            <p:nvPr/>
          </p:nvSpPr>
          <p:spPr>
            <a:xfrm>
              <a:off x="533400" y="1533525"/>
              <a:ext cx="285750" cy="285750"/>
            </a:xfrm>
            <a:prstGeom prst="ellipse">
              <a:avLst/>
            </a:prstGeom>
            <a:solidFill>
              <a:srgbClr val="334E68"/>
            </a:solidFill>
            <a:ln>
              <a:noFill/>
            </a:ln>
          </p:spPr>
        </p:sp>
        <p:sp>
          <p:nvSpPr>
            <p:cNvPr id="9" name="TextBox 9"/>
            <p:cNvSpPr txBox="1"/>
            <p:nvPr/>
          </p:nvSpPr>
          <p:spPr>
            <a:xfrm>
              <a:off x="627024" y="16073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0" name="Ellipse 10"/>
            <p:cNvSpPr/>
            <p:nvPr/>
          </p:nvSpPr>
          <p:spPr>
            <a:xfrm>
              <a:off x="533400" y="2323148"/>
              <a:ext cx="285750" cy="285750"/>
            </a:xfrm>
            <a:prstGeom prst="ellipse">
              <a:avLst/>
            </a:prstGeom>
            <a:solidFill>
              <a:srgbClr val="334E68"/>
            </a:solidFill>
            <a:ln>
              <a:noFill/>
            </a:ln>
          </p:spPr>
        </p:sp>
        <p:sp>
          <p:nvSpPr>
            <p:cNvPr id="11" name="TextBox 11"/>
            <p:cNvSpPr txBox="1"/>
            <p:nvPr/>
          </p:nvSpPr>
          <p:spPr>
            <a:xfrm>
              <a:off x="627024" y="239696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2" name="Ellipse 12"/>
            <p:cNvSpPr/>
            <p:nvPr/>
          </p:nvSpPr>
          <p:spPr>
            <a:xfrm>
              <a:off x="533400" y="3113722"/>
              <a:ext cx="285750" cy="285750"/>
            </a:xfrm>
            <a:prstGeom prst="ellipse">
              <a:avLst/>
            </a:prstGeom>
            <a:solidFill>
              <a:srgbClr val="334E68"/>
            </a:solidFill>
            <a:ln>
              <a:noFill/>
            </a:ln>
          </p:spPr>
        </p:sp>
        <p:sp>
          <p:nvSpPr>
            <p:cNvPr id="13" name="TextBox 13"/>
            <p:cNvSpPr txBox="1"/>
            <p:nvPr/>
          </p:nvSpPr>
          <p:spPr>
            <a:xfrm>
              <a:off x="627024" y="318754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4" name="Ellipse 14"/>
            <p:cNvSpPr/>
            <p:nvPr/>
          </p:nvSpPr>
          <p:spPr>
            <a:xfrm>
              <a:off x="533400" y="3696652"/>
              <a:ext cx="285750" cy="285750"/>
            </a:xfrm>
            <a:prstGeom prst="ellipse">
              <a:avLst/>
            </a:prstGeom>
            <a:solidFill>
              <a:srgbClr val="334E68"/>
            </a:solidFill>
            <a:ln>
              <a:noFill/>
            </a:ln>
          </p:spPr>
        </p:sp>
        <p:sp>
          <p:nvSpPr>
            <p:cNvPr id="15" name="TextBox 15"/>
            <p:cNvSpPr txBox="1"/>
            <p:nvPr/>
          </p:nvSpPr>
          <p:spPr>
            <a:xfrm>
              <a:off x="627024" y="377047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16" name="TextBox 16"/>
            <p:cNvSpPr txBox="1"/>
            <p:nvPr/>
          </p:nvSpPr>
          <p:spPr>
            <a:xfrm>
              <a:off x="945642" y="1564957"/>
              <a:ext cx="672513"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1965 年</a:t>
              </a:r>
            </a:p>
          </p:txBody>
        </p:sp>
        <p:sp>
          <p:nvSpPr>
            <p:cNvPr id="17" name="TextBox 17"/>
            <p:cNvSpPr txBox="1"/>
            <p:nvPr/>
          </p:nvSpPr>
          <p:spPr>
            <a:xfrm>
              <a:off x="946785" y="1833086"/>
              <a:ext cx="4904486"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1F2937"/>
                  </a:solidFill>
                  <a:latin typeface="+mn-lt"/>
                  <a:ea typeface="+mn-ea"/>
                  <a:cs typeface="+mn-cs"/>
                </a:rPr>
                <a:t>Dijkstra 提出可以从高级语言中取消 GOTO 语句，并指出程序的质量与程序中</a:t>
              </a:r>
              <a:br/>
              <a:r>
                <a:rPr lang="zh-CN" sz="1120" dirty="0">
                  <a:solidFill>
                    <a:srgbClr val="1F2937"/>
                  </a:solidFill>
                  <a:latin typeface="+mn-lt"/>
                  <a:ea typeface="+mn-ea"/>
                  <a:cs typeface="+mn-cs"/>
                </a:rPr>
                <a:t>所包含的 GOTO 语句的数量成反比</a:t>
              </a:r>
            </a:p>
          </p:txBody>
        </p:sp>
        <p:sp>
          <p:nvSpPr>
            <p:cNvPr id="18" name="TextBox 18"/>
            <p:cNvSpPr txBox="1"/>
            <p:nvPr/>
          </p:nvSpPr>
          <p:spPr>
            <a:xfrm>
              <a:off x="945642" y="2355532"/>
              <a:ext cx="672513"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1966 年</a:t>
              </a:r>
            </a:p>
          </p:txBody>
        </p:sp>
        <p:sp>
          <p:nvSpPr>
            <p:cNvPr id="19" name="TextBox 19"/>
            <p:cNvSpPr txBox="1"/>
            <p:nvPr/>
          </p:nvSpPr>
          <p:spPr>
            <a:xfrm>
              <a:off x="946785" y="2622709"/>
              <a:ext cx="4897374"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1F2937"/>
                  </a:solidFill>
                  <a:latin typeface="+mn-lt"/>
                  <a:ea typeface="+mn-ea"/>
                  <a:cs typeface="+mn-cs"/>
                </a:rPr>
                <a:t>Böhm 和 Jacopini 证明：只用顺序、选择、循环 3 种基本控制结构，就能实现</a:t>
              </a:r>
              <a:br/>
              <a:r>
                <a:rPr lang="zh-CN" sz="1120" dirty="0">
                  <a:solidFill>
                    <a:srgbClr val="1F2937"/>
                  </a:solidFill>
                  <a:latin typeface="+mn-lt"/>
                  <a:ea typeface="+mn-ea"/>
                  <a:cs typeface="+mn-cs"/>
                </a:rPr>
                <a:t>任何单入口单出口的程序</a:t>
              </a:r>
            </a:p>
          </p:txBody>
        </p:sp>
        <p:sp>
          <p:nvSpPr>
            <p:cNvPr id="20" name="TextBox 20"/>
            <p:cNvSpPr txBox="1"/>
            <p:nvPr/>
          </p:nvSpPr>
          <p:spPr>
            <a:xfrm>
              <a:off x="945642" y="3145155"/>
              <a:ext cx="672513"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1968 年</a:t>
              </a:r>
            </a:p>
          </p:txBody>
        </p:sp>
        <p:sp>
          <p:nvSpPr>
            <p:cNvPr id="21" name="TextBox 21"/>
            <p:cNvSpPr txBox="1"/>
            <p:nvPr/>
          </p:nvSpPr>
          <p:spPr>
            <a:xfrm>
              <a:off x="946785" y="3413284"/>
              <a:ext cx="292045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Dijkstra 再次建议在程序设计中放弃 GOTO</a:t>
              </a:r>
            </a:p>
          </p:txBody>
        </p:sp>
        <p:sp>
          <p:nvSpPr>
            <p:cNvPr id="22" name="TextBox 22"/>
            <p:cNvSpPr txBox="1"/>
            <p:nvPr/>
          </p:nvSpPr>
          <p:spPr>
            <a:xfrm>
              <a:off x="945642" y="3728085"/>
              <a:ext cx="672513"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1971 年</a:t>
              </a:r>
            </a:p>
          </p:txBody>
        </p:sp>
        <p:sp>
          <p:nvSpPr>
            <p:cNvPr id="23" name="TextBox 23"/>
            <p:cNvSpPr txBox="1"/>
            <p:nvPr/>
          </p:nvSpPr>
          <p:spPr>
            <a:xfrm>
              <a:off x="946785" y="3996214"/>
              <a:ext cx="4975606"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1F2937"/>
                  </a:solidFill>
                  <a:latin typeface="+mn-lt"/>
                  <a:ea typeface="+mn-ea"/>
                  <a:cs typeface="+mn-cs"/>
                </a:rPr>
                <a:t>IBM 把结构程序设计成功用于纽约时报信息库管理系统和美国宇航局飞行模拟实</a:t>
              </a:r>
              <a:br/>
              <a:r>
                <a:rPr lang="zh-CN" sz="1120" dirty="0">
                  <a:solidFill>
                    <a:srgbClr val="1F2937"/>
                  </a:solidFill>
                  <a:latin typeface="+mn-lt"/>
                  <a:ea typeface="+mn-ea"/>
                  <a:cs typeface="+mn-cs"/>
                </a:rPr>
                <a:t>验</a:t>
              </a:r>
            </a:p>
          </p:txBody>
        </p:sp>
      </p:grpSp>
      <p:grpSp>
        <p:nvGrpSpPr>
          <p:cNvPr id="33" name="c1-kv-2"/>
          <p:cNvGrpSpPr/>
          <p:nvPr/>
        </p:nvGrpSpPr>
        <p:grpSpPr>
          <a:xfrm>
            <a:off x="526542" y="4609148"/>
            <a:ext cx="5633276" cy="1048893"/>
            <a:chOff x="526542" y="4609148"/>
            <a:chExt cx="5633276" cy="1048893"/>
          </a:xfrm>
        </p:grpSpPr>
        <p:sp>
          <p:nvSpPr>
            <p:cNvPr id="25" name="TextBox 25"/>
            <p:cNvSpPr txBox="1"/>
            <p:nvPr/>
          </p:nvSpPr>
          <p:spPr>
            <a:xfrm>
              <a:off x="526542" y="4609148"/>
              <a:ext cx="377190"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顺序</a:t>
              </a:r>
            </a:p>
          </p:txBody>
        </p:sp>
        <p:sp>
          <p:nvSpPr>
            <p:cNvPr id="26" name="TextBox 26"/>
            <p:cNvSpPr txBox="1"/>
            <p:nvPr/>
          </p:nvSpPr>
          <p:spPr>
            <a:xfrm>
              <a:off x="1131380" y="4609148"/>
              <a:ext cx="201282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几条语句一条接一条执行</a:t>
              </a:r>
            </a:p>
          </p:txBody>
        </p:sp>
        <p:sp>
          <p:nvSpPr>
            <p:cNvPr id="27" name="Rectangle 27"/>
            <p:cNvSpPr/>
            <p:nvPr/>
          </p:nvSpPr>
          <p:spPr>
            <a:xfrm>
              <a:off x="533400" y="4895850"/>
              <a:ext cx="5626418" cy="9525"/>
            </a:xfrm>
            <a:prstGeom prst="rect">
              <a:avLst/>
            </a:prstGeom>
            <a:solidFill>
              <a:srgbClr val="D9DFEA"/>
            </a:solidFill>
            <a:ln>
              <a:noFill/>
            </a:ln>
          </p:spPr>
        </p:sp>
        <p:sp>
          <p:nvSpPr>
            <p:cNvPr id="28" name="TextBox 28"/>
            <p:cNvSpPr txBox="1"/>
            <p:nvPr/>
          </p:nvSpPr>
          <p:spPr>
            <a:xfrm>
              <a:off x="526542" y="5001578"/>
              <a:ext cx="377190"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选择</a:t>
              </a:r>
            </a:p>
          </p:txBody>
        </p:sp>
        <p:sp>
          <p:nvSpPr>
            <p:cNvPr id="29" name="TextBox 29"/>
            <p:cNvSpPr txBox="1"/>
            <p:nvPr/>
          </p:nvSpPr>
          <p:spPr>
            <a:xfrm>
              <a:off x="1131380" y="5001578"/>
              <a:ext cx="292150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按一个条件在两段代码里挑一段执行</a:t>
              </a:r>
            </a:p>
          </p:txBody>
        </p:sp>
        <p:sp>
          <p:nvSpPr>
            <p:cNvPr id="30" name="Rectangle 30"/>
            <p:cNvSpPr/>
            <p:nvPr/>
          </p:nvSpPr>
          <p:spPr>
            <a:xfrm>
              <a:off x="533400" y="5288280"/>
              <a:ext cx="5626418" cy="9525"/>
            </a:xfrm>
            <a:prstGeom prst="rect">
              <a:avLst/>
            </a:prstGeom>
            <a:solidFill>
              <a:srgbClr val="D9DFEA"/>
            </a:solidFill>
            <a:ln>
              <a:noFill/>
            </a:ln>
          </p:spPr>
        </p:sp>
        <p:sp>
          <p:nvSpPr>
            <p:cNvPr id="31" name="TextBox 31"/>
            <p:cNvSpPr txBox="1"/>
            <p:nvPr/>
          </p:nvSpPr>
          <p:spPr>
            <a:xfrm>
              <a:off x="526542" y="5394008"/>
              <a:ext cx="377190"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循环</a:t>
              </a:r>
            </a:p>
          </p:txBody>
        </p:sp>
        <p:sp>
          <p:nvSpPr>
            <p:cNvPr id="32" name="TextBox 32"/>
            <p:cNvSpPr txBox="1"/>
            <p:nvPr/>
          </p:nvSpPr>
          <p:spPr>
            <a:xfrm>
              <a:off x="1131380" y="5394008"/>
              <a:ext cx="255803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条件成立就重复执行同一段代码</a:t>
              </a:r>
            </a:p>
          </p:txBody>
        </p:sp>
      </p:grpSp>
      <p:grpSp>
        <p:nvGrpSpPr>
          <p:cNvPr id="41" name="c2-card-1"/>
          <p:cNvGrpSpPr/>
          <p:nvPr/>
        </p:nvGrpSpPr>
        <p:grpSpPr>
          <a:xfrm>
            <a:off x="6464618" y="1524000"/>
            <a:ext cx="5193982" cy="1670685"/>
            <a:chOff x="6464618" y="1524000"/>
            <a:chExt cx="5193982" cy="1670685"/>
          </a:xfrm>
        </p:grpSpPr>
        <p:sp>
          <p:nvSpPr>
            <p:cNvPr id="34" name="Rectangle 34"/>
            <p:cNvSpPr/>
            <p:nvPr/>
          </p:nvSpPr>
          <p:spPr>
            <a:xfrm>
              <a:off x="6464618" y="1524000"/>
              <a:ext cx="5193982" cy="1670685"/>
            </a:xfrm>
            <a:prstGeom prst="roundRect">
              <a:avLst>
                <a:gd name="adj" fmla="val 7982"/>
              </a:avLst>
            </a:prstGeom>
            <a:solidFill>
              <a:srgbClr val="FFFFFF"/>
            </a:solidFill>
            <a:ln w="14288">
              <a:solidFill>
                <a:srgbClr val="D9DFEA"/>
              </a:solidFill>
            </a:ln>
          </p:spPr>
        </p:sp>
        <p:sp>
          <p:nvSpPr>
            <p:cNvPr id="35" name="Rectangle 35"/>
            <p:cNvSpPr/>
            <p:nvPr/>
          </p:nvSpPr>
          <p:spPr>
            <a:xfrm>
              <a:off x="6474142" y="1657350"/>
              <a:ext cx="47625" cy="1403985"/>
            </a:xfrm>
            <a:prstGeom prst="roundRect">
              <a:avLst>
                <a:gd name="adj" fmla="val 50000"/>
              </a:avLst>
            </a:prstGeom>
            <a:solidFill>
              <a:srgbClr val="F26B3A"/>
            </a:solidFill>
            <a:ln>
              <a:noFill/>
            </a:ln>
          </p:spPr>
        </p:sp>
        <p:sp>
          <p:nvSpPr>
            <p:cNvPr id="36" name="Rectangle 36"/>
            <p:cNvSpPr/>
            <p:nvPr/>
          </p:nvSpPr>
          <p:spPr>
            <a:xfrm>
              <a:off x="6689408" y="1710690"/>
              <a:ext cx="458152" cy="238125"/>
            </a:xfrm>
            <a:prstGeom prst="roundRect">
              <a:avLst>
                <a:gd name="adj" fmla="val 50000"/>
              </a:avLst>
            </a:prstGeom>
            <a:solidFill>
              <a:srgbClr val="FDEEE7"/>
            </a:solidFill>
            <a:ln>
              <a:noFill/>
            </a:ln>
          </p:spPr>
        </p:sp>
        <p:sp>
          <p:nvSpPr>
            <p:cNvPr id="37" name="TextBox 37"/>
            <p:cNvSpPr txBox="1"/>
            <p:nvPr/>
          </p:nvSpPr>
          <p:spPr>
            <a:xfrm>
              <a:off x="6782079" y="1743551"/>
              <a:ext cx="273761" cy="190690"/>
            </a:xfrm>
            <a:prstGeom prst="rect">
              <a:avLst/>
            </a:prstGeom>
            <a:noFill/>
            <a:ln>
              <a:noFill/>
            </a:ln>
          </p:spPr>
          <p:txBody>
            <a:bodyPr wrap="none" lIns="0" tIns="0" rIns="0" bIns="0" anchor="t" anchorCtr="0">
              <a:spAutoFit/>
            </a:bodyPr>
            <a:lstStyle/>
            <a:p>
              <a:pPr algn="ctr"/>
              <a:r>
                <a:rPr lang="zh-CN" sz="980" b="1" dirty="0">
                  <a:solidFill>
                    <a:srgbClr val="C2410C"/>
                  </a:solidFill>
                  <a:latin typeface="+mn-lt"/>
                  <a:ea typeface="+mn-ea"/>
                  <a:cs typeface="+mn-cs"/>
                </a:rPr>
                <a:t>定理</a:t>
              </a:r>
            </a:p>
          </p:txBody>
        </p:sp>
        <p:sp>
          <p:nvSpPr>
            <p:cNvPr id="38" name="TextBox 38"/>
            <p:cNvSpPr txBox="1"/>
            <p:nvPr/>
          </p:nvSpPr>
          <p:spPr>
            <a:xfrm>
              <a:off x="7255954" y="1745932"/>
              <a:ext cx="175445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Böhm-Jacopini 定理</a:t>
              </a:r>
            </a:p>
          </p:txBody>
        </p:sp>
        <p:sp>
          <p:nvSpPr>
            <p:cNvPr id="39" name="TextBox 39"/>
            <p:cNvSpPr txBox="1"/>
            <p:nvPr/>
          </p:nvSpPr>
          <p:spPr>
            <a:xfrm>
              <a:off x="6682549" y="2071688"/>
              <a:ext cx="449713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顺序、选择、循环这 3 种结构就够用了，任何单入口单出口</a:t>
              </a:r>
              <a:br/>
              <a:r>
                <a:rPr lang="zh-CN" sz="1350" dirty="0">
                  <a:solidFill>
                    <a:srgbClr val="1F2937"/>
                  </a:solidFill>
                  <a:latin typeface="+mn-lt"/>
                  <a:ea typeface="+mn-ea"/>
                  <a:cs typeface="+mn-cs"/>
                </a:rPr>
                <a:t>的程序都能只用它们写出来。</a:t>
              </a:r>
            </a:p>
          </p:txBody>
        </p:sp>
        <p:sp>
          <p:nvSpPr>
            <p:cNvPr id="40" name="TextBox 40"/>
            <p:cNvSpPr txBox="1"/>
            <p:nvPr/>
          </p:nvSpPr>
          <p:spPr>
            <a:xfrm>
              <a:off x="6683692" y="2625566"/>
              <a:ext cx="4591558"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这条定理是取消 GOTO 的理论依据：任何用跳转写出来的逻辑，都能改写</a:t>
              </a:r>
              <a:br/>
              <a:r>
                <a:rPr lang="zh-CN" sz="1120" dirty="0">
                  <a:solidFill>
                    <a:srgbClr val="5B6475"/>
                  </a:solidFill>
                  <a:latin typeface="+mn-lt"/>
                  <a:ea typeface="+mn-ea"/>
                  <a:cs typeface="+mn-cs"/>
                </a:rPr>
                <a:t>成这 3 种结构。</a:t>
              </a:r>
            </a:p>
          </p:txBody>
        </p:sp>
      </p:grpSp>
      <p:grpSp>
        <p:nvGrpSpPr>
          <p:cNvPr id="50" name="c2-card-2"/>
          <p:cNvGrpSpPr/>
          <p:nvPr/>
        </p:nvGrpSpPr>
        <p:grpSpPr>
          <a:xfrm>
            <a:off x="6464618" y="3365182"/>
            <a:ext cx="5193982" cy="2240280"/>
            <a:chOff x="6464618" y="3365182"/>
            <a:chExt cx="5193982" cy="2240280"/>
          </a:xfrm>
        </p:grpSpPr>
        <p:sp>
          <p:nvSpPr>
            <p:cNvPr id="42" name="Rectangle 42"/>
            <p:cNvSpPr/>
            <p:nvPr/>
          </p:nvSpPr>
          <p:spPr>
            <a:xfrm>
              <a:off x="6464618" y="3365182"/>
              <a:ext cx="5193982" cy="2240280"/>
            </a:xfrm>
            <a:prstGeom prst="roundRect">
              <a:avLst>
                <a:gd name="adj" fmla="val 5952"/>
              </a:avLst>
            </a:prstGeom>
            <a:solidFill>
              <a:srgbClr val="FFFFFF"/>
            </a:solidFill>
            <a:ln w="14288">
              <a:solidFill>
                <a:srgbClr val="D9DFEA"/>
              </a:solidFill>
            </a:ln>
          </p:spPr>
        </p:sp>
        <p:sp>
          <p:nvSpPr>
            <p:cNvPr id="43" name="Rectangle 43"/>
            <p:cNvSpPr/>
            <p:nvPr/>
          </p:nvSpPr>
          <p:spPr>
            <a:xfrm>
              <a:off x="6474142" y="3498532"/>
              <a:ext cx="47625" cy="1973580"/>
            </a:xfrm>
            <a:prstGeom prst="roundRect">
              <a:avLst>
                <a:gd name="adj" fmla="val 50000"/>
              </a:avLst>
            </a:prstGeom>
            <a:solidFill>
              <a:srgbClr val="5B6475"/>
            </a:solidFill>
            <a:ln>
              <a:noFill/>
            </a:ln>
          </p:spPr>
        </p:sp>
        <p:sp>
          <p:nvSpPr>
            <p:cNvPr id="44" name="Rectangle 44"/>
            <p:cNvSpPr/>
            <p:nvPr/>
          </p:nvSpPr>
          <p:spPr>
            <a:xfrm>
              <a:off x="6689408" y="3551872"/>
              <a:ext cx="1210628" cy="238125"/>
            </a:xfrm>
            <a:prstGeom prst="roundRect">
              <a:avLst>
                <a:gd name="adj" fmla="val 50000"/>
              </a:avLst>
            </a:prstGeom>
            <a:solidFill>
              <a:srgbClr val="F4F6FB"/>
            </a:solidFill>
            <a:ln>
              <a:noFill/>
            </a:ln>
          </p:spPr>
        </p:sp>
        <p:sp>
          <p:nvSpPr>
            <p:cNvPr id="45" name="TextBox 45"/>
            <p:cNvSpPr txBox="1"/>
            <p:nvPr/>
          </p:nvSpPr>
          <p:spPr>
            <a:xfrm>
              <a:off x="6748196" y="3584734"/>
              <a:ext cx="1094002"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为什么盯着 GOTO</a:t>
              </a:r>
            </a:p>
          </p:txBody>
        </p:sp>
        <p:sp>
          <p:nvSpPr>
            <p:cNvPr id="46" name="Ellipse 46"/>
            <p:cNvSpPr/>
            <p:nvPr/>
          </p:nvSpPr>
          <p:spPr>
            <a:xfrm>
              <a:off x="6697980" y="3951922"/>
              <a:ext cx="59055" cy="59055"/>
            </a:xfrm>
            <a:prstGeom prst="ellipse">
              <a:avLst/>
            </a:prstGeom>
            <a:solidFill>
              <a:srgbClr val="334E68"/>
            </a:solidFill>
            <a:ln>
              <a:noFill/>
            </a:ln>
          </p:spPr>
        </p:sp>
        <p:sp>
          <p:nvSpPr>
            <p:cNvPr id="47" name="TextBox 47"/>
            <p:cNvSpPr txBox="1"/>
            <p:nvPr/>
          </p:nvSpPr>
          <p:spPr>
            <a:xfrm>
              <a:off x="6853999" y="3895725"/>
              <a:ext cx="428282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GOTO 让控制流可以跳到任何地方，读代码时无法只看局</a:t>
              </a:r>
              <a:br/>
              <a:r>
                <a:rPr lang="zh-CN" sz="1350" dirty="0">
                  <a:solidFill>
                    <a:srgbClr val="1F2937"/>
                  </a:solidFill>
                  <a:latin typeface="+mn-lt"/>
                  <a:ea typeface="+mn-ea"/>
                  <a:cs typeface="+mn-cs"/>
                </a:rPr>
                <a:t>部</a:t>
              </a:r>
            </a:p>
          </p:txBody>
        </p:sp>
        <p:sp>
          <p:nvSpPr>
            <p:cNvPr id="48" name="Ellipse 48"/>
            <p:cNvSpPr/>
            <p:nvPr/>
          </p:nvSpPr>
          <p:spPr>
            <a:xfrm>
              <a:off x="6697980" y="4509135"/>
              <a:ext cx="59055" cy="59055"/>
            </a:xfrm>
            <a:prstGeom prst="ellipse">
              <a:avLst/>
            </a:prstGeom>
            <a:solidFill>
              <a:srgbClr val="334E68"/>
            </a:solidFill>
            <a:ln>
              <a:noFill/>
            </a:ln>
          </p:spPr>
        </p:sp>
        <p:sp>
          <p:nvSpPr>
            <p:cNvPr id="49" name="TextBox 49"/>
            <p:cNvSpPr txBox="1"/>
            <p:nvPr/>
          </p:nvSpPr>
          <p:spPr>
            <a:xfrm>
              <a:off x="6853999" y="4452938"/>
              <a:ext cx="42999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出错时难以判断程序是怎么走到这里的，调试和测试的成</a:t>
              </a:r>
              <a:br/>
              <a:r>
                <a:rPr lang="zh-CN" sz="1350" dirty="0">
                  <a:solidFill>
                    <a:srgbClr val="1F2937"/>
                  </a:solidFill>
                  <a:latin typeface="+mn-lt"/>
                  <a:ea typeface="+mn-ea"/>
                  <a:cs typeface="+mn-cs"/>
                </a:rPr>
                <a:t>本随之上升</a:t>
              </a:r>
            </a:p>
          </p:txBody>
        </p:sp>
      </p:grpSp>
      <p:grpSp>
        <p:nvGrpSpPr>
          <p:cNvPr id="57" name="takeaway"/>
          <p:cNvGrpSpPr/>
          <p:nvPr/>
        </p:nvGrpSpPr>
        <p:grpSpPr>
          <a:xfrm>
            <a:off x="533400" y="5881688"/>
            <a:ext cx="11125200" cy="481012"/>
            <a:chOff x="533400" y="5881688"/>
            <a:chExt cx="11125200" cy="481012"/>
          </a:xfrm>
        </p:grpSpPr>
        <p:sp>
          <p:nvSpPr>
            <p:cNvPr id="51" name="Rectangle 51"/>
            <p:cNvSpPr/>
            <p:nvPr/>
          </p:nvSpPr>
          <p:spPr>
            <a:xfrm>
              <a:off x="533400" y="5881688"/>
              <a:ext cx="11125200" cy="481012"/>
            </a:xfrm>
            <a:prstGeom prst="roundRect">
              <a:avLst>
                <a:gd name="adj" fmla="val 23762"/>
              </a:avLst>
            </a:prstGeom>
            <a:solidFill>
              <a:srgbClr val="F4F6FB"/>
            </a:solidFill>
            <a:ln>
              <a:noFill/>
            </a:ln>
          </p:spPr>
        </p:sp>
        <p:grpSp>
          <p:nvGrpSpPr>
            <p:cNvPr id="55" name="Group 55"/>
            <p:cNvGrpSpPr/>
            <p:nvPr/>
          </p:nvGrpSpPr>
          <p:grpSpPr>
            <a:xfrm>
              <a:off x="738188" y="6022658"/>
              <a:ext cx="200026" cy="200026"/>
              <a:chOff x="738188" y="6022658"/>
              <a:chExt cx="200026" cy="200026"/>
            </a:xfrm>
          </p:grpSpPr>
          <p:sp>
            <p:nvSpPr>
              <p:cNvPr id="52" name="Freeform 52"/>
              <p:cNvSpPr/>
              <p:nvPr/>
            </p:nvSpPr>
            <p:spPr>
              <a:xfrm>
                <a:off x="738188" y="602265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3" name="Freeform 53"/>
              <p:cNvSpPr/>
              <p:nvPr/>
            </p:nvSpPr>
            <p:spPr>
              <a:xfrm>
                <a:off x="838200" y="608933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4" name="Freeform 54"/>
              <p:cNvSpPr/>
              <p:nvPr/>
            </p:nvSpPr>
            <p:spPr>
              <a:xfrm>
                <a:off x="827088" y="612267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6" name="TextBox 56"/>
            <p:cNvSpPr txBox="1"/>
            <p:nvPr/>
          </p:nvSpPr>
          <p:spPr>
            <a:xfrm>
              <a:off x="1040892" y="6028373"/>
              <a:ext cx="982657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记年份：1965 年 Dijkstra 提出取消 GOTO，1966 年 Böhm 和 Jacopini 给出理论证明，1971 年 IBM 在真实项目上验证。</a:t>
              </a:r>
            </a:p>
          </p:txBody>
        </p:sp>
      </p:grpSp>
      <p:grpSp>
        <p:nvGrpSpPr>
          <p:cNvPr id="60" name="footer"/>
          <p:cNvGrpSpPr/>
          <p:nvPr/>
        </p:nvGrpSpPr>
        <p:grpSpPr>
          <a:xfrm>
            <a:off x="528447" y="6581299"/>
            <a:ext cx="11135106" cy="190690"/>
            <a:chOff x="528447" y="6581299"/>
            <a:chExt cx="11135106" cy="190690"/>
          </a:xfrm>
        </p:grpSpPr>
        <p:sp>
          <p:nvSpPr>
            <p:cNvPr id="58" name="TextBox 58"/>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59" name="TextBox 59"/>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8335883" cy="909257"/>
            <a:chOff x="520446" y="342900"/>
            <a:chExt cx="8335883" cy="909257"/>
          </a:xfrm>
        </p:grpSpPr>
        <p:sp>
          <p:nvSpPr>
            <p:cNvPr id="2" name="Rectangle 2"/>
            <p:cNvSpPr/>
            <p:nvPr/>
          </p:nvSpPr>
          <p:spPr>
            <a:xfrm>
              <a:off x="533400" y="342900"/>
              <a:ext cx="3268028" cy="266700"/>
            </a:xfrm>
            <a:prstGeom prst="roundRect">
              <a:avLst>
                <a:gd name="adj" fmla="val 50000"/>
              </a:avLst>
            </a:prstGeom>
            <a:solidFill>
              <a:srgbClr val="E7EDF3"/>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详细设计概要与结构程序设计</a:t>
              </a:r>
            </a:p>
          </p:txBody>
        </p:sp>
        <p:sp>
          <p:nvSpPr>
            <p:cNvPr id="4" name="TextBox 4"/>
            <p:cNvSpPr txBox="1"/>
            <p:nvPr/>
          </p:nvSpPr>
          <p:spPr>
            <a:xfrm>
              <a:off x="520446" y="753428"/>
              <a:ext cx="833588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结构化的标准：只用 3 种结构连接，每块单入口单出口</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2" name="c1-card-1"/>
          <p:cNvGrpSpPr/>
          <p:nvPr/>
        </p:nvGrpSpPr>
        <p:grpSpPr>
          <a:xfrm>
            <a:off x="533400" y="1524000"/>
            <a:ext cx="5951220" cy="1602105"/>
            <a:chOff x="533400" y="1524000"/>
            <a:chExt cx="5951220" cy="1602105"/>
          </a:xfrm>
        </p:grpSpPr>
        <p:sp>
          <p:nvSpPr>
            <p:cNvPr id="7" name="Rectangle 7"/>
            <p:cNvSpPr/>
            <p:nvPr/>
          </p:nvSpPr>
          <p:spPr>
            <a:xfrm>
              <a:off x="533400" y="1524000"/>
              <a:ext cx="5951220" cy="1602105"/>
            </a:xfrm>
            <a:prstGeom prst="roundRect">
              <a:avLst>
                <a:gd name="adj" fmla="val 8323"/>
              </a:avLst>
            </a:prstGeom>
            <a:solidFill>
              <a:srgbClr val="FFFFFF"/>
            </a:solidFill>
            <a:ln w="14288">
              <a:solidFill>
                <a:srgbClr val="D9DFEA"/>
              </a:solidFill>
            </a:ln>
          </p:spPr>
        </p:sp>
        <p:sp>
          <p:nvSpPr>
            <p:cNvPr id="8" name="Rectangle 8"/>
            <p:cNvSpPr/>
            <p:nvPr/>
          </p:nvSpPr>
          <p:spPr>
            <a:xfrm>
              <a:off x="542925" y="1657350"/>
              <a:ext cx="47625" cy="1335405"/>
            </a:xfrm>
            <a:prstGeom prst="roundRect">
              <a:avLst>
                <a:gd name="adj" fmla="val 50000"/>
              </a:avLst>
            </a:prstGeom>
            <a:solidFill>
              <a:srgbClr val="334E68"/>
            </a:solidFill>
            <a:ln>
              <a:noFill/>
            </a:ln>
          </p:spPr>
        </p:sp>
        <p:sp>
          <p:nvSpPr>
            <p:cNvPr id="9" name="Rectangle 9"/>
            <p:cNvSpPr/>
            <p:nvPr/>
          </p:nvSpPr>
          <p:spPr>
            <a:xfrm>
              <a:off x="781050" y="1733550"/>
              <a:ext cx="778192" cy="257175"/>
            </a:xfrm>
            <a:prstGeom prst="roundRect">
              <a:avLst>
                <a:gd name="adj" fmla="val 50000"/>
              </a:avLst>
            </a:prstGeom>
            <a:solidFill>
              <a:srgbClr val="E7EDF3"/>
            </a:solidFill>
            <a:ln>
              <a:noFill/>
            </a:ln>
          </p:spPr>
        </p:sp>
        <p:sp>
          <p:nvSpPr>
            <p:cNvPr id="10" name="TextBox 10"/>
            <p:cNvSpPr txBox="1"/>
            <p:nvPr/>
          </p:nvSpPr>
          <p:spPr>
            <a:xfrm>
              <a:off x="863359" y="1769269"/>
              <a:ext cx="614528"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经典定义</a:t>
              </a:r>
            </a:p>
          </p:txBody>
        </p:sp>
        <p:sp>
          <p:nvSpPr>
            <p:cNvPr id="11" name="TextBox 11"/>
            <p:cNvSpPr txBox="1"/>
            <p:nvPr/>
          </p:nvSpPr>
          <p:spPr>
            <a:xfrm>
              <a:off x="773430" y="2110740"/>
              <a:ext cx="5187315"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如果一个程序的代码块仅仅通过</a:t>
              </a:r>
              <a:r>
                <a:rPr lang="zh-CN" sz="1500" b="1" dirty="0">
                  <a:solidFill>
                    <a:srgbClr val="C2410C"/>
                  </a:solidFill>
                  <a:latin typeface="+mn-lt"/>
                  <a:ea typeface="+mn-ea"/>
                  <a:cs typeface="+mn-cs"/>
                </a:rPr>
                <a:t>顺序、选择和循环</a:t>
              </a:r>
              <a:r>
                <a:rPr lang="zh-CN" sz="1500" dirty="0">
                  <a:solidFill>
                    <a:srgbClr val="1F2937"/>
                  </a:solidFill>
                  <a:latin typeface="+mn-lt"/>
                  <a:ea typeface="+mn-ea"/>
                  <a:cs typeface="+mn-cs"/>
                </a:rPr>
                <a:t>这 3 种基本</a:t>
              </a:r>
              <a:br/>
              <a:r>
                <a:rPr lang="zh-CN" sz="1500" dirty="0">
                  <a:solidFill>
                    <a:srgbClr val="1F2937"/>
                  </a:solidFill>
                  <a:latin typeface="+mn-lt"/>
                  <a:ea typeface="+mn-ea"/>
                  <a:cs typeface="+mn-cs"/>
                </a:rPr>
                <a:t>控制结构进行连接，并且每个代码块只有一个入口和一个出</a:t>
              </a:r>
              <a:br/>
              <a:r>
                <a:rPr lang="zh-CN" sz="1500" dirty="0">
                  <a:solidFill>
                    <a:srgbClr val="1F2937"/>
                  </a:solidFill>
                  <a:latin typeface="+mn-lt"/>
                  <a:ea typeface="+mn-ea"/>
                  <a:cs typeface="+mn-cs"/>
                </a:rPr>
                <a:t>口，则称这个程序是结构化的。</a:t>
              </a:r>
            </a:p>
          </p:txBody>
        </p:sp>
      </p:grpSp>
      <p:grpSp>
        <p:nvGrpSpPr>
          <p:cNvPr id="19" name="c1-card-2"/>
          <p:cNvGrpSpPr/>
          <p:nvPr/>
        </p:nvGrpSpPr>
        <p:grpSpPr>
          <a:xfrm>
            <a:off x="533400" y="3316605"/>
            <a:ext cx="5951220" cy="2133600"/>
            <a:chOff x="533400" y="3316605"/>
            <a:chExt cx="5951220" cy="2133600"/>
          </a:xfrm>
        </p:grpSpPr>
        <p:sp>
          <p:nvSpPr>
            <p:cNvPr id="13" name="Rectangle 13"/>
            <p:cNvSpPr/>
            <p:nvPr/>
          </p:nvSpPr>
          <p:spPr>
            <a:xfrm>
              <a:off x="533400" y="3316605"/>
              <a:ext cx="5951220" cy="2133600"/>
            </a:xfrm>
            <a:prstGeom prst="roundRect">
              <a:avLst>
                <a:gd name="adj" fmla="val 6250"/>
              </a:avLst>
            </a:prstGeom>
            <a:solidFill>
              <a:srgbClr val="FFFFFF"/>
            </a:solidFill>
            <a:ln w="14288">
              <a:solidFill>
                <a:srgbClr val="D9DFEA"/>
              </a:solidFill>
            </a:ln>
          </p:spPr>
        </p:sp>
        <p:sp>
          <p:nvSpPr>
            <p:cNvPr id="14" name="Rectangle 14"/>
            <p:cNvSpPr/>
            <p:nvPr/>
          </p:nvSpPr>
          <p:spPr>
            <a:xfrm>
              <a:off x="542925" y="3449955"/>
              <a:ext cx="47625" cy="1866900"/>
            </a:xfrm>
            <a:prstGeom prst="roundRect">
              <a:avLst>
                <a:gd name="adj" fmla="val 50000"/>
              </a:avLst>
            </a:prstGeom>
            <a:solidFill>
              <a:srgbClr val="5B6475"/>
            </a:solidFill>
            <a:ln>
              <a:noFill/>
            </a:ln>
          </p:spPr>
        </p:sp>
        <p:sp>
          <p:nvSpPr>
            <p:cNvPr id="15" name="Rectangle 15"/>
            <p:cNvSpPr/>
            <p:nvPr/>
          </p:nvSpPr>
          <p:spPr>
            <a:xfrm>
              <a:off x="781050" y="3526155"/>
              <a:ext cx="1347788" cy="257175"/>
            </a:xfrm>
            <a:prstGeom prst="roundRect">
              <a:avLst>
                <a:gd name="adj" fmla="val 50000"/>
              </a:avLst>
            </a:prstGeom>
            <a:solidFill>
              <a:srgbClr val="F4F6FB"/>
            </a:solidFill>
            <a:ln>
              <a:noFill/>
            </a:ln>
          </p:spPr>
        </p:sp>
        <p:sp>
          <p:nvSpPr>
            <p:cNvPr id="16" name="TextBox 16"/>
            <p:cNvSpPr txBox="1"/>
            <p:nvPr/>
          </p:nvSpPr>
          <p:spPr>
            <a:xfrm>
              <a:off x="845655" y="3561874"/>
              <a:ext cx="1217625"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对经典定义的扩充</a:t>
              </a:r>
            </a:p>
          </p:txBody>
        </p:sp>
        <p:sp>
          <p:nvSpPr>
            <p:cNvPr id="17" name="TextBox 17"/>
            <p:cNvSpPr txBox="1"/>
            <p:nvPr/>
          </p:nvSpPr>
          <p:spPr>
            <a:xfrm>
              <a:off x="773430" y="3903345"/>
              <a:ext cx="51968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结构程序设计是尽可能少用 GOTO 语句的程序设计方法。最好</a:t>
              </a:r>
              <a:br/>
              <a:r>
                <a:rPr lang="zh-CN" sz="1500" dirty="0">
                  <a:solidFill>
                    <a:srgbClr val="1F2937"/>
                  </a:solidFill>
                  <a:latin typeface="+mn-lt"/>
                  <a:ea typeface="+mn-ea"/>
                  <a:cs typeface="+mn-cs"/>
                </a:rPr>
                <a:t>仅在检测出错误时才使用 GOTO 语句，而且应该总是使用</a:t>
              </a:r>
              <a:r>
                <a:rPr lang="zh-CN" sz="1500" b="1" dirty="0">
                  <a:solidFill>
                    <a:srgbClr val="C2410C"/>
                  </a:solidFill>
                  <a:latin typeface="+mn-lt"/>
                  <a:ea typeface="+mn-ea"/>
                  <a:cs typeface="+mn-cs"/>
                </a:rPr>
                <a:t>前向</a:t>
              </a:r>
              <a:br/>
              <a:r>
                <a:rPr lang="en-US" sz="1500" b="1" dirty="0">
                  <a:solidFill>
                    <a:srgbClr val="C2410C"/>
                  </a:solidFill>
                  <a:latin typeface="+mn-lt"/>
                  <a:ea typeface="+mn-ea"/>
                  <a:cs typeface="+mn-cs"/>
                </a:rPr>
                <a:t>GOTO</a:t>
              </a:r>
              <a:r>
                <a:rPr lang="zh-CN" sz="1500" dirty="0">
                  <a:solidFill>
                    <a:srgbClr val="1F2937"/>
                  </a:solidFill>
                  <a:latin typeface="+mn-lt"/>
                  <a:ea typeface="+mn-ea"/>
                  <a:cs typeface="+mn-cs"/>
                </a:rPr>
                <a:t>。</a:t>
              </a:r>
            </a:p>
          </p:txBody>
        </p:sp>
        <p:sp>
          <p:nvSpPr>
            <p:cNvPr id="18" name="TextBox 18"/>
            <p:cNvSpPr txBox="1"/>
            <p:nvPr/>
          </p:nvSpPr>
          <p:spPr>
            <a:xfrm>
              <a:off x="774573" y="4806791"/>
              <a:ext cx="5247386"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5B6475"/>
                  </a:solidFill>
                  <a:latin typeface="+mn-lt"/>
                  <a:ea typeface="+mn-ea"/>
                  <a:cs typeface="+mn-cs"/>
                </a:rPr>
                <a:t>前向 GOTO 只往后跳（跳出去），不会跳回已经执行过的位置，所以不会</a:t>
              </a:r>
              <a:br/>
              <a:r>
                <a:rPr lang="zh-CN" sz="1280" dirty="0">
                  <a:solidFill>
                    <a:srgbClr val="5B6475"/>
                  </a:solidFill>
                  <a:latin typeface="+mn-lt"/>
                  <a:ea typeface="+mn-ea"/>
                  <a:cs typeface="+mn-cs"/>
                </a:rPr>
                <a:t>产生看不见的循环。</a:t>
              </a:r>
            </a:p>
          </p:txBody>
        </p:sp>
      </p:grpSp>
      <p:grpSp>
        <p:nvGrpSpPr>
          <p:cNvPr id="22" name="c2-image-1"/>
          <p:cNvGrpSpPr/>
          <p:nvPr/>
        </p:nvGrpSpPr>
        <p:grpSpPr>
          <a:xfrm>
            <a:off x="6789420" y="1524000"/>
            <a:ext cx="4869180" cy="3614262"/>
            <a:chOff x="6789420" y="1524000"/>
            <a:chExt cx="4869180" cy="3614262"/>
          </a:xfrm>
        </p:grpSpPr>
        <p:pic>
          <p:nvPicPr>
            <p:cNvPr id="20" name="Image 20"/>
            <p:cNvPicPr>
              <a:picLocks noChangeAspect="1"/>
            </p:cNvPicPr>
            <p:nvPr/>
          </p:nvPicPr>
          <p:blipFill>
            <a:blip r:embed="rId2"/>
            <a:srcRect l="0" t="4825" r="0" b="4825"/>
            <a:stretch>
              <a:fillRect/>
            </a:stretch>
          </p:blipFill>
          <p:spPr>
            <a:xfrm>
              <a:off x="6789420" y="1524000"/>
              <a:ext cx="4869180" cy="3299460"/>
            </a:xfrm>
            <a:prstGeom prst="roundRect">
              <a:avLst>
                <a:gd name="adj" fmla="val 4041"/>
              </a:avLst>
            </a:prstGeom>
          </p:spPr>
        </p:pic>
        <p:sp>
          <p:nvSpPr>
            <p:cNvPr id="21" name="TextBox 21"/>
            <p:cNvSpPr txBox="1"/>
            <p:nvPr/>
          </p:nvSpPr>
          <p:spPr>
            <a:xfrm>
              <a:off x="7484389" y="4918234"/>
              <a:ext cx="3479241" cy="220028"/>
            </a:xfrm>
            <a:prstGeom prst="rect">
              <a:avLst/>
            </a:prstGeom>
            <a:noFill/>
            <a:ln>
              <a:noFill/>
            </a:ln>
          </p:spPr>
          <p:txBody>
            <a:bodyPr wrap="none" lIns="0" tIns="0" rIns="0" bIns="0" anchor="t" anchorCtr="0">
              <a:spAutoFit/>
            </a:bodyPr>
            <a:lstStyle/>
            <a:p>
              <a:pPr algn="ctr"/>
              <a:r>
                <a:rPr lang="zh-CN" sz="1120" dirty="0">
                  <a:solidFill>
                    <a:srgbClr val="5B6475"/>
                  </a:solidFill>
                  <a:latin typeface="+mn-lt"/>
                  <a:ea typeface="+mn-ea"/>
                  <a:cs typeface="+mn-cs"/>
                </a:rPr>
                <a:t>左边随意转移控制，右边每块只有一个入口一个出口</a:t>
              </a:r>
            </a:p>
          </p:txBody>
        </p:sp>
      </p:grpSp>
      <p:grpSp>
        <p:nvGrpSpPr>
          <p:cNvPr id="28" name="c2-callout-2"/>
          <p:cNvGrpSpPr/>
          <p:nvPr/>
        </p:nvGrpSpPr>
        <p:grpSpPr>
          <a:xfrm>
            <a:off x="6789420" y="5303520"/>
            <a:ext cx="4869180" cy="1059180"/>
            <a:chOff x="6789420" y="5303520"/>
            <a:chExt cx="4869180" cy="1059180"/>
          </a:xfrm>
        </p:grpSpPr>
        <p:sp>
          <p:nvSpPr>
            <p:cNvPr id="23" name="Rectangle 23"/>
            <p:cNvSpPr/>
            <p:nvPr/>
          </p:nvSpPr>
          <p:spPr>
            <a:xfrm>
              <a:off x="6789420" y="5303520"/>
              <a:ext cx="4869180" cy="1059180"/>
            </a:xfrm>
            <a:prstGeom prst="roundRect">
              <a:avLst>
                <a:gd name="adj" fmla="val 10791"/>
              </a:avLst>
            </a:prstGeom>
            <a:solidFill>
              <a:srgbClr val="334E68"/>
            </a:solidFill>
            <a:ln>
              <a:noFill/>
            </a:ln>
          </p:spPr>
        </p:sp>
        <p:grpSp>
          <p:nvGrpSpPr>
            <p:cNvPr id="26" name="Group 26"/>
            <p:cNvGrpSpPr/>
            <p:nvPr/>
          </p:nvGrpSpPr>
          <p:grpSpPr>
            <a:xfrm>
              <a:off x="6994208" y="5733100"/>
              <a:ext cx="200023" cy="200023"/>
              <a:chOff x="6994208" y="5733100"/>
              <a:chExt cx="200023" cy="200023"/>
            </a:xfrm>
          </p:grpSpPr>
          <p:sp>
            <p:nvSpPr>
              <p:cNvPr id="24" name="Freeform 24"/>
              <p:cNvSpPr/>
              <p:nvPr/>
            </p:nvSpPr>
            <p:spPr>
              <a:xfrm>
                <a:off x="6994208" y="573310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5" name="Freeform 25"/>
              <p:cNvSpPr/>
              <p:nvPr/>
            </p:nvSpPr>
            <p:spPr>
              <a:xfrm>
                <a:off x="7127558" y="579977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27" name="TextBox 27"/>
            <p:cNvSpPr txBox="1"/>
            <p:nvPr/>
          </p:nvSpPr>
          <p:spPr>
            <a:xfrm>
              <a:off x="7296150" y="5452110"/>
              <a:ext cx="3825240" cy="845820"/>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单入口单出口意味着一个代码块可以整块替</a:t>
              </a:r>
              <a:br/>
              <a:r>
                <a:rPr lang="zh-CN" sz="1500" dirty="0">
                  <a:solidFill>
                    <a:srgbClr val="FFFFFF"/>
                  </a:solidFill>
                  <a:latin typeface="+mn-lt"/>
                  <a:ea typeface="+mn-ea"/>
                  <a:cs typeface="+mn-cs"/>
                </a:rPr>
                <a:t>换、整块测试，读的人不必担心有别的路径钻</a:t>
              </a:r>
              <a:br/>
              <a:r>
                <a:rPr lang="zh-CN" sz="1500" dirty="0">
                  <a:solidFill>
                    <a:srgbClr val="FFFFFF"/>
                  </a:solidFill>
                  <a:latin typeface="+mn-lt"/>
                  <a:ea typeface="+mn-ea"/>
                  <a:cs typeface="+mn-cs"/>
                </a:rPr>
                <a:t>进来。</a:t>
              </a:r>
            </a:p>
          </p:txBody>
        </p:sp>
      </p:grpSp>
      <p:grpSp>
        <p:nvGrpSpPr>
          <p:cNvPr id="31" name="footer"/>
          <p:cNvGrpSpPr/>
          <p:nvPr/>
        </p:nvGrpSpPr>
        <p:grpSpPr>
          <a:xfrm>
            <a:off x="528447" y="6581299"/>
            <a:ext cx="11135106" cy="190690"/>
            <a:chOff x="528447" y="6581299"/>
            <a:chExt cx="11135106" cy="190690"/>
          </a:xfrm>
        </p:grpSpPr>
        <p:sp>
          <p:nvSpPr>
            <p:cNvPr id="29" name="TextBox 29"/>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30" name="TextBox 30"/>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91528" cy="909257"/>
            <a:chOff x="520446" y="342900"/>
            <a:chExt cx="6891528" cy="909257"/>
          </a:xfrm>
        </p:grpSpPr>
        <p:sp>
          <p:nvSpPr>
            <p:cNvPr id="2" name="Rectangle 2"/>
            <p:cNvSpPr/>
            <p:nvPr/>
          </p:nvSpPr>
          <p:spPr>
            <a:xfrm>
              <a:off x="533400" y="342900"/>
              <a:ext cx="3268028" cy="266700"/>
            </a:xfrm>
            <a:prstGeom prst="roundRect">
              <a:avLst>
                <a:gd name="adj" fmla="val 50000"/>
              </a:avLst>
            </a:prstGeom>
            <a:solidFill>
              <a:srgbClr val="E7EDF3"/>
            </a:solidFill>
            <a:ln>
              <a:noFill/>
            </a:ln>
          </p:spPr>
        </p:sp>
        <p:sp>
          <p:nvSpPr>
            <p:cNvPr id="3" name="TextBox 3"/>
            <p:cNvSpPr txBox="1"/>
            <p:nvPr/>
          </p:nvSpPr>
          <p:spPr>
            <a:xfrm>
              <a:off x="570553" y="407194"/>
              <a:ext cx="3192770"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详细设计概要与结构程序设计</a:t>
              </a:r>
            </a:p>
          </p:txBody>
        </p:sp>
        <p:sp>
          <p:nvSpPr>
            <p:cNvPr id="4" name="TextBox 4"/>
            <p:cNvSpPr txBox="1"/>
            <p:nvPr/>
          </p:nvSpPr>
          <p:spPr>
            <a:xfrm>
              <a:off x="520446" y="753428"/>
              <a:ext cx="689152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经典、扩展、修正：三种提法允许的结构不同</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6" name="c1-table-1"/>
          <p:cNvGrpSpPr/>
          <p:nvPr/>
        </p:nvGrpSpPr>
        <p:grpSpPr>
          <a:xfrm>
            <a:off x="533400" y="1524000"/>
            <a:ext cx="11125200" cy="2022158"/>
            <a:chOff x="533400" y="1524000"/>
            <a:chExt cx="11125200" cy="2022158"/>
          </a:xfrm>
        </p:grpSpPr>
        <p:sp>
          <p:nvSpPr>
            <p:cNvPr id="7" name="Rectangle 7"/>
            <p:cNvSpPr/>
            <p:nvPr/>
          </p:nvSpPr>
          <p:spPr>
            <a:xfrm>
              <a:off x="533400" y="1524000"/>
              <a:ext cx="11125200" cy="675322"/>
            </a:xfrm>
            <a:prstGeom prst="rect">
              <a:avLst/>
            </a:prstGeom>
            <a:solidFill>
              <a:srgbClr val="334E68"/>
            </a:solidFill>
            <a:ln>
              <a:noFill/>
            </a:ln>
          </p:spPr>
        </p:sp>
        <p:sp>
          <p:nvSpPr>
            <p:cNvPr id="8" name="TextBox 8"/>
            <p:cNvSpPr txBox="1"/>
            <p:nvPr/>
          </p:nvSpPr>
          <p:spPr>
            <a:xfrm>
              <a:off x="1578572" y="1773079"/>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提法</a:t>
              </a:r>
            </a:p>
          </p:txBody>
        </p:sp>
        <p:sp>
          <p:nvSpPr>
            <p:cNvPr id="9" name="TextBox 9"/>
            <p:cNvSpPr txBox="1"/>
            <p:nvPr/>
          </p:nvSpPr>
          <p:spPr>
            <a:xfrm>
              <a:off x="3525482" y="1773079"/>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顺序</a:t>
              </a:r>
            </a:p>
          </p:txBody>
        </p:sp>
        <p:sp>
          <p:nvSpPr>
            <p:cNvPr id="10" name="TextBox 10"/>
            <p:cNvSpPr txBox="1"/>
            <p:nvPr/>
          </p:nvSpPr>
          <p:spPr>
            <a:xfrm>
              <a:off x="4759609" y="1773079"/>
              <a:ext cx="1226887"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IF-THEN-ELSE</a:t>
              </a:r>
            </a:p>
          </p:txBody>
        </p:sp>
        <p:sp>
          <p:nvSpPr>
            <p:cNvPr id="11" name="TextBox 11"/>
            <p:cNvSpPr txBox="1"/>
            <p:nvPr/>
          </p:nvSpPr>
          <p:spPr>
            <a:xfrm>
              <a:off x="6655687" y="1773079"/>
              <a:ext cx="882780"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DO-WHILE</a:t>
              </a:r>
            </a:p>
          </p:txBody>
        </p:sp>
        <p:sp>
          <p:nvSpPr>
            <p:cNvPr id="12" name="TextBox 12"/>
            <p:cNvSpPr txBox="1"/>
            <p:nvPr/>
          </p:nvSpPr>
          <p:spPr>
            <a:xfrm>
              <a:off x="8150328" y="1773079"/>
              <a:ext cx="787195"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DO-CASE</a:t>
              </a:r>
            </a:p>
          </p:txBody>
        </p:sp>
        <p:sp>
          <p:nvSpPr>
            <p:cNvPr id="13" name="TextBox 13"/>
            <p:cNvSpPr txBox="1"/>
            <p:nvPr/>
          </p:nvSpPr>
          <p:spPr>
            <a:xfrm>
              <a:off x="9456105" y="1773079"/>
              <a:ext cx="844546"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DO-UNTIL</a:t>
              </a:r>
            </a:p>
          </p:txBody>
        </p:sp>
        <p:sp>
          <p:nvSpPr>
            <p:cNvPr id="14" name="TextBox 14"/>
            <p:cNvSpPr txBox="1"/>
            <p:nvPr/>
          </p:nvSpPr>
          <p:spPr>
            <a:xfrm>
              <a:off x="10788625" y="1659731"/>
              <a:ext cx="627431" cy="476059"/>
            </a:xfrm>
            <a:prstGeom prst="rect">
              <a:avLst/>
            </a:prstGeom>
            <a:noFill/>
            <a:ln>
              <a:noFill/>
            </a:ln>
          </p:spPr>
          <p:txBody>
            <a:bodyPr wrap="none" lIns="0" tIns="0" rIns="0" bIns="0" anchor="t" anchorCtr="0">
              <a:spAutoFit/>
            </a:bodyPr>
            <a:lstStyle/>
            <a:p>
              <a:pPr algn="ctr">
                <a:lnSpc>
                  <a:spcPts val="1785"/>
                </a:lnSpc>
              </a:pPr>
              <a:r>
                <a:rPr lang="en-US" sz="1280" b="1" dirty="0">
                  <a:solidFill>
                    <a:srgbClr val="FFFFFF"/>
                  </a:solidFill>
                  <a:latin typeface="+mn-lt"/>
                  <a:ea typeface="+mn-ea"/>
                  <a:cs typeface="+mn-cs"/>
                </a:rPr>
                <a:t>LEAVE /</a:t>
              </a:r>
              <a:br/>
              <a:r>
                <a:rPr lang="en-US" sz="1280" b="1" dirty="0">
                  <a:solidFill>
                    <a:srgbClr val="FFFFFF"/>
                  </a:solidFill>
                  <a:latin typeface="+mn-lt"/>
                  <a:ea typeface="+mn-ea"/>
                  <a:cs typeface="+mn-cs"/>
                </a:rPr>
                <a:t>BREAK</a:t>
              </a:r>
            </a:p>
          </p:txBody>
        </p:sp>
        <p:sp>
          <p:nvSpPr>
            <p:cNvPr id="15" name="TextBox 15"/>
            <p:cNvSpPr txBox="1"/>
            <p:nvPr/>
          </p:nvSpPr>
          <p:spPr>
            <a:xfrm>
              <a:off x="641223" y="2335054"/>
              <a:ext cx="156377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经典的结构程序设计</a:t>
              </a:r>
            </a:p>
          </p:txBody>
        </p:sp>
        <p:sp>
          <p:nvSpPr>
            <p:cNvPr id="16" name="TextBox 16"/>
            <p:cNvSpPr txBox="1"/>
            <p:nvPr/>
          </p:nvSpPr>
          <p:spPr>
            <a:xfrm>
              <a:off x="3611639" y="2335054"/>
              <a:ext cx="185268" cy="249364"/>
            </a:xfrm>
            <a:prstGeom prst="rect">
              <a:avLst/>
            </a:prstGeom>
            <a:noFill/>
            <a:ln>
              <a:noFill/>
            </a:ln>
          </p:spPr>
          <p:txBody>
            <a:bodyPr wrap="none" lIns="0" tIns="0" rIns="0" bIns="0" anchor="t" anchorCtr="0">
              <a:spAutoFit/>
            </a:bodyPr>
            <a:lstStyle/>
            <a:p>
              <a:pPr algn="ctr"/>
              <a:r>
                <a:rPr lang="zh-CN" sz="1280" dirty="0">
                  <a:solidFill>
                    <a:srgbClr val="0F7A68"/>
                  </a:solidFill>
                  <a:latin typeface="+mn-lt"/>
                  <a:ea typeface="+mn-ea"/>
                  <a:cs typeface="+mn-cs"/>
                </a:rPr>
                <a:t>✓</a:t>
              </a:r>
            </a:p>
          </p:txBody>
        </p:sp>
        <p:sp>
          <p:nvSpPr>
            <p:cNvPr id="17" name="TextBox 17"/>
            <p:cNvSpPr txBox="1"/>
            <p:nvPr/>
          </p:nvSpPr>
          <p:spPr>
            <a:xfrm>
              <a:off x="5280419" y="2335054"/>
              <a:ext cx="185268" cy="249364"/>
            </a:xfrm>
            <a:prstGeom prst="rect">
              <a:avLst/>
            </a:prstGeom>
            <a:noFill/>
            <a:ln>
              <a:noFill/>
            </a:ln>
          </p:spPr>
          <p:txBody>
            <a:bodyPr wrap="none" lIns="0" tIns="0" rIns="0" bIns="0" anchor="t" anchorCtr="0">
              <a:spAutoFit/>
            </a:bodyPr>
            <a:lstStyle/>
            <a:p>
              <a:pPr algn="ctr"/>
              <a:r>
                <a:rPr lang="zh-CN" sz="1280" dirty="0">
                  <a:solidFill>
                    <a:srgbClr val="0F7A68"/>
                  </a:solidFill>
                  <a:latin typeface="+mn-lt"/>
                  <a:ea typeface="+mn-ea"/>
                  <a:cs typeface="+mn-cs"/>
                </a:rPr>
                <a:t>✓</a:t>
              </a:r>
            </a:p>
          </p:txBody>
        </p:sp>
        <p:sp>
          <p:nvSpPr>
            <p:cNvPr id="18" name="TextBox 18"/>
            <p:cNvSpPr txBox="1"/>
            <p:nvPr/>
          </p:nvSpPr>
          <p:spPr>
            <a:xfrm>
              <a:off x="7004444" y="2335054"/>
              <a:ext cx="185268" cy="249364"/>
            </a:xfrm>
            <a:prstGeom prst="rect">
              <a:avLst/>
            </a:prstGeom>
            <a:noFill/>
            <a:ln>
              <a:noFill/>
            </a:ln>
          </p:spPr>
          <p:txBody>
            <a:bodyPr wrap="none" lIns="0" tIns="0" rIns="0" bIns="0" anchor="t" anchorCtr="0">
              <a:spAutoFit/>
            </a:bodyPr>
            <a:lstStyle/>
            <a:p>
              <a:pPr algn="ctr"/>
              <a:r>
                <a:rPr lang="zh-CN" sz="1280" dirty="0">
                  <a:solidFill>
                    <a:srgbClr val="0F7A68"/>
                  </a:solidFill>
                  <a:latin typeface="+mn-lt"/>
                  <a:ea typeface="+mn-ea"/>
                  <a:cs typeface="+mn-cs"/>
                </a:rPr>
                <a:t>✓</a:t>
              </a:r>
            </a:p>
          </p:txBody>
        </p:sp>
        <p:sp>
          <p:nvSpPr>
            <p:cNvPr id="19" name="TextBox 19"/>
            <p:cNvSpPr txBox="1"/>
            <p:nvPr/>
          </p:nvSpPr>
          <p:spPr>
            <a:xfrm>
              <a:off x="8451291" y="2335054"/>
              <a:ext cx="185268" cy="249364"/>
            </a:xfrm>
            <a:prstGeom prst="rect">
              <a:avLst/>
            </a:prstGeom>
            <a:noFill/>
            <a:ln>
              <a:noFill/>
            </a:ln>
          </p:spPr>
          <p:txBody>
            <a:bodyPr wrap="none" lIns="0" tIns="0" rIns="0" bIns="0" anchor="t" anchorCtr="0">
              <a:spAutoFit/>
            </a:bodyPr>
            <a:lstStyle/>
            <a:p>
              <a:pPr algn="ctr"/>
              <a:r>
                <a:rPr lang="zh-CN" sz="1280" dirty="0">
                  <a:solidFill>
                    <a:srgbClr val="B42318"/>
                  </a:solidFill>
                  <a:latin typeface="+mn-lt"/>
                  <a:ea typeface="+mn-ea"/>
                  <a:cs typeface="+mn-cs"/>
                </a:rPr>
                <a:t>✗</a:t>
              </a:r>
            </a:p>
          </p:txBody>
        </p:sp>
        <p:sp>
          <p:nvSpPr>
            <p:cNvPr id="20" name="TextBox 20"/>
            <p:cNvSpPr txBox="1"/>
            <p:nvPr/>
          </p:nvSpPr>
          <p:spPr>
            <a:xfrm>
              <a:off x="9785744" y="2335054"/>
              <a:ext cx="185268" cy="249364"/>
            </a:xfrm>
            <a:prstGeom prst="rect">
              <a:avLst/>
            </a:prstGeom>
            <a:noFill/>
            <a:ln>
              <a:noFill/>
            </a:ln>
          </p:spPr>
          <p:txBody>
            <a:bodyPr wrap="none" lIns="0" tIns="0" rIns="0" bIns="0" anchor="t" anchorCtr="0">
              <a:spAutoFit/>
            </a:bodyPr>
            <a:lstStyle/>
            <a:p>
              <a:pPr algn="ctr"/>
              <a:r>
                <a:rPr lang="zh-CN" sz="1280" dirty="0">
                  <a:solidFill>
                    <a:srgbClr val="B42318"/>
                  </a:solidFill>
                  <a:latin typeface="+mn-lt"/>
                  <a:ea typeface="+mn-ea"/>
                  <a:cs typeface="+mn-cs"/>
                </a:rPr>
                <a:t>✗</a:t>
              </a:r>
            </a:p>
          </p:txBody>
        </p:sp>
        <p:sp>
          <p:nvSpPr>
            <p:cNvPr id="21" name="TextBox 21"/>
            <p:cNvSpPr txBox="1"/>
            <p:nvPr/>
          </p:nvSpPr>
          <p:spPr>
            <a:xfrm>
              <a:off x="11009706" y="2335054"/>
              <a:ext cx="185268" cy="249364"/>
            </a:xfrm>
            <a:prstGeom prst="rect">
              <a:avLst/>
            </a:prstGeom>
            <a:noFill/>
            <a:ln>
              <a:noFill/>
            </a:ln>
          </p:spPr>
          <p:txBody>
            <a:bodyPr wrap="none" lIns="0" tIns="0" rIns="0" bIns="0" anchor="t" anchorCtr="0">
              <a:spAutoFit/>
            </a:bodyPr>
            <a:lstStyle/>
            <a:p>
              <a:pPr algn="ctr"/>
              <a:r>
                <a:rPr lang="zh-CN" sz="1280" dirty="0">
                  <a:solidFill>
                    <a:srgbClr val="B42318"/>
                  </a:solidFill>
                  <a:latin typeface="+mn-lt"/>
                  <a:ea typeface="+mn-ea"/>
                  <a:cs typeface="+mn-cs"/>
                </a:rPr>
                <a:t>✗</a:t>
              </a:r>
            </a:p>
          </p:txBody>
        </p:sp>
        <p:sp>
          <p:nvSpPr>
            <p:cNvPr id="22" name="Rectangle 22"/>
            <p:cNvSpPr/>
            <p:nvPr/>
          </p:nvSpPr>
          <p:spPr>
            <a:xfrm>
              <a:off x="533400" y="2643188"/>
              <a:ext cx="11125200" cy="9525"/>
            </a:xfrm>
            <a:prstGeom prst="rect">
              <a:avLst/>
            </a:prstGeom>
            <a:solidFill>
              <a:srgbClr val="D9DFEA"/>
            </a:solidFill>
            <a:ln>
              <a:noFill/>
            </a:ln>
          </p:spPr>
        </p:sp>
        <p:sp>
          <p:nvSpPr>
            <p:cNvPr id="23" name="Rectangle 23"/>
            <p:cNvSpPr/>
            <p:nvPr/>
          </p:nvSpPr>
          <p:spPr>
            <a:xfrm>
              <a:off x="533400" y="2647950"/>
              <a:ext cx="11125200" cy="448628"/>
            </a:xfrm>
            <a:prstGeom prst="rect">
              <a:avLst/>
            </a:prstGeom>
            <a:solidFill>
              <a:srgbClr val="F4F6FB"/>
            </a:solidFill>
            <a:ln>
              <a:noFill/>
            </a:ln>
          </p:spPr>
        </p:sp>
        <p:sp>
          <p:nvSpPr>
            <p:cNvPr id="24" name="TextBox 24"/>
            <p:cNvSpPr txBox="1"/>
            <p:nvPr/>
          </p:nvSpPr>
          <p:spPr>
            <a:xfrm>
              <a:off x="641223" y="2783681"/>
              <a:ext cx="156377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扩展的结构程序设计</a:t>
              </a:r>
            </a:p>
          </p:txBody>
        </p:sp>
        <p:sp>
          <p:nvSpPr>
            <p:cNvPr id="25" name="TextBox 25"/>
            <p:cNvSpPr txBox="1"/>
            <p:nvPr/>
          </p:nvSpPr>
          <p:spPr>
            <a:xfrm>
              <a:off x="3611639" y="2783681"/>
              <a:ext cx="185268" cy="249364"/>
            </a:xfrm>
            <a:prstGeom prst="rect">
              <a:avLst/>
            </a:prstGeom>
            <a:noFill/>
            <a:ln>
              <a:noFill/>
            </a:ln>
          </p:spPr>
          <p:txBody>
            <a:bodyPr wrap="none" lIns="0" tIns="0" rIns="0" bIns="0" anchor="t" anchorCtr="0">
              <a:spAutoFit/>
            </a:bodyPr>
            <a:lstStyle/>
            <a:p>
              <a:pPr algn="ctr"/>
              <a:r>
                <a:rPr lang="zh-CN" sz="1280" dirty="0">
                  <a:solidFill>
                    <a:srgbClr val="0F7A68"/>
                  </a:solidFill>
                  <a:latin typeface="+mn-lt"/>
                  <a:ea typeface="+mn-ea"/>
                  <a:cs typeface="+mn-cs"/>
                </a:rPr>
                <a:t>✓</a:t>
              </a:r>
            </a:p>
          </p:txBody>
        </p:sp>
        <p:sp>
          <p:nvSpPr>
            <p:cNvPr id="26" name="TextBox 26"/>
            <p:cNvSpPr txBox="1"/>
            <p:nvPr/>
          </p:nvSpPr>
          <p:spPr>
            <a:xfrm>
              <a:off x="5280419" y="2783681"/>
              <a:ext cx="185268" cy="249364"/>
            </a:xfrm>
            <a:prstGeom prst="rect">
              <a:avLst/>
            </a:prstGeom>
            <a:noFill/>
            <a:ln>
              <a:noFill/>
            </a:ln>
          </p:spPr>
          <p:txBody>
            <a:bodyPr wrap="none" lIns="0" tIns="0" rIns="0" bIns="0" anchor="t" anchorCtr="0">
              <a:spAutoFit/>
            </a:bodyPr>
            <a:lstStyle/>
            <a:p>
              <a:pPr algn="ctr"/>
              <a:r>
                <a:rPr lang="zh-CN" sz="1280" dirty="0">
                  <a:solidFill>
                    <a:srgbClr val="0F7A68"/>
                  </a:solidFill>
                  <a:latin typeface="+mn-lt"/>
                  <a:ea typeface="+mn-ea"/>
                  <a:cs typeface="+mn-cs"/>
                </a:rPr>
                <a:t>✓</a:t>
              </a:r>
            </a:p>
          </p:txBody>
        </p:sp>
        <p:sp>
          <p:nvSpPr>
            <p:cNvPr id="27" name="TextBox 27"/>
            <p:cNvSpPr txBox="1"/>
            <p:nvPr/>
          </p:nvSpPr>
          <p:spPr>
            <a:xfrm>
              <a:off x="7004444" y="2783681"/>
              <a:ext cx="185268" cy="249364"/>
            </a:xfrm>
            <a:prstGeom prst="rect">
              <a:avLst/>
            </a:prstGeom>
            <a:noFill/>
            <a:ln>
              <a:noFill/>
            </a:ln>
          </p:spPr>
          <p:txBody>
            <a:bodyPr wrap="none" lIns="0" tIns="0" rIns="0" bIns="0" anchor="t" anchorCtr="0">
              <a:spAutoFit/>
            </a:bodyPr>
            <a:lstStyle/>
            <a:p>
              <a:pPr algn="ctr"/>
              <a:r>
                <a:rPr lang="zh-CN" sz="1280" dirty="0">
                  <a:solidFill>
                    <a:srgbClr val="0F7A68"/>
                  </a:solidFill>
                  <a:latin typeface="+mn-lt"/>
                  <a:ea typeface="+mn-ea"/>
                  <a:cs typeface="+mn-cs"/>
                </a:rPr>
                <a:t>✓</a:t>
              </a:r>
            </a:p>
          </p:txBody>
        </p:sp>
        <p:sp>
          <p:nvSpPr>
            <p:cNvPr id="28" name="TextBox 28"/>
            <p:cNvSpPr txBox="1"/>
            <p:nvPr/>
          </p:nvSpPr>
          <p:spPr>
            <a:xfrm>
              <a:off x="8451291" y="2783681"/>
              <a:ext cx="185268" cy="249364"/>
            </a:xfrm>
            <a:prstGeom prst="rect">
              <a:avLst/>
            </a:prstGeom>
            <a:noFill/>
            <a:ln>
              <a:noFill/>
            </a:ln>
          </p:spPr>
          <p:txBody>
            <a:bodyPr wrap="none" lIns="0" tIns="0" rIns="0" bIns="0" anchor="t" anchorCtr="0">
              <a:spAutoFit/>
            </a:bodyPr>
            <a:lstStyle/>
            <a:p>
              <a:pPr algn="ctr"/>
              <a:r>
                <a:rPr lang="zh-CN" sz="1280" dirty="0">
                  <a:solidFill>
                    <a:srgbClr val="0F7A68"/>
                  </a:solidFill>
                  <a:latin typeface="+mn-lt"/>
                  <a:ea typeface="+mn-ea"/>
                  <a:cs typeface="+mn-cs"/>
                </a:rPr>
                <a:t>✓</a:t>
              </a:r>
            </a:p>
          </p:txBody>
        </p:sp>
        <p:sp>
          <p:nvSpPr>
            <p:cNvPr id="29" name="TextBox 29"/>
            <p:cNvSpPr txBox="1"/>
            <p:nvPr/>
          </p:nvSpPr>
          <p:spPr>
            <a:xfrm>
              <a:off x="9785744" y="2783681"/>
              <a:ext cx="185268" cy="249364"/>
            </a:xfrm>
            <a:prstGeom prst="rect">
              <a:avLst/>
            </a:prstGeom>
            <a:noFill/>
            <a:ln>
              <a:noFill/>
            </a:ln>
          </p:spPr>
          <p:txBody>
            <a:bodyPr wrap="none" lIns="0" tIns="0" rIns="0" bIns="0" anchor="t" anchorCtr="0">
              <a:spAutoFit/>
            </a:bodyPr>
            <a:lstStyle/>
            <a:p>
              <a:pPr algn="ctr"/>
              <a:r>
                <a:rPr lang="zh-CN" sz="1280" dirty="0">
                  <a:solidFill>
                    <a:srgbClr val="0F7A68"/>
                  </a:solidFill>
                  <a:latin typeface="+mn-lt"/>
                  <a:ea typeface="+mn-ea"/>
                  <a:cs typeface="+mn-cs"/>
                </a:rPr>
                <a:t>✓</a:t>
              </a:r>
            </a:p>
          </p:txBody>
        </p:sp>
        <p:sp>
          <p:nvSpPr>
            <p:cNvPr id="30" name="TextBox 30"/>
            <p:cNvSpPr txBox="1"/>
            <p:nvPr/>
          </p:nvSpPr>
          <p:spPr>
            <a:xfrm>
              <a:off x="11009706" y="2783681"/>
              <a:ext cx="185268" cy="249364"/>
            </a:xfrm>
            <a:prstGeom prst="rect">
              <a:avLst/>
            </a:prstGeom>
            <a:noFill/>
            <a:ln>
              <a:noFill/>
            </a:ln>
          </p:spPr>
          <p:txBody>
            <a:bodyPr wrap="none" lIns="0" tIns="0" rIns="0" bIns="0" anchor="t" anchorCtr="0">
              <a:spAutoFit/>
            </a:bodyPr>
            <a:lstStyle/>
            <a:p>
              <a:pPr algn="ctr"/>
              <a:r>
                <a:rPr lang="zh-CN" sz="1280" dirty="0">
                  <a:solidFill>
                    <a:srgbClr val="B42318"/>
                  </a:solidFill>
                  <a:latin typeface="+mn-lt"/>
                  <a:ea typeface="+mn-ea"/>
                  <a:cs typeface="+mn-cs"/>
                </a:rPr>
                <a:t>✗</a:t>
              </a:r>
            </a:p>
          </p:txBody>
        </p:sp>
        <p:sp>
          <p:nvSpPr>
            <p:cNvPr id="31" name="Rectangle 31"/>
            <p:cNvSpPr/>
            <p:nvPr/>
          </p:nvSpPr>
          <p:spPr>
            <a:xfrm>
              <a:off x="533400" y="3092768"/>
              <a:ext cx="11125200" cy="9525"/>
            </a:xfrm>
            <a:prstGeom prst="rect">
              <a:avLst/>
            </a:prstGeom>
            <a:solidFill>
              <a:srgbClr val="D9DFEA"/>
            </a:solidFill>
            <a:ln>
              <a:noFill/>
            </a:ln>
          </p:spPr>
        </p:sp>
        <p:sp>
          <p:nvSpPr>
            <p:cNvPr id="32" name="TextBox 32"/>
            <p:cNvSpPr txBox="1"/>
            <p:nvPr/>
          </p:nvSpPr>
          <p:spPr>
            <a:xfrm>
              <a:off x="641223" y="3232309"/>
              <a:ext cx="156377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修正的结构程序设计</a:t>
              </a:r>
            </a:p>
          </p:txBody>
        </p:sp>
        <p:sp>
          <p:nvSpPr>
            <p:cNvPr id="33" name="TextBox 33"/>
            <p:cNvSpPr txBox="1"/>
            <p:nvPr/>
          </p:nvSpPr>
          <p:spPr>
            <a:xfrm>
              <a:off x="3611639" y="3232309"/>
              <a:ext cx="185268" cy="249364"/>
            </a:xfrm>
            <a:prstGeom prst="rect">
              <a:avLst/>
            </a:prstGeom>
            <a:noFill/>
            <a:ln>
              <a:noFill/>
            </a:ln>
          </p:spPr>
          <p:txBody>
            <a:bodyPr wrap="none" lIns="0" tIns="0" rIns="0" bIns="0" anchor="t" anchorCtr="0">
              <a:spAutoFit/>
            </a:bodyPr>
            <a:lstStyle/>
            <a:p>
              <a:pPr algn="ctr"/>
              <a:r>
                <a:rPr lang="zh-CN" sz="1280" dirty="0">
                  <a:solidFill>
                    <a:srgbClr val="0F7A68"/>
                  </a:solidFill>
                  <a:latin typeface="+mn-lt"/>
                  <a:ea typeface="+mn-ea"/>
                  <a:cs typeface="+mn-cs"/>
                </a:rPr>
                <a:t>✓</a:t>
              </a:r>
            </a:p>
          </p:txBody>
        </p:sp>
        <p:sp>
          <p:nvSpPr>
            <p:cNvPr id="34" name="TextBox 34"/>
            <p:cNvSpPr txBox="1"/>
            <p:nvPr/>
          </p:nvSpPr>
          <p:spPr>
            <a:xfrm>
              <a:off x="5280419" y="3232309"/>
              <a:ext cx="185268" cy="249364"/>
            </a:xfrm>
            <a:prstGeom prst="rect">
              <a:avLst/>
            </a:prstGeom>
            <a:noFill/>
            <a:ln>
              <a:noFill/>
            </a:ln>
          </p:spPr>
          <p:txBody>
            <a:bodyPr wrap="none" lIns="0" tIns="0" rIns="0" bIns="0" anchor="t" anchorCtr="0">
              <a:spAutoFit/>
            </a:bodyPr>
            <a:lstStyle/>
            <a:p>
              <a:pPr algn="ctr"/>
              <a:r>
                <a:rPr lang="zh-CN" sz="1280" dirty="0">
                  <a:solidFill>
                    <a:srgbClr val="0F7A68"/>
                  </a:solidFill>
                  <a:latin typeface="+mn-lt"/>
                  <a:ea typeface="+mn-ea"/>
                  <a:cs typeface="+mn-cs"/>
                </a:rPr>
                <a:t>✓</a:t>
              </a:r>
            </a:p>
          </p:txBody>
        </p:sp>
        <p:sp>
          <p:nvSpPr>
            <p:cNvPr id="35" name="TextBox 35"/>
            <p:cNvSpPr txBox="1"/>
            <p:nvPr/>
          </p:nvSpPr>
          <p:spPr>
            <a:xfrm>
              <a:off x="7004444" y="3232309"/>
              <a:ext cx="185268" cy="249364"/>
            </a:xfrm>
            <a:prstGeom prst="rect">
              <a:avLst/>
            </a:prstGeom>
            <a:noFill/>
            <a:ln>
              <a:noFill/>
            </a:ln>
          </p:spPr>
          <p:txBody>
            <a:bodyPr wrap="none" lIns="0" tIns="0" rIns="0" bIns="0" anchor="t" anchorCtr="0">
              <a:spAutoFit/>
            </a:bodyPr>
            <a:lstStyle/>
            <a:p>
              <a:pPr algn="ctr"/>
              <a:r>
                <a:rPr lang="zh-CN" sz="1280" dirty="0">
                  <a:solidFill>
                    <a:srgbClr val="0F7A68"/>
                  </a:solidFill>
                  <a:latin typeface="+mn-lt"/>
                  <a:ea typeface="+mn-ea"/>
                  <a:cs typeface="+mn-cs"/>
                </a:rPr>
                <a:t>✓</a:t>
              </a:r>
            </a:p>
          </p:txBody>
        </p:sp>
        <p:sp>
          <p:nvSpPr>
            <p:cNvPr id="36" name="TextBox 36"/>
            <p:cNvSpPr txBox="1"/>
            <p:nvPr/>
          </p:nvSpPr>
          <p:spPr>
            <a:xfrm>
              <a:off x="8451291" y="3232309"/>
              <a:ext cx="185268" cy="249364"/>
            </a:xfrm>
            <a:prstGeom prst="rect">
              <a:avLst/>
            </a:prstGeom>
            <a:noFill/>
            <a:ln>
              <a:noFill/>
            </a:ln>
          </p:spPr>
          <p:txBody>
            <a:bodyPr wrap="none" lIns="0" tIns="0" rIns="0" bIns="0" anchor="t" anchorCtr="0">
              <a:spAutoFit/>
            </a:bodyPr>
            <a:lstStyle/>
            <a:p>
              <a:pPr algn="ctr"/>
              <a:r>
                <a:rPr lang="zh-CN" sz="1280" dirty="0">
                  <a:solidFill>
                    <a:srgbClr val="0F7A68"/>
                  </a:solidFill>
                  <a:latin typeface="+mn-lt"/>
                  <a:ea typeface="+mn-ea"/>
                  <a:cs typeface="+mn-cs"/>
                </a:rPr>
                <a:t>✓</a:t>
              </a:r>
            </a:p>
          </p:txBody>
        </p:sp>
        <p:sp>
          <p:nvSpPr>
            <p:cNvPr id="37" name="TextBox 37"/>
            <p:cNvSpPr txBox="1"/>
            <p:nvPr/>
          </p:nvSpPr>
          <p:spPr>
            <a:xfrm>
              <a:off x="9785744" y="3232309"/>
              <a:ext cx="185268" cy="249364"/>
            </a:xfrm>
            <a:prstGeom prst="rect">
              <a:avLst/>
            </a:prstGeom>
            <a:noFill/>
            <a:ln>
              <a:noFill/>
            </a:ln>
          </p:spPr>
          <p:txBody>
            <a:bodyPr wrap="none" lIns="0" tIns="0" rIns="0" bIns="0" anchor="t" anchorCtr="0">
              <a:spAutoFit/>
            </a:bodyPr>
            <a:lstStyle/>
            <a:p>
              <a:pPr algn="ctr"/>
              <a:r>
                <a:rPr lang="zh-CN" sz="1280" dirty="0">
                  <a:solidFill>
                    <a:srgbClr val="0F7A68"/>
                  </a:solidFill>
                  <a:latin typeface="+mn-lt"/>
                  <a:ea typeface="+mn-ea"/>
                  <a:cs typeface="+mn-cs"/>
                </a:rPr>
                <a:t>✓</a:t>
              </a:r>
            </a:p>
          </p:txBody>
        </p:sp>
        <p:sp>
          <p:nvSpPr>
            <p:cNvPr id="38" name="TextBox 38"/>
            <p:cNvSpPr txBox="1"/>
            <p:nvPr/>
          </p:nvSpPr>
          <p:spPr>
            <a:xfrm>
              <a:off x="11009706" y="3232309"/>
              <a:ext cx="185268" cy="249364"/>
            </a:xfrm>
            <a:prstGeom prst="rect">
              <a:avLst/>
            </a:prstGeom>
            <a:noFill/>
            <a:ln>
              <a:noFill/>
            </a:ln>
          </p:spPr>
          <p:txBody>
            <a:bodyPr wrap="none" lIns="0" tIns="0" rIns="0" bIns="0" anchor="t" anchorCtr="0">
              <a:spAutoFit/>
            </a:bodyPr>
            <a:lstStyle/>
            <a:p>
              <a:pPr algn="ctr"/>
              <a:r>
                <a:rPr lang="zh-CN" sz="1280" dirty="0">
                  <a:solidFill>
                    <a:srgbClr val="0F7A68"/>
                  </a:solidFill>
                  <a:latin typeface="+mn-lt"/>
                  <a:ea typeface="+mn-ea"/>
                  <a:cs typeface="+mn-cs"/>
                </a:rPr>
                <a:t>✓</a:t>
              </a:r>
            </a:p>
          </p:txBody>
        </p:sp>
        <p:sp>
          <p:nvSpPr>
            <p:cNvPr id="39" name="Rectangle 39"/>
            <p:cNvSpPr/>
            <p:nvPr/>
          </p:nvSpPr>
          <p:spPr>
            <a:xfrm>
              <a:off x="533400" y="1524000"/>
              <a:ext cx="11125200" cy="2022158"/>
            </a:xfrm>
            <a:prstGeom prst="rect">
              <a:avLst/>
            </a:prstGeom>
            <a:noFill/>
            <a:ln w="14288">
              <a:solidFill>
                <a:srgbClr val="D9DFEA"/>
              </a:solidFill>
            </a:ln>
          </p:spPr>
        </p:sp>
        <p:sp>
          <p:nvSpPr>
            <p:cNvPr id="40" name="Rectangle 40"/>
            <p:cNvSpPr/>
            <p:nvPr/>
          </p:nvSpPr>
          <p:spPr>
            <a:xfrm>
              <a:off x="2976562" y="1524000"/>
              <a:ext cx="9525" cy="2022158"/>
            </a:xfrm>
            <a:prstGeom prst="rect">
              <a:avLst/>
            </a:prstGeom>
            <a:solidFill>
              <a:srgbClr val="D9DFEA"/>
            </a:solidFill>
            <a:ln>
              <a:noFill/>
            </a:ln>
          </p:spPr>
        </p:sp>
        <p:sp>
          <p:nvSpPr>
            <p:cNvPr id="41" name="Rectangle 41"/>
            <p:cNvSpPr/>
            <p:nvPr/>
          </p:nvSpPr>
          <p:spPr>
            <a:xfrm>
              <a:off x="4422458" y="1524000"/>
              <a:ext cx="9525" cy="2022158"/>
            </a:xfrm>
            <a:prstGeom prst="rect">
              <a:avLst/>
            </a:prstGeom>
            <a:solidFill>
              <a:srgbClr val="D9DFEA"/>
            </a:solidFill>
            <a:ln>
              <a:noFill/>
            </a:ln>
          </p:spPr>
        </p:sp>
        <p:sp>
          <p:nvSpPr>
            <p:cNvPr id="42" name="Rectangle 42"/>
            <p:cNvSpPr/>
            <p:nvPr/>
          </p:nvSpPr>
          <p:spPr>
            <a:xfrm>
              <a:off x="6314122" y="1524000"/>
              <a:ext cx="9525" cy="2022158"/>
            </a:xfrm>
            <a:prstGeom prst="rect">
              <a:avLst/>
            </a:prstGeom>
            <a:solidFill>
              <a:srgbClr val="D9DFEA"/>
            </a:solidFill>
            <a:ln>
              <a:noFill/>
            </a:ln>
          </p:spPr>
        </p:sp>
        <p:sp>
          <p:nvSpPr>
            <p:cNvPr id="43" name="Rectangle 43"/>
            <p:cNvSpPr/>
            <p:nvPr/>
          </p:nvSpPr>
          <p:spPr>
            <a:xfrm>
              <a:off x="7871460" y="1524000"/>
              <a:ext cx="9525" cy="2022158"/>
            </a:xfrm>
            <a:prstGeom prst="rect">
              <a:avLst/>
            </a:prstGeom>
            <a:solidFill>
              <a:srgbClr val="D9DFEA"/>
            </a:solidFill>
            <a:ln>
              <a:noFill/>
            </a:ln>
          </p:spPr>
        </p:sp>
        <p:sp>
          <p:nvSpPr>
            <p:cNvPr id="44" name="Rectangle 44"/>
            <p:cNvSpPr/>
            <p:nvPr/>
          </p:nvSpPr>
          <p:spPr>
            <a:xfrm>
              <a:off x="9205912" y="1524000"/>
              <a:ext cx="9525" cy="2022158"/>
            </a:xfrm>
            <a:prstGeom prst="rect">
              <a:avLst/>
            </a:prstGeom>
            <a:solidFill>
              <a:srgbClr val="D9DFEA"/>
            </a:solidFill>
            <a:ln>
              <a:noFill/>
            </a:ln>
          </p:spPr>
        </p:sp>
        <p:sp>
          <p:nvSpPr>
            <p:cNvPr id="45" name="Rectangle 45"/>
            <p:cNvSpPr/>
            <p:nvPr/>
          </p:nvSpPr>
          <p:spPr>
            <a:xfrm>
              <a:off x="10541318" y="1524000"/>
              <a:ext cx="9525" cy="2022158"/>
            </a:xfrm>
            <a:prstGeom prst="rect">
              <a:avLst/>
            </a:prstGeom>
            <a:solidFill>
              <a:srgbClr val="D9DFEA"/>
            </a:solidFill>
            <a:ln>
              <a:noFill/>
            </a:ln>
          </p:spPr>
        </p:sp>
      </p:grpSp>
      <p:grpSp>
        <p:nvGrpSpPr>
          <p:cNvPr id="55" name="c1-kv-2"/>
          <p:cNvGrpSpPr/>
          <p:nvPr/>
        </p:nvGrpSpPr>
        <p:grpSpPr>
          <a:xfrm>
            <a:off x="525780" y="3761422"/>
            <a:ext cx="11132820" cy="1173480"/>
            <a:chOff x="525780" y="3761422"/>
            <a:chExt cx="11132820" cy="1173480"/>
          </a:xfrm>
        </p:grpSpPr>
        <p:sp>
          <p:nvSpPr>
            <p:cNvPr id="47" name="TextBox 47"/>
            <p:cNvSpPr txBox="1"/>
            <p:nvPr/>
          </p:nvSpPr>
          <p:spPr>
            <a:xfrm>
              <a:off x="525780" y="3761422"/>
              <a:ext cx="41910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经典</a:t>
              </a:r>
            </a:p>
          </p:txBody>
        </p:sp>
        <p:sp>
          <p:nvSpPr>
            <p:cNvPr id="48" name="TextBox 48"/>
            <p:cNvSpPr txBox="1"/>
            <p:nvPr/>
          </p:nvSpPr>
          <p:spPr>
            <a:xfrm>
              <a:off x="1170622" y="3761422"/>
              <a:ext cx="7581138"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只允许顺序、IF-THEN-ELSE 型分支和 DO-WHILE 型循环，实现单入口单出口的程序</a:t>
              </a:r>
            </a:p>
          </p:txBody>
        </p:sp>
        <p:sp>
          <p:nvSpPr>
            <p:cNvPr id="49" name="Rectangle 49"/>
            <p:cNvSpPr/>
            <p:nvPr/>
          </p:nvSpPr>
          <p:spPr>
            <a:xfrm>
              <a:off x="533400" y="4081462"/>
              <a:ext cx="11125200" cy="9525"/>
            </a:xfrm>
            <a:prstGeom prst="rect">
              <a:avLst/>
            </a:prstGeom>
            <a:solidFill>
              <a:srgbClr val="D9DFEA"/>
            </a:solidFill>
            <a:ln>
              <a:noFill/>
            </a:ln>
          </p:spPr>
        </p:sp>
        <p:sp>
          <p:nvSpPr>
            <p:cNvPr id="50" name="TextBox 50"/>
            <p:cNvSpPr txBox="1"/>
            <p:nvPr/>
          </p:nvSpPr>
          <p:spPr>
            <a:xfrm>
              <a:off x="525780" y="4201478"/>
              <a:ext cx="41910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扩展</a:t>
              </a:r>
            </a:p>
          </p:txBody>
        </p:sp>
        <p:sp>
          <p:nvSpPr>
            <p:cNvPr id="51" name="TextBox 51"/>
            <p:cNvSpPr txBox="1"/>
            <p:nvPr/>
          </p:nvSpPr>
          <p:spPr>
            <a:xfrm>
              <a:off x="1170622" y="4201478"/>
              <a:ext cx="650595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在经典的基础上再允许 DO-CASE 型多分支结构和 DO-UNTIL 型循环结构</a:t>
              </a:r>
            </a:p>
          </p:txBody>
        </p:sp>
        <p:sp>
          <p:nvSpPr>
            <p:cNvPr id="52" name="Rectangle 52"/>
            <p:cNvSpPr/>
            <p:nvPr/>
          </p:nvSpPr>
          <p:spPr>
            <a:xfrm>
              <a:off x="533400" y="4521518"/>
              <a:ext cx="11125200" cy="9525"/>
            </a:xfrm>
            <a:prstGeom prst="rect">
              <a:avLst/>
            </a:prstGeom>
            <a:solidFill>
              <a:srgbClr val="D9DFEA"/>
            </a:solidFill>
            <a:ln>
              <a:noFill/>
            </a:ln>
          </p:spPr>
        </p:sp>
        <p:sp>
          <p:nvSpPr>
            <p:cNvPr id="53" name="TextBox 53"/>
            <p:cNvSpPr txBox="1"/>
            <p:nvPr/>
          </p:nvSpPr>
          <p:spPr>
            <a:xfrm>
              <a:off x="525780" y="4641532"/>
              <a:ext cx="41910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修正</a:t>
              </a:r>
            </a:p>
          </p:txBody>
        </p:sp>
        <p:sp>
          <p:nvSpPr>
            <p:cNvPr id="54" name="TextBox 54"/>
            <p:cNvSpPr txBox="1"/>
            <p:nvPr/>
          </p:nvSpPr>
          <p:spPr>
            <a:xfrm>
              <a:off x="1170622" y="4641532"/>
              <a:ext cx="636498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在扩展的基础上再允许 LEAVE（或 BREAK）结构，可以从循环中间跳出</a:t>
              </a:r>
            </a:p>
          </p:txBody>
        </p:sp>
      </p:grpSp>
      <p:grpSp>
        <p:nvGrpSpPr>
          <p:cNvPr id="62" name="takeaway"/>
          <p:cNvGrpSpPr/>
          <p:nvPr/>
        </p:nvGrpSpPr>
        <p:grpSpPr>
          <a:xfrm>
            <a:off x="533400" y="5829300"/>
            <a:ext cx="11125200" cy="533400"/>
            <a:chOff x="533400" y="5829300"/>
            <a:chExt cx="11125200" cy="533400"/>
          </a:xfrm>
        </p:grpSpPr>
        <p:sp>
          <p:nvSpPr>
            <p:cNvPr id="56" name="Rectangle 56"/>
            <p:cNvSpPr/>
            <p:nvPr/>
          </p:nvSpPr>
          <p:spPr>
            <a:xfrm>
              <a:off x="533400" y="5829300"/>
              <a:ext cx="11125200" cy="533400"/>
            </a:xfrm>
            <a:prstGeom prst="roundRect">
              <a:avLst>
                <a:gd name="adj" fmla="val 21429"/>
              </a:avLst>
            </a:prstGeom>
            <a:solidFill>
              <a:srgbClr val="FDECEA"/>
            </a:solidFill>
            <a:ln>
              <a:noFill/>
            </a:ln>
          </p:spPr>
        </p:sp>
        <p:grpSp>
          <p:nvGrpSpPr>
            <p:cNvPr id="60" name="Group 60"/>
            <p:cNvGrpSpPr/>
            <p:nvPr/>
          </p:nvGrpSpPr>
          <p:grpSpPr>
            <a:xfrm>
              <a:off x="726129" y="5992296"/>
              <a:ext cx="224134" cy="192560"/>
              <a:chOff x="726129" y="5992296"/>
              <a:chExt cx="224134" cy="192560"/>
            </a:xfrm>
          </p:grpSpPr>
          <p:sp>
            <p:nvSpPr>
              <p:cNvPr id="57" name="Freeform 57"/>
              <p:cNvSpPr/>
              <p:nvPr/>
            </p:nvSpPr>
            <p:spPr>
              <a:xfrm>
                <a:off x="838200" y="606266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58" name="Freeform 58"/>
              <p:cNvSpPr/>
              <p:nvPr/>
            </p:nvSpPr>
            <p:spPr>
              <a:xfrm>
                <a:off x="726129" y="599229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59" name="Freeform 59"/>
              <p:cNvSpPr/>
              <p:nvPr/>
            </p:nvSpPr>
            <p:spPr>
              <a:xfrm>
                <a:off x="838200" y="614045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61" name="TextBox 61"/>
            <p:cNvSpPr txBox="1"/>
            <p:nvPr/>
          </p:nvSpPr>
          <p:spPr>
            <a:xfrm>
              <a:off x="1040130" y="5991225"/>
              <a:ext cx="8294370" cy="293370"/>
            </a:xfrm>
            <a:prstGeom prst="rect">
              <a:avLst/>
            </a:prstGeom>
            <a:noFill/>
            <a:ln>
              <a:noFill/>
            </a:ln>
          </p:spPr>
          <p:txBody>
            <a:bodyPr wrap="none" lIns="0" tIns="0" rIns="0" bIns="0" anchor="t" anchorCtr="0">
              <a:spAutoFit/>
            </a:bodyPr>
            <a:lstStyle/>
            <a:p>
              <a:pPr algn="l"/>
              <a:r>
                <a:rPr lang="zh-CN" sz="1500" dirty="0">
                  <a:solidFill>
                    <a:srgbClr val="B42318"/>
                  </a:solidFill>
                  <a:latin typeface="+mn-lt"/>
                  <a:ea typeface="+mn-ea"/>
                  <a:cs typeface="+mn-cs"/>
                </a:rPr>
                <a:t>常考点：经典的提法既不允许多分支，也不允许先执行后判断的循环，必须先判断循环条件。</a:t>
              </a:r>
            </a:p>
          </p:txBody>
        </p:sp>
      </p:grpSp>
      <p:grpSp>
        <p:nvGrpSpPr>
          <p:cNvPr id="65" name="footer"/>
          <p:cNvGrpSpPr/>
          <p:nvPr/>
        </p:nvGrpSpPr>
        <p:grpSpPr>
          <a:xfrm>
            <a:off x="528447" y="6581299"/>
            <a:ext cx="11135106" cy="190690"/>
            <a:chOff x="528447" y="6581299"/>
            <a:chExt cx="11135106" cy="190690"/>
          </a:xfrm>
        </p:grpSpPr>
        <p:sp>
          <p:nvSpPr>
            <p:cNvPr id="63" name="TextBox 63"/>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64" name="TextBox 64"/>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02</a:t>
              </a:r>
            </a:p>
          </p:txBody>
        </p:sp>
      </p:grpSp>
      <p:grpSp>
        <p:nvGrpSpPr>
          <p:cNvPr id="16" name="section-title"/>
          <p:cNvGrpSpPr/>
          <p:nvPr/>
        </p:nvGrpSpPr>
        <p:grpSpPr>
          <a:xfrm>
            <a:off x="667512" y="1835468"/>
            <a:ext cx="6246114" cy="2997517"/>
            <a:chOff x="667512" y="1835468"/>
            <a:chExt cx="6246114" cy="299751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第二部分</a:t>
              </a:r>
            </a:p>
          </p:txBody>
        </p:sp>
        <p:sp>
          <p:nvSpPr>
            <p:cNvPr id="7" name="TextBox 7"/>
            <p:cNvSpPr txBox="1"/>
            <p:nvPr/>
          </p:nvSpPr>
          <p:spPr>
            <a:xfrm>
              <a:off x="667512" y="2240280"/>
              <a:ext cx="2944368"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人机界面设计</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6236208"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界面是用户唯一看得见的部分，设计不好会把其余工作全部抵消</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四个设计问题</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反复迭代的设计过程</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三组设计指南</a:t>
              </a:r>
            </a:p>
          </p:txBody>
        </p:sp>
      </p:grpSp>
      <p:grpSp>
        <p:nvGrpSpPr>
          <p:cNvPr id="19" name="footer"/>
          <p:cNvGrpSpPr/>
          <p:nvPr/>
        </p:nvGrpSpPr>
        <p:grpSpPr>
          <a:xfrm>
            <a:off x="528447" y="6581299"/>
            <a:ext cx="11135106" cy="190690"/>
            <a:chOff x="528447" y="6581299"/>
            <a:chExt cx="11135106" cy="190690"/>
          </a:xfrm>
        </p:grpSpPr>
        <p:sp>
          <p:nvSpPr>
            <p:cNvPr id="17" name="TextBox 17"/>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18" name="TextBox 18"/>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人机界面设计</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人机界面的四个设计问题</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6396990" cy="308039"/>
            <a:chOff x="525399" y="1550194"/>
            <a:chExt cx="6396990" cy="308039"/>
          </a:xfrm>
        </p:grpSpPr>
        <p:sp>
          <p:nvSpPr>
            <p:cNvPr id="7" name="TextBox 7"/>
            <p:cNvSpPr txBox="1"/>
            <p:nvPr/>
          </p:nvSpPr>
          <p:spPr>
            <a:xfrm>
              <a:off x="525399" y="1550194"/>
              <a:ext cx="6396990"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课件把界面设计要回答的问题归成四类，其中系统响应时间最常考。</a:t>
              </a:r>
            </a:p>
          </p:txBody>
        </p:sp>
      </p:grpSp>
      <p:grpSp>
        <p:nvGrpSpPr>
          <p:cNvPr id="21" name="c1-bullets-1"/>
          <p:cNvGrpSpPr/>
          <p:nvPr/>
        </p:nvGrpSpPr>
        <p:grpSpPr>
          <a:xfrm>
            <a:off x="533400" y="1979295"/>
            <a:ext cx="1527810" cy="1341120"/>
            <a:chOff x="533400" y="1979295"/>
            <a:chExt cx="1527810" cy="1341120"/>
          </a:xfrm>
        </p:grpSpPr>
        <p:sp>
          <p:nvSpPr>
            <p:cNvPr id="9" name="Ellipse 9"/>
            <p:cNvSpPr/>
            <p:nvPr/>
          </p:nvSpPr>
          <p:spPr>
            <a:xfrm>
              <a:off x="533400" y="1979295"/>
              <a:ext cx="213360" cy="213360"/>
            </a:xfrm>
            <a:prstGeom prst="ellipse">
              <a:avLst/>
            </a:prstGeom>
            <a:solidFill>
              <a:srgbClr val="334E68"/>
            </a:solidFill>
            <a:ln>
              <a:noFill/>
            </a:ln>
          </p:spPr>
        </p:sp>
        <p:sp>
          <p:nvSpPr>
            <p:cNvPr id="10" name="TextBox 10"/>
            <p:cNvSpPr txBox="1"/>
            <p:nvPr/>
          </p:nvSpPr>
          <p:spPr>
            <a:xfrm>
              <a:off x="595249" y="202158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1</a:t>
              </a:r>
            </a:p>
          </p:txBody>
        </p:sp>
        <p:sp>
          <p:nvSpPr>
            <p:cNvPr id="11" name="TextBox 11"/>
            <p:cNvSpPr txBox="1"/>
            <p:nvPr/>
          </p:nvSpPr>
          <p:spPr>
            <a:xfrm>
              <a:off x="834390" y="1992630"/>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系统响应时间</a:t>
              </a:r>
            </a:p>
          </p:txBody>
        </p:sp>
        <p:sp>
          <p:nvSpPr>
            <p:cNvPr id="12" name="Ellipse 12"/>
            <p:cNvSpPr/>
            <p:nvPr/>
          </p:nvSpPr>
          <p:spPr>
            <a:xfrm>
              <a:off x="533400" y="2324100"/>
              <a:ext cx="213360" cy="213360"/>
            </a:xfrm>
            <a:prstGeom prst="ellipse">
              <a:avLst/>
            </a:prstGeom>
            <a:solidFill>
              <a:srgbClr val="334E68"/>
            </a:solidFill>
            <a:ln>
              <a:noFill/>
            </a:ln>
          </p:spPr>
        </p:sp>
        <p:sp>
          <p:nvSpPr>
            <p:cNvPr id="13" name="TextBox 13"/>
            <p:cNvSpPr txBox="1"/>
            <p:nvPr/>
          </p:nvSpPr>
          <p:spPr>
            <a:xfrm>
              <a:off x="595249" y="236639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2</a:t>
              </a:r>
            </a:p>
          </p:txBody>
        </p:sp>
        <p:sp>
          <p:nvSpPr>
            <p:cNvPr id="14" name="TextBox 14"/>
            <p:cNvSpPr txBox="1"/>
            <p:nvPr/>
          </p:nvSpPr>
          <p:spPr>
            <a:xfrm>
              <a:off x="834390" y="2337435"/>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用户帮助设施</a:t>
              </a:r>
            </a:p>
          </p:txBody>
        </p:sp>
        <p:sp>
          <p:nvSpPr>
            <p:cNvPr id="15" name="Ellipse 15"/>
            <p:cNvSpPr/>
            <p:nvPr/>
          </p:nvSpPr>
          <p:spPr>
            <a:xfrm>
              <a:off x="533400" y="2668905"/>
              <a:ext cx="213360" cy="213360"/>
            </a:xfrm>
            <a:prstGeom prst="ellipse">
              <a:avLst/>
            </a:prstGeom>
            <a:solidFill>
              <a:srgbClr val="334E68"/>
            </a:solidFill>
            <a:ln>
              <a:noFill/>
            </a:ln>
          </p:spPr>
        </p:sp>
        <p:sp>
          <p:nvSpPr>
            <p:cNvPr id="16" name="TextBox 16"/>
            <p:cNvSpPr txBox="1"/>
            <p:nvPr/>
          </p:nvSpPr>
          <p:spPr>
            <a:xfrm>
              <a:off x="595249" y="271119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3</a:t>
              </a:r>
            </a:p>
          </p:txBody>
        </p:sp>
        <p:sp>
          <p:nvSpPr>
            <p:cNvPr id="17" name="TextBox 17"/>
            <p:cNvSpPr txBox="1"/>
            <p:nvPr/>
          </p:nvSpPr>
          <p:spPr>
            <a:xfrm>
              <a:off x="834390" y="2682240"/>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出错信息处理</a:t>
              </a:r>
            </a:p>
          </p:txBody>
        </p:sp>
        <p:sp>
          <p:nvSpPr>
            <p:cNvPr id="18" name="Ellipse 18"/>
            <p:cNvSpPr/>
            <p:nvPr/>
          </p:nvSpPr>
          <p:spPr>
            <a:xfrm>
              <a:off x="533400" y="3013710"/>
              <a:ext cx="213360" cy="213360"/>
            </a:xfrm>
            <a:prstGeom prst="ellipse">
              <a:avLst/>
            </a:prstGeom>
            <a:solidFill>
              <a:srgbClr val="334E68"/>
            </a:solidFill>
            <a:ln>
              <a:noFill/>
            </a:ln>
          </p:spPr>
        </p:sp>
        <p:sp>
          <p:nvSpPr>
            <p:cNvPr id="19" name="TextBox 19"/>
            <p:cNvSpPr txBox="1"/>
            <p:nvPr/>
          </p:nvSpPr>
          <p:spPr>
            <a:xfrm>
              <a:off x="595249" y="305600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4</a:t>
              </a:r>
            </a:p>
          </p:txBody>
        </p:sp>
        <p:sp>
          <p:nvSpPr>
            <p:cNvPr id="20" name="TextBox 20"/>
            <p:cNvSpPr txBox="1"/>
            <p:nvPr/>
          </p:nvSpPr>
          <p:spPr>
            <a:xfrm>
              <a:off x="834390" y="3027045"/>
              <a:ext cx="8229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命令交互</a:t>
              </a:r>
            </a:p>
          </p:txBody>
        </p:sp>
      </p:grpSp>
      <p:grpSp>
        <p:nvGrpSpPr>
          <p:cNvPr id="30" name="c1-card-2"/>
          <p:cNvGrpSpPr/>
          <p:nvPr/>
        </p:nvGrpSpPr>
        <p:grpSpPr>
          <a:xfrm>
            <a:off x="533400" y="3451860"/>
            <a:ext cx="4977765" cy="2278380"/>
            <a:chOff x="533400" y="3451860"/>
            <a:chExt cx="4977765" cy="2278380"/>
          </a:xfrm>
        </p:grpSpPr>
        <p:sp>
          <p:nvSpPr>
            <p:cNvPr id="22" name="Rectangle 22"/>
            <p:cNvSpPr/>
            <p:nvPr/>
          </p:nvSpPr>
          <p:spPr>
            <a:xfrm>
              <a:off x="533400" y="3451860"/>
              <a:ext cx="4977765" cy="2278380"/>
            </a:xfrm>
            <a:prstGeom prst="roundRect">
              <a:avLst>
                <a:gd name="adj" fmla="val 5853"/>
              </a:avLst>
            </a:prstGeom>
            <a:solidFill>
              <a:srgbClr val="FFFFFF"/>
            </a:solidFill>
            <a:ln w="14288">
              <a:solidFill>
                <a:srgbClr val="D9DFEA"/>
              </a:solidFill>
            </a:ln>
          </p:spPr>
        </p:sp>
        <p:sp>
          <p:nvSpPr>
            <p:cNvPr id="23" name="Rectangle 23"/>
            <p:cNvSpPr/>
            <p:nvPr/>
          </p:nvSpPr>
          <p:spPr>
            <a:xfrm>
              <a:off x="542925" y="3585210"/>
              <a:ext cx="47625" cy="2011680"/>
            </a:xfrm>
            <a:prstGeom prst="roundRect">
              <a:avLst>
                <a:gd name="adj" fmla="val 50000"/>
              </a:avLst>
            </a:prstGeom>
            <a:solidFill>
              <a:srgbClr val="5B6475"/>
            </a:solidFill>
            <a:ln>
              <a:noFill/>
            </a:ln>
          </p:spPr>
        </p:sp>
        <p:sp>
          <p:nvSpPr>
            <p:cNvPr id="24" name="Rectangle 24"/>
            <p:cNvSpPr/>
            <p:nvPr/>
          </p:nvSpPr>
          <p:spPr>
            <a:xfrm>
              <a:off x="781050" y="3661410"/>
              <a:ext cx="1347788" cy="257175"/>
            </a:xfrm>
            <a:prstGeom prst="roundRect">
              <a:avLst>
                <a:gd name="adj" fmla="val 50000"/>
              </a:avLst>
            </a:prstGeom>
            <a:solidFill>
              <a:srgbClr val="F4F6FB"/>
            </a:solidFill>
            <a:ln>
              <a:noFill/>
            </a:ln>
          </p:spPr>
        </p:sp>
        <p:sp>
          <p:nvSpPr>
            <p:cNvPr id="25" name="TextBox 25"/>
            <p:cNvSpPr txBox="1"/>
            <p:nvPr/>
          </p:nvSpPr>
          <p:spPr>
            <a:xfrm>
              <a:off x="845655" y="3697129"/>
              <a:ext cx="1217625"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为什么要重视界面</a:t>
              </a:r>
            </a:p>
          </p:txBody>
        </p:sp>
        <p:sp>
          <p:nvSpPr>
            <p:cNvPr id="26" name="Ellipse 26"/>
            <p:cNvSpPr/>
            <p:nvPr/>
          </p:nvSpPr>
          <p:spPr>
            <a:xfrm>
              <a:off x="786765" y="4101465"/>
              <a:ext cx="64770" cy="64770"/>
            </a:xfrm>
            <a:prstGeom prst="ellipse">
              <a:avLst/>
            </a:prstGeom>
            <a:solidFill>
              <a:srgbClr val="334E68"/>
            </a:solidFill>
            <a:ln>
              <a:noFill/>
            </a:ln>
          </p:spPr>
        </p:sp>
        <p:sp>
          <p:nvSpPr>
            <p:cNvPr id="27" name="TextBox 27"/>
            <p:cNvSpPr txBox="1"/>
            <p:nvPr/>
          </p:nvSpPr>
          <p:spPr>
            <a:xfrm>
              <a:off x="944880" y="4038600"/>
              <a:ext cx="4015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界面是基于计算机的系统或产品中用户唯一直接</a:t>
              </a:r>
              <a:br/>
              <a:r>
                <a:rPr lang="zh-CN" sz="1500" dirty="0">
                  <a:solidFill>
                    <a:srgbClr val="1F2937"/>
                  </a:solidFill>
                  <a:latin typeface="+mn-lt"/>
                  <a:ea typeface="+mn-ea"/>
                  <a:cs typeface="+mn-cs"/>
                </a:rPr>
                <a:t>接触的元素</a:t>
              </a:r>
            </a:p>
          </p:txBody>
        </p:sp>
        <p:sp>
          <p:nvSpPr>
            <p:cNvPr id="28" name="Ellipse 28"/>
            <p:cNvSpPr/>
            <p:nvPr/>
          </p:nvSpPr>
          <p:spPr>
            <a:xfrm>
              <a:off x="786765" y="4722495"/>
              <a:ext cx="64770" cy="64770"/>
            </a:xfrm>
            <a:prstGeom prst="ellipse">
              <a:avLst/>
            </a:prstGeom>
            <a:solidFill>
              <a:srgbClr val="334E68"/>
            </a:solidFill>
            <a:ln>
              <a:noFill/>
            </a:ln>
          </p:spPr>
        </p:sp>
        <p:sp>
          <p:nvSpPr>
            <p:cNvPr id="29" name="TextBox 29"/>
            <p:cNvSpPr txBox="1"/>
            <p:nvPr/>
          </p:nvSpPr>
          <p:spPr>
            <a:xfrm>
              <a:off x="944880" y="4659630"/>
              <a:ext cx="4015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界面不好会妨碍用户使用系统的计算能力，让设</a:t>
              </a:r>
              <a:br/>
              <a:r>
                <a:rPr lang="zh-CN" sz="1500" dirty="0">
                  <a:solidFill>
                    <a:srgbClr val="1F2937"/>
                  </a:solidFill>
                  <a:latin typeface="+mn-lt"/>
                  <a:ea typeface="+mn-ea"/>
                  <a:cs typeface="+mn-cs"/>
                </a:rPr>
                <a:t>计良好、实现可靠的应用失败</a:t>
              </a:r>
            </a:p>
          </p:txBody>
        </p:sp>
      </p:grpSp>
      <p:grpSp>
        <p:nvGrpSpPr>
          <p:cNvPr id="37" name="c2-card-1"/>
          <p:cNvGrpSpPr/>
          <p:nvPr/>
        </p:nvGrpSpPr>
        <p:grpSpPr>
          <a:xfrm>
            <a:off x="5815965" y="1967865"/>
            <a:ext cx="5842635" cy="1335405"/>
            <a:chOff x="5815965" y="1967865"/>
            <a:chExt cx="5842635" cy="1335405"/>
          </a:xfrm>
        </p:grpSpPr>
        <p:sp>
          <p:nvSpPr>
            <p:cNvPr id="31" name="Rectangle 31"/>
            <p:cNvSpPr/>
            <p:nvPr/>
          </p:nvSpPr>
          <p:spPr>
            <a:xfrm>
              <a:off x="5815965" y="1967865"/>
              <a:ext cx="5842635" cy="1335405"/>
            </a:xfrm>
            <a:prstGeom prst="roundRect">
              <a:avLst>
                <a:gd name="adj" fmla="val 9986"/>
              </a:avLst>
            </a:prstGeom>
            <a:solidFill>
              <a:srgbClr val="FFFFFF"/>
            </a:solidFill>
            <a:ln w="14288">
              <a:solidFill>
                <a:srgbClr val="D9DFEA"/>
              </a:solidFill>
            </a:ln>
          </p:spPr>
        </p:sp>
        <p:sp>
          <p:nvSpPr>
            <p:cNvPr id="32" name="Rectangle 32"/>
            <p:cNvSpPr/>
            <p:nvPr/>
          </p:nvSpPr>
          <p:spPr>
            <a:xfrm>
              <a:off x="5825490" y="2101215"/>
              <a:ext cx="47625" cy="1068705"/>
            </a:xfrm>
            <a:prstGeom prst="roundRect">
              <a:avLst>
                <a:gd name="adj" fmla="val 50000"/>
              </a:avLst>
            </a:prstGeom>
            <a:solidFill>
              <a:srgbClr val="334E68"/>
            </a:solidFill>
            <a:ln>
              <a:noFill/>
            </a:ln>
          </p:spPr>
        </p:sp>
        <p:sp>
          <p:nvSpPr>
            <p:cNvPr id="33" name="Rectangle 33"/>
            <p:cNvSpPr/>
            <p:nvPr/>
          </p:nvSpPr>
          <p:spPr>
            <a:xfrm>
              <a:off x="6063615" y="2177415"/>
              <a:ext cx="494348" cy="257175"/>
            </a:xfrm>
            <a:prstGeom prst="roundRect">
              <a:avLst>
                <a:gd name="adj" fmla="val 50000"/>
              </a:avLst>
            </a:prstGeom>
            <a:solidFill>
              <a:srgbClr val="E7EDF3"/>
            </a:solidFill>
            <a:ln>
              <a:noFill/>
            </a:ln>
          </p:spPr>
        </p:sp>
        <p:sp>
          <p:nvSpPr>
            <p:cNvPr id="34" name="TextBox 34"/>
            <p:cNvSpPr txBox="1"/>
            <p:nvPr/>
          </p:nvSpPr>
          <p:spPr>
            <a:xfrm>
              <a:off x="6153823" y="2213134"/>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定义</a:t>
              </a:r>
            </a:p>
          </p:txBody>
        </p:sp>
        <p:sp>
          <p:nvSpPr>
            <p:cNvPr id="35" name="TextBox 35"/>
            <p:cNvSpPr txBox="1"/>
            <p:nvPr/>
          </p:nvSpPr>
          <p:spPr>
            <a:xfrm>
              <a:off x="6663690" y="2212658"/>
              <a:ext cx="122682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系统响应时间</a:t>
              </a:r>
            </a:p>
          </p:txBody>
        </p:sp>
        <p:sp>
          <p:nvSpPr>
            <p:cNvPr id="36" name="TextBox 36"/>
            <p:cNvSpPr txBox="1"/>
            <p:nvPr/>
          </p:nvSpPr>
          <p:spPr>
            <a:xfrm>
              <a:off x="6055995" y="2573655"/>
              <a:ext cx="5158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从用户完成某个控制动作（例如按回车键或点击鼠标），到软</a:t>
              </a:r>
              <a:br/>
              <a:r>
                <a:rPr lang="zh-CN" sz="1500" dirty="0">
                  <a:solidFill>
                    <a:srgbClr val="1F2937"/>
                  </a:solidFill>
                  <a:latin typeface="+mn-lt"/>
                  <a:ea typeface="+mn-ea"/>
                  <a:cs typeface="+mn-cs"/>
                </a:rPr>
                <a:t>件给出预期的响应（输出信息或做动作）之间的这段时间。</a:t>
              </a:r>
            </a:p>
          </p:txBody>
        </p:sp>
      </p:grpSp>
      <p:grpSp>
        <p:nvGrpSpPr>
          <p:cNvPr id="43" name="c2-kv-2"/>
          <p:cNvGrpSpPr/>
          <p:nvPr/>
        </p:nvGrpSpPr>
        <p:grpSpPr>
          <a:xfrm>
            <a:off x="5808345" y="3518535"/>
            <a:ext cx="5850255" cy="1297305"/>
            <a:chOff x="5808345" y="3518535"/>
            <a:chExt cx="5850255" cy="1297305"/>
          </a:xfrm>
        </p:grpSpPr>
        <p:sp>
          <p:nvSpPr>
            <p:cNvPr id="38" name="TextBox 38"/>
            <p:cNvSpPr txBox="1"/>
            <p:nvPr/>
          </p:nvSpPr>
          <p:spPr>
            <a:xfrm>
              <a:off x="5808345" y="3518535"/>
              <a:ext cx="41910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长度</a:t>
              </a:r>
            </a:p>
          </p:txBody>
        </p:sp>
        <p:sp>
          <p:nvSpPr>
            <p:cNvPr id="39" name="TextBox 39"/>
            <p:cNvSpPr txBox="1"/>
            <p:nvPr/>
          </p:nvSpPr>
          <p:spPr>
            <a:xfrm>
              <a:off x="6651308" y="3518535"/>
              <a:ext cx="4777740" cy="57531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响应等了多久。太长用户等得烦，太短又会让用户来不及</a:t>
              </a:r>
              <a:br/>
              <a:r>
                <a:rPr lang="zh-CN" sz="1500" dirty="0">
                  <a:solidFill>
                    <a:srgbClr val="1F2937"/>
                  </a:solidFill>
                  <a:latin typeface="+mn-lt"/>
                  <a:ea typeface="+mn-ea"/>
                  <a:cs typeface="+mn-cs"/>
                </a:rPr>
                <a:t>看清反馈</a:t>
              </a:r>
            </a:p>
          </p:txBody>
        </p:sp>
        <p:sp>
          <p:nvSpPr>
            <p:cNvPr id="40" name="Rectangle 40"/>
            <p:cNvSpPr/>
            <p:nvPr/>
          </p:nvSpPr>
          <p:spPr>
            <a:xfrm>
              <a:off x="5815965" y="4120515"/>
              <a:ext cx="5842635" cy="9525"/>
            </a:xfrm>
            <a:prstGeom prst="rect">
              <a:avLst/>
            </a:prstGeom>
            <a:solidFill>
              <a:srgbClr val="D9DFEA"/>
            </a:solidFill>
            <a:ln>
              <a:noFill/>
            </a:ln>
          </p:spPr>
        </p:sp>
        <p:sp>
          <p:nvSpPr>
            <p:cNvPr id="41" name="TextBox 41"/>
            <p:cNvSpPr txBox="1"/>
            <p:nvPr/>
          </p:nvSpPr>
          <p:spPr>
            <a:xfrm>
              <a:off x="5808345" y="4240530"/>
              <a:ext cx="62103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易变性</a:t>
              </a:r>
            </a:p>
          </p:txBody>
        </p:sp>
        <p:sp>
          <p:nvSpPr>
            <p:cNvPr id="42" name="TextBox 42"/>
            <p:cNvSpPr txBox="1"/>
            <p:nvPr/>
          </p:nvSpPr>
          <p:spPr>
            <a:xfrm>
              <a:off x="6651308" y="4240530"/>
              <a:ext cx="4777740" cy="57531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相同类型的操作响应时间是否稳定。忽快忽慢会让用户怀</a:t>
              </a:r>
              <a:br/>
              <a:r>
                <a:rPr lang="zh-CN" sz="1500" dirty="0">
                  <a:solidFill>
                    <a:srgbClr val="1F2937"/>
                  </a:solidFill>
                  <a:latin typeface="+mn-lt"/>
                  <a:ea typeface="+mn-ea"/>
                  <a:cs typeface="+mn-cs"/>
                </a:rPr>
                <a:t>疑系统出了故障</a:t>
              </a:r>
            </a:p>
          </p:txBody>
        </p:sp>
      </p:grpSp>
      <p:grpSp>
        <p:nvGrpSpPr>
          <p:cNvPr id="50" name="c2-callout-3"/>
          <p:cNvGrpSpPr/>
          <p:nvPr/>
        </p:nvGrpSpPr>
        <p:grpSpPr>
          <a:xfrm>
            <a:off x="5815965" y="4947285"/>
            <a:ext cx="5842635" cy="782955"/>
            <a:chOff x="5815965" y="4947285"/>
            <a:chExt cx="5842635" cy="782955"/>
          </a:xfrm>
        </p:grpSpPr>
        <p:sp>
          <p:nvSpPr>
            <p:cNvPr id="44" name="Rectangle 44"/>
            <p:cNvSpPr/>
            <p:nvPr/>
          </p:nvSpPr>
          <p:spPr>
            <a:xfrm>
              <a:off x="5815965" y="4947285"/>
              <a:ext cx="5842635" cy="782955"/>
            </a:xfrm>
            <a:prstGeom prst="roundRect">
              <a:avLst>
                <a:gd name="adj" fmla="val 14599"/>
              </a:avLst>
            </a:prstGeom>
            <a:solidFill>
              <a:srgbClr val="FDECEA"/>
            </a:solidFill>
            <a:ln>
              <a:noFill/>
            </a:ln>
          </p:spPr>
        </p:sp>
        <p:grpSp>
          <p:nvGrpSpPr>
            <p:cNvPr id="48" name="Group 48"/>
            <p:cNvGrpSpPr/>
            <p:nvPr/>
          </p:nvGrpSpPr>
          <p:grpSpPr>
            <a:xfrm>
              <a:off x="6008694" y="5235058"/>
              <a:ext cx="224134" cy="192560"/>
              <a:chOff x="6008694" y="5235058"/>
              <a:chExt cx="224134" cy="192560"/>
            </a:xfrm>
          </p:grpSpPr>
          <p:sp>
            <p:nvSpPr>
              <p:cNvPr id="45" name="Freeform 45"/>
              <p:cNvSpPr/>
              <p:nvPr/>
            </p:nvSpPr>
            <p:spPr>
              <a:xfrm>
                <a:off x="6120765" y="5305425"/>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46" name="Freeform 46"/>
              <p:cNvSpPr/>
              <p:nvPr/>
            </p:nvSpPr>
            <p:spPr>
              <a:xfrm>
                <a:off x="6008694" y="5235058"/>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47" name="Freeform 47"/>
              <p:cNvSpPr/>
              <p:nvPr/>
            </p:nvSpPr>
            <p:spPr>
              <a:xfrm>
                <a:off x="6120765" y="5383213"/>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49" name="TextBox 49"/>
            <p:cNvSpPr txBox="1"/>
            <p:nvPr/>
          </p:nvSpPr>
          <p:spPr>
            <a:xfrm>
              <a:off x="6322695" y="5095875"/>
              <a:ext cx="47777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B42318"/>
                  </a:solidFill>
                  <a:latin typeface="+mn-lt"/>
                  <a:ea typeface="+mn-ea"/>
                  <a:cs typeface="+mn-cs"/>
                </a:rPr>
                <a:t>「响应时间越短越好」是错的。两个属性都要照顾：长短</a:t>
              </a:r>
              <a:br/>
              <a:r>
                <a:rPr lang="zh-CN" sz="1500" dirty="0">
                  <a:solidFill>
                    <a:srgbClr val="B42318"/>
                  </a:solidFill>
                  <a:latin typeface="+mn-lt"/>
                  <a:ea typeface="+mn-ea"/>
                  <a:cs typeface="+mn-cs"/>
                </a:rPr>
                <a:t>适当，而且稳定。</a:t>
              </a:r>
            </a:p>
          </p:txBody>
        </p:sp>
      </p:grpSp>
      <p:grpSp>
        <p:nvGrpSpPr>
          <p:cNvPr id="53" name="footer"/>
          <p:cNvGrpSpPr/>
          <p:nvPr/>
        </p:nvGrpSpPr>
        <p:grpSpPr>
          <a:xfrm>
            <a:off x="528447" y="6581299"/>
            <a:ext cx="11135106" cy="190690"/>
            <a:chOff x="528447" y="6581299"/>
            <a:chExt cx="11135106" cy="190690"/>
          </a:xfrm>
        </p:grpSpPr>
        <p:sp>
          <p:nvSpPr>
            <p:cNvPr id="51" name="TextBox 51"/>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52" name="TextBox 52"/>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人机界面设计</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用户帮助设施：设计前先回答五个问题</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5" name="c1-card-1"/>
          <p:cNvGrpSpPr/>
          <p:nvPr/>
        </p:nvGrpSpPr>
        <p:grpSpPr>
          <a:xfrm>
            <a:off x="533400" y="1524000"/>
            <a:ext cx="4328160" cy="2004060"/>
            <a:chOff x="533400" y="1524000"/>
            <a:chExt cx="4328160" cy="2004060"/>
          </a:xfrm>
        </p:grpSpPr>
        <p:sp>
          <p:nvSpPr>
            <p:cNvPr id="7" name="Rectangle 7"/>
            <p:cNvSpPr/>
            <p:nvPr/>
          </p:nvSpPr>
          <p:spPr>
            <a:xfrm>
              <a:off x="533400" y="1524000"/>
              <a:ext cx="4328160" cy="2004060"/>
            </a:xfrm>
            <a:prstGeom prst="roundRect">
              <a:avLst>
                <a:gd name="adj" fmla="val 6654"/>
              </a:avLst>
            </a:prstGeom>
            <a:solidFill>
              <a:srgbClr val="334E68"/>
            </a:solidFill>
            <a:ln>
              <a:noFill/>
            </a:ln>
          </p:spPr>
        </p:sp>
        <p:sp>
          <p:nvSpPr>
            <p:cNvPr id="8" name="Rectangle 8"/>
            <p:cNvSpPr/>
            <p:nvPr/>
          </p:nvSpPr>
          <p:spPr>
            <a:xfrm>
              <a:off x="720090" y="1710690"/>
              <a:ext cx="956310" cy="238125"/>
            </a:xfrm>
            <a:prstGeom prst="roundRect">
              <a:avLst>
                <a:gd name="adj" fmla="val 50000"/>
              </a:avLst>
            </a:prstGeom>
            <a:solidFill>
              <a:srgbClr val="243B53"/>
            </a:solidFill>
            <a:ln>
              <a:noFill/>
            </a:ln>
          </p:spPr>
        </p:sp>
        <p:sp>
          <p:nvSpPr>
            <p:cNvPr id="9" name="TextBox 9"/>
            <p:cNvSpPr txBox="1"/>
            <p:nvPr/>
          </p:nvSpPr>
          <p:spPr>
            <a:xfrm>
              <a:off x="797509" y="1743551"/>
              <a:ext cx="801472"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两类帮助设施</a:t>
              </a:r>
            </a:p>
          </p:txBody>
        </p:sp>
        <p:sp>
          <p:nvSpPr>
            <p:cNvPr id="10" name="Ellipse 10"/>
            <p:cNvSpPr/>
            <p:nvPr/>
          </p:nvSpPr>
          <p:spPr>
            <a:xfrm>
              <a:off x="728662" y="2110740"/>
              <a:ext cx="59055" cy="59055"/>
            </a:xfrm>
            <a:prstGeom prst="ellipse">
              <a:avLst/>
            </a:prstGeom>
            <a:solidFill>
              <a:srgbClr val="FFFFFF"/>
            </a:solidFill>
            <a:ln>
              <a:noFill/>
            </a:ln>
          </p:spPr>
        </p:sp>
        <p:sp>
          <p:nvSpPr>
            <p:cNvPr id="11" name="TextBox 11"/>
            <p:cNvSpPr txBox="1"/>
            <p:nvPr/>
          </p:nvSpPr>
          <p:spPr>
            <a:xfrm>
              <a:off x="884682" y="2054542"/>
              <a:ext cx="361416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FFFFFF"/>
                  </a:solidFill>
                  <a:latin typeface="+mn-lt"/>
                  <a:ea typeface="+mn-ea"/>
                  <a:cs typeface="+mn-cs"/>
                </a:rPr>
                <a:t>集成的</a:t>
              </a:r>
              <a:r>
                <a:rPr lang="zh-CN" sz="1350" dirty="0">
                  <a:solidFill>
                    <a:srgbClr val="FFFFFF"/>
                  </a:solidFill>
                  <a:latin typeface="+mn-lt"/>
                  <a:ea typeface="+mn-ea"/>
                  <a:cs typeface="+mn-cs"/>
                </a:rPr>
                <a:t>：和当前功能有关，用户一请求就给出对</a:t>
              </a:r>
              <a:br/>
              <a:r>
                <a:rPr lang="zh-CN" sz="1350" dirty="0">
                  <a:solidFill>
                    <a:srgbClr val="FFFFFF"/>
                  </a:solidFill>
                  <a:latin typeface="+mn-lt"/>
                  <a:ea typeface="+mn-ea"/>
                  <a:cs typeface="+mn-cs"/>
                </a:rPr>
                <a:t>应上下文的提示</a:t>
              </a:r>
            </a:p>
          </p:txBody>
        </p:sp>
        <p:sp>
          <p:nvSpPr>
            <p:cNvPr id="12" name="Ellipse 12"/>
            <p:cNvSpPr/>
            <p:nvPr/>
          </p:nvSpPr>
          <p:spPr>
            <a:xfrm>
              <a:off x="728662" y="2668905"/>
              <a:ext cx="59055" cy="59055"/>
            </a:xfrm>
            <a:prstGeom prst="ellipse">
              <a:avLst/>
            </a:prstGeom>
            <a:solidFill>
              <a:srgbClr val="FFFFFF"/>
            </a:solidFill>
            <a:ln>
              <a:noFill/>
            </a:ln>
          </p:spPr>
        </p:sp>
        <p:sp>
          <p:nvSpPr>
            <p:cNvPr id="13" name="TextBox 13"/>
            <p:cNvSpPr txBox="1"/>
            <p:nvPr/>
          </p:nvSpPr>
          <p:spPr>
            <a:xfrm>
              <a:off x="884682" y="2612708"/>
              <a:ext cx="361416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FFFFFF"/>
                  </a:solidFill>
                  <a:latin typeface="+mn-lt"/>
                  <a:ea typeface="+mn-ea"/>
                  <a:cs typeface="+mn-cs"/>
                </a:rPr>
                <a:t>附加的</a:t>
              </a:r>
              <a:r>
                <a:rPr lang="zh-CN" sz="1350" dirty="0">
                  <a:solidFill>
                    <a:srgbClr val="FFFFFF"/>
                  </a:solidFill>
                  <a:latin typeface="+mn-lt"/>
                  <a:ea typeface="+mn-ea"/>
                  <a:cs typeface="+mn-cs"/>
                </a:rPr>
                <a:t>：系统建成后追加的联机手册，内容全面</a:t>
              </a:r>
              <a:br/>
              <a:r>
                <a:rPr lang="zh-CN" sz="1350" dirty="0">
                  <a:solidFill>
                    <a:srgbClr val="FFFFFF"/>
                  </a:solidFill>
                  <a:latin typeface="+mn-lt"/>
                  <a:ea typeface="+mn-ea"/>
                  <a:cs typeface="+mn-cs"/>
                </a:rPr>
                <a:t>但要自己去查</a:t>
              </a:r>
            </a:p>
          </p:txBody>
        </p:sp>
        <p:sp>
          <p:nvSpPr>
            <p:cNvPr id="14" name="TextBox 14"/>
            <p:cNvSpPr txBox="1"/>
            <p:nvPr/>
          </p:nvSpPr>
          <p:spPr>
            <a:xfrm>
              <a:off x="714375" y="3165634"/>
              <a:ext cx="3177692" cy="220028"/>
            </a:xfrm>
            <a:prstGeom prst="rect">
              <a:avLst/>
            </a:prstGeom>
            <a:noFill/>
            <a:ln>
              <a:noFill/>
            </a:ln>
          </p:spPr>
          <p:txBody>
            <a:bodyPr wrap="none" lIns="0" tIns="0" rIns="0" bIns="0" anchor="t" anchorCtr="0">
              <a:spAutoFit/>
            </a:bodyPr>
            <a:lstStyle/>
            <a:p>
              <a:pPr algn="l"/>
              <a:r>
                <a:rPr lang="zh-CN" sz="1120" dirty="0">
                  <a:solidFill>
                    <a:srgbClr val="FFFFFF"/>
                  </a:solidFill>
                  <a:latin typeface="+mn-lt"/>
                  <a:ea typeface="+mn-ea"/>
                  <a:cs typeface="+mn-cs"/>
                </a:rPr>
                <a:t>集成的反应快、针对性强，设计时优先考虑它。</a:t>
              </a:r>
            </a:p>
          </p:txBody>
        </p:sp>
      </p:grpSp>
      <p:grpSp>
        <p:nvGrpSpPr>
          <p:cNvPr id="26" name="c1-card-2"/>
          <p:cNvGrpSpPr/>
          <p:nvPr/>
        </p:nvGrpSpPr>
        <p:grpSpPr>
          <a:xfrm>
            <a:off x="533400" y="3698558"/>
            <a:ext cx="4328160" cy="1785938"/>
            <a:chOff x="533400" y="3698558"/>
            <a:chExt cx="4328160" cy="1785938"/>
          </a:xfrm>
        </p:grpSpPr>
        <p:sp>
          <p:nvSpPr>
            <p:cNvPr id="16" name="Rectangle 16"/>
            <p:cNvSpPr/>
            <p:nvPr/>
          </p:nvSpPr>
          <p:spPr>
            <a:xfrm>
              <a:off x="533400" y="3698558"/>
              <a:ext cx="4328160" cy="1785938"/>
            </a:xfrm>
            <a:prstGeom prst="roundRect">
              <a:avLst>
                <a:gd name="adj" fmla="val 7467"/>
              </a:avLst>
            </a:prstGeom>
            <a:solidFill>
              <a:srgbClr val="FFFFFF"/>
            </a:solidFill>
            <a:ln w="14288">
              <a:solidFill>
                <a:srgbClr val="D9DFEA"/>
              </a:solidFill>
            </a:ln>
          </p:spPr>
        </p:sp>
        <p:sp>
          <p:nvSpPr>
            <p:cNvPr id="17" name="Rectangle 17"/>
            <p:cNvSpPr/>
            <p:nvPr/>
          </p:nvSpPr>
          <p:spPr>
            <a:xfrm>
              <a:off x="542925" y="3831908"/>
              <a:ext cx="47625" cy="1519238"/>
            </a:xfrm>
            <a:prstGeom prst="roundRect">
              <a:avLst>
                <a:gd name="adj" fmla="val 50000"/>
              </a:avLst>
            </a:prstGeom>
            <a:solidFill>
              <a:srgbClr val="5B6475"/>
            </a:solidFill>
            <a:ln>
              <a:noFill/>
            </a:ln>
          </p:spPr>
        </p:sp>
        <p:sp>
          <p:nvSpPr>
            <p:cNvPr id="18" name="Rectangle 18"/>
            <p:cNvSpPr/>
            <p:nvPr/>
          </p:nvSpPr>
          <p:spPr>
            <a:xfrm>
              <a:off x="758190" y="3885248"/>
              <a:ext cx="1329690" cy="238125"/>
            </a:xfrm>
            <a:prstGeom prst="roundRect">
              <a:avLst>
                <a:gd name="adj" fmla="val 50000"/>
              </a:avLst>
            </a:prstGeom>
            <a:solidFill>
              <a:srgbClr val="F4F6FB"/>
            </a:solidFill>
            <a:ln>
              <a:noFill/>
            </a:ln>
          </p:spPr>
        </p:sp>
        <p:sp>
          <p:nvSpPr>
            <p:cNvPr id="19" name="TextBox 19"/>
            <p:cNvSpPr txBox="1"/>
            <p:nvPr/>
          </p:nvSpPr>
          <p:spPr>
            <a:xfrm>
              <a:off x="824408" y="3918109"/>
              <a:ext cx="1197254"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三种组织结构的差别</a:t>
              </a:r>
            </a:p>
          </p:txBody>
        </p:sp>
        <p:sp>
          <p:nvSpPr>
            <p:cNvPr id="20" name="Ellipse 20"/>
            <p:cNvSpPr/>
            <p:nvPr/>
          </p:nvSpPr>
          <p:spPr>
            <a:xfrm>
              <a:off x="766762" y="4285298"/>
              <a:ext cx="59055" cy="59055"/>
            </a:xfrm>
            <a:prstGeom prst="ellipse">
              <a:avLst/>
            </a:prstGeom>
            <a:solidFill>
              <a:srgbClr val="334E68"/>
            </a:solidFill>
            <a:ln>
              <a:noFill/>
            </a:ln>
          </p:spPr>
        </p:sp>
        <p:sp>
          <p:nvSpPr>
            <p:cNvPr id="21" name="TextBox 21"/>
            <p:cNvSpPr txBox="1"/>
            <p:nvPr/>
          </p:nvSpPr>
          <p:spPr>
            <a:xfrm>
              <a:off x="922782" y="4229100"/>
              <a:ext cx="310324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平面结构</a:t>
              </a:r>
              <a:r>
                <a:rPr lang="zh-CN" sz="1350" dirty="0">
                  <a:solidFill>
                    <a:srgbClr val="1F2937"/>
                  </a:solidFill>
                  <a:latin typeface="+mn-lt"/>
                  <a:ea typeface="+mn-ea"/>
                  <a:cs typeface="+mn-cs"/>
                </a:rPr>
                <a:t>：条目并列，靠翻页或搜索找</a:t>
              </a:r>
            </a:p>
          </p:txBody>
        </p:sp>
        <p:sp>
          <p:nvSpPr>
            <p:cNvPr id="22" name="Ellipse 22"/>
            <p:cNvSpPr/>
            <p:nvPr/>
          </p:nvSpPr>
          <p:spPr>
            <a:xfrm>
              <a:off x="766762" y="4585335"/>
              <a:ext cx="59055" cy="59055"/>
            </a:xfrm>
            <a:prstGeom prst="ellipse">
              <a:avLst/>
            </a:prstGeom>
            <a:solidFill>
              <a:srgbClr val="334E68"/>
            </a:solidFill>
            <a:ln>
              <a:noFill/>
            </a:ln>
          </p:spPr>
        </p:sp>
        <p:sp>
          <p:nvSpPr>
            <p:cNvPr id="23" name="TextBox 23"/>
            <p:cNvSpPr txBox="1"/>
            <p:nvPr/>
          </p:nvSpPr>
          <p:spPr>
            <a:xfrm>
              <a:off x="922782" y="4529138"/>
              <a:ext cx="292150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层次结构</a:t>
              </a:r>
              <a:r>
                <a:rPr lang="zh-CN" sz="1350" dirty="0">
                  <a:solidFill>
                    <a:srgbClr val="1F2937"/>
                  </a:solidFill>
                  <a:latin typeface="+mn-lt"/>
                  <a:ea typeface="+mn-ea"/>
                  <a:cs typeface="+mn-cs"/>
                </a:rPr>
                <a:t>：按功能分级，逐层点进去</a:t>
              </a:r>
            </a:p>
          </p:txBody>
        </p:sp>
        <p:sp>
          <p:nvSpPr>
            <p:cNvPr id="24" name="Ellipse 24"/>
            <p:cNvSpPr/>
            <p:nvPr/>
          </p:nvSpPr>
          <p:spPr>
            <a:xfrm>
              <a:off x="766762" y="4886325"/>
              <a:ext cx="59055" cy="59055"/>
            </a:xfrm>
            <a:prstGeom prst="ellipse">
              <a:avLst/>
            </a:prstGeom>
            <a:solidFill>
              <a:srgbClr val="334E68"/>
            </a:solidFill>
            <a:ln>
              <a:noFill/>
            </a:ln>
          </p:spPr>
        </p:sp>
        <p:sp>
          <p:nvSpPr>
            <p:cNvPr id="25" name="TextBox 25"/>
            <p:cNvSpPr txBox="1"/>
            <p:nvPr/>
          </p:nvSpPr>
          <p:spPr>
            <a:xfrm>
              <a:off x="922782" y="4830128"/>
              <a:ext cx="344271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超文本结构</a:t>
              </a:r>
              <a:r>
                <a:rPr lang="zh-CN" sz="1350" dirty="0">
                  <a:solidFill>
                    <a:srgbClr val="1F2937"/>
                  </a:solidFill>
                  <a:latin typeface="+mn-lt"/>
                  <a:ea typeface="+mn-ea"/>
                  <a:cs typeface="+mn-cs"/>
                </a:rPr>
                <a:t>：条目互相链接，可从任一条跳到</a:t>
              </a:r>
              <a:br/>
              <a:r>
                <a:rPr lang="zh-CN" sz="1350" dirty="0">
                  <a:solidFill>
                    <a:srgbClr val="1F2937"/>
                  </a:solidFill>
                  <a:latin typeface="+mn-lt"/>
                  <a:ea typeface="+mn-ea"/>
                  <a:cs typeface="+mn-cs"/>
                </a:rPr>
                <a:t>相关条目</a:t>
              </a:r>
            </a:p>
          </p:txBody>
        </p:sp>
      </p:grpSp>
      <p:grpSp>
        <p:nvGrpSpPr>
          <p:cNvPr id="48" name="c2-table-1"/>
          <p:cNvGrpSpPr/>
          <p:nvPr/>
        </p:nvGrpSpPr>
        <p:grpSpPr>
          <a:xfrm>
            <a:off x="5166360" y="1524000"/>
            <a:ext cx="6492240" cy="2800350"/>
            <a:chOff x="5166360" y="1524000"/>
            <a:chExt cx="6492240" cy="2800350"/>
          </a:xfrm>
        </p:grpSpPr>
        <p:sp>
          <p:nvSpPr>
            <p:cNvPr id="27" name="Rectangle 27"/>
            <p:cNvSpPr/>
            <p:nvPr/>
          </p:nvSpPr>
          <p:spPr>
            <a:xfrm>
              <a:off x="5166360" y="1524000"/>
              <a:ext cx="6492240" cy="400050"/>
            </a:xfrm>
            <a:prstGeom prst="rect">
              <a:avLst/>
            </a:prstGeom>
            <a:solidFill>
              <a:srgbClr val="334E68"/>
            </a:solidFill>
            <a:ln>
              <a:noFill/>
            </a:ln>
          </p:spPr>
        </p:sp>
        <p:sp>
          <p:nvSpPr>
            <p:cNvPr id="28" name="TextBox 28"/>
            <p:cNvSpPr txBox="1"/>
            <p:nvPr/>
          </p:nvSpPr>
          <p:spPr>
            <a:xfrm>
              <a:off x="6061685" y="1645444"/>
              <a:ext cx="106685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必须解决的问题</a:t>
              </a:r>
            </a:p>
          </p:txBody>
        </p:sp>
        <p:sp>
          <p:nvSpPr>
            <p:cNvPr id="29" name="TextBox 29"/>
            <p:cNvSpPr txBox="1"/>
            <p:nvPr/>
          </p:nvSpPr>
          <p:spPr>
            <a:xfrm>
              <a:off x="9533966" y="1645444"/>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可选做法</a:t>
              </a:r>
            </a:p>
          </p:txBody>
        </p:sp>
        <p:sp>
          <p:nvSpPr>
            <p:cNvPr id="30" name="TextBox 30"/>
            <p:cNvSpPr txBox="1"/>
            <p:nvPr/>
          </p:nvSpPr>
          <p:spPr>
            <a:xfrm>
              <a:off x="5263515" y="2045494"/>
              <a:ext cx="2429510" cy="420052"/>
            </a:xfrm>
            <a:prstGeom prst="rect">
              <a:avLst/>
            </a:prstGeom>
            <a:noFill/>
            <a:ln>
              <a:noFill/>
            </a:ln>
          </p:spPr>
          <p:txBody>
            <a:bodyPr wrap="none" lIns="0" tIns="0" rIns="0" bIns="0" anchor="t" anchorCtr="0">
              <a:spAutoFit/>
            </a:bodyPr>
            <a:lstStyle/>
            <a:p>
              <a:pPr algn="l">
                <a:lnSpc>
                  <a:spcPts val="1575"/>
                </a:lnSpc>
              </a:pPr>
              <a:r>
                <a:rPr lang="zh-CN" sz="1120" b="1" dirty="0">
                  <a:solidFill>
                    <a:srgbClr val="1F2937"/>
                  </a:solidFill>
                  <a:latin typeface="+mn-lt"/>
                  <a:ea typeface="+mn-ea"/>
                  <a:cs typeface="+mn-cs"/>
                </a:rPr>
                <a:t>在交互期间是否任何时候都能获得任何</a:t>
              </a:r>
              <a:br/>
              <a:r>
                <a:rPr lang="zh-CN" sz="1120" b="1" dirty="0">
                  <a:solidFill>
                    <a:srgbClr val="1F2937"/>
                  </a:solidFill>
                  <a:latin typeface="+mn-lt"/>
                  <a:ea typeface="+mn-ea"/>
                  <a:cs typeface="+mn-cs"/>
                </a:rPr>
                <a:t>功能的帮助</a:t>
              </a:r>
            </a:p>
          </p:txBody>
        </p:sp>
        <p:sp>
          <p:nvSpPr>
            <p:cNvPr id="31" name="TextBox 31"/>
            <p:cNvSpPr txBox="1"/>
            <p:nvPr/>
          </p:nvSpPr>
          <p:spPr>
            <a:xfrm>
              <a:off x="8120062" y="2045494"/>
              <a:ext cx="328295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只提供部分功能的帮助信息｜提供全部功能的帮助信</a:t>
              </a:r>
              <a:br/>
              <a:r>
                <a:rPr lang="zh-CN" sz="1120" dirty="0">
                  <a:solidFill>
                    <a:srgbClr val="1F2937"/>
                  </a:solidFill>
                  <a:latin typeface="+mn-lt"/>
                  <a:ea typeface="+mn-ea"/>
                  <a:cs typeface="+mn-cs"/>
                </a:rPr>
                <a:t>息</a:t>
              </a:r>
            </a:p>
          </p:txBody>
        </p:sp>
        <p:sp>
          <p:nvSpPr>
            <p:cNvPr id="32" name="Rectangle 32"/>
            <p:cNvSpPr/>
            <p:nvPr/>
          </p:nvSpPr>
          <p:spPr>
            <a:xfrm>
              <a:off x="5166360" y="2519362"/>
              <a:ext cx="6492240" cy="9525"/>
            </a:xfrm>
            <a:prstGeom prst="rect">
              <a:avLst/>
            </a:prstGeom>
            <a:solidFill>
              <a:srgbClr val="D9DFEA"/>
            </a:solidFill>
            <a:ln>
              <a:noFill/>
            </a:ln>
          </p:spPr>
        </p:sp>
        <p:sp>
          <p:nvSpPr>
            <p:cNvPr id="33" name="Rectangle 33"/>
            <p:cNvSpPr/>
            <p:nvPr/>
          </p:nvSpPr>
          <p:spPr>
            <a:xfrm>
              <a:off x="5166360" y="2524125"/>
              <a:ext cx="6492240" cy="400050"/>
            </a:xfrm>
            <a:prstGeom prst="rect">
              <a:avLst/>
            </a:prstGeom>
            <a:solidFill>
              <a:srgbClr val="F4F6FB"/>
            </a:solidFill>
            <a:ln>
              <a:noFill/>
            </a:ln>
          </p:spPr>
        </p:sp>
        <p:sp>
          <p:nvSpPr>
            <p:cNvPr id="34" name="TextBox 34"/>
            <p:cNvSpPr txBox="1"/>
            <p:nvPr/>
          </p:nvSpPr>
          <p:spPr>
            <a:xfrm>
              <a:off x="5263515" y="2645569"/>
              <a:ext cx="1217625"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用户怎样请求帮助</a:t>
              </a:r>
            </a:p>
          </p:txBody>
        </p:sp>
        <p:sp>
          <p:nvSpPr>
            <p:cNvPr id="35" name="TextBox 35"/>
            <p:cNvSpPr txBox="1"/>
            <p:nvPr/>
          </p:nvSpPr>
          <p:spPr>
            <a:xfrm>
              <a:off x="8120062" y="2645569"/>
              <a:ext cx="236976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帮助菜单｜特殊功能键｜HELP 命令</a:t>
              </a:r>
            </a:p>
          </p:txBody>
        </p:sp>
        <p:sp>
          <p:nvSpPr>
            <p:cNvPr id="36" name="Rectangle 36"/>
            <p:cNvSpPr/>
            <p:nvPr/>
          </p:nvSpPr>
          <p:spPr>
            <a:xfrm>
              <a:off x="5166360" y="2919412"/>
              <a:ext cx="6492240" cy="9525"/>
            </a:xfrm>
            <a:prstGeom prst="rect">
              <a:avLst/>
            </a:prstGeom>
            <a:solidFill>
              <a:srgbClr val="D9DFEA"/>
            </a:solidFill>
            <a:ln>
              <a:noFill/>
            </a:ln>
          </p:spPr>
        </p:sp>
        <p:sp>
          <p:nvSpPr>
            <p:cNvPr id="37" name="TextBox 37"/>
            <p:cNvSpPr txBox="1"/>
            <p:nvPr/>
          </p:nvSpPr>
          <p:spPr>
            <a:xfrm>
              <a:off x="5263515" y="3145631"/>
              <a:ext cx="1217625"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怎样显示帮助信息</a:t>
              </a:r>
            </a:p>
          </p:txBody>
        </p:sp>
        <p:sp>
          <p:nvSpPr>
            <p:cNvPr id="38" name="TextBox 38"/>
            <p:cNvSpPr txBox="1"/>
            <p:nvPr/>
          </p:nvSpPr>
          <p:spPr>
            <a:xfrm>
              <a:off x="8120062" y="3045619"/>
              <a:ext cx="328295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在独立的窗口中｜指出参考某个文档｜在屏幕固定位</a:t>
              </a:r>
              <a:br/>
              <a:r>
                <a:rPr lang="zh-CN" sz="1120" dirty="0">
                  <a:solidFill>
                    <a:srgbClr val="1F2937"/>
                  </a:solidFill>
                  <a:latin typeface="+mn-lt"/>
                  <a:ea typeface="+mn-ea"/>
                  <a:cs typeface="+mn-cs"/>
                </a:rPr>
                <a:t>置显示简短提示</a:t>
              </a:r>
            </a:p>
          </p:txBody>
        </p:sp>
        <p:sp>
          <p:nvSpPr>
            <p:cNvPr id="39" name="Rectangle 39"/>
            <p:cNvSpPr/>
            <p:nvPr/>
          </p:nvSpPr>
          <p:spPr>
            <a:xfrm>
              <a:off x="5166360" y="3519488"/>
              <a:ext cx="6492240" cy="9525"/>
            </a:xfrm>
            <a:prstGeom prst="rect">
              <a:avLst/>
            </a:prstGeom>
            <a:solidFill>
              <a:srgbClr val="D9DFEA"/>
            </a:solidFill>
            <a:ln>
              <a:noFill/>
            </a:ln>
          </p:spPr>
        </p:sp>
        <p:sp>
          <p:nvSpPr>
            <p:cNvPr id="40" name="Rectangle 40"/>
            <p:cNvSpPr/>
            <p:nvPr/>
          </p:nvSpPr>
          <p:spPr>
            <a:xfrm>
              <a:off x="5166360" y="3524250"/>
              <a:ext cx="6492240" cy="400050"/>
            </a:xfrm>
            <a:prstGeom prst="rect">
              <a:avLst/>
            </a:prstGeom>
            <a:solidFill>
              <a:srgbClr val="F4F6FB"/>
            </a:solidFill>
            <a:ln>
              <a:noFill/>
            </a:ln>
          </p:spPr>
        </p:sp>
        <p:sp>
          <p:nvSpPr>
            <p:cNvPr id="41" name="TextBox 41"/>
            <p:cNvSpPr txBox="1"/>
            <p:nvPr/>
          </p:nvSpPr>
          <p:spPr>
            <a:xfrm>
              <a:off x="5263515" y="3645694"/>
              <a:ext cx="212227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用户怎样返回到正常的交互方式</a:t>
              </a:r>
            </a:p>
          </p:txBody>
        </p:sp>
        <p:sp>
          <p:nvSpPr>
            <p:cNvPr id="42" name="TextBox 42"/>
            <p:cNvSpPr txBox="1"/>
            <p:nvPr/>
          </p:nvSpPr>
          <p:spPr>
            <a:xfrm>
              <a:off x="8120062" y="3645694"/>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屏幕上的返回按钮｜功能键</a:t>
              </a:r>
            </a:p>
          </p:txBody>
        </p:sp>
        <p:sp>
          <p:nvSpPr>
            <p:cNvPr id="43" name="Rectangle 43"/>
            <p:cNvSpPr/>
            <p:nvPr/>
          </p:nvSpPr>
          <p:spPr>
            <a:xfrm>
              <a:off x="5166360" y="3919538"/>
              <a:ext cx="6492240" cy="9525"/>
            </a:xfrm>
            <a:prstGeom prst="rect">
              <a:avLst/>
            </a:prstGeom>
            <a:solidFill>
              <a:srgbClr val="D9DFEA"/>
            </a:solidFill>
            <a:ln>
              <a:noFill/>
            </a:ln>
          </p:spPr>
        </p:sp>
        <p:sp>
          <p:nvSpPr>
            <p:cNvPr id="44" name="TextBox 44"/>
            <p:cNvSpPr txBox="1"/>
            <p:nvPr/>
          </p:nvSpPr>
          <p:spPr>
            <a:xfrm>
              <a:off x="5263515" y="4045744"/>
              <a:ext cx="1217625"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怎样组织帮助信息</a:t>
              </a:r>
            </a:p>
          </p:txBody>
        </p:sp>
        <p:sp>
          <p:nvSpPr>
            <p:cNvPr id="45" name="TextBox 45"/>
            <p:cNvSpPr txBox="1"/>
            <p:nvPr/>
          </p:nvSpPr>
          <p:spPr>
            <a:xfrm>
              <a:off x="8120062" y="4045744"/>
              <a:ext cx="272536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平面结构｜信息的层次结构｜超文本结构</a:t>
              </a:r>
            </a:p>
          </p:txBody>
        </p:sp>
        <p:sp>
          <p:nvSpPr>
            <p:cNvPr id="46" name="Rectangle 46"/>
            <p:cNvSpPr/>
            <p:nvPr/>
          </p:nvSpPr>
          <p:spPr>
            <a:xfrm>
              <a:off x="5166360" y="1524000"/>
              <a:ext cx="6492240" cy="2800350"/>
            </a:xfrm>
            <a:prstGeom prst="rect">
              <a:avLst/>
            </a:prstGeom>
            <a:noFill/>
            <a:ln w="14288">
              <a:solidFill>
                <a:srgbClr val="D9DFEA"/>
              </a:solidFill>
            </a:ln>
          </p:spPr>
        </p:sp>
        <p:sp>
          <p:nvSpPr>
            <p:cNvPr id="47" name="Rectangle 47"/>
            <p:cNvSpPr/>
            <p:nvPr/>
          </p:nvSpPr>
          <p:spPr>
            <a:xfrm>
              <a:off x="8018145" y="1524000"/>
              <a:ext cx="9525" cy="2800350"/>
            </a:xfrm>
            <a:prstGeom prst="rect">
              <a:avLst/>
            </a:prstGeom>
            <a:solidFill>
              <a:srgbClr val="D9DFEA"/>
            </a:solidFill>
            <a:ln>
              <a:noFill/>
            </a:ln>
          </p:spPr>
        </p:sp>
      </p:grpSp>
      <p:grpSp>
        <p:nvGrpSpPr>
          <p:cNvPr id="54" name="c2-callout-2"/>
          <p:cNvGrpSpPr/>
          <p:nvPr/>
        </p:nvGrpSpPr>
        <p:grpSpPr>
          <a:xfrm>
            <a:off x="5166360" y="4493895"/>
            <a:ext cx="6492240" cy="990600"/>
            <a:chOff x="5166360" y="4493895"/>
            <a:chExt cx="6492240" cy="990600"/>
          </a:xfrm>
        </p:grpSpPr>
        <p:sp>
          <p:nvSpPr>
            <p:cNvPr id="49" name="Rectangle 49"/>
            <p:cNvSpPr/>
            <p:nvPr/>
          </p:nvSpPr>
          <p:spPr>
            <a:xfrm>
              <a:off x="5166360" y="4493895"/>
              <a:ext cx="6492240" cy="990600"/>
            </a:xfrm>
            <a:prstGeom prst="roundRect">
              <a:avLst>
                <a:gd name="adj" fmla="val 11538"/>
              </a:avLst>
            </a:prstGeom>
            <a:solidFill>
              <a:srgbClr val="334E68"/>
            </a:solidFill>
            <a:ln>
              <a:noFill/>
            </a:ln>
          </p:spPr>
        </p:sp>
        <p:grpSp>
          <p:nvGrpSpPr>
            <p:cNvPr id="52" name="Group 52"/>
            <p:cNvGrpSpPr/>
            <p:nvPr/>
          </p:nvGrpSpPr>
          <p:grpSpPr>
            <a:xfrm>
              <a:off x="5371148" y="4889185"/>
              <a:ext cx="200023" cy="200023"/>
              <a:chOff x="5371148" y="4889185"/>
              <a:chExt cx="200023" cy="200023"/>
            </a:xfrm>
          </p:grpSpPr>
          <p:sp>
            <p:nvSpPr>
              <p:cNvPr id="50" name="Freeform 50"/>
              <p:cNvSpPr/>
              <p:nvPr/>
            </p:nvSpPr>
            <p:spPr>
              <a:xfrm>
                <a:off x="5371148" y="488918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1" name="Freeform 51"/>
              <p:cNvSpPr/>
              <p:nvPr/>
            </p:nvSpPr>
            <p:spPr>
              <a:xfrm>
                <a:off x="5504498" y="495585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3" name="TextBox 53"/>
            <p:cNvSpPr txBox="1"/>
            <p:nvPr/>
          </p:nvSpPr>
          <p:spPr>
            <a:xfrm>
              <a:off x="5673852" y="4771072"/>
              <a:ext cx="5517261"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五个问题按"什么时候有、怎么叫出来、怎么显示、怎么退出、怎么组织"</a:t>
              </a:r>
              <a:br/>
              <a:r>
                <a:rPr lang="zh-CN" sz="1350" dirty="0">
                  <a:solidFill>
                    <a:srgbClr val="FFFFFF"/>
                  </a:solidFill>
                  <a:latin typeface="+mn-lt"/>
                  <a:ea typeface="+mn-ea"/>
                  <a:cs typeface="+mn-cs"/>
                </a:rPr>
                <a:t>的顺序记。</a:t>
              </a:r>
            </a:p>
          </p:txBody>
        </p:sp>
      </p:grpSp>
      <p:grpSp>
        <p:nvGrpSpPr>
          <p:cNvPr id="61" name="takeaway"/>
          <p:cNvGrpSpPr/>
          <p:nvPr/>
        </p:nvGrpSpPr>
        <p:grpSpPr>
          <a:xfrm>
            <a:off x="533400" y="5881688"/>
            <a:ext cx="11125200" cy="481012"/>
            <a:chOff x="533400" y="5881688"/>
            <a:chExt cx="11125200" cy="481012"/>
          </a:xfrm>
        </p:grpSpPr>
        <p:sp>
          <p:nvSpPr>
            <p:cNvPr id="55" name="Rectangle 55"/>
            <p:cNvSpPr/>
            <p:nvPr/>
          </p:nvSpPr>
          <p:spPr>
            <a:xfrm>
              <a:off x="533400" y="5881688"/>
              <a:ext cx="11125200" cy="481012"/>
            </a:xfrm>
            <a:prstGeom prst="roundRect">
              <a:avLst>
                <a:gd name="adj" fmla="val 23762"/>
              </a:avLst>
            </a:prstGeom>
            <a:solidFill>
              <a:srgbClr val="FDEEE7"/>
            </a:solidFill>
            <a:ln>
              <a:noFill/>
            </a:ln>
          </p:spPr>
        </p:sp>
        <p:grpSp>
          <p:nvGrpSpPr>
            <p:cNvPr id="59" name="Group 59"/>
            <p:cNvGrpSpPr/>
            <p:nvPr/>
          </p:nvGrpSpPr>
          <p:grpSpPr>
            <a:xfrm>
              <a:off x="738188" y="6022658"/>
              <a:ext cx="200026" cy="200025"/>
              <a:chOff x="738188" y="6022658"/>
              <a:chExt cx="200026" cy="200025"/>
            </a:xfrm>
          </p:grpSpPr>
          <p:sp>
            <p:nvSpPr>
              <p:cNvPr id="56" name="Freeform 56"/>
              <p:cNvSpPr/>
              <p:nvPr/>
            </p:nvSpPr>
            <p:spPr>
              <a:xfrm>
                <a:off x="738188" y="602265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57" name="Freeform 57"/>
              <p:cNvSpPr/>
              <p:nvPr/>
            </p:nvSpPr>
            <p:spPr>
              <a:xfrm>
                <a:off x="777926" y="606710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58" name="Freeform 58"/>
              <p:cNvSpPr/>
              <p:nvPr/>
            </p:nvSpPr>
            <p:spPr>
              <a:xfrm>
                <a:off x="812642" y="617823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60" name="TextBox 60"/>
            <p:cNvSpPr txBox="1"/>
            <p:nvPr/>
          </p:nvSpPr>
          <p:spPr>
            <a:xfrm>
              <a:off x="1040892" y="6028373"/>
              <a:ext cx="7464933" cy="264033"/>
            </a:xfrm>
            <a:prstGeom prst="rect">
              <a:avLst/>
            </a:prstGeom>
            <a:noFill/>
            <a:ln>
              <a:noFill/>
            </a:ln>
          </p:spPr>
          <p:txBody>
            <a:bodyPr wrap="none" lIns="0" tIns="0" rIns="0" bIns="0" anchor="t" anchorCtr="0">
              <a:spAutoFit/>
            </a:bodyPr>
            <a:lstStyle/>
            <a:p>
              <a:pPr algn="l"/>
              <a:r>
                <a:rPr lang="zh-CN" sz="1350" dirty="0">
                  <a:solidFill>
                    <a:srgbClr val="C2410C"/>
                  </a:solidFill>
                  <a:latin typeface="+mn-lt"/>
                  <a:ea typeface="+mn-ea"/>
                  <a:cs typeface="+mn-cs"/>
                </a:rPr>
                <a:t>帮助设施要在界面设计阶段和界面一起定下来，等系统做完再补，只能补成附加的联机手册。</a:t>
              </a:r>
            </a:p>
          </p:txBody>
        </p:sp>
      </p:grpSp>
      <p:grpSp>
        <p:nvGrpSpPr>
          <p:cNvPr id="64" name="footer"/>
          <p:cNvGrpSpPr/>
          <p:nvPr/>
        </p:nvGrpSpPr>
        <p:grpSpPr>
          <a:xfrm>
            <a:off x="528447" y="6581299"/>
            <a:ext cx="11135106" cy="190690"/>
            <a:chOff x="528447" y="6581299"/>
            <a:chExt cx="11135106" cy="190690"/>
          </a:xfrm>
        </p:grpSpPr>
        <p:sp>
          <p:nvSpPr>
            <p:cNvPr id="62" name="TextBox 62"/>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63" name="TextBox 6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234809" cy="909257"/>
            <a:chOff x="520446" y="342900"/>
            <a:chExt cx="7234809"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人机界面设计</a:t>
              </a:r>
            </a:p>
          </p:txBody>
        </p:sp>
        <p:sp>
          <p:nvSpPr>
            <p:cNvPr id="4" name="TextBox 4"/>
            <p:cNvSpPr txBox="1"/>
            <p:nvPr/>
          </p:nvSpPr>
          <p:spPr>
            <a:xfrm>
              <a:off x="520446" y="753428"/>
              <a:ext cx="723480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出错信息要帮用户脱身，命令交互要省用户记忆</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7" name="c1-card-1"/>
          <p:cNvGrpSpPr/>
          <p:nvPr/>
        </p:nvGrpSpPr>
        <p:grpSpPr>
          <a:xfrm>
            <a:off x="533400" y="1524000"/>
            <a:ext cx="5410200" cy="2145982"/>
            <a:chOff x="533400" y="1524000"/>
            <a:chExt cx="5410200" cy="2145982"/>
          </a:xfrm>
        </p:grpSpPr>
        <p:sp>
          <p:nvSpPr>
            <p:cNvPr id="7" name="Rectangle 7"/>
            <p:cNvSpPr/>
            <p:nvPr/>
          </p:nvSpPr>
          <p:spPr>
            <a:xfrm>
              <a:off x="533400" y="1524000"/>
              <a:ext cx="5410200" cy="2145982"/>
            </a:xfrm>
            <a:prstGeom prst="roundRect">
              <a:avLst>
                <a:gd name="adj" fmla="val 6214"/>
              </a:avLst>
            </a:prstGeom>
            <a:solidFill>
              <a:srgbClr val="FFFFFF"/>
            </a:solidFill>
            <a:ln w="14288">
              <a:solidFill>
                <a:srgbClr val="D9DFEA"/>
              </a:solidFill>
            </a:ln>
          </p:spPr>
        </p:sp>
        <p:sp>
          <p:nvSpPr>
            <p:cNvPr id="8" name="Rectangle 8"/>
            <p:cNvSpPr/>
            <p:nvPr/>
          </p:nvSpPr>
          <p:spPr>
            <a:xfrm>
              <a:off x="542925" y="1657350"/>
              <a:ext cx="47625" cy="1879282"/>
            </a:xfrm>
            <a:prstGeom prst="roundRect">
              <a:avLst>
                <a:gd name="adj" fmla="val 50000"/>
              </a:avLst>
            </a:prstGeom>
            <a:solidFill>
              <a:srgbClr val="B42318"/>
            </a:solidFill>
            <a:ln>
              <a:noFill/>
            </a:ln>
          </p:spPr>
        </p:sp>
        <p:sp>
          <p:nvSpPr>
            <p:cNvPr id="9" name="Rectangle 9"/>
            <p:cNvSpPr/>
            <p:nvPr/>
          </p:nvSpPr>
          <p:spPr>
            <a:xfrm>
              <a:off x="758190" y="1710690"/>
              <a:ext cx="956310" cy="238125"/>
            </a:xfrm>
            <a:prstGeom prst="roundRect">
              <a:avLst>
                <a:gd name="adj" fmla="val 50000"/>
              </a:avLst>
            </a:prstGeom>
            <a:solidFill>
              <a:srgbClr val="FDECEA"/>
            </a:solidFill>
            <a:ln>
              <a:noFill/>
            </a:ln>
          </p:spPr>
        </p:sp>
        <p:sp>
          <p:nvSpPr>
            <p:cNvPr id="10" name="TextBox 10"/>
            <p:cNvSpPr txBox="1"/>
            <p:nvPr/>
          </p:nvSpPr>
          <p:spPr>
            <a:xfrm>
              <a:off x="835609" y="1743551"/>
              <a:ext cx="801472"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出错信息处理</a:t>
              </a:r>
            </a:p>
          </p:txBody>
        </p:sp>
        <p:sp>
          <p:nvSpPr>
            <p:cNvPr id="11" name="TextBox 11"/>
            <p:cNvSpPr txBox="1"/>
            <p:nvPr/>
          </p:nvSpPr>
          <p:spPr>
            <a:xfrm>
              <a:off x="1821942" y="1745932"/>
              <a:ext cx="2739771"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出错或警告信息应具备的五条属性</a:t>
              </a:r>
            </a:p>
          </p:txBody>
        </p:sp>
        <p:sp>
          <p:nvSpPr>
            <p:cNvPr id="12" name="Ellipse 12"/>
            <p:cNvSpPr/>
            <p:nvPr/>
          </p:nvSpPr>
          <p:spPr>
            <a:xfrm>
              <a:off x="758190" y="2059305"/>
              <a:ext cx="192405" cy="192405"/>
            </a:xfrm>
            <a:prstGeom prst="ellipse">
              <a:avLst/>
            </a:prstGeom>
            <a:solidFill>
              <a:srgbClr val="334E68"/>
            </a:solidFill>
            <a:ln>
              <a:noFill/>
            </a:ln>
          </p:spPr>
        </p:sp>
        <p:sp>
          <p:nvSpPr>
            <p:cNvPr id="13" name="TextBox 13"/>
            <p:cNvSpPr txBox="1"/>
            <p:nvPr/>
          </p:nvSpPr>
          <p:spPr>
            <a:xfrm>
              <a:off x="813868" y="209769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14" name="TextBox 14"/>
            <p:cNvSpPr txBox="1"/>
            <p:nvPr/>
          </p:nvSpPr>
          <p:spPr>
            <a:xfrm>
              <a:off x="1038987" y="2071688"/>
              <a:ext cx="255803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用用户可以理解的术语描述问题</a:t>
              </a:r>
            </a:p>
          </p:txBody>
        </p:sp>
        <p:sp>
          <p:nvSpPr>
            <p:cNvPr id="15" name="Ellipse 15"/>
            <p:cNvSpPr/>
            <p:nvPr/>
          </p:nvSpPr>
          <p:spPr>
            <a:xfrm>
              <a:off x="758190" y="2359342"/>
              <a:ext cx="192405" cy="192405"/>
            </a:xfrm>
            <a:prstGeom prst="ellipse">
              <a:avLst/>
            </a:prstGeom>
            <a:solidFill>
              <a:srgbClr val="334E68"/>
            </a:solidFill>
            <a:ln>
              <a:noFill/>
            </a:ln>
          </p:spPr>
        </p:sp>
        <p:sp>
          <p:nvSpPr>
            <p:cNvPr id="16" name="TextBox 16"/>
            <p:cNvSpPr txBox="1"/>
            <p:nvPr/>
          </p:nvSpPr>
          <p:spPr>
            <a:xfrm>
              <a:off x="813868" y="239868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17" name="TextBox 17"/>
            <p:cNvSpPr txBox="1"/>
            <p:nvPr/>
          </p:nvSpPr>
          <p:spPr>
            <a:xfrm>
              <a:off x="1038987" y="2371725"/>
              <a:ext cx="310324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提供有助于从错误中恢复的建设性意见</a:t>
              </a:r>
            </a:p>
          </p:txBody>
        </p:sp>
        <p:sp>
          <p:nvSpPr>
            <p:cNvPr id="18" name="Ellipse 18"/>
            <p:cNvSpPr/>
            <p:nvPr/>
          </p:nvSpPr>
          <p:spPr>
            <a:xfrm>
              <a:off x="758190" y="2660332"/>
              <a:ext cx="192405" cy="192405"/>
            </a:xfrm>
            <a:prstGeom prst="ellipse">
              <a:avLst/>
            </a:prstGeom>
            <a:solidFill>
              <a:srgbClr val="334E68"/>
            </a:solidFill>
            <a:ln>
              <a:noFill/>
            </a:ln>
          </p:spPr>
        </p:sp>
        <p:sp>
          <p:nvSpPr>
            <p:cNvPr id="19" name="TextBox 19"/>
            <p:cNvSpPr txBox="1"/>
            <p:nvPr/>
          </p:nvSpPr>
          <p:spPr>
            <a:xfrm>
              <a:off x="813868" y="269871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20" name="TextBox 20"/>
            <p:cNvSpPr txBox="1"/>
            <p:nvPr/>
          </p:nvSpPr>
          <p:spPr>
            <a:xfrm>
              <a:off x="1038987" y="2671762"/>
              <a:ext cx="255803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指出错误可能导致哪些负面后果</a:t>
              </a:r>
            </a:p>
          </p:txBody>
        </p:sp>
        <p:sp>
          <p:nvSpPr>
            <p:cNvPr id="21" name="Ellipse 21"/>
            <p:cNvSpPr/>
            <p:nvPr/>
          </p:nvSpPr>
          <p:spPr>
            <a:xfrm>
              <a:off x="758190" y="2960370"/>
              <a:ext cx="192405" cy="192405"/>
            </a:xfrm>
            <a:prstGeom prst="ellipse">
              <a:avLst/>
            </a:prstGeom>
            <a:solidFill>
              <a:srgbClr val="334E68"/>
            </a:solidFill>
            <a:ln>
              <a:noFill/>
            </a:ln>
          </p:spPr>
        </p:sp>
        <p:sp>
          <p:nvSpPr>
            <p:cNvPr id="22" name="TextBox 22"/>
            <p:cNvSpPr txBox="1"/>
            <p:nvPr/>
          </p:nvSpPr>
          <p:spPr>
            <a:xfrm>
              <a:off x="813868" y="299875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4</a:t>
              </a:r>
            </a:p>
          </p:txBody>
        </p:sp>
        <p:sp>
          <p:nvSpPr>
            <p:cNvPr id="23" name="TextBox 23"/>
            <p:cNvSpPr txBox="1"/>
            <p:nvPr/>
          </p:nvSpPr>
          <p:spPr>
            <a:xfrm>
              <a:off x="1038987" y="2972752"/>
              <a:ext cx="237629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伴随着听觉上或视觉上的提示</a:t>
              </a:r>
            </a:p>
          </p:txBody>
        </p:sp>
        <p:sp>
          <p:nvSpPr>
            <p:cNvPr id="24" name="Ellipse 24"/>
            <p:cNvSpPr/>
            <p:nvPr/>
          </p:nvSpPr>
          <p:spPr>
            <a:xfrm>
              <a:off x="758190" y="3260407"/>
              <a:ext cx="192405" cy="192405"/>
            </a:xfrm>
            <a:prstGeom prst="ellipse">
              <a:avLst/>
            </a:prstGeom>
            <a:solidFill>
              <a:srgbClr val="334E68"/>
            </a:solidFill>
            <a:ln>
              <a:noFill/>
            </a:ln>
          </p:spPr>
        </p:sp>
        <p:sp>
          <p:nvSpPr>
            <p:cNvPr id="25" name="TextBox 25"/>
            <p:cNvSpPr txBox="1"/>
            <p:nvPr/>
          </p:nvSpPr>
          <p:spPr>
            <a:xfrm>
              <a:off x="813868" y="329879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5</a:t>
              </a:r>
            </a:p>
          </p:txBody>
        </p:sp>
        <p:sp>
          <p:nvSpPr>
            <p:cNvPr id="26" name="TextBox 26"/>
            <p:cNvSpPr txBox="1"/>
            <p:nvPr/>
          </p:nvSpPr>
          <p:spPr>
            <a:xfrm>
              <a:off x="1038987" y="3272790"/>
              <a:ext cx="146761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不能带有指责色彩</a:t>
              </a:r>
            </a:p>
          </p:txBody>
        </p:sp>
      </p:grpSp>
      <p:grpSp>
        <p:nvGrpSpPr>
          <p:cNvPr id="42" name="c1-table-2"/>
          <p:cNvGrpSpPr/>
          <p:nvPr/>
        </p:nvGrpSpPr>
        <p:grpSpPr>
          <a:xfrm>
            <a:off x="533400" y="3840480"/>
            <a:ext cx="5410200" cy="1800225"/>
            <a:chOff x="533400" y="3840480"/>
            <a:chExt cx="5410200" cy="1800225"/>
          </a:xfrm>
        </p:grpSpPr>
        <p:sp>
          <p:nvSpPr>
            <p:cNvPr id="28" name="Rectangle 28"/>
            <p:cNvSpPr/>
            <p:nvPr/>
          </p:nvSpPr>
          <p:spPr>
            <a:xfrm>
              <a:off x="533400" y="3840480"/>
              <a:ext cx="5410200" cy="400050"/>
            </a:xfrm>
            <a:prstGeom prst="rect">
              <a:avLst/>
            </a:prstGeom>
            <a:solidFill>
              <a:srgbClr val="334E68"/>
            </a:solidFill>
            <a:ln>
              <a:noFill/>
            </a:ln>
          </p:spPr>
        </p:sp>
        <p:sp>
          <p:nvSpPr>
            <p:cNvPr id="29" name="TextBox 29"/>
            <p:cNvSpPr txBox="1"/>
            <p:nvPr/>
          </p:nvSpPr>
          <p:spPr>
            <a:xfrm>
              <a:off x="1060920" y="3961924"/>
              <a:ext cx="1217625"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不合格的出错信息</a:t>
              </a:r>
            </a:p>
          </p:txBody>
        </p:sp>
        <p:sp>
          <p:nvSpPr>
            <p:cNvPr id="30" name="TextBox 30"/>
            <p:cNvSpPr txBox="1"/>
            <p:nvPr/>
          </p:nvSpPr>
          <p:spPr>
            <a:xfrm>
              <a:off x="3841407" y="3961924"/>
              <a:ext cx="106685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合格的出错信息</a:t>
              </a:r>
            </a:p>
          </p:txBody>
        </p:sp>
        <p:sp>
          <p:nvSpPr>
            <p:cNvPr id="31" name="TextBox 31"/>
            <p:cNvSpPr txBox="1"/>
            <p:nvPr/>
          </p:nvSpPr>
          <p:spPr>
            <a:xfrm>
              <a:off x="630555" y="4461986"/>
              <a:ext cx="1394714"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ERROR 0x8007007E</a:t>
              </a:r>
            </a:p>
          </p:txBody>
        </p:sp>
        <p:sp>
          <p:nvSpPr>
            <p:cNvPr id="32" name="TextBox 32"/>
            <p:cNvSpPr txBox="1"/>
            <p:nvPr/>
          </p:nvSpPr>
          <p:spPr>
            <a:xfrm>
              <a:off x="2903220" y="4361974"/>
              <a:ext cx="271399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该文件正被别的程序打开，关闭它后可以重</a:t>
              </a:r>
              <a:br/>
              <a:r>
                <a:rPr lang="zh-CN" sz="1120" dirty="0">
                  <a:solidFill>
                    <a:srgbClr val="1F2937"/>
                  </a:solidFill>
                  <a:latin typeface="+mn-lt"/>
                  <a:ea typeface="+mn-ea"/>
                  <a:cs typeface="+mn-cs"/>
                </a:rPr>
                <a:t>试</a:t>
              </a:r>
            </a:p>
          </p:txBody>
        </p:sp>
        <p:sp>
          <p:nvSpPr>
            <p:cNvPr id="33" name="Rectangle 33"/>
            <p:cNvSpPr/>
            <p:nvPr/>
          </p:nvSpPr>
          <p:spPr>
            <a:xfrm>
              <a:off x="533400" y="4835842"/>
              <a:ext cx="5410200" cy="9525"/>
            </a:xfrm>
            <a:prstGeom prst="rect">
              <a:avLst/>
            </a:prstGeom>
            <a:solidFill>
              <a:srgbClr val="D9DFEA"/>
            </a:solidFill>
            <a:ln>
              <a:noFill/>
            </a:ln>
          </p:spPr>
        </p:sp>
        <p:sp>
          <p:nvSpPr>
            <p:cNvPr id="34" name="Rectangle 34"/>
            <p:cNvSpPr/>
            <p:nvPr/>
          </p:nvSpPr>
          <p:spPr>
            <a:xfrm>
              <a:off x="533400" y="4840605"/>
              <a:ext cx="5410200" cy="400050"/>
            </a:xfrm>
            <a:prstGeom prst="rect">
              <a:avLst/>
            </a:prstGeom>
            <a:solidFill>
              <a:srgbClr val="F4F6FB"/>
            </a:solidFill>
            <a:ln>
              <a:noFill/>
            </a:ln>
          </p:spPr>
        </p:sp>
        <p:sp>
          <p:nvSpPr>
            <p:cNvPr id="35" name="TextBox 35"/>
            <p:cNvSpPr txBox="1"/>
            <p:nvPr/>
          </p:nvSpPr>
          <p:spPr>
            <a:xfrm>
              <a:off x="630555" y="4962049"/>
              <a:ext cx="121762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你输入的数据有误</a:t>
              </a:r>
            </a:p>
          </p:txBody>
        </p:sp>
        <p:sp>
          <p:nvSpPr>
            <p:cNvPr id="36" name="TextBox 36"/>
            <p:cNvSpPr txBox="1"/>
            <p:nvPr/>
          </p:nvSpPr>
          <p:spPr>
            <a:xfrm>
              <a:off x="2903220" y="4962049"/>
              <a:ext cx="243889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出生日期要写成 2005-09-01 的格式</a:t>
              </a:r>
            </a:p>
          </p:txBody>
        </p:sp>
        <p:sp>
          <p:nvSpPr>
            <p:cNvPr id="37" name="Rectangle 37"/>
            <p:cNvSpPr/>
            <p:nvPr/>
          </p:nvSpPr>
          <p:spPr>
            <a:xfrm>
              <a:off x="533400" y="5235892"/>
              <a:ext cx="5410200" cy="9525"/>
            </a:xfrm>
            <a:prstGeom prst="rect">
              <a:avLst/>
            </a:prstGeom>
            <a:solidFill>
              <a:srgbClr val="D9DFEA"/>
            </a:solidFill>
            <a:ln>
              <a:noFill/>
            </a:ln>
          </p:spPr>
        </p:sp>
        <p:sp>
          <p:nvSpPr>
            <p:cNvPr id="38" name="TextBox 38"/>
            <p:cNvSpPr txBox="1"/>
            <p:nvPr/>
          </p:nvSpPr>
          <p:spPr>
            <a:xfrm>
              <a:off x="630555" y="5362099"/>
              <a:ext cx="121762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操作非法，已终止</a:t>
              </a:r>
            </a:p>
          </p:txBody>
        </p:sp>
        <p:sp>
          <p:nvSpPr>
            <p:cNvPr id="39" name="TextBox 39"/>
            <p:cNvSpPr txBox="1"/>
            <p:nvPr/>
          </p:nvSpPr>
          <p:spPr>
            <a:xfrm>
              <a:off x="2903220" y="5362099"/>
              <a:ext cx="21222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余额不足，请先充值再提交订单</a:t>
              </a:r>
            </a:p>
          </p:txBody>
        </p:sp>
        <p:sp>
          <p:nvSpPr>
            <p:cNvPr id="40" name="Rectangle 40"/>
            <p:cNvSpPr/>
            <p:nvPr/>
          </p:nvSpPr>
          <p:spPr>
            <a:xfrm>
              <a:off x="533400" y="3840480"/>
              <a:ext cx="5410200" cy="1800225"/>
            </a:xfrm>
            <a:prstGeom prst="rect">
              <a:avLst/>
            </a:prstGeom>
            <a:noFill/>
            <a:ln w="14288">
              <a:solidFill>
                <a:srgbClr val="D9DFEA"/>
              </a:solidFill>
            </a:ln>
          </p:spPr>
        </p:sp>
        <p:sp>
          <p:nvSpPr>
            <p:cNvPr id="41" name="Rectangle 41"/>
            <p:cNvSpPr/>
            <p:nvPr/>
          </p:nvSpPr>
          <p:spPr>
            <a:xfrm>
              <a:off x="2801302" y="3840480"/>
              <a:ext cx="9525" cy="1800225"/>
            </a:xfrm>
            <a:prstGeom prst="rect">
              <a:avLst/>
            </a:prstGeom>
            <a:solidFill>
              <a:srgbClr val="D9DFEA"/>
            </a:solidFill>
            <a:ln>
              <a:noFill/>
            </a:ln>
          </p:spPr>
        </p:sp>
      </p:grpSp>
      <p:grpSp>
        <p:nvGrpSpPr>
          <p:cNvPr id="60" name="c2-card-1"/>
          <p:cNvGrpSpPr/>
          <p:nvPr/>
        </p:nvGrpSpPr>
        <p:grpSpPr>
          <a:xfrm>
            <a:off x="6248400" y="1524000"/>
            <a:ext cx="5410200" cy="2103120"/>
            <a:chOff x="6248400" y="1524000"/>
            <a:chExt cx="5410200" cy="2103120"/>
          </a:xfrm>
        </p:grpSpPr>
        <p:sp>
          <p:nvSpPr>
            <p:cNvPr id="43" name="Rectangle 43"/>
            <p:cNvSpPr/>
            <p:nvPr/>
          </p:nvSpPr>
          <p:spPr>
            <a:xfrm>
              <a:off x="6248400" y="1524000"/>
              <a:ext cx="5410200" cy="2103120"/>
            </a:xfrm>
            <a:prstGeom prst="roundRect">
              <a:avLst>
                <a:gd name="adj" fmla="val 6341"/>
              </a:avLst>
            </a:prstGeom>
            <a:solidFill>
              <a:srgbClr val="FFFFFF"/>
            </a:solidFill>
            <a:ln w="14288">
              <a:solidFill>
                <a:srgbClr val="D9DFEA"/>
              </a:solidFill>
            </a:ln>
          </p:spPr>
        </p:sp>
        <p:sp>
          <p:nvSpPr>
            <p:cNvPr id="44" name="Rectangle 44"/>
            <p:cNvSpPr/>
            <p:nvPr/>
          </p:nvSpPr>
          <p:spPr>
            <a:xfrm>
              <a:off x="6257925" y="1657350"/>
              <a:ext cx="47625" cy="1836420"/>
            </a:xfrm>
            <a:prstGeom prst="roundRect">
              <a:avLst>
                <a:gd name="adj" fmla="val 50000"/>
              </a:avLst>
            </a:prstGeom>
            <a:solidFill>
              <a:srgbClr val="D97706"/>
            </a:solidFill>
            <a:ln>
              <a:noFill/>
            </a:ln>
          </p:spPr>
        </p:sp>
        <p:sp>
          <p:nvSpPr>
            <p:cNvPr id="45" name="Rectangle 45"/>
            <p:cNvSpPr/>
            <p:nvPr/>
          </p:nvSpPr>
          <p:spPr>
            <a:xfrm>
              <a:off x="6473190" y="1710690"/>
              <a:ext cx="707708" cy="238125"/>
            </a:xfrm>
            <a:prstGeom prst="roundRect">
              <a:avLst>
                <a:gd name="adj" fmla="val 50000"/>
              </a:avLst>
            </a:prstGeom>
            <a:solidFill>
              <a:srgbClr val="FEF3C7"/>
            </a:solidFill>
            <a:ln>
              <a:noFill/>
            </a:ln>
          </p:spPr>
        </p:sp>
        <p:sp>
          <p:nvSpPr>
            <p:cNvPr id="46" name="TextBox 46"/>
            <p:cNvSpPr txBox="1"/>
            <p:nvPr/>
          </p:nvSpPr>
          <p:spPr>
            <a:xfrm>
              <a:off x="6557759" y="1743551"/>
              <a:ext cx="537616" cy="190690"/>
            </a:xfrm>
            <a:prstGeom prst="rect">
              <a:avLst/>
            </a:prstGeom>
            <a:noFill/>
            <a:ln>
              <a:noFill/>
            </a:ln>
          </p:spPr>
          <p:txBody>
            <a:bodyPr wrap="none" lIns="0" tIns="0" rIns="0" bIns="0" anchor="t" anchorCtr="0">
              <a:spAutoFit/>
            </a:bodyPr>
            <a:lstStyle/>
            <a:p>
              <a:pPr algn="ctr"/>
              <a:r>
                <a:rPr lang="zh-CN" sz="980" b="1" dirty="0">
                  <a:solidFill>
                    <a:srgbClr val="92400E"/>
                  </a:solidFill>
                  <a:latin typeface="+mn-lt"/>
                  <a:ea typeface="+mn-ea"/>
                  <a:cs typeface="+mn-cs"/>
                </a:rPr>
                <a:t>命令交互</a:t>
              </a:r>
            </a:p>
          </p:txBody>
        </p:sp>
        <p:sp>
          <p:nvSpPr>
            <p:cNvPr id="47" name="TextBox 47"/>
            <p:cNvSpPr txBox="1"/>
            <p:nvPr/>
          </p:nvSpPr>
          <p:spPr>
            <a:xfrm>
              <a:off x="7288339" y="1745932"/>
              <a:ext cx="328498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提供命令交互方式时必须考虑的设计问题</a:t>
              </a:r>
            </a:p>
          </p:txBody>
        </p:sp>
        <p:sp>
          <p:nvSpPr>
            <p:cNvPr id="48" name="Ellipse 48"/>
            <p:cNvSpPr/>
            <p:nvPr/>
          </p:nvSpPr>
          <p:spPr>
            <a:xfrm>
              <a:off x="6473190" y="2059305"/>
              <a:ext cx="192405" cy="192405"/>
            </a:xfrm>
            <a:prstGeom prst="ellipse">
              <a:avLst/>
            </a:prstGeom>
            <a:solidFill>
              <a:srgbClr val="334E68"/>
            </a:solidFill>
            <a:ln>
              <a:noFill/>
            </a:ln>
          </p:spPr>
        </p:sp>
        <p:sp>
          <p:nvSpPr>
            <p:cNvPr id="49" name="TextBox 49"/>
            <p:cNvSpPr txBox="1"/>
            <p:nvPr/>
          </p:nvSpPr>
          <p:spPr>
            <a:xfrm>
              <a:off x="6528868" y="209769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50" name="TextBox 50"/>
            <p:cNvSpPr txBox="1"/>
            <p:nvPr/>
          </p:nvSpPr>
          <p:spPr>
            <a:xfrm>
              <a:off x="6753987" y="2071688"/>
              <a:ext cx="273977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是否每个菜单选项都有对应的命令</a:t>
              </a:r>
            </a:p>
          </p:txBody>
        </p:sp>
        <p:sp>
          <p:nvSpPr>
            <p:cNvPr id="51" name="Ellipse 51"/>
            <p:cNvSpPr/>
            <p:nvPr/>
          </p:nvSpPr>
          <p:spPr>
            <a:xfrm>
              <a:off x="6473190" y="2359342"/>
              <a:ext cx="192405" cy="192405"/>
            </a:xfrm>
            <a:prstGeom prst="ellipse">
              <a:avLst/>
            </a:prstGeom>
            <a:solidFill>
              <a:srgbClr val="334E68"/>
            </a:solidFill>
            <a:ln>
              <a:noFill/>
            </a:ln>
          </p:spPr>
        </p:sp>
        <p:sp>
          <p:nvSpPr>
            <p:cNvPr id="52" name="TextBox 52"/>
            <p:cNvSpPr txBox="1"/>
            <p:nvPr/>
          </p:nvSpPr>
          <p:spPr>
            <a:xfrm>
              <a:off x="6528868" y="239868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53" name="TextBox 53"/>
            <p:cNvSpPr txBox="1"/>
            <p:nvPr/>
          </p:nvSpPr>
          <p:spPr>
            <a:xfrm>
              <a:off x="6753987" y="2371725"/>
              <a:ext cx="453142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采用何种命令形式：控制序列（如 </a:t>
              </a:r>
              <a:r>
                <a:rPr lang="en-US" sz="1350" dirty="0">
                  <a:solidFill>
                    <a:srgbClr val="243B53"/>
                  </a:solidFill>
                  <a:latin typeface="+mn-lt"/>
                  <a:ea typeface="+mn-ea"/>
                  <a:cs typeface="+mn-cs"/>
                </a:rPr>
                <a:t>Ctrl+P</a:t>
              </a:r>
              <a:r>
                <a:rPr lang="zh-CN" sz="1350" dirty="0">
                  <a:solidFill>
                    <a:srgbClr val="1F2937"/>
                  </a:solidFill>
                  <a:latin typeface="+mn-lt"/>
                  <a:ea typeface="+mn-ea"/>
                  <a:cs typeface="+mn-cs"/>
                </a:rPr>
                <a:t>）、功能键、键入</a:t>
              </a:r>
              <a:br/>
              <a:r>
                <a:rPr lang="zh-CN" sz="1350" dirty="0">
                  <a:solidFill>
                    <a:srgbClr val="1F2937"/>
                  </a:solidFill>
                  <a:latin typeface="+mn-lt"/>
                  <a:ea typeface="+mn-ea"/>
                  <a:cs typeface="+mn-cs"/>
                </a:rPr>
                <a:t>命令</a:t>
              </a:r>
            </a:p>
          </p:txBody>
        </p:sp>
        <p:sp>
          <p:nvSpPr>
            <p:cNvPr id="54" name="Ellipse 54"/>
            <p:cNvSpPr/>
            <p:nvPr/>
          </p:nvSpPr>
          <p:spPr>
            <a:xfrm>
              <a:off x="6473190" y="2917507"/>
              <a:ext cx="192405" cy="192405"/>
            </a:xfrm>
            <a:prstGeom prst="ellipse">
              <a:avLst/>
            </a:prstGeom>
            <a:solidFill>
              <a:srgbClr val="334E68"/>
            </a:solidFill>
            <a:ln>
              <a:noFill/>
            </a:ln>
          </p:spPr>
        </p:sp>
        <p:sp>
          <p:nvSpPr>
            <p:cNvPr id="55" name="TextBox 55"/>
            <p:cNvSpPr txBox="1"/>
            <p:nvPr/>
          </p:nvSpPr>
          <p:spPr>
            <a:xfrm>
              <a:off x="6528868" y="295589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56" name="TextBox 56"/>
            <p:cNvSpPr txBox="1"/>
            <p:nvPr/>
          </p:nvSpPr>
          <p:spPr>
            <a:xfrm>
              <a:off x="6753987" y="2928938"/>
              <a:ext cx="237629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学习和记忆命令的难度有多大</a:t>
              </a:r>
            </a:p>
          </p:txBody>
        </p:sp>
        <p:sp>
          <p:nvSpPr>
            <p:cNvPr id="57" name="Ellipse 57"/>
            <p:cNvSpPr/>
            <p:nvPr/>
          </p:nvSpPr>
          <p:spPr>
            <a:xfrm>
              <a:off x="6473190" y="3217545"/>
              <a:ext cx="192405" cy="192405"/>
            </a:xfrm>
            <a:prstGeom prst="ellipse">
              <a:avLst/>
            </a:prstGeom>
            <a:solidFill>
              <a:srgbClr val="334E68"/>
            </a:solidFill>
            <a:ln>
              <a:noFill/>
            </a:ln>
          </p:spPr>
        </p:sp>
        <p:sp>
          <p:nvSpPr>
            <p:cNvPr id="58" name="TextBox 58"/>
            <p:cNvSpPr txBox="1"/>
            <p:nvPr/>
          </p:nvSpPr>
          <p:spPr>
            <a:xfrm>
              <a:off x="6528868" y="325593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4</a:t>
              </a:r>
            </a:p>
          </p:txBody>
        </p:sp>
        <p:sp>
          <p:nvSpPr>
            <p:cNvPr id="59" name="TextBox 59"/>
            <p:cNvSpPr txBox="1"/>
            <p:nvPr/>
          </p:nvSpPr>
          <p:spPr>
            <a:xfrm>
              <a:off x="6753987" y="3229927"/>
              <a:ext cx="2376297"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用户是否可以定制或缩写命令</a:t>
              </a:r>
            </a:p>
          </p:txBody>
        </p:sp>
      </p:grpSp>
      <p:grpSp>
        <p:nvGrpSpPr>
          <p:cNvPr id="67" name="c2-callout-2"/>
          <p:cNvGrpSpPr/>
          <p:nvPr/>
        </p:nvGrpSpPr>
        <p:grpSpPr>
          <a:xfrm>
            <a:off x="6248400" y="3796665"/>
            <a:ext cx="5410200" cy="1843088"/>
            <a:chOff x="6248400" y="3796665"/>
            <a:chExt cx="5410200" cy="1843088"/>
          </a:xfrm>
        </p:grpSpPr>
        <p:sp>
          <p:nvSpPr>
            <p:cNvPr id="61" name="Rectangle 61"/>
            <p:cNvSpPr/>
            <p:nvPr/>
          </p:nvSpPr>
          <p:spPr>
            <a:xfrm>
              <a:off x="6248400" y="3796665"/>
              <a:ext cx="5410200" cy="1843088"/>
            </a:xfrm>
            <a:prstGeom prst="roundRect">
              <a:avLst>
                <a:gd name="adj" fmla="val 6202"/>
              </a:avLst>
            </a:prstGeom>
            <a:solidFill>
              <a:srgbClr val="F4F6FB"/>
            </a:solidFill>
            <a:ln>
              <a:noFill/>
            </a:ln>
          </p:spPr>
        </p:sp>
        <p:grpSp>
          <p:nvGrpSpPr>
            <p:cNvPr id="65" name="Group 65"/>
            <p:cNvGrpSpPr/>
            <p:nvPr/>
          </p:nvGrpSpPr>
          <p:grpSpPr>
            <a:xfrm>
              <a:off x="6453188" y="4618673"/>
              <a:ext cx="200026" cy="200026"/>
              <a:chOff x="6453188" y="4618673"/>
              <a:chExt cx="200026" cy="200026"/>
            </a:xfrm>
          </p:grpSpPr>
          <p:sp>
            <p:nvSpPr>
              <p:cNvPr id="62" name="Freeform 62"/>
              <p:cNvSpPr/>
              <p:nvPr/>
            </p:nvSpPr>
            <p:spPr>
              <a:xfrm>
                <a:off x="6453188" y="461867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3" name="Freeform 63"/>
              <p:cNvSpPr/>
              <p:nvPr/>
            </p:nvSpPr>
            <p:spPr>
              <a:xfrm>
                <a:off x="6553200" y="468534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4" name="Freeform 64"/>
              <p:cNvSpPr/>
              <p:nvPr/>
            </p:nvSpPr>
            <p:spPr>
              <a:xfrm>
                <a:off x="6542088" y="471868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6" name="TextBox 66"/>
            <p:cNvSpPr txBox="1"/>
            <p:nvPr/>
          </p:nvSpPr>
          <p:spPr>
            <a:xfrm>
              <a:off x="6755892" y="4500562"/>
              <a:ext cx="447141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菜单和命令并存时要一一对应，否则熟练用户和新用户会看</a:t>
              </a:r>
              <a:br/>
              <a:r>
                <a:rPr lang="zh-CN" sz="1350" dirty="0">
                  <a:solidFill>
                    <a:srgbClr val="1F2937"/>
                  </a:solidFill>
                  <a:latin typeface="+mn-lt"/>
                  <a:ea typeface="+mn-ea"/>
                  <a:cs typeface="+mn-cs"/>
                </a:rPr>
                <a:t>到两套不一样的系统。</a:t>
              </a:r>
            </a:p>
          </p:txBody>
        </p:sp>
      </p:grpSp>
      <p:grpSp>
        <p:nvGrpSpPr>
          <p:cNvPr id="73" name="takeaway"/>
          <p:cNvGrpSpPr/>
          <p:nvPr/>
        </p:nvGrpSpPr>
        <p:grpSpPr>
          <a:xfrm>
            <a:off x="533400" y="5881688"/>
            <a:ext cx="11125200" cy="481012"/>
            <a:chOff x="533400" y="5881688"/>
            <a:chExt cx="11125200" cy="481012"/>
          </a:xfrm>
        </p:grpSpPr>
        <p:sp>
          <p:nvSpPr>
            <p:cNvPr id="68" name="Rectangle 68"/>
            <p:cNvSpPr/>
            <p:nvPr/>
          </p:nvSpPr>
          <p:spPr>
            <a:xfrm>
              <a:off x="533400" y="5881688"/>
              <a:ext cx="11125200" cy="481012"/>
            </a:xfrm>
            <a:prstGeom prst="roundRect">
              <a:avLst>
                <a:gd name="adj" fmla="val 23762"/>
              </a:avLst>
            </a:prstGeom>
            <a:solidFill>
              <a:srgbClr val="334E68"/>
            </a:solidFill>
            <a:ln>
              <a:noFill/>
            </a:ln>
          </p:spPr>
        </p:sp>
        <p:grpSp>
          <p:nvGrpSpPr>
            <p:cNvPr id="71" name="Group 71"/>
            <p:cNvGrpSpPr/>
            <p:nvPr/>
          </p:nvGrpSpPr>
          <p:grpSpPr>
            <a:xfrm>
              <a:off x="738188" y="6022660"/>
              <a:ext cx="200023" cy="200023"/>
              <a:chOff x="738188" y="6022660"/>
              <a:chExt cx="200023" cy="200023"/>
            </a:xfrm>
          </p:grpSpPr>
          <p:sp>
            <p:nvSpPr>
              <p:cNvPr id="69" name="Freeform 69"/>
              <p:cNvSpPr/>
              <p:nvPr/>
            </p:nvSpPr>
            <p:spPr>
              <a:xfrm>
                <a:off x="738188" y="602266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0" name="Freeform 70"/>
              <p:cNvSpPr/>
              <p:nvPr/>
            </p:nvSpPr>
            <p:spPr>
              <a:xfrm>
                <a:off x="871538" y="608933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2" name="TextBox 72"/>
            <p:cNvSpPr txBox="1"/>
            <p:nvPr/>
          </p:nvSpPr>
          <p:spPr>
            <a:xfrm>
              <a:off x="1040892" y="6028373"/>
              <a:ext cx="713780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出错信息的五条属性里，最容易漏答的是"指出可能导致的负面后果"和"不带指责色彩"。</a:t>
              </a:r>
            </a:p>
          </p:txBody>
        </p:sp>
      </p:grpSp>
      <p:grpSp>
        <p:nvGrpSpPr>
          <p:cNvPr id="76" name="footer"/>
          <p:cNvGrpSpPr/>
          <p:nvPr/>
        </p:nvGrpSpPr>
        <p:grpSpPr>
          <a:xfrm>
            <a:off x="528447" y="6581299"/>
            <a:ext cx="11135106" cy="190690"/>
            <a:chOff x="528447" y="6581299"/>
            <a:chExt cx="11135106" cy="190690"/>
          </a:xfrm>
        </p:grpSpPr>
        <p:sp>
          <p:nvSpPr>
            <p:cNvPr id="74" name="TextBox 74"/>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75" name="TextBox 7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人机界面设计</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界面设计过程：做原型、让用户评审、改</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9" name="c1-flow-1"/>
          <p:cNvGrpSpPr/>
          <p:nvPr/>
        </p:nvGrpSpPr>
        <p:grpSpPr>
          <a:xfrm>
            <a:off x="753428" y="1788795"/>
            <a:ext cx="5835966" cy="4309110"/>
            <a:chOff x="753428" y="1788795"/>
            <a:chExt cx="5835966" cy="4309110"/>
          </a:xfrm>
        </p:grpSpPr>
        <p:sp>
          <p:nvSpPr>
            <p:cNvPr id="7" name="Freeform 7"/>
            <p:cNvSpPr/>
            <p:nvPr/>
          </p:nvSpPr>
          <p:spPr>
            <a:xfrm>
              <a:off x="2102168" y="2226945"/>
              <a:ext cx="9525" cy="424815"/>
            </a:xfrm>
            <a:custGeom>
              <a:avLst/>
              <a:gdLst/>
              <a:ahLst/>
              <a:cxnLst/>
              <a:rect l="l" t="t" r="r" b="b"/>
              <a:pathLst>
                <a:path w="9525" h="424815">
                  <a:moveTo>
                    <a:pt x="0" y="0"/>
                  </a:moveTo>
                  <a:lnTo>
                    <a:pt x="0" y="424815"/>
                  </a:lnTo>
                </a:path>
              </a:pathLst>
            </a:custGeom>
            <a:noFill/>
            <a:ln w="15240">
              <a:solidFill>
                <a:srgbClr val="5B6475"/>
              </a:solidFill>
            </a:ln>
          </p:spPr>
        </p:sp>
        <p:sp>
          <p:nvSpPr>
            <p:cNvPr id="8" name="Freeform 8"/>
            <p:cNvSpPr/>
            <p:nvPr/>
          </p:nvSpPr>
          <p:spPr>
            <a:xfrm>
              <a:off x="2049780" y="265176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9" name="Freeform 9"/>
            <p:cNvSpPr/>
            <p:nvPr/>
          </p:nvSpPr>
          <p:spPr>
            <a:xfrm>
              <a:off x="2102168" y="3194685"/>
              <a:ext cx="3138488" cy="424815"/>
            </a:xfrm>
            <a:custGeom>
              <a:avLst/>
              <a:gdLst/>
              <a:ahLst/>
              <a:cxnLst/>
              <a:rect l="l" t="t" r="r" b="b"/>
              <a:pathLst>
                <a:path w="3138488" h="424815">
                  <a:moveTo>
                    <a:pt x="0" y="0"/>
                  </a:moveTo>
                  <a:lnTo>
                    <a:pt x="0" y="264795"/>
                  </a:lnTo>
                  <a:lnTo>
                    <a:pt x="3138488" y="264795"/>
                  </a:lnTo>
                  <a:lnTo>
                    <a:pt x="3138488" y="424815"/>
                  </a:lnTo>
                </a:path>
              </a:pathLst>
            </a:custGeom>
            <a:noFill/>
            <a:ln w="15240">
              <a:solidFill>
                <a:srgbClr val="5B6475"/>
              </a:solidFill>
            </a:ln>
          </p:spPr>
        </p:sp>
        <p:sp>
          <p:nvSpPr>
            <p:cNvPr id="10" name="Freeform 10"/>
            <p:cNvSpPr/>
            <p:nvPr/>
          </p:nvSpPr>
          <p:spPr>
            <a:xfrm>
              <a:off x="5188268" y="361950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1" name="Freeform 11"/>
            <p:cNvSpPr/>
            <p:nvPr/>
          </p:nvSpPr>
          <p:spPr>
            <a:xfrm>
              <a:off x="5240655" y="4162425"/>
              <a:ext cx="9525" cy="424815"/>
            </a:xfrm>
            <a:custGeom>
              <a:avLst/>
              <a:gdLst/>
              <a:ahLst/>
              <a:cxnLst/>
              <a:rect l="l" t="t" r="r" b="b"/>
              <a:pathLst>
                <a:path w="9525" h="424815">
                  <a:moveTo>
                    <a:pt x="0" y="0"/>
                  </a:moveTo>
                  <a:lnTo>
                    <a:pt x="0" y="424815"/>
                  </a:lnTo>
                </a:path>
              </a:pathLst>
            </a:custGeom>
            <a:noFill/>
            <a:ln w="15240">
              <a:solidFill>
                <a:srgbClr val="5B6475"/>
              </a:solidFill>
            </a:ln>
          </p:spPr>
        </p:sp>
        <p:sp>
          <p:nvSpPr>
            <p:cNvPr id="12" name="Freeform 12"/>
            <p:cNvSpPr/>
            <p:nvPr/>
          </p:nvSpPr>
          <p:spPr>
            <a:xfrm>
              <a:off x="5188268" y="458724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3" name="Freeform 13"/>
            <p:cNvSpPr/>
            <p:nvPr/>
          </p:nvSpPr>
          <p:spPr>
            <a:xfrm>
              <a:off x="3556635" y="4911090"/>
              <a:ext cx="334328" cy="9525"/>
            </a:xfrm>
            <a:custGeom>
              <a:avLst/>
              <a:gdLst/>
              <a:ahLst/>
              <a:cxnLst/>
              <a:rect l="l" t="t" r="r" b="b"/>
              <a:pathLst>
                <a:path w="334328" h="9525">
                  <a:moveTo>
                    <a:pt x="334328" y="0"/>
                  </a:moveTo>
                  <a:lnTo>
                    <a:pt x="0" y="0"/>
                  </a:lnTo>
                </a:path>
              </a:pathLst>
            </a:custGeom>
            <a:noFill/>
            <a:ln w="15240">
              <a:solidFill>
                <a:srgbClr val="5B6475"/>
              </a:solidFill>
            </a:ln>
          </p:spPr>
        </p:sp>
        <p:sp>
          <p:nvSpPr>
            <p:cNvPr id="14" name="Freeform 14"/>
            <p:cNvSpPr/>
            <p:nvPr/>
          </p:nvSpPr>
          <p:spPr>
            <a:xfrm>
              <a:off x="3451860" y="4858702"/>
              <a:ext cx="104775" cy="104775"/>
            </a:xfrm>
            <a:custGeom>
              <a:avLst/>
              <a:gdLst/>
              <a:ahLst/>
              <a:cxnLst/>
              <a:rect l="l" t="t" r="r" b="b"/>
              <a:pathLst>
                <a:path w="104775" h="104775">
                  <a:moveTo>
                    <a:pt x="0" y="52388"/>
                  </a:moveTo>
                  <a:lnTo>
                    <a:pt x="104775" y="0"/>
                  </a:lnTo>
                  <a:lnTo>
                    <a:pt x="104775" y="104775"/>
                  </a:lnTo>
                  <a:close/>
                </a:path>
              </a:pathLst>
            </a:custGeom>
            <a:solidFill>
              <a:srgbClr val="5B6475"/>
            </a:solidFill>
            <a:ln>
              <a:noFill/>
            </a:ln>
          </p:spPr>
        </p:sp>
        <p:sp>
          <p:nvSpPr>
            <p:cNvPr id="15" name="Freeform 15"/>
            <p:cNvSpPr/>
            <p:nvPr/>
          </p:nvSpPr>
          <p:spPr>
            <a:xfrm>
              <a:off x="2102168" y="4267200"/>
              <a:ext cx="9525" cy="424815"/>
            </a:xfrm>
            <a:custGeom>
              <a:avLst/>
              <a:gdLst/>
              <a:ahLst/>
              <a:cxnLst/>
              <a:rect l="l" t="t" r="r" b="b"/>
              <a:pathLst>
                <a:path w="9525" h="424815">
                  <a:moveTo>
                    <a:pt x="0" y="424815"/>
                  </a:moveTo>
                  <a:lnTo>
                    <a:pt x="0" y="0"/>
                  </a:lnTo>
                </a:path>
              </a:pathLst>
            </a:custGeom>
            <a:noFill/>
            <a:ln w="15240">
              <a:solidFill>
                <a:srgbClr val="5B6475"/>
              </a:solidFill>
            </a:ln>
          </p:spPr>
        </p:sp>
        <p:sp>
          <p:nvSpPr>
            <p:cNvPr id="16" name="Freeform 16"/>
            <p:cNvSpPr/>
            <p:nvPr/>
          </p:nvSpPr>
          <p:spPr>
            <a:xfrm>
              <a:off x="2049780" y="4162425"/>
              <a:ext cx="104775" cy="104775"/>
            </a:xfrm>
            <a:custGeom>
              <a:avLst/>
              <a:gdLst/>
              <a:ahLst/>
              <a:cxnLst/>
              <a:rect l="l" t="t" r="r" b="b"/>
              <a:pathLst>
                <a:path w="104775" h="104775">
                  <a:moveTo>
                    <a:pt x="52388" y="0"/>
                  </a:moveTo>
                  <a:lnTo>
                    <a:pt x="104775" y="104775"/>
                  </a:lnTo>
                  <a:lnTo>
                    <a:pt x="0" y="104775"/>
                  </a:lnTo>
                  <a:close/>
                </a:path>
              </a:pathLst>
            </a:custGeom>
            <a:solidFill>
              <a:srgbClr val="5B6475"/>
            </a:solidFill>
            <a:ln>
              <a:noFill/>
            </a:ln>
          </p:spPr>
        </p:sp>
        <p:sp>
          <p:nvSpPr>
            <p:cNvPr id="17" name="Freeform 17"/>
            <p:cNvSpPr/>
            <p:nvPr/>
          </p:nvSpPr>
          <p:spPr>
            <a:xfrm>
              <a:off x="3451860" y="3943350"/>
              <a:ext cx="334328" cy="9525"/>
            </a:xfrm>
            <a:custGeom>
              <a:avLst/>
              <a:gdLst/>
              <a:ahLst/>
              <a:cxnLst/>
              <a:rect l="l" t="t" r="r" b="b"/>
              <a:pathLst>
                <a:path w="334328" h="9525">
                  <a:moveTo>
                    <a:pt x="0" y="0"/>
                  </a:moveTo>
                  <a:lnTo>
                    <a:pt x="334328" y="0"/>
                  </a:lnTo>
                </a:path>
              </a:pathLst>
            </a:custGeom>
            <a:noFill/>
            <a:ln w="15240">
              <a:solidFill>
                <a:srgbClr val="5B6475"/>
              </a:solidFill>
            </a:ln>
          </p:spPr>
        </p:sp>
        <p:sp>
          <p:nvSpPr>
            <p:cNvPr id="18" name="Freeform 18"/>
            <p:cNvSpPr/>
            <p:nvPr/>
          </p:nvSpPr>
          <p:spPr>
            <a:xfrm>
              <a:off x="3786188" y="3890962"/>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9" name="Freeform 19"/>
            <p:cNvSpPr/>
            <p:nvPr/>
          </p:nvSpPr>
          <p:spPr>
            <a:xfrm>
              <a:off x="5240655" y="5130165"/>
              <a:ext cx="9525" cy="424815"/>
            </a:xfrm>
            <a:custGeom>
              <a:avLst/>
              <a:gdLst/>
              <a:ahLst/>
              <a:cxnLst/>
              <a:rect l="l" t="t" r="r" b="b"/>
              <a:pathLst>
                <a:path w="9525" h="424815">
                  <a:moveTo>
                    <a:pt x="0" y="0"/>
                  </a:moveTo>
                  <a:lnTo>
                    <a:pt x="0" y="424815"/>
                  </a:lnTo>
                </a:path>
              </a:pathLst>
            </a:custGeom>
            <a:noFill/>
            <a:ln w="15240">
              <a:solidFill>
                <a:srgbClr val="5B6475"/>
              </a:solidFill>
            </a:ln>
          </p:spPr>
        </p:sp>
        <p:sp>
          <p:nvSpPr>
            <p:cNvPr id="20" name="Freeform 20"/>
            <p:cNvSpPr/>
            <p:nvPr/>
          </p:nvSpPr>
          <p:spPr>
            <a:xfrm>
              <a:off x="5188268" y="555498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1" name="Rectangle 21"/>
            <p:cNvSpPr/>
            <p:nvPr/>
          </p:nvSpPr>
          <p:spPr>
            <a:xfrm>
              <a:off x="753428" y="1788795"/>
              <a:ext cx="2698432" cy="438150"/>
            </a:xfrm>
            <a:prstGeom prst="roundRect">
              <a:avLst>
                <a:gd name="adj" fmla="val 50000"/>
              </a:avLst>
            </a:prstGeom>
            <a:solidFill>
              <a:srgbClr val="334E68"/>
            </a:solidFill>
            <a:ln>
              <a:noFill/>
            </a:ln>
          </p:spPr>
        </p:sp>
        <p:sp>
          <p:nvSpPr>
            <p:cNvPr id="22" name="Rectangle 22"/>
            <p:cNvSpPr/>
            <p:nvPr/>
          </p:nvSpPr>
          <p:spPr>
            <a:xfrm>
              <a:off x="753428" y="2756535"/>
              <a:ext cx="2698432" cy="438150"/>
            </a:xfrm>
            <a:prstGeom prst="roundRect">
              <a:avLst>
                <a:gd name="adj" fmla="val 21739"/>
              </a:avLst>
            </a:prstGeom>
            <a:solidFill>
              <a:srgbClr val="FFFFFF"/>
            </a:solidFill>
            <a:ln w="15240">
              <a:solidFill>
                <a:srgbClr val="334E68"/>
              </a:solidFill>
            </a:ln>
          </p:spPr>
        </p:sp>
        <p:sp>
          <p:nvSpPr>
            <p:cNvPr id="23" name="Rectangle 23"/>
            <p:cNvSpPr/>
            <p:nvPr/>
          </p:nvSpPr>
          <p:spPr>
            <a:xfrm>
              <a:off x="3890962" y="3724275"/>
              <a:ext cx="2698432" cy="438150"/>
            </a:xfrm>
            <a:prstGeom prst="roundRect">
              <a:avLst>
                <a:gd name="adj" fmla="val 21739"/>
              </a:avLst>
            </a:prstGeom>
            <a:solidFill>
              <a:srgbClr val="E7EDF3"/>
            </a:solidFill>
            <a:ln w="19050">
              <a:solidFill>
                <a:srgbClr val="334E68"/>
              </a:solidFill>
            </a:ln>
          </p:spPr>
        </p:sp>
        <p:sp>
          <p:nvSpPr>
            <p:cNvPr id="24" name="Rectangle 24"/>
            <p:cNvSpPr/>
            <p:nvPr/>
          </p:nvSpPr>
          <p:spPr>
            <a:xfrm>
              <a:off x="3890962" y="4692015"/>
              <a:ext cx="2698432" cy="438150"/>
            </a:xfrm>
            <a:prstGeom prst="roundRect">
              <a:avLst>
                <a:gd name="adj" fmla="val 21739"/>
              </a:avLst>
            </a:prstGeom>
            <a:solidFill>
              <a:srgbClr val="FFFFFF"/>
            </a:solidFill>
            <a:ln w="15240">
              <a:solidFill>
                <a:srgbClr val="334E68"/>
              </a:solidFill>
            </a:ln>
          </p:spPr>
        </p:sp>
        <p:sp>
          <p:nvSpPr>
            <p:cNvPr id="25" name="Rectangle 25"/>
            <p:cNvSpPr/>
            <p:nvPr/>
          </p:nvSpPr>
          <p:spPr>
            <a:xfrm>
              <a:off x="753428" y="4692015"/>
              <a:ext cx="2698432" cy="438150"/>
            </a:xfrm>
            <a:prstGeom prst="roundRect">
              <a:avLst>
                <a:gd name="adj" fmla="val 21739"/>
              </a:avLst>
            </a:prstGeom>
            <a:solidFill>
              <a:srgbClr val="FFFFFF"/>
            </a:solidFill>
            <a:ln w="15240">
              <a:solidFill>
                <a:srgbClr val="334E68"/>
              </a:solidFill>
            </a:ln>
          </p:spPr>
        </p:sp>
        <p:sp>
          <p:nvSpPr>
            <p:cNvPr id="26" name="Rectangle 26"/>
            <p:cNvSpPr/>
            <p:nvPr/>
          </p:nvSpPr>
          <p:spPr>
            <a:xfrm>
              <a:off x="753428" y="3724275"/>
              <a:ext cx="2698432" cy="438150"/>
            </a:xfrm>
            <a:prstGeom prst="roundRect">
              <a:avLst>
                <a:gd name="adj" fmla="val 21739"/>
              </a:avLst>
            </a:prstGeom>
            <a:solidFill>
              <a:srgbClr val="FFFFFF"/>
            </a:solidFill>
            <a:ln w="15240">
              <a:solidFill>
                <a:srgbClr val="334E68"/>
              </a:solidFill>
            </a:ln>
          </p:spPr>
        </p:sp>
        <p:sp>
          <p:nvSpPr>
            <p:cNvPr id="27" name="Rectangle 27"/>
            <p:cNvSpPr/>
            <p:nvPr/>
          </p:nvSpPr>
          <p:spPr>
            <a:xfrm>
              <a:off x="3890962" y="5659755"/>
              <a:ext cx="2698432" cy="438150"/>
            </a:xfrm>
            <a:prstGeom prst="roundRect">
              <a:avLst>
                <a:gd name="adj" fmla="val 50000"/>
              </a:avLst>
            </a:prstGeom>
            <a:solidFill>
              <a:srgbClr val="334E68"/>
            </a:solidFill>
            <a:ln>
              <a:noFill/>
            </a:ln>
          </p:spPr>
        </p:sp>
        <p:sp>
          <p:nvSpPr>
            <p:cNvPr id="28" name="TextBox 28"/>
            <p:cNvSpPr txBox="1"/>
            <p:nvPr/>
          </p:nvSpPr>
          <p:spPr>
            <a:xfrm>
              <a:off x="1751063" y="1918811"/>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初步设计</a:t>
              </a:r>
            </a:p>
          </p:txBody>
        </p:sp>
        <p:sp>
          <p:nvSpPr>
            <p:cNvPr id="29" name="TextBox 29"/>
            <p:cNvSpPr txBox="1"/>
            <p:nvPr/>
          </p:nvSpPr>
          <p:spPr>
            <a:xfrm>
              <a:off x="1505516" y="2886551"/>
              <a:ext cx="1193302"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创建界面原型 1</a:t>
              </a:r>
            </a:p>
          </p:txBody>
        </p:sp>
        <p:sp>
          <p:nvSpPr>
            <p:cNvPr id="30" name="TextBox 30"/>
            <p:cNvSpPr txBox="1"/>
            <p:nvPr/>
          </p:nvSpPr>
          <p:spPr>
            <a:xfrm>
              <a:off x="4717237" y="3854291"/>
              <a:ext cx="104683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用户评审界面</a:t>
              </a:r>
            </a:p>
          </p:txBody>
        </p:sp>
        <p:sp>
          <p:nvSpPr>
            <p:cNvPr id="31" name="TextBox 31"/>
            <p:cNvSpPr txBox="1"/>
            <p:nvPr/>
          </p:nvSpPr>
          <p:spPr>
            <a:xfrm>
              <a:off x="4286453" y="4822031"/>
              <a:ext cx="1908404"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设计者研究用户评审意见</a:t>
              </a:r>
            </a:p>
          </p:txBody>
        </p:sp>
        <p:sp>
          <p:nvSpPr>
            <p:cNvPr id="32" name="TextBox 32"/>
            <p:cNvSpPr txBox="1"/>
            <p:nvPr/>
          </p:nvSpPr>
          <p:spPr>
            <a:xfrm>
              <a:off x="1751063" y="4822031"/>
              <a:ext cx="702208"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修改设计</a:t>
              </a:r>
            </a:p>
          </p:txBody>
        </p:sp>
        <p:sp>
          <p:nvSpPr>
            <p:cNvPr id="33" name="TextBox 33"/>
            <p:cNvSpPr txBox="1"/>
            <p:nvPr/>
          </p:nvSpPr>
          <p:spPr>
            <a:xfrm>
              <a:off x="1505516" y="3854291"/>
              <a:ext cx="1193302"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创建界面原型 n</a:t>
              </a:r>
            </a:p>
          </p:txBody>
        </p:sp>
        <p:sp>
          <p:nvSpPr>
            <p:cNvPr id="34" name="TextBox 34"/>
            <p:cNvSpPr txBox="1"/>
            <p:nvPr/>
          </p:nvSpPr>
          <p:spPr>
            <a:xfrm>
              <a:off x="4717237" y="5789771"/>
              <a:ext cx="1046836"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界面设计完毕</a:t>
              </a:r>
            </a:p>
          </p:txBody>
        </p:sp>
        <p:sp>
          <p:nvSpPr>
            <p:cNvPr id="35" name="Rectangle 35"/>
            <p:cNvSpPr/>
            <p:nvPr/>
          </p:nvSpPr>
          <p:spPr>
            <a:xfrm>
              <a:off x="3423285" y="4694872"/>
              <a:ext cx="495300" cy="193358"/>
            </a:xfrm>
            <a:prstGeom prst="roundRect">
              <a:avLst>
                <a:gd name="adj" fmla="val 19704"/>
              </a:avLst>
            </a:prstGeom>
            <a:solidFill>
              <a:srgbClr val="FFFFFF"/>
            </a:solidFill>
            <a:ln>
              <a:noFill/>
            </a:ln>
          </p:spPr>
        </p:sp>
        <p:sp>
          <p:nvSpPr>
            <p:cNvPr id="36" name="TextBox 36"/>
            <p:cNvSpPr txBox="1"/>
            <p:nvPr/>
          </p:nvSpPr>
          <p:spPr>
            <a:xfrm>
              <a:off x="3453574" y="4721542"/>
              <a:ext cx="434721"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还要改</a:t>
              </a:r>
            </a:p>
          </p:txBody>
        </p:sp>
        <p:sp>
          <p:nvSpPr>
            <p:cNvPr id="37" name="Rectangle 37"/>
            <p:cNvSpPr/>
            <p:nvPr/>
          </p:nvSpPr>
          <p:spPr>
            <a:xfrm>
              <a:off x="5269230" y="5302568"/>
              <a:ext cx="361950" cy="193358"/>
            </a:xfrm>
            <a:prstGeom prst="roundRect">
              <a:avLst>
                <a:gd name="adj" fmla="val 19704"/>
              </a:avLst>
            </a:prstGeom>
            <a:solidFill>
              <a:srgbClr val="FFFFFF"/>
            </a:solidFill>
            <a:ln>
              <a:noFill/>
            </a:ln>
          </p:spPr>
        </p:sp>
        <p:sp>
          <p:nvSpPr>
            <p:cNvPr id="38" name="TextBox 38"/>
            <p:cNvSpPr txBox="1"/>
            <p:nvPr/>
          </p:nvSpPr>
          <p:spPr>
            <a:xfrm>
              <a:off x="5292471" y="5329238"/>
              <a:ext cx="293370"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满意</a:t>
              </a:r>
            </a:p>
          </p:txBody>
        </p:sp>
      </p:grpSp>
      <p:grpSp>
        <p:nvGrpSpPr>
          <p:cNvPr id="55" name="c2-card-1"/>
          <p:cNvGrpSpPr/>
          <p:nvPr/>
        </p:nvGrpSpPr>
        <p:grpSpPr>
          <a:xfrm>
            <a:off x="7114222" y="1524000"/>
            <a:ext cx="4544378" cy="2036445"/>
            <a:chOff x="7114222" y="1524000"/>
            <a:chExt cx="4544378" cy="2036445"/>
          </a:xfrm>
        </p:grpSpPr>
        <p:sp>
          <p:nvSpPr>
            <p:cNvPr id="40" name="Rectangle 40"/>
            <p:cNvSpPr/>
            <p:nvPr/>
          </p:nvSpPr>
          <p:spPr>
            <a:xfrm>
              <a:off x="7114222" y="1524000"/>
              <a:ext cx="4544378" cy="2036445"/>
            </a:xfrm>
            <a:prstGeom prst="roundRect">
              <a:avLst>
                <a:gd name="adj" fmla="val 6548"/>
              </a:avLst>
            </a:prstGeom>
            <a:solidFill>
              <a:srgbClr val="334E68"/>
            </a:solidFill>
            <a:ln>
              <a:noFill/>
            </a:ln>
          </p:spPr>
        </p:sp>
        <p:sp>
          <p:nvSpPr>
            <p:cNvPr id="41" name="Rectangle 41"/>
            <p:cNvSpPr/>
            <p:nvPr/>
          </p:nvSpPr>
          <p:spPr>
            <a:xfrm>
              <a:off x="7323772" y="1733550"/>
              <a:ext cx="1204912" cy="257175"/>
            </a:xfrm>
            <a:prstGeom prst="roundRect">
              <a:avLst>
                <a:gd name="adj" fmla="val 50000"/>
              </a:avLst>
            </a:prstGeom>
            <a:solidFill>
              <a:srgbClr val="243B53"/>
            </a:solidFill>
            <a:ln>
              <a:noFill/>
            </a:ln>
          </p:spPr>
        </p:sp>
        <p:sp>
          <p:nvSpPr>
            <p:cNvPr id="42" name="TextBox 42"/>
            <p:cNvSpPr txBox="1"/>
            <p:nvPr/>
          </p:nvSpPr>
          <p:spPr>
            <a:xfrm>
              <a:off x="7392327" y="1769269"/>
              <a:ext cx="106685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概括成四个活动</a:t>
              </a:r>
            </a:p>
          </p:txBody>
        </p:sp>
        <p:sp>
          <p:nvSpPr>
            <p:cNvPr id="43" name="Ellipse 43"/>
            <p:cNvSpPr/>
            <p:nvPr/>
          </p:nvSpPr>
          <p:spPr>
            <a:xfrm>
              <a:off x="7323772" y="2097405"/>
              <a:ext cx="213360" cy="213360"/>
            </a:xfrm>
            <a:prstGeom prst="ellipse">
              <a:avLst/>
            </a:prstGeom>
            <a:solidFill>
              <a:srgbClr val="334E68"/>
            </a:solidFill>
            <a:ln>
              <a:noFill/>
            </a:ln>
          </p:spPr>
        </p:sp>
        <p:sp>
          <p:nvSpPr>
            <p:cNvPr id="44" name="TextBox 44"/>
            <p:cNvSpPr txBox="1"/>
            <p:nvPr/>
          </p:nvSpPr>
          <p:spPr>
            <a:xfrm>
              <a:off x="7385622" y="213969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1</a:t>
              </a:r>
            </a:p>
          </p:txBody>
        </p:sp>
        <p:sp>
          <p:nvSpPr>
            <p:cNvPr id="45" name="TextBox 45"/>
            <p:cNvSpPr txBox="1"/>
            <p:nvPr/>
          </p:nvSpPr>
          <p:spPr>
            <a:xfrm>
              <a:off x="7624762" y="2110740"/>
              <a:ext cx="264033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用户、任务和环境分析及建模</a:t>
              </a:r>
            </a:p>
          </p:txBody>
        </p:sp>
        <p:sp>
          <p:nvSpPr>
            <p:cNvPr id="46" name="Ellipse 46"/>
            <p:cNvSpPr/>
            <p:nvPr/>
          </p:nvSpPr>
          <p:spPr>
            <a:xfrm>
              <a:off x="7323772" y="2432685"/>
              <a:ext cx="213360" cy="213360"/>
            </a:xfrm>
            <a:prstGeom prst="ellipse">
              <a:avLst/>
            </a:prstGeom>
            <a:solidFill>
              <a:srgbClr val="334E68"/>
            </a:solidFill>
            <a:ln>
              <a:noFill/>
            </a:ln>
          </p:spPr>
        </p:sp>
        <p:sp>
          <p:nvSpPr>
            <p:cNvPr id="47" name="TextBox 47"/>
            <p:cNvSpPr txBox="1"/>
            <p:nvPr/>
          </p:nvSpPr>
          <p:spPr>
            <a:xfrm>
              <a:off x="7385622" y="247497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2</a:t>
              </a:r>
            </a:p>
          </p:txBody>
        </p:sp>
        <p:sp>
          <p:nvSpPr>
            <p:cNvPr id="48" name="TextBox 48"/>
            <p:cNvSpPr txBox="1"/>
            <p:nvPr/>
          </p:nvSpPr>
          <p:spPr>
            <a:xfrm>
              <a:off x="7624762" y="2446020"/>
              <a:ext cx="82296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界面设计</a:t>
              </a:r>
            </a:p>
          </p:txBody>
        </p:sp>
        <p:sp>
          <p:nvSpPr>
            <p:cNvPr id="49" name="Ellipse 49"/>
            <p:cNvSpPr/>
            <p:nvPr/>
          </p:nvSpPr>
          <p:spPr>
            <a:xfrm>
              <a:off x="7323772" y="2767965"/>
              <a:ext cx="213360" cy="213360"/>
            </a:xfrm>
            <a:prstGeom prst="ellipse">
              <a:avLst/>
            </a:prstGeom>
            <a:solidFill>
              <a:srgbClr val="334E68"/>
            </a:solidFill>
            <a:ln>
              <a:noFill/>
            </a:ln>
          </p:spPr>
        </p:sp>
        <p:sp>
          <p:nvSpPr>
            <p:cNvPr id="50" name="TextBox 50"/>
            <p:cNvSpPr txBox="1"/>
            <p:nvPr/>
          </p:nvSpPr>
          <p:spPr>
            <a:xfrm>
              <a:off x="7385622" y="281025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3</a:t>
              </a:r>
            </a:p>
          </p:txBody>
        </p:sp>
        <p:sp>
          <p:nvSpPr>
            <p:cNvPr id="51" name="TextBox 51"/>
            <p:cNvSpPr txBox="1"/>
            <p:nvPr/>
          </p:nvSpPr>
          <p:spPr>
            <a:xfrm>
              <a:off x="7624762" y="2781300"/>
              <a:ext cx="284226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界面构造（做出可运行的原型）</a:t>
              </a:r>
            </a:p>
          </p:txBody>
        </p:sp>
        <p:sp>
          <p:nvSpPr>
            <p:cNvPr id="52" name="Ellipse 52"/>
            <p:cNvSpPr/>
            <p:nvPr/>
          </p:nvSpPr>
          <p:spPr>
            <a:xfrm>
              <a:off x="7323772" y="3103245"/>
              <a:ext cx="213360" cy="213360"/>
            </a:xfrm>
            <a:prstGeom prst="ellipse">
              <a:avLst/>
            </a:prstGeom>
            <a:solidFill>
              <a:srgbClr val="334E68"/>
            </a:solidFill>
            <a:ln>
              <a:noFill/>
            </a:ln>
          </p:spPr>
        </p:sp>
        <p:sp>
          <p:nvSpPr>
            <p:cNvPr id="53" name="TextBox 53"/>
            <p:cNvSpPr txBox="1"/>
            <p:nvPr/>
          </p:nvSpPr>
          <p:spPr>
            <a:xfrm>
              <a:off x="7385622" y="314553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4</a:t>
              </a:r>
            </a:p>
          </p:txBody>
        </p:sp>
        <p:sp>
          <p:nvSpPr>
            <p:cNvPr id="54" name="TextBox 54"/>
            <p:cNvSpPr txBox="1"/>
            <p:nvPr/>
          </p:nvSpPr>
          <p:spPr>
            <a:xfrm>
              <a:off x="7624762" y="3116580"/>
              <a:ext cx="223647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界面确认（由用户评审）</a:t>
              </a:r>
            </a:p>
          </p:txBody>
        </p:sp>
      </p:grpSp>
      <p:grpSp>
        <p:nvGrpSpPr>
          <p:cNvPr id="66" name="c2-card-2"/>
          <p:cNvGrpSpPr/>
          <p:nvPr/>
        </p:nvGrpSpPr>
        <p:grpSpPr>
          <a:xfrm>
            <a:off x="7114222" y="3750945"/>
            <a:ext cx="4544378" cy="1986915"/>
            <a:chOff x="7114222" y="3750945"/>
            <a:chExt cx="4544378" cy="1986915"/>
          </a:xfrm>
        </p:grpSpPr>
        <p:sp>
          <p:nvSpPr>
            <p:cNvPr id="56" name="Rectangle 56"/>
            <p:cNvSpPr/>
            <p:nvPr/>
          </p:nvSpPr>
          <p:spPr>
            <a:xfrm>
              <a:off x="7114222" y="3750945"/>
              <a:ext cx="4544378" cy="1986915"/>
            </a:xfrm>
            <a:prstGeom prst="roundRect">
              <a:avLst>
                <a:gd name="adj" fmla="val 6711"/>
              </a:avLst>
            </a:prstGeom>
            <a:solidFill>
              <a:srgbClr val="FFFFFF"/>
            </a:solidFill>
            <a:ln w="14288">
              <a:solidFill>
                <a:srgbClr val="D9DFEA"/>
              </a:solidFill>
            </a:ln>
          </p:spPr>
        </p:sp>
        <p:sp>
          <p:nvSpPr>
            <p:cNvPr id="57" name="Rectangle 57"/>
            <p:cNvSpPr/>
            <p:nvPr/>
          </p:nvSpPr>
          <p:spPr>
            <a:xfrm>
              <a:off x="7123748" y="3884295"/>
              <a:ext cx="47625" cy="1720215"/>
            </a:xfrm>
            <a:prstGeom prst="roundRect">
              <a:avLst>
                <a:gd name="adj" fmla="val 50000"/>
              </a:avLst>
            </a:prstGeom>
            <a:solidFill>
              <a:srgbClr val="5B6475"/>
            </a:solidFill>
            <a:ln>
              <a:noFill/>
            </a:ln>
          </p:spPr>
        </p:sp>
        <p:sp>
          <p:nvSpPr>
            <p:cNvPr id="58" name="Rectangle 58"/>
            <p:cNvSpPr/>
            <p:nvPr/>
          </p:nvSpPr>
          <p:spPr>
            <a:xfrm>
              <a:off x="7361872" y="3960495"/>
              <a:ext cx="1062990" cy="257175"/>
            </a:xfrm>
            <a:prstGeom prst="roundRect">
              <a:avLst>
                <a:gd name="adj" fmla="val 50000"/>
              </a:avLst>
            </a:prstGeom>
            <a:solidFill>
              <a:srgbClr val="F4F6FB"/>
            </a:solidFill>
            <a:ln>
              <a:noFill/>
            </a:ln>
          </p:spPr>
        </p:sp>
        <p:sp>
          <p:nvSpPr>
            <p:cNvPr id="59" name="TextBox 59"/>
            <p:cNvSpPr txBox="1"/>
            <p:nvPr/>
          </p:nvSpPr>
          <p:spPr>
            <a:xfrm>
              <a:off x="7435329" y="3996214"/>
              <a:ext cx="916076"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三条黄金规则</a:t>
              </a:r>
            </a:p>
          </p:txBody>
        </p:sp>
        <p:sp>
          <p:nvSpPr>
            <p:cNvPr id="60" name="Ellipse 60"/>
            <p:cNvSpPr/>
            <p:nvPr/>
          </p:nvSpPr>
          <p:spPr>
            <a:xfrm>
              <a:off x="7367588" y="4400550"/>
              <a:ext cx="64770" cy="64770"/>
            </a:xfrm>
            <a:prstGeom prst="ellipse">
              <a:avLst/>
            </a:prstGeom>
            <a:solidFill>
              <a:srgbClr val="334E68"/>
            </a:solidFill>
            <a:ln>
              <a:noFill/>
            </a:ln>
          </p:spPr>
        </p:sp>
        <p:sp>
          <p:nvSpPr>
            <p:cNvPr id="61" name="TextBox 61"/>
            <p:cNvSpPr txBox="1"/>
            <p:nvPr/>
          </p:nvSpPr>
          <p:spPr>
            <a:xfrm>
              <a:off x="7525702" y="4337685"/>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赋予用户控制权：交互灵活，允许中断和撤</a:t>
              </a:r>
              <a:br/>
              <a:r>
                <a:rPr lang="zh-CN" sz="1500" dirty="0">
                  <a:solidFill>
                    <a:srgbClr val="1F2937"/>
                  </a:solidFill>
                  <a:latin typeface="+mn-lt"/>
                  <a:ea typeface="+mn-ea"/>
                  <a:cs typeface="+mn-cs"/>
                </a:rPr>
                <a:t>销</a:t>
              </a:r>
            </a:p>
          </p:txBody>
        </p:sp>
        <p:sp>
          <p:nvSpPr>
            <p:cNvPr id="62" name="Ellipse 62"/>
            <p:cNvSpPr/>
            <p:nvPr/>
          </p:nvSpPr>
          <p:spPr>
            <a:xfrm>
              <a:off x="7367588" y="5021580"/>
              <a:ext cx="64770" cy="64770"/>
            </a:xfrm>
            <a:prstGeom prst="ellipse">
              <a:avLst/>
            </a:prstGeom>
            <a:solidFill>
              <a:srgbClr val="334E68"/>
            </a:solidFill>
            <a:ln>
              <a:noFill/>
            </a:ln>
          </p:spPr>
        </p:sp>
        <p:sp>
          <p:nvSpPr>
            <p:cNvPr id="63" name="TextBox 63"/>
            <p:cNvSpPr txBox="1"/>
            <p:nvPr/>
          </p:nvSpPr>
          <p:spPr>
            <a:xfrm>
              <a:off x="7525702" y="495871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减少用户的记忆负担</a:t>
              </a:r>
            </a:p>
          </p:txBody>
        </p:sp>
        <p:sp>
          <p:nvSpPr>
            <p:cNvPr id="64" name="Ellipse 64"/>
            <p:cNvSpPr/>
            <p:nvPr/>
          </p:nvSpPr>
          <p:spPr>
            <a:xfrm>
              <a:off x="7367588" y="5356860"/>
              <a:ext cx="64770" cy="64770"/>
            </a:xfrm>
            <a:prstGeom prst="ellipse">
              <a:avLst/>
            </a:prstGeom>
            <a:solidFill>
              <a:srgbClr val="334E68"/>
            </a:solidFill>
            <a:ln>
              <a:noFill/>
            </a:ln>
          </p:spPr>
        </p:sp>
        <p:sp>
          <p:nvSpPr>
            <p:cNvPr id="65" name="TextBox 65"/>
            <p:cNvSpPr txBox="1"/>
            <p:nvPr/>
          </p:nvSpPr>
          <p:spPr>
            <a:xfrm>
              <a:off x="7525702" y="5293995"/>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保持界面一致</a:t>
              </a:r>
            </a:p>
          </p:txBody>
        </p:sp>
      </p:grpSp>
      <p:grpSp>
        <p:nvGrpSpPr>
          <p:cNvPr id="69" name="footer"/>
          <p:cNvGrpSpPr/>
          <p:nvPr/>
        </p:nvGrpSpPr>
        <p:grpSpPr>
          <a:xfrm>
            <a:off x="528447" y="6581299"/>
            <a:ext cx="11135106" cy="190690"/>
            <a:chOff x="528447" y="6581299"/>
            <a:chExt cx="11135106" cy="190690"/>
          </a:xfrm>
        </p:grpSpPr>
        <p:sp>
          <p:nvSpPr>
            <p:cNvPr id="67" name="TextBox 67"/>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68" name="TextBox 6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458718" cy="909257"/>
            <a:chOff x="520446" y="342900"/>
            <a:chExt cx="3458718" cy="909257"/>
          </a:xfrm>
        </p:grpSpPr>
        <p:sp>
          <p:nvSpPr>
            <p:cNvPr id="2" name="Rectangle 2"/>
            <p:cNvSpPr/>
            <p:nvPr/>
          </p:nvSpPr>
          <p:spPr>
            <a:xfrm>
              <a:off x="533400" y="342900"/>
              <a:ext cx="2272665" cy="266700"/>
            </a:xfrm>
            <a:prstGeom prst="roundRect">
              <a:avLst>
                <a:gd name="adj" fmla="val 50000"/>
              </a:avLst>
            </a:prstGeom>
            <a:solidFill>
              <a:srgbClr val="E7EDF3"/>
            </a:solidFill>
            <a:ln>
              <a:noFill/>
            </a:ln>
          </p:spPr>
        </p:sp>
        <p:sp>
          <p:nvSpPr>
            <p:cNvPr id="3" name="TextBox 3"/>
            <p:cNvSpPr txBox="1"/>
            <p:nvPr/>
          </p:nvSpPr>
          <p:spPr>
            <a:xfrm>
              <a:off x="601058" y="407194"/>
              <a:ext cx="213734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人机界面设计</a:t>
              </a:r>
            </a:p>
          </p:txBody>
        </p:sp>
        <p:sp>
          <p:nvSpPr>
            <p:cNvPr id="4" name="TextBox 4"/>
            <p:cNvSpPr txBox="1"/>
            <p:nvPr/>
          </p:nvSpPr>
          <p:spPr>
            <a:xfrm>
              <a:off x="520446" y="753428"/>
              <a:ext cx="345871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三组人机界面设计指南</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56" name="c1-table-1"/>
          <p:cNvGrpSpPr/>
          <p:nvPr/>
        </p:nvGrpSpPr>
        <p:grpSpPr>
          <a:xfrm>
            <a:off x="528447" y="1524000"/>
            <a:ext cx="11130153" cy="4664106"/>
            <a:chOff x="528447" y="1524000"/>
            <a:chExt cx="11130153" cy="4664106"/>
          </a:xfrm>
        </p:grpSpPr>
        <p:sp>
          <p:nvSpPr>
            <p:cNvPr id="7" name="Rectangle 7"/>
            <p:cNvSpPr/>
            <p:nvPr/>
          </p:nvSpPr>
          <p:spPr>
            <a:xfrm>
              <a:off x="533400" y="1524000"/>
              <a:ext cx="11125200" cy="400050"/>
            </a:xfrm>
            <a:prstGeom prst="rect">
              <a:avLst/>
            </a:prstGeom>
            <a:solidFill>
              <a:srgbClr val="334E68"/>
            </a:solidFill>
            <a:ln>
              <a:noFill/>
            </a:ln>
          </p:spPr>
        </p:sp>
        <p:sp>
          <p:nvSpPr>
            <p:cNvPr id="8" name="TextBox 8"/>
            <p:cNvSpPr txBox="1"/>
            <p:nvPr/>
          </p:nvSpPr>
          <p:spPr>
            <a:xfrm>
              <a:off x="1967027" y="1645444"/>
              <a:ext cx="916076"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一般交互指南</a:t>
              </a:r>
            </a:p>
          </p:txBody>
        </p:sp>
        <p:sp>
          <p:nvSpPr>
            <p:cNvPr id="9" name="TextBox 9"/>
            <p:cNvSpPr txBox="1"/>
            <p:nvPr/>
          </p:nvSpPr>
          <p:spPr>
            <a:xfrm>
              <a:off x="5693207" y="1645444"/>
              <a:ext cx="916076"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信息显示指南</a:t>
              </a:r>
            </a:p>
          </p:txBody>
        </p:sp>
        <p:sp>
          <p:nvSpPr>
            <p:cNvPr id="10" name="TextBox 10"/>
            <p:cNvSpPr txBox="1"/>
            <p:nvPr/>
          </p:nvSpPr>
          <p:spPr>
            <a:xfrm>
              <a:off x="9365094" y="1645444"/>
              <a:ext cx="916076"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数据输入指南</a:t>
              </a:r>
            </a:p>
          </p:txBody>
        </p:sp>
        <p:sp>
          <p:nvSpPr>
            <p:cNvPr id="11" name="TextBox 11"/>
            <p:cNvSpPr txBox="1"/>
            <p:nvPr/>
          </p:nvSpPr>
          <p:spPr>
            <a:xfrm>
              <a:off x="630555" y="2045494"/>
              <a:ext cx="76530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保持一致性</a:t>
              </a:r>
            </a:p>
          </p:txBody>
        </p:sp>
        <p:sp>
          <p:nvSpPr>
            <p:cNvPr id="12" name="TextBox 12"/>
            <p:cNvSpPr txBox="1"/>
            <p:nvPr/>
          </p:nvSpPr>
          <p:spPr>
            <a:xfrm>
              <a:off x="4412932" y="2045494"/>
              <a:ext cx="227304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只显示与当前工作内容有关的信息</a:t>
              </a:r>
            </a:p>
          </p:txBody>
        </p:sp>
        <p:sp>
          <p:nvSpPr>
            <p:cNvPr id="13" name="TextBox 13"/>
            <p:cNvSpPr txBox="1"/>
            <p:nvPr/>
          </p:nvSpPr>
          <p:spPr>
            <a:xfrm>
              <a:off x="8084820" y="2045494"/>
              <a:ext cx="166994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尽量减少用户的输入动作</a:t>
              </a:r>
            </a:p>
          </p:txBody>
        </p:sp>
        <p:sp>
          <p:nvSpPr>
            <p:cNvPr id="14" name="Rectangle 14"/>
            <p:cNvSpPr/>
            <p:nvPr/>
          </p:nvSpPr>
          <p:spPr>
            <a:xfrm>
              <a:off x="533400" y="2319338"/>
              <a:ext cx="11125200" cy="9525"/>
            </a:xfrm>
            <a:prstGeom prst="rect">
              <a:avLst/>
            </a:prstGeom>
            <a:solidFill>
              <a:srgbClr val="D9DFEA"/>
            </a:solidFill>
            <a:ln>
              <a:noFill/>
            </a:ln>
          </p:spPr>
        </p:sp>
        <p:sp>
          <p:nvSpPr>
            <p:cNvPr id="15" name="Rectangle 15"/>
            <p:cNvSpPr/>
            <p:nvPr/>
          </p:nvSpPr>
          <p:spPr>
            <a:xfrm>
              <a:off x="533400" y="2324100"/>
              <a:ext cx="11125200" cy="400050"/>
            </a:xfrm>
            <a:prstGeom prst="rect">
              <a:avLst/>
            </a:prstGeom>
            <a:solidFill>
              <a:srgbClr val="F4F6FB"/>
            </a:solidFill>
            <a:ln>
              <a:noFill/>
            </a:ln>
          </p:spPr>
        </p:sp>
        <p:sp>
          <p:nvSpPr>
            <p:cNvPr id="16" name="TextBox 16"/>
            <p:cNvSpPr txBox="1"/>
            <p:nvPr/>
          </p:nvSpPr>
          <p:spPr>
            <a:xfrm>
              <a:off x="630555" y="2445544"/>
              <a:ext cx="121762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提供有意义的反馈</a:t>
              </a:r>
            </a:p>
          </p:txBody>
        </p:sp>
        <p:sp>
          <p:nvSpPr>
            <p:cNvPr id="17" name="TextBox 17"/>
            <p:cNvSpPr txBox="1"/>
            <p:nvPr/>
          </p:nvSpPr>
          <p:spPr>
            <a:xfrm>
              <a:off x="4412932" y="2445544"/>
              <a:ext cx="136840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不要用数据淹没用户</a:t>
              </a:r>
            </a:p>
          </p:txBody>
        </p:sp>
        <p:sp>
          <p:nvSpPr>
            <p:cNvPr id="18" name="TextBox 18"/>
            <p:cNvSpPr txBox="1"/>
            <p:nvPr/>
          </p:nvSpPr>
          <p:spPr>
            <a:xfrm>
              <a:off x="8084820" y="2445544"/>
              <a:ext cx="257459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保持信息显示和数据输入之间的一致性</a:t>
              </a:r>
            </a:p>
          </p:txBody>
        </p:sp>
        <p:sp>
          <p:nvSpPr>
            <p:cNvPr id="19" name="Rectangle 19"/>
            <p:cNvSpPr/>
            <p:nvPr/>
          </p:nvSpPr>
          <p:spPr>
            <a:xfrm>
              <a:off x="533400" y="2719388"/>
              <a:ext cx="11125200" cy="9525"/>
            </a:xfrm>
            <a:prstGeom prst="rect">
              <a:avLst/>
            </a:prstGeom>
            <a:solidFill>
              <a:srgbClr val="D9DFEA"/>
            </a:solidFill>
            <a:ln>
              <a:noFill/>
            </a:ln>
          </p:spPr>
        </p:sp>
        <p:sp>
          <p:nvSpPr>
            <p:cNvPr id="20" name="TextBox 20"/>
            <p:cNvSpPr txBox="1"/>
            <p:nvPr/>
          </p:nvSpPr>
          <p:spPr>
            <a:xfrm>
              <a:off x="630555" y="2845594"/>
              <a:ext cx="227304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破坏性较大的动作前要求用户确认</a:t>
              </a:r>
            </a:p>
          </p:txBody>
        </p:sp>
        <p:sp>
          <p:nvSpPr>
            <p:cNvPr id="21" name="TextBox 21"/>
            <p:cNvSpPr txBox="1"/>
            <p:nvPr/>
          </p:nvSpPr>
          <p:spPr>
            <a:xfrm>
              <a:off x="4412932" y="2845594"/>
              <a:ext cx="287614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使用一致的标记、标准缩写和可预知的颜色</a:t>
              </a:r>
            </a:p>
          </p:txBody>
        </p:sp>
        <p:sp>
          <p:nvSpPr>
            <p:cNvPr id="22" name="TextBox 22"/>
            <p:cNvSpPr txBox="1"/>
            <p:nvPr/>
          </p:nvSpPr>
          <p:spPr>
            <a:xfrm>
              <a:off x="8084820" y="2845594"/>
              <a:ext cx="136840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允许用户自定义输入</a:t>
              </a:r>
            </a:p>
          </p:txBody>
        </p:sp>
        <p:sp>
          <p:nvSpPr>
            <p:cNvPr id="23" name="Rectangle 23"/>
            <p:cNvSpPr/>
            <p:nvPr/>
          </p:nvSpPr>
          <p:spPr>
            <a:xfrm>
              <a:off x="533400" y="3119438"/>
              <a:ext cx="11125200" cy="9525"/>
            </a:xfrm>
            <a:prstGeom prst="rect">
              <a:avLst/>
            </a:prstGeom>
            <a:solidFill>
              <a:srgbClr val="D9DFEA"/>
            </a:solidFill>
            <a:ln>
              <a:noFill/>
            </a:ln>
          </p:spPr>
        </p:sp>
        <p:sp>
          <p:nvSpPr>
            <p:cNvPr id="24" name="Rectangle 24"/>
            <p:cNvSpPr/>
            <p:nvPr/>
          </p:nvSpPr>
          <p:spPr>
            <a:xfrm>
              <a:off x="533400" y="3124200"/>
              <a:ext cx="11125200" cy="400050"/>
            </a:xfrm>
            <a:prstGeom prst="rect">
              <a:avLst/>
            </a:prstGeom>
            <a:solidFill>
              <a:srgbClr val="F4F6FB"/>
            </a:solidFill>
            <a:ln>
              <a:noFill/>
            </a:ln>
          </p:spPr>
        </p:sp>
        <p:sp>
          <p:nvSpPr>
            <p:cNvPr id="25" name="TextBox 25"/>
            <p:cNvSpPr txBox="1"/>
            <p:nvPr/>
          </p:nvSpPr>
          <p:spPr>
            <a:xfrm>
              <a:off x="630555" y="3245644"/>
              <a:ext cx="151917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允许取消绝大多数操作</a:t>
              </a:r>
            </a:p>
          </p:txBody>
        </p:sp>
        <p:sp>
          <p:nvSpPr>
            <p:cNvPr id="26" name="TextBox 26"/>
            <p:cNvSpPr txBox="1"/>
            <p:nvPr/>
          </p:nvSpPr>
          <p:spPr>
            <a:xfrm>
              <a:off x="4412932" y="3245644"/>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允许用户保持可视化的语境</a:t>
              </a:r>
            </a:p>
          </p:txBody>
        </p:sp>
        <p:sp>
          <p:nvSpPr>
            <p:cNvPr id="27" name="TextBox 27"/>
            <p:cNvSpPr txBox="1"/>
            <p:nvPr/>
          </p:nvSpPr>
          <p:spPr>
            <a:xfrm>
              <a:off x="8084820" y="3245644"/>
              <a:ext cx="257459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交互灵活，可调成用户喜欢的输入方式</a:t>
              </a:r>
            </a:p>
          </p:txBody>
        </p:sp>
        <p:sp>
          <p:nvSpPr>
            <p:cNvPr id="28" name="Rectangle 28"/>
            <p:cNvSpPr/>
            <p:nvPr/>
          </p:nvSpPr>
          <p:spPr>
            <a:xfrm>
              <a:off x="533400" y="3519488"/>
              <a:ext cx="11125200" cy="9525"/>
            </a:xfrm>
            <a:prstGeom prst="rect">
              <a:avLst/>
            </a:prstGeom>
            <a:solidFill>
              <a:srgbClr val="D9DFEA"/>
            </a:solidFill>
            <a:ln>
              <a:noFill/>
            </a:ln>
          </p:spPr>
        </p:sp>
        <p:sp>
          <p:nvSpPr>
            <p:cNvPr id="29" name="TextBox 29"/>
            <p:cNvSpPr txBox="1"/>
            <p:nvPr/>
          </p:nvSpPr>
          <p:spPr>
            <a:xfrm>
              <a:off x="630555" y="3645694"/>
              <a:ext cx="242382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减少两次操作之间必须记忆的信息量</a:t>
              </a:r>
            </a:p>
          </p:txBody>
        </p:sp>
        <p:sp>
          <p:nvSpPr>
            <p:cNvPr id="30" name="TextBox 30"/>
            <p:cNvSpPr txBox="1"/>
            <p:nvPr/>
          </p:nvSpPr>
          <p:spPr>
            <a:xfrm>
              <a:off x="4412932" y="3645694"/>
              <a:ext cx="151917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产生有意义的出错信息</a:t>
              </a:r>
            </a:p>
          </p:txBody>
        </p:sp>
        <p:sp>
          <p:nvSpPr>
            <p:cNvPr id="31" name="TextBox 31"/>
            <p:cNvSpPr txBox="1"/>
            <p:nvPr/>
          </p:nvSpPr>
          <p:spPr>
            <a:xfrm>
              <a:off x="8084820" y="3645694"/>
              <a:ext cx="227304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当前语境中不适用的命令不起作用</a:t>
              </a:r>
            </a:p>
          </p:txBody>
        </p:sp>
        <p:sp>
          <p:nvSpPr>
            <p:cNvPr id="32" name="Rectangle 32"/>
            <p:cNvSpPr/>
            <p:nvPr/>
          </p:nvSpPr>
          <p:spPr>
            <a:xfrm>
              <a:off x="533400" y="3919538"/>
              <a:ext cx="11125200" cy="9525"/>
            </a:xfrm>
            <a:prstGeom prst="rect">
              <a:avLst/>
            </a:prstGeom>
            <a:solidFill>
              <a:srgbClr val="D9DFEA"/>
            </a:solidFill>
            <a:ln>
              <a:noFill/>
            </a:ln>
          </p:spPr>
        </p:sp>
        <p:sp>
          <p:nvSpPr>
            <p:cNvPr id="33" name="Rectangle 33"/>
            <p:cNvSpPr/>
            <p:nvPr/>
          </p:nvSpPr>
          <p:spPr>
            <a:xfrm>
              <a:off x="533400" y="3924300"/>
              <a:ext cx="11125200" cy="400050"/>
            </a:xfrm>
            <a:prstGeom prst="rect">
              <a:avLst/>
            </a:prstGeom>
            <a:solidFill>
              <a:srgbClr val="F4F6FB"/>
            </a:solidFill>
            <a:ln>
              <a:noFill/>
            </a:ln>
          </p:spPr>
        </p:sp>
        <p:sp>
          <p:nvSpPr>
            <p:cNvPr id="34" name="TextBox 34"/>
            <p:cNvSpPr txBox="1"/>
            <p:nvPr/>
          </p:nvSpPr>
          <p:spPr>
            <a:xfrm>
              <a:off x="630555" y="4045744"/>
              <a:ext cx="197149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提高对话、移动和思考的效率</a:t>
              </a:r>
            </a:p>
          </p:txBody>
        </p:sp>
        <p:sp>
          <p:nvSpPr>
            <p:cNvPr id="35" name="TextBox 35"/>
            <p:cNvSpPr txBox="1"/>
            <p:nvPr/>
          </p:nvSpPr>
          <p:spPr>
            <a:xfrm>
              <a:off x="4412932" y="4045744"/>
              <a:ext cx="242382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用大小写、缩进和文本分组帮助理解</a:t>
              </a:r>
            </a:p>
          </p:txBody>
        </p:sp>
        <p:sp>
          <p:nvSpPr>
            <p:cNvPr id="36" name="TextBox 36"/>
            <p:cNvSpPr txBox="1"/>
            <p:nvPr/>
          </p:nvSpPr>
          <p:spPr>
            <a:xfrm>
              <a:off x="8084820" y="4045744"/>
              <a:ext cx="121762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让用户控制交互流</a:t>
              </a:r>
            </a:p>
          </p:txBody>
        </p:sp>
        <p:sp>
          <p:nvSpPr>
            <p:cNvPr id="37" name="Rectangle 37"/>
            <p:cNvSpPr/>
            <p:nvPr/>
          </p:nvSpPr>
          <p:spPr>
            <a:xfrm>
              <a:off x="533400" y="4319588"/>
              <a:ext cx="11125200" cy="9525"/>
            </a:xfrm>
            <a:prstGeom prst="rect">
              <a:avLst/>
            </a:prstGeom>
            <a:solidFill>
              <a:srgbClr val="D9DFEA"/>
            </a:solidFill>
            <a:ln>
              <a:noFill/>
            </a:ln>
          </p:spPr>
        </p:sp>
        <p:sp>
          <p:nvSpPr>
            <p:cNvPr id="38" name="TextBox 38"/>
            <p:cNvSpPr txBox="1"/>
            <p:nvPr/>
          </p:nvSpPr>
          <p:spPr>
            <a:xfrm>
              <a:off x="630555" y="4445794"/>
              <a:ext cx="76530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允许犯错误</a:t>
              </a:r>
            </a:p>
          </p:txBody>
        </p:sp>
        <p:sp>
          <p:nvSpPr>
            <p:cNvPr id="39" name="TextBox 39"/>
            <p:cNvSpPr txBox="1"/>
            <p:nvPr/>
          </p:nvSpPr>
          <p:spPr>
            <a:xfrm>
              <a:off x="4412932" y="4445794"/>
              <a:ext cx="197149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使用窗口分隔不同类型的信息</a:t>
              </a:r>
            </a:p>
          </p:txBody>
        </p:sp>
        <p:sp>
          <p:nvSpPr>
            <p:cNvPr id="40" name="TextBox 40"/>
            <p:cNvSpPr txBox="1"/>
            <p:nvPr/>
          </p:nvSpPr>
          <p:spPr>
            <a:xfrm>
              <a:off x="8084820" y="4445794"/>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对所有输入动作都提供帮助</a:t>
              </a:r>
            </a:p>
          </p:txBody>
        </p:sp>
        <p:sp>
          <p:nvSpPr>
            <p:cNvPr id="41" name="Rectangle 41"/>
            <p:cNvSpPr/>
            <p:nvPr/>
          </p:nvSpPr>
          <p:spPr>
            <a:xfrm>
              <a:off x="533400" y="4719638"/>
              <a:ext cx="11125200" cy="9525"/>
            </a:xfrm>
            <a:prstGeom prst="rect">
              <a:avLst/>
            </a:prstGeom>
            <a:solidFill>
              <a:srgbClr val="D9DFEA"/>
            </a:solidFill>
            <a:ln>
              <a:noFill/>
            </a:ln>
          </p:spPr>
        </p:sp>
        <p:sp>
          <p:nvSpPr>
            <p:cNvPr id="42" name="Rectangle 42"/>
            <p:cNvSpPr/>
            <p:nvPr/>
          </p:nvSpPr>
          <p:spPr>
            <a:xfrm>
              <a:off x="533400" y="4724400"/>
              <a:ext cx="11125200" cy="400050"/>
            </a:xfrm>
            <a:prstGeom prst="rect">
              <a:avLst/>
            </a:prstGeom>
            <a:solidFill>
              <a:srgbClr val="F4F6FB"/>
            </a:solidFill>
            <a:ln>
              <a:noFill/>
            </a:ln>
          </p:spPr>
        </p:sp>
        <p:sp>
          <p:nvSpPr>
            <p:cNvPr id="43" name="TextBox 43"/>
            <p:cNvSpPr txBox="1"/>
            <p:nvPr/>
          </p:nvSpPr>
          <p:spPr>
            <a:xfrm>
              <a:off x="630555" y="4845844"/>
              <a:ext cx="227304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按功能对动作分类并设计屏幕布局</a:t>
              </a:r>
            </a:p>
          </p:txBody>
        </p:sp>
        <p:sp>
          <p:nvSpPr>
            <p:cNvPr id="44" name="TextBox 44"/>
            <p:cNvSpPr txBox="1"/>
            <p:nvPr/>
          </p:nvSpPr>
          <p:spPr>
            <a:xfrm>
              <a:off x="4412932" y="4845844"/>
              <a:ext cx="212227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使用「模拟」显示方式表示信息</a:t>
              </a:r>
            </a:p>
          </p:txBody>
        </p:sp>
        <p:sp>
          <p:nvSpPr>
            <p:cNvPr id="45" name="TextBox 45"/>
            <p:cNvSpPr txBox="1"/>
            <p:nvPr/>
          </p:nvSpPr>
          <p:spPr>
            <a:xfrm>
              <a:off x="8084820" y="4845844"/>
              <a:ext cx="106685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消除冗余的输入</a:t>
              </a:r>
            </a:p>
          </p:txBody>
        </p:sp>
        <p:sp>
          <p:nvSpPr>
            <p:cNvPr id="46" name="Rectangle 46"/>
            <p:cNvSpPr/>
            <p:nvPr/>
          </p:nvSpPr>
          <p:spPr>
            <a:xfrm>
              <a:off x="533400" y="5119688"/>
              <a:ext cx="11125200" cy="9525"/>
            </a:xfrm>
            <a:prstGeom prst="rect">
              <a:avLst/>
            </a:prstGeom>
            <a:solidFill>
              <a:srgbClr val="D9DFEA"/>
            </a:solidFill>
            <a:ln>
              <a:noFill/>
            </a:ln>
          </p:spPr>
        </p:sp>
        <p:sp>
          <p:nvSpPr>
            <p:cNvPr id="47" name="TextBox 47"/>
            <p:cNvSpPr txBox="1"/>
            <p:nvPr/>
          </p:nvSpPr>
          <p:spPr>
            <a:xfrm>
              <a:off x="630555" y="5245894"/>
              <a:ext cx="242382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提供对用户工作内容敏感的帮助设施</a:t>
              </a:r>
            </a:p>
          </p:txBody>
        </p:sp>
        <p:sp>
          <p:nvSpPr>
            <p:cNvPr id="48" name="TextBox 48"/>
            <p:cNvSpPr txBox="1"/>
            <p:nvPr/>
          </p:nvSpPr>
          <p:spPr>
            <a:xfrm>
              <a:off x="4412932" y="5245894"/>
              <a:ext cx="136840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高效率地使用显示屏</a:t>
              </a:r>
            </a:p>
          </p:txBody>
        </p:sp>
        <p:sp>
          <p:nvSpPr>
            <p:cNvPr id="49" name="Rectangle 49"/>
            <p:cNvSpPr/>
            <p:nvPr/>
          </p:nvSpPr>
          <p:spPr>
            <a:xfrm>
              <a:off x="533400" y="5519738"/>
              <a:ext cx="11125200" cy="9525"/>
            </a:xfrm>
            <a:prstGeom prst="rect">
              <a:avLst/>
            </a:prstGeom>
            <a:solidFill>
              <a:srgbClr val="D9DFEA"/>
            </a:solidFill>
            <a:ln>
              <a:noFill/>
            </a:ln>
          </p:spPr>
        </p:sp>
        <p:sp>
          <p:nvSpPr>
            <p:cNvPr id="50" name="Rectangle 50"/>
            <p:cNvSpPr/>
            <p:nvPr/>
          </p:nvSpPr>
          <p:spPr>
            <a:xfrm>
              <a:off x="533400" y="5524500"/>
              <a:ext cx="11125200" cy="400050"/>
            </a:xfrm>
            <a:prstGeom prst="rect">
              <a:avLst/>
            </a:prstGeom>
            <a:solidFill>
              <a:srgbClr val="F4F6FB"/>
            </a:solidFill>
            <a:ln>
              <a:noFill/>
            </a:ln>
          </p:spPr>
        </p:sp>
        <p:sp>
          <p:nvSpPr>
            <p:cNvPr id="51" name="TextBox 51"/>
            <p:cNvSpPr txBox="1"/>
            <p:nvPr/>
          </p:nvSpPr>
          <p:spPr>
            <a:xfrm>
              <a:off x="630555" y="5645944"/>
              <a:ext cx="227304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用简单动词或动词短语作为命令名</a:t>
              </a:r>
            </a:p>
          </p:txBody>
        </p:sp>
        <p:sp>
          <p:nvSpPr>
            <p:cNvPr id="52" name="Rectangle 52"/>
            <p:cNvSpPr/>
            <p:nvPr/>
          </p:nvSpPr>
          <p:spPr>
            <a:xfrm>
              <a:off x="533400" y="1524000"/>
              <a:ext cx="11125200" cy="4400550"/>
            </a:xfrm>
            <a:prstGeom prst="rect">
              <a:avLst/>
            </a:prstGeom>
            <a:noFill/>
            <a:ln w="14288">
              <a:solidFill>
                <a:srgbClr val="D9DFEA"/>
              </a:solidFill>
            </a:ln>
          </p:spPr>
        </p:sp>
        <p:sp>
          <p:nvSpPr>
            <p:cNvPr id="53" name="Rectangle 53"/>
            <p:cNvSpPr/>
            <p:nvPr/>
          </p:nvSpPr>
          <p:spPr>
            <a:xfrm>
              <a:off x="4311015" y="1524000"/>
              <a:ext cx="9525" cy="4400550"/>
            </a:xfrm>
            <a:prstGeom prst="rect">
              <a:avLst/>
            </a:prstGeom>
            <a:solidFill>
              <a:srgbClr val="D9DFEA"/>
            </a:solidFill>
            <a:ln>
              <a:noFill/>
            </a:ln>
          </p:spPr>
        </p:sp>
        <p:sp>
          <p:nvSpPr>
            <p:cNvPr id="54" name="Rectangle 54"/>
            <p:cNvSpPr/>
            <p:nvPr/>
          </p:nvSpPr>
          <p:spPr>
            <a:xfrm>
              <a:off x="7982902" y="1524000"/>
              <a:ext cx="9525" cy="4400550"/>
            </a:xfrm>
            <a:prstGeom prst="rect">
              <a:avLst/>
            </a:prstGeom>
            <a:solidFill>
              <a:srgbClr val="D9DFEA"/>
            </a:solidFill>
            <a:ln>
              <a:noFill/>
            </a:ln>
          </p:spPr>
        </p:sp>
        <p:sp>
          <p:nvSpPr>
            <p:cNvPr id="55" name="TextBox 55"/>
            <p:cNvSpPr txBox="1"/>
            <p:nvPr/>
          </p:nvSpPr>
          <p:spPr>
            <a:xfrm>
              <a:off x="528447" y="5997416"/>
              <a:ext cx="673821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说「一致性、确认、取消」的是一般交互，说「不要淹没用户」的是信息显示，说「减少输入动作」的是数据输入。</a:t>
              </a:r>
            </a:p>
          </p:txBody>
        </p:sp>
      </p:grpSp>
      <p:grpSp>
        <p:nvGrpSpPr>
          <p:cNvPr id="59" name="footer"/>
          <p:cNvGrpSpPr/>
          <p:nvPr/>
        </p:nvGrpSpPr>
        <p:grpSpPr>
          <a:xfrm>
            <a:off x="528447" y="6581299"/>
            <a:ext cx="11135106" cy="190690"/>
            <a:chOff x="528447" y="6581299"/>
            <a:chExt cx="11135106" cy="190690"/>
          </a:xfrm>
        </p:grpSpPr>
        <p:sp>
          <p:nvSpPr>
            <p:cNvPr id="57" name="TextBox 57"/>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58" name="TextBox 5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03</a:t>
              </a:r>
            </a:p>
          </p:txBody>
        </p:sp>
      </p:grpSp>
      <p:grpSp>
        <p:nvGrpSpPr>
          <p:cNvPr id="16" name="section-title"/>
          <p:cNvGrpSpPr/>
          <p:nvPr/>
        </p:nvGrpSpPr>
        <p:grpSpPr>
          <a:xfrm>
            <a:off x="667512" y="1835468"/>
            <a:ext cx="5135499" cy="2997517"/>
            <a:chOff x="667512" y="1835468"/>
            <a:chExt cx="5135499" cy="299751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第三部分</a:t>
              </a:r>
            </a:p>
          </p:txBody>
        </p:sp>
        <p:sp>
          <p:nvSpPr>
            <p:cNvPr id="7" name="TextBox 7"/>
            <p:cNvSpPr txBox="1"/>
            <p:nvPr/>
          </p:nvSpPr>
          <p:spPr>
            <a:xfrm>
              <a:off x="667512" y="2240280"/>
              <a:ext cx="4398264"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过程设计技术和工具</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5125593"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把模块内部的处理过程写清楚，一共有六种常用工具</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245059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程序流程图、盒图、PAD 图</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判定表与判定树</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164287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过程设计语言 PDL</a:t>
              </a:r>
            </a:p>
          </p:txBody>
        </p:sp>
      </p:grpSp>
      <p:grpSp>
        <p:nvGrpSpPr>
          <p:cNvPr id="19" name="footer"/>
          <p:cNvGrpSpPr/>
          <p:nvPr/>
        </p:nvGrpSpPr>
        <p:grpSpPr>
          <a:xfrm>
            <a:off x="528447" y="6581299"/>
            <a:ext cx="11135106" cy="190690"/>
            <a:chOff x="528447" y="6581299"/>
            <a:chExt cx="11135106" cy="190690"/>
          </a:xfrm>
        </p:grpSpPr>
        <p:sp>
          <p:nvSpPr>
            <p:cNvPr id="17" name="TextBox 17"/>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18" name="TextBox 1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过程设计技术和工具</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详细设计工具分成图形、表格、语言三类</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4269994" cy="308039"/>
            <a:chOff x="525399" y="1550194"/>
            <a:chExt cx="4269994" cy="308039"/>
          </a:xfrm>
        </p:grpSpPr>
        <p:sp>
          <p:nvSpPr>
            <p:cNvPr id="7" name="TextBox 7"/>
            <p:cNvSpPr txBox="1"/>
            <p:nvPr/>
          </p:nvSpPr>
          <p:spPr>
            <a:xfrm>
              <a:off x="525399" y="1550194"/>
              <a:ext cx="4269994"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表达过程规格说明的工具叫做详细设计工具。</a:t>
              </a:r>
            </a:p>
          </p:txBody>
        </p:sp>
      </p:grpSp>
      <p:grpSp>
        <p:nvGrpSpPr>
          <p:cNvPr id="38" name="c1-tree-1"/>
          <p:cNvGrpSpPr/>
          <p:nvPr/>
        </p:nvGrpSpPr>
        <p:grpSpPr>
          <a:xfrm>
            <a:off x="533400" y="2147888"/>
            <a:ext cx="5410200" cy="4139564"/>
            <a:chOff x="533400" y="2147888"/>
            <a:chExt cx="5410200" cy="4139564"/>
          </a:xfrm>
        </p:grpSpPr>
        <p:sp>
          <p:nvSpPr>
            <p:cNvPr id="9" name="Freeform 9"/>
            <p:cNvSpPr/>
            <p:nvPr/>
          </p:nvSpPr>
          <p:spPr>
            <a:xfrm>
              <a:off x="4000500" y="2333625"/>
              <a:ext cx="419100" cy="732472"/>
            </a:xfrm>
            <a:custGeom>
              <a:avLst/>
              <a:gdLst/>
              <a:ahLst/>
              <a:cxnLst/>
              <a:rect l="l" t="t" r="r" b="b"/>
              <a:pathLst>
                <a:path w="419100" h="732472">
                  <a:moveTo>
                    <a:pt x="0" y="732472"/>
                  </a:moveTo>
                  <a:lnTo>
                    <a:pt x="209550" y="732472"/>
                  </a:lnTo>
                  <a:lnTo>
                    <a:pt x="209550" y="0"/>
                  </a:lnTo>
                  <a:lnTo>
                    <a:pt x="419100" y="0"/>
                  </a:lnTo>
                </a:path>
              </a:pathLst>
            </a:custGeom>
            <a:noFill/>
            <a:ln w="17145">
              <a:solidFill>
                <a:srgbClr val="D9DFEA"/>
              </a:solidFill>
            </a:ln>
          </p:spPr>
        </p:sp>
        <p:sp>
          <p:nvSpPr>
            <p:cNvPr id="10" name="Freeform 10"/>
            <p:cNvSpPr/>
            <p:nvPr/>
          </p:nvSpPr>
          <p:spPr>
            <a:xfrm>
              <a:off x="4000500" y="3066098"/>
              <a:ext cx="419100" cy="9525"/>
            </a:xfrm>
            <a:custGeom>
              <a:avLst/>
              <a:gdLst/>
              <a:ahLst/>
              <a:cxnLst/>
              <a:rect l="l" t="t" r="r" b="b"/>
              <a:pathLst>
                <a:path w="419100" h="9525">
                  <a:moveTo>
                    <a:pt x="0" y="0"/>
                  </a:moveTo>
                  <a:lnTo>
                    <a:pt x="209550" y="0"/>
                  </a:lnTo>
                  <a:lnTo>
                    <a:pt x="209550" y="0"/>
                  </a:lnTo>
                  <a:lnTo>
                    <a:pt x="419100" y="0"/>
                  </a:lnTo>
                </a:path>
              </a:pathLst>
            </a:custGeom>
            <a:noFill/>
            <a:ln w="17145">
              <a:solidFill>
                <a:srgbClr val="D9DFEA"/>
              </a:solidFill>
            </a:ln>
          </p:spPr>
        </p:sp>
        <p:sp>
          <p:nvSpPr>
            <p:cNvPr id="11" name="Freeform 11"/>
            <p:cNvSpPr/>
            <p:nvPr/>
          </p:nvSpPr>
          <p:spPr>
            <a:xfrm>
              <a:off x="4000500" y="3066098"/>
              <a:ext cx="419100" cy="732473"/>
            </a:xfrm>
            <a:custGeom>
              <a:avLst/>
              <a:gdLst/>
              <a:ahLst/>
              <a:cxnLst/>
              <a:rect l="l" t="t" r="r" b="b"/>
              <a:pathLst>
                <a:path w="419100" h="732473">
                  <a:moveTo>
                    <a:pt x="0" y="0"/>
                  </a:moveTo>
                  <a:lnTo>
                    <a:pt x="209550" y="0"/>
                  </a:lnTo>
                  <a:lnTo>
                    <a:pt x="209550" y="732473"/>
                  </a:lnTo>
                  <a:lnTo>
                    <a:pt x="419100" y="732473"/>
                  </a:lnTo>
                </a:path>
              </a:pathLst>
            </a:custGeom>
            <a:noFill/>
            <a:ln w="17145">
              <a:solidFill>
                <a:srgbClr val="D9DFEA"/>
              </a:solidFill>
            </a:ln>
          </p:spPr>
        </p:sp>
        <p:sp>
          <p:nvSpPr>
            <p:cNvPr id="12" name="Freeform 12"/>
            <p:cNvSpPr/>
            <p:nvPr/>
          </p:nvSpPr>
          <p:spPr>
            <a:xfrm>
              <a:off x="4000500" y="4531042"/>
              <a:ext cx="419100" cy="366713"/>
            </a:xfrm>
            <a:custGeom>
              <a:avLst/>
              <a:gdLst/>
              <a:ahLst/>
              <a:cxnLst/>
              <a:rect l="l" t="t" r="r" b="b"/>
              <a:pathLst>
                <a:path w="419100" h="366713">
                  <a:moveTo>
                    <a:pt x="0" y="366713"/>
                  </a:moveTo>
                  <a:lnTo>
                    <a:pt x="209550" y="366713"/>
                  </a:lnTo>
                  <a:lnTo>
                    <a:pt x="209550" y="0"/>
                  </a:lnTo>
                  <a:lnTo>
                    <a:pt x="419100" y="0"/>
                  </a:lnTo>
                </a:path>
              </a:pathLst>
            </a:custGeom>
            <a:noFill/>
            <a:ln w="17145">
              <a:solidFill>
                <a:srgbClr val="D9DFEA"/>
              </a:solidFill>
            </a:ln>
          </p:spPr>
        </p:sp>
        <p:sp>
          <p:nvSpPr>
            <p:cNvPr id="13" name="Freeform 13"/>
            <p:cNvSpPr/>
            <p:nvPr/>
          </p:nvSpPr>
          <p:spPr>
            <a:xfrm>
              <a:off x="4000500" y="4897755"/>
              <a:ext cx="419100" cy="365760"/>
            </a:xfrm>
            <a:custGeom>
              <a:avLst/>
              <a:gdLst/>
              <a:ahLst/>
              <a:cxnLst/>
              <a:rect l="l" t="t" r="r" b="b"/>
              <a:pathLst>
                <a:path w="419100" h="365760">
                  <a:moveTo>
                    <a:pt x="0" y="0"/>
                  </a:moveTo>
                  <a:lnTo>
                    <a:pt x="209550" y="0"/>
                  </a:lnTo>
                  <a:lnTo>
                    <a:pt x="209550" y="365760"/>
                  </a:lnTo>
                  <a:lnTo>
                    <a:pt x="419100" y="365760"/>
                  </a:lnTo>
                </a:path>
              </a:pathLst>
            </a:custGeom>
            <a:noFill/>
            <a:ln w="17145">
              <a:solidFill>
                <a:srgbClr val="D9DFEA"/>
              </a:solidFill>
            </a:ln>
          </p:spPr>
        </p:sp>
        <p:sp>
          <p:nvSpPr>
            <p:cNvPr id="14" name="Freeform 14"/>
            <p:cNvSpPr/>
            <p:nvPr/>
          </p:nvSpPr>
          <p:spPr>
            <a:xfrm>
              <a:off x="4000500" y="5995988"/>
              <a:ext cx="419100" cy="9525"/>
            </a:xfrm>
            <a:custGeom>
              <a:avLst/>
              <a:gdLst/>
              <a:ahLst/>
              <a:cxnLst/>
              <a:rect l="l" t="t" r="r" b="b"/>
              <a:pathLst>
                <a:path w="419100" h="9525">
                  <a:moveTo>
                    <a:pt x="0" y="0"/>
                  </a:moveTo>
                  <a:lnTo>
                    <a:pt x="209550" y="0"/>
                  </a:lnTo>
                  <a:lnTo>
                    <a:pt x="209550" y="0"/>
                  </a:lnTo>
                  <a:lnTo>
                    <a:pt x="419100" y="0"/>
                  </a:lnTo>
                </a:path>
              </a:pathLst>
            </a:custGeom>
            <a:noFill/>
            <a:ln w="17145">
              <a:solidFill>
                <a:srgbClr val="D9DFEA"/>
              </a:solidFill>
            </a:ln>
          </p:spPr>
        </p:sp>
        <p:sp>
          <p:nvSpPr>
            <p:cNvPr id="15" name="Freeform 15"/>
            <p:cNvSpPr/>
            <p:nvPr/>
          </p:nvSpPr>
          <p:spPr>
            <a:xfrm>
              <a:off x="2057400" y="3066098"/>
              <a:ext cx="419100" cy="1464945"/>
            </a:xfrm>
            <a:custGeom>
              <a:avLst/>
              <a:gdLst/>
              <a:ahLst/>
              <a:cxnLst/>
              <a:rect l="l" t="t" r="r" b="b"/>
              <a:pathLst>
                <a:path w="419100" h="1464945">
                  <a:moveTo>
                    <a:pt x="0" y="1464945"/>
                  </a:moveTo>
                  <a:lnTo>
                    <a:pt x="209550" y="1464945"/>
                  </a:lnTo>
                  <a:lnTo>
                    <a:pt x="209550" y="0"/>
                  </a:lnTo>
                  <a:lnTo>
                    <a:pt x="419100" y="0"/>
                  </a:lnTo>
                </a:path>
              </a:pathLst>
            </a:custGeom>
            <a:noFill/>
            <a:ln w="17145">
              <a:solidFill>
                <a:srgbClr val="D9DFEA"/>
              </a:solidFill>
            </a:ln>
          </p:spPr>
        </p:sp>
        <p:sp>
          <p:nvSpPr>
            <p:cNvPr id="16" name="Freeform 16"/>
            <p:cNvSpPr/>
            <p:nvPr/>
          </p:nvSpPr>
          <p:spPr>
            <a:xfrm>
              <a:off x="2057400" y="4531042"/>
              <a:ext cx="419100" cy="366713"/>
            </a:xfrm>
            <a:custGeom>
              <a:avLst/>
              <a:gdLst/>
              <a:ahLst/>
              <a:cxnLst/>
              <a:rect l="l" t="t" r="r" b="b"/>
              <a:pathLst>
                <a:path w="419100" h="366713">
                  <a:moveTo>
                    <a:pt x="0" y="0"/>
                  </a:moveTo>
                  <a:lnTo>
                    <a:pt x="209550" y="0"/>
                  </a:lnTo>
                  <a:lnTo>
                    <a:pt x="209550" y="366713"/>
                  </a:lnTo>
                  <a:lnTo>
                    <a:pt x="419100" y="366713"/>
                  </a:lnTo>
                </a:path>
              </a:pathLst>
            </a:custGeom>
            <a:noFill/>
            <a:ln w="17145">
              <a:solidFill>
                <a:srgbClr val="D9DFEA"/>
              </a:solidFill>
            </a:ln>
          </p:spPr>
        </p:sp>
        <p:sp>
          <p:nvSpPr>
            <p:cNvPr id="17" name="Freeform 17"/>
            <p:cNvSpPr/>
            <p:nvPr/>
          </p:nvSpPr>
          <p:spPr>
            <a:xfrm>
              <a:off x="2057400" y="4531042"/>
              <a:ext cx="419100" cy="1464945"/>
            </a:xfrm>
            <a:custGeom>
              <a:avLst/>
              <a:gdLst/>
              <a:ahLst/>
              <a:cxnLst/>
              <a:rect l="l" t="t" r="r" b="b"/>
              <a:pathLst>
                <a:path w="419100" h="1464945">
                  <a:moveTo>
                    <a:pt x="0" y="0"/>
                  </a:moveTo>
                  <a:lnTo>
                    <a:pt x="209550" y="0"/>
                  </a:lnTo>
                  <a:lnTo>
                    <a:pt x="209550" y="1464945"/>
                  </a:lnTo>
                  <a:lnTo>
                    <a:pt x="419100" y="1464945"/>
                  </a:lnTo>
                </a:path>
              </a:pathLst>
            </a:custGeom>
            <a:noFill/>
            <a:ln w="17145">
              <a:solidFill>
                <a:srgbClr val="D9DFEA"/>
              </a:solidFill>
            </a:ln>
          </p:spPr>
        </p:sp>
        <p:sp>
          <p:nvSpPr>
            <p:cNvPr id="18" name="Rectangle 18"/>
            <p:cNvSpPr/>
            <p:nvPr/>
          </p:nvSpPr>
          <p:spPr>
            <a:xfrm>
              <a:off x="4419600" y="2147888"/>
              <a:ext cx="1524000" cy="372428"/>
            </a:xfrm>
            <a:prstGeom prst="roundRect">
              <a:avLst>
                <a:gd name="adj" fmla="val 25575"/>
              </a:avLst>
            </a:prstGeom>
            <a:solidFill>
              <a:srgbClr val="FFFFFF"/>
            </a:solidFill>
            <a:ln w="13335">
              <a:solidFill>
                <a:srgbClr val="D9DFEA"/>
              </a:solidFill>
            </a:ln>
          </p:spPr>
        </p:sp>
        <p:sp>
          <p:nvSpPr>
            <p:cNvPr id="19" name="Rectangle 19"/>
            <p:cNvSpPr/>
            <p:nvPr/>
          </p:nvSpPr>
          <p:spPr>
            <a:xfrm>
              <a:off x="4419600" y="2880360"/>
              <a:ext cx="1524000" cy="372428"/>
            </a:xfrm>
            <a:prstGeom prst="roundRect">
              <a:avLst>
                <a:gd name="adj" fmla="val 25575"/>
              </a:avLst>
            </a:prstGeom>
            <a:solidFill>
              <a:srgbClr val="FFFFFF"/>
            </a:solidFill>
            <a:ln w="13335">
              <a:solidFill>
                <a:srgbClr val="D9DFEA"/>
              </a:solidFill>
            </a:ln>
          </p:spPr>
        </p:sp>
        <p:sp>
          <p:nvSpPr>
            <p:cNvPr id="20" name="Rectangle 20"/>
            <p:cNvSpPr/>
            <p:nvPr/>
          </p:nvSpPr>
          <p:spPr>
            <a:xfrm>
              <a:off x="4419600" y="3612832"/>
              <a:ext cx="1524000" cy="372428"/>
            </a:xfrm>
            <a:prstGeom prst="roundRect">
              <a:avLst>
                <a:gd name="adj" fmla="val 25575"/>
              </a:avLst>
            </a:prstGeom>
            <a:solidFill>
              <a:srgbClr val="FFFFFF"/>
            </a:solidFill>
            <a:ln w="13335">
              <a:solidFill>
                <a:srgbClr val="D9DFEA"/>
              </a:solidFill>
            </a:ln>
          </p:spPr>
        </p:sp>
        <p:sp>
          <p:nvSpPr>
            <p:cNvPr id="21" name="Rectangle 21"/>
            <p:cNvSpPr/>
            <p:nvPr/>
          </p:nvSpPr>
          <p:spPr>
            <a:xfrm>
              <a:off x="2476500" y="2880360"/>
              <a:ext cx="1524000" cy="372428"/>
            </a:xfrm>
            <a:prstGeom prst="roundRect">
              <a:avLst>
                <a:gd name="adj" fmla="val 25575"/>
              </a:avLst>
            </a:prstGeom>
            <a:solidFill>
              <a:srgbClr val="E7EDF3"/>
            </a:solidFill>
            <a:ln>
              <a:noFill/>
            </a:ln>
          </p:spPr>
        </p:sp>
        <p:sp>
          <p:nvSpPr>
            <p:cNvPr id="22" name="Rectangle 22"/>
            <p:cNvSpPr/>
            <p:nvPr/>
          </p:nvSpPr>
          <p:spPr>
            <a:xfrm>
              <a:off x="4419600" y="4345305"/>
              <a:ext cx="1524000" cy="372428"/>
            </a:xfrm>
            <a:prstGeom prst="roundRect">
              <a:avLst>
                <a:gd name="adj" fmla="val 25575"/>
              </a:avLst>
            </a:prstGeom>
            <a:solidFill>
              <a:srgbClr val="FFFFFF"/>
            </a:solidFill>
            <a:ln w="13335">
              <a:solidFill>
                <a:srgbClr val="D9DFEA"/>
              </a:solidFill>
            </a:ln>
          </p:spPr>
        </p:sp>
        <p:sp>
          <p:nvSpPr>
            <p:cNvPr id="23" name="Rectangle 23"/>
            <p:cNvSpPr/>
            <p:nvPr/>
          </p:nvSpPr>
          <p:spPr>
            <a:xfrm>
              <a:off x="4419600" y="4972050"/>
              <a:ext cx="1524000" cy="582930"/>
            </a:xfrm>
            <a:prstGeom prst="roundRect">
              <a:avLst>
                <a:gd name="adj" fmla="val 16340"/>
              </a:avLst>
            </a:prstGeom>
            <a:solidFill>
              <a:srgbClr val="FFFFFF"/>
            </a:solidFill>
            <a:ln w="13335">
              <a:solidFill>
                <a:srgbClr val="D9DFEA"/>
              </a:solidFill>
            </a:ln>
          </p:spPr>
        </p:sp>
        <p:sp>
          <p:nvSpPr>
            <p:cNvPr id="24" name="Rectangle 24"/>
            <p:cNvSpPr/>
            <p:nvPr/>
          </p:nvSpPr>
          <p:spPr>
            <a:xfrm>
              <a:off x="2476500" y="4711065"/>
              <a:ext cx="1524000" cy="372428"/>
            </a:xfrm>
            <a:prstGeom prst="roundRect">
              <a:avLst>
                <a:gd name="adj" fmla="val 25575"/>
              </a:avLst>
            </a:prstGeom>
            <a:solidFill>
              <a:srgbClr val="E7EDF3"/>
            </a:solidFill>
            <a:ln>
              <a:noFill/>
            </a:ln>
          </p:spPr>
        </p:sp>
        <p:sp>
          <p:nvSpPr>
            <p:cNvPr id="25" name="Rectangle 25"/>
            <p:cNvSpPr/>
            <p:nvPr/>
          </p:nvSpPr>
          <p:spPr>
            <a:xfrm>
              <a:off x="4419600" y="5704522"/>
              <a:ext cx="1524000" cy="582930"/>
            </a:xfrm>
            <a:prstGeom prst="roundRect">
              <a:avLst>
                <a:gd name="adj" fmla="val 16340"/>
              </a:avLst>
            </a:prstGeom>
            <a:solidFill>
              <a:srgbClr val="FFFFFF"/>
            </a:solidFill>
            <a:ln w="13335">
              <a:solidFill>
                <a:srgbClr val="D9DFEA"/>
              </a:solidFill>
            </a:ln>
          </p:spPr>
        </p:sp>
        <p:sp>
          <p:nvSpPr>
            <p:cNvPr id="26" name="Rectangle 26"/>
            <p:cNvSpPr/>
            <p:nvPr/>
          </p:nvSpPr>
          <p:spPr>
            <a:xfrm>
              <a:off x="2476500" y="5810250"/>
              <a:ext cx="1524000" cy="372428"/>
            </a:xfrm>
            <a:prstGeom prst="roundRect">
              <a:avLst>
                <a:gd name="adj" fmla="val 25575"/>
              </a:avLst>
            </a:prstGeom>
            <a:solidFill>
              <a:srgbClr val="E7EDF3"/>
            </a:solidFill>
            <a:ln>
              <a:noFill/>
            </a:ln>
          </p:spPr>
        </p:sp>
        <p:sp>
          <p:nvSpPr>
            <p:cNvPr id="27" name="Rectangle 27"/>
            <p:cNvSpPr/>
            <p:nvPr/>
          </p:nvSpPr>
          <p:spPr>
            <a:xfrm>
              <a:off x="533400" y="4345305"/>
              <a:ext cx="1524000" cy="372428"/>
            </a:xfrm>
            <a:prstGeom prst="roundRect">
              <a:avLst>
                <a:gd name="adj" fmla="val 25575"/>
              </a:avLst>
            </a:prstGeom>
            <a:solidFill>
              <a:srgbClr val="334E68"/>
            </a:solidFill>
            <a:ln>
              <a:noFill/>
            </a:ln>
          </p:spPr>
        </p:sp>
        <p:sp>
          <p:nvSpPr>
            <p:cNvPr id="28" name="TextBox 28"/>
            <p:cNvSpPr txBox="1"/>
            <p:nvPr/>
          </p:nvSpPr>
          <p:spPr>
            <a:xfrm>
              <a:off x="4508373" y="2244566"/>
              <a:ext cx="87452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程序流程图</a:t>
              </a:r>
            </a:p>
          </p:txBody>
        </p:sp>
        <p:sp>
          <p:nvSpPr>
            <p:cNvPr id="29" name="TextBox 29"/>
            <p:cNvSpPr txBox="1"/>
            <p:nvPr/>
          </p:nvSpPr>
          <p:spPr>
            <a:xfrm>
              <a:off x="4508373" y="2977039"/>
              <a:ext cx="122955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盒图（N-S 图）</a:t>
              </a:r>
            </a:p>
          </p:txBody>
        </p:sp>
        <p:sp>
          <p:nvSpPr>
            <p:cNvPr id="30" name="TextBox 30"/>
            <p:cNvSpPr txBox="1"/>
            <p:nvPr/>
          </p:nvSpPr>
          <p:spPr>
            <a:xfrm>
              <a:off x="4508373" y="3709511"/>
              <a:ext cx="54029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PAD 图</a:t>
              </a:r>
            </a:p>
          </p:txBody>
        </p:sp>
        <p:sp>
          <p:nvSpPr>
            <p:cNvPr id="31" name="TextBox 31"/>
            <p:cNvSpPr txBox="1"/>
            <p:nvPr/>
          </p:nvSpPr>
          <p:spPr>
            <a:xfrm>
              <a:off x="2565273" y="2977039"/>
              <a:ext cx="702208" cy="249364"/>
            </a:xfrm>
            <a:prstGeom prst="rect">
              <a:avLst/>
            </a:prstGeom>
            <a:noFill/>
            <a:ln>
              <a:noFill/>
            </a:ln>
          </p:spPr>
          <p:txBody>
            <a:bodyPr wrap="none" lIns="0" tIns="0" rIns="0" bIns="0" anchor="t" anchorCtr="0">
              <a:spAutoFit/>
            </a:bodyPr>
            <a:lstStyle/>
            <a:p>
              <a:pPr algn="l"/>
              <a:r>
                <a:rPr lang="zh-CN" sz="1280" b="1" dirty="0">
                  <a:solidFill>
                    <a:srgbClr val="243B53"/>
                  </a:solidFill>
                  <a:latin typeface="+mn-lt"/>
                  <a:ea typeface="+mn-ea"/>
                  <a:cs typeface="+mn-cs"/>
                </a:rPr>
                <a:t>图形工具</a:t>
              </a:r>
            </a:p>
          </p:txBody>
        </p:sp>
        <p:sp>
          <p:nvSpPr>
            <p:cNvPr id="32" name="TextBox 32"/>
            <p:cNvSpPr txBox="1"/>
            <p:nvPr/>
          </p:nvSpPr>
          <p:spPr>
            <a:xfrm>
              <a:off x="4508373" y="4441984"/>
              <a:ext cx="52989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判定表</a:t>
              </a:r>
            </a:p>
          </p:txBody>
        </p:sp>
        <p:sp>
          <p:nvSpPr>
            <p:cNvPr id="33" name="TextBox 33"/>
            <p:cNvSpPr txBox="1"/>
            <p:nvPr/>
          </p:nvSpPr>
          <p:spPr>
            <a:xfrm>
              <a:off x="4508373" y="5069681"/>
              <a:ext cx="1150874" cy="459867"/>
            </a:xfrm>
            <a:prstGeom prst="rect">
              <a:avLst/>
            </a:prstGeom>
            <a:noFill/>
            <a:ln>
              <a:noFill/>
            </a:ln>
          </p:spPr>
          <p:txBody>
            <a:bodyPr wrap="none" lIns="0" tIns="0" rIns="0" bIns="0" anchor="t" anchorCtr="0">
              <a:spAutoFit/>
            </a:bodyPr>
            <a:lstStyle/>
            <a:p>
              <a:pPr algn="l">
                <a:lnSpc>
                  <a:spcPts val="1658"/>
                </a:lnSpc>
              </a:pPr>
              <a:r>
                <a:rPr lang="zh-CN" sz="1280" dirty="0">
                  <a:solidFill>
                    <a:srgbClr val="1F2937"/>
                  </a:solidFill>
                  <a:latin typeface="+mn-lt"/>
                  <a:ea typeface="+mn-ea"/>
                  <a:cs typeface="+mn-cs"/>
                </a:rPr>
                <a:t>判定树（判定表</a:t>
              </a:r>
              <a:br/>
              <a:r>
                <a:rPr lang="zh-CN" sz="1280" dirty="0">
                  <a:solidFill>
                    <a:srgbClr val="1F2937"/>
                  </a:solidFill>
                  <a:latin typeface="+mn-lt"/>
                  <a:ea typeface="+mn-ea"/>
                  <a:cs typeface="+mn-cs"/>
                </a:rPr>
                <a:t>的变种）</a:t>
              </a:r>
            </a:p>
          </p:txBody>
        </p:sp>
        <p:sp>
          <p:nvSpPr>
            <p:cNvPr id="34" name="TextBox 34"/>
            <p:cNvSpPr txBox="1"/>
            <p:nvPr/>
          </p:nvSpPr>
          <p:spPr>
            <a:xfrm>
              <a:off x="2565273" y="4808696"/>
              <a:ext cx="702208" cy="249364"/>
            </a:xfrm>
            <a:prstGeom prst="rect">
              <a:avLst/>
            </a:prstGeom>
            <a:noFill/>
            <a:ln>
              <a:noFill/>
            </a:ln>
          </p:spPr>
          <p:txBody>
            <a:bodyPr wrap="none" lIns="0" tIns="0" rIns="0" bIns="0" anchor="t" anchorCtr="0">
              <a:spAutoFit/>
            </a:bodyPr>
            <a:lstStyle/>
            <a:p>
              <a:pPr algn="l"/>
              <a:r>
                <a:rPr lang="zh-CN" sz="1280" b="1" dirty="0">
                  <a:solidFill>
                    <a:srgbClr val="243B53"/>
                  </a:solidFill>
                  <a:latin typeface="+mn-lt"/>
                  <a:ea typeface="+mn-ea"/>
                  <a:cs typeface="+mn-cs"/>
                </a:rPr>
                <a:t>表格工具</a:t>
              </a:r>
            </a:p>
          </p:txBody>
        </p:sp>
        <p:sp>
          <p:nvSpPr>
            <p:cNvPr id="35" name="TextBox 35"/>
            <p:cNvSpPr txBox="1"/>
            <p:nvPr/>
          </p:nvSpPr>
          <p:spPr>
            <a:xfrm>
              <a:off x="4508373" y="5802154"/>
              <a:ext cx="988314" cy="459867"/>
            </a:xfrm>
            <a:prstGeom prst="rect">
              <a:avLst/>
            </a:prstGeom>
            <a:noFill/>
            <a:ln>
              <a:noFill/>
            </a:ln>
          </p:spPr>
          <p:txBody>
            <a:bodyPr wrap="none" lIns="0" tIns="0" rIns="0" bIns="0" anchor="t" anchorCtr="0">
              <a:spAutoFit/>
            </a:bodyPr>
            <a:lstStyle/>
            <a:p>
              <a:pPr algn="l">
                <a:lnSpc>
                  <a:spcPts val="1658"/>
                </a:lnSpc>
              </a:pPr>
              <a:r>
                <a:rPr lang="zh-CN" sz="1280" dirty="0">
                  <a:solidFill>
                    <a:srgbClr val="1F2937"/>
                  </a:solidFill>
                  <a:latin typeface="+mn-lt"/>
                  <a:ea typeface="+mn-ea"/>
                  <a:cs typeface="+mn-cs"/>
                </a:rPr>
                <a:t>过程设计语言</a:t>
              </a:r>
              <a:br/>
              <a:r>
                <a:rPr lang="en-US" sz="1280" dirty="0">
                  <a:solidFill>
                    <a:srgbClr val="1F2937"/>
                  </a:solidFill>
                  <a:latin typeface="+mn-lt"/>
                  <a:ea typeface="+mn-ea"/>
                  <a:cs typeface="+mn-cs"/>
                </a:rPr>
                <a:t>PDL</a:t>
              </a:r>
            </a:p>
          </p:txBody>
        </p:sp>
        <p:sp>
          <p:nvSpPr>
            <p:cNvPr id="36" name="TextBox 36"/>
            <p:cNvSpPr txBox="1"/>
            <p:nvPr/>
          </p:nvSpPr>
          <p:spPr>
            <a:xfrm>
              <a:off x="2565273" y="5906929"/>
              <a:ext cx="702208" cy="249364"/>
            </a:xfrm>
            <a:prstGeom prst="rect">
              <a:avLst/>
            </a:prstGeom>
            <a:noFill/>
            <a:ln>
              <a:noFill/>
            </a:ln>
          </p:spPr>
          <p:txBody>
            <a:bodyPr wrap="none" lIns="0" tIns="0" rIns="0" bIns="0" anchor="t" anchorCtr="0">
              <a:spAutoFit/>
            </a:bodyPr>
            <a:lstStyle/>
            <a:p>
              <a:pPr algn="l"/>
              <a:r>
                <a:rPr lang="zh-CN" sz="1280" b="1" dirty="0">
                  <a:solidFill>
                    <a:srgbClr val="243B53"/>
                  </a:solidFill>
                  <a:latin typeface="+mn-lt"/>
                  <a:ea typeface="+mn-ea"/>
                  <a:cs typeface="+mn-cs"/>
                </a:rPr>
                <a:t>语言工具</a:t>
              </a:r>
            </a:p>
          </p:txBody>
        </p:sp>
        <p:sp>
          <p:nvSpPr>
            <p:cNvPr id="37" name="TextBox 37"/>
            <p:cNvSpPr txBox="1"/>
            <p:nvPr/>
          </p:nvSpPr>
          <p:spPr>
            <a:xfrm>
              <a:off x="622173" y="4441984"/>
              <a:ext cx="1046836"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详细设计工具</a:t>
              </a:r>
            </a:p>
          </p:txBody>
        </p:sp>
      </p:grpSp>
      <p:grpSp>
        <p:nvGrpSpPr>
          <p:cNvPr id="43" name="c2-card-1"/>
          <p:cNvGrpSpPr/>
          <p:nvPr/>
        </p:nvGrpSpPr>
        <p:grpSpPr>
          <a:xfrm>
            <a:off x="6248400" y="1967865"/>
            <a:ext cx="5410200" cy="1316355"/>
            <a:chOff x="6248400" y="1967865"/>
            <a:chExt cx="5410200" cy="1316355"/>
          </a:xfrm>
        </p:grpSpPr>
        <p:sp>
          <p:nvSpPr>
            <p:cNvPr id="39" name="Rectangle 39"/>
            <p:cNvSpPr/>
            <p:nvPr/>
          </p:nvSpPr>
          <p:spPr>
            <a:xfrm>
              <a:off x="6248400" y="1967865"/>
              <a:ext cx="5410200" cy="1316355"/>
            </a:xfrm>
            <a:prstGeom prst="roundRect">
              <a:avLst>
                <a:gd name="adj" fmla="val 10130"/>
              </a:avLst>
            </a:prstGeom>
            <a:solidFill>
              <a:srgbClr val="334E68"/>
            </a:solidFill>
            <a:ln>
              <a:noFill/>
            </a:ln>
          </p:spPr>
        </p:sp>
        <p:sp>
          <p:nvSpPr>
            <p:cNvPr id="40" name="Rectangle 40"/>
            <p:cNvSpPr/>
            <p:nvPr/>
          </p:nvSpPr>
          <p:spPr>
            <a:xfrm>
              <a:off x="6457950" y="2177415"/>
              <a:ext cx="921068" cy="257175"/>
            </a:xfrm>
            <a:prstGeom prst="roundRect">
              <a:avLst>
                <a:gd name="adj" fmla="val 50000"/>
              </a:avLst>
            </a:prstGeom>
            <a:solidFill>
              <a:srgbClr val="243B53"/>
            </a:solidFill>
            <a:ln>
              <a:noFill/>
            </a:ln>
          </p:spPr>
        </p:sp>
        <p:sp>
          <p:nvSpPr>
            <p:cNvPr id="41" name="TextBox 41"/>
            <p:cNvSpPr txBox="1"/>
            <p:nvPr/>
          </p:nvSpPr>
          <p:spPr>
            <a:xfrm>
              <a:off x="6535356" y="2213134"/>
              <a:ext cx="7653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共同的要求</a:t>
              </a:r>
            </a:p>
          </p:txBody>
        </p:sp>
        <p:sp>
          <p:nvSpPr>
            <p:cNvPr id="42" name="TextBox 42"/>
            <p:cNvSpPr txBox="1"/>
            <p:nvPr/>
          </p:nvSpPr>
          <p:spPr>
            <a:xfrm>
              <a:off x="6450330" y="2554605"/>
              <a:ext cx="4777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不论用哪种工具，都要能无歧义地描述程序的处理过程，</a:t>
              </a:r>
              <a:br/>
              <a:r>
                <a:rPr lang="zh-CN" sz="1500" dirty="0">
                  <a:solidFill>
                    <a:srgbClr val="FFFFFF"/>
                  </a:solidFill>
                  <a:latin typeface="+mn-lt"/>
                  <a:ea typeface="+mn-ea"/>
                  <a:cs typeface="+mn-cs"/>
                </a:rPr>
                <a:t>让程序员照着写代码时不必再猜。</a:t>
              </a:r>
            </a:p>
          </p:txBody>
        </p:sp>
      </p:grpSp>
      <p:grpSp>
        <p:nvGrpSpPr>
          <p:cNvPr id="50" name="c2-callout-2"/>
          <p:cNvGrpSpPr/>
          <p:nvPr/>
        </p:nvGrpSpPr>
        <p:grpSpPr>
          <a:xfrm>
            <a:off x="6248400" y="3474720"/>
            <a:ext cx="5410200" cy="782955"/>
            <a:chOff x="6248400" y="3474720"/>
            <a:chExt cx="5410200" cy="782955"/>
          </a:xfrm>
        </p:grpSpPr>
        <p:sp>
          <p:nvSpPr>
            <p:cNvPr id="44" name="Rectangle 44"/>
            <p:cNvSpPr/>
            <p:nvPr/>
          </p:nvSpPr>
          <p:spPr>
            <a:xfrm>
              <a:off x="6248400" y="3474720"/>
              <a:ext cx="5410200" cy="782955"/>
            </a:xfrm>
            <a:prstGeom prst="roundRect">
              <a:avLst>
                <a:gd name="adj" fmla="val 14599"/>
              </a:avLst>
            </a:prstGeom>
            <a:solidFill>
              <a:srgbClr val="FDECEA"/>
            </a:solidFill>
            <a:ln>
              <a:noFill/>
            </a:ln>
          </p:spPr>
        </p:sp>
        <p:grpSp>
          <p:nvGrpSpPr>
            <p:cNvPr id="48" name="Group 48"/>
            <p:cNvGrpSpPr/>
            <p:nvPr/>
          </p:nvGrpSpPr>
          <p:grpSpPr>
            <a:xfrm>
              <a:off x="6441129" y="3762493"/>
              <a:ext cx="224134" cy="192560"/>
              <a:chOff x="6441129" y="3762493"/>
              <a:chExt cx="224134" cy="192560"/>
            </a:xfrm>
          </p:grpSpPr>
          <p:sp>
            <p:nvSpPr>
              <p:cNvPr id="45" name="Freeform 45"/>
              <p:cNvSpPr/>
              <p:nvPr/>
            </p:nvSpPr>
            <p:spPr>
              <a:xfrm>
                <a:off x="6553200" y="3832860"/>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46" name="Freeform 46"/>
              <p:cNvSpPr/>
              <p:nvPr/>
            </p:nvSpPr>
            <p:spPr>
              <a:xfrm>
                <a:off x="6441129" y="3762493"/>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47" name="Freeform 47"/>
              <p:cNvSpPr/>
              <p:nvPr/>
            </p:nvSpPr>
            <p:spPr>
              <a:xfrm>
                <a:off x="6553200" y="3910648"/>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49" name="TextBox 49"/>
            <p:cNvSpPr txBox="1"/>
            <p:nvPr/>
          </p:nvSpPr>
          <p:spPr>
            <a:xfrm>
              <a:off x="6755130" y="3623310"/>
              <a:ext cx="43967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B42318"/>
                  </a:solidFill>
                  <a:latin typeface="+mn-lt"/>
                  <a:ea typeface="+mn-ea"/>
                  <a:cs typeface="+mn-cs"/>
                </a:rPr>
                <a:t>数据流图是需求分析阶段的工具，不属于详细设计工</a:t>
              </a:r>
              <a:br/>
              <a:r>
                <a:rPr lang="zh-CN" sz="1500" dirty="0">
                  <a:solidFill>
                    <a:srgbClr val="B42318"/>
                  </a:solidFill>
                  <a:latin typeface="+mn-lt"/>
                  <a:ea typeface="+mn-ea"/>
                  <a:cs typeface="+mn-cs"/>
                </a:rPr>
                <a:t>具，这是判断题的常见陷阱。</a:t>
              </a:r>
            </a:p>
          </p:txBody>
        </p:sp>
      </p:grpSp>
      <p:grpSp>
        <p:nvGrpSpPr>
          <p:cNvPr id="56" name="c2-card-3"/>
          <p:cNvGrpSpPr/>
          <p:nvPr/>
        </p:nvGrpSpPr>
        <p:grpSpPr>
          <a:xfrm>
            <a:off x="6248400" y="4448175"/>
            <a:ext cx="5410200" cy="1316355"/>
            <a:chOff x="6248400" y="4448175"/>
            <a:chExt cx="5410200" cy="1316355"/>
          </a:xfrm>
        </p:grpSpPr>
        <p:sp>
          <p:nvSpPr>
            <p:cNvPr id="51" name="Rectangle 51"/>
            <p:cNvSpPr/>
            <p:nvPr/>
          </p:nvSpPr>
          <p:spPr>
            <a:xfrm>
              <a:off x="6248400" y="4448175"/>
              <a:ext cx="5410200" cy="1316355"/>
            </a:xfrm>
            <a:prstGeom prst="roundRect">
              <a:avLst>
                <a:gd name="adj" fmla="val 10130"/>
              </a:avLst>
            </a:prstGeom>
            <a:solidFill>
              <a:srgbClr val="FFFFFF"/>
            </a:solidFill>
            <a:ln w="14288">
              <a:solidFill>
                <a:srgbClr val="D9DFEA"/>
              </a:solidFill>
            </a:ln>
          </p:spPr>
        </p:sp>
        <p:sp>
          <p:nvSpPr>
            <p:cNvPr id="52" name="Rectangle 52"/>
            <p:cNvSpPr/>
            <p:nvPr/>
          </p:nvSpPr>
          <p:spPr>
            <a:xfrm>
              <a:off x="6257925" y="4581525"/>
              <a:ext cx="47625" cy="1049655"/>
            </a:xfrm>
            <a:prstGeom prst="roundRect">
              <a:avLst>
                <a:gd name="adj" fmla="val 50000"/>
              </a:avLst>
            </a:prstGeom>
            <a:solidFill>
              <a:srgbClr val="5B6475"/>
            </a:solidFill>
            <a:ln>
              <a:noFill/>
            </a:ln>
          </p:spPr>
        </p:sp>
        <p:sp>
          <p:nvSpPr>
            <p:cNvPr id="53" name="Rectangle 53"/>
            <p:cNvSpPr/>
            <p:nvPr/>
          </p:nvSpPr>
          <p:spPr>
            <a:xfrm>
              <a:off x="6496050" y="4657725"/>
              <a:ext cx="921068" cy="257175"/>
            </a:xfrm>
            <a:prstGeom prst="roundRect">
              <a:avLst>
                <a:gd name="adj" fmla="val 50000"/>
              </a:avLst>
            </a:prstGeom>
            <a:solidFill>
              <a:srgbClr val="F4F6FB"/>
            </a:solidFill>
            <a:ln>
              <a:noFill/>
            </a:ln>
          </p:spPr>
        </p:sp>
        <p:sp>
          <p:nvSpPr>
            <p:cNvPr id="54" name="TextBox 54"/>
            <p:cNvSpPr txBox="1"/>
            <p:nvPr/>
          </p:nvSpPr>
          <p:spPr>
            <a:xfrm>
              <a:off x="6573456" y="4693444"/>
              <a:ext cx="765302"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本节的读法</a:t>
              </a:r>
            </a:p>
          </p:txBody>
        </p:sp>
        <p:sp>
          <p:nvSpPr>
            <p:cNvPr id="55" name="TextBox 55"/>
            <p:cNvSpPr txBox="1"/>
            <p:nvPr/>
          </p:nvSpPr>
          <p:spPr>
            <a:xfrm>
              <a:off x="6488430" y="5034915"/>
              <a:ext cx="47682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后面会用</a:t>
              </a:r>
              <a:r>
                <a:rPr lang="zh-CN" sz="1500" b="1" dirty="0">
                  <a:solidFill>
                    <a:srgbClr val="C2410C"/>
                  </a:solidFill>
                  <a:latin typeface="+mn-lt"/>
                  <a:ea typeface="+mn-ea"/>
                  <a:cs typeface="+mn-cs"/>
                </a:rPr>
                <a:t>同一段程序</a:t>
              </a:r>
              <a:r>
                <a:rPr lang="zh-CN" sz="1500" dirty="0">
                  <a:solidFill>
                    <a:srgbClr val="1F2937"/>
                  </a:solidFill>
                  <a:latin typeface="+mn-lt"/>
                  <a:ea typeface="+mn-ea"/>
                  <a:cs typeface="+mn-cs"/>
                </a:rPr>
                <a:t>分别画成盒图、PAD 图和判定表，对</a:t>
              </a:r>
              <a:br/>
              <a:r>
                <a:rPr lang="zh-CN" sz="1500" dirty="0">
                  <a:solidFill>
                    <a:srgbClr val="1F2937"/>
                  </a:solidFill>
                  <a:latin typeface="+mn-lt"/>
                  <a:ea typeface="+mn-ea"/>
                  <a:cs typeface="+mn-cs"/>
                </a:rPr>
                <a:t>照着看就能看出各自的长短。</a:t>
              </a:r>
            </a:p>
          </p:txBody>
        </p:sp>
      </p:grpSp>
      <p:grpSp>
        <p:nvGrpSpPr>
          <p:cNvPr id="59" name="footer"/>
          <p:cNvGrpSpPr/>
          <p:nvPr/>
        </p:nvGrpSpPr>
        <p:grpSpPr>
          <a:xfrm>
            <a:off x="528447" y="6581299"/>
            <a:ext cx="11135106" cy="190690"/>
            <a:chOff x="528447" y="6581299"/>
            <a:chExt cx="11135106" cy="190690"/>
          </a:xfrm>
        </p:grpSpPr>
        <p:sp>
          <p:nvSpPr>
            <p:cNvPr id="57" name="TextBox 57"/>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58" name="TextBox 5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过程设计技术和工具</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程序流程图好用，但有三条毛病</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4" name="c1-bullets-1"/>
          <p:cNvGrpSpPr/>
          <p:nvPr/>
        </p:nvGrpSpPr>
        <p:grpSpPr>
          <a:xfrm>
            <a:off x="526542" y="1545907"/>
            <a:ext cx="5564886" cy="1712786"/>
            <a:chOff x="526542" y="1545907"/>
            <a:chExt cx="5564886" cy="1712786"/>
          </a:xfrm>
        </p:grpSpPr>
        <p:sp>
          <p:nvSpPr>
            <p:cNvPr id="7" name="TextBox 7"/>
            <p:cNvSpPr txBox="1"/>
            <p:nvPr/>
          </p:nvSpPr>
          <p:spPr>
            <a:xfrm>
              <a:off x="526542" y="1545907"/>
              <a:ext cx="1649349"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课件列出的三个问题</a:t>
              </a:r>
            </a:p>
          </p:txBody>
        </p:sp>
        <p:sp>
          <p:nvSpPr>
            <p:cNvPr id="8" name="Freeform 8"/>
            <p:cNvSpPr/>
            <p:nvPr/>
          </p:nvSpPr>
          <p:spPr>
            <a:xfrm>
              <a:off x="533400" y="1895475"/>
              <a:ext cx="102870" cy="102870"/>
            </a:xfrm>
            <a:custGeom>
              <a:avLst/>
              <a:gdLst/>
              <a:ahLst/>
              <a:cxnLst/>
              <a:rect l="l" t="t" r="r" b="b"/>
              <a:pathLst>
                <a:path w="102870" h="102870">
                  <a:moveTo>
                    <a:pt x="0" y="0"/>
                  </a:moveTo>
                  <a:lnTo>
                    <a:pt x="102870" y="102870"/>
                  </a:lnTo>
                  <a:moveTo>
                    <a:pt x="102870" y="0"/>
                  </a:moveTo>
                  <a:lnTo>
                    <a:pt x="0" y="102870"/>
                  </a:lnTo>
                </a:path>
              </a:pathLst>
            </a:custGeom>
            <a:noFill/>
            <a:ln w="24765" cap="rnd">
              <a:solidFill>
                <a:srgbClr val="B42318"/>
              </a:solidFill>
            </a:ln>
          </p:spPr>
        </p:sp>
        <p:sp>
          <p:nvSpPr>
            <p:cNvPr id="9" name="TextBox 9"/>
            <p:cNvSpPr txBox="1"/>
            <p:nvPr/>
          </p:nvSpPr>
          <p:spPr>
            <a:xfrm>
              <a:off x="762762" y="1863090"/>
              <a:ext cx="53286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本质上不是逐步求精的好工具：它诱使程序员过早地考虑程序的控制流</a:t>
              </a:r>
              <a:br/>
              <a:r>
                <a:rPr lang="zh-CN" sz="1350" dirty="0">
                  <a:solidFill>
                    <a:srgbClr val="1F2937"/>
                  </a:solidFill>
                  <a:latin typeface="+mn-lt"/>
                  <a:ea typeface="+mn-ea"/>
                  <a:cs typeface="+mn-cs"/>
                </a:rPr>
                <a:t>程，而不去考虑程序的全局结构</a:t>
              </a:r>
            </a:p>
          </p:txBody>
        </p:sp>
        <p:sp>
          <p:nvSpPr>
            <p:cNvPr id="10" name="Freeform 10"/>
            <p:cNvSpPr/>
            <p:nvPr/>
          </p:nvSpPr>
          <p:spPr>
            <a:xfrm>
              <a:off x="533400" y="2461260"/>
              <a:ext cx="102870" cy="102870"/>
            </a:xfrm>
            <a:custGeom>
              <a:avLst/>
              <a:gdLst/>
              <a:ahLst/>
              <a:cxnLst/>
              <a:rect l="l" t="t" r="r" b="b"/>
              <a:pathLst>
                <a:path w="102870" h="102870">
                  <a:moveTo>
                    <a:pt x="0" y="0"/>
                  </a:moveTo>
                  <a:lnTo>
                    <a:pt x="102870" y="102870"/>
                  </a:lnTo>
                  <a:moveTo>
                    <a:pt x="102870" y="0"/>
                  </a:moveTo>
                  <a:lnTo>
                    <a:pt x="0" y="102870"/>
                  </a:lnTo>
                </a:path>
              </a:pathLst>
            </a:custGeom>
            <a:noFill/>
            <a:ln w="24765" cap="rnd">
              <a:solidFill>
                <a:srgbClr val="B42318"/>
              </a:solidFill>
            </a:ln>
          </p:spPr>
        </p:sp>
        <p:sp>
          <p:nvSpPr>
            <p:cNvPr id="11" name="TextBox 11"/>
            <p:cNvSpPr txBox="1"/>
            <p:nvPr/>
          </p:nvSpPr>
          <p:spPr>
            <a:xfrm>
              <a:off x="762762" y="2428875"/>
              <a:ext cx="53286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用箭头代表控制流，程序员不受任何约束，可以完全不顾结构程序设计</a:t>
              </a:r>
              <a:br/>
              <a:r>
                <a:rPr lang="zh-CN" sz="1350" dirty="0">
                  <a:solidFill>
                    <a:srgbClr val="1F2937"/>
                  </a:solidFill>
                  <a:latin typeface="+mn-lt"/>
                  <a:ea typeface="+mn-ea"/>
                  <a:cs typeface="+mn-cs"/>
                </a:rPr>
                <a:t>的精神随意转移控制</a:t>
              </a:r>
            </a:p>
          </p:txBody>
        </p:sp>
        <p:sp>
          <p:nvSpPr>
            <p:cNvPr id="12" name="Freeform 12"/>
            <p:cNvSpPr/>
            <p:nvPr/>
          </p:nvSpPr>
          <p:spPr>
            <a:xfrm>
              <a:off x="533400" y="3027045"/>
              <a:ext cx="102870" cy="102870"/>
            </a:xfrm>
            <a:custGeom>
              <a:avLst/>
              <a:gdLst/>
              <a:ahLst/>
              <a:cxnLst/>
              <a:rect l="l" t="t" r="r" b="b"/>
              <a:pathLst>
                <a:path w="102870" h="102870">
                  <a:moveTo>
                    <a:pt x="0" y="0"/>
                  </a:moveTo>
                  <a:lnTo>
                    <a:pt x="102870" y="102870"/>
                  </a:lnTo>
                  <a:moveTo>
                    <a:pt x="102870" y="0"/>
                  </a:moveTo>
                  <a:lnTo>
                    <a:pt x="0" y="102870"/>
                  </a:lnTo>
                </a:path>
              </a:pathLst>
            </a:custGeom>
            <a:noFill/>
            <a:ln w="24765" cap="rnd">
              <a:solidFill>
                <a:srgbClr val="B42318"/>
              </a:solidFill>
            </a:ln>
          </p:spPr>
        </p:sp>
        <p:sp>
          <p:nvSpPr>
            <p:cNvPr id="13" name="TextBox 13"/>
            <p:cNvSpPr txBox="1"/>
            <p:nvPr/>
          </p:nvSpPr>
          <p:spPr>
            <a:xfrm>
              <a:off x="762762" y="2994660"/>
              <a:ext cx="146761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不易表示数据结构</a:t>
              </a:r>
            </a:p>
          </p:txBody>
        </p:sp>
      </p:grpSp>
      <p:grpSp>
        <p:nvGrpSpPr>
          <p:cNvPr id="20" name="c1-callout-2"/>
          <p:cNvGrpSpPr/>
          <p:nvPr/>
        </p:nvGrpSpPr>
        <p:grpSpPr>
          <a:xfrm>
            <a:off x="533400" y="3375660"/>
            <a:ext cx="5842635" cy="729615"/>
            <a:chOff x="533400" y="3375660"/>
            <a:chExt cx="5842635" cy="729615"/>
          </a:xfrm>
        </p:grpSpPr>
        <p:sp>
          <p:nvSpPr>
            <p:cNvPr id="15" name="Rectangle 15"/>
            <p:cNvSpPr/>
            <p:nvPr/>
          </p:nvSpPr>
          <p:spPr>
            <a:xfrm>
              <a:off x="533400" y="3375660"/>
              <a:ext cx="5842635" cy="729615"/>
            </a:xfrm>
            <a:prstGeom prst="roundRect">
              <a:avLst>
                <a:gd name="adj" fmla="val 15666"/>
              </a:avLst>
            </a:prstGeom>
            <a:solidFill>
              <a:srgbClr val="334E68"/>
            </a:solidFill>
            <a:ln>
              <a:noFill/>
            </a:ln>
          </p:spPr>
        </p:sp>
        <p:grpSp>
          <p:nvGrpSpPr>
            <p:cNvPr id="18" name="Group 18"/>
            <p:cNvGrpSpPr/>
            <p:nvPr/>
          </p:nvGrpSpPr>
          <p:grpSpPr>
            <a:xfrm>
              <a:off x="738188" y="3640457"/>
              <a:ext cx="200023" cy="200023"/>
              <a:chOff x="738188" y="3640457"/>
              <a:chExt cx="200023" cy="200023"/>
            </a:xfrm>
          </p:grpSpPr>
          <p:sp>
            <p:nvSpPr>
              <p:cNvPr id="16" name="Freeform 16"/>
              <p:cNvSpPr/>
              <p:nvPr/>
            </p:nvSpPr>
            <p:spPr>
              <a:xfrm>
                <a:off x="738188" y="364045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17" name="Freeform 17"/>
              <p:cNvSpPr/>
              <p:nvPr/>
            </p:nvSpPr>
            <p:spPr>
              <a:xfrm>
                <a:off x="871538" y="370713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19" name="TextBox 19"/>
            <p:cNvSpPr txBox="1"/>
            <p:nvPr/>
          </p:nvSpPr>
          <p:spPr>
            <a:xfrm>
              <a:off x="1040892" y="3521392"/>
              <a:ext cx="481431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三条毛病对应三个关键词：过早考虑控制流、随意转移控制、不</a:t>
              </a:r>
              <a:br/>
              <a:r>
                <a:rPr lang="zh-CN" sz="1350" dirty="0">
                  <a:solidFill>
                    <a:srgbClr val="FFFFFF"/>
                  </a:solidFill>
                  <a:latin typeface="+mn-lt"/>
                  <a:ea typeface="+mn-ea"/>
                  <a:cs typeface="+mn-cs"/>
                </a:rPr>
                <a:t>易表示数据结构。</a:t>
              </a:r>
            </a:p>
          </p:txBody>
        </p:sp>
      </p:grpSp>
      <p:grpSp>
        <p:nvGrpSpPr>
          <p:cNvPr id="32" name="c1-kv-3"/>
          <p:cNvGrpSpPr/>
          <p:nvPr/>
        </p:nvGrpSpPr>
        <p:grpSpPr>
          <a:xfrm>
            <a:off x="526542" y="4297680"/>
            <a:ext cx="5849493" cy="1441323"/>
            <a:chOff x="526542" y="4297680"/>
            <a:chExt cx="5849493" cy="1441323"/>
          </a:xfrm>
        </p:grpSpPr>
        <p:sp>
          <p:nvSpPr>
            <p:cNvPr id="21" name="TextBox 21"/>
            <p:cNvSpPr txBox="1"/>
            <p:nvPr/>
          </p:nvSpPr>
          <p:spPr>
            <a:xfrm>
              <a:off x="526542" y="4297680"/>
              <a:ext cx="377190"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矩形</a:t>
              </a:r>
            </a:p>
          </p:txBody>
        </p:sp>
        <p:sp>
          <p:nvSpPr>
            <p:cNvPr id="22" name="TextBox 22"/>
            <p:cNvSpPr txBox="1"/>
            <p:nvPr/>
          </p:nvSpPr>
          <p:spPr>
            <a:xfrm>
              <a:off x="1667637" y="4297680"/>
              <a:ext cx="255803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处理框，写一段顺序执行的语句</a:t>
              </a:r>
            </a:p>
          </p:txBody>
        </p:sp>
        <p:sp>
          <p:nvSpPr>
            <p:cNvPr id="23" name="Rectangle 23"/>
            <p:cNvSpPr/>
            <p:nvPr/>
          </p:nvSpPr>
          <p:spPr>
            <a:xfrm>
              <a:off x="533400" y="4583430"/>
              <a:ext cx="5842635" cy="9525"/>
            </a:xfrm>
            <a:prstGeom prst="rect">
              <a:avLst/>
            </a:prstGeom>
            <a:solidFill>
              <a:srgbClr val="D9DFEA"/>
            </a:solidFill>
            <a:ln>
              <a:noFill/>
            </a:ln>
          </p:spPr>
        </p:sp>
        <p:sp>
          <p:nvSpPr>
            <p:cNvPr id="24" name="TextBox 24"/>
            <p:cNvSpPr txBox="1"/>
            <p:nvPr/>
          </p:nvSpPr>
          <p:spPr>
            <a:xfrm>
              <a:off x="526542" y="4690110"/>
              <a:ext cx="377190"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菱形</a:t>
              </a:r>
            </a:p>
          </p:txBody>
        </p:sp>
        <p:sp>
          <p:nvSpPr>
            <p:cNvPr id="25" name="TextBox 25"/>
            <p:cNvSpPr txBox="1"/>
            <p:nvPr/>
          </p:nvSpPr>
          <p:spPr>
            <a:xfrm>
              <a:off x="1667637" y="4690110"/>
              <a:ext cx="221513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判断框，两个出口标 T 和 F</a:t>
              </a:r>
            </a:p>
          </p:txBody>
        </p:sp>
        <p:sp>
          <p:nvSpPr>
            <p:cNvPr id="26" name="Rectangle 26"/>
            <p:cNvSpPr/>
            <p:nvPr/>
          </p:nvSpPr>
          <p:spPr>
            <a:xfrm>
              <a:off x="533400" y="4975860"/>
              <a:ext cx="5842635" cy="9525"/>
            </a:xfrm>
            <a:prstGeom prst="rect">
              <a:avLst/>
            </a:prstGeom>
            <a:solidFill>
              <a:srgbClr val="D9DFEA"/>
            </a:solidFill>
            <a:ln>
              <a:noFill/>
            </a:ln>
          </p:spPr>
        </p:sp>
        <p:sp>
          <p:nvSpPr>
            <p:cNvPr id="27" name="TextBox 27"/>
            <p:cNvSpPr txBox="1"/>
            <p:nvPr/>
          </p:nvSpPr>
          <p:spPr>
            <a:xfrm>
              <a:off x="526542" y="5082540"/>
              <a:ext cx="922401"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平行四边形</a:t>
              </a:r>
            </a:p>
          </p:txBody>
        </p:sp>
        <p:sp>
          <p:nvSpPr>
            <p:cNvPr id="28" name="TextBox 28"/>
            <p:cNvSpPr txBox="1"/>
            <p:nvPr/>
          </p:nvSpPr>
          <p:spPr>
            <a:xfrm>
              <a:off x="1667637" y="5082540"/>
              <a:ext cx="92240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输入输出框</a:t>
              </a:r>
            </a:p>
          </p:txBody>
        </p:sp>
        <p:sp>
          <p:nvSpPr>
            <p:cNvPr id="29" name="Rectangle 29"/>
            <p:cNvSpPr/>
            <p:nvPr/>
          </p:nvSpPr>
          <p:spPr>
            <a:xfrm>
              <a:off x="533400" y="5368290"/>
              <a:ext cx="5842635" cy="9525"/>
            </a:xfrm>
            <a:prstGeom prst="rect">
              <a:avLst/>
            </a:prstGeom>
            <a:solidFill>
              <a:srgbClr val="D9DFEA"/>
            </a:solidFill>
            <a:ln>
              <a:noFill/>
            </a:ln>
          </p:spPr>
        </p:sp>
        <p:sp>
          <p:nvSpPr>
            <p:cNvPr id="30" name="TextBox 30"/>
            <p:cNvSpPr txBox="1"/>
            <p:nvPr/>
          </p:nvSpPr>
          <p:spPr>
            <a:xfrm>
              <a:off x="526542" y="5474970"/>
              <a:ext cx="740664"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圆角矩形</a:t>
              </a:r>
            </a:p>
          </p:txBody>
        </p:sp>
        <p:sp>
          <p:nvSpPr>
            <p:cNvPr id="31" name="TextBox 31"/>
            <p:cNvSpPr txBox="1"/>
            <p:nvPr/>
          </p:nvSpPr>
          <p:spPr>
            <a:xfrm>
              <a:off x="1667637" y="5474970"/>
              <a:ext cx="203497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起止框，写 Begin 或 End</a:t>
              </a:r>
            </a:p>
          </p:txBody>
        </p:sp>
      </p:grpSp>
      <p:grpSp>
        <p:nvGrpSpPr>
          <p:cNvPr id="43" name="c2-card-1"/>
          <p:cNvGrpSpPr/>
          <p:nvPr/>
        </p:nvGrpSpPr>
        <p:grpSpPr>
          <a:xfrm>
            <a:off x="6680835" y="1524000"/>
            <a:ext cx="4977765" cy="1228725"/>
            <a:chOff x="6680835" y="1524000"/>
            <a:chExt cx="4977765" cy="1228725"/>
          </a:xfrm>
        </p:grpSpPr>
        <p:sp>
          <p:nvSpPr>
            <p:cNvPr id="33" name="Rectangle 33"/>
            <p:cNvSpPr/>
            <p:nvPr/>
          </p:nvSpPr>
          <p:spPr>
            <a:xfrm>
              <a:off x="6680835" y="1524000"/>
              <a:ext cx="4977765" cy="1228725"/>
            </a:xfrm>
            <a:prstGeom prst="roundRect">
              <a:avLst>
                <a:gd name="adj" fmla="val 10853"/>
              </a:avLst>
            </a:prstGeom>
            <a:solidFill>
              <a:srgbClr val="FFFFFF"/>
            </a:solidFill>
            <a:ln w="14288">
              <a:solidFill>
                <a:srgbClr val="D9DFEA"/>
              </a:solidFill>
            </a:ln>
          </p:spPr>
        </p:sp>
        <p:sp>
          <p:nvSpPr>
            <p:cNvPr id="34" name="Rectangle 34"/>
            <p:cNvSpPr/>
            <p:nvPr/>
          </p:nvSpPr>
          <p:spPr>
            <a:xfrm>
              <a:off x="6690360" y="1657350"/>
              <a:ext cx="47625" cy="962025"/>
            </a:xfrm>
            <a:prstGeom prst="roundRect">
              <a:avLst>
                <a:gd name="adj" fmla="val 50000"/>
              </a:avLst>
            </a:prstGeom>
            <a:solidFill>
              <a:srgbClr val="14A38B"/>
            </a:solidFill>
            <a:ln>
              <a:noFill/>
            </a:ln>
          </p:spPr>
        </p:sp>
        <p:sp>
          <p:nvSpPr>
            <p:cNvPr id="35" name="Rectangle 35"/>
            <p:cNvSpPr/>
            <p:nvPr/>
          </p:nvSpPr>
          <p:spPr>
            <a:xfrm>
              <a:off x="6905625" y="1710690"/>
              <a:ext cx="1454468" cy="238125"/>
            </a:xfrm>
            <a:prstGeom prst="roundRect">
              <a:avLst>
                <a:gd name="adj" fmla="val 50000"/>
              </a:avLst>
            </a:prstGeom>
            <a:solidFill>
              <a:srgbClr val="E3F5F1"/>
            </a:solidFill>
            <a:ln>
              <a:noFill/>
            </a:ln>
          </p:spPr>
        </p:sp>
        <p:sp>
          <p:nvSpPr>
            <p:cNvPr id="36" name="TextBox 36"/>
            <p:cNvSpPr txBox="1"/>
            <p:nvPr/>
          </p:nvSpPr>
          <p:spPr>
            <a:xfrm>
              <a:off x="6968744" y="1743551"/>
              <a:ext cx="1329182"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因此使用时加两条限制</a:t>
              </a:r>
            </a:p>
          </p:txBody>
        </p:sp>
        <p:sp>
          <p:nvSpPr>
            <p:cNvPr id="37" name="Ellipse 37"/>
            <p:cNvSpPr/>
            <p:nvPr/>
          </p:nvSpPr>
          <p:spPr>
            <a:xfrm>
              <a:off x="6905625" y="2043112"/>
              <a:ext cx="192405" cy="192405"/>
            </a:xfrm>
            <a:prstGeom prst="ellipse">
              <a:avLst/>
            </a:prstGeom>
            <a:solidFill>
              <a:srgbClr val="334E68"/>
            </a:solidFill>
            <a:ln>
              <a:noFill/>
            </a:ln>
          </p:spPr>
        </p:sp>
        <p:sp>
          <p:nvSpPr>
            <p:cNvPr id="38" name="TextBox 38"/>
            <p:cNvSpPr txBox="1"/>
            <p:nvPr/>
          </p:nvSpPr>
          <p:spPr>
            <a:xfrm>
              <a:off x="6961303" y="208149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39" name="TextBox 39"/>
            <p:cNvSpPr txBox="1"/>
            <p:nvPr/>
          </p:nvSpPr>
          <p:spPr>
            <a:xfrm>
              <a:off x="7186422" y="2054542"/>
              <a:ext cx="401193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必须限制程序流程图只能使用</a:t>
              </a:r>
              <a:r>
                <a:rPr lang="zh-CN" sz="1350" b="1" dirty="0">
                  <a:solidFill>
                    <a:srgbClr val="C2410C"/>
                  </a:solidFill>
                  <a:latin typeface="+mn-lt"/>
                  <a:ea typeface="+mn-ea"/>
                  <a:cs typeface="+mn-cs"/>
                </a:rPr>
                <a:t>五种基本的控制结构</a:t>
              </a:r>
            </a:p>
          </p:txBody>
        </p:sp>
        <p:sp>
          <p:nvSpPr>
            <p:cNvPr id="40" name="Ellipse 40"/>
            <p:cNvSpPr/>
            <p:nvPr/>
          </p:nvSpPr>
          <p:spPr>
            <a:xfrm>
              <a:off x="6905625" y="2343150"/>
              <a:ext cx="192405" cy="192405"/>
            </a:xfrm>
            <a:prstGeom prst="ellipse">
              <a:avLst/>
            </a:prstGeom>
            <a:solidFill>
              <a:srgbClr val="334E68"/>
            </a:solidFill>
            <a:ln>
              <a:noFill/>
            </a:ln>
          </p:spPr>
        </p:sp>
        <p:sp>
          <p:nvSpPr>
            <p:cNvPr id="41" name="TextBox 41"/>
            <p:cNvSpPr txBox="1"/>
            <p:nvPr/>
          </p:nvSpPr>
          <p:spPr>
            <a:xfrm>
              <a:off x="6961303" y="238153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42" name="TextBox 42"/>
            <p:cNvSpPr txBox="1"/>
            <p:nvPr/>
          </p:nvSpPr>
          <p:spPr>
            <a:xfrm>
              <a:off x="7186422" y="2355532"/>
              <a:ext cx="328498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需要对流程图所用的符号做出确切的规定</a:t>
              </a:r>
            </a:p>
          </p:txBody>
        </p:sp>
      </p:grpSp>
      <p:grpSp>
        <p:nvGrpSpPr>
          <p:cNvPr id="49" name="c2-card-2"/>
          <p:cNvGrpSpPr/>
          <p:nvPr/>
        </p:nvGrpSpPr>
        <p:grpSpPr>
          <a:xfrm>
            <a:off x="6680835" y="2922270"/>
            <a:ext cx="4977765" cy="1185862"/>
            <a:chOff x="6680835" y="2922270"/>
            <a:chExt cx="4977765" cy="1185862"/>
          </a:xfrm>
        </p:grpSpPr>
        <p:sp>
          <p:nvSpPr>
            <p:cNvPr id="44" name="Rectangle 44"/>
            <p:cNvSpPr/>
            <p:nvPr/>
          </p:nvSpPr>
          <p:spPr>
            <a:xfrm>
              <a:off x="6680835" y="2922270"/>
              <a:ext cx="4977765" cy="1185862"/>
            </a:xfrm>
            <a:prstGeom prst="roundRect">
              <a:avLst>
                <a:gd name="adj" fmla="val 11245"/>
              </a:avLst>
            </a:prstGeom>
            <a:solidFill>
              <a:srgbClr val="FFFFFF"/>
            </a:solidFill>
            <a:ln w="14288">
              <a:solidFill>
                <a:srgbClr val="D9DFEA"/>
              </a:solidFill>
            </a:ln>
          </p:spPr>
        </p:sp>
        <p:sp>
          <p:nvSpPr>
            <p:cNvPr id="45" name="Rectangle 45"/>
            <p:cNvSpPr/>
            <p:nvPr/>
          </p:nvSpPr>
          <p:spPr>
            <a:xfrm>
              <a:off x="6690360" y="3055620"/>
              <a:ext cx="47625" cy="919162"/>
            </a:xfrm>
            <a:prstGeom prst="roundRect">
              <a:avLst>
                <a:gd name="adj" fmla="val 50000"/>
              </a:avLst>
            </a:prstGeom>
            <a:solidFill>
              <a:srgbClr val="5B6475"/>
            </a:solidFill>
            <a:ln>
              <a:noFill/>
            </a:ln>
          </p:spPr>
        </p:sp>
        <p:sp>
          <p:nvSpPr>
            <p:cNvPr id="46" name="Rectangle 46"/>
            <p:cNvSpPr/>
            <p:nvPr/>
          </p:nvSpPr>
          <p:spPr>
            <a:xfrm>
              <a:off x="6905625" y="3108960"/>
              <a:ext cx="707708" cy="238125"/>
            </a:xfrm>
            <a:prstGeom prst="roundRect">
              <a:avLst>
                <a:gd name="adj" fmla="val 50000"/>
              </a:avLst>
            </a:prstGeom>
            <a:solidFill>
              <a:srgbClr val="F4F6FB"/>
            </a:solidFill>
            <a:ln>
              <a:noFill/>
            </a:ln>
          </p:spPr>
        </p:sp>
        <p:sp>
          <p:nvSpPr>
            <p:cNvPr id="47" name="TextBox 47"/>
            <p:cNvSpPr txBox="1"/>
            <p:nvPr/>
          </p:nvSpPr>
          <p:spPr>
            <a:xfrm>
              <a:off x="6991147" y="3141821"/>
              <a:ext cx="537616"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对比记忆</a:t>
              </a:r>
            </a:p>
          </p:txBody>
        </p:sp>
        <p:sp>
          <p:nvSpPr>
            <p:cNvPr id="48" name="TextBox 48"/>
            <p:cNvSpPr txBox="1"/>
            <p:nvPr/>
          </p:nvSpPr>
          <p:spPr>
            <a:xfrm>
              <a:off x="6898767" y="3453765"/>
              <a:ext cx="42999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「可以随意转移控制」是流程图的毛病，「不可能任意转</a:t>
              </a:r>
              <a:br/>
              <a:r>
                <a:rPr lang="zh-CN" sz="1350" dirty="0">
                  <a:solidFill>
                    <a:srgbClr val="1F2937"/>
                  </a:solidFill>
                  <a:latin typeface="+mn-lt"/>
                  <a:ea typeface="+mn-ea"/>
                  <a:cs typeface="+mn-cs"/>
                </a:rPr>
                <a:t>移控制」是盒图的长处，有的背诵稿把它们标反了。</a:t>
              </a:r>
            </a:p>
          </p:txBody>
        </p:sp>
      </p:grpSp>
      <p:grpSp>
        <p:nvGrpSpPr>
          <p:cNvPr id="55" name="c2-card-3"/>
          <p:cNvGrpSpPr/>
          <p:nvPr/>
        </p:nvGrpSpPr>
        <p:grpSpPr>
          <a:xfrm>
            <a:off x="6680835" y="4278630"/>
            <a:ext cx="4977765" cy="1406842"/>
            <a:chOff x="6680835" y="4278630"/>
            <a:chExt cx="4977765" cy="1406842"/>
          </a:xfrm>
        </p:grpSpPr>
        <p:sp>
          <p:nvSpPr>
            <p:cNvPr id="50" name="Rectangle 50"/>
            <p:cNvSpPr/>
            <p:nvPr/>
          </p:nvSpPr>
          <p:spPr>
            <a:xfrm>
              <a:off x="6680835" y="4278630"/>
              <a:ext cx="4977765" cy="1406842"/>
            </a:xfrm>
            <a:prstGeom prst="roundRect">
              <a:avLst>
                <a:gd name="adj" fmla="val 9479"/>
              </a:avLst>
            </a:prstGeom>
            <a:solidFill>
              <a:srgbClr val="FFFFFF"/>
            </a:solidFill>
            <a:ln w="14288">
              <a:solidFill>
                <a:srgbClr val="D9DFEA"/>
              </a:solidFill>
            </a:ln>
          </p:spPr>
        </p:sp>
        <p:sp>
          <p:nvSpPr>
            <p:cNvPr id="51" name="Rectangle 51"/>
            <p:cNvSpPr/>
            <p:nvPr/>
          </p:nvSpPr>
          <p:spPr>
            <a:xfrm>
              <a:off x="6690360" y="4411980"/>
              <a:ext cx="47625" cy="1140142"/>
            </a:xfrm>
            <a:prstGeom prst="roundRect">
              <a:avLst>
                <a:gd name="adj" fmla="val 50000"/>
              </a:avLst>
            </a:prstGeom>
            <a:solidFill>
              <a:srgbClr val="D97706"/>
            </a:solidFill>
            <a:ln>
              <a:noFill/>
            </a:ln>
          </p:spPr>
        </p:sp>
        <p:sp>
          <p:nvSpPr>
            <p:cNvPr id="52" name="Rectangle 52"/>
            <p:cNvSpPr/>
            <p:nvPr/>
          </p:nvSpPr>
          <p:spPr>
            <a:xfrm>
              <a:off x="6905625" y="4465320"/>
              <a:ext cx="1081088" cy="238125"/>
            </a:xfrm>
            <a:prstGeom prst="roundRect">
              <a:avLst>
                <a:gd name="adj" fmla="val 50000"/>
              </a:avLst>
            </a:prstGeom>
            <a:solidFill>
              <a:srgbClr val="FEF3C7"/>
            </a:solidFill>
            <a:ln>
              <a:noFill/>
            </a:ln>
          </p:spPr>
        </p:sp>
        <p:sp>
          <p:nvSpPr>
            <p:cNvPr id="53" name="TextBox 53"/>
            <p:cNvSpPr txBox="1"/>
            <p:nvPr/>
          </p:nvSpPr>
          <p:spPr>
            <a:xfrm>
              <a:off x="6979945" y="4498181"/>
              <a:ext cx="933399" cy="190690"/>
            </a:xfrm>
            <a:prstGeom prst="rect">
              <a:avLst/>
            </a:prstGeom>
            <a:noFill/>
            <a:ln>
              <a:noFill/>
            </a:ln>
          </p:spPr>
          <p:txBody>
            <a:bodyPr wrap="none" lIns="0" tIns="0" rIns="0" bIns="0" anchor="t" anchorCtr="0">
              <a:spAutoFit/>
            </a:bodyPr>
            <a:lstStyle/>
            <a:p>
              <a:pPr algn="ctr"/>
              <a:r>
                <a:rPr lang="zh-CN" sz="980" b="1" dirty="0">
                  <a:solidFill>
                    <a:srgbClr val="92400E"/>
                  </a:solidFill>
                  <a:latin typeface="+mn-lt"/>
                  <a:ea typeface="+mn-ea"/>
                  <a:cs typeface="+mn-cs"/>
                </a:rPr>
                <a:t>流程图仍然在用</a:t>
              </a:r>
            </a:p>
          </p:txBody>
        </p:sp>
        <p:sp>
          <p:nvSpPr>
            <p:cNvPr id="54" name="TextBox 54"/>
            <p:cNvSpPr txBox="1"/>
            <p:nvPr/>
          </p:nvSpPr>
          <p:spPr>
            <a:xfrm>
              <a:off x="6898767" y="4809172"/>
              <a:ext cx="42999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只要把符号限死在五种基本结构上，它和盒图表达的控制</a:t>
              </a:r>
              <a:br/>
              <a:r>
                <a:rPr lang="zh-CN" sz="1350" dirty="0">
                  <a:solidFill>
                    <a:srgbClr val="1F2937"/>
                  </a:solidFill>
                  <a:latin typeface="+mn-lt"/>
                  <a:ea typeface="+mn-ea"/>
                  <a:cs typeface="+mn-cs"/>
                </a:rPr>
                <a:t>流是等价的。</a:t>
              </a:r>
            </a:p>
          </p:txBody>
        </p:sp>
      </p:grpSp>
      <p:grpSp>
        <p:nvGrpSpPr>
          <p:cNvPr id="62" name="takeaway"/>
          <p:cNvGrpSpPr/>
          <p:nvPr/>
        </p:nvGrpSpPr>
        <p:grpSpPr>
          <a:xfrm>
            <a:off x="533400" y="5881688"/>
            <a:ext cx="11125200" cy="481012"/>
            <a:chOff x="533400" y="5881688"/>
            <a:chExt cx="11125200" cy="481012"/>
          </a:xfrm>
        </p:grpSpPr>
        <p:sp>
          <p:nvSpPr>
            <p:cNvPr id="56" name="Rectangle 56"/>
            <p:cNvSpPr/>
            <p:nvPr/>
          </p:nvSpPr>
          <p:spPr>
            <a:xfrm>
              <a:off x="533400" y="5881688"/>
              <a:ext cx="11125200" cy="481012"/>
            </a:xfrm>
            <a:prstGeom prst="roundRect">
              <a:avLst>
                <a:gd name="adj" fmla="val 23762"/>
              </a:avLst>
            </a:prstGeom>
            <a:solidFill>
              <a:srgbClr val="F4F6FB"/>
            </a:solidFill>
            <a:ln>
              <a:noFill/>
            </a:ln>
          </p:spPr>
        </p:sp>
        <p:grpSp>
          <p:nvGrpSpPr>
            <p:cNvPr id="60" name="Group 60"/>
            <p:cNvGrpSpPr/>
            <p:nvPr/>
          </p:nvGrpSpPr>
          <p:grpSpPr>
            <a:xfrm>
              <a:off x="738188" y="6022658"/>
              <a:ext cx="200026" cy="200026"/>
              <a:chOff x="738188" y="6022658"/>
              <a:chExt cx="200026" cy="200026"/>
            </a:xfrm>
          </p:grpSpPr>
          <p:sp>
            <p:nvSpPr>
              <p:cNvPr id="57" name="Freeform 57"/>
              <p:cNvSpPr/>
              <p:nvPr/>
            </p:nvSpPr>
            <p:spPr>
              <a:xfrm>
                <a:off x="738188" y="602265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8" name="Freeform 58"/>
              <p:cNvSpPr/>
              <p:nvPr/>
            </p:nvSpPr>
            <p:spPr>
              <a:xfrm>
                <a:off x="838200" y="608933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9" name="Freeform 59"/>
              <p:cNvSpPr/>
              <p:nvPr/>
            </p:nvSpPr>
            <p:spPr>
              <a:xfrm>
                <a:off x="827088" y="612267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61" name="TextBox 61"/>
            <p:cNvSpPr txBox="1"/>
            <p:nvPr/>
          </p:nvSpPr>
          <p:spPr>
            <a:xfrm>
              <a:off x="1040892" y="6028373"/>
              <a:ext cx="913691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同一张流程图，符号约定不同就可能被读成两种意思，所以课件把"对符号做出确切规定"和"只用五种结构"并列。</a:t>
              </a:r>
            </a:p>
          </p:txBody>
        </p:sp>
      </p:grpSp>
      <p:grpSp>
        <p:nvGrpSpPr>
          <p:cNvPr id="65" name="footer"/>
          <p:cNvGrpSpPr/>
          <p:nvPr/>
        </p:nvGrpSpPr>
        <p:grpSpPr>
          <a:xfrm>
            <a:off x="528447" y="6581299"/>
            <a:ext cx="11135106" cy="190690"/>
            <a:chOff x="528447" y="6581299"/>
            <a:chExt cx="11135106" cy="190690"/>
          </a:xfrm>
        </p:grpSpPr>
        <p:sp>
          <p:nvSpPr>
            <p:cNvPr id="63" name="TextBox 63"/>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64" name="TextBox 6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过程设计技术和工具</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流程图允许使用的五种基本控制结构</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c1-text-1"/>
          <p:cNvGrpSpPr/>
          <p:nvPr/>
        </p:nvGrpSpPr>
        <p:grpSpPr>
          <a:xfrm>
            <a:off x="527304" y="1544002"/>
            <a:ext cx="641002" cy="234696"/>
            <a:chOff x="527304" y="1544002"/>
            <a:chExt cx="641002" cy="234696"/>
          </a:xfrm>
        </p:grpSpPr>
        <p:sp>
          <p:nvSpPr>
            <p:cNvPr id="7" name="TextBox 7"/>
            <p:cNvSpPr txBox="1"/>
            <p:nvPr/>
          </p:nvSpPr>
          <p:spPr>
            <a:xfrm>
              <a:off x="527304" y="1544002"/>
              <a:ext cx="641002"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① 顺序型</a:t>
              </a:r>
            </a:p>
          </p:txBody>
        </p:sp>
      </p:grpSp>
      <p:grpSp>
        <p:nvGrpSpPr>
          <p:cNvPr id="15" name="c1-flow-2"/>
          <p:cNvGrpSpPr/>
          <p:nvPr/>
        </p:nvGrpSpPr>
        <p:grpSpPr>
          <a:xfrm>
            <a:off x="754380" y="1991678"/>
            <a:ext cx="2712720" cy="984884"/>
            <a:chOff x="754380" y="1991678"/>
            <a:chExt cx="2712720" cy="984884"/>
          </a:xfrm>
        </p:grpSpPr>
        <p:sp>
          <p:nvSpPr>
            <p:cNvPr id="9" name="Freeform 9"/>
            <p:cNvSpPr/>
            <p:nvPr/>
          </p:nvSpPr>
          <p:spPr>
            <a:xfrm>
              <a:off x="2110740" y="2404110"/>
              <a:ext cx="9525" cy="56198"/>
            </a:xfrm>
            <a:custGeom>
              <a:avLst/>
              <a:gdLst/>
              <a:ahLst/>
              <a:cxnLst/>
              <a:rect l="l" t="t" r="r" b="b"/>
              <a:pathLst>
                <a:path w="9525" h="56198">
                  <a:moveTo>
                    <a:pt x="0" y="0"/>
                  </a:moveTo>
                  <a:lnTo>
                    <a:pt x="0" y="56198"/>
                  </a:lnTo>
                </a:path>
              </a:pathLst>
            </a:custGeom>
            <a:noFill/>
            <a:ln w="15240">
              <a:solidFill>
                <a:srgbClr val="5B6475"/>
              </a:solidFill>
            </a:ln>
          </p:spPr>
        </p:sp>
        <p:sp>
          <p:nvSpPr>
            <p:cNvPr id="10" name="Freeform 10"/>
            <p:cNvSpPr/>
            <p:nvPr/>
          </p:nvSpPr>
          <p:spPr>
            <a:xfrm>
              <a:off x="2058352" y="246030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1" name="Rectangle 11"/>
            <p:cNvSpPr/>
            <p:nvPr/>
          </p:nvSpPr>
          <p:spPr>
            <a:xfrm>
              <a:off x="754380" y="1991678"/>
              <a:ext cx="2712720" cy="411480"/>
            </a:xfrm>
            <a:prstGeom prst="roundRect">
              <a:avLst>
                <a:gd name="adj" fmla="val 23148"/>
              </a:avLst>
            </a:prstGeom>
            <a:solidFill>
              <a:srgbClr val="FFFFFF"/>
            </a:solidFill>
            <a:ln w="15240">
              <a:solidFill>
                <a:srgbClr val="334E68"/>
              </a:solidFill>
            </a:ln>
          </p:spPr>
        </p:sp>
        <p:sp>
          <p:nvSpPr>
            <p:cNvPr id="12" name="Rectangle 12"/>
            <p:cNvSpPr/>
            <p:nvPr/>
          </p:nvSpPr>
          <p:spPr>
            <a:xfrm>
              <a:off x="754380" y="2565082"/>
              <a:ext cx="2712720" cy="411480"/>
            </a:xfrm>
            <a:prstGeom prst="roundRect">
              <a:avLst>
                <a:gd name="adj" fmla="val 23148"/>
              </a:avLst>
            </a:prstGeom>
            <a:solidFill>
              <a:srgbClr val="FFFFFF"/>
            </a:solidFill>
            <a:ln w="15240">
              <a:solidFill>
                <a:srgbClr val="334E68"/>
              </a:solidFill>
            </a:ln>
          </p:spPr>
        </p:sp>
        <p:sp>
          <p:nvSpPr>
            <p:cNvPr id="13" name="TextBox 13"/>
            <p:cNvSpPr txBox="1"/>
            <p:nvPr/>
          </p:nvSpPr>
          <p:spPr>
            <a:xfrm>
              <a:off x="2057705" y="2114550"/>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A</a:t>
              </a:r>
            </a:p>
          </p:txBody>
        </p:sp>
        <p:sp>
          <p:nvSpPr>
            <p:cNvPr id="14" name="TextBox 14"/>
            <p:cNvSpPr txBox="1"/>
            <p:nvPr/>
          </p:nvSpPr>
          <p:spPr>
            <a:xfrm>
              <a:off x="2057705" y="2687002"/>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B</a:t>
              </a:r>
            </a:p>
          </p:txBody>
        </p:sp>
      </p:grpSp>
      <p:grpSp>
        <p:nvGrpSpPr>
          <p:cNvPr id="17" name="c1-text-3"/>
          <p:cNvGrpSpPr/>
          <p:nvPr/>
        </p:nvGrpSpPr>
        <p:grpSpPr>
          <a:xfrm>
            <a:off x="527304" y="3257550"/>
            <a:ext cx="2264184" cy="234696"/>
            <a:chOff x="527304" y="3257550"/>
            <a:chExt cx="2264184" cy="234696"/>
          </a:xfrm>
        </p:grpSpPr>
        <p:sp>
          <p:nvSpPr>
            <p:cNvPr id="16" name="TextBox 16"/>
            <p:cNvSpPr txBox="1"/>
            <p:nvPr/>
          </p:nvSpPr>
          <p:spPr>
            <a:xfrm>
              <a:off x="527304" y="3257550"/>
              <a:ext cx="2264184"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③ 先判定型循环（DO-WHILE）</a:t>
              </a:r>
            </a:p>
          </p:txBody>
        </p:sp>
      </p:grpSp>
      <p:grpSp>
        <p:nvGrpSpPr>
          <p:cNvPr id="34" name="c1-flow-4"/>
          <p:cNvGrpSpPr/>
          <p:nvPr/>
        </p:nvGrpSpPr>
        <p:grpSpPr>
          <a:xfrm>
            <a:off x="457200" y="3747135"/>
            <a:ext cx="3097530" cy="1332547"/>
            <a:chOff x="457200" y="3747135"/>
            <a:chExt cx="3097530" cy="1332547"/>
          </a:xfrm>
        </p:grpSpPr>
        <p:sp>
          <p:nvSpPr>
            <p:cNvPr id="18" name="Freeform 18"/>
            <p:cNvSpPr/>
            <p:nvPr/>
          </p:nvSpPr>
          <p:spPr>
            <a:xfrm>
              <a:off x="1322070" y="4335780"/>
              <a:ext cx="9525" cy="227648"/>
            </a:xfrm>
            <a:custGeom>
              <a:avLst/>
              <a:gdLst/>
              <a:ahLst/>
              <a:cxnLst/>
              <a:rect l="l" t="t" r="r" b="b"/>
              <a:pathLst>
                <a:path w="9525" h="227648">
                  <a:moveTo>
                    <a:pt x="0" y="0"/>
                  </a:moveTo>
                  <a:lnTo>
                    <a:pt x="0" y="227648"/>
                  </a:lnTo>
                </a:path>
              </a:pathLst>
            </a:custGeom>
            <a:noFill/>
            <a:ln w="15240">
              <a:solidFill>
                <a:srgbClr val="5B6475"/>
              </a:solidFill>
            </a:ln>
          </p:spPr>
        </p:sp>
        <p:sp>
          <p:nvSpPr>
            <p:cNvPr id="19" name="Freeform 19"/>
            <p:cNvSpPr/>
            <p:nvPr/>
          </p:nvSpPr>
          <p:spPr>
            <a:xfrm>
              <a:off x="1269682" y="456342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0" name="Freeform 20"/>
            <p:cNvSpPr/>
            <p:nvPr/>
          </p:nvSpPr>
          <p:spPr>
            <a:xfrm>
              <a:off x="1977390" y="4041458"/>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21" name="Freeform 21"/>
            <p:cNvSpPr/>
            <p:nvPr/>
          </p:nvSpPr>
          <p:spPr>
            <a:xfrm>
              <a:off x="2139315" y="3989070"/>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22" name="Freeform 22"/>
            <p:cNvSpPr/>
            <p:nvPr/>
          </p:nvSpPr>
          <p:spPr>
            <a:xfrm>
              <a:off x="457200" y="4041458"/>
              <a:ext cx="265748" cy="832485"/>
            </a:xfrm>
            <a:custGeom>
              <a:avLst/>
              <a:gdLst/>
              <a:ahLst/>
              <a:cxnLst/>
              <a:rect l="l" t="t" r="r" b="b"/>
              <a:pathLst>
                <a:path w="265748" h="832485">
                  <a:moveTo>
                    <a:pt x="209550" y="832485"/>
                  </a:moveTo>
                  <a:lnTo>
                    <a:pt x="0" y="832485"/>
                  </a:lnTo>
                  <a:lnTo>
                    <a:pt x="265748" y="832485"/>
                  </a:lnTo>
                  <a:lnTo>
                    <a:pt x="265748" y="416242"/>
                  </a:lnTo>
                  <a:lnTo>
                    <a:pt x="265748" y="0"/>
                  </a:lnTo>
                  <a:lnTo>
                    <a:pt x="0" y="0"/>
                  </a:lnTo>
                  <a:lnTo>
                    <a:pt x="104775" y="0"/>
                  </a:lnTo>
                </a:path>
              </a:pathLst>
            </a:custGeom>
            <a:noFill/>
            <a:ln w="15240">
              <a:solidFill>
                <a:srgbClr val="5B6475"/>
              </a:solidFill>
            </a:ln>
          </p:spPr>
        </p:sp>
        <p:sp>
          <p:nvSpPr>
            <p:cNvPr id="23" name="Freeform 23"/>
            <p:cNvSpPr/>
            <p:nvPr/>
          </p:nvSpPr>
          <p:spPr>
            <a:xfrm>
              <a:off x="561975" y="3989070"/>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24" name="Freeform 24"/>
            <p:cNvSpPr/>
            <p:nvPr/>
          </p:nvSpPr>
          <p:spPr>
            <a:xfrm>
              <a:off x="666750" y="3747135"/>
              <a:ext cx="1310640" cy="588645"/>
            </a:xfrm>
            <a:custGeom>
              <a:avLst/>
              <a:gdLst/>
              <a:ahLst/>
              <a:cxnLst/>
              <a:rect l="l" t="t" r="r" b="b"/>
              <a:pathLst>
                <a:path w="1310640" h="588645">
                  <a:moveTo>
                    <a:pt x="655320" y="0"/>
                  </a:moveTo>
                  <a:lnTo>
                    <a:pt x="1310640" y="294323"/>
                  </a:lnTo>
                  <a:lnTo>
                    <a:pt x="655320" y="588645"/>
                  </a:lnTo>
                  <a:lnTo>
                    <a:pt x="0" y="294323"/>
                  </a:lnTo>
                  <a:close/>
                </a:path>
              </a:pathLst>
            </a:custGeom>
            <a:solidFill>
              <a:srgbClr val="FDEEE7"/>
            </a:solidFill>
            <a:ln w="15240">
              <a:solidFill>
                <a:srgbClr val="F26B3A"/>
              </a:solidFill>
            </a:ln>
          </p:spPr>
        </p:sp>
        <p:sp>
          <p:nvSpPr>
            <p:cNvPr id="25" name="Rectangle 25"/>
            <p:cNvSpPr/>
            <p:nvPr/>
          </p:nvSpPr>
          <p:spPr>
            <a:xfrm>
              <a:off x="666750" y="4668202"/>
              <a:ext cx="1310640" cy="411480"/>
            </a:xfrm>
            <a:prstGeom prst="roundRect">
              <a:avLst>
                <a:gd name="adj" fmla="val 23148"/>
              </a:avLst>
            </a:prstGeom>
            <a:solidFill>
              <a:srgbClr val="FFFFFF"/>
            </a:solidFill>
            <a:ln w="15240">
              <a:solidFill>
                <a:srgbClr val="334E68"/>
              </a:solidFill>
            </a:ln>
          </p:spPr>
        </p:sp>
        <p:sp>
          <p:nvSpPr>
            <p:cNvPr id="26" name="Rectangle 26"/>
            <p:cNvSpPr/>
            <p:nvPr/>
          </p:nvSpPr>
          <p:spPr>
            <a:xfrm>
              <a:off x="2244090" y="3835718"/>
              <a:ext cx="1310640" cy="411480"/>
            </a:xfrm>
            <a:prstGeom prst="roundRect">
              <a:avLst>
                <a:gd name="adj" fmla="val 23148"/>
              </a:avLst>
            </a:prstGeom>
            <a:solidFill>
              <a:srgbClr val="F4F6FB"/>
            </a:solidFill>
            <a:ln w="13335">
              <a:solidFill>
                <a:srgbClr val="D9DFEA"/>
              </a:solidFill>
            </a:ln>
          </p:spPr>
        </p:sp>
        <p:sp>
          <p:nvSpPr>
            <p:cNvPr id="27" name="TextBox 27"/>
            <p:cNvSpPr txBox="1"/>
            <p:nvPr/>
          </p:nvSpPr>
          <p:spPr>
            <a:xfrm>
              <a:off x="1269035" y="3957638"/>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P</a:t>
              </a:r>
            </a:p>
          </p:txBody>
        </p:sp>
        <p:sp>
          <p:nvSpPr>
            <p:cNvPr id="28" name="TextBox 28"/>
            <p:cNvSpPr txBox="1"/>
            <p:nvPr/>
          </p:nvSpPr>
          <p:spPr>
            <a:xfrm>
              <a:off x="1269035" y="4790122"/>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S</a:t>
              </a:r>
            </a:p>
          </p:txBody>
        </p:sp>
        <p:sp>
          <p:nvSpPr>
            <p:cNvPr id="29" name="TextBox 29"/>
            <p:cNvSpPr txBox="1"/>
            <p:nvPr/>
          </p:nvSpPr>
          <p:spPr>
            <a:xfrm>
              <a:off x="2731770" y="3957638"/>
              <a:ext cx="335280"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出口</a:t>
              </a:r>
            </a:p>
          </p:txBody>
        </p:sp>
        <p:sp>
          <p:nvSpPr>
            <p:cNvPr id="30" name="Rectangle 30"/>
            <p:cNvSpPr/>
            <p:nvPr/>
          </p:nvSpPr>
          <p:spPr>
            <a:xfrm>
              <a:off x="1350645" y="4416742"/>
              <a:ext cx="163830" cy="179070"/>
            </a:xfrm>
            <a:prstGeom prst="roundRect">
              <a:avLst>
                <a:gd name="adj" fmla="val 23256"/>
              </a:avLst>
            </a:prstGeom>
            <a:solidFill>
              <a:srgbClr val="FFFFFF"/>
            </a:solidFill>
            <a:ln>
              <a:noFill/>
            </a:ln>
          </p:spPr>
        </p:sp>
        <p:sp>
          <p:nvSpPr>
            <p:cNvPr id="31" name="TextBox 31"/>
            <p:cNvSpPr txBox="1"/>
            <p:nvPr/>
          </p:nvSpPr>
          <p:spPr>
            <a:xfrm>
              <a:off x="1374267" y="4441031"/>
              <a:ext cx="86573" cy="190690"/>
            </a:xfrm>
            <a:prstGeom prst="rect">
              <a:avLst/>
            </a:prstGeom>
            <a:noFill/>
            <a:ln>
              <a:noFill/>
            </a:ln>
          </p:spPr>
          <p:txBody>
            <a:bodyPr wrap="none" lIns="0" tIns="0" rIns="0" bIns="0" anchor="t" anchorCtr="0">
              <a:spAutoFit/>
            </a:bodyPr>
            <a:lstStyle/>
            <a:p>
              <a:pPr algn="l"/>
              <a:r>
                <a:rPr lang="en-US" sz="980" dirty="0">
                  <a:solidFill>
                    <a:srgbClr val="5B6475"/>
                  </a:solidFill>
                  <a:latin typeface="+mn-lt"/>
                  <a:ea typeface="+mn-ea"/>
                  <a:cs typeface="+mn-cs"/>
                </a:rPr>
                <a:t>T</a:t>
              </a:r>
            </a:p>
          </p:txBody>
        </p:sp>
        <p:sp>
          <p:nvSpPr>
            <p:cNvPr id="32" name="Rectangle 32"/>
            <p:cNvSpPr/>
            <p:nvPr/>
          </p:nvSpPr>
          <p:spPr>
            <a:xfrm>
              <a:off x="2028825" y="3835718"/>
              <a:ext cx="163830" cy="179070"/>
            </a:xfrm>
            <a:prstGeom prst="roundRect">
              <a:avLst>
                <a:gd name="adj" fmla="val 23256"/>
              </a:avLst>
            </a:prstGeom>
            <a:solidFill>
              <a:srgbClr val="FFFFFF"/>
            </a:solidFill>
            <a:ln>
              <a:noFill/>
            </a:ln>
          </p:spPr>
        </p:sp>
        <p:sp>
          <p:nvSpPr>
            <p:cNvPr id="33" name="TextBox 33"/>
            <p:cNvSpPr txBox="1"/>
            <p:nvPr/>
          </p:nvSpPr>
          <p:spPr>
            <a:xfrm>
              <a:off x="2067453" y="3860006"/>
              <a:ext cx="86573"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F</a:t>
              </a:r>
            </a:p>
          </p:txBody>
        </p:sp>
      </p:grpSp>
      <p:grpSp>
        <p:nvGrpSpPr>
          <p:cNvPr id="36" name="c2-text-1"/>
          <p:cNvGrpSpPr/>
          <p:nvPr/>
        </p:nvGrpSpPr>
        <p:grpSpPr>
          <a:xfrm>
            <a:off x="3986784" y="1544002"/>
            <a:ext cx="641002" cy="234696"/>
            <a:chOff x="3986784" y="1544002"/>
            <a:chExt cx="641002" cy="234696"/>
          </a:xfrm>
        </p:grpSpPr>
        <p:sp>
          <p:nvSpPr>
            <p:cNvPr id="35" name="TextBox 35"/>
            <p:cNvSpPr txBox="1"/>
            <p:nvPr/>
          </p:nvSpPr>
          <p:spPr>
            <a:xfrm>
              <a:off x="3986784" y="1544002"/>
              <a:ext cx="641002"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② 选择型</a:t>
              </a:r>
            </a:p>
          </p:txBody>
        </p:sp>
      </p:grpSp>
      <p:grpSp>
        <p:nvGrpSpPr>
          <p:cNvPr id="51" name="c2-flow-2"/>
          <p:cNvGrpSpPr/>
          <p:nvPr/>
        </p:nvGrpSpPr>
        <p:grpSpPr>
          <a:xfrm>
            <a:off x="4126230" y="1904048"/>
            <a:ext cx="2887980" cy="1072514"/>
            <a:chOff x="4126230" y="1904048"/>
            <a:chExt cx="2887980" cy="1072514"/>
          </a:xfrm>
        </p:grpSpPr>
        <p:sp>
          <p:nvSpPr>
            <p:cNvPr id="37" name="Freeform 37"/>
            <p:cNvSpPr/>
            <p:nvPr/>
          </p:nvSpPr>
          <p:spPr>
            <a:xfrm>
              <a:off x="4518660" y="2460308"/>
              <a:ext cx="1051560" cy="68580"/>
            </a:xfrm>
            <a:custGeom>
              <a:avLst/>
              <a:gdLst/>
              <a:ahLst/>
              <a:cxnLst/>
              <a:rect l="l" t="t" r="r" b="b"/>
              <a:pathLst>
                <a:path w="1051560" h="68580">
                  <a:moveTo>
                    <a:pt x="1051560" y="31433"/>
                  </a:moveTo>
                  <a:lnTo>
                    <a:pt x="1051560" y="68580"/>
                  </a:lnTo>
                  <a:lnTo>
                    <a:pt x="0" y="68580"/>
                  </a:lnTo>
                  <a:lnTo>
                    <a:pt x="0" y="0"/>
                  </a:lnTo>
                </a:path>
              </a:pathLst>
            </a:custGeom>
            <a:noFill/>
            <a:ln w="15240">
              <a:solidFill>
                <a:srgbClr val="5B6475"/>
              </a:solidFill>
            </a:ln>
          </p:spPr>
        </p:sp>
        <p:sp>
          <p:nvSpPr>
            <p:cNvPr id="38" name="Freeform 38"/>
            <p:cNvSpPr/>
            <p:nvPr/>
          </p:nvSpPr>
          <p:spPr>
            <a:xfrm>
              <a:off x="4466272" y="246030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39" name="Freeform 39"/>
            <p:cNvSpPr/>
            <p:nvPr/>
          </p:nvSpPr>
          <p:spPr>
            <a:xfrm>
              <a:off x="5570220" y="2460308"/>
              <a:ext cx="1051560" cy="68580"/>
            </a:xfrm>
            <a:custGeom>
              <a:avLst/>
              <a:gdLst/>
              <a:ahLst/>
              <a:cxnLst/>
              <a:rect l="l" t="t" r="r" b="b"/>
              <a:pathLst>
                <a:path w="1051560" h="68580">
                  <a:moveTo>
                    <a:pt x="0" y="31433"/>
                  </a:moveTo>
                  <a:lnTo>
                    <a:pt x="0" y="68580"/>
                  </a:lnTo>
                  <a:lnTo>
                    <a:pt x="1051560" y="68580"/>
                  </a:lnTo>
                  <a:lnTo>
                    <a:pt x="1051560" y="0"/>
                  </a:lnTo>
                </a:path>
              </a:pathLst>
            </a:custGeom>
            <a:noFill/>
            <a:ln w="15240">
              <a:solidFill>
                <a:srgbClr val="5B6475"/>
              </a:solidFill>
            </a:ln>
          </p:spPr>
        </p:sp>
        <p:sp>
          <p:nvSpPr>
            <p:cNvPr id="40" name="Freeform 40"/>
            <p:cNvSpPr/>
            <p:nvPr/>
          </p:nvSpPr>
          <p:spPr>
            <a:xfrm>
              <a:off x="6569392" y="246030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41" name="Freeform 41"/>
            <p:cNvSpPr/>
            <p:nvPr/>
          </p:nvSpPr>
          <p:spPr>
            <a:xfrm>
              <a:off x="5177790" y="1904048"/>
              <a:ext cx="784860" cy="587693"/>
            </a:xfrm>
            <a:custGeom>
              <a:avLst/>
              <a:gdLst/>
              <a:ahLst/>
              <a:cxnLst/>
              <a:rect l="l" t="t" r="r" b="b"/>
              <a:pathLst>
                <a:path w="784860" h="587693">
                  <a:moveTo>
                    <a:pt x="392430" y="0"/>
                  </a:moveTo>
                  <a:lnTo>
                    <a:pt x="784860" y="294323"/>
                  </a:lnTo>
                  <a:lnTo>
                    <a:pt x="392430" y="587693"/>
                  </a:lnTo>
                  <a:lnTo>
                    <a:pt x="0" y="294323"/>
                  </a:lnTo>
                  <a:close/>
                </a:path>
              </a:pathLst>
            </a:custGeom>
            <a:solidFill>
              <a:srgbClr val="FDEEE7"/>
            </a:solidFill>
            <a:ln w="15240">
              <a:solidFill>
                <a:srgbClr val="F26B3A"/>
              </a:solidFill>
            </a:ln>
          </p:spPr>
        </p:sp>
        <p:sp>
          <p:nvSpPr>
            <p:cNvPr id="42" name="Rectangle 42"/>
            <p:cNvSpPr/>
            <p:nvPr/>
          </p:nvSpPr>
          <p:spPr>
            <a:xfrm>
              <a:off x="4126230" y="2565082"/>
              <a:ext cx="784860" cy="411480"/>
            </a:xfrm>
            <a:prstGeom prst="roundRect">
              <a:avLst>
                <a:gd name="adj" fmla="val 23148"/>
              </a:avLst>
            </a:prstGeom>
            <a:solidFill>
              <a:srgbClr val="FFFFFF"/>
            </a:solidFill>
            <a:ln w="15240">
              <a:solidFill>
                <a:srgbClr val="334E68"/>
              </a:solidFill>
            </a:ln>
          </p:spPr>
        </p:sp>
        <p:sp>
          <p:nvSpPr>
            <p:cNvPr id="43" name="Rectangle 43"/>
            <p:cNvSpPr/>
            <p:nvPr/>
          </p:nvSpPr>
          <p:spPr>
            <a:xfrm>
              <a:off x="6229350" y="2565082"/>
              <a:ext cx="784860" cy="411480"/>
            </a:xfrm>
            <a:prstGeom prst="roundRect">
              <a:avLst>
                <a:gd name="adj" fmla="val 23148"/>
              </a:avLst>
            </a:prstGeom>
            <a:solidFill>
              <a:srgbClr val="FFFFFF"/>
            </a:solidFill>
            <a:ln w="15240">
              <a:solidFill>
                <a:srgbClr val="334E68"/>
              </a:solidFill>
            </a:ln>
          </p:spPr>
        </p:sp>
        <p:sp>
          <p:nvSpPr>
            <p:cNvPr id="44" name="TextBox 44"/>
            <p:cNvSpPr txBox="1"/>
            <p:nvPr/>
          </p:nvSpPr>
          <p:spPr>
            <a:xfrm>
              <a:off x="5517185" y="2114550"/>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P</a:t>
              </a:r>
            </a:p>
          </p:txBody>
        </p:sp>
        <p:sp>
          <p:nvSpPr>
            <p:cNvPr id="45" name="TextBox 45"/>
            <p:cNvSpPr txBox="1"/>
            <p:nvPr/>
          </p:nvSpPr>
          <p:spPr>
            <a:xfrm>
              <a:off x="4465625" y="2687002"/>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A</a:t>
              </a:r>
            </a:p>
          </p:txBody>
        </p:sp>
        <p:sp>
          <p:nvSpPr>
            <p:cNvPr id="46" name="TextBox 46"/>
            <p:cNvSpPr txBox="1"/>
            <p:nvPr/>
          </p:nvSpPr>
          <p:spPr>
            <a:xfrm>
              <a:off x="6568745" y="2687002"/>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B</a:t>
              </a:r>
            </a:p>
          </p:txBody>
        </p:sp>
        <p:sp>
          <p:nvSpPr>
            <p:cNvPr id="47" name="Rectangle 47"/>
            <p:cNvSpPr/>
            <p:nvPr/>
          </p:nvSpPr>
          <p:spPr>
            <a:xfrm>
              <a:off x="4962525" y="2322195"/>
              <a:ext cx="163830" cy="179070"/>
            </a:xfrm>
            <a:prstGeom prst="roundRect">
              <a:avLst>
                <a:gd name="adj" fmla="val 23256"/>
              </a:avLst>
            </a:prstGeom>
            <a:solidFill>
              <a:srgbClr val="FFFFFF"/>
            </a:solidFill>
            <a:ln>
              <a:noFill/>
            </a:ln>
          </p:spPr>
        </p:sp>
        <p:sp>
          <p:nvSpPr>
            <p:cNvPr id="48" name="TextBox 48"/>
            <p:cNvSpPr txBox="1"/>
            <p:nvPr/>
          </p:nvSpPr>
          <p:spPr>
            <a:xfrm>
              <a:off x="5001153" y="2347436"/>
              <a:ext cx="86573"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F</a:t>
              </a:r>
            </a:p>
          </p:txBody>
        </p:sp>
        <p:sp>
          <p:nvSpPr>
            <p:cNvPr id="49" name="Rectangle 49"/>
            <p:cNvSpPr/>
            <p:nvPr/>
          </p:nvSpPr>
          <p:spPr>
            <a:xfrm>
              <a:off x="6014085" y="2322195"/>
              <a:ext cx="163830" cy="179070"/>
            </a:xfrm>
            <a:prstGeom prst="roundRect">
              <a:avLst>
                <a:gd name="adj" fmla="val 23256"/>
              </a:avLst>
            </a:prstGeom>
            <a:solidFill>
              <a:srgbClr val="FFFFFF"/>
            </a:solidFill>
            <a:ln>
              <a:noFill/>
            </a:ln>
          </p:spPr>
        </p:sp>
        <p:sp>
          <p:nvSpPr>
            <p:cNvPr id="50" name="TextBox 50"/>
            <p:cNvSpPr txBox="1"/>
            <p:nvPr/>
          </p:nvSpPr>
          <p:spPr>
            <a:xfrm>
              <a:off x="6052713" y="2347436"/>
              <a:ext cx="86573"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T</a:t>
              </a:r>
            </a:p>
          </p:txBody>
        </p:sp>
      </p:grpSp>
      <p:grpSp>
        <p:nvGrpSpPr>
          <p:cNvPr id="53" name="c2-text-3"/>
          <p:cNvGrpSpPr/>
          <p:nvPr/>
        </p:nvGrpSpPr>
        <p:grpSpPr>
          <a:xfrm>
            <a:off x="3986784" y="3257550"/>
            <a:ext cx="2228339" cy="234696"/>
            <a:chOff x="3986784" y="3257550"/>
            <a:chExt cx="2228339" cy="234696"/>
          </a:xfrm>
        </p:grpSpPr>
        <p:sp>
          <p:nvSpPr>
            <p:cNvPr id="52" name="TextBox 52"/>
            <p:cNvSpPr txBox="1"/>
            <p:nvPr/>
          </p:nvSpPr>
          <p:spPr>
            <a:xfrm>
              <a:off x="3986784" y="3257550"/>
              <a:ext cx="2228339"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④ 后判定型循环（DO-UNTIL）</a:t>
              </a:r>
            </a:p>
          </p:txBody>
        </p:sp>
      </p:grpSp>
      <p:grpSp>
        <p:nvGrpSpPr>
          <p:cNvPr id="68" name="c2-flow-4"/>
          <p:cNvGrpSpPr/>
          <p:nvPr/>
        </p:nvGrpSpPr>
        <p:grpSpPr>
          <a:xfrm>
            <a:off x="3916680" y="3835718"/>
            <a:ext cx="3097530" cy="1332547"/>
            <a:chOff x="3916680" y="3835718"/>
            <a:chExt cx="3097530" cy="1332547"/>
          </a:xfrm>
        </p:grpSpPr>
        <p:sp>
          <p:nvSpPr>
            <p:cNvPr id="54" name="Freeform 54"/>
            <p:cNvSpPr/>
            <p:nvPr/>
          </p:nvSpPr>
          <p:spPr>
            <a:xfrm>
              <a:off x="4781550" y="4247198"/>
              <a:ext cx="9525" cy="227648"/>
            </a:xfrm>
            <a:custGeom>
              <a:avLst/>
              <a:gdLst/>
              <a:ahLst/>
              <a:cxnLst/>
              <a:rect l="l" t="t" r="r" b="b"/>
              <a:pathLst>
                <a:path w="9525" h="227648">
                  <a:moveTo>
                    <a:pt x="0" y="0"/>
                  </a:moveTo>
                  <a:lnTo>
                    <a:pt x="0" y="227648"/>
                  </a:lnTo>
                </a:path>
              </a:pathLst>
            </a:custGeom>
            <a:noFill/>
            <a:ln w="15240">
              <a:solidFill>
                <a:srgbClr val="5B6475"/>
              </a:solidFill>
            </a:ln>
          </p:spPr>
        </p:sp>
        <p:sp>
          <p:nvSpPr>
            <p:cNvPr id="55" name="Freeform 55"/>
            <p:cNvSpPr/>
            <p:nvPr/>
          </p:nvSpPr>
          <p:spPr>
            <a:xfrm>
              <a:off x="4729162" y="447484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56" name="Freeform 56"/>
            <p:cNvSpPr/>
            <p:nvPr/>
          </p:nvSpPr>
          <p:spPr>
            <a:xfrm>
              <a:off x="5436870" y="4873942"/>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57" name="Freeform 57"/>
            <p:cNvSpPr/>
            <p:nvPr/>
          </p:nvSpPr>
          <p:spPr>
            <a:xfrm>
              <a:off x="5598795" y="4821555"/>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58" name="Freeform 58"/>
            <p:cNvSpPr/>
            <p:nvPr/>
          </p:nvSpPr>
          <p:spPr>
            <a:xfrm>
              <a:off x="3916680" y="4041458"/>
              <a:ext cx="265748" cy="832485"/>
            </a:xfrm>
            <a:custGeom>
              <a:avLst/>
              <a:gdLst/>
              <a:ahLst/>
              <a:cxnLst/>
              <a:rect l="l" t="t" r="r" b="b"/>
              <a:pathLst>
                <a:path w="265748" h="832485">
                  <a:moveTo>
                    <a:pt x="209550" y="832485"/>
                  </a:moveTo>
                  <a:lnTo>
                    <a:pt x="0" y="832485"/>
                  </a:lnTo>
                  <a:lnTo>
                    <a:pt x="265748" y="832485"/>
                  </a:lnTo>
                  <a:lnTo>
                    <a:pt x="265748" y="416242"/>
                  </a:lnTo>
                  <a:lnTo>
                    <a:pt x="265748" y="0"/>
                  </a:lnTo>
                  <a:lnTo>
                    <a:pt x="0" y="0"/>
                  </a:lnTo>
                  <a:lnTo>
                    <a:pt x="104775" y="0"/>
                  </a:lnTo>
                </a:path>
              </a:pathLst>
            </a:custGeom>
            <a:noFill/>
            <a:ln w="15240">
              <a:solidFill>
                <a:srgbClr val="5B6475"/>
              </a:solidFill>
            </a:ln>
          </p:spPr>
        </p:sp>
        <p:sp>
          <p:nvSpPr>
            <p:cNvPr id="59" name="Freeform 59"/>
            <p:cNvSpPr/>
            <p:nvPr/>
          </p:nvSpPr>
          <p:spPr>
            <a:xfrm>
              <a:off x="4021455" y="3989070"/>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60" name="Rectangle 60"/>
            <p:cNvSpPr/>
            <p:nvPr/>
          </p:nvSpPr>
          <p:spPr>
            <a:xfrm>
              <a:off x="4126230" y="3835718"/>
              <a:ext cx="1310640" cy="411480"/>
            </a:xfrm>
            <a:prstGeom prst="roundRect">
              <a:avLst>
                <a:gd name="adj" fmla="val 23148"/>
              </a:avLst>
            </a:prstGeom>
            <a:solidFill>
              <a:srgbClr val="FFFFFF"/>
            </a:solidFill>
            <a:ln w="15240">
              <a:solidFill>
                <a:srgbClr val="334E68"/>
              </a:solidFill>
            </a:ln>
          </p:spPr>
        </p:sp>
        <p:sp>
          <p:nvSpPr>
            <p:cNvPr id="61" name="Freeform 61"/>
            <p:cNvSpPr/>
            <p:nvPr/>
          </p:nvSpPr>
          <p:spPr>
            <a:xfrm>
              <a:off x="4126230" y="4579620"/>
              <a:ext cx="1310640" cy="588645"/>
            </a:xfrm>
            <a:custGeom>
              <a:avLst/>
              <a:gdLst/>
              <a:ahLst/>
              <a:cxnLst/>
              <a:rect l="l" t="t" r="r" b="b"/>
              <a:pathLst>
                <a:path w="1310640" h="588645">
                  <a:moveTo>
                    <a:pt x="655320" y="0"/>
                  </a:moveTo>
                  <a:lnTo>
                    <a:pt x="1310640" y="294322"/>
                  </a:lnTo>
                  <a:lnTo>
                    <a:pt x="655320" y="588645"/>
                  </a:lnTo>
                  <a:lnTo>
                    <a:pt x="0" y="294322"/>
                  </a:lnTo>
                  <a:close/>
                </a:path>
              </a:pathLst>
            </a:custGeom>
            <a:solidFill>
              <a:srgbClr val="FDEEE7"/>
            </a:solidFill>
            <a:ln w="15240">
              <a:solidFill>
                <a:srgbClr val="F26B3A"/>
              </a:solidFill>
            </a:ln>
          </p:spPr>
        </p:sp>
        <p:sp>
          <p:nvSpPr>
            <p:cNvPr id="62" name="Rectangle 62"/>
            <p:cNvSpPr/>
            <p:nvPr/>
          </p:nvSpPr>
          <p:spPr>
            <a:xfrm>
              <a:off x="5703570" y="4668202"/>
              <a:ext cx="1310640" cy="411480"/>
            </a:xfrm>
            <a:prstGeom prst="roundRect">
              <a:avLst>
                <a:gd name="adj" fmla="val 23148"/>
              </a:avLst>
            </a:prstGeom>
            <a:solidFill>
              <a:srgbClr val="F4F6FB"/>
            </a:solidFill>
            <a:ln w="13335">
              <a:solidFill>
                <a:srgbClr val="D9DFEA"/>
              </a:solidFill>
            </a:ln>
          </p:spPr>
        </p:sp>
        <p:sp>
          <p:nvSpPr>
            <p:cNvPr id="63" name="TextBox 63"/>
            <p:cNvSpPr txBox="1"/>
            <p:nvPr/>
          </p:nvSpPr>
          <p:spPr>
            <a:xfrm>
              <a:off x="4728515" y="3957638"/>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S</a:t>
              </a:r>
            </a:p>
          </p:txBody>
        </p:sp>
        <p:sp>
          <p:nvSpPr>
            <p:cNvPr id="64" name="TextBox 64"/>
            <p:cNvSpPr txBox="1"/>
            <p:nvPr/>
          </p:nvSpPr>
          <p:spPr>
            <a:xfrm>
              <a:off x="4728515" y="4790122"/>
              <a:ext cx="10607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P</a:t>
              </a:r>
            </a:p>
          </p:txBody>
        </p:sp>
        <p:sp>
          <p:nvSpPr>
            <p:cNvPr id="65" name="TextBox 65"/>
            <p:cNvSpPr txBox="1"/>
            <p:nvPr/>
          </p:nvSpPr>
          <p:spPr>
            <a:xfrm>
              <a:off x="6191250" y="4790122"/>
              <a:ext cx="335280"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出口</a:t>
              </a:r>
            </a:p>
          </p:txBody>
        </p:sp>
        <p:sp>
          <p:nvSpPr>
            <p:cNvPr id="66" name="Rectangle 66"/>
            <p:cNvSpPr/>
            <p:nvPr/>
          </p:nvSpPr>
          <p:spPr>
            <a:xfrm>
              <a:off x="5488305" y="4668202"/>
              <a:ext cx="163830" cy="179070"/>
            </a:xfrm>
            <a:prstGeom prst="roundRect">
              <a:avLst>
                <a:gd name="adj" fmla="val 23256"/>
              </a:avLst>
            </a:prstGeom>
            <a:solidFill>
              <a:srgbClr val="FFFFFF"/>
            </a:solidFill>
            <a:ln>
              <a:noFill/>
            </a:ln>
          </p:spPr>
        </p:sp>
        <p:sp>
          <p:nvSpPr>
            <p:cNvPr id="67" name="TextBox 67"/>
            <p:cNvSpPr txBox="1"/>
            <p:nvPr/>
          </p:nvSpPr>
          <p:spPr>
            <a:xfrm>
              <a:off x="5526933" y="4692491"/>
              <a:ext cx="86573"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T</a:t>
              </a:r>
            </a:p>
          </p:txBody>
        </p:sp>
      </p:grpSp>
      <p:grpSp>
        <p:nvGrpSpPr>
          <p:cNvPr id="70" name="c3-text-1"/>
          <p:cNvGrpSpPr/>
          <p:nvPr/>
        </p:nvGrpSpPr>
        <p:grpSpPr>
          <a:xfrm>
            <a:off x="7446264" y="1544002"/>
            <a:ext cx="2058322" cy="234696"/>
            <a:chOff x="7446264" y="1544002"/>
            <a:chExt cx="2058322" cy="234696"/>
          </a:xfrm>
        </p:grpSpPr>
        <p:sp>
          <p:nvSpPr>
            <p:cNvPr id="69" name="TextBox 69"/>
            <p:cNvSpPr txBox="1"/>
            <p:nvPr/>
          </p:nvSpPr>
          <p:spPr>
            <a:xfrm>
              <a:off x="7446264" y="1544002"/>
              <a:ext cx="2058322"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⑤ 多情况选择型（CASE 型）</a:t>
              </a:r>
            </a:p>
          </p:txBody>
        </p:sp>
      </p:grpSp>
      <p:grpSp>
        <p:nvGrpSpPr>
          <p:cNvPr id="103" name="c3-flow-2"/>
          <p:cNvGrpSpPr/>
          <p:nvPr/>
        </p:nvGrpSpPr>
        <p:grpSpPr>
          <a:xfrm>
            <a:off x="7599998" y="2094548"/>
            <a:ext cx="3911918" cy="2498406"/>
            <a:chOff x="7599998" y="2094548"/>
            <a:chExt cx="3911918" cy="2498406"/>
          </a:xfrm>
        </p:grpSpPr>
        <p:sp>
          <p:nvSpPr>
            <p:cNvPr id="71" name="Freeform 71"/>
            <p:cNvSpPr/>
            <p:nvPr/>
          </p:nvSpPr>
          <p:spPr>
            <a:xfrm>
              <a:off x="9407842" y="2388870"/>
              <a:ext cx="190500" cy="9525"/>
            </a:xfrm>
            <a:custGeom>
              <a:avLst/>
              <a:gdLst/>
              <a:ahLst/>
              <a:cxnLst/>
              <a:rect l="l" t="t" r="r" b="b"/>
              <a:pathLst>
                <a:path w="190500" h="9525">
                  <a:moveTo>
                    <a:pt x="0" y="0"/>
                  </a:moveTo>
                  <a:lnTo>
                    <a:pt x="190500" y="0"/>
                  </a:lnTo>
                </a:path>
              </a:pathLst>
            </a:custGeom>
            <a:noFill/>
            <a:ln w="15240">
              <a:solidFill>
                <a:srgbClr val="5B6475"/>
              </a:solidFill>
            </a:ln>
          </p:spPr>
        </p:sp>
        <p:sp>
          <p:nvSpPr>
            <p:cNvPr id="72" name="Freeform 72"/>
            <p:cNvSpPr/>
            <p:nvPr/>
          </p:nvSpPr>
          <p:spPr>
            <a:xfrm>
              <a:off x="9598342" y="2336482"/>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73" name="Freeform 73"/>
            <p:cNvSpPr/>
            <p:nvPr/>
          </p:nvSpPr>
          <p:spPr>
            <a:xfrm>
              <a:off x="8503920" y="2683192"/>
              <a:ext cx="9525" cy="261938"/>
            </a:xfrm>
            <a:custGeom>
              <a:avLst/>
              <a:gdLst/>
              <a:ahLst/>
              <a:cxnLst/>
              <a:rect l="l" t="t" r="r" b="b"/>
              <a:pathLst>
                <a:path w="9525" h="261938">
                  <a:moveTo>
                    <a:pt x="0" y="0"/>
                  </a:moveTo>
                  <a:lnTo>
                    <a:pt x="0" y="261938"/>
                  </a:lnTo>
                </a:path>
              </a:pathLst>
            </a:custGeom>
            <a:noFill/>
            <a:ln w="15240">
              <a:solidFill>
                <a:srgbClr val="5B6475"/>
              </a:solidFill>
            </a:ln>
          </p:spPr>
        </p:sp>
        <p:sp>
          <p:nvSpPr>
            <p:cNvPr id="74" name="Freeform 74"/>
            <p:cNvSpPr/>
            <p:nvPr/>
          </p:nvSpPr>
          <p:spPr>
            <a:xfrm>
              <a:off x="8451532" y="294513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75" name="Freeform 75"/>
            <p:cNvSpPr/>
            <p:nvPr/>
          </p:nvSpPr>
          <p:spPr>
            <a:xfrm>
              <a:off x="9407842" y="3344228"/>
              <a:ext cx="190500" cy="9525"/>
            </a:xfrm>
            <a:custGeom>
              <a:avLst/>
              <a:gdLst/>
              <a:ahLst/>
              <a:cxnLst/>
              <a:rect l="l" t="t" r="r" b="b"/>
              <a:pathLst>
                <a:path w="190500" h="9525">
                  <a:moveTo>
                    <a:pt x="0" y="0"/>
                  </a:moveTo>
                  <a:lnTo>
                    <a:pt x="190500" y="0"/>
                  </a:lnTo>
                </a:path>
              </a:pathLst>
            </a:custGeom>
            <a:noFill/>
            <a:ln w="15240">
              <a:solidFill>
                <a:srgbClr val="5B6475"/>
              </a:solidFill>
            </a:ln>
          </p:spPr>
        </p:sp>
        <p:sp>
          <p:nvSpPr>
            <p:cNvPr id="76" name="Freeform 76"/>
            <p:cNvSpPr/>
            <p:nvPr/>
          </p:nvSpPr>
          <p:spPr>
            <a:xfrm>
              <a:off x="9598342" y="3291840"/>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77" name="Freeform 77"/>
            <p:cNvSpPr/>
            <p:nvPr/>
          </p:nvSpPr>
          <p:spPr>
            <a:xfrm>
              <a:off x="8503920" y="3638550"/>
              <a:ext cx="9525" cy="261938"/>
            </a:xfrm>
            <a:custGeom>
              <a:avLst/>
              <a:gdLst/>
              <a:ahLst/>
              <a:cxnLst/>
              <a:rect l="l" t="t" r="r" b="b"/>
              <a:pathLst>
                <a:path w="9525" h="261938">
                  <a:moveTo>
                    <a:pt x="0" y="0"/>
                  </a:moveTo>
                  <a:lnTo>
                    <a:pt x="0" y="261938"/>
                  </a:lnTo>
                </a:path>
              </a:pathLst>
            </a:custGeom>
            <a:noFill/>
            <a:ln w="15240">
              <a:solidFill>
                <a:srgbClr val="5B6475"/>
              </a:solidFill>
            </a:ln>
          </p:spPr>
        </p:sp>
        <p:sp>
          <p:nvSpPr>
            <p:cNvPr id="78" name="Freeform 78"/>
            <p:cNvSpPr/>
            <p:nvPr/>
          </p:nvSpPr>
          <p:spPr>
            <a:xfrm>
              <a:off x="8451532" y="390048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79" name="Freeform 79"/>
            <p:cNvSpPr/>
            <p:nvPr/>
          </p:nvSpPr>
          <p:spPr>
            <a:xfrm>
              <a:off x="9407842" y="4298632"/>
              <a:ext cx="190500" cy="9525"/>
            </a:xfrm>
            <a:custGeom>
              <a:avLst/>
              <a:gdLst/>
              <a:ahLst/>
              <a:cxnLst/>
              <a:rect l="l" t="t" r="r" b="b"/>
              <a:pathLst>
                <a:path w="190500" h="9525">
                  <a:moveTo>
                    <a:pt x="0" y="0"/>
                  </a:moveTo>
                  <a:lnTo>
                    <a:pt x="190500" y="0"/>
                  </a:lnTo>
                </a:path>
              </a:pathLst>
            </a:custGeom>
            <a:noFill/>
            <a:ln w="15240">
              <a:solidFill>
                <a:srgbClr val="5B6475"/>
              </a:solidFill>
            </a:ln>
          </p:spPr>
        </p:sp>
        <p:sp>
          <p:nvSpPr>
            <p:cNvPr id="80" name="Freeform 80"/>
            <p:cNvSpPr/>
            <p:nvPr/>
          </p:nvSpPr>
          <p:spPr>
            <a:xfrm>
              <a:off x="9598342" y="4246245"/>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81" name="Freeform 81"/>
            <p:cNvSpPr/>
            <p:nvPr/>
          </p:nvSpPr>
          <p:spPr>
            <a:xfrm>
              <a:off x="7599998" y="2094548"/>
              <a:ext cx="1807845" cy="588645"/>
            </a:xfrm>
            <a:custGeom>
              <a:avLst/>
              <a:gdLst/>
              <a:ahLst/>
              <a:cxnLst/>
              <a:rect l="l" t="t" r="r" b="b"/>
              <a:pathLst>
                <a:path w="1807845" h="588645">
                  <a:moveTo>
                    <a:pt x="903922" y="0"/>
                  </a:moveTo>
                  <a:lnTo>
                    <a:pt x="1807845" y="294323"/>
                  </a:lnTo>
                  <a:lnTo>
                    <a:pt x="903922" y="588645"/>
                  </a:lnTo>
                  <a:lnTo>
                    <a:pt x="0" y="294323"/>
                  </a:lnTo>
                  <a:close/>
                </a:path>
              </a:pathLst>
            </a:custGeom>
            <a:solidFill>
              <a:srgbClr val="FDEEE7"/>
            </a:solidFill>
            <a:ln w="15240">
              <a:solidFill>
                <a:srgbClr val="F26B3A"/>
              </a:solidFill>
            </a:ln>
          </p:spPr>
        </p:sp>
        <p:sp>
          <p:nvSpPr>
            <p:cNvPr id="82" name="Rectangle 82"/>
            <p:cNvSpPr/>
            <p:nvPr/>
          </p:nvSpPr>
          <p:spPr>
            <a:xfrm>
              <a:off x="9703118" y="2183130"/>
              <a:ext cx="1808798" cy="411480"/>
            </a:xfrm>
            <a:prstGeom prst="roundRect">
              <a:avLst>
                <a:gd name="adj" fmla="val 23148"/>
              </a:avLst>
            </a:prstGeom>
            <a:solidFill>
              <a:srgbClr val="FFFFFF"/>
            </a:solidFill>
            <a:ln w="15240">
              <a:solidFill>
                <a:srgbClr val="334E68"/>
              </a:solidFill>
            </a:ln>
          </p:spPr>
        </p:sp>
        <p:sp>
          <p:nvSpPr>
            <p:cNvPr id="83" name="Freeform 83"/>
            <p:cNvSpPr/>
            <p:nvPr/>
          </p:nvSpPr>
          <p:spPr>
            <a:xfrm>
              <a:off x="7599998" y="3049905"/>
              <a:ext cx="1807845" cy="588645"/>
            </a:xfrm>
            <a:custGeom>
              <a:avLst/>
              <a:gdLst/>
              <a:ahLst/>
              <a:cxnLst/>
              <a:rect l="l" t="t" r="r" b="b"/>
              <a:pathLst>
                <a:path w="1807845" h="588645">
                  <a:moveTo>
                    <a:pt x="903922" y="0"/>
                  </a:moveTo>
                  <a:lnTo>
                    <a:pt x="1807845" y="294323"/>
                  </a:lnTo>
                  <a:lnTo>
                    <a:pt x="903922" y="588645"/>
                  </a:lnTo>
                  <a:lnTo>
                    <a:pt x="0" y="294323"/>
                  </a:lnTo>
                  <a:close/>
                </a:path>
              </a:pathLst>
            </a:custGeom>
            <a:solidFill>
              <a:srgbClr val="FDEEE7"/>
            </a:solidFill>
            <a:ln w="15240">
              <a:solidFill>
                <a:srgbClr val="F26B3A"/>
              </a:solidFill>
            </a:ln>
          </p:spPr>
        </p:sp>
        <p:sp>
          <p:nvSpPr>
            <p:cNvPr id="84" name="Rectangle 84"/>
            <p:cNvSpPr/>
            <p:nvPr/>
          </p:nvSpPr>
          <p:spPr>
            <a:xfrm>
              <a:off x="9703118" y="3138488"/>
              <a:ext cx="1808798" cy="411480"/>
            </a:xfrm>
            <a:prstGeom prst="roundRect">
              <a:avLst>
                <a:gd name="adj" fmla="val 23148"/>
              </a:avLst>
            </a:prstGeom>
            <a:solidFill>
              <a:srgbClr val="FFFFFF"/>
            </a:solidFill>
            <a:ln w="15240">
              <a:solidFill>
                <a:srgbClr val="334E68"/>
              </a:solidFill>
            </a:ln>
          </p:spPr>
        </p:sp>
        <p:sp>
          <p:nvSpPr>
            <p:cNvPr id="85" name="Freeform 85"/>
            <p:cNvSpPr/>
            <p:nvPr/>
          </p:nvSpPr>
          <p:spPr>
            <a:xfrm>
              <a:off x="7599998" y="4005262"/>
              <a:ext cx="1807845" cy="587692"/>
            </a:xfrm>
            <a:custGeom>
              <a:avLst/>
              <a:gdLst/>
              <a:ahLst/>
              <a:cxnLst/>
              <a:rect l="l" t="t" r="r" b="b"/>
              <a:pathLst>
                <a:path w="1807845" h="587692">
                  <a:moveTo>
                    <a:pt x="903922" y="0"/>
                  </a:moveTo>
                  <a:lnTo>
                    <a:pt x="1807845" y="293370"/>
                  </a:lnTo>
                  <a:lnTo>
                    <a:pt x="903922" y="587692"/>
                  </a:lnTo>
                  <a:lnTo>
                    <a:pt x="0" y="293370"/>
                  </a:lnTo>
                  <a:close/>
                </a:path>
              </a:pathLst>
            </a:custGeom>
            <a:solidFill>
              <a:srgbClr val="FDEEE7"/>
            </a:solidFill>
            <a:ln w="15240">
              <a:solidFill>
                <a:srgbClr val="F26B3A"/>
              </a:solidFill>
            </a:ln>
          </p:spPr>
        </p:sp>
        <p:sp>
          <p:nvSpPr>
            <p:cNvPr id="86" name="Rectangle 86"/>
            <p:cNvSpPr/>
            <p:nvPr/>
          </p:nvSpPr>
          <p:spPr>
            <a:xfrm>
              <a:off x="9703118" y="4092892"/>
              <a:ext cx="1808798" cy="411480"/>
            </a:xfrm>
            <a:prstGeom prst="roundRect">
              <a:avLst>
                <a:gd name="adj" fmla="val 23148"/>
              </a:avLst>
            </a:prstGeom>
            <a:solidFill>
              <a:srgbClr val="FFFFFF"/>
            </a:solidFill>
            <a:ln w="15240">
              <a:solidFill>
                <a:srgbClr val="334E68"/>
              </a:solidFill>
            </a:ln>
          </p:spPr>
        </p:sp>
        <p:sp>
          <p:nvSpPr>
            <p:cNvPr id="87" name="TextBox 87"/>
            <p:cNvSpPr txBox="1"/>
            <p:nvPr/>
          </p:nvSpPr>
          <p:spPr>
            <a:xfrm>
              <a:off x="8305800" y="2305050"/>
              <a:ext cx="39624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P = 1</a:t>
              </a:r>
            </a:p>
          </p:txBody>
        </p:sp>
        <p:sp>
          <p:nvSpPr>
            <p:cNvPr id="88" name="TextBox 88"/>
            <p:cNvSpPr txBox="1"/>
            <p:nvPr/>
          </p:nvSpPr>
          <p:spPr>
            <a:xfrm>
              <a:off x="10507066" y="2305050"/>
              <a:ext cx="199949"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A1</a:t>
              </a:r>
            </a:p>
          </p:txBody>
        </p:sp>
        <p:sp>
          <p:nvSpPr>
            <p:cNvPr id="89" name="TextBox 89"/>
            <p:cNvSpPr txBox="1"/>
            <p:nvPr/>
          </p:nvSpPr>
          <p:spPr>
            <a:xfrm>
              <a:off x="8305800" y="3260407"/>
              <a:ext cx="39624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P = 2</a:t>
              </a:r>
            </a:p>
          </p:txBody>
        </p:sp>
        <p:sp>
          <p:nvSpPr>
            <p:cNvPr id="90" name="TextBox 90"/>
            <p:cNvSpPr txBox="1"/>
            <p:nvPr/>
          </p:nvSpPr>
          <p:spPr>
            <a:xfrm>
              <a:off x="10507066" y="3260407"/>
              <a:ext cx="199949"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A2</a:t>
              </a:r>
            </a:p>
          </p:txBody>
        </p:sp>
        <p:sp>
          <p:nvSpPr>
            <p:cNvPr id="91" name="TextBox 91"/>
            <p:cNvSpPr txBox="1"/>
            <p:nvPr/>
          </p:nvSpPr>
          <p:spPr>
            <a:xfrm>
              <a:off x="8310944" y="4214812"/>
              <a:ext cx="385953"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P = n</a:t>
              </a:r>
            </a:p>
          </p:txBody>
        </p:sp>
        <p:sp>
          <p:nvSpPr>
            <p:cNvPr id="92" name="TextBox 92"/>
            <p:cNvSpPr txBox="1"/>
            <p:nvPr/>
          </p:nvSpPr>
          <p:spPr>
            <a:xfrm>
              <a:off x="10509580" y="4214812"/>
              <a:ext cx="194920" cy="234696"/>
            </a:xfrm>
            <a:prstGeom prst="rect">
              <a:avLst/>
            </a:prstGeom>
            <a:noFill/>
            <a:ln>
              <a:noFill/>
            </a:ln>
          </p:spPr>
          <p:txBody>
            <a:bodyPr wrap="none" lIns="0" tIns="0" rIns="0" bIns="0" anchor="t" anchorCtr="0">
              <a:spAutoFit/>
            </a:bodyPr>
            <a:lstStyle/>
            <a:p>
              <a:pPr algn="ctr"/>
              <a:r>
                <a:rPr lang="en-US" sz="1200" dirty="0">
                  <a:solidFill>
                    <a:srgbClr val="1F2937"/>
                  </a:solidFill>
                  <a:latin typeface="+mn-lt"/>
                  <a:ea typeface="+mn-ea"/>
                  <a:cs typeface="+mn-cs"/>
                </a:rPr>
                <a:t>An</a:t>
              </a:r>
            </a:p>
          </p:txBody>
        </p:sp>
        <p:sp>
          <p:nvSpPr>
            <p:cNvPr id="93" name="Rectangle 93"/>
            <p:cNvSpPr/>
            <p:nvPr/>
          </p:nvSpPr>
          <p:spPr>
            <a:xfrm>
              <a:off x="9473565" y="2183130"/>
              <a:ext cx="163830" cy="179070"/>
            </a:xfrm>
            <a:prstGeom prst="roundRect">
              <a:avLst>
                <a:gd name="adj" fmla="val 23256"/>
              </a:avLst>
            </a:prstGeom>
            <a:solidFill>
              <a:srgbClr val="FFFFFF"/>
            </a:solidFill>
            <a:ln>
              <a:noFill/>
            </a:ln>
          </p:spPr>
        </p:sp>
        <p:sp>
          <p:nvSpPr>
            <p:cNvPr id="94" name="TextBox 94"/>
            <p:cNvSpPr txBox="1"/>
            <p:nvPr/>
          </p:nvSpPr>
          <p:spPr>
            <a:xfrm>
              <a:off x="9512193" y="2207419"/>
              <a:ext cx="86573"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T</a:t>
              </a:r>
            </a:p>
          </p:txBody>
        </p:sp>
        <p:sp>
          <p:nvSpPr>
            <p:cNvPr id="95" name="Rectangle 95"/>
            <p:cNvSpPr/>
            <p:nvPr/>
          </p:nvSpPr>
          <p:spPr>
            <a:xfrm>
              <a:off x="8532495" y="2781300"/>
              <a:ext cx="163830" cy="179070"/>
            </a:xfrm>
            <a:prstGeom prst="roundRect">
              <a:avLst>
                <a:gd name="adj" fmla="val 23256"/>
              </a:avLst>
            </a:prstGeom>
            <a:solidFill>
              <a:srgbClr val="FFFFFF"/>
            </a:solidFill>
            <a:ln>
              <a:noFill/>
            </a:ln>
          </p:spPr>
        </p:sp>
        <p:sp>
          <p:nvSpPr>
            <p:cNvPr id="96" name="TextBox 96"/>
            <p:cNvSpPr txBox="1"/>
            <p:nvPr/>
          </p:nvSpPr>
          <p:spPr>
            <a:xfrm>
              <a:off x="8556117" y="2805589"/>
              <a:ext cx="86573" cy="190690"/>
            </a:xfrm>
            <a:prstGeom prst="rect">
              <a:avLst/>
            </a:prstGeom>
            <a:noFill/>
            <a:ln>
              <a:noFill/>
            </a:ln>
          </p:spPr>
          <p:txBody>
            <a:bodyPr wrap="none" lIns="0" tIns="0" rIns="0" bIns="0" anchor="t" anchorCtr="0">
              <a:spAutoFit/>
            </a:bodyPr>
            <a:lstStyle/>
            <a:p>
              <a:pPr algn="l"/>
              <a:r>
                <a:rPr lang="en-US" sz="980" dirty="0">
                  <a:solidFill>
                    <a:srgbClr val="5B6475"/>
                  </a:solidFill>
                  <a:latin typeface="+mn-lt"/>
                  <a:ea typeface="+mn-ea"/>
                  <a:cs typeface="+mn-cs"/>
                </a:rPr>
                <a:t>F</a:t>
              </a:r>
            </a:p>
          </p:txBody>
        </p:sp>
        <p:sp>
          <p:nvSpPr>
            <p:cNvPr id="97" name="Rectangle 97"/>
            <p:cNvSpPr/>
            <p:nvPr/>
          </p:nvSpPr>
          <p:spPr>
            <a:xfrm>
              <a:off x="9473565" y="3137535"/>
              <a:ext cx="163830" cy="179070"/>
            </a:xfrm>
            <a:prstGeom prst="roundRect">
              <a:avLst>
                <a:gd name="adj" fmla="val 23256"/>
              </a:avLst>
            </a:prstGeom>
            <a:solidFill>
              <a:srgbClr val="FFFFFF"/>
            </a:solidFill>
            <a:ln>
              <a:noFill/>
            </a:ln>
          </p:spPr>
        </p:sp>
        <p:sp>
          <p:nvSpPr>
            <p:cNvPr id="98" name="TextBox 98"/>
            <p:cNvSpPr txBox="1"/>
            <p:nvPr/>
          </p:nvSpPr>
          <p:spPr>
            <a:xfrm>
              <a:off x="9512193" y="3162776"/>
              <a:ext cx="86573"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T</a:t>
              </a:r>
            </a:p>
          </p:txBody>
        </p:sp>
        <p:sp>
          <p:nvSpPr>
            <p:cNvPr id="99" name="Rectangle 99"/>
            <p:cNvSpPr/>
            <p:nvPr/>
          </p:nvSpPr>
          <p:spPr>
            <a:xfrm>
              <a:off x="8532495" y="3735705"/>
              <a:ext cx="163830" cy="179070"/>
            </a:xfrm>
            <a:prstGeom prst="roundRect">
              <a:avLst>
                <a:gd name="adj" fmla="val 23256"/>
              </a:avLst>
            </a:prstGeom>
            <a:solidFill>
              <a:srgbClr val="FFFFFF"/>
            </a:solidFill>
            <a:ln>
              <a:noFill/>
            </a:ln>
          </p:spPr>
        </p:sp>
        <p:sp>
          <p:nvSpPr>
            <p:cNvPr id="100" name="TextBox 100"/>
            <p:cNvSpPr txBox="1"/>
            <p:nvPr/>
          </p:nvSpPr>
          <p:spPr>
            <a:xfrm>
              <a:off x="8556117" y="3760946"/>
              <a:ext cx="86573" cy="190690"/>
            </a:xfrm>
            <a:prstGeom prst="rect">
              <a:avLst/>
            </a:prstGeom>
            <a:noFill/>
            <a:ln>
              <a:noFill/>
            </a:ln>
          </p:spPr>
          <p:txBody>
            <a:bodyPr wrap="none" lIns="0" tIns="0" rIns="0" bIns="0" anchor="t" anchorCtr="0">
              <a:spAutoFit/>
            </a:bodyPr>
            <a:lstStyle/>
            <a:p>
              <a:pPr algn="l"/>
              <a:r>
                <a:rPr lang="en-US" sz="980" dirty="0">
                  <a:solidFill>
                    <a:srgbClr val="5B6475"/>
                  </a:solidFill>
                  <a:latin typeface="+mn-lt"/>
                  <a:ea typeface="+mn-ea"/>
                  <a:cs typeface="+mn-cs"/>
                </a:rPr>
                <a:t>F</a:t>
              </a:r>
            </a:p>
          </p:txBody>
        </p:sp>
        <p:sp>
          <p:nvSpPr>
            <p:cNvPr id="101" name="Rectangle 101"/>
            <p:cNvSpPr/>
            <p:nvPr/>
          </p:nvSpPr>
          <p:spPr>
            <a:xfrm>
              <a:off x="9473565" y="4092892"/>
              <a:ext cx="163830" cy="179070"/>
            </a:xfrm>
            <a:prstGeom prst="roundRect">
              <a:avLst>
                <a:gd name="adj" fmla="val 23256"/>
              </a:avLst>
            </a:prstGeom>
            <a:solidFill>
              <a:srgbClr val="FFFFFF"/>
            </a:solidFill>
            <a:ln>
              <a:noFill/>
            </a:ln>
          </p:spPr>
        </p:sp>
        <p:sp>
          <p:nvSpPr>
            <p:cNvPr id="102" name="TextBox 102"/>
            <p:cNvSpPr txBox="1"/>
            <p:nvPr/>
          </p:nvSpPr>
          <p:spPr>
            <a:xfrm>
              <a:off x="9512193" y="4117181"/>
              <a:ext cx="86573"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T</a:t>
              </a:r>
            </a:p>
          </p:txBody>
        </p:sp>
      </p:grpSp>
      <p:grpSp>
        <p:nvGrpSpPr>
          <p:cNvPr id="110" name="takeaway"/>
          <p:cNvGrpSpPr/>
          <p:nvPr/>
        </p:nvGrpSpPr>
        <p:grpSpPr>
          <a:xfrm>
            <a:off x="533400" y="5858828"/>
            <a:ext cx="11125200" cy="503872"/>
            <a:chOff x="533400" y="5858828"/>
            <a:chExt cx="11125200" cy="503872"/>
          </a:xfrm>
        </p:grpSpPr>
        <p:sp>
          <p:nvSpPr>
            <p:cNvPr id="104" name="Rectangle 104"/>
            <p:cNvSpPr/>
            <p:nvPr/>
          </p:nvSpPr>
          <p:spPr>
            <a:xfrm>
              <a:off x="533400" y="5858828"/>
              <a:ext cx="11125200" cy="503872"/>
            </a:xfrm>
            <a:prstGeom prst="roundRect">
              <a:avLst>
                <a:gd name="adj" fmla="val 22684"/>
              </a:avLst>
            </a:prstGeom>
            <a:solidFill>
              <a:srgbClr val="F4F6FB"/>
            </a:solidFill>
            <a:ln>
              <a:noFill/>
            </a:ln>
          </p:spPr>
        </p:sp>
        <p:grpSp>
          <p:nvGrpSpPr>
            <p:cNvPr id="108" name="Group 108"/>
            <p:cNvGrpSpPr/>
            <p:nvPr/>
          </p:nvGrpSpPr>
          <p:grpSpPr>
            <a:xfrm>
              <a:off x="738188" y="6011228"/>
              <a:ext cx="200026" cy="200026"/>
              <a:chOff x="738188" y="6011228"/>
              <a:chExt cx="200026" cy="200026"/>
            </a:xfrm>
          </p:grpSpPr>
          <p:sp>
            <p:nvSpPr>
              <p:cNvPr id="105" name="Freeform 105"/>
              <p:cNvSpPr/>
              <p:nvPr/>
            </p:nvSpPr>
            <p:spPr>
              <a:xfrm>
                <a:off x="738188" y="601122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106" name="Freeform 106"/>
              <p:cNvSpPr/>
              <p:nvPr/>
            </p:nvSpPr>
            <p:spPr>
              <a:xfrm>
                <a:off x="838200" y="607790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107" name="Freeform 107"/>
              <p:cNvSpPr/>
              <p:nvPr/>
            </p:nvSpPr>
            <p:spPr>
              <a:xfrm>
                <a:off x="827088" y="611124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109" name="TextBox 109"/>
            <p:cNvSpPr txBox="1"/>
            <p:nvPr/>
          </p:nvSpPr>
          <p:spPr>
            <a:xfrm>
              <a:off x="1040511" y="6011704"/>
              <a:ext cx="1045977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符号约定：矩形是处理，菱形是判断，箭头是控制流；判断框只能有两个出口，CASE 型是若干个两分支判断串起来的写法。</a:t>
              </a:r>
            </a:p>
          </p:txBody>
        </p:sp>
      </p:grpSp>
      <p:grpSp>
        <p:nvGrpSpPr>
          <p:cNvPr id="113" name="footer"/>
          <p:cNvGrpSpPr/>
          <p:nvPr/>
        </p:nvGrpSpPr>
        <p:grpSpPr>
          <a:xfrm>
            <a:off x="528447" y="6581299"/>
            <a:ext cx="11135106" cy="190690"/>
            <a:chOff x="528447" y="6581299"/>
            <a:chExt cx="11135106" cy="190690"/>
          </a:xfrm>
        </p:grpSpPr>
        <p:sp>
          <p:nvSpPr>
            <p:cNvPr id="111" name="TextBox 111"/>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112" name="TextBox 11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过程设计技术和工具</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本节的示例程序：同一段逻辑要画三遍</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0" name="c1-code-1"/>
          <p:cNvGrpSpPr/>
          <p:nvPr/>
        </p:nvGrpSpPr>
        <p:grpSpPr>
          <a:xfrm>
            <a:off x="533400" y="1524000"/>
            <a:ext cx="6059805" cy="3319462"/>
            <a:chOff x="533400" y="1524000"/>
            <a:chExt cx="6059805" cy="3319462"/>
          </a:xfrm>
        </p:grpSpPr>
        <p:sp>
          <p:nvSpPr>
            <p:cNvPr id="7" name="Rectangle 7"/>
            <p:cNvSpPr/>
            <p:nvPr/>
          </p:nvSpPr>
          <p:spPr>
            <a:xfrm>
              <a:off x="533400" y="1524000"/>
              <a:ext cx="6059805" cy="3319462"/>
            </a:xfrm>
            <a:prstGeom prst="roundRect">
              <a:avLst>
                <a:gd name="adj" fmla="val 2869"/>
              </a:avLst>
            </a:prstGeom>
            <a:solidFill>
              <a:srgbClr val="F6F8FA"/>
            </a:solidFill>
            <a:ln w="11430">
              <a:solidFill>
                <a:srgbClr val="D9DFEA"/>
              </a:solidFill>
            </a:ln>
          </p:spPr>
        </p:sp>
        <p:sp>
          <p:nvSpPr>
            <p:cNvPr id="8" name="TextBox 8"/>
            <p:cNvSpPr txBox="1"/>
            <p:nvPr/>
          </p:nvSpPr>
          <p:spPr>
            <a:xfrm>
              <a:off x="661797" y="1675924"/>
              <a:ext cx="3080751"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示例程序的伪码（a 到 j 是处理，X1 到 X6 是条件）</a:t>
              </a:r>
            </a:p>
          </p:txBody>
        </p:sp>
        <p:sp>
          <p:nvSpPr>
            <p:cNvPr id="9" name="TextBox 9"/>
            <p:cNvSpPr txBox="1"/>
            <p:nvPr/>
          </p:nvSpPr>
          <p:spPr>
            <a:xfrm>
              <a:off x="661797" y="1935956"/>
              <a:ext cx="2131949" cy="2833878"/>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Consolas"/>
                  <a:ea typeface="Consolas"/>
                  <a:cs typeface="Consolas"/>
                </a:rPr>
                <a:t>a</a:t>
              </a:r>
              <a:br/>
              <a:r>
                <a:rPr lang="en-US" sz="980" dirty="0">
                  <a:solidFill>
                    <a:srgbClr val="1F2937"/>
                  </a:solidFill>
                  <a:latin typeface="Consolas"/>
                  <a:ea typeface="Consolas"/>
                  <a:cs typeface="Consolas"/>
                </a:rPr>
                <a:t>repeat</a:t>
              </a:r>
              <a:br/>
              <a:r>
                <a:rPr lang="en-US" sz="980" dirty="0">
                  <a:solidFill>
                    <a:srgbClr val="1F2937"/>
                  </a:solidFill>
                  <a:latin typeface="Consolas"/>
                  <a:ea typeface="Consolas"/>
                  <a:cs typeface="Consolas"/>
                </a:rPr>
                <a:t xml:space="preserve">    b</a:t>
              </a:r>
              <a:br/>
              <a:r>
                <a:rPr lang="en-US" sz="980" dirty="0">
                  <a:solidFill>
                    <a:srgbClr val="1F2937"/>
                  </a:solidFill>
                  <a:latin typeface="Consolas"/>
                  <a:ea typeface="Consolas"/>
                  <a:cs typeface="Consolas"/>
                </a:rPr>
                <a:t xml:space="preserve">    if X1 then</a:t>
              </a:r>
              <a:br/>
              <a:r>
                <a:rPr lang="en-US" sz="980" dirty="0">
                  <a:solidFill>
                    <a:srgbClr val="1F2937"/>
                  </a:solidFill>
                  <a:latin typeface="Consolas"/>
                  <a:ea typeface="Consolas"/>
                  <a:cs typeface="Consolas"/>
                </a:rPr>
                <a:t xml:space="preserve">        f</a:t>
              </a:r>
              <a:br/>
              <a:r>
                <a:rPr lang="en-US" sz="980" dirty="0">
                  <a:solidFill>
                    <a:srgbClr val="1F2937"/>
                  </a:solidFill>
                  <a:latin typeface="Consolas"/>
                  <a:ea typeface="Consolas"/>
                  <a:cs typeface="Consolas"/>
                </a:rPr>
                <a:t xml:space="preserve">        if X4 then</a:t>
              </a:r>
              <a:br/>
              <a:r>
                <a:rPr lang="en-US" sz="980" dirty="0">
                  <a:solidFill>
                    <a:srgbClr val="1F2937"/>
                  </a:solidFill>
                  <a:latin typeface="Consolas"/>
                  <a:ea typeface="Consolas"/>
                  <a:cs typeface="Consolas"/>
                </a:rPr>
                <a:t xml:space="preserve">            repeat i until X5</a:t>
              </a:r>
              <a:br/>
              <a:r>
                <a:rPr lang="en-US" sz="980" dirty="0">
                  <a:solidFill>
                    <a:srgbClr val="1F2937"/>
                  </a:solidFill>
                  <a:latin typeface="Consolas"/>
                  <a:ea typeface="Consolas"/>
                  <a:cs typeface="Consolas"/>
                </a:rPr>
                <a:t xml:space="preserve">        else</a:t>
              </a:r>
              <a:br/>
              <a:r>
                <a:rPr lang="en-US" sz="980" dirty="0">
                  <a:solidFill>
                    <a:srgbClr val="1F2937"/>
                  </a:solidFill>
                  <a:latin typeface="Consolas"/>
                  <a:ea typeface="Consolas"/>
                  <a:cs typeface="Consolas"/>
                </a:rPr>
                <a:t xml:space="preserve">            g;  h</a:t>
              </a:r>
              <a:br/>
              <a:r>
                <a:rPr lang="en-US" sz="980" dirty="0">
                  <a:solidFill>
                    <a:srgbClr val="1F2937"/>
                  </a:solidFill>
                  <a:latin typeface="Consolas"/>
                  <a:ea typeface="Consolas"/>
                  <a:cs typeface="Consolas"/>
                </a:rPr>
                <a:t xml:space="preserve">    else</a:t>
              </a:r>
              <a:br/>
              <a:r>
                <a:rPr lang="en-US" sz="980" dirty="0">
                  <a:solidFill>
                    <a:srgbClr val="1F2937"/>
                  </a:solidFill>
                  <a:latin typeface="Consolas"/>
                  <a:ea typeface="Consolas"/>
                  <a:cs typeface="Consolas"/>
                </a:rPr>
                <a:t xml:space="preserve">        case X2 of</a:t>
              </a:r>
              <a:br/>
              <a:r>
                <a:rPr lang="en-US" sz="980" dirty="0">
                  <a:solidFill>
                    <a:srgbClr val="1F2937"/>
                  </a:solidFill>
                  <a:latin typeface="Consolas"/>
                  <a:ea typeface="Consolas"/>
                  <a:cs typeface="Consolas"/>
                </a:rPr>
                <a:t xml:space="preserve">            = 1:  while X3 do c</a:t>
              </a:r>
              <a:br/>
              <a:r>
                <a:rPr lang="en-US" sz="980" dirty="0">
                  <a:solidFill>
                    <a:srgbClr val="1F2937"/>
                  </a:solidFill>
                  <a:latin typeface="Consolas"/>
                  <a:ea typeface="Consolas"/>
                  <a:cs typeface="Consolas"/>
                </a:rPr>
                <a:t xml:space="preserve">            = 2:  d</a:t>
              </a:r>
              <a:br/>
              <a:r>
                <a:rPr lang="en-US" sz="980" dirty="0">
                  <a:solidFill>
                    <a:srgbClr val="1F2937"/>
                  </a:solidFill>
                  <a:latin typeface="Consolas"/>
                  <a:ea typeface="Consolas"/>
                  <a:cs typeface="Consolas"/>
                </a:rPr>
                <a:t xml:space="preserve">            = 3:  e</a:t>
              </a:r>
              <a:br/>
              <a:r>
                <a:rPr lang="en-US" sz="980" dirty="0">
                  <a:solidFill>
                    <a:srgbClr val="1F2937"/>
                  </a:solidFill>
                  <a:latin typeface="Consolas"/>
                  <a:ea typeface="Consolas"/>
                  <a:cs typeface="Consolas"/>
                </a:rPr>
                <a:t>until X6</a:t>
              </a:r>
              <a:br/>
              <a:r>
                <a:rPr lang="en-US" sz="980" dirty="0">
                  <a:solidFill>
                    <a:srgbClr val="1F2937"/>
                  </a:solidFill>
                  <a:latin typeface="Consolas"/>
                  <a:ea typeface="Consolas"/>
                  <a:cs typeface="Consolas"/>
                </a:rPr>
                <a:t>j</a:t>
              </a:r>
            </a:p>
          </p:txBody>
        </p:sp>
      </p:grpSp>
      <p:grpSp>
        <p:nvGrpSpPr>
          <p:cNvPr id="17" name="c1-callout-2"/>
          <p:cNvGrpSpPr/>
          <p:nvPr/>
        </p:nvGrpSpPr>
        <p:grpSpPr>
          <a:xfrm>
            <a:off x="533400" y="5013008"/>
            <a:ext cx="6059805" cy="1108710"/>
            <a:chOff x="533400" y="5013008"/>
            <a:chExt cx="6059805" cy="1108710"/>
          </a:xfrm>
        </p:grpSpPr>
        <p:sp>
          <p:nvSpPr>
            <p:cNvPr id="11" name="Rectangle 11"/>
            <p:cNvSpPr/>
            <p:nvPr/>
          </p:nvSpPr>
          <p:spPr>
            <a:xfrm>
              <a:off x="533400" y="5013008"/>
              <a:ext cx="6059805" cy="1108710"/>
            </a:xfrm>
            <a:prstGeom prst="roundRect">
              <a:avLst>
                <a:gd name="adj" fmla="val 10309"/>
              </a:avLst>
            </a:prstGeom>
            <a:solidFill>
              <a:srgbClr val="F4F6FB"/>
            </a:solidFill>
            <a:ln>
              <a:noFill/>
            </a:ln>
          </p:spPr>
        </p:sp>
        <p:grpSp>
          <p:nvGrpSpPr>
            <p:cNvPr id="15" name="Group 15"/>
            <p:cNvGrpSpPr/>
            <p:nvPr/>
          </p:nvGrpSpPr>
          <p:grpSpPr>
            <a:xfrm>
              <a:off x="738188" y="5468303"/>
              <a:ext cx="200026" cy="200026"/>
              <a:chOff x="738188" y="5468303"/>
              <a:chExt cx="200026" cy="200026"/>
            </a:xfrm>
          </p:grpSpPr>
          <p:sp>
            <p:nvSpPr>
              <p:cNvPr id="12" name="Freeform 12"/>
              <p:cNvSpPr/>
              <p:nvPr/>
            </p:nvSpPr>
            <p:spPr>
              <a:xfrm>
                <a:off x="738188" y="5468303"/>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13" name="Freeform 13"/>
              <p:cNvSpPr/>
              <p:nvPr/>
            </p:nvSpPr>
            <p:spPr>
              <a:xfrm>
                <a:off x="838200" y="5534978"/>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14" name="Freeform 14"/>
              <p:cNvSpPr/>
              <p:nvPr/>
            </p:nvSpPr>
            <p:spPr>
              <a:xfrm>
                <a:off x="827088" y="5568315"/>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16" name="TextBox 16"/>
            <p:cNvSpPr txBox="1"/>
            <p:nvPr/>
          </p:nvSpPr>
          <p:spPr>
            <a:xfrm>
              <a:off x="1040892" y="5349240"/>
              <a:ext cx="5097209" cy="512636"/>
            </a:xfrm>
            <a:prstGeom prst="rect">
              <a:avLst/>
            </a:prstGeom>
            <a:noFill/>
            <a:ln>
              <a:noFill/>
            </a:ln>
          </p:spPr>
          <p:txBody>
            <a:bodyPr wrap="none" lIns="0" tIns="0" rIns="0" bIns="0" anchor="t" anchorCtr="0">
              <a:spAutoFit/>
            </a:bodyPr>
            <a:lstStyle/>
            <a:p>
              <a:pPr algn="l">
                <a:lnSpc>
                  <a:spcPts val="1958"/>
                </a:lnSpc>
              </a:pPr>
              <a:r>
                <a:rPr lang="en-US" sz="1350" dirty="0">
                  <a:solidFill>
                    <a:srgbClr val="243B53"/>
                  </a:solidFill>
                  <a:latin typeface="+mn-lt"/>
                  <a:ea typeface="+mn-ea"/>
                  <a:cs typeface="+mn-cs"/>
                </a:rPr>
                <a:t>repeat … until X6</a:t>
              </a:r>
              <a:r>
                <a:rPr lang="zh-CN" sz="1350" dirty="0">
                  <a:solidFill>
                    <a:srgbClr val="1F2937"/>
                  </a:solidFill>
                  <a:latin typeface="+mn-lt"/>
                  <a:ea typeface="+mn-ea"/>
                  <a:cs typeface="+mn-cs"/>
                </a:rPr>
                <a:t xml:space="preserve"> 先做后判断，循环体至少执行一次；</a:t>
              </a:r>
              <a:r>
                <a:rPr lang="en-US" sz="1350" dirty="0">
                  <a:solidFill>
                    <a:srgbClr val="243B53"/>
                  </a:solidFill>
                  <a:latin typeface="+mn-lt"/>
                  <a:ea typeface="+mn-ea"/>
                  <a:cs typeface="+mn-cs"/>
                </a:rPr>
                <a:t>while X3 do</a:t>
              </a:r>
              <a:br/>
              <a:r>
                <a:rPr lang="en-US" sz="1350" dirty="0">
                  <a:solidFill>
                    <a:srgbClr val="243B53"/>
                  </a:solidFill>
                  <a:latin typeface="+mn-lt"/>
                  <a:ea typeface="+mn-ea"/>
                  <a:cs typeface="+mn-cs"/>
                </a:rPr>
                <a:t>c</a:t>
              </a:r>
              <a:r>
                <a:rPr lang="zh-CN" sz="1350" dirty="0">
                  <a:solidFill>
                    <a:srgbClr val="1F2937"/>
                  </a:solidFill>
                  <a:latin typeface="+mn-lt"/>
                  <a:ea typeface="+mn-ea"/>
                  <a:cs typeface="+mn-cs"/>
                </a:rPr>
                <a:t xml:space="preserve"> 先判断后做，X3 一开始就为假时 c 一次也不做。</a:t>
              </a:r>
            </a:p>
          </p:txBody>
        </p:sp>
      </p:grpSp>
      <p:grpSp>
        <p:nvGrpSpPr>
          <p:cNvPr id="29" name="c2-card-1"/>
          <p:cNvGrpSpPr/>
          <p:nvPr/>
        </p:nvGrpSpPr>
        <p:grpSpPr>
          <a:xfrm>
            <a:off x="6898005" y="1524000"/>
            <a:ext cx="4760595" cy="2085975"/>
            <a:chOff x="6898005" y="1524000"/>
            <a:chExt cx="4760595" cy="2085975"/>
          </a:xfrm>
        </p:grpSpPr>
        <p:sp>
          <p:nvSpPr>
            <p:cNvPr id="18" name="Rectangle 18"/>
            <p:cNvSpPr/>
            <p:nvPr/>
          </p:nvSpPr>
          <p:spPr>
            <a:xfrm>
              <a:off x="6898005" y="1524000"/>
              <a:ext cx="4760595" cy="2085975"/>
            </a:xfrm>
            <a:prstGeom prst="roundRect">
              <a:avLst>
                <a:gd name="adj" fmla="val 6393"/>
              </a:avLst>
            </a:prstGeom>
            <a:solidFill>
              <a:srgbClr val="334E68"/>
            </a:solidFill>
            <a:ln>
              <a:noFill/>
            </a:ln>
          </p:spPr>
        </p:sp>
        <p:sp>
          <p:nvSpPr>
            <p:cNvPr id="19" name="Rectangle 19"/>
            <p:cNvSpPr/>
            <p:nvPr/>
          </p:nvSpPr>
          <p:spPr>
            <a:xfrm>
              <a:off x="7084695" y="1710690"/>
              <a:ext cx="1204912" cy="238125"/>
            </a:xfrm>
            <a:prstGeom prst="roundRect">
              <a:avLst>
                <a:gd name="adj" fmla="val 50000"/>
              </a:avLst>
            </a:prstGeom>
            <a:solidFill>
              <a:srgbClr val="243B53"/>
            </a:solidFill>
            <a:ln>
              <a:noFill/>
            </a:ln>
          </p:spPr>
        </p:sp>
        <p:sp>
          <p:nvSpPr>
            <p:cNvPr id="20" name="TextBox 20"/>
            <p:cNvSpPr txBox="1"/>
            <p:nvPr/>
          </p:nvSpPr>
          <p:spPr>
            <a:xfrm>
              <a:off x="7154012" y="1743551"/>
              <a:ext cx="1065327"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这段程序里有什么</a:t>
              </a:r>
            </a:p>
          </p:txBody>
        </p:sp>
        <p:sp>
          <p:nvSpPr>
            <p:cNvPr id="21" name="Ellipse 21"/>
            <p:cNvSpPr/>
            <p:nvPr/>
          </p:nvSpPr>
          <p:spPr>
            <a:xfrm>
              <a:off x="7093267" y="2110740"/>
              <a:ext cx="59055" cy="59055"/>
            </a:xfrm>
            <a:prstGeom prst="ellipse">
              <a:avLst/>
            </a:prstGeom>
            <a:solidFill>
              <a:srgbClr val="FFFFFF"/>
            </a:solidFill>
            <a:ln>
              <a:noFill/>
            </a:ln>
          </p:spPr>
        </p:sp>
        <p:sp>
          <p:nvSpPr>
            <p:cNvPr id="22" name="TextBox 22"/>
            <p:cNvSpPr txBox="1"/>
            <p:nvPr/>
          </p:nvSpPr>
          <p:spPr>
            <a:xfrm>
              <a:off x="7249287" y="2054542"/>
              <a:ext cx="305043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一个 DO-UNTIL 外层循环（条件 X6）</a:t>
              </a:r>
            </a:p>
          </p:txBody>
        </p:sp>
        <p:sp>
          <p:nvSpPr>
            <p:cNvPr id="23" name="Ellipse 23"/>
            <p:cNvSpPr/>
            <p:nvPr/>
          </p:nvSpPr>
          <p:spPr>
            <a:xfrm>
              <a:off x="7093267" y="2411730"/>
              <a:ext cx="59055" cy="59055"/>
            </a:xfrm>
            <a:prstGeom prst="ellipse">
              <a:avLst/>
            </a:prstGeom>
            <a:solidFill>
              <a:srgbClr val="FFFFFF"/>
            </a:solidFill>
            <a:ln>
              <a:noFill/>
            </a:ln>
          </p:spPr>
        </p:sp>
        <p:sp>
          <p:nvSpPr>
            <p:cNvPr id="24" name="TextBox 24"/>
            <p:cNvSpPr txBox="1"/>
            <p:nvPr/>
          </p:nvSpPr>
          <p:spPr>
            <a:xfrm>
              <a:off x="7249287" y="2355532"/>
              <a:ext cx="3640912"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一个两分支选择 X1，真分支里又套了选择 X4</a:t>
              </a:r>
            </a:p>
          </p:txBody>
        </p:sp>
        <p:sp>
          <p:nvSpPr>
            <p:cNvPr id="25" name="Ellipse 25"/>
            <p:cNvSpPr/>
            <p:nvPr/>
          </p:nvSpPr>
          <p:spPr>
            <a:xfrm>
              <a:off x="7093267" y="2711768"/>
              <a:ext cx="59055" cy="59055"/>
            </a:xfrm>
            <a:prstGeom prst="ellipse">
              <a:avLst/>
            </a:prstGeom>
            <a:solidFill>
              <a:srgbClr val="FFFFFF"/>
            </a:solidFill>
            <a:ln>
              <a:noFill/>
            </a:ln>
          </p:spPr>
        </p:sp>
        <p:sp>
          <p:nvSpPr>
            <p:cNvPr id="26" name="TextBox 26"/>
            <p:cNvSpPr txBox="1"/>
            <p:nvPr/>
          </p:nvSpPr>
          <p:spPr>
            <a:xfrm>
              <a:off x="7249287" y="2655570"/>
              <a:ext cx="3501009"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X4 的真分支是 DO-UNTIL 循环（条件 X5）</a:t>
              </a:r>
            </a:p>
          </p:txBody>
        </p:sp>
        <p:sp>
          <p:nvSpPr>
            <p:cNvPr id="27" name="Ellipse 27"/>
            <p:cNvSpPr/>
            <p:nvPr/>
          </p:nvSpPr>
          <p:spPr>
            <a:xfrm>
              <a:off x="7093267" y="3011805"/>
              <a:ext cx="59055" cy="59055"/>
            </a:xfrm>
            <a:prstGeom prst="ellipse">
              <a:avLst/>
            </a:prstGeom>
            <a:solidFill>
              <a:srgbClr val="FFFFFF"/>
            </a:solidFill>
            <a:ln>
              <a:noFill/>
            </a:ln>
          </p:spPr>
        </p:sp>
        <p:sp>
          <p:nvSpPr>
            <p:cNvPr id="28" name="TextBox 28"/>
            <p:cNvSpPr txBox="1"/>
            <p:nvPr/>
          </p:nvSpPr>
          <p:spPr>
            <a:xfrm>
              <a:off x="7249287" y="2955608"/>
              <a:ext cx="3828478"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X1 的假分支是三路 CASE（X2 取 1、2、3），其中</a:t>
              </a:r>
              <a:br/>
              <a:r>
                <a:rPr lang="zh-CN" sz="1350" dirty="0">
                  <a:solidFill>
                    <a:srgbClr val="FFFFFF"/>
                  </a:solidFill>
                  <a:latin typeface="+mn-lt"/>
                  <a:ea typeface="+mn-ea"/>
                  <a:cs typeface="+mn-cs"/>
                </a:rPr>
                <a:t>=1 是 DO-WHILE 循环（条件 X3）</a:t>
              </a:r>
            </a:p>
          </p:txBody>
        </p:sp>
      </p:grpSp>
      <p:grpSp>
        <p:nvGrpSpPr>
          <p:cNvPr id="36" name="c2-callout-2"/>
          <p:cNvGrpSpPr/>
          <p:nvPr/>
        </p:nvGrpSpPr>
        <p:grpSpPr>
          <a:xfrm>
            <a:off x="6898005" y="3780472"/>
            <a:ext cx="4760595" cy="729615"/>
            <a:chOff x="6898005" y="3780472"/>
            <a:chExt cx="4760595" cy="729615"/>
          </a:xfrm>
        </p:grpSpPr>
        <p:sp>
          <p:nvSpPr>
            <p:cNvPr id="30" name="Rectangle 30"/>
            <p:cNvSpPr/>
            <p:nvPr/>
          </p:nvSpPr>
          <p:spPr>
            <a:xfrm>
              <a:off x="6898005" y="3780472"/>
              <a:ext cx="4760595" cy="729615"/>
            </a:xfrm>
            <a:prstGeom prst="roundRect">
              <a:avLst>
                <a:gd name="adj" fmla="val 15666"/>
              </a:avLst>
            </a:prstGeom>
            <a:solidFill>
              <a:srgbClr val="FDEEE7"/>
            </a:solidFill>
            <a:ln>
              <a:noFill/>
            </a:ln>
          </p:spPr>
        </p:sp>
        <p:grpSp>
          <p:nvGrpSpPr>
            <p:cNvPr id="34" name="Group 34"/>
            <p:cNvGrpSpPr/>
            <p:nvPr/>
          </p:nvGrpSpPr>
          <p:grpSpPr>
            <a:xfrm>
              <a:off x="7102793" y="4045268"/>
              <a:ext cx="200026" cy="200025"/>
              <a:chOff x="7102793" y="4045268"/>
              <a:chExt cx="200026" cy="200025"/>
            </a:xfrm>
          </p:grpSpPr>
          <p:sp>
            <p:nvSpPr>
              <p:cNvPr id="31" name="Freeform 31"/>
              <p:cNvSpPr/>
              <p:nvPr/>
            </p:nvSpPr>
            <p:spPr>
              <a:xfrm>
                <a:off x="7102793" y="404526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32" name="Freeform 32"/>
              <p:cNvSpPr/>
              <p:nvPr/>
            </p:nvSpPr>
            <p:spPr>
              <a:xfrm>
                <a:off x="7142531" y="408971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3" name="Freeform 33"/>
              <p:cNvSpPr/>
              <p:nvPr/>
            </p:nvSpPr>
            <p:spPr>
              <a:xfrm>
                <a:off x="7177247" y="420084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5" name="TextBox 35"/>
            <p:cNvSpPr txBox="1"/>
            <p:nvPr/>
          </p:nvSpPr>
          <p:spPr>
            <a:xfrm>
              <a:off x="7405497" y="3926205"/>
              <a:ext cx="3605594"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接下来用盒图、PAD 图和判定表各画一遍这段程</a:t>
              </a:r>
              <a:br/>
              <a:r>
                <a:rPr lang="zh-CN" sz="1350" dirty="0">
                  <a:solidFill>
                    <a:srgbClr val="C2410C"/>
                  </a:solidFill>
                  <a:latin typeface="+mn-lt"/>
                  <a:ea typeface="+mn-ea"/>
                  <a:cs typeface="+mn-cs"/>
                </a:rPr>
                <a:t>序，画法不同，逻辑完全一样。</a:t>
              </a:r>
            </a:p>
          </p:txBody>
        </p:sp>
      </p:grpSp>
      <p:grpSp>
        <p:nvGrpSpPr>
          <p:cNvPr id="42" name="c2-card-3"/>
          <p:cNvGrpSpPr/>
          <p:nvPr/>
        </p:nvGrpSpPr>
        <p:grpSpPr>
          <a:xfrm>
            <a:off x="6898005" y="4679632"/>
            <a:ext cx="4760595" cy="1443038"/>
            <a:chOff x="6898005" y="4679632"/>
            <a:chExt cx="4760595" cy="1443038"/>
          </a:xfrm>
        </p:grpSpPr>
        <p:sp>
          <p:nvSpPr>
            <p:cNvPr id="37" name="Rectangle 37"/>
            <p:cNvSpPr/>
            <p:nvPr/>
          </p:nvSpPr>
          <p:spPr>
            <a:xfrm>
              <a:off x="6898005" y="4679632"/>
              <a:ext cx="4760595" cy="1443038"/>
            </a:xfrm>
            <a:prstGeom prst="roundRect">
              <a:avLst>
                <a:gd name="adj" fmla="val 9241"/>
              </a:avLst>
            </a:prstGeom>
            <a:solidFill>
              <a:srgbClr val="FFFFFF"/>
            </a:solidFill>
            <a:ln w="14288">
              <a:solidFill>
                <a:srgbClr val="D9DFEA"/>
              </a:solidFill>
            </a:ln>
          </p:spPr>
        </p:sp>
        <p:sp>
          <p:nvSpPr>
            <p:cNvPr id="38" name="Rectangle 38"/>
            <p:cNvSpPr/>
            <p:nvPr/>
          </p:nvSpPr>
          <p:spPr>
            <a:xfrm>
              <a:off x="6907530" y="4812982"/>
              <a:ext cx="47625" cy="1176338"/>
            </a:xfrm>
            <a:prstGeom prst="roundRect">
              <a:avLst>
                <a:gd name="adj" fmla="val 50000"/>
              </a:avLst>
            </a:prstGeom>
            <a:solidFill>
              <a:srgbClr val="5B6475"/>
            </a:solidFill>
            <a:ln>
              <a:noFill/>
            </a:ln>
          </p:spPr>
        </p:sp>
        <p:sp>
          <p:nvSpPr>
            <p:cNvPr id="39" name="Rectangle 39"/>
            <p:cNvSpPr/>
            <p:nvPr/>
          </p:nvSpPr>
          <p:spPr>
            <a:xfrm>
              <a:off x="7122795" y="4866322"/>
              <a:ext cx="1204912" cy="238125"/>
            </a:xfrm>
            <a:prstGeom prst="roundRect">
              <a:avLst>
                <a:gd name="adj" fmla="val 50000"/>
              </a:avLst>
            </a:prstGeom>
            <a:solidFill>
              <a:srgbClr val="F4F6FB"/>
            </a:solidFill>
            <a:ln>
              <a:noFill/>
            </a:ln>
          </p:spPr>
        </p:sp>
        <p:sp>
          <p:nvSpPr>
            <p:cNvPr id="40" name="TextBox 40"/>
            <p:cNvSpPr txBox="1"/>
            <p:nvPr/>
          </p:nvSpPr>
          <p:spPr>
            <a:xfrm>
              <a:off x="7192112" y="4899184"/>
              <a:ext cx="1065327"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想画成流程图的话</a:t>
              </a:r>
            </a:p>
          </p:txBody>
        </p:sp>
        <p:sp>
          <p:nvSpPr>
            <p:cNvPr id="41" name="TextBox 41"/>
            <p:cNvSpPr txBox="1"/>
            <p:nvPr/>
          </p:nvSpPr>
          <p:spPr>
            <a:xfrm>
              <a:off x="7115937" y="5210175"/>
              <a:ext cx="4085654"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从入口起画 a，进入 DO-UNTIL X6 的循环体（b、判断</a:t>
              </a:r>
              <a:br/>
              <a:r>
                <a:rPr lang="zh-CN" sz="1350" dirty="0">
                  <a:solidFill>
                    <a:srgbClr val="1F2937"/>
                  </a:solidFill>
                  <a:latin typeface="+mn-lt"/>
                  <a:ea typeface="+mn-ea"/>
                  <a:cs typeface="+mn-cs"/>
                </a:rPr>
                <a:t>X1，真分支是 f 和判断 X4，假分支是 X2 的三路</a:t>
              </a:r>
              <a:br/>
              <a:r>
                <a:rPr lang="zh-CN" sz="1350" dirty="0">
                  <a:solidFill>
                    <a:srgbClr val="1F2937"/>
                  </a:solidFill>
                  <a:latin typeface="+mn-lt"/>
                  <a:ea typeface="+mn-ea"/>
                  <a:cs typeface="+mn-cs"/>
                </a:rPr>
                <a:t>CASE），最后画判断 X6 和 j。</a:t>
              </a:r>
            </a:p>
          </p:txBody>
        </p:sp>
      </p:grpSp>
      <p:grpSp>
        <p:nvGrpSpPr>
          <p:cNvPr id="45" name="footer"/>
          <p:cNvGrpSpPr/>
          <p:nvPr/>
        </p:nvGrpSpPr>
        <p:grpSpPr>
          <a:xfrm>
            <a:off x="528447" y="6581299"/>
            <a:ext cx="11135106" cy="190690"/>
            <a:chOff x="528447" y="6581299"/>
            <a:chExt cx="11135106" cy="190690"/>
          </a:xfrm>
        </p:grpSpPr>
        <p:sp>
          <p:nvSpPr>
            <p:cNvPr id="43" name="TextBox 43"/>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44" name="TextBox 4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604338" cy="909257"/>
            <a:chOff x="520446" y="342900"/>
            <a:chExt cx="6604338"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过程设计技术和工具</a:t>
              </a:r>
            </a:p>
          </p:txBody>
        </p:sp>
        <p:sp>
          <p:nvSpPr>
            <p:cNvPr id="4" name="TextBox 4"/>
            <p:cNvSpPr txBox="1"/>
            <p:nvPr/>
          </p:nvSpPr>
          <p:spPr>
            <a:xfrm>
              <a:off x="520446" y="753428"/>
              <a:ext cx="660433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盒图（N-S 图）：五种结构各有固定的画法</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5" name="ns0"/>
          <p:cNvGrpSpPr/>
          <p:nvPr/>
        </p:nvGrpSpPr>
        <p:grpSpPr>
          <a:xfrm>
            <a:off x="533400" y="1581150"/>
            <a:ext cx="3581400" cy="2324100"/>
            <a:chOff x="533400" y="1581150"/>
            <a:chExt cx="3581400" cy="2324100"/>
          </a:xfrm>
        </p:grpSpPr>
        <p:sp>
          <p:nvSpPr>
            <p:cNvPr id="7" name="Rectangle 7"/>
            <p:cNvSpPr/>
            <p:nvPr/>
          </p:nvSpPr>
          <p:spPr>
            <a:xfrm>
              <a:off x="533400" y="1581150"/>
              <a:ext cx="3581400" cy="2324100"/>
            </a:xfrm>
            <a:prstGeom prst="roundRect">
              <a:avLst>
                <a:gd name="adj" fmla="val 4098"/>
              </a:avLst>
            </a:prstGeom>
            <a:solidFill>
              <a:srgbClr val="F4F6FB"/>
            </a:solidFill>
            <a:ln w="11430">
              <a:solidFill>
                <a:srgbClr val="D9DFEA"/>
              </a:solidFill>
            </a:ln>
          </p:spPr>
        </p:sp>
        <p:sp>
          <p:nvSpPr>
            <p:cNvPr id="8" name="TextBox 8"/>
            <p:cNvSpPr txBox="1"/>
            <p:nvPr/>
          </p:nvSpPr>
          <p:spPr>
            <a:xfrm>
              <a:off x="679704" y="1699260"/>
              <a:ext cx="479458"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① 顺序</a:t>
              </a:r>
            </a:p>
          </p:txBody>
        </p:sp>
        <p:sp>
          <p:nvSpPr>
            <p:cNvPr id="9" name="Rectangle 9"/>
            <p:cNvSpPr/>
            <p:nvPr/>
          </p:nvSpPr>
          <p:spPr>
            <a:xfrm>
              <a:off x="1133475" y="2190750"/>
              <a:ext cx="2381250" cy="400050"/>
            </a:xfrm>
            <a:prstGeom prst="rect">
              <a:avLst/>
            </a:prstGeom>
            <a:solidFill>
              <a:srgbClr val="FFFFFF"/>
            </a:solidFill>
            <a:ln w="15240">
              <a:solidFill>
                <a:srgbClr val="334E68"/>
              </a:solidFill>
            </a:ln>
          </p:spPr>
        </p:sp>
        <p:sp>
          <p:nvSpPr>
            <p:cNvPr id="10" name="TextBox 10"/>
            <p:cNvSpPr txBox="1"/>
            <p:nvPr/>
          </p:nvSpPr>
          <p:spPr>
            <a:xfrm>
              <a:off x="1941449" y="2320766"/>
              <a:ext cx="765302"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第一个任务</a:t>
              </a:r>
            </a:p>
          </p:txBody>
        </p:sp>
        <p:sp>
          <p:nvSpPr>
            <p:cNvPr id="11" name="Rectangle 11"/>
            <p:cNvSpPr/>
            <p:nvPr/>
          </p:nvSpPr>
          <p:spPr>
            <a:xfrm>
              <a:off x="1133475" y="2590800"/>
              <a:ext cx="2381250" cy="400050"/>
            </a:xfrm>
            <a:prstGeom prst="rect">
              <a:avLst/>
            </a:prstGeom>
            <a:solidFill>
              <a:srgbClr val="FFFFFF"/>
            </a:solidFill>
            <a:ln w="15240">
              <a:solidFill>
                <a:srgbClr val="334E68"/>
              </a:solidFill>
            </a:ln>
          </p:spPr>
        </p:sp>
        <p:sp>
          <p:nvSpPr>
            <p:cNvPr id="12" name="TextBox 12"/>
            <p:cNvSpPr txBox="1"/>
            <p:nvPr/>
          </p:nvSpPr>
          <p:spPr>
            <a:xfrm>
              <a:off x="1941449" y="2720816"/>
              <a:ext cx="765302"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第二个任务</a:t>
              </a:r>
            </a:p>
          </p:txBody>
        </p:sp>
        <p:sp>
          <p:nvSpPr>
            <p:cNvPr id="13" name="Rectangle 13"/>
            <p:cNvSpPr/>
            <p:nvPr/>
          </p:nvSpPr>
          <p:spPr>
            <a:xfrm>
              <a:off x="1133475" y="2990850"/>
              <a:ext cx="2381250" cy="400050"/>
            </a:xfrm>
            <a:prstGeom prst="rect">
              <a:avLst/>
            </a:prstGeom>
            <a:solidFill>
              <a:srgbClr val="FFFFFF"/>
            </a:solidFill>
            <a:ln w="15240">
              <a:solidFill>
                <a:srgbClr val="334E68"/>
              </a:solidFill>
            </a:ln>
          </p:spPr>
        </p:sp>
        <p:sp>
          <p:nvSpPr>
            <p:cNvPr id="14" name="TextBox 14"/>
            <p:cNvSpPr txBox="1"/>
            <p:nvPr/>
          </p:nvSpPr>
          <p:spPr>
            <a:xfrm>
              <a:off x="1941449" y="3120866"/>
              <a:ext cx="765302"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第三个任务</a:t>
              </a:r>
            </a:p>
          </p:txBody>
        </p:sp>
      </p:grpSp>
      <p:grpSp>
        <p:nvGrpSpPr>
          <p:cNvPr id="28" name="ns1"/>
          <p:cNvGrpSpPr/>
          <p:nvPr/>
        </p:nvGrpSpPr>
        <p:grpSpPr>
          <a:xfrm>
            <a:off x="4305300" y="1581150"/>
            <a:ext cx="3581400" cy="2324100"/>
            <a:chOff x="4305300" y="1581150"/>
            <a:chExt cx="3581400" cy="2324100"/>
          </a:xfrm>
        </p:grpSpPr>
        <p:sp>
          <p:nvSpPr>
            <p:cNvPr id="16" name="Rectangle 16"/>
            <p:cNvSpPr/>
            <p:nvPr/>
          </p:nvSpPr>
          <p:spPr>
            <a:xfrm>
              <a:off x="4305300" y="1581150"/>
              <a:ext cx="3581400" cy="2324100"/>
            </a:xfrm>
            <a:prstGeom prst="roundRect">
              <a:avLst>
                <a:gd name="adj" fmla="val 4098"/>
              </a:avLst>
            </a:prstGeom>
            <a:solidFill>
              <a:srgbClr val="F4F6FB"/>
            </a:solidFill>
            <a:ln w="11430">
              <a:solidFill>
                <a:srgbClr val="D9DFEA"/>
              </a:solidFill>
            </a:ln>
          </p:spPr>
        </p:sp>
        <p:sp>
          <p:nvSpPr>
            <p:cNvPr id="17" name="TextBox 17"/>
            <p:cNvSpPr txBox="1"/>
            <p:nvPr/>
          </p:nvSpPr>
          <p:spPr>
            <a:xfrm>
              <a:off x="4451604" y="1699260"/>
              <a:ext cx="1940608"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② 选择（IF-THEN-ELSE）</a:t>
              </a:r>
            </a:p>
          </p:txBody>
        </p:sp>
        <p:sp>
          <p:nvSpPr>
            <p:cNvPr id="18" name="Rectangle 18"/>
            <p:cNvSpPr/>
            <p:nvPr/>
          </p:nvSpPr>
          <p:spPr>
            <a:xfrm>
              <a:off x="4714875" y="2095500"/>
              <a:ext cx="2762250" cy="1638300"/>
            </a:xfrm>
            <a:prstGeom prst="rect">
              <a:avLst/>
            </a:prstGeom>
            <a:solidFill>
              <a:srgbClr val="FFFFFF"/>
            </a:solidFill>
            <a:ln w="15240">
              <a:solidFill>
                <a:srgbClr val="334E68"/>
              </a:solidFill>
            </a:ln>
          </p:spPr>
        </p:sp>
        <p:sp>
          <p:nvSpPr>
            <p:cNvPr id="19" name="Line 19"/>
            <p:cNvSpPr/>
            <p:nvPr/>
          </p:nvSpPr>
          <p:spPr>
            <a:xfrm>
              <a:off x="4714875" y="2095500"/>
              <a:ext cx="1104900" cy="590550"/>
            </a:xfrm>
            <a:custGeom>
              <a:avLst/>
              <a:gdLst/>
              <a:ahLst/>
              <a:cxnLst/>
              <a:rect l="l" t="t" r="r" b="b"/>
              <a:pathLst>
                <a:path w="1104900" h="590550">
                  <a:moveTo>
                    <a:pt x="0" y="0"/>
                  </a:moveTo>
                  <a:lnTo>
                    <a:pt x="1104900" y="590550"/>
                  </a:lnTo>
                </a:path>
              </a:pathLst>
            </a:custGeom>
            <a:noFill/>
            <a:ln w="15240">
              <a:solidFill>
                <a:srgbClr val="334E68"/>
              </a:solidFill>
            </a:ln>
          </p:spPr>
        </p:sp>
        <p:sp>
          <p:nvSpPr>
            <p:cNvPr id="20" name="Line 20"/>
            <p:cNvSpPr/>
            <p:nvPr/>
          </p:nvSpPr>
          <p:spPr>
            <a:xfrm>
              <a:off x="6372225" y="2095500"/>
              <a:ext cx="1104900" cy="590550"/>
            </a:xfrm>
            <a:custGeom>
              <a:avLst/>
              <a:gdLst/>
              <a:ahLst/>
              <a:cxnLst/>
              <a:rect l="l" t="t" r="r" b="b"/>
              <a:pathLst>
                <a:path w="1104900" h="590550">
                  <a:moveTo>
                    <a:pt x="0" y="590550"/>
                  </a:moveTo>
                  <a:lnTo>
                    <a:pt x="1104900" y="0"/>
                  </a:lnTo>
                </a:path>
              </a:pathLst>
            </a:custGeom>
            <a:noFill/>
            <a:ln w="15240">
              <a:solidFill>
                <a:srgbClr val="334E68"/>
              </a:solidFill>
            </a:ln>
          </p:spPr>
        </p:sp>
        <p:sp>
          <p:nvSpPr>
            <p:cNvPr id="21" name="Line 21"/>
            <p:cNvSpPr/>
            <p:nvPr/>
          </p:nvSpPr>
          <p:spPr>
            <a:xfrm>
              <a:off x="4714875" y="2686050"/>
              <a:ext cx="2762250" cy="9525"/>
            </a:xfrm>
            <a:custGeom>
              <a:avLst/>
              <a:gdLst/>
              <a:ahLst/>
              <a:cxnLst/>
              <a:rect l="l" t="t" r="r" b="b"/>
              <a:pathLst>
                <a:path w="2762250" h="9525">
                  <a:moveTo>
                    <a:pt x="0" y="0"/>
                  </a:moveTo>
                  <a:lnTo>
                    <a:pt x="2762250" y="0"/>
                  </a:lnTo>
                </a:path>
              </a:pathLst>
            </a:custGeom>
            <a:noFill/>
            <a:ln w="15240">
              <a:solidFill>
                <a:srgbClr val="334E68"/>
              </a:solidFill>
            </a:ln>
          </p:spPr>
        </p:sp>
        <p:sp>
          <p:nvSpPr>
            <p:cNvPr id="22" name="Line 22"/>
            <p:cNvSpPr/>
            <p:nvPr/>
          </p:nvSpPr>
          <p:spPr>
            <a:xfrm>
              <a:off x="6096000" y="2686050"/>
              <a:ext cx="9525" cy="1047750"/>
            </a:xfrm>
            <a:custGeom>
              <a:avLst/>
              <a:gdLst/>
              <a:ahLst/>
              <a:cxnLst/>
              <a:rect l="l" t="t" r="r" b="b"/>
              <a:pathLst>
                <a:path w="9525" h="1047750">
                  <a:moveTo>
                    <a:pt x="0" y="0"/>
                  </a:moveTo>
                  <a:lnTo>
                    <a:pt x="0" y="1047750"/>
                  </a:lnTo>
                </a:path>
              </a:pathLst>
            </a:custGeom>
            <a:noFill/>
            <a:ln w="15240">
              <a:solidFill>
                <a:srgbClr val="334E68"/>
              </a:solidFill>
            </a:ln>
          </p:spPr>
        </p:sp>
        <p:sp>
          <p:nvSpPr>
            <p:cNvPr id="23" name="TextBox 23"/>
            <p:cNvSpPr txBox="1"/>
            <p:nvPr/>
          </p:nvSpPr>
          <p:spPr>
            <a:xfrm>
              <a:off x="5939511" y="2235041"/>
              <a:ext cx="312979" cy="220028"/>
            </a:xfrm>
            <a:prstGeom prst="rect">
              <a:avLst/>
            </a:prstGeom>
            <a:noFill/>
            <a:ln>
              <a:noFill/>
            </a:ln>
          </p:spPr>
          <p:txBody>
            <a:bodyPr wrap="none" lIns="0" tIns="0" rIns="0" bIns="0" anchor="t" anchorCtr="0">
              <a:spAutoFit/>
            </a:bodyPr>
            <a:lstStyle/>
            <a:p>
              <a:pPr algn="ctr"/>
              <a:r>
                <a:rPr lang="zh-CN" sz="1120" b="1" dirty="0">
                  <a:solidFill>
                    <a:srgbClr val="C2410C"/>
                  </a:solidFill>
                  <a:latin typeface="+mn-lt"/>
                  <a:ea typeface="+mn-ea"/>
                  <a:cs typeface="+mn-cs"/>
                </a:rPr>
                <a:t>条件</a:t>
              </a:r>
            </a:p>
          </p:txBody>
        </p:sp>
        <p:sp>
          <p:nvSpPr>
            <p:cNvPr id="24" name="TextBox 24"/>
            <p:cNvSpPr txBox="1"/>
            <p:nvPr/>
          </p:nvSpPr>
          <p:spPr>
            <a:xfrm>
              <a:off x="4856916" y="2467928"/>
              <a:ext cx="96919" cy="205359"/>
            </a:xfrm>
            <a:prstGeom prst="rect">
              <a:avLst/>
            </a:prstGeom>
            <a:noFill/>
            <a:ln>
              <a:noFill/>
            </a:ln>
          </p:spPr>
          <p:txBody>
            <a:bodyPr wrap="none" lIns="0" tIns="0" rIns="0" bIns="0" anchor="t" anchorCtr="0">
              <a:spAutoFit/>
            </a:bodyPr>
            <a:lstStyle/>
            <a:p>
              <a:pPr algn="ctr"/>
              <a:r>
                <a:rPr lang="en-US" sz="1050" b="1" dirty="0">
                  <a:solidFill>
                    <a:srgbClr val="5B6475"/>
                  </a:solidFill>
                  <a:latin typeface="+mn-lt"/>
                  <a:ea typeface="+mn-ea"/>
                  <a:cs typeface="+mn-cs"/>
                </a:rPr>
                <a:t>F</a:t>
              </a:r>
            </a:p>
          </p:txBody>
        </p:sp>
        <p:sp>
          <p:nvSpPr>
            <p:cNvPr id="25" name="TextBox 25"/>
            <p:cNvSpPr txBox="1"/>
            <p:nvPr/>
          </p:nvSpPr>
          <p:spPr>
            <a:xfrm>
              <a:off x="7238166" y="2467928"/>
              <a:ext cx="96919" cy="205359"/>
            </a:xfrm>
            <a:prstGeom prst="rect">
              <a:avLst/>
            </a:prstGeom>
            <a:noFill/>
            <a:ln>
              <a:noFill/>
            </a:ln>
          </p:spPr>
          <p:txBody>
            <a:bodyPr wrap="none" lIns="0" tIns="0" rIns="0" bIns="0" anchor="t" anchorCtr="0">
              <a:spAutoFit/>
            </a:bodyPr>
            <a:lstStyle/>
            <a:p>
              <a:pPr algn="ctr"/>
              <a:r>
                <a:rPr lang="en-US" sz="1050" b="1" dirty="0">
                  <a:solidFill>
                    <a:srgbClr val="5B6475"/>
                  </a:solidFill>
                  <a:latin typeface="+mn-lt"/>
                  <a:ea typeface="+mn-ea"/>
                  <a:cs typeface="+mn-cs"/>
                </a:rPr>
                <a:t>T</a:t>
              </a:r>
            </a:p>
          </p:txBody>
        </p:sp>
        <p:sp>
          <p:nvSpPr>
            <p:cNvPr id="26" name="TextBox 26"/>
            <p:cNvSpPr txBox="1"/>
            <p:nvPr/>
          </p:nvSpPr>
          <p:spPr>
            <a:xfrm>
              <a:off x="5072062" y="3144202"/>
              <a:ext cx="666750"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ELSE 部分</a:t>
              </a:r>
            </a:p>
          </p:txBody>
        </p:sp>
        <p:sp>
          <p:nvSpPr>
            <p:cNvPr id="27" name="TextBox 27"/>
            <p:cNvSpPr txBox="1"/>
            <p:nvPr/>
          </p:nvSpPr>
          <p:spPr>
            <a:xfrm>
              <a:off x="6453188" y="3144202"/>
              <a:ext cx="666750"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THEN 部分</a:t>
              </a:r>
            </a:p>
          </p:txBody>
        </p:sp>
      </p:grpSp>
      <p:grpSp>
        <p:nvGrpSpPr>
          <p:cNvPr id="48" name="ns2"/>
          <p:cNvGrpSpPr/>
          <p:nvPr/>
        </p:nvGrpSpPr>
        <p:grpSpPr>
          <a:xfrm>
            <a:off x="8077200" y="1581150"/>
            <a:ext cx="3581400" cy="2324100"/>
            <a:chOff x="8077200" y="1581150"/>
            <a:chExt cx="3581400" cy="2324100"/>
          </a:xfrm>
        </p:grpSpPr>
        <p:sp>
          <p:nvSpPr>
            <p:cNvPr id="29" name="Rectangle 29"/>
            <p:cNvSpPr/>
            <p:nvPr/>
          </p:nvSpPr>
          <p:spPr>
            <a:xfrm>
              <a:off x="8077200" y="1581150"/>
              <a:ext cx="3581400" cy="2324100"/>
            </a:xfrm>
            <a:prstGeom prst="roundRect">
              <a:avLst>
                <a:gd name="adj" fmla="val 4098"/>
              </a:avLst>
            </a:prstGeom>
            <a:solidFill>
              <a:srgbClr val="F4F6FB"/>
            </a:solidFill>
            <a:ln w="11430">
              <a:solidFill>
                <a:srgbClr val="D9DFEA"/>
              </a:solidFill>
            </a:ln>
          </p:spPr>
        </p:sp>
        <p:sp>
          <p:nvSpPr>
            <p:cNvPr id="30" name="TextBox 30"/>
            <p:cNvSpPr txBox="1"/>
            <p:nvPr/>
          </p:nvSpPr>
          <p:spPr>
            <a:xfrm>
              <a:off x="8223504" y="1699260"/>
              <a:ext cx="1358379"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③ 多分支（CASE）</a:t>
              </a:r>
            </a:p>
          </p:txBody>
        </p:sp>
        <p:sp>
          <p:nvSpPr>
            <p:cNvPr id="31" name="Rectangle 31"/>
            <p:cNvSpPr/>
            <p:nvPr/>
          </p:nvSpPr>
          <p:spPr>
            <a:xfrm>
              <a:off x="8296275" y="2095500"/>
              <a:ext cx="3143250" cy="1638300"/>
            </a:xfrm>
            <a:prstGeom prst="rect">
              <a:avLst/>
            </a:prstGeom>
            <a:solidFill>
              <a:srgbClr val="FFFFFF"/>
            </a:solidFill>
            <a:ln w="15240">
              <a:solidFill>
                <a:srgbClr val="334E68"/>
              </a:solidFill>
            </a:ln>
          </p:spPr>
        </p:sp>
        <p:sp>
          <p:nvSpPr>
            <p:cNvPr id="32" name="Line 32"/>
            <p:cNvSpPr/>
            <p:nvPr/>
          </p:nvSpPr>
          <p:spPr>
            <a:xfrm>
              <a:off x="8296275" y="2095500"/>
              <a:ext cx="502920" cy="514350"/>
            </a:xfrm>
            <a:custGeom>
              <a:avLst/>
              <a:gdLst/>
              <a:ahLst/>
              <a:cxnLst/>
              <a:rect l="l" t="t" r="r" b="b"/>
              <a:pathLst>
                <a:path w="502920" h="514350">
                  <a:moveTo>
                    <a:pt x="0" y="0"/>
                  </a:moveTo>
                  <a:lnTo>
                    <a:pt x="502920" y="514350"/>
                  </a:lnTo>
                </a:path>
              </a:pathLst>
            </a:custGeom>
            <a:noFill/>
            <a:ln w="15240">
              <a:solidFill>
                <a:srgbClr val="334E68"/>
              </a:solidFill>
            </a:ln>
          </p:spPr>
        </p:sp>
        <p:sp>
          <p:nvSpPr>
            <p:cNvPr id="33" name="Line 33"/>
            <p:cNvSpPr/>
            <p:nvPr/>
          </p:nvSpPr>
          <p:spPr>
            <a:xfrm>
              <a:off x="10936605" y="2095500"/>
              <a:ext cx="502920" cy="514350"/>
            </a:xfrm>
            <a:custGeom>
              <a:avLst/>
              <a:gdLst/>
              <a:ahLst/>
              <a:cxnLst/>
              <a:rect l="l" t="t" r="r" b="b"/>
              <a:pathLst>
                <a:path w="502920" h="514350">
                  <a:moveTo>
                    <a:pt x="0" y="514350"/>
                  </a:moveTo>
                  <a:lnTo>
                    <a:pt x="502920" y="0"/>
                  </a:lnTo>
                </a:path>
              </a:pathLst>
            </a:custGeom>
            <a:noFill/>
            <a:ln w="15240">
              <a:solidFill>
                <a:srgbClr val="334E68"/>
              </a:solidFill>
            </a:ln>
          </p:spPr>
        </p:sp>
        <p:sp>
          <p:nvSpPr>
            <p:cNvPr id="34" name="Line 34"/>
            <p:cNvSpPr/>
            <p:nvPr/>
          </p:nvSpPr>
          <p:spPr>
            <a:xfrm>
              <a:off x="8296275" y="2609850"/>
              <a:ext cx="3143250" cy="9525"/>
            </a:xfrm>
            <a:custGeom>
              <a:avLst/>
              <a:gdLst/>
              <a:ahLst/>
              <a:cxnLst/>
              <a:rect l="l" t="t" r="r" b="b"/>
              <a:pathLst>
                <a:path w="3143250" h="9525">
                  <a:moveTo>
                    <a:pt x="0" y="0"/>
                  </a:moveTo>
                  <a:lnTo>
                    <a:pt x="3143250" y="0"/>
                  </a:lnTo>
                </a:path>
              </a:pathLst>
            </a:custGeom>
            <a:noFill/>
            <a:ln w="15240">
              <a:solidFill>
                <a:srgbClr val="334E68"/>
              </a:solidFill>
            </a:ln>
          </p:spPr>
        </p:sp>
        <p:sp>
          <p:nvSpPr>
            <p:cNvPr id="35" name="Line 35"/>
            <p:cNvSpPr/>
            <p:nvPr/>
          </p:nvSpPr>
          <p:spPr>
            <a:xfrm>
              <a:off x="8296275" y="2933700"/>
              <a:ext cx="3143250" cy="9525"/>
            </a:xfrm>
            <a:custGeom>
              <a:avLst/>
              <a:gdLst/>
              <a:ahLst/>
              <a:cxnLst/>
              <a:rect l="l" t="t" r="r" b="b"/>
              <a:pathLst>
                <a:path w="3143250" h="9525">
                  <a:moveTo>
                    <a:pt x="0" y="0"/>
                  </a:moveTo>
                  <a:lnTo>
                    <a:pt x="3143250" y="0"/>
                  </a:lnTo>
                </a:path>
              </a:pathLst>
            </a:custGeom>
            <a:noFill/>
            <a:ln w="15240">
              <a:solidFill>
                <a:srgbClr val="334E68"/>
              </a:solidFill>
            </a:ln>
          </p:spPr>
        </p:sp>
        <p:sp>
          <p:nvSpPr>
            <p:cNvPr id="36" name="Line 36"/>
            <p:cNvSpPr/>
            <p:nvPr/>
          </p:nvSpPr>
          <p:spPr>
            <a:xfrm>
              <a:off x="9344025" y="2609850"/>
              <a:ext cx="9525" cy="1123950"/>
            </a:xfrm>
            <a:custGeom>
              <a:avLst/>
              <a:gdLst/>
              <a:ahLst/>
              <a:cxnLst/>
              <a:rect l="l" t="t" r="r" b="b"/>
              <a:pathLst>
                <a:path w="9525" h="1123950">
                  <a:moveTo>
                    <a:pt x="0" y="0"/>
                  </a:moveTo>
                  <a:lnTo>
                    <a:pt x="0" y="1123950"/>
                  </a:lnTo>
                </a:path>
              </a:pathLst>
            </a:custGeom>
            <a:noFill/>
            <a:ln w="15240">
              <a:solidFill>
                <a:srgbClr val="334E68"/>
              </a:solidFill>
            </a:ln>
          </p:spPr>
        </p:sp>
        <p:sp>
          <p:nvSpPr>
            <p:cNvPr id="37" name="Line 37"/>
            <p:cNvSpPr/>
            <p:nvPr/>
          </p:nvSpPr>
          <p:spPr>
            <a:xfrm>
              <a:off x="10391775" y="2609850"/>
              <a:ext cx="9525" cy="1123950"/>
            </a:xfrm>
            <a:custGeom>
              <a:avLst/>
              <a:gdLst/>
              <a:ahLst/>
              <a:cxnLst/>
              <a:rect l="l" t="t" r="r" b="b"/>
              <a:pathLst>
                <a:path w="9525" h="1123950">
                  <a:moveTo>
                    <a:pt x="0" y="0"/>
                  </a:moveTo>
                  <a:lnTo>
                    <a:pt x="0" y="1123950"/>
                  </a:lnTo>
                </a:path>
              </a:pathLst>
            </a:custGeom>
            <a:noFill/>
            <a:ln w="15240">
              <a:solidFill>
                <a:srgbClr val="334E68"/>
              </a:solidFill>
            </a:ln>
          </p:spPr>
        </p:sp>
        <p:sp>
          <p:nvSpPr>
            <p:cNvPr id="38" name="TextBox 38"/>
            <p:cNvSpPr txBox="1"/>
            <p:nvPr/>
          </p:nvSpPr>
          <p:spPr>
            <a:xfrm>
              <a:off x="9502318" y="2235041"/>
              <a:ext cx="731164" cy="220028"/>
            </a:xfrm>
            <a:prstGeom prst="rect">
              <a:avLst/>
            </a:prstGeom>
            <a:noFill/>
            <a:ln>
              <a:noFill/>
            </a:ln>
          </p:spPr>
          <p:txBody>
            <a:bodyPr wrap="none" lIns="0" tIns="0" rIns="0" bIns="0" anchor="t" anchorCtr="0">
              <a:spAutoFit/>
            </a:bodyPr>
            <a:lstStyle/>
            <a:p>
              <a:pPr algn="ctr"/>
              <a:r>
                <a:rPr lang="zh-CN" sz="1120" b="1" dirty="0">
                  <a:solidFill>
                    <a:srgbClr val="C2410C"/>
                  </a:solidFill>
                  <a:latin typeface="+mn-lt"/>
                  <a:ea typeface="+mn-ea"/>
                  <a:cs typeface="+mn-cs"/>
                </a:rPr>
                <a:t>CASE 条件</a:t>
              </a:r>
            </a:p>
          </p:txBody>
        </p:sp>
        <p:sp>
          <p:nvSpPr>
            <p:cNvPr id="39" name="TextBox 39"/>
            <p:cNvSpPr txBox="1"/>
            <p:nvPr/>
          </p:nvSpPr>
          <p:spPr>
            <a:xfrm>
              <a:off x="8693164" y="2711291"/>
              <a:ext cx="253972" cy="190690"/>
            </a:xfrm>
            <a:prstGeom prst="rect">
              <a:avLst/>
            </a:prstGeom>
            <a:noFill/>
            <a:ln>
              <a:noFill/>
            </a:ln>
          </p:spPr>
          <p:txBody>
            <a:bodyPr wrap="none" lIns="0" tIns="0" rIns="0" bIns="0" anchor="t" anchorCtr="0">
              <a:spAutoFit/>
            </a:bodyPr>
            <a:lstStyle/>
            <a:p>
              <a:pPr algn="ctr"/>
              <a:r>
                <a:rPr lang="zh-CN" sz="980" dirty="0">
                  <a:solidFill>
                    <a:srgbClr val="1F2937"/>
                  </a:solidFill>
                  <a:latin typeface="+mn-lt"/>
                  <a:ea typeface="+mn-ea"/>
                  <a:cs typeface="+mn-cs"/>
                </a:rPr>
                <a:t>值 1</a:t>
              </a:r>
            </a:p>
          </p:txBody>
        </p:sp>
        <p:sp>
          <p:nvSpPr>
            <p:cNvPr id="40" name="TextBox 40"/>
            <p:cNvSpPr txBox="1"/>
            <p:nvPr/>
          </p:nvSpPr>
          <p:spPr>
            <a:xfrm>
              <a:off x="9740914" y="2711291"/>
              <a:ext cx="253972" cy="190690"/>
            </a:xfrm>
            <a:prstGeom prst="rect">
              <a:avLst/>
            </a:prstGeom>
            <a:noFill/>
            <a:ln>
              <a:noFill/>
            </a:ln>
          </p:spPr>
          <p:txBody>
            <a:bodyPr wrap="none" lIns="0" tIns="0" rIns="0" bIns="0" anchor="t" anchorCtr="0">
              <a:spAutoFit/>
            </a:bodyPr>
            <a:lstStyle/>
            <a:p>
              <a:pPr algn="ctr"/>
              <a:r>
                <a:rPr lang="zh-CN" sz="980" dirty="0">
                  <a:solidFill>
                    <a:srgbClr val="1F2937"/>
                  </a:solidFill>
                  <a:latin typeface="+mn-lt"/>
                  <a:ea typeface="+mn-ea"/>
                  <a:cs typeface="+mn-cs"/>
                </a:rPr>
                <a:t>值 2</a:t>
              </a:r>
            </a:p>
          </p:txBody>
        </p:sp>
        <p:sp>
          <p:nvSpPr>
            <p:cNvPr id="41" name="TextBox 41"/>
            <p:cNvSpPr txBox="1"/>
            <p:nvPr/>
          </p:nvSpPr>
          <p:spPr>
            <a:xfrm>
              <a:off x="10788664" y="2711291"/>
              <a:ext cx="253972" cy="190690"/>
            </a:xfrm>
            <a:prstGeom prst="rect">
              <a:avLst/>
            </a:prstGeom>
            <a:noFill/>
            <a:ln>
              <a:noFill/>
            </a:ln>
          </p:spPr>
          <p:txBody>
            <a:bodyPr wrap="none" lIns="0" tIns="0" rIns="0" bIns="0" anchor="t" anchorCtr="0">
              <a:spAutoFit/>
            </a:bodyPr>
            <a:lstStyle/>
            <a:p>
              <a:pPr algn="ctr"/>
              <a:r>
                <a:rPr lang="zh-CN" sz="980" dirty="0">
                  <a:solidFill>
                    <a:srgbClr val="1F2937"/>
                  </a:solidFill>
                  <a:latin typeface="+mn-lt"/>
                  <a:ea typeface="+mn-ea"/>
                  <a:cs typeface="+mn-cs"/>
                </a:rPr>
                <a:t>值 n</a:t>
              </a:r>
            </a:p>
          </p:txBody>
        </p:sp>
        <p:sp>
          <p:nvSpPr>
            <p:cNvPr id="42" name="TextBox 42"/>
            <p:cNvSpPr txBox="1"/>
            <p:nvPr/>
          </p:nvSpPr>
          <p:spPr>
            <a:xfrm>
              <a:off x="8602619" y="3158966"/>
              <a:ext cx="435061" cy="190690"/>
            </a:xfrm>
            <a:prstGeom prst="rect">
              <a:avLst/>
            </a:prstGeom>
            <a:noFill/>
            <a:ln>
              <a:noFill/>
            </a:ln>
          </p:spPr>
          <p:txBody>
            <a:bodyPr wrap="none" lIns="0" tIns="0" rIns="0" bIns="0" anchor="t" anchorCtr="0">
              <a:spAutoFit/>
            </a:bodyPr>
            <a:lstStyle/>
            <a:p>
              <a:pPr algn="ctr"/>
              <a:r>
                <a:rPr lang="en-US" sz="980" dirty="0">
                  <a:solidFill>
                    <a:srgbClr val="1F2937"/>
                  </a:solidFill>
                  <a:latin typeface="+mn-lt"/>
                  <a:ea typeface="+mn-ea"/>
                  <a:cs typeface="+mn-cs"/>
                </a:rPr>
                <a:t>CASE 1</a:t>
              </a:r>
            </a:p>
          </p:txBody>
        </p:sp>
        <p:sp>
          <p:nvSpPr>
            <p:cNvPr id="43" name="TextBox 43"/>
            <p:cNvSpPr txBox="1"/>
            <p:nvPr/>
          </p:nvSpPr>
          <p:spPr>
            <a:xfrm>
              <a:off x="8683269" y="3349466"/>
              <a:ext cx="273761" cy="190690"/>
            </a:xfrm>
            <a:prstGeom prst="rect">
              <a:avLst/>
            </a:prstGeom>
            <a:noFill/>
            <a:ln>
              <a:noFill/>
            </a:ln>
          </p:spPr>
          <p:txBody>
            <a:bodyPr wrap="none" lIns="0" tIns="0" rIns="0" bIns="0" anchor="t" anchorCtr="0">
              <a:spAutoFit/>
            </a:bodyPr>
            <a:lstStyle/>
            <a:p>
              <a:pPr algn="ctr"/>
              <a:r>
                <a:rPr lang="zh-CN" sz="980" dirty="0">
                  <a:solidFill>
                    <a:srgbClr val="1F2937"/>
                  </a:solidFill>
                  <a:latin typeface="+mn-lt"/>
                  <a:ea typeface="+mn-ea"/>
                  <a:cs typeface="+mn-cs"/>
                </a:rPr>
                <a:t>部分</a:t>
              </a:r>
            </a:p>
          </p:txBody>
        </p:sp>
        <p:sp>
          <p:nvSpPr>
            <p:cNvPr id="44" name="TextBox 44"/>
            <p:cNvSpPr txBox="1"/>
            <p:nvPr/>
          </p:nvSpPr>
          <p:spPr>
            <a:xfrm>
              <a:off x="9650369" y="3158966"/>
              <a:ext cx="435061" cy="190690"/>
            </a:xfrm>
            <a:prstGeom prst="rect">
              <a:avLst/>
            </a:prstGeom>
            <a:noFill/>
            <a:ln>
              <a:noFill/>
            </a:ln>
          </p:spPr>
          <p:txBody>
            <a:bodyPr wrap="none" lIns="0" tIns="0" rIns="0" bIns="0" anchor="t" anchorCtr="0">
              <a:spAutoFit/>
            </a:bodyPr>
            <a:lstStyle/>
            <a:p>
              <a:pPr algn="ctr"/>
              <a:r>
                <a:rPr lang="en-US" sz="980" dirty="0">
                  <a:solidFill>
                    <a:srgbClr val="1F2937"/>
                  </a:solidFill>
                  <a:latin typeface="+mn-lt"/>
                  <a:ea typeface="+mn-ea"/>
                  <a:cs typeface="+mn-cs"/>
                </a:rPr>
                <a:t>CASE 2</a:t>
              </a:r>
            </a:p>
          </p:txBody>
        </p:sp>
        <p:sp>
          <p:nvSpPr>
            <p:cNvPr id="45" name="TextBox 45"/>
            <p:cNvSpPr txBox="1"/>
            <p:nvPr/>
          </p:nvSpPr>
          <p:spPr>
            <a:xfrm>
              <a:off x="9731019" y="3349466"/>
              <a:ext cx="273761" cy="190690"/>
            </a:xfrm>
            <a:prstGeom prst="rect">
              <a:avLst/>
            </a:prstGeom>
            <a:noFill/>
            <a:ln>
              <a:noFill/>
            </a:ln>
          </p:spPr>
          <p:txBody>
            <a:bodyPr wrap="none" lIns="0" tIns="0" rIns="0" bIns="0" anchor="t" anchorCtr="0">
              <a:spAutoFit/>
            </a:bodyPr>
            <a:lstStyle/>
            <a:p>
              <a:pPr algn="ctr"/>
              <a:r>
                <a:rPr lang="zh-CN" sz="980" dirty="0">
                  <a:solidFill>
                    <a:srgbClr val="1F2937"/>
                  </a:solidFill>
                  <a:latin typeface="+mn-lt"/>
                  <a:ea typeface="+mn-ea"/>
                  <a:cs typeface="+mn-cs"/>
                </a:rPr>
                <a:t>部分</a:t>
              </a:r>
            </a:p>
          </p:txBody>
        </p:sp>
        <p:sp>
          <p:nvSpPr>
            <p:cNvPr id="46" name="TextBox 46"/>
            <p:cNvSpPr txBox="1"/>
            <p:nvPr/>
          </p:nvSpPr>
          <p:spPr>
            <a:xfrm>
              <a:off x="10700397" y="3158966"/>
              <a:ext cx="430506" cy="190690"/>
            </a:xfrm>
            <a:prstGeom prst="rect">
              <a:avLst/>
            </a:prstGeom>
            <a:noFill/>
            <a:ln>
              <a:noFill/>
            </a:ln>
          </p:spPr>
          <p:txBody>
            <a:bodyPr wrap="none" lIns="0" tIns="0" rIns="0" bIns="0" anchor="t" anchorCtr="0">
              <a:spAutoFit/>
            </a:bodyPr>
            <a:lstStyle/>
            <a:p>
              <a:pPr algn="ctr"/>
              <a:r>
                <a:rPr lang="en-US" sz="980" dirty="0">
                  <a:solidFill>
                    <a:srgbClr val="1F2937"/>
                  </a:solidFill>
                  <a:latin typeface="+mn-lt"/>
                  <a:ea typeface="+mn-ea"/>
                  <a:cs typeface="+mn-cs"/>
                </a:rPr>
                <a:t>CASE n</a:t>
              </a:r>
            </a:p>
          </p:txBody>
        </p:sp>
        <p:sp>
          <p:nvSpPr>
            <p:cNvPr id="47" name="TextBox 47"/>
            <p:cNvSpPr txBox="1"/>
            <p:nvPr/>
          </p:nvSpPr>
          <p:spPr>
            <a:xfrm>
              <a:off x="10778769" y="3349466"/>
              <a:ext cx="273761" cy="190690"/>
            </a:xfrm>
            <a:prstGeom prst="rect">
              <a:avLst/>
            </a:prstGeom>
            <a:noFill/>
            <a:ln>
              <a:noFill/>
            </a:ln>
          </p:spPr>
          <p:txBody>
            <a:bodyPr wrap="none" lIns="0" tIns="0" rIns="0" bIns="0" anchor="t" anchorCtr="0">
              <a:spAutoFit/>
            </a:bodyPr>
            <a:lstStyle/>
            <a:p>
              <a:pPr algn="ctr"/>
              <a:r>
                <a:rPr lang="zh-CN" sz="980" dirty="0">
                  <a:solidFill>
                    <a:srgbClr val="1F2937"/>
                  </a:solidFill>
                  <a:latin typeface="+mn-lt"/>
                  <a:ea typeface="+mn-ea"/>
                  <a:cs typeface="+mn-cs"/>
                </a:rPr>
                <a:t>部分</a:t>
              </a:r>
            </a:p>
          </p:txBody>
        </p:sp>
      </p:grpSp>
      <p:grpSp>
        <p:nvGrpSpPr>
          <p:cNvPr id="55" name="ns3"/>
          <p:cNvGrpSpPr/>
          <p:nvPr/>
        </p:nvGrpSpPr>
        <p:grpSpPr>
          <a:xfrm>
            <a:off x="533400" y="3981450"/>
            <a:ext cx="3581400" cy="2324100"/>
            <a:chOff x="533400" y="3981450"/>
            <a:chExt cx="3581400" cy="2324100"/>
          </a:xfrm>
        </p:grpSpPr>
        <p:sp>
          <p:nvSpPr>
            <p:cNvPr id="49" name="Rectangle 49"/>
            <p:cNvSpPr/>
            <p:nvPr/>
          </p:nvSpPr>
          <p:spPr>
            <a:xfrm>
              <a:off x="533400" y="3981450"/>
              <a:ext cx="3581400" cy="2324100"/>
            </a:xfrm>
            <a:prstGeom prst="roundRect">
              <a:avLst>
                <a:gd name="adj" fmla="val 4098"/>
              </a:avLst>
            </a:prstGeom>
            <a:solidFill>
              <a:srgbClr val="F4F6FB"/>
            </a:solidFill>
            <a:ln w="11430">
              <a:solidFill>
                <a:srgbClr val="D9DFEA"/>
              </a:solidFill>
            </a:ln>
          </p:spPr>
        </p:sp>
        <p:sp>
          <p:nvSpPr>
            <p:cNvPr id="50" name="TextBox 50"/>
            <p:cNvSpPr txBox="1"/>
            <p:nvPr/>
          </p:nvSpPr>
          <p:spPr>
            <a:xfrm>
              <a:off x="679704" y="4099560"/>
              <a:ext cx="1356848"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④ DO-WHILE 循环</a:t>
              </a:r>
            </a:p>
          </p:txBody>
        </p:sp>
        <p:sp>
          <p:nvSpPr>
            <p:cNvPr id="51" name="Rectangle 51"/>
            <p:cNvSpPr/>
            <p:nvPr/>
          </p:nvSpPr>
          <p:spPr>
            <a:xfrm>
              <a:off x="1038225" y="4495800"/>
              <a:ext cx="2571750" cy="1600200"/>
            </a:xfrm>
            <a:prstGeom prst="rect">
              <a:avLst/>
            </a:prstGeom>
            <a:solidFill>
              <a:srgbClr val="FFFFFF"/>
            </a:solidFill>
            <a:ln w="15240">
              <a:solidFill>
                <a:srgbClr val="334E68"/>
              </a:solidFill>
            </a:ln>
          </p:spPr>
        </p:sp>
        <p:sp>
          <p:nvSpPr>
            <p:cNvPr id="52" name="TextBox 52"/>
            <p:cNvSpPr txBox="1"/>
            <p:nvPr/>
          </p:nvSpPr>
          <p:spPr>
            <a:xfrm>
              <a:off x="2016836" y="4635341"/>
              <a:ext cx="614528" cy="220028"/>
            </a:xfrm>
            <a:prstGeom prst="rect">
              <a:avLst/>
            </a:prstGeom>
            <a:noFill/>
            <a:ln>
              <a:noFill/>
            </a:ln>
          </p:spPr>
          <p:txBody>
            <a:bodyPr wrap="none" lIns="0" tIns="0" rIns="0" bIns="0" anchor="t" anchorCtr="0">
              <a:spAutoFit/>
            </a:bodyPr>
            <a:lstStyle/>
            <a:p>
              <a:pPr algn="ctr"/>
              <a:r>
                <a:rPr lang="zh-CN" sz="1120" b="1" dirty="0">
                  <a:solidFill>
                    <a:srgbClr val="C2410C"/>
                  </a:solidFill>
                  <a:latin typeface="+mn-lt"/>
                  <a:ea typeface="+mn-ea"/>
                  <a:cs typeface="+mn-cs"/>
                </a:rPr>
                <a:t>循环条件</a:t>
              </a:r>
            </a:p>
          </p:txBody>
        </p:sp>
        <p:sp>
          <p:nvSpPr>
            <p:cNvPr id="53" name="Rectangle 53"/>
            <p:cNvSpPr/>
            <p:nvPr/>
          </p:nvSpPr>
          <p:spPr>
            <a:xfrm>
              <a:off x="1628775" y="4953000"/>
              <a:ext cx="1981200" cy="1143000"/>
            </a:xfrm>
            <a:prstGeom prst="rect">
              <a:avLst/>
            </a:prstGeom>
            <a:solidFill>
              <a:srgbClr val="FFFFFF"/>
            </a:solidFill>
            <a:ln w="15240">
              <a:solidFill>
                <a:srgbClr val="334E68"/>
              </a:solidFill>
            </a:ln>
          </p:spPr>
        </p:sp>
        <p:sp>
          <p:nvSpPr>
            <p:cNvPr id="54" name="TextBox 54"/>
            <p:cNvSpPr txBox="1"/>
            <p:nvPr/>
          </p:nvSpPr>
          <p:spPr>
            <a:xfrm>
              <a:off x="2110511" y="5458778"/>
              <a:ext cx="1017727"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DO-WHILE 部分</a:t>
              </a:r>
            </a:p>
          </p:txBody>
        </p:sp>
      </p:grpSp>
      <p:grpSp>
        <p:nvGrpSpPr>
          <p:cNvPr id="62" name="ns4"/>
          <p:cNvGrpSpPr/>
          <p:nvPr/>
        </p:nvGrpSpPr>
        <p:grpSpPr>
          <a:xfrm>
            <a:off x="4305300" y="3981450"/>
            <a:ext cx="3581400" cy="2324100"/>
            <a:chOff x="4305300" y="3981450"/>
            <a:chExt cx="3581400" cy="2324100"/>
          </a:xfrm>
        </p:grpSpPr>
        <p:sp>
          <p:nvSpPr>
            <p:cNvPr id="56" name="Rectangle 56"/>
            <p:cNvSpPr/>
            <p:nvPr/>
          </p:nvSpPr>
          <p:spPr>
            <a:xfrm>
              <a:off x="4305300" y="3981450"/>
              <a:ext cx="3581400" cy="2324100"/>
            </a:xfrm>
            <a:prstGeom prst="roundRect">
              <a:avLst>
                <a:gd name="adj" fmla="val 4098"/>
              </a:avLst>
            </a:prstGeom>
            <a:solidFill>
              <a:srgbClr val="F4F6FB"/>
            </a:solidFill>
            <a:ln w="11430">
              <a:solidFill>
                <a:srgbClr val="D9DFEA"/>
              </a:solidFill>
            </a:ln>
          </p:spPr>
        </p:sp>
        <p:sp>
          <p:nvSpPr>
            <p:cNvPr id="57" name="TextBox 57"/>
            <p:cNvSpPr txBox="1"/>
            <p:nvPr/>
          </p:nvSpPr>
          <p:spPr>
            <a:xfrm>
              <a:off x="4451604" y="4099560"/>
              <a:ext cx="1321003"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⑤ DO-UNTIL 循环</a:t>
              </a:r>
            </a:p>
          </p:txBody>
        </p:sp>
        <p:sp>
          <p:nvSpPr>
            <p:cNvPr id="58" name="Rectangle 58"/>
            <p:cNvSpPr/>
            <p:nvPr/>
          </p:nvSpPr>
          <p:spPr>
            <a:xfrm>
              <a:off x="4810125" y="4495800"/>
              <a:ext cx="2571750" cy="1600200"/>
            </a:xfrm>
            <a:prstGeom prst="rect">
              <a:avLst/>
            </a:prstGeom>
            <a:solidFill>
              <a:srgbClr val="FFFFFF"/>
            </a:solidFill>
            <a:ln w="15240">
              <a:solidFill>
                <a:srgbClr val="334E68"/>
              </a:solidFill>
            </a:ln>
          </p:spPr>
        </p:sp>
        <p:sp>
          <p:nvSpPr>
            <p:cNvPr id="59" name="Rectangle 59"/>
            <p:cNvSpPr/>
            <p:nvPr/>
          </p:nvSpPr>
          <p:spPr>
            <a:xfrm>
              <a:off x="4810125" y="4495800"/>
              <a:ext cx="1981200" cy="1143000"/>
            </a:xfrm>
            <a:prstGeom prst="rect">
              <a:avLst/>
            </a:prstGeom>
            <a:solidFill>
              <a:srgbClr val="FFFFFF"/>
            </a:solidFill>
            <a:ln w="15240">
              <a:solidFill>
                <a:srgbClr val="334E68"/>
              </a:solidFill>
            </a:ln>
          </p:spPr>
        </p:sp>
        <p:sp>
          <p:nvSpPr>
            <p:cNvPr id="60" name="TextBox 60"/>
            <p:cNvSpPr txBox="1"/>
            <p:nvPr/>
          </p:nvSpPr>
          <p:spPr>
            <a:xfrm>
              <a:off x="5306797" y="5001578"/>
              <a:ext cx="987857" cy="205359"/>
            </a:xfrm>
            <a:prstGeom prst="rect">
              <a:avLst/>
            </a:prstGeom>
            <a:noFill/>
            <a:ln>
              <a:noFill/>
            </a:ln>
          </p:spPr>
          <p:txBody>
            <a:bodyPr wrap="none" lIns="0" tIns="0" rIns="0" bIns="0" anchor="t" anchorCtr="0">
              <a:spAutoFit/>
            </a:bodyPr>
            <a:lstStyle/>
            <a:p>
              <a:pPr algn="ctr"/>
              <a:r>
                <a:rPr lang="zh-CN" sz="1050" dirty="0">
                  <a:solidFill>
                    <a:srgbClr val="1F2937"/>
                  </a:solidFill>
                  <a:latin typeface="+mn-lt"/>
                  <a:ea typeface="+mn-ea"/>
                  <a:cs typeface="+mn-cs"/>
                </a:rPr>
                <a:t>DO-UNTIL 部分</a:t>
              </a:r>
            </a:p>
          </p:txBody>
        </p:sp>
        <p:sp>
          <p:nvSpPr>
            <p:cNvPr id="61" name="TextBox 61"/>
            <p:cNvSpPr txBox="1"/>
            <p:nvPr/>
          </p:nvSpPr>
          <p:spPr>
            <a:xfrm>
              <a:off x="5788736" y="5797391"/>
              <a:ext cx="614528" cy="220028"/>
            </a:xfrm>
            <a:prstGeom prst="rect">
              <a:avLst/>
            </a:prstGeom>
            <a:noFill/>
            <a:ln>
              <a:noFill/>
            </a:ln>
          </p:spPr>
          <p:txBody>
            <a:bodyPr wrap="none" lIns="0" tIns="0" rIns="0" bIns="0" anchor="t" anchorCtr="0">
              <a:spAutoFit/>
            </a:bodyPr>
            <a:lstStyle/>
            <a:p>
              <a:pPr algn="ctr"/>
              <a:r>
                <a:rPr lang="zh-CN" sz="1120" b="1" dirty="0">
                  <a:solidFill>
                    <a:srgbClr val="C2410C"/>
                  </a:solidFill>
                  <a:latin typeface="+mn-lt"/>
                  <a:ea typeface="+mn-ea"/>
                  <a:cs typeface="+mn-cs"/>
                </a:rPr>
                <a:t>循环条件</a:t>
              </a:r>
            </a:p>
          </p:txBody>
        </p:sp>
      </p:grpSp>
      <p:grpSp>
        <p:nvGrpSpPr>
          <p:cNvPr id="68" name="ns5"/>
          <p:cNvGrpSpPr/>
          <p:nvPr/>
        </p:nvGrpSpPr>
        <p:grpSpPr>
          <a:xfrm>
            <a:off x="8077200" y="3981450"/>
            <a:ext cx="3581400" cy="2324100"/>
            <a:chOff x="8077200" y="3981450"/>
            <a:chExt cx="3581400" cy="2324100"/>
          </a:xfrm>
        </p:grpSpPr>
        <p:sp>
          <p:nvSpPr>
            <p:cNvPr id="63" name="Rectangle 63"/>
            <p:cNvSpPr/>
            <p:nvPr/>
          </p:nvSpPr>
          <p:spPr>
            <a:xfrm>
              <a:off x="8077200" y="3981450"/>
              <a:ext cx="3581400" cy="2324100"/>
            </a:xfrm>
            <a:prstGeom prst="roundRect">
              <a:avLst>
                <a:gd name="adj" fmla="val 4098"/>
              </a:avLst>
            </a:prstGeom>
            <a:solidFill>
              <a:srgbClr val="F4F6FB"/>
            </a:solidFill>
            <a:ln w="11430">
              <a:solidFill>
                <a:srgbClr val="D9DFEA"/>
              </a:solidFill>
            </a:ln>
          </p:spPr>
        </p:sp>
        <p:sp>
          <p:nvSpPr>
            <p:cNvPr id="64" name="TextBox 64"/>
            <p:cNvSpPr txBox="1"/>
            <p:nvPr/>
          </p:nvSpPr>
          <p:spPr>
            <a:xfrm>
              <a:off x="8223504" y="4099560"/>
              <a:ext cx="1116429"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⑥ 调用子程序 A</a:t>
              </a:r>
            </a:p>
          </p:txBody>
        </p:sp>
        <p:sp>
          <p:nvSpPr>
            <p:cNvPr id="65" name="Rectangle 65"/>
            <p:cNvSpPr/>
            <p:nvPr/>
          </p:nvSpPr>
          <p:spPr>
            <a:xfrm>
              <a:off x="8677275" y="4705350"/>
              <a:ext cx="2381250" cy="1143000"/>
            </a:xfrm>
            <a:prstGeom prst="rect">
              <a:avLst/>
            </a:prstGeom>
            <a:solidFill>
              <a:srgbClr val="FFFFFF"/>
            </a:solidFill>
            <a:ln w="15240">
              <a:solidFill>
                <a:srgbClr val="334E68"/>
              </a:solidFill>
            </a:ln>
          </p:spPr>
        </p:sp>
        <p:sp>
          <p:nvSpPr>
            <p:cNvPr id="66" name="Ellipse 66"/>
            <p:cNvSpPr/>
            <p:nvPr/>
          </p:nvSpPr>
          <p:spPr>
            <a:xfrm>
              <a:off x="9182100" y="4953000"/>
              <a:ext cx="1371600" cy="647700"/>
            </a:xfrm>
            <a:prstGeom prst="ellipse">
              <a:avLst/>
            </a:prstGeom>
            <a:solidFill>
              <a:srgbClr val="E7EDF3"/>
            </a:solidFill>
            <a:ln w="15240">
              <a:solidFill>
                <a:srgbClr val="334E68"/>
              </a:solidFill>
            </a:ln>
          </p:spPr>
        </p:sp>
        <p:sp>
          <p:nvSpPr>
            <p:cNvPr id="67" name="TextBox 67"/>
            <p:cNvSpPr txBox="1"/>
            <p:nvPr/>
          </p:nvSpPr>
          <p:spPr>
            <a:xfrm>
              <a:off x="9805595" y="5193030"/>
              <a:ext cx="124610" cy="264033"/>
            </a:xfrm>
            <a:prstGeom prst="rect">
              <a:avLst/>
            </a:prstGeom>
            <a:noFill/>
            <a:ln>
              <a:noFill/>
            </a:ln>
          </p:spPr>
          <p:txBody>
            <a:bodyPr wrap="none" lIns="0" tIns="0" rIns="0" bIns="0" anchor="t" anchorCtr="0">
              <a:spAutoFit/>
            </a:bodyPr>
            <a:lstStyle/>
            <a:p>
              <a:pPr algn="ctr"/>
              <a:r>
                <a:rPr lang="en-US" sz="1350" b="1" dirty="0">
                  <a:solidFill>
                    <a:srgbClr val="243B53"/>
                  </a:solidFill>
                  <a:latin typeface="+mn-lt"/>
                  <a:ea typeface="+mn-ea"/>
                  <a:cs typeface="+mn-cs"/>
                </a:rPr>
                <a:t>A</a:t>
              </a:r>
            </a:p>
          </p:txBody>
        </p:sp>
      </p:grpSp>
      <p:grpSp>
        <p:nvGrpSpPr>
          <p:cNvPr id="71" name="footer"/>
          <p:cNvGrpSpPr/>
          <p:nvPr/>
        </p:nvGrpSpPr>
        <p:grpSpPr>
          <a:xfrm>
            <a:off x="528447" y="6581299"/>
            <a:ext cx="11135106" cy="190690"/>
            <a:chOff x="528447" y="6581299"/>
            <a:chExt cx="11135106" cy="190690"/>
          </a:xfrm>
        </p:grpSpPr>
        <p:sp>
          <p:nvSpPr>
            <p:cNvPr id="69" name="TextBox 69"/>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70" name="TextBox 7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032030" cy="909257"/>
            <a:chOff x="520446" y="342900"/>
            <a:chExt cx="6032030"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过程设计技术和工具</a:t>
              </a:r>
            </a:p>
          </p:txBody>
        </p:sp>
        <p:sp>
          <p:nvSpPr>
            <p:cNvPr id="4" name="TextBox 4"/>
            <p:cNvSpPr txBox="1"/>
            <p:nvPr/>
          </p:nvSpPr>
          <p:spPr>
            <a:xfrm>
              <a:off x="520446" y="753428"/>
              <a:ext cx="603203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盒图示例：把示例程序画成一张 N-S 图</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55" name="nsex"/>
          <p:cNvGrpSpPr/>
          <p:nvPr/>
        </p:nvGrpSpPr>
        <p:grpSpPr>
          <a:xfrm>
            <a:off x="1123950" y="1638300"/>
            <a:ext cx="9944100" cy="4343400"/>
            <a:chOff x="1123950" y="1638300"/>
            <a:chExt cx="9944100" cy="4343400"/>
          </a:xfrm>
        </p:grpSpPr>
        <p:sp>
          <p:nvSpPr>
            <p:cNvPr id="7" name="Rectangle 7"/>
            <p:cNvSpPr/>
            <p:nvPr/>
          </p:nvSpPr>
          <p:spPr>
            <a:xfrm>
              <a:off x="1123950" y="1638300"/>
              <a:ext cx="9944100" cy="361950"/>
            </a:xfrm>
            <a:prstGeom prst="rect">
              <a:avLst/>
            </a:prstGeom>
            <a:solidFill>
              <a:srgbClr val="FFFFFF"/>
            </a:solidFill>
            <a:ln w="15240">
              <a:solidFill>
                <a:srgbClr val="334E68"/>
              </a:solidFill>
            </a:ln>
          </p:spPr>
        </p:sp>
        <p:sp>
          <p:nvSpPr>
            <p:cNvPr id="8" name="TextBox 8"/>
            <p:cNvSpPr txBox="1"/>
            <p:nvPr/>
          </p:nvSpPr>
          <p:spPr>
            <a:xfrm>
              <a:off x="6043258" y="1744980"/>
              <a:ext cx="10548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a</a:t>
              </a:r>
            </a:p>
          </p:txBody>
        </p:sp>
        <p:sp>
          <p:nvSpPr>
            <p:cNvPr id="9" name="Rectangle 9"/>
            <p:cNvSpPr/>
            <p:nvPr/>
          </p:nvSpPr>
          <p:spPr>
            <a:xfrm>
              <a:off x="1123950" y="2000250"/>
              <a:ext cx="9944100" cy="3619500"/>
            </a:xfrm>
            <a:prstGeom prst="rect">
              <a:avLst/>
            </a:prstGeom>
            <a:solidFill>
              <a:srgbClr val="E7EDF3"/>
            </a:solidFill>
            <a:ln w="15240">
              <a:solidFill>
                <a:srgbClr val="334E68"/>
              </a:solidFill>
            </a:ln>
          </p:spPr>
        </p:sp>
        <p:sp>
          <p:nvSpPr>
            <p:cNvPr id="10" name="Rectangle 10"/>
            <p:cNvSpPr/>
            <p:nvPr/>
          </p:nvSpPr>
          <p:spPr>
            <a:xfrm>
              <a:off x="1123950" y="2000250"/>
              <a:ext cx="9277350" cy="3257550"/>
            </a:xfrm>
            <a:prstGeom prst="rect">
              <a:avLst/>
            </a:prstGeom>
            <a:solidFill>
              <a:srgbClr val="FFFFFF"/>
            </a:solidFill>
            <a:ln w="15240">
              <a:solidFill>
                <a:srgbClr val="334E68"/>
              </a:solidFill>
            </a:ln>
          </p:spPr>
        </p:sp>
        <p:sp>
          <p:nvSpPr>
            <p:cNvPr id="11" name="TextBox 11"/>
            <p:cNvSpPr txBox="1"/>
            <p:nvPr/>
          </p:nvSpPr>
          <p:spPr>
            <a:xfrm>
              <a:off x="5574640" y="5364480"/>
              <a:ext cx="1042721" cy="234696"/>
            </a:xfrm>
            <a:prstGeom prst="rect">
              <a:avLst/>
            </a:prstGeom>
            <a:noFill/>
            <a:ln>
              <a:noFill/>
            </a:ln>
          </p:spPr>
          <p:txBody>
            <a:bodyPr wrap="none" lIns="0" tIns="0" rIns="0" bIns="0" anchor="t" anchorCtr="0">
              <a:spAutoFit/>
            </a:bodyPr>
            <a:lstStyle/>
            <a:p>
              <a:pPr algn="ctr"/>
              <a:r>
                <a:rPr lang="en-US" sz="1200" b="1" dirty="0">
                  <a:solidFill>
                    <a:srgbClr val="C2410C"/>
                  </a:solidFill>
                  <a:latin typeface="+mn-lt"/>
                  <a:ea typeface="+mn-ea"/>
                  <a:cs typeface="+mn-cs"/>
                </a:rPr>
                <a:t>DO-UNTIL X6</a:t>
              </a:r>
            </a:p>
          </p:txBody>
        </p:sp>
        <p:sp>
          <p:nvSpPr>
            <p:cNvPr id="12" name="Line 12"/>
            <p:cNvSpPr/>
            <p:nvPr/>
          </p:nvSpPr>
          <p:spPr>
            <a:xfrm>
              <a:off x="1123950" y="2343150"/>
              <a:ext cx="9277350" cy="9525"/>
            </a:xfrm>
            <a:custGeom>
              <a:avLst/>
              <a:gdLst/>
              <a:ahLst/>
              <a:cxnLst/>
              <a:rect l="l" t="t" r="r" b="b"/>
              <a:pathLst>
                <a:path w="9277350" h="9525">
                  <a:moveTo>
                    <a:pt x="0" y="0"/>
                  </a:moveTo>
                  <a:lnTo>
                    <a:pt x="9277350" y="0"/>
                  </a:lnTo>
                </a:path>
              </a:pathLst>
            </a:custGeom>
            <a:noFill/>
            <a:ln w="15240">
              <a:solidFill>
                <a:srgbClr val="334E68"/>
              </a:solidFill>
            </a:ln>
          </p:spPr>
        </p:sp>
        <p:sp>
          <p:nvSpPr>
            <p:cNvPr id="13" name="TextBox 13"/>
            <p:cNvSpPr txBox="1"/>
            <p:nvPr/>
          </p:nvSpPr>
          <p:spPr>
            <a:xfrm>
              <a:off x="5715447" y="2101691"/>
              <a:ext cx="94356"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b</a:t>
              </a:r>
            </a:p>
          </p:txBody>
        </p:sp>
        <p:sp>
          <p:nvSpPr>
            <p:cNvPr id="14" name="Line 14"/>
            <p:cNvSpPr/>
            <p:nvPr/>
          </p:nvSpPr>
          <p:spPr>
            <a:xfrm>
              <a:off x="1123950" y="2762250"/>
              <a:ext cx="9277350" cy="9525"/>
            </a:xfrm>
            <a:custGeom>
              <a:avLst/>
              <a:gdLst/>
              <a:ahLst/>
              <a:cxnLst/>
              <a:rect l="l" t="t" r="r" b="b"/>
              <a:pathLst>
                <a:path w="9277350" h="9525">
                  <a:moveTo>
                    <a:pt x="0" y="0"/>
                  </a:moveTo>
                  <a:lnTo>
                    <a:pt x="9277350" y="0"/>
                  </a:lnTo>
                </a:path>
              </a:pathLst>
            </a:custGeom>
            <a:noFill/>
            <a:ln w="15240">
              <a:solidFill>
                <a:srgbClr val="334E68"/>
              </a:solidFill>
            </a:ln>
          </p:spPr>
        </p:sp>
        <p:sp>
          <p:nvSpPr>
            <p:cNvPr id="15" name="Line 15"/>
            <p:cNvSpPr/>
            <p:nvPr/>
          </p:nvSpPr>
          <p:spPr>
            <a:xfrm>
              <a:off x="1123950" y="2343150"/>
              <a:ext cx="3525202" cy="419100"/>
            </a:xfrm>
            <a:custGeom>
              <a:avLst/>
              <a:gdLst/>
              <a:ahLst/>
              <a:cxnLst/>
              <a:rect l="l" t="t" r="r" b="b"/>
              <a:pathLst>
                <a:path w="3525202" h="419100">
                  <a:moveTo>
                    <a:pt x="0" y="0"/>
                  </a:moveTo>
                  <a:lnTo>
                    <a:pt x="3525202" y="419100"/>
                  </a:lnTo>
                </a:path>
              </a:pathLst>
            </a:custGeom>
            <a:noFill/>
            <a:ln w="15240">
              <a:solidFill>
                <a:srgbClr val="334E68"/>
              </a:solidFill>
            </a:ln>
          </p:spPr>
        </p:sp>
        <p:sp>
          <p:nvSpPr>
            <p:cNvPr id="16" name="Line 16"/>
            <p:cNvSpPr/>
            <p:nvPr/>
          </p:nvSpPr>
          <p:spPr>
            <a:xfrm>
              <a:off x="6876098" y="2343150"/>
              <a:ext cx="3525202" cy="419100"/>
            </a:xfrm>
            <a:custGeom>
              <a:avLst/>
              <a:gdLst/>
              <a:ahLst/>
              <a:cxnLst/>
              <a:rect l="l" t="t" r="r" b="b"/>
              <a:pathLst>
                <a:path w="3525202" h="419100">
                  <a:moveTo>
                    <a:pt x="0" y="419100"/>
                  </a:moveTo>
                  <a:lnTo>
                    <a:pt x="3525202" y="0"/>
                  </a:lnTo>
                </a:path>
              </a:pathLst>
            </a:custGeom>
            <a:noFill/>
            <a:ln w="15240">
              <a:solidFill>
                <a:srgbClr val="334E68"/>
              </a:solidFill>
            </a:ln>
          </p:spPr>
        </p:sp>
        <p:sp>
          <p:nvSpPr>
            <p:cNvPr id="17" name="TextBox 17"/>
            <p:cNvSpPr txBox="1"/>
            <p:nvPr/>
          </p:nvSpPr>
          <p:spPr>
            <a:xfrm>
              <a:off x="5664909" y="2444591"/>
              <a:ext cx="195432" cy="220028"/>
            </a:xfrm>
            <a:prstGeom prst="rect">
              <a:avLst/>
            </a:prstGeom>
            <a:noFill/>
            <a:ln>
              <a:noFill/>
            </a:ln>
          </p:spPr>
          <p:txBody>
            <a:bodyPr wrap="none" lIns="0" tIns="0" rIns="0" bIns="0" anchor="t" anchorCtr="0">
              <a:spAutoFit/>
            </a:bodyPr>
            <a:lstStyle/>
            <a:p>
              <a:pPr algn="ctr"/>
              <a:r>
                <a:rPr lang="en-US" sz="1120" b="1" dirty="0">
                  <a:solidFill>
                    <a:srgbClr val="C2410C"/>
                  </a:solidFill>
                  <a:latin typeface="+mn-lt"/>
                  <a:ea typeface="+mn-ea"/>
                  <a:cs typeface="+mn-cs"/>
                </a:rPr>
                <a:t>X1</a:t>
              </a:r>
            </a:p>
          </p:txBody>
        </p:sp>
        <p:sp>
          <p:nvSpPr>
            <p:cNvPr id="18" name="TextBox 18"/>
            <p:cNvSpPr txBox="1"/>
            <p:nvPr/>
          </p:nvSpPr>
          <p:spPr>
            <a:xfrm>
              <a:off x="1250197" y="2587466"/>
              <a:ext cx="90407" cy="190690"/>
            </a:xfrm>
            <a:prstGeom prst="rect">
              <a:avLst/>
            </a:prstGeom>
            <a:noFill/>
            <a:ln>
              <a:noFill/>
            </a:ln>
          </p:spPr>
          <p:txBody>
            <a:bodyPr wrap="none" lIns="0" tIns="0" rIns="0" bIns="0" anchor="t" anchorCtr="0">
              <a:spAutoFit/>
            </a:bodyPr>
            <a:lstStyle/>
            <a:p>
              <a:pPr algn="ctr"/>
              <a:r>
                <a:rPr lang="en-US" sz="980" b="1" dirty="0">
                  <a:solidFill>
                    <a:srgbClr val="5B6475"/>
                  </a:solidFill>
                  <a:latin typeface="+mn-lt"/>
                  <a:ea typeface="+mn-ea"/>
                  <a:cs typeface="+mn-cs"/>
                </a:rPr>
                <a:t>T</a:t>
              </a:r>
            </a:p>
          </p:txBody>
        </p:sp>
        <p:sp>
          <p:nvSpPr>
            <p:cNvPr id="19" name="TextBox 19"/>
            <p:cNvSpPr txBox="1"/>
            <p:nvPr/>
          </p:nvSpPr>
          <p:spPr>
            <a:xfrm>
              <a:off x="10184647" y="2587466"/>
              <a:ext cx="90407" cy="190690"/>
            </a:xfrm>
            <a:prstGeom prst="rect">
              <a:avLst/>
            </a:prstGeom>
            <a:noFill/>
            <a:ln>
              <a:noFill/>
            </a:ln>
          </p:spPr>
          <p:txBody>
            <a:bodyPr wrap="none" lIns="0" tIns="0" rIns="0" bIns="0" anchor="t" anchorCtr="0">
              <a:spAutoFit/>
            </a:bodyPr>
            <a:lstStyle/>
            <a:p>
              <a:pPr algn="ctr"/>
              <a:r>
                <a:rPr lang="en-US" sz="980" b="1" dirty="0">
                  <a:solidFill>
                    <a:srgbClr val="5B6475"/>
                  </a:solidFill>
                  <a:latin typeface="+mn-lt"/>
                  <a:ea typeface="+mn-ea"/>
                  <a:cs typeface="+mn-cs"/>
                </a:rPr>
                <a:t>F</a:t>
              </a:r>
            </a:p>
          </p:txBody>
        </p:sp>
        <p:sp>
          <p:nvSpPr>
            <p:cNvPr id="20" name="Line 20"/>
            <p:cNvSpPr/>
            <p:nvPr/>
          </p:nvSpPr>
          <p:spPr>
            <a:xfrm>
              <a:off x="5715000" y="2762250"/>
              <a:ext cx="9525" cy="2495550"/>
            </a:xfrm>
            <a:custGeom>
              <a:avLst/>
              <a:gdLst/>
              <a:ahLst/>
              <a:cxnLst/>
              <a:rect l="l" t="t" r="r" b="b"/>
              <a:pathLst>
                <a:path w="9525" h="2495550">
                  <a:moveTo>
                    <a:pt x="0" y="0"/>
                  </a:moveTo>
                  <a:lnTo>
                    <a:pt x="0" y="2495550"/>
                  </a:lnTo>
                </a:path>
              </a:pathLst>
            </a:custGeom>
            <a:noFill/>
            <a:ln w="15240">
              <a:solidFill>
                <a:srgbClr val="334E68"/>
              </a:solidFill>
            </a:ln>
          </p:spPr>
        </p:sp>
        <p:sp>
          <p:nvSpPr>
            <p:cNvPr id="21" name="Line 21"/>
            <p:cNvSpPr/>
            <p:nvPr/>
          </p:nvSpPr>
          <p:spPr>
            <a:xfrm>
              <a:off x="1123950" y="3105150"/>
              <a:ext cx="4591050" cy="9525"/>
            </a:xfrm>
            <a:custGeom>
              <a:avLst/>
              <a:gdLst/>
              <a:ahLst/>
              <a:cxnLst/>
              <a:rect l="l" t="t" r="r" b="b"/>
              <a:pathLst>
                <a:path w="4591050" h="9525">
                  <a:moveTo>
                    <a:pt x="0" y="0"/>
                  </a:moveTo>
                  <a:lnTo>
                    <a:pt x="4591050" y="0"/>
                  </a:lnTo>
                </a:path>
              </a:pathLst>
            </a:custGeom>
            <a:noFill/>
            <a:ln w="15240">
              <a:solidFill>
                <a:srgbClr val="334E68"/>
              </a:solidFill>
            </a:ln>
          </p:spPr>
        </p:sp>
        <p:sp>
          <p:nvSpPr>
            <p:cNvPr id="22" name="TextBox 22"/>
            <p:cNvSpPr txBox="1"/>
            <p:nvPr/>
          </p:nvSpPr>
          <p:spPr>
            <a:xfrm>
              <a:off x="3372297" y="2863691"/>
              <a:ext cx="94356"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23" name="Line 23"/>
            <p:cNvSpPr/>
            <p:nvPr/>
          </p:nvSpPr>
          <p:spPr>
            <a:xfrm>
              <a:off x="1123950" y="3505200"/>
              <a:ext cx="4591050" cy="9525"/>
            </a:xfrm>
            <a:custGeom>
              <a:avLst/>
              <a:gdLst/>
              <a:ahLst/>
              <a:cxnLst/>
              <a:rect l="l" t="t" r="r" b="b"/>
              <a:pathLst>
                <a:path w="4591050" h="9525">
                  <a:moveTo>
                    <a:pt x="0" y="0"/>
                  </a:moveTo>
                  <a:lnTo>
                    <a:pt x="4591050" y="0"/>
                  </a:lnTo>
                </a:path>
              </a:pathLst>
            </a:custGeom>
            <a:noFill/>
            <a:ln w="15240">
              <a:solidFill>
                <a:srgbClr val="334E68"/>
              </a:solidFill>
            </a:ln>
          </p:spPr>
        </p:sp>
        <p:sp>
          <p:nvSpPr>
            <p:cNvPr id="24" name="Line 24"/>
            <p:cNvSpPr/>
            <p:nvPr/>
          </p:nvSpPr>
          <p:spPr>
            <a:xfrm>
              <a:off x="1123950" y="3105150"/>
              <a:ext cx="1744980" cy="400050"/>
            </a:xfrm>
            <a:custGeom>
              <a:avLst/>
              <a:gdLst/>
              <a:ahLst/>
              <a:cxnLst/>
              <a:rect l="l" t="t" r="r" b="b"/>
              <a:pathLst>
                <a:path w="1744980" h="400050">
                  <a:moveTo>
                    <a:pt x="0" y="0"/>
                  </a:moveTo>
                  <a:lnTo>
                    <a:pt x="1744980" y="400050"/>
                  </a:lnTo>
                </a:path>
              </a:pathLst>
            </a:custGeom>
            <a:noFill/>
            <a:ln w="15240">
              <a:solidFill>
                <a:srgbClr val="334E68"/>
              </a:solidFill>
            </a:ln>
          </p:spPr>
        </p:sp>
        <p:sp>
          <p:nvSpPr>
            <p:cNvPr id="25" name="Line 25"/>
            <p:cNvSpPr/>
            <p:nvPr/>
          </p:nvSpPr>
          <p:spPr>
            <a:xfrm>
              <a:off x="3970020" y="3105150"/>
              <a:ext cx="1744980" cy="400050"/>
            </a:xfrm>
            <a:custGeom>
              <a:avLst/>
              <a:gdLst/>
              <a:ahLst/>
              <a:cxnLst/>
              <a:rect l="l" t="t" r="r" b="b"/>
              <a:pathLst>
                <a:path w="1744980" h="400050">
                  <a:moveTo>
                    <a:pt x="0" y="400050"/>
                  </a:moveTo>
                  <a:lnTo>
                    <a:pt x="1744980" y="0"/>
                  </a:lnTo>
                </a:path>
              </a:pathLst>
            </a:custGeom>
            <a:noFill/>
            <a:ln w="15240">
              <a:solidFill>
                <a:srgbClr val="334E68"/>
              </a:solidFill>
            </a:ln>
          </p:spPr>
        </p:sp>
        <p:sp>
          <p:nvSpPr>
            <p:cNvPr id="26" name="TextBox 26"/>
            <p:cNvSpPr txBox="1"/>
            <p:nvPr/>
          </p:nvSpPr>
          <p:spPr>
            <a:xfrm>
              <a:off x="3321759" y="3197066"/>
              <a:ext cx="195432" cy="220028"/>
            </a:xfrm>
            <a:prstGeom prst="rect">
              <a:avLst/>
            </a:prstGeom>
            <a:noFill/>
            <a:ln>
              <a:noFill/>
            </a:ln>
          </p:spPr>
          <p:txBody>
            <a:bodyPr wrap="none" lIns="0" tIns="0" rIns="0" bIns="0" anchor="t" anchorCtr="0">
              <a:spAutoFit/>
            </a:bodyPr>
            <a:lstStyle/>
            <a:p>
              <a:pPr algn="ctr"/>
              <a:r>
                <a:rPr lang="en-US" sz="1120" b="1" dirty="0">
                  <a:solidFill>
                    <a:srgbClr val="C2410C"/>
                  </a:solidFill>
                  <a:latin typeface="+mn-lt"/>
                  <a:ea typeface="+mn-ea"/>
                  <a:cs typeface="+mn-cs"/>
                </a:rPr>
                <a:t>X4</a:t>
              </a:r>
            </a:p>
          </p:txBody>
        </p:sp>
        <p:sp>
          <p:nvSpPr>
            <p:cNvPr id="27" name="TextBox 27"/>
            <p:cNvSpPr txBox="1"/>
            <p:nvPr/>
          </p:nvSpPr>
          <p:spPr>
            <a:xfrm>
              <a:off x="1231147" y="3339941"/>
              <a:ext cx="90407" cy="190690"/>
            </a:xfrm>
            <a:prstGeom prst="rect">
              <a:avLst/>
            </a:prstGeom>
            <a:noFill/>
            <a:ln>
              <a:noFill/>
            </a:ln>
          </p:spPr>
          <p:txBody>
            <a:bodyPr wrap="none" lIns="0" tIns="0" rIns="0" bIns="0" anchor="t" anchorCtr="0">
              <a:spAutoFit/>
            </a:bodyPr>
            <a:lstStyle/>
            <a:p>
              <a:pPr algn="ctr"/>
              <a:r>
                <a:rPr lang="en-US" sz="980" b="1" dirty="0">
                  <a:solidFill>
                    <a:srgbClr val="5B6475"/>
                  </a:solidFill>
                  <a:latin typeface="+mn-lt"/>
                  <a:ea typeface="+mn-ea"/>
                  <a:cs typeface="+mn-cs"/>
                </a:rPr>
                <a:t>T</a:t>
              </a:r>
            </a:p>
          </p:txBody>
        </p:sp>
        <p:sp>
          <p:nvSpPr>
            <p:cNvPr id="28" name="TextBox 28"/>
            <p:cNvSpPr txBox="1"/>
            <p:nvPr/>
          </p:nvSpPr>
          <p:spPr>
            <a:xfrm>
              <a:off x="5517397" y="3339941"/>
              <a:ext cx="90407" cy="190690"/>
            </a:xfrm>
            <a:prstGeom prst="rect">
              <a:avLst/>
            </a:prstGeom>
            <a:noFill/>
            <a:ln>
              <a:noFill/>
            </a:ln>
          </p:spPr>
          <p:txBody>
            <a:bodyPr wrap="none" lIns="0" tIns="0" rIns="0" bIns="0" anchor="t" anchorCtr="0">
              <a:spAutoFit/>
            </a:bodyPr>
            <a:lstStyle/>
            <a:p>
              <a:pPr algn="ctr"/>
              <a:r>
                <a:rPr lang="en-US" sz="980" b="1" dirty="0">
                  <a:solidFill>
                    <a:srgbClr val="5B6475"/>
                  </a:solidFill>
                  <a:latin typeface="+mn-lt"/>
                  <a:ea typeface="+mn-ea"/>
                  <a:cs typeface="+mn-cs"/>
                </a:rPr>
                <a:t>F</a:t>
              </a:r>
            </a:p>
          </p:txBody>
        </p:sp>
        <p:sp>
          <p:nvSpPr>
            <p:cNvPr id="29" name="Line 29"/>
            <p:cNvSpPr/>
            <p:nvPr/>
          </p:nvSpPr>
          <p:spPr>
            <a:xfrm>
              <a:off x="3409950" y="3505200"/>
              <a:ext cx="9525" cy="1752600"/>
            </a:xfrm>
            <a:custGeom>
              <a:avLst/>
              <a:gdLst/>
              <a:ahLst/>
              <a:cxnLst/>
              <a:rect l="l" t="t" r="r" b="b"/>
              <a:pathLst>
                <a:path w="9525" h="1752600">
                  <a:moveTo>
                    <a:pt x="0" y="0"/>
                  </a:moveTo>
                  <a:lnTo>
                    <a:pt x="0" y="1752600"/>
                  </a:lnTo>
                </a:path>
              </a:pathLst>
            </a:custGeom>
            <a:noFill/>
            <a:ln w="15240">
              <a:solidFill>
                <a:srgbClr val="334E68"/>
              </a:solidFill>
            </a:ln>
          </p:spPr>
        </p:sp>
        <p:sp>
          <p:nvSpPr>
            <p:cNvPr id="30" name="Rectangle 30"/>
            <p:cNvSpPr/>
            <p:nvPr/>
          </p:nvSpPr>
          <p:spPr>
            <a:xfrm>
              <a:off x="1123950" y="3505200"/>
              <a:ext cx="2286000" cy="1752600"/>
            </a:xfrm>
            <a:prstGeom prst="rect">
              <a:avLst/>
            </a:prstGeom>
            <a:solidFill>
              <a:srgbClr val="E7EDF3"/>
            </a:solidFill>
            <a:ln w="15240">
              <a:solidFill>
                <a:srgbClr val="334E68"/>
              </a:solidFill>
            </a:ln>
          </p:spPr>
        </p:sp>
        <p:sp>
          <p:nvSpPr>
            <p:cNvPr id="31" name="Rectangle 31"/>
            <p:cNvSpPr/>
            <p:nvPr/>
          </p:nvSpPr>
          <p:spPr>
            <a:xfrm>
              <a:off x="1123950" y="3505200"/>
              <a:ext cx="1790700" cy="914400"/>
            </a:xfrm>
            <a:prstGeom prst="rect">
              <a:avLst/>
            </a:prstGeom>
            <a:solidFill>
              <a:srgbClr val="FFFFFF"/>
            </a:solidFill>
            <a:ln w="15240">
              <a:solidFill>
                <a:srgbClr val="334E68"/>
              </a:solidFill>
            </a:ln>
          </p:spPr>
        </p:sp>
        <p:sp>
          <p:nvSpPr>
            <p:cNvPr id="32" name="TextBox 32"/>
            <p:cNvSpPr txBox="1"/>
            <p:nvPr/>
          </p:nvSpPr>
          <p:spPr>
            <a:xfrm>
              <a:off x="1990969" y="3892391"/>
              <a:ext cx="56662"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i</a:t>
              </a:r>
            </a:p>
          </p:txBody>
        </p:sp>
        <p:sp>
          <p:nvSpPr>
            <p:cNvPr id="33" name="TextBox 33"/>
            <p:cNvSpPr txBox="1"/>
            <p:nvPr/>
          </p:nvSpPr>
          <p:spPr>
            <a:xfrm>
              <a:off x="1841198" y="4778216"/>
              <a:ext cx="851505" cy="190690"/>
            </a:xfrm>
            <a:prstGeom prst="rect">
              <a:avLst/>
            </a:prstGeom>
            <a:noFill/>
            <a:ln>
              <a:noFill/>
            </a:ln>
          </p:spPr>
          <p:txBody>
            <a:bodyPr wrap="none" lIns="0" tIns="0" rIns="0" bIns="0" anchor="t" anchorCtr="0">
              <a:spAutoFit/>
            </a:bodyPr>
            <a:lstStyle/>
            <a:p>
              <a:pPr algn="ctr"/>
              <a:r>
                <a:rPr lang="en-US" sz="980" b="1" dirty="0">
                  <a:solidFill>
                    <a:srgbClr val="C2410C"/>
                  </a:solidFill>
                  <a:latin typeface="+mn-lt"/>
                  <a:ea typeface="+mn-ea"/>
                  <a:cs typeface="+mn-cs"/>
                </a:rPr>
                <a:t>DO-UNTIL X5</a:t>
              </a:r>
            </a:p>
          </p:txBody>
        </p:sp>
        <p:sp>
          <p:nvSpPr>
            <p:cNvPr id="34" name="Line 34"/>
            <p:cNvSpPr/>
            <p:nvPr/>
          </p:nvSpPr>
          <p:spPr>
            <a:xfrm>
              <a:off x="3409950" y="4381500"/>
              <a:ext cx="2305050" cy="9525"/>
            </a:xfrm>
            <a:custGeom>
              <a:avLst/>
              <a:gdLst/>
              <a:ahLst/>
              <a:cxnLst/>
              <a:rect l="l" t="t" r="r" b="b"/>
              <a:pathLst>
                <a:path w="2305050" h="9525">
                  <a:moveTo>
                    <a:pt x="0" y="0"/>
                  </a:moveTo>
                  <a:lnTo>
                    <a:pt x="2305050" y="0"/>
                  </a:lnTo>
                </a:path>
              </a:pathLst>
            </a:custGeom>
            <a:noFill/>
            <a:ln w="15240">
              <a:solidFill>
                <a:srgbClr val="334E68"/>
              </a:solidFill>
            </a:ln>
          </p:spPr>
        </p:sp>
        <p:sp>
          <p:nvSpPr>
            <p:cNvPr id="35" name="TextBox 35"/>
            <p:cNvSpPr txBox="1"/>
            <p:nvPr/>
          </p:nvSpPr>
          <p:spPr>
            <a:xfrm>
              <a:off x="4515297" y="3873341"/>
              <a:ext cx="94356"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g</a:t>
              </a:r>
            </a:p>
          </p:txBody>
        </p:sp>
        <p:sp>
          <p:nvSpPr>
            <p:cNvPr id="36" name="TextBox 36"/>
            <p:cNvSpPr txBox="1"/>
            <p:nvPr/>
          </p:nvSpPr>
          <p:spPr>
            <a:xfrm>
              <a:off x="4515297" y="4749641"/>
              <a:ext cx="94356"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h</a:t>
              </a:r>
            </a:p>
          </p:txBody>
        </p:sp>
        <p:sp>
          <p:nvSpPr>
            <p:cNvPr id="37" name="Line 37"/>
            <p:cNvSpPr/>
            <p:nvPr/>
          </p:nvSpPr>
          <p:spPr>
            <a:xfrm>
              <a:off x="5715000" y="3124200"/>
              <a:ext cx="4686300" cy="9525"/>
            </a:xfrm>
            <a:custGeom>
              <a:avLst/>
              <a:gdLst/>
              <a:ahLst/>
              <a:cxnLst/>
              <a:rect l="l" t="t" r="r" b="b"/>
              <a:pathLst>
                <a:path w="4686300" h="9525">
                  <a:moveTo>
                    <a:pt x="0" y="0"/>
                  </a:moveTo>
                  <a:lnTo>
                    <a:pt x="4686300" y="0"/>
                  </a:lnTo>
                </a:path>
              </a:pathLst>
            </a:custGeom>
            <a:noFill/>
            <a:ln w="15240">
              <a:solidFill>
                <a:srgbClr val="334E68"/>
              </a:solidFill>
            </a:ln>
          </p:spPr>
        </p:sp>
        <p:sp>
          <p:nvSpPr>
            <p:cNvPr id="38" name="Line 38"/>
            <p:cNvSpPr/>
            <p:nvPr/>
          </p:nvSpPr>
          <p:spPr>
            <a:xfrm>
              <a:off x="5715000" y="2762250"/>
              <a:ext cx="796290" cy="361950"/>
            </a:xfrm>
            <a:custGeom>
              <a:avLst/>
              <a:gdLst/>
              <a:ahLst/>
              <a:cxnLst/>
              <a:rect l="l" t="t" r="r" b="b"/>
              <a:pathLst>
                <a:path w="796290" h="361950">
                  <a:moveTo>
                    <a:pt x="0" y="0"/>
                  </a:moveTo>
                  <a:lnTo>
                    <a:pt x="796290" y="361950"/>
                  </a:lnTo>
                </a:path>
              </a:pathLst>
            </a:custGeom>
            <a:noFill/>
            <a:ln w="15240">
              <a:solidFill>
                <a:srgbClr val="334E68"/>
              </a:solidFill>
            </a:ln>
          </p:spPr>
        </p:sp>
        <p:sp>
          <p:nvSpPr>
            <p:cNvPr id="39" name="Line 39"/>
            <p:cNvSpPr/>
            <p:nvPr/>
          </p:nvSpPr>
          <p:spPr>
            <a:xfrm>
              <a:off x="9605010" y="2762250"/>
              <a:ext cx="796290" cy="361950"/>
            </a:xfrm>
            <a:custGeom>
              <a:avLst/>
              <a:gdLst/>
              <a:ahLst/>
              <a:cxnLst/>
              <a:rect l="l" t="t" r="r" b="b"/>
              <a:pathLst>
                <a:path w="796290" h="361950">
                  <a:moveTo>
                    <a:pt x="0" y="361950"/>
                  </a:moveTo>
                  <a:lnTo>
                    <a:pt x="796290" y="0"/>
                  </a:lnTo>
                </a:path>
              </a:pathLst>
            </a:custGeom>
            <a:noFill/>
            <a:ln w="15240">
              <a:solidFill>
                <a:srgbClr val="334E68"/>
              </a:solidFill>
            </a:ln>
          </p:spPr>
        </p:sp>
        <p:sp>
          <p:nvSpPr>
            <p:cNvPr id="40" name="TextBox 40"/>
            <p:cNvSpPr txBox="1"/>
            <p:nvPr/>
          </p:nvSpPr>
          <p:spPr>
            <a:xfrm>
              <a:off x="7751341" y="2863691"/>
              <a:ext cx="613617" cy="220028"/>
            </a:xfrm>
            <a:prstGeom prst="rect">
              <a:avLst/>
            </a:prstGeom>
            <a:noFill/>
            <a:ln>
              <a:noFill/>
            </a:ln>
          </p:spPr>
          <p:txBody>
            <a:bodyPr wrap="none" lIns="0" tIns="0" rIns="0" bIns="0" anchor="t" anchorCtr="0">
              <a:spAutoFit/>
            </a:bodyPr>
            <a:lstStyle/>
            <a:p>
              <a:pPr algn="ctr"/>
              <a:r>
                <a:rPr lang="en-US" sz="1120" b="1" dirty="0">
                  <a:solidFill>
                    <a:srgbClr val="C2410C"/>
                  </a:solidFill>
                  <a:latin typeface="+mn-lt"/>
                  <a:ea typeface="+mn-ea"/>
                  <a:cs typeface="+mn-cs"/>
                </a:rPr>
                <a:t>CASE X2</a:t>
              </a:r>
            </a:p>
          </p:txBody>
        </p:sp>
        <p:sp>
          <p:nvSpPr>
            <p:cNvPr id="41" name="Line 41"/>
            <p:cNvSpPr/>
            <p:nvPr/>
          </p:nvSpPr>
          <p:spPr>
            <a:xfrm>
              <a:off x="5715000" y="3409950"/>
              <a:ext cx="4686300" cy="9525"/>
            </a:xfrm>
            <a:custGeom>
              <a:avLst/>
              <a:gdLst/>
              <a:ahLst/>
              <a:cxnLst/>
              <a:rect l="l" t="t" r="r" b="b"/>
              <a:pathLst>
                <a:path w="4686300" h="9525">
                  <a:moveTo>
                    <a:pt x="0" y="0"/>
                  </a:moveTo>
                  <a:lnTo>
                    <a:pt x="4686300" y="0"/>
                  </a:lnTo>
                </a:path>
              </a:pathLst>
            </a:custGeom>
            <a:noFill/>
            <a:ln w="15240">
              <a:solidFill>
                <a:srgbClr val="334E68"/>
              </a:solidFill>
            </a:ln>
          </p:spPr>
        </p:sp>
        <p:sp>
          <p:nvSpPr>
            <p:cNvPr id="42" name="Line 42"/>
            <p:cNvSpPr/>
            <p:nvPr/>
          </p:nvSpPr>
          <p:spPr>
            <a:xfrm>
              <a:off x="7277100" y="3124200"/>
              <a:ext cx="9525" cy="2133600"/>
            </a:xfrm>
            <a:custGeom>
              <a:avLst/>
              <a:gdLst/>
              <a:ahLst/>
              <a:cxnLst/>
              <a:rect l="l" t="t" r="r" b="b"/>
              <a:pathLst>
                <a:path w="9525" h="2133600">
                  <a:moveTo>
                    <a:pt x="0" y="0"/>
                  </a:moveTo>
                  <a:lnTo>
                    <a:pt x="0" y="2133600"/>
                  </a:lnTo>
                </a:path>
              </a:pathLst>
            </a:custGeom>
            <a:noFill/>
            <a:ln w="15240">
              <a:solidFill>
                <a:srgbClr val="334E68"/>
              </a:solidFill>
            </a:ln>
          </p:spPr>
        </p:sp>
        <p:sp>
          <p:nvSpPr>
            <p:cNvPr id="43" name="Line 43"/>
            <p:cNvSpPr/>
            <p:nvPr/>
          </p:nvSpPr>
          <p:spPr>
            <a:xfrm>
              <a:off x="8839200" y="3124200"/>
              <a:ext cx="9525" cy="2133600"/>
            </a:xfrm>
            <a:custGeom>
              <a:avLst/>
              <a:gdLst/>
              <a:ahLst/>
              <a:cxnLst/>
              <a:rect l="l" t="t" r="r" b="b"/>
              <a:pathLst>
                <a:path w="9525" h="2133600">
                  <a:moveTo>
                    <a:pt x="0" y="0"/>
                  </a:moveTo>
                  <a:lnTo>
                    <a:pt x="0" y="2133600"/>
                  </a:lnTo>
                </a:path>
              </a:pathLst>
            </a:custGeom>
            <a:noFill/>
            <a:ln w="15240">
              <a:solidFill>
                <a:srgbClr val="334E68"/>
              </a:solidFill>
            </a:ln>
          </p:spPr>
        </p:sp>
        <p:sp>
          <p:nvSpPr>
            <p:cNvPr id="44" name="TextBox 44"/>
            <p:cNvSpPr txBox="1"/>
            <p:nvPr/>
          </p:nvSpPr>
          <p:spPr>
            <a:xfrm>
              <a:off x="6398748" y="3206591"/>
              <a:ext cx="194605" cy="190690"/>
            </a:xfrm>
            <a:prstGeom prst="rect">
              <a:avLst/>
            </a:prstGeom>
            <a:noFill/>
            <a:ln>
              <a:noFill/>
            </a:ln>
          </p:spPr>
          <p:txBody>
            <a:bodyPr wrap="none" lIns="0" tIns="0" rIns="0" bIns="0" anchor="t" anchorCtr="0">
              <a:spAutoFit/>
            </a:bodyPr>
            <a:lstStyle/>
            <a:p>
              <a:pPr algn="ctr"/>
              <a:r>
                <a:rPr lang="zh-CN" sz="980" dirty="0">
                  <a:solidFill>
                    <a:srgbClr val="1F2937"/>
                  </a:solidFill>
                  <a:latin typeface="+mn-lt"/>
                  <a:ea typeface="+mn-ea"/>
                  <a:cs typeface="+mn-cs"/>
                </a:rPr>
                <a:t>= 1</a:t>
              </a:r>
            </a:p>
          </p:txBody>
        </p:sp>
        <p:sp>
          <p:nvSpPr>
            <p:cNvPr id="45" name="TextBox 45"/>
            <p:cNvSpPr txBox="1"/>
            <p:nvPr/>
          </p:nvSpPr>
          <p:spPr>
            <a:xfrm>
              <a:off x="7960848" y="3206591"/>
              <a:ext cx="194605" cy="190690"/>
            </a:xfrm>
            <a:prstGeom prst="rect">
              <a:avLst/>
            </a:prstGeom>
            <a:noFill/>
            <a:ln>
              <a:noFill/>
            </a:ln>
          </p:spPr>
          <p:txBody>
            <a:bodyPr wrap="none" lIns="0" tIns="0" rIns="0" bIns="0" anchor="t" anchorCtr="0">
              <a:spAutoFit/>
            </a:bodyPr>
            <a:lstStyle/>
            <a:p>
              <a:pPr algn="ctr"/>
              <a:r>
                <a:rPr lang="zh-CN" sz="980" dirty="0">
                  <a:solidFill>
                    <a:srgbClr val="1F2937"/>
                  </a:solidFill>
                  <a:latin typeface="+mn-lt"/>
                  <a:ea typeface="+mn-ea"/>
                  <a:cs typeface="+mn-cs"/>
                </a:rPr>
                <a:t>= 2</a:t>
              </a:r>
            </a:p>
          </p:txBody>
        </p:sp>
        <p:sp>
          <p:nvSpPr>
            <p:cNvPr id="46" name="TextBox 46"/>
            <p:cNvSpPr txBox="1"/>
            <p:nvPr/>
          </p:nvSpPr>
          <p:spPr>
            <a:xfrm>
              <a:off x="9522948" y="3206591"/>
              <a:ext cx="194605" cy="190690"/>
            </a:xfrm>
            <a:prstGeom prst="rect">
              <a:avLst/>
            </a:prstGeom>
            <a:noFill/>
            <a:ln>
              <a:noFill/>
            </a:ln>
          </p:spPr>
          <p:txBody>
            <a:bodyPr wrap="none" lIns="0" tIns="0" rIns="0" bIns="0" anchor="t" anchorCtr="0">
              <a:spAutoFit/>
            </a:bodyPr>
            <a:lstStyle/>
            <a:p>
              <a:pPr algn="ctr"/>
              <a:r>
                <a:rPr lang="zh-CN" sz="980" dirty="0">
                  <a:solidFill>
                    <a:srgbClr val="1F2937"/>
                  </a:solidFill>
                  <a:latin typeface="+mn-lt"/>
                  <a:ea typeface="+mn-ea"/>
                  <a:cs typeface="+mn-cs"/>
                </a:rPr>
                <a:t>= 3</a:t>
              </a:r>
            </a:p>
          </p:txBody>
        </p:sp>
        <p:sp>
          <p:nvSpPr>
            <p:cNvPr id="47" name="Rectangle 47"/>
            <p:cNvSpPr/>
            <p:nvPr/>
          </p:nvSpPr>
          <p:spPr>
            <a:xfrm>
              <a:off x="5715000" y="3409950"/>
              <a:ext cx="1562100" cy="1847850"/>
            </a:xfrm>
            <a:prstGeom prst="rect">
              <a:avLst/>
            </a:prstGeom>
            <a:solidFill>
              <a:srgbClr val="E7EDF3"/>
            </a:solidFill>
            <a:ln w="15240">
              <a:solidFill>
                <a:srgbClr val="334E68"/>
              </a:solidFill>
            </a:ln>
          </p:spPr>
        </p:sp>
        <p:sp>
          <p:nvSpPr>
            <p:cNvPr id="48" name="TextBox 48"/>
            <p:cNvSpPr txBox="1"/>
            <p:nvPr/>
          </p:nvSpPr>
          <p:spPr>
            <a:xfrm>
              <a:off x="6055661" y="3520916"/>
              <a:ext cx="880778" cy="190690"/>
            </a:xfrm>
            <a:prstGeom prst="rect">
              <a:avLst/>
            </a:prstGeom>
            <a:noFill/>
            <a:ln>
              <a:noFill/>
            </a:ln>
          </p:spPr>
          <p:txBody>
            <a:bodyPr wrap="none" lIns="0" tIns="0" rIns="0" bIns="0" anchor="t" anchorCtr="0">
              <a:spAutoFit/>
            </a:bodyPr>
            <a:lstStyle/>
            <a:p>
              <a:pPr algn="ctr"/>
              <a:r>
                <a:rPr lang="en-US" sz="980" b="1" dirty="0">
                  <a:solidFill>
                    <a:srgbClr val="C2410C"/>
                  </a:solidFill>
                  <a:latin typeface="+mn-lt"/>
                  <a:ea typeface="+mn-ea"/>
                  <a:cs typeface="+mn-cs"/>
                </a:rPr>
                <a:t>DO-WHILE X3</a:t>
              </a:r>
            </a:p>
          </p:txBody>
        </p:sp>
        <p:sp>
          <p:nvSpPr>
            <p:cNvPr id="49" name="Rectangle 49"/>
            <p:cNvSpPr/>
            <p:nvPr/>
          </p:nvSpPr>
          <p:spPr>
            <a:xfrm>
              <a:off x="6210300" y="3752850"/>
              <a:ext cx="1066800" cy="1504950"/>
            </a:xfrm>
            <a:prstGeom prst="rect">
              <a:avLst/>
            </a:prstGeom>
            <a:solidFill>
              <a:srgbClr val="FFFFFF"/>
            </a:solidFill>
            <a:ln w="15240">
              <a:solidFill>
                <a:srgbClr val="334E68"/>
              </a:solidFill>
            </a:ln>
          </p:spPr>
        </p:sp>
        <p:sp>
          <p:nvSpPr>
            <p:cNvPr id="50" name="TextBox 50"/>
            <p:cNvSpPr txBox="1"/>
            <p:nvPr/>
          </p:nvSpPr>
          <p:spPr>
            <a:xfrm>
              <a:off x="6696522" y="4435316"/>
              <a:ext cx="94356"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c</a:t>
              </a:r>
            </a:p>
          </p:txBody>
        </p:sp>
        <p:sp>
          <p:nvSpPr>
            <p:cNvPr id="51" name="TextBox 51"/>
            <p:cNvSpPr txBox="1"/>
            <p:nvPr/>
          </p:nvSpPr>
          <p:spPr>
            <a:xfrm>
              <a:off x="8010972" y="4263866"/>
              <a:ext cx="94356"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d</a:t>
              </a:r>
            </a:p>
          </p:txBody>
        </p:sp>
        <p:sp>
          <p:nvSpPr>
            <p:cNvPr id="52" name="TextBox 52"/>
            <p:cNvSpPr txBox="1"/>
            <p:nvPr/>
          </p:nvSpPr>
          <p:spPr>
            <a:xfrm>
              <a:off x="9573072" y="4263866"/>
              <a:ext cx="94356"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e</a:t>
              </a:r>
            </a:p>
          </p:txBody>
        </p:sp>
        <p:sp>
          <p:nvSpPr>
            <p:cNvPr id="53" name="Rectangle 53"/>
            <p:cNvSpPr/>
            <p:nvPr/>
          </p:nvSpPr>
          <p:spPr>
            <a:xfrm>
              <a:off x="1123950" y="5619750"/>
              <a:ext cx="9944100" cy="361950"/>
            </a:xfrm>
            <a:prstGeom prst="rect">
              <a:avLst/>
            </a:prstGeom>
            <a:solidFill>
              <a:srgbClr val="FFFFFF"/>
            </a:solidFill>
            <a:ln w="15240">
              <a:solidFill>
                <a:srgbClr val="334E68"/>
              </a:solidFill>
            </a:ln>
          </p:spPr>
        </p:sp>
        <p:sp>
          <p:nvSpPr>
            <p:cNvPr id="54" name="TextBox 54"/>
            <p:cNvSpPr txBox="1"/>
            <p:nvPr/>
          </p:nvSpPr>
          <p:spPr>
            <a:xfrm>
              <a:off x="6064461" y="5726430"/>
              <a:ext cx="63078"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j</a:t>
              </a:r>
            </a:p>
          </p:txBody>
        </p:sp>
      </p:grpSp>
      <p:grpSp>
        <p:nvGrpSpPr>
          <p:cNvPr id="57" name="nscap"/>
          <p:cNvGrpSpPr/>
          <p:nvPr/>
        </p:nvGrpSpPr>
        <p:grpSpPr>
          <a:xfrm>
            <a:off x="3334322" y="6125528"/>
            <a:ext cx="5523357" cy="205359"/>
            <a:chOff x="3334322" y="6125528"/>
            <a:chExt cx="5523357" cy="205359"/>
          </a:xfrm>
        </p:grpSpPr>
        <p:sp>
          <p:nvSpPr>
            <p:cNvPr id="56" name="TextBox 56"/>
            <p:cNvSpPr txBox="1"/>
            <p:nvPr/>
          </p:nvSpPr>
          <p:spPr>
            <a:xfrm>
              <a:off x="3334322" y="6125528"/>
              <a:ext cx="5523357"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功能域一眼可见：每个控制结构的作用范围就是它所占的那个方框，想往外跳也无处可跳</a:t>
              </a:r>
            </a:p>
          </p:txBody>
        </p:sp>
      </p:grpSp>
      <p:grpSp>
        <p:nvGrpSpPr>
          <p:cNvPr id="60" name="footer"/>
          <p:cNvGrpSpPr/>
          <p:nvPr/>
        </p:nvGrpSpPr>
        <p:grpSpPr>
          <a:xfrm>
            <a:off x="528447" y="6581299"/>
            <a:ext cx="11135106" cy="190690"/>
            <a:chOff x="528447" y="6581299"/>
            <a:chExt cx="11135106" cy="190690"/>
          </a:xfrm>
        </p:grpSpPr>
        <p:sp>
          <p:nvSpPr>
            <p:cNvPr id="58" name="TextBox 58"/>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59" name="TextBox 5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过程设计技术和工具</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盒图的四个特点，以及画不下时的嵌套定义</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6" name="c1-bullets-1"/>
          <p:cNvGrpSpPr/>
          <p:nvPr/>
        </p:nvGrpSpPr>
        <p:grpSpPr>
          <a:xfrm>
            <a:off x="526542" y="1545907"/>
            <a:ext cx="5572506" cy="2021396"/>
            <a:chOff x="526542" y="1545907"/>
            <a:chExt cx="5572506" cy="2021396"/>
          </a:xfrm>
        </p:grpSpPr>
        <p:sp>
          <p:nvSpPr>
            <p:cNvPr id="7" name="TextBox 7"/>
            <p:cNvSpPr txBox="1"/>
            <p:nvPr/>
          </p:nvSpPr>
          <p:spPr>
            <a:xfrm>
              <a:off x="526542" y="1545907"/>
              <a:ext cx="4489686" cy="264033"/>
            </a:xfrm>
            <a:prstGeom prst="rect">
              <a:avLst/>
            </a:prstGeom>
            <a:noFill/>
            <a:ln>
              <a:noFill/>
            </a:ln>
          </p:spPr>
          <p:txBody>
            <a:bodyPr wrap="none" lIns="0" tIns="0" rIns="0" bIns="0" anchor="t" anchorCtr="0">
              <a:spAutoFit/>
            </a:bodyPr>
            <a:lstStyle/>
            <a:p>
              <a:pPr algn="l"/>
              <a:r>
                <a:rPr lang="zh-CN" sz="1350" b="1" dirty="0">
                  <a:solidFill>
                    <a:srgbClr val="334E68"/>
                  </a:solidFill>
                  <a:latin typeface="+mn-lt"/>
                  <a:ea typeface="+mn-ea"/>
                  <a:cs typeface="+mn-cs"/>
                </a:rPr>
                <a:t>盒图（Box-Diagram）由 Nassi 和 Shneiderman 提出</a:t>
              </a:r>
            </a:p>
          </p:txBody>
        </p:sp>
        <p:sp>
          <p:nvSpPr>
            <p:cNvPr id="8" name="Freeform 8"/>
            <p:cNvSpPr/>
            <p:nvPr/>
          </p:nvSpPr>
          <p:spPr>
            <a:xfrm>
              <a:off x="533400" y="1891665"/>
              <a:ext cx="129540" cy="104775"/>
            </a:xfrm>
            <a:custGeom>
              <a:avLst/>
              <a:gdLst/>
              <a:ahLst/>
              <a:cxnLst/>
              <a:rect l="l" t="t" r="r" b="b"/>
              <a:pathLst>
                <a:path w="129540" h="104775">
                  <a:moveTo>
                    <a:pt x="0" y="55245"/>
                  </a:moveTo>
                  <a:lnTo>
                    <a:pt x="49530" y="104775"/>
                  </a:lnTo>
                  <a:lnTo>
                    <a:pt x="129540" y="0"/>
                  </a:lnTo>
                </a:path>
              </a:pathLst>
            </a:custGeom>
            <a:noFill/>
            <a:ln w="24765" cap="rnd">
              <a:solidFill>
                <a:srgbClr val="14A38B"/>
              </a:solidFill>
              <a:round/>
            </a:ln>
          </p:spPr>
        </p:sp>
        <p:sp>
          <p:nvSpPr>
            <p:cNvPr id="9" name="TextBox 9"/>
            <p:cNvSpPr txBox="1"/>
            <p:nvPr/>
          </p:nvSpPr>
          <p:spPr>
            <a:xfrm>
              <a:off x="770382" y="1863090"/>
              <a:ext cx="532866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功能域明确</a:t>
              </a:r>
              <a:r>
                <a:rPr lang="zh-CN" sz="1350" dirty="0">
                  <a:solidFill>
                    <a:srgbClr val="1F2937"/>
                  </a:solidFill>
                  <a:latin typeface="+mn-lt"/>
                  <a:ea typeface="+mn-ea"/>
                  <a:cs typeface="+mn-cs"/>
                </a:rPr>
                <a:t>：某个控制结构的作用域就是它占的那个方框，一眼就能看</a:t>
              </a:r>
              <a:br/>
              <a:r>
                <a:rPr lang="zh-CN" sz="1350" dirty="0">
                  <a:solidFill>
                    <a:srgbClr val="1F2937"/>
                  </a:solidFill>
                  <a:latin typeface="+mn-lt"/>
                  <a:ea typeface="+mn-ea"/>
                  <a:cs typeface="+mn-cs"/>
                </a:rPr>
                <a:t>出来</a:t>
              </a:r>
            </a:p>
          </p:txBody>
        </p:sp>
        <p:sp>
          <p:nvSpPr>
            <p:cNvPr id="10" name="Freeform 10"/>
            <p:cNvSpPr/>
            <p:nvPr/>
          </p:nvSpPr>
          <p:spPr>
            <a:xfrm>
              <a:off x="533400" y="2457450"/>
              <a:ext cx="129540" cy="104775"/>
            </a:xfrm>
            <a:custGeom>
              <a:avLst/>
              <a:gdLst/>
              <a:ahLst/>
              <a:cxnLst/>
              <a:rect l="l" t="t" r="r" b="b"/>
              <a:pathLst>
                <a:path w="129540" h="104775">
                  <a:moveTo>
                    <a:pt x="0" y="55245"/>
                  </a:moveTo>
                  <a:lnTo>
                    <a:pt x="49530" y="104775"/>
                  </a:lnTo>
                  <a:lnTo>
                    <a:pt x="129540" y="0"/>
                  </a:lnTo>
                </a:path>
              </a:pathLst>
            </a:custGeom>
            <a:noFill/>
            <a:ln w="24765" cap="rnd">
              <a:solidFill>
                <a:srgbClr val="14A38B"/>
              </a:solidFill>
              <a:round/>
            </a:ln>
          </p:spPr>
        </p:sp>
        <p:sp>
          <p:nvSpPr>
            <p:cNvPr id="11" name="TextBox 11"/>
            <p:cNvSpPr txBox="1"/>
            <p:nvPr/>
          </p:nvSpPr>
          <p:spPr>
            <a:xfrm>
              <a:off x="770382" y="2428875"/>
              <a:ext cx="532866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不可能任意转移控制</a:t>
              </a:r>
              <a:r>
                <a:rPr lang="zh-CN" sz="1350" dirty="0">
                  <a:solidFill>
                    <a:srgbClr val="1F2937"/>
                  </a:solidFill>
                  <a:latin typeface="+mn-lt"/>
                  <a:ea typeface="+mn-ea"/>
                  <a:cs typeface="+mn-cs"/>
                </a:rPr>
                <a:t>：图上根本没有画箭头的地方，控制只能按嵌套关</a:t>
              </a:r>
              <a:br/>
              <a:r>
                <a:rPr lang="zh-CN" sz="1350" dirty="0">
                  <a:solidFill>
                    <a:srgbClr val="1F2937"/>
                  </a:solidFill>
                  <a:latin typeface="+mn-lt"/>
                  <a:ea typeface="+mn-ea"/>
                  <a:cs typeface="+mn-cs"/>
                </a:rPr>
                <a:t>系走</a:t>
              </a:r>
            </a:p>
          </p:txBody>
        </p:sp>
        <p:sp>
          <p:nvSpPr>
            <p:cNvPr id="12" name="Freeform 12"/>
            <p:cNvSpPr/>
            <p:nvPr/>
          </p:nvSpPr>
          <p:spPr>
            <a:xfrm>
              <a:off x="533400" y="3023235"/>
              <a:ext cx="129540" cy="104775"/>
            </a:xfrm>
            <a:custGeom>
              <a:avLst/>
              <a:gdLst/>
              <a:ahLst/>
              <a:cxnLst/>
              <a:rect l="l" t="t" r="r" b="b"/>
              <a:pathLst>
                <a:path w="129540" h="104775">
                  <a:moveTo>
                    <a:pt x="0" y="55245"/>
                  </a:moveTo>
                  <a:lnTo>
                    <a:pt x="49530" y="104775"/>
                  </a:lnTo>
                  <a:lnTo>
                    <a:pt x="129540" y="0"/>
                  </a:lnTo>
                </a:path>
              </a:pathLst>
            </a:custGeom>
            <a:noFill/>
            <a:ln w="24765" cap="rnd">
              <a:solidFill>
                <a:srgbClr val="14A38B"/>
              </a:solidFill>
              <a:round/>
            </a:ln>
          </p:spPr>
        </p:sp>
        <p:sp>
          <p:nvSpPr>
            <p:cNvPr id="13" name="TextBox 13"/>
            <p:cNvSpPr txBox="1"/>
            <p:nvPr/>
          </p:nvSpPr>
          <p:spPr>
            <a:xfrm>
              <a:off x="770382" y="2994660"/>
              <a:ext cx="328498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很容易确定局部数据和全程数据的作用域</a:t>
              </a:r>
            </a:p>
          </p:txBody>
        </p:sp>
        <p:sp>
          <p:nvSpPr>
            <p:cNvPr id="14" name="Freeform 14"/>
            <p:cNvSpPr/>
            <p:nvPr/>
          </p:nvSpPr>
          <p:spPr>
            <a:xfrm>
              <a:off x="533400" y="3331845"/>
              <a:ext cx="129540" cy="104775"/>
            </a:xfrm>
            <a:custGeom>
              <a:avLst/>
              <a:gdLst/>
              <a:ahLst/>
              <a:cxnLst/>
              <a:rect l="l" t="t" r="r" b="b"/>
              <a:pathLst>
                <a:path w="129540" h="104775">
                  <a:moveTo>
                    <a:pt x="0" y="55245"/>
                  </a:moveTo>
                  <a:lnTo>
                    <a:pt x="49530" y="104775"/>
                  </a:lnTo>
                  <a:lnTo>
                    <a:pt x="129540" y="0"/>
                  </a:lnTo>
                </a:path>
              </a:pathLst>
            </a:custGeom>
            <a:noFill/>
            <a:ln w="24765" cap="rnd">
              <a:solidFill>
                <a:srgbClr val="14A38B"/>
              </a:solidFill>
              <a:round/>
            </a:ln>
          </p:spPr>
        </p:sp>
        <p:sp>
          <p:nvSpPr>
            <p:cNvPr id="15" name="TextBox 15"/>
            <p:cNvSpPr txBox="1"/>
            <p:nvPr/>
          </p:nvSpPr>
          <p:spPr>
            <a:xfrm>
              <a:off x="770382" y="3303270"/>
              <a:ext cx="401193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很容易表现嵌套关系，也可以表示模块的层次结构</a:t>
              </a:r>
            </a:p>
          </p:txBody>
        </p:sp>
      </p:grpSp>
      <p:grpSp>
        <p:nvGrpSpPr>
          <p:cNvPr id="29" name="c1-card-2"/>
          <p:cNvGrpSpPr/>
          <p:nvPr/>
        </p:nvGrpSpPr>
        <p:grpSpPr>
          <a:xfrm>
            <a:off x="533400" y="3684270"/>
            <a:ext cx="5842635" cy="1785938"/>
            <a:chOff x="533400" y="3684270"/>
            <a:chExt cx="5842635" cy="1785938"/>
          </a:xfrm>
        </p:grpSpPr>
        <p:sp>
          <p:nvSpPr>
            <p:cNvPr id="17" name="Rectangle 17"/>
            <p:cNvSpPr/>
            <p:nvPr/>
          </p:nvSpPr>
          <p:spPr>
            <a:xfrm>
              <a:off x="533400" y="3684270"/>
              <a:ext cx="5842635" cy="1785938"/>
            </a:xfrm>
            <a:prstGeom prst="roundRect">
              <a:avLst>
                <a:gd name="adj" fmla="val 7467"/>
              </a:avLst>
            </a:prstGeom>
            <a:solidFill>
              <a:srgbClr val="334E68"/>
            </a:solidFill>
            <a:ln>
              <a:noFill/>
            </a:ln>
          </p:spPr>
        </p:sp>
        <p:sp>
          <p:nvSpPr>
            <p:cNvPr id="18" name="Rectangle 18"/>
            <p:cNvSpPr/>
            <p:nvPr/>
          </p:nvSpPr>
          <p:spPr>
            <a:xfrm>
              <a:off x="720090" y="3870960"/>
              <a:ext cx="1081088" cy="238125"/>
            </a:xfrm>
            <a:prstGeom prst="roundRect">
              <a:avLst>
                <a:gd name="adj" fmla="val 50000"/>
              </a:avLst>
            </a:prstGeom>
            <a:solidFill>
              <a:srgbClr val="243B53"/>
            </a:solidFill>
            <a:ln>
              <a:noFill/>
            </a:ln>
          </p:spPr>
        </p:sp>
        <p:sp>
          <p:nvSpPr>
            <p:cNvPr id="19" name="TextBox 19"/>
            <p:cNvSpPr txBox="1"/>
            <p:nvPr/>
          </p:nvSpPr>
          <p:spPr>
            <a:xfrm>
              <a:off x="793458" y="3903821"/>
              <a:ext cx="933399"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怎样画一张盒图</a:t>
              </a:r>
            </a:p>
          </p:txBody>
        </p:sp>
        <p:sp>
          <p:nvSpPr>
            <p:cNvPr id="20" name="Ellipse 20"/>
            <p:cNvSpPr/>
            <p:nvPr/>
          </p:nvSpPr>
          <p:spPr>
            <a:xfrm>
              <a:off x="720090" y="4203382"/>
              <a:ext cx="192405" cy="192405"/>
            </a:xfrm>
            <a:prstGeom prst="ellipse">
              <a:avLst/>
            </a:prstGeom>
            <a:solidFill>
              <a:srgbClr val="334E68"/>
            </a:solidFill>
            <a:ln>
              <a:noFill/>
            </a:ln>
          </p:spPr>
        </p:sp>
        <p:sp>
          <p:nvSpPr>
            <p:cNvPr id="21" name="TextBox 21"/>
            <p:cNvSpPr txBox="1"/>
            <p:nvPr/>
          </p:nvSpPr>
          <p:spPr>
            <a:xfrm>
              <a:off x="775768" y="424176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22" name="TextBox 22"/>
            <p:cNvSpPr txBox="1"/>
            <p:nvPr/>
          </p:nvSpPr>
          <p:spPr>
            <a:xfrm>
              <a:off x="1000887" y="4214812"/>
              <a:ext cx="5284089"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整个程序是一个大方框，顺序执行的语句自上而下把它分成若干条</a:t>
              </a:r>
            </a:p>
          </p:txBody>
        </p:sp>
        <p:sp>
          <p:nvSpPr>
            <p:cNvPr id="23" name="Ellipse 23"/>
            <p:cNvSpPr/>
            <p:nvPr/>
          </p:nvSpPr>
          <p:spPr>
            <a:xfrm>
              <a:off x="720090" y="4503420"/>
              <a:ext cx="192405" cy="192405"/>
            </a:xfrm>
            <a:prstGeom prst="ellipse">
              <a:avLst/>
            </a:prstGeom>
            <a:solidFill>
              <a:srgbClr val="334E68"/>
            </a:solidFill>
            <a:ln>
              <a:noFill/>
            </a:ln>
          </p:spPr>
        </p:sp>
        <p:sp>
          <p:nvSpPr>
            <p:cNvPr id="24" name="TextBox 24"/>
            <p:cNvSpPr txBox="1"/>
            <p:nvPr/>
          </p:nvSpPr>
          <p:spPr>
            <a:xfrm>
              <a:off x="775768" y="454180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25" name="TextBox 25"/>
            <p:cNvSpPr txBox="1"/>
            <p:nvPr/>
          </p:nvSpPr>
          <p:spPr>
            <a:xfrm>
              <a:off x="1000887" y="4515802"/>
              <a:ext cx="5211394"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遇到选择就把那一条切开：上半写条件，下半分成 THEN 和 ELSE</a:t>
              </a:r>
            </a:p>
          </p:txBody>
        </p:sp>
        <p:sp>
          <p:nvSpPr>
            <p:cNvPr id="26" name="Ellipse 26"/>
            <p:cNvSpPr/>
            <p:nvPr/>
          </p:nvSpPr>
          <p:spPr>
            <a:xfrm>
              <a:off x="720090" y="4803458"/>
              <a:ext cx="192405" cy="192405"/>
            </a:xfrm>
            <a:prstGeom prst="ellipse">
              <a:avLst/>
            </a:prstGeom>
            <a:solidFill>
              <a:srgbClr val="334E68"/>
            </a:solidFill>
            <a:ln>
              <a:noFill/>
            </a:ln>
          </p:spPr>
        </p:sp>
        <p:sp>
          <p:nvSpPr>
            <p:cNvPr id="27" name="TextBox 27"/>
            <p:cNvSpPr txBox="1"/>
            <p:nvPr/>
          </p:nvSpPr>
          <p:spPr>
            <a:xfrm>
              <a:off x="775768" y="484184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28" name="TextBox 28"/>
            <p:cNvSpPr txBox="1"/>
            <p:nvPr/>
          </p:nvSpPr>
          <p:spPr>
            <a:xfrm>
              <a:off x="1000887" y="4815840"/>
              <a:ext cx="4960048"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遇到循环就在那一条里再套一个框，条件写</a:t>
              </a:r>
              <a:r>
                <a:rPr lang="zh-CN" sz="1350" b="1" dirty="0">
                  <a:solidFill>
                    <a:srgbClr val="FFD58A"/>
                  </a:solidFill>
                  <a:latin typeface="+mn-lt"/>
                  <a:ea typeface="+mn-ea"/>
                  <a:cs typeface="+mn-cs"/>
                </a:rPr>
                <a:t>顶部</a:t>
              </a:r>
              <a:r>
                <a:rPr lang="zh-CN" sz="1350" dirty="0">
                  <a:solidFill>
                    <a:srgbClr val="FFFFFF"/>
                  </a:solidFill>
                  <a:latin typeface="+mn-lt"/>
                  <a:ea typeface="+mn-ea"/>
                  <a:cs typeface="+mn-cs"/>
                </a:rPr>
                <a:t>是 DO-WHILE，写</a:t>
              </a:r>
              <a:br/>
              <a:r>
                <a:rPr lang="zh-CN" sz="1350" b="1" dirty="0">
                  <a:solidFill>
                    <a:srgbClr val="FFD58A"/>
                  </a:solidFill>
                  <a:latin typeface="+mn-lt"/>
                  <a:ea typeface="+mn-ea"/>
                  <a:cs typeface="+mn-cs"/>
                </a:rPr>
                <a:t>底部</a:t>
              </a:r>
              <a:r>
                <a:rPr lang="zh-CN" sz="1350" dirty="0">
                  <a:solidFill>
                    <a:srgbClr val="FFFFFF"/>
                  </a:solidFill>
                  <a:latin typeface="+mn-lt"/>
                  <a:ea typeface="+mn-ea"/>
                  <a:cs typeface="+mn-cs"/>
                </a:rPr>
                <a:t>是 DO-UNTIL</a:t>
              </a:r>
            </a:p>
          </p:txBody>
        </p:sp>
      </p:grpSp>
      <p:grpSp>
        <p:nvGrpSpPr>
          <p:cNvPr id="37" name="c2-card-1"/>
          <p:cNvGrpSpPr/>
          <p:nvPr/>
        </p:nvGrpSpPr>
        <p:grpSpPr>
          <a:xfrm>
            <a:off x="6680835" y="1524000"/>
            <a:ext cx="4977765" cy="1927860"/>
            <a:chOff x="6680835" y="1524000"/>
            <a:chExt cx="4977765" cy="1927860"/>
          </a:xfrm>
        </p:grpSpPr>
        <p:sp>
          <p:nvSpPr>
            <p:cNvPr id="30" name="Rectangle 30"/>
            <p:cNvSpPr/>
            <p:nvPr/>
          </p:nvSpPr>
          <p:spPr>
            <a:xfrm>
              <a:off x="6680835" y="1524000"/>
              <a:ext cx="4977765" cy="1927860"/>
            </a:xfrm>
            <a:prstGeom prst="roundRect">
              <a:avLst>
                <a:gd name="adj" fmla="val 6917"/>
              </a:avLst>
            </a:prstGeom>
            <a:solidFill>
              <a:srgbClr val="FFFFFF"/>
            </a:solidFill>
            <a:ln w="14288">
              <a:solidFill>
                <a:srgbClr val="D9DFEA"/>
              </a:solidFill>
            </a:ln>
          </p:spPr>
        </p:sp>
        <p:sp>
          <p:nvSpPr>
            <p:cNvPr id="31" name="Rectangle 31"/>
            <p:cNvSpPr/>
            <p:nvPr/>
          </p:nvSpPr>
          <p:spPr>
            <a:xfrm>
              <a:off x="6690360" y="1657350"/>
              <a:ext cx="47625" cy="1661160"/>
            </a:xfrm>
            <a:prstGeom prst="roundRect">
              <a:avLst>
                <a:gd name="adj" fmla="val 50000"/>
              </a:avLst>
            </a:prstGeom>
            <a:solidFill>
              <a:srgbClr val="D97706"/>
            </a:solidFill>
            <a:ln>
              <a:noFill/>
            </a:ln>
          </p:spPr>
        </p:sp>
        <p:sp>
          <p:nvSpPr>
            <p:cNvPr id="32" name="Rectangle 32"/>
            <p:cNvSpPr/>
            <p:nvPr/>
          </p:nvSpPr>
          <p:spPr>
            <a:xfrm>
              <a:off x="6905625" y="1710690"/>
              <a:ext cx="956310" cy="238125"/>
            </a:xfrm>
            <a:prstGeom prst="roundRect">
              <a:avLst>
                <a:gd name="adj" fmla="val 50000"/>
              </a:avLst>
            </a:prstGeom>
            <a:solidFill>
              <a:srgbClr val="FEF3C7"/>
            </a:solidFill>
            <a:ln>
              <a:noFill/>
            </a:ln>
          </p:spPr>
        </p:sp>
        <p:sp>
          <p:nvSpPr>
            <p:cNvPr id="33" name="TextBox 33"/>
            <p:cNvSpPr txBox="1"/>
            <p:nvPr/>
          </p:nvSpPr>
          <p:spPr>
            <a:xfrm>
              <a:off x="6983044" y="1743551"/>
              <a:ext cx="801472" cy="190690"/>
            </a:xfrm>
            <a:prstGeom prst="rect">
              <a:avLst/>
            </a:prstGeom>
            <a:noFill/>
            <a:ln>
              <a:noFill/>
            </a:ln>
          </p:spPr>
          <p:txBody>
            <a:bodyPr wrap="none" lIns="0" tIns="0" rIns="0" bIns="0" anchor="t" anchorCtr="0">
              <a:spAutoFit/>
            </a:bodyPr>
            <a:lstStyle/>
            <a:p>
              <a:pPr algn="ctr"/>
              <a:r>
                <a:rPr lang="zh-CN" sz="980" b="1" dirty="0">
                  <a:solidFill>
                    <a:srgbClr val="92400E"/>
                  </a:solidFill>
                  <a:latin typeface="+mn-lt"/>
                  <a:ea typeface="+mn-ea"/>
                  <a:cs typeface="+mn-cs"/>
                </a:rPr>
                <a:t>嵌套定义形式</a:t>
              </a:r>
            </a:p>
          </p:txBody>
        </p:sp>
        <p:sp>
          <p:nvSpPr>
            <p:cNvPr id="34" name="TextBox 34"/>
            <p:cNvSpPr txBox="1"/>
            <p:nvPr/>
          </p:nvSpPr>
          <p:spPr>
            <a:xfrm>
              <a:off x="7969377" y="1745932"/>
              <a:ext cx="164934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图太深画不下怎么办</a:t>
              </a:r>
            </a:p>
          </p:txBody>
        </p:sp>
        <p:sp>
          <p:nvSpPr>
            <p:cNvPr id="35" name="TextBox 35"/>
            <p:cNvSpPr txBox="1"/>
            <p:nvPr/>
          </p:nvSpPr>
          <p:spPr>
            <a:xfrm>
              <a:off x="6898767" y="2071688"/>
              <a:ext cx="4325684"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把某个分支单独抽出来画成一张子图，命名为 k、l，主图</a:t>
              </a:r>
              <a:br/>
              <a:r>
                <a:rPr lang="zh-CN" sz="1350" dirty="0">
                  <a:solidFill>
                    <a:srgbClr val="1F2937"/>
                  </a:solidFill>
                  <a:latin typeface="+mn-lt"/>
                  <a:ea typeface="+mn-ea"/>
                  <a:cs typeface="+mn-cs"/>
                </a:rPr>
                <a:t>里在对应位置画一个带椭圆的框写上 k 或 l，表示调用这</a:t>
              </a:r>
              <a:br/>
              <a:r>
                <a:rPr lang="zh-CN" sz="1350" dirty="0">
                  <a:solidFill>
                    <a:srgbClr val="1F2937"/>
                  </a:solidFill>
                  <a:latin typeface="+mn-lt"/>
                  <a:ea typeface="+mn-ea"/>
                  <a:cs typeface="+mn-cs"/>
                </a:rPr>
                <a:t>张子图。</a:t>
              </a:r>
            </a:p>
          </p:txBody>
        </p:sp>
        <p:sp>
          <p:nvSpPr>
            <p:cNvPr id="36" name="TextBox 36"/>
            <p:cNvSpPr txBox="1"/>
            <p:nvPr/>
          </p:nvSpPr>
          <p:spPr>
            <a:xfrm>
              <a:off x="6899910" y="2882741"/>
              <a:ext cx="4214622"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示例程序中 X1 的两个分支就可以这样拆成两张子图，主图只剩 a、</a:t>
              </a:r>
              <a:br/>
              <a:r>
                <a:rPr lang="zh-CN" sz="1120" dirty="0">
                  <a:solidFill>
                    <a:srgbClr val="5B6475"/>
                  </a:solidFill>
                  <a:latin typeface="+mn-lt"/>
                  <a:ea typeface="+mn-ea"/>
                  <a:cs typeface="+mn-cs"/>
                </a:rPr>
                <a:t>b、X1、DO-UNTIL X6、j 五层。</a:t>
              </a:r>
            </a:p>
          </p:txBody>
        </p:sp>
      </p:grpSp>
      <p:grpSp>
        <p:nvGrpSpPr>
          <p:cNvPr id="44" name="c2-callout-2"/>
          <p:cNvGrpSpPr/>
          <p:nvPr/>
        </p:nvGrpSpPr>
        <p:grpSpPr>
          <a:xfrm>
            <a:off x="6680835" y="3622358"/>
            <a:ext cx="4977765" cy="1847850"/>
            <a:chOff x="6680835" y="3622358"/>
            <a:chExt cx="4977765" cy="1847850"/>
          </a:xfrm>
        </p:grpSpPr>
        <p:sp>
          <p:nvSpPr>
            <p:cNvPr id="38" name="Rectangle 38"/>
            <p:cNvSpPr/>
            <p:nvPr/>
          </p:nvSpPr>
          <p:spPr>
            <a:xfrm>
              <a:off x="6680835" y="3622358"/>
              <a:ext cx="4977765" cy="1847850"/>
            </a:xfrm>
            <a:prstGeom prst="roundRect">
              <a:avLst>
                <a:gd name="adj" fmla="val 6186"/>
              </a:avLst>
            </a:prstGeom>
            <a:solidFill>
              <a:srgbClr val="FDECEA"/>
            </a:solidFill>
            <a:ln>
              <a:noFill/>
            </a:ln>
          </p:spPr>
        </p:sp>
        <p:grpSp>
          <p:nvGrpSpPr>
            <p:cNvPr id="42" name="Group 42"/>
            <p:cNvGrpSpPr/>
            <p:nvPr/>
          </p:nvGrpSpPr>
          <p:grpSpPr>
            <a:xfrm>
              <a:off x="6873564" y="4442578"/>
              <a:ext cx="224134" cy="192560"/>
              <a:chOff x="6873564" y="4442578"/>
              <a:chExt cx="224134" cy="192560"/>
            </a:xfrm>
          </p:grpSpPr>
          <p:sp>
            <p:nvSpPr>
              <p:cNvPr id="39" name="Freeform 39"/>
              <p:cNvSpPr/>
              <p:nvPr/>
            </p:nvSpPr>
            <p:spPr>
              <a:xfrm>
                <a:off x="6985635" y="4512945"/>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40" name="Freeform 40"/>
              <p:cNvSpPr/>
              <p:nvPr/>
            </p:nvSpPr>
            <p:spPr>
              <a:xfrm>
                <a:off x="6873564" y="4442578"/>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41" name="Freeform 41"/>
              <p:cNvSpPr/>
              <p:nvPr/>
            </p:nvSpPr>
            <p:spPr>
              <a:xfrm>
                <a:off x="6985635" y="4590733"/>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43" name="TextBox 43"/>
            <p:cNvSpPr txBox="1"/>
            <p:nvPr/>
          </p:nvSpPr>
          <p:spPr>
            <a:xfrm>
              <a:off x="7188327" y="4327208"/>
              <a:ext cx="378561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B42318"/>
                  </a:solidFill>
                  <a:latin typeface="+mn-lt"/>
                  <a:ea typeface="+mn-ea"/>
                  <a:cs typeface="+mn-cs"/>
                </a:rPr>
                <a:t>盒图的代价是不好改：插一个新结构要重画整块方</a:t>
              </a:r>
              <a:br/>
              <a:r>
                <a:rPr lang="zh-CN" sz="1350" dirty="0">
                  <a:solidFill>
                    <a:srgbClr val="B42318"/>
                  </a:solidFill>
                  <a:latin typeface="+mn-lt"/>
                  <a:ea typeface="+mn-ea"/>
                  <a:cs typeface="+mn-cs"/>
                </a:rPr>
                <a:t>框，所以它适合定稿后的文档，不适合边想边画。</a:t>
              </a:r>
            </a:p>
          </p:txBody>
        </p:sp>
      </p:grpSp>
      <p:grpSp>
        <p:nvGrpSpPr>
          <p:cNvPr id="50" name="takeaway"/>
          <p:cNvGrpSpPr/>
          <p:nvPr/>
        </p:nvGrpSpPr>
        <p:grpSpPr>
          <a:xfrm>
            <a:off x="533400" y="5881688"/>
            <a:ext cx="11125200" cy="481012"/>
            <a:chOff x="533400" y="5881688"/>
            <a:chExt cx="11125200" cy="481012"/>
          </a:xfrm>
        </p:grpSpPr>
        <p:sp>
          <p:nvSpPr>
            <p:cNvPr id="45" name="Rectangle 45"/>
            <p:cNvSpPr/>
            <p:nvPr/>
          </p:nvSpPr>
          <p:spPr>
            <a:xfrm>
              <a:off x="533400" y="5881688"/>
              <a:ext cx="11125200" cy="481012"/>
            </a:xfrm>
            <a:prstGeom prst="roundRect">
              <a:avLst>
                <a:gd name="adj" fmla="val 23762"/>
              </a:avLst>
            </a:prstGeom>
            <a:solidFill>
              <a:srgbClr val="334E68"/>
            </a:solidFill>
            <a:ln>
              <a:noFill/>
            </a:ln>
          </p:spPr>
        </p:sp>
        <p:grpSp>
          <p:nvGrpSpPr>
            <p:cNvPr id="48" name="Group 48"/>
            <p:cNvGrpSpPr/>
            <p:nvPr/>
          </p:nvGrpSpPr>
          <p:grpSpPr>
            <a:xfrm>
              <a:off x="738188" y="6022660"/>
              <a:ext cx="200023" cy="200023"/>
              <a:chOff x="738188" y="6022660"/>
              <a:chExt cx="200023" cy="200023"/>
            </a:xfrm>
          </p:grpSpPr>
          <p:sp>
            <p:nvSpPr>
              <p:cNvPr id="46" name="Freeform 46"/>
              <p:cNvSpPr/>
              <p:nvPr/>
            </p:nvSpPr>
            <p:spPr>
              <a:xfrm>
                <a:off x="738188" y="602266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7" name="Freeform 47"/>
              <p:cNvSpPr/>
              <p:nvPr/>
            </p:nvSpPr>
            <p:spPr>
              <a:xfrm>
                <a:off x="871538" y="608933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9" name="TextBox 49"/>
            <p:cNvSpPr txBox="1"/>
            <p:nvPr/>
          </p:nvSpPr>
          <p:spPr>
            <a:xfrm>
              <a:off x="1040892" y="6028373"/>
              <a:ext cx="7828407"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判断盒图里某个结构的作用域，只要看它占的方框边界；跨出方框的控制转移在盒图上画不出来。</a:t>
              </a:r>
            </a:p>
          </p:txBody>
        </p:sp>
      </p:grpSp>
      <p:grpSp>
        <p:nvGrpSpPr>
          <p:cNvPr id="53" name="footer"/>
          <p:cNvGrpSpPr/>
          <p:nvPr/>
        </p:nvGrpSpPr>
        <p:grpSpPr>
          <a:xfrm>
            <a:off x="528447" y="6581299"/>
            <a:ext cx="11135106" cy="190690"/>
            <a:chOff x="528447" y="6581299"/>
            <a:chExt cx="11135106" cy="190690"/>
          </a:xfrm>
        </p:grpSpPr>
        <p:sp>
          <p:nvSpPr>
            <p:cNvPr id="51" name="TextBox 51"/>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52" name="TextBox 5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74495" cy="909257"/>
            <a:chOff x="520446" y="342900"/>
            <a:chExt cx="5574495"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过程设计技术和工具</a:t>
              </a:r>
            </a:p>
          </p:txBody>
        </p:sp>
        <p:sp>
          <p:nvSpPr>
            <p:cNvPr id="4" name="TextBox 4"/>
            <p:cNvSpPr txBox="1"/>
            <p:nvPr/>
          </p:nvSpPr>
          <p:spPr>
            <a:xfrm>
              <a:off x="520446" y="753428"/>
              <a:ext cx="557449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PAD 图：用二维树形结构表示控制流</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4" name="pad0"/>
          <p:cNvGrpSpPr/>
          <p:nvPr/>
        </p:nvGrpSpPr>
        <p:grpSpPr>
          <a:xfrm>
            <a:off x="533400" y="1581150"/>
            <a:ext cx="3581400" cy="2324100"/>
            <a:chOff x="533400" y="1581150"/>
            <a:chExt cx="3581400" cy="2324100"/>
          </a:xfrm>
        </p:grpSpPr>
        <p:sp>
          <p:nvSpPr>
            <p:cNvPr id="7" name="Rectangle 7"/>
            <p:cNvSpPr/>
            <p:nvPr/>
          </p:nvSpPr>
          <p:spPr>
            <a:xfrm>
              <a:off x="533400" y="1581150"/>
              <a:ext cx="3581400" cy="2324100"/>
            </a:xfrm>
            <a:prstGeom prst="roundRect">
              <a:avLst>
                <a:gd name="adj" fmla="val 4098"/>
              </a:avLst>
            </a:prstGeom>
            <a:solidFill>
              <a:srgbClr val="F4F6FB"/>
            </a:solidFill>
            <a:ln w="11430">
              <a:solidFill>
                <a:srgbClr val="D9DFEA"/>
              </a:solidFill>
            </a:ln>
          </p:spPr>
        </p:sp>
        <p:sp>
          <p:nvSpPr>
            <p:cNvPr id="8" name="TextBox 8"/>
            <p:cNvSpPr txBox="1"/>
            <p:nvPr/>
          </p:nvSpPr>
          <p:spPr>
            <a:xfrm>
              <a:off x="679704" y="1699260"/>
              <a:ext cx="641002"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① 顺序型</a:t>
              </a:r>
            </a:p>
          </p:txBody>
        </p:sp>
        <p:sp>
          <p:nvSpPr>
            <p:cNvPr id="9" name="Line 9"/>
            <p:cNvSpPr/>
            <p:nvPr/>
          </p:nvSpPr>
          <p:spPr>
            <a:xfrm>
              <a:off x="857250" y="2038350"/>
              <a:ext cx="9525" cy="1600200"/>
            </a:xfrm>
            <a:custGeom>
              <a:avLst/>
              <a:gdLst/>
              <a:ahLst/>
              <a:cxnLst/>
              <a:rect l="l" t="t" r="r" b="b"/>
              <a:pathLst>
                <a:path w="9525" h="1600200">
                  <a:moveTo>
                    <a:pt x="0" y="0"/>
                  </a:moveTo>
                  <a:lnTo>
                    <a:pt x="0" y="1600200"/>
                  </a:lnTo>
                </a:path>
              </a:pathLst>
            </a:custGeom>
            <a:noFill/>
            <a:ln w="20955">
              <a:solidFill>
                <a:srgbClr val="334E68"/>
              </a:solidFill>
            </a:ln>
          </p:spPr>
        </p:sp>
        <p:sp>
          <p:nvSpPr>
            <p:cNvPr id="10" name="Rectangle 10"/>
            <p:cNvSpPr/>
            <p:nvPr/>
          </p:nvSpPr>
          <p:spPr>
            <a:xfrm>
              <a:off x="857250" y="2171700"/>
              <a:ext cx="1428750" cy="419100"/>
            </a:xfrm>
            <a:prstGeom prst="rect">
              <a:avLst/>
            </a:prstGeom>
            <a:solidFill>
              <a:srgbClr val="FFFFFF"/>
            </a:solidFill>
            <a:ln w="15240">
              <a:solidFill>
                <a:srgbClr val="334E68"/>
              </a:solidFill>
            </a:ln>
          </p:spPr>
        </p:sp>
        <p:sp>
          <p:nvSpPr>
            <p:cNvPr id="11" name="TextBox 11"/>
            <p:cNvSpPr txBox="1"/>
            <p:nvPr/>
          </p:nvSpPr>
          <p:spPr>
            <a:xfrm>
              <a:off x="1522100" y="2311241"/>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A</a:t>
              </a:r>
            </a:p>
          </p:txBody>
        </p:sp>
        <p:sp>
          <p:nvSpPr>
            <p:cNvPr id="12" name="Rectangle 12"/>
            <p:cNvSpPr/>
            <p:nvPr/>
          </p:nvSpPr>
          <p:spPr>
            <a:xfrm>
              <a:off x="857250" y="2857500"/>
              <a:ext cx="1428750" cy="419100"/>
            </a:xfrm>
            <a:prstGeom prst="rect">
              <a:avLst/>
            </a:prstGeom>
            <a:solidFill>
              <a:srgbClr val="FFFFFF"/>
            </a:solidFill>
            <a:ln w="15240">
              <a:solidFill>
                <a:srgbClr val="334E68"/>
              </a:solidFill>
            </a:ln>
          </p:spPr>
        </p:sp>
        <p:sp>
          <p:nvSpPr>
            <p:cNvPr id="13" name="TextBox 13"/>
            <p:cNvSpPr txBox="1"/>
            <p:nvPr/>
          </p:nvSpPr>
          <p:spPr>
            <a:xfrm>
              <a:off x="1522100" y="2997041"/>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B</a:t>
              </a:r>
            </a:p>
          </p:txBody>
        </p:sp>
      </p:grpSp>
      <p:grpSp>
        <p:nvGrpSpPr>
          <p:cNvPr id="28" name="pad1"/>
          <p:cNvGrpSpPr/>
          <p:nvPr/>
        </p:nvGrpSpPr>
        <p:grpSpPr>
          <a:xfrm>
            <a:off x="4305300" y="1581150"/>
            <a:ext cx="3581400" cy="2324100"/>
            <a:chOff x="4305300" y="1581150"/>
            <a:chExt cx="3581400" cy="2324100"/>
          </a:xfrm>
        </p:grpSpPr>
        <p:sp>
          <p:nvSpPr>
            <p:cNvPr id="15" name="Rectangle 15"/>
            <p:cNvSpPr/>
            <p:nvPr/>
          </p:nvSpPr>
          <p:spPr>
            <a:xfrm>
              <a:off x="4305300" y="1581150"/>
              <a:ext cx="3581400" cy="2324100"/>
            </a:xfrm>
            <a:prstGeom prst="roundRect">
              <a:avLst>
                <a:gd name="adj" fmla="val 4098"/>
              </a:avLst>
            </a:prstGeom>
            <a:solidFill>
              <a:srgbClr val="F4F6FB"/>
            </a:solidFill>
            <a:ln w="11430">
              <a:solidFill>
                <a:srgbClr val="D9DFEA"/>
              </a:solidFill>
            </a:ln>
          </p:spPr>
        </p:sp>
        <p:sp>
          <p:nvSpPr>
            <p:cNvPr id="16" name="TextBox 16"/>
            <p:cNvSpPr txBox="1"/>
            <p:nvPr/>
          </p:nvSpPr>
          <p:spPr>
            <a:xfrm>
              <a:off x="4451604" y="1699260"/>
              <a:ext cx="641002"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② 选择型</a:t>
              </a:r>
            </a:p>
          </p:txBody>
        </p:sp>
        <p:sp>
          <p:nvSpPr>
            <p:cNvPr id="17" name="Line 17"/>
            <p:cNvSpPr/>
            <p:nvPr/>
          </p:nvSpPr>
          <p:spPr>
            <a:xfrm>
              <a:off x="4629150" y="2038350"/>
              <a:ext cx="9525" cy="1600200"/>
            </a:xfrm>
            <a:custGeom>
              <a:avLst/>
              <a:gdLst/>
              <a:ahLst/>
              <a:cxnLst/>
              <a:rect l="l" t="t" r="r" b="b"/>
              <a:pathLst>
                <a:path w="9525" h="1600200">
                  <a:moveTo>
                    <a:pt x="0" y="0"/>
                  </a:moveTo>
                  <a:lnTo>
                    <a:pt x="0" y="1600200"/>
                  </a:lnTo>
                </a:path>
              </a:pathLst>
            </a:custGeom>
            <a:noFill/>
            <a:ln w="20955">
              <a:solidFill>
                <a:srgbClr val="334E68"/>
              </a:solidFill>
            </a:ln>
          </p:spPr>
        </p:sp>
        <p:sp>
          <p:nvSpPr>
            <p:cNvPr id="18" name="Polygon 18"/>
            <p:cNvSpPr/>
            <p:nvPr/>
          </p:nvSpPr>
          <p:spPr>
            <a:xfrm>
              <a:off x="4629150" y="2247900"/>
              <a:ext cx="990600" cy="1143000"/>
            </a:xfrm>
            <a:custGeom>
              <a:avLst/>
              <a:gdLst/>
              <a:ahLst/>
              <a:cxnLst/>
              <a:rect l="l" t="t" r="r" b="b"/>
              <a:pathLst>
                <a:path w="990600" h="1143000">
                  <a:moveTo>
                    <a:pt x="0" y="0"/>
                  </a:moveTo>
                  <a:lnTo>
                    <a:pt x="990600" y="0"/>
                  </a:lnTo>
                  <a:lnTo>
                    <a:pt x="838200" y="571500"/>
                  </a:lnTo>
                  <a:lnTo>
                    <a:pt x="990600" y="1143000"/>
                  </a:lnTo>
                  <a:lnTo>
                    <a:pt x="0" y="1143000"/>
                  </a:lnTo>
                  <a:close/>
                </a:path>
              </a:pathLst>
            </a:custGeom>
            <a:solidFill>
              <a:srgbClr val="FFFFFF"/>
            </a:solidFill>
            <a:ln w="15240">
              <a:solidFill>
                <a:srgbClr val="334E68"/>
              </a:solidFill>
            </a:ln>
          </p:spPr>
        </p:sp>
        <p:sp>
          <p:nvSpPr>
            <p:cNvPr id="19" name="TextBox 19"/>
            <p:cNvSpPr txBox="1"/>
            <p:nvPr/>
          </p:nvSpPr>
          <p:spPr>
            <a:xfrm>
              <a:off x="4825085" y="2749391"/>
              <a:ext cx="103431" cy="220028"/>
            </a:xfrm>
            <a:prstGeom prst="rect">
              <a:avLst/>
            </a:prstGeom>
            <a:noFill/>
            <a:ln>
              <a:noFill/>
            </a:ln>
          </p:spPr>
          <p:txBody>
            <a:bodyPr wrap="none" lIns="0" tIns="0" rIns="0" bIns="0" anchor="t" anchorCtr="0">
              <a:spAutoFit/>
            </a:bodyPr>
            <a:lstStyle/>
            <a:p>
              <a:pPr algn="ctr"/>
              <a:r>
                <a:rPr lang="en-US" sz="1120" b="1" dirty="0">
                  <a:solidFill>
                    <a:srgbClr val="C2410C"/>
                  </a:solidFill>
                  <a:latin typeface="+mn-lt"/>
                  <a:ea typeface="+mn-ea"/>
                  <a:cs typeface="+mn-cs"/>
                </a:rPr>
                <a:t>P</a:t>
              </a:r>
            </a:p>
          </p:txBody>
        </p:sp>
        <p:sp>
          <p:nvSpPr>
            <p:cNvPr id="20" name="Line 20"/>
            <p:cNvSpPr/>
            <p:nvPr/>
          </p:nvSpPr>
          <p:spPr>
            <a:xfrm>
              <a:off x="5619750" y="2457450"/>
              <a:ext cx="457200" cy="9525"/>
            </a:xfrm>
            <a:custGeom>
              <a:avLst/>
              <a:gdLst/>
              <a:ahLst/>
              <a:cxnLst/>
              <a:rect l="l" t="t" r="r" b="b"/>
              <a:pathLst>
                <a:path w="457200" h="9525">
                  <a:moveTo>
                    <a:pt x="0" y="0"/>
                  </a:moveTo>
                  <a:lnTo>
                    <a:pt x="457200" y="0"/>
                  </a:lnTo>
                </a:path>
              </a:pathLst>
            </a:custGeom>
            <a:noFill/>
            <a:ln w="15240">
              <a:solidFill>
                <a:srgbClr val="334E68"/>
              </a:solidFill>
            </a:ln>
          </p:spPr>
        </p:sp>
        <p:sp>
          <p:nvSpPr>
            <p:cNvPr id="21" name="Line 21"/>
            <p:cNvSpPr/>
            <p:nvPr/>
          </p:nvSpPr>
          <p:spPr>
            <a:xfrm>
              <a:off x="5619750" y="3181350"/>
              <a:ext cx="457200" cy="9525"/>
            </a:xfrm>
            <a:custGeom>
              <a:avLst/>
              <a:gdLst/>
              <a:ahLst/>
              <a:cxnLst/>
              <a:rect l="l" t="t" r="r" b="b"/>
              <a:pathLst>
                <a:path w="457200" h="9525">
                  <a:moveTo>
                    <a:pt x="0" y="0"/>
                  </a:moveTo>
                  <a:lnTo>
                    <a:pt x="457200" y="0"/>
                  </a:lnTo>
                </a:path>
              </a:pathLst>
            </a:custGeom>
            <a:noFill/>
            <a:ln w="15240">
              <a:solidFill>
                <a:srgbClr val="334E68"/>
              </a:solidFill>
            </a:ln>
          </p:spPr>
        </p:sp>
        <p:sp>
          <p:nvSpPr>
            <p:cNvPr id="22" name="Rectangle 22"/>
            <p:cNvSpPr/>
            <p:nvPr/>
          </p:nvSpPr>
          <p:spPr>
            <a:xfrm>
              <a:off x="6076950" y="2247900"/>
              <a:ext cx="1143000" cy="419100"/>
            </a:xfrm>
            <a:prstGeom prst="rect">
              <a:avLst/>
            </a:prstGeom>
            <a:solidFill>
              <a:srgbClr val="FFFFFF"/>
            </a:solidFill>
            <a:ln w="15240">
              <a:solidFill>
                <a:srgbClr val="334E68"/>
              </a:solidFill>
            </a:ln>
          </p:spPr>
        </p:sp>
        <p:sp>
          <p:nvSpPr>
            <p:cNvPr id="23" name="TextBox 23"/>
            <p:cNvSpPr txBox="1"/>
            <p:nvPr/>
          </p:nvSpPr>
          <p:spPr>
            <a:xfrm>
              <a:off x="6598925" y="2387441"/>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A</a:t>
              </a:r>
            </a:p>
          </p:txBody>
        </p:sp>
        <p:sp>
          <p:nvSpPr>
            <p:cNvPr id="24" name="Rectangle 24"/>
            <p:cNvSpPr/>
            <p:nvPr/>
          </p:nvSpPr>
          <p:spPr>
            <a:xfrm>
              <a:off x="6076950" y="2971800"/>
              <a:ext cx="1143000" cy="419100"/>
            </a:xfrm>
            <a:prstGeom prst="rect">
              <a:avLst/>
            </a:prstGeom>
            <a:solidFill>
              <a:srgbClr val="FFFFFF"/>
            </a:solidFill>
            <a:ln w="15240">
              <a:solidFill>
                <a:srgbClr val="334E68"/>
              </a:solidFill>
            </a:ln>
          </p:spPr>
        </p:sp>
        <p:sp>
          <p:nvSpPr>
            <p:cNvPr id="25" name="TextBox 25"/>
            <p:cNvSpPr txBox="1"/>
            <p:nvPr/>
          </p:nvSpPr>
          <p:spPr>
            <a:xfrm>
              <a:off x="6598925" y="3111341"/>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B</a:t>
              </a:r>
            </a:p>
          </p:txBody>
        </p:sp>
        <p:sp>
          <p:nvSpPr>
            <p:cNvPr id="26" name="TextBox 26"/>
            <p:cNvSpPr txBox="1"/>
            <p:nvPr/>
          </p:nvSpPr>
          <p:spPr>
            <a:xfrm>
              <a:off x="5806623" y="2286952"/>
              <a:ext cx="83454" cy="176212"/>
            </a:xfrm>
            <a:prstGeom prst="rect">
              <a:avLst/>
            </a:prstGeom>
            <a:noFill/>
            <a:ln>
              <a:noFill/>
            </a:ln>
          </p:spPr>
          <p:txBody>
            <a:bodyPr wrap="none" lIns="0" tIns="0" rIns="0" bIns="0" anchor="t" anchorCtr="0">
              <a:spAutoFit/>
            </a:bodyPr>
            <a:lstStyle/>
            <a:p>
              <a:pPr algn="ctr"/>
              <a:r>
                <a:rPr lang="en-US" sz="900" b="1" dirty="0">
                  <a:solidFill>
                    <a:srgbClr val="5B6475"/>
                  </a:solidFill>
                  <a:latin typeface="+mn-lt"/>
                  <a:ea typeface="+mn-ea"/>
                  <a:cs typeface="+mn-cs"/>
                </a:rPr>
                <a:t>T</a:t>
              </a:r>
            </a:p>
          </p:txBody>
        </p:sp>
        <p:sp>
          <p:nvSpPr>
            <p:cNvPr id="27" name="TextBox 27"/>
            <p:cNvSpPr txBox="1"/>
            <p:nvPr/>
          </p:nvSpPr>
          <p:spPr>
            <a:xfrm>
              <a:off x="5806623" y="3258502"/>
              <a:ext cx="83454" cy="176212"/>
            </a:xfrm>
            <a:prstGeom prst="rect">
              <a:avLst/>
            </a:prstGeom>
            <a:noFill/>
            <a:ln>
              <a:noFill/>
            </a:ln>
          </p:spPr>
          <p:txBody>
            <a:bodyPr wrap="none" lIns="0" tIns="0" rIns="0" bIns="0" anchor="t" anchorCtr="0">
              <a:spAutoFit/>
            </a:bodyPr>
            <a:lstStyle/>
            <a:p>
              <a:pPr algn="ctr"/>
              <a:r>
                <a:rPr lang="en-US" sz="900" b="1" dirty="0">
                  <a:solidFill>
                    <a:srgbClr val="5B6475"/>
                  </a:solidFill>
                  <a:latin typeface="+mn-lt"/>
                  <a:ea typeface="+mn-ea"/>
                  <a:cs typeface="+mn-cs"/>
                </a:rPr>
                <a:t>F</a:t>
              </a:r>
            </a:p>
          </p:txBody>
        </p:sp>
      </p:grpSp>
      <p:grpSp>
        <p:nvGrpSpPr>
          <p:cNvPr id="39" name="pad2"/>
          <p:cNvGrpSpPr/>
          <p:nvPr/>
        </p:nvGrpSpPr>
        <p:grpSpPr>
          <a:xfrm>
            <a:off x="8077200" y="1581150"/>
            <a:ext cx="3581400" cy="2324100"/>
            <a:chOff x="8077200" y="1581150"/>
            <a:chExt cx="3581400" cy="2324100"/>
          </a:xfrm>
        </p:grpSpPr>
        <p:sp>
          <p:nvSpPr>
            <p:cNvPr id="29" name="Rectangle 29"/>
            <p:cNvSpPr/>
            <p:nvPr/>
          </p:nvSpPr>
          <p:spPr>
            <a:xfrm>
              <a:off x="8077200" y="1581150"/>
              <a:ext cx="3581400" cy="2324100"/>
            </a:xfrm>
            <a:prstGeom prst="roundRect">
              <a:avLst>
                <a:gd name="adj" fmla="val 4098"/>
              </a:avLst>
            </a:prstGeom>
            <a:solidFill>
              <a:srgbClr val="F4F6FB"/>
            </a:solidFill>
            <a:ln w="11430">
              <a:solidFill>
                <a:srgbClr val="D9DFEA"/>
              </a:solidFill>
            </a:ln>
          </p:spPr>
        </p:sp>
        <p:sp>
          <p:nvSpPr>
            <p:cNvPr id="30" name="TextBox 30"/>
            <p:cNvSpPr txBox="1"/>
            <p:nvPr/>
          </p:nvSpPr>
          <p:spPr>
            <a:xfrm>
              <a:off x="8223504" y="1699260"/>
              <a:ext cx="1186830"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③ WHILE 重复型</a:t>
              </a:r>
            </a:p>
          </p:txBody>
        </p:sp>
        <p:sp>
          <p:nvSpPr>
            <p:cNvPr id="31" name="Line 31"/>
            <p:cNvSpPr/>
            <p:nvPr/>
          </p:nvSpPr>
          <p:spPr>
            <a:xfrm>
              <a:off x="8401050" y="2171700"/>
              <a:ext cx="9525" cy="1314450"/>
            </a:xfrm>
            <a:custGeom>
              <a:avLst/>
              <a:gdLst/>
              <a:ahLst/>
              <a:cxnLst/>
              <a:rect l="l" t="t" r="r" b="b"/>
              <a:pathLst>
                <a:path w="9525" h="1314450">
                  <a:moveTo>
                    <a:pt x="0" y="0"/>
                  </a:moveTo>
                  <a:lnTo>
                    <a:pt x="0" y="1314450"/>
                  </a:lnTo>
                </a:path>
              </a:pathLst>
            </a:custGeom>
            <a:noFill/>
            <a:ln w="20955">
              <a:solidFill>
                <a:srgbClr val="334E68"/>
              </a:solidFill>
            </a:ln>
          </p:spPr>
        </p:sp>
        <p:sp>
          <p:nvSpPr>
            <p:cNvPr id="32" name="Rectangle 32"/>
            <p:cNvSpPr/>
            <p:nvPr/>
          </p:nvSpPr>
          <p:spPr>
            <a:xfrm>
              <a:off x="8401050" y="2628900"/>
              <a:ext cx="1504950" cy="438150"/>
            </a:xfrm>
            <a:prstGeom prst="rect">
              <a:avLst/>
            </a:prstGeom>
            <a:solidFill>
              <a:srgbClr val="FFFFFF"/>
            </a:solidFill>
            <a:ln w="15240">
              <a:solidFill>
                <a:srgbClr val="334E68"/>
              </a:solidFill>
            </a:ln>
          </p:spPr>
        </p:sp>
        <p:sp>
          <p:nvSpPr>
            <p:cNvPr id="33" name="Line 33"/>
            <p:cNvSpPr/>
            <p:nvPr/>
          </p:nvSpPr>
          <p:spPr>
            <a:xfrm>
              <a:off x="9772650" y="2628900"/>
              <a:ext cx="9525" cy="438150"/>
            </a:xfrm>
            <a:custGeom>
              <a:avLst/>
              <a:gdLst/>
              <a:ahLst/>
              <a:cxnLst/>
              <a:rect l="l" t="t" r="r" b="b"/>
              <a:pathLst>
                <a:path w="9525" h="438150">
                  <a:moveTo>
                    <a:pt x="0" y="0"/>
                  </a:moveTo>
                  <a:lnTo>
                    <a:pt x="0" y="438150"/>
                  </a:lnTo>
                </a:path>
              </a:pathLst>
            </a:custGeom>
            <a:noFill/>
            <a:ln w="15240">
              <a:solidFill>
                <a:srgbClr val="334E68"/>
              </a:solidFill>
            </a:ln>
          </p:spPr>
        </p:sp>
        <p:sp>
          <p:nvSpPr>
            <p:cNvPr id="34" name="TextBox 34"/>
            <p:cNvSpPr txBox="1"/>
            <p:nvPr/>
          </p:nvSpPr>
          <p:spPr>
            <a:xfrm>
              <a:off x="8803161" y="2782252"/>
              <a:ext cx="567378" cy="205359"/>
            </a:xfrm>
            <a:prstGeom prst="rect">
              <a:avLst/>
            </a:prstGeom>
            <a:noFill/>
            <a:ln>
              <a:noFill/>
            </a:ln>
          </p:spPr>
          <p:txBody>
            <a:bodyPr wrap="none" lIns="0" tIns="0" rIns="0" bIns="0" anchor="t" anchorCtr="0">
              <a:spAutoFit/>
            </a:bodyPr>
            <a:lstStyle/>
            <a:p>
              <a:pPr algn="ctr"/>
              <a:r>
                <a:rPr lang="en-US" sz="1050" b="1" dirty="0">
                  <a:solidFill>
                    <a:srgbClr val="C2410C"/>
                  </a:solidFill>
                  <a:latin typeface="+mn-lt"/>
                  <a:ea typeface="+mn-ea"/>
                  <a:cs typeface="+mn-cs"/>
                </a:rPr>
                <a:t>WHILE P</a:t>
              </a:r>
            </a:p>
          </p:txBody>
        </p:sp>
        <p:sp>
          <p:nvSpPr>
            <p:cNvPr id="35" name="Line 35"/>
            <p:cNvSpPr/>
            <p:nvPr/>
          </p:nvSpPr>
          <p:spPr>
            <a:xfrm>
              <a:off x="9906000" y="2847975"/>
              <a:ext cx="400050" cy="9525"/>
            </a:xfrm>
            <a:custGeom>
              <a:avLst/>
              <a:gdLst/>
              <a:ahLst/>
              <a:cxnLst/>
              <a:rect l="l" t="t" r="r" b="b"/>
              <a:pathLst>
                <a:path w="400050" h="9525">
                  <a:moveTo>
                    <a:pt x="0" y="0"/>
                  </a:moveTo>
                  <a:lnTo>
                    <a:pt x="400050" y="0"/>
                  </a:lnTo>
                </a:path>
              </a:pathLst>
            </a:custGeom>
            <a:noFill/>
            <a:ln w="15240">
              <a:solidFill>
                <a:srgbClr val="334E68"/>
              </a:solidFill>
            </a:ln>
          </p:spPr>
        </p:sp>
        <p:sp>
          <p:nvSpPr>
            <p:cNvPr id="36" name="Rectangle 36"/>
            <p:cNvSpPr/>
            <p:nvPr/>
          </p:nvSpPr>
          <p:spPr>
            <a:xfrm>
              <a:off x="10306050" y="2638425"/>
              <a:ext cx="1047750" cy="419100"/>
            </a:xfrm>
            <a:prstGeom prst="rect">
              <a:avLst/>
            </a:prstGeom>
            <a:solidFill>
              <a:srgbClr val="FFFFFF"/>
            </a:solidFill>
            <a:ln w="15240">
              <a:solidFill>
                <a:srgbClr val="334E68"/>
              </a:solidFill>
            </a:ln>
          </p:spPr>
        </p:sp>
        <p:sp>
          <p:nvSpPr>
            <p:cNvPr id="37" name="TextBox 37"/>
            <p:cNvSpPr txBox="1"/>
            <p:nvPr/>
          </p:nvSpPr>
          <p:spPr>
            <a:xfrm>
              <a:off x="10780400" y="277796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S</a:t>
              </a:r>
            </a:p>
          </p:txBody>
        </p:sp>
        <p:sp>
          <p:nvSpPr>
            <p:cNvPr id="38" name="TextBox 38"/>
            <p:cNvSpPr txBox="1"/>
            <p:nvPr/>
          </p:nvSpPr>
          <p:spPr>
            <a:xfrm>
              <a:off x="9321048" y="3425666"/>
              <a:ext cx="1093704"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循环体 S 反复执行</a:t>
              </a:r>
            </a:p>
          </p:txBody>
        </p:sp>
      </p:grpSp>
      <p:grpSp>
        <p:nvGrpSpPr>
          <p:cNvPr id="50" name="pad3"/>
          <p:cNvGrpSpPr/>
          <p:nvPr/>
        </p:nvGrpSpPr>
        <p:grpSpPr>
          <a:xfrm>
            <a:off x="533400" y="3981450"/>
            <a:ext cx="3581400" cy="2324100"/>
            <a:chOff x="533400" y="3981450"/>
            <a:chExt cx="3581400" cy="2324100"/>
          </a:xfrm>
        </p:grpSpPr>
        <p:sp>
          <p:nvSpPr>
            <p:cNvPr id="40" name="Rectangle 40"/>
            <p:cNvSpPr/>
            <p:nvPr/>
          </p:nvSpPr>
          <p:spPr>
            <a:xfrm>
              <a:off x="533400" y="3981450"/>
              <a:ext cx="3581400" cy="2324100"/>
            </a:xfrm>
            <a:prstGeom prst="roundRect">
              <a:avLst>
                <a:gd name="adj" fmla="val 4098"/>
              </a:avLst>
            </a:prstGeom>
            <a:solidFill>
              <a:srgbClr val="F4F6FB"/>
            </a:solidFill>
            <a:ln w="11430">
              <a:solidFill>
                <a:srgbClr val="D9DFEA"/>
              </a:solidFill>
            </a:ln>
          </p:spPr>
        </p:sp>
        <p:sp>
          <p:nvSpPr>
            <p:cNvPr id="41" name="TextBox 41"/>
            <p:cNvSpPr txBox="1"/>
            <p:nvPr/>
          </p:nvSpPr>
          <p:spPr>
            <a:xfrm>
              <a:off x="679704" y="4099560"/>
              <a:ext cx="1150986"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④ UNTIL 重复型</a:t>
              </a:r>
            </a:p>
          </p:txBody>
        </p:sp>
        <p:sp>
          <p:nvSpPr>
            <p:cNvPr id="42" name="Line 42"/>
            <p:cNvSpPr/>
            <p:nvPr/>
          </p:nvSpPr>
          <p:spPr>
            <a:xfrm>
              <a:off x="857250" y="4572000"/>
              <a:ext cx="9525" cy="1314450"/>
            </a:xfrm>
            <a:custGeom>
              <a:avLst/>
              <a:gdLst/>
              <a:ahLst/>
              <a:cxnLst/>
              <a:rect l="l" t="t" r="r" b="b"/>
              <a:pathLst>
                <a:path w="9525" h="1314450">
                  <a:moveTo>
                    <a:pt x="0" y="0"/>
                  </a:moveTo>
                  <a:lnTo>
                    <a:pt x="0" y="1314450"/>
                  </a:lnTo>
                </a:path>
              </a:pathLst>
            </a:custGeom>
            <a:noFill/>
            <a:ln w="20955">
              <a:solidFill>
                <a:srgbClr val="334E68"/>
              </a:solidFill>
            </a:ln>
          </p:spPr>
        </p:sp>
        <p:sp>
          <p:nvSpPr>
            <p:cNvPr id="43" name="Rectangle 43"/>
            <p:cNvSpPr/>
            <p:nvPr/>
          </p:nvSpPr>
          <p:spPr>
            <a:xfrm>
              <a:off x="857250" y="5029200"/>
              <a:ext cx="1504950" cy="438150"/>
            </a:xfrm>
            <a:prstGeom prst="rect">
              <a:avLst/>
            </a:prstGeom>
            <a:solidFill>
              <a:srgbClr val="FFFFFF"/>
            </a:solidFill>
            <a:ln w="15240">
              <a:solidFill>
                <a:srgbClr val="334E68"/>
              </a:solidFill>
            </a:ln>
          </p:spPr>
        </p:sp>
        <p:sp>
          <p:nvSpPr>
            <p:cNvPr id="44" name="Line 44"/>
            <p:cNvSpPr/>
            <p:nvPr/>
          </p:nvSpPr>
          <p:spPr>
            <a:xfrm>
              <a:off x="2228850" y="5029200"/>
              <a:ext cx="9525" cy="438150"/>
            </a:xfrm>
            <a:custGeom>
              <a:avLst/>
              <a:gdLst/>
              <a:ahLst/>
              <a:cxnLst/>
              <a:rect l="l" t="t" r="r" b="b"/>
              <a:pathLst>
                <a:path w="9525" h="438150">
                  <a:moveTo>
                    <a:pt x="0" y="0"/>
                  </a:moveTo>
                  <a:lnTo>
                    <a:pt x="0" y="438150"/>
                  </a:lnTo>
                </a:path>
              </a:pathLst>
            </a:custGeom>
            <a:noFill/>
            <a:ln w="15240">
              <a:solidFill>
                <a:srgbClr val="334E68"/>
              </a:solidFill>
            </a:ln>
          </p:spPr>
        </p:sp>
        <p:sp>
          <p:nvSpPr>
            <p:cNvPr id="45" name="TextBox 45"/>
            <p:cNvSpPr txBox="1"/>
            <p:nvPr/>
          </p:nvSpPr>
          <p:spPr>
            <a:xfrm>
              <a:off x="1275043" y="5182552"/>
              <a:ext cx="536014" cy="205359"/>
            </a:xfrm>
            <a:prstGeom prst="rect">
              <a:avLst/>
            </a:prstGeom>
            <a:noFill/>
            <a:ln>
              <a:noFill/>
            </a:ln>
          </p:spPr>
          <p:txBody>
            <a:bodyPr wrap="none" lIns="0" tIns="0" rIns="0" bIns="0" anchor="t" anchorCtr="0">
              <a:spAutoFit/>
            </a:bodyPr>
            <a:lstStyle/>
            <a:p>
              <a:pPr algn="ctr"/>
              <a:r>
                <a:rPr lang="en-US" sz="1050" b="1" dirty="0">
                  <a:solidFill>
                    <a:srgbClr val="C2410C"/>
                  </a:solidFill>
                  <a:latin typeface="+mn-lt"/>
                  <a:ea typeface="+mn-ea"/>
                  <a:cs typeface="+mn-cs"/>
                </a:rPr>
                <a:t>UNTIL P</a:t>
              </a:r>
            </a:p>
          </p:txBody>
        </p:sp>
        <p:sp>
          <p:nvSpPr>
            <p:cNvPr id="46" name="Line 46"/>
            <p:cNvSpPr/>
            <p:nvPr/>
          </p:nvSpPr>
          <p:spPr>
            <a:xfrm>
              <a:off x="2362200" y="5248275"/>
              <a:ext cx="400050" cy="9525"/>
            </a:xfrm>
            <a:custGeom>
              <a:avLst/>
              <a:gdLst/>
              <a:ahLst/>
              <a:cxnLst/>
              <a:rect l="l" t="t" r="r" b="b"/>
              <a:pathLst>
                <a:path w="400050" h="9525">
                  <a:moveTo>
                    <a:pt x="0" y="0"/>
                  </a:moveTo>
                  <a:lnTo>
                    <a:pt x="400050" y="0"/>
                  </a:lnTo>
                </a:path>
              </a:pathLst>
            </a:custGeom>
            <a:noFill/>
            <a:ln w="15240">
              <a:solidFill>
                <a:srgbClr val="334E68"/>
              </a:solidFill>
            </a:ln>
          </p:spPr>
        </p:sp>
        <p:sp>
          <p:nvSpPr>
            <p:cNvPr id="47" name="Rectangle 47"/>
            <p:cNvSpPr/>
            <p:nvPr/>
          </p:nvSpPr>
          <p:spPr>
            <a:xfrm>
              <a:off x="2762250" y="5038725"/>
              <a:ext cx="1047750" cy="419100"/>
            </a:xfrm>
            <a:prstGeom prst="rect">
              <a:avLst/>
            </a:prstGeom>
            <a:solidFill>
              <a:srgbClr val="FFFFFF"/>
            </a:solidFill>
            <a:ln w="15240">
              <a:solidFill>
                <a:srgbClr val="334E68"/>
              </a:solidFill>
            </a:ln>
          </p:spPr>
        </p:sp>
        <p:sp>
          <p:nvSpPr>
            <p:cNvPr id="48" name="TextBox 48"/>
            <p:cNvSpPr txBox="1"/>
            <p:nvPr/>
          </p:nvSpPr>
          <p:spPr>
            <a:xfrm>
              <a:off x="3236600" y="517826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S</a:t>
              </a:r>
            </a:p>
          </p:txBody>
        </p:sp>
        <p:sp>
          <p:nvSpPr>
            <p:cNvPr id="49" name="TextBox 49"/>
            <p:cNvSpPr txBox="1"/>
            <p:nvPr/>
          </p:nvSpPr>
          <p:spPr>
            <a:xfrm>
              <a:off x="1777248" y="5825966"/>
              <a:ext cx="1093704"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循环体 S 反复执行</a:t>
              </a:r>
            </a:p>
          </p:txBody>
        </p:sp>
      </p:grpSp>
      <p:grpSp>
        <p:nvGrpSpPr>
          <p:cNvPr id="68" name="pad4"/>
          <p:cNvGrpSpPr/>
          <p:nvPr/>
        </p:nvGrpSpPr>
        <p:grpSpPr>
          <a:xfrm>
            <a:off x="4305300" y="3981450"/>
            <a:ext cx="3581400" cy="2324100"/>
            <a:chOff x="4305300" y="3981450"/>
            <a:chExt cx="3581400" cy="2324100"/>
          </a:xfrm>
        </p:grpSpPr>
        <p:sp>
          <p:nvSpPr>
            <p:cNvPr id="51" name="Rectangle 51"/>
            <p:cNvSpPr/>
            <p:nvPr/>
          </p:nvSpPr>
          <p:spPr>
            <a:xfrm>
              <a:off x="4305300" y="3981450"/>
              <a:ext cx="3581400" cy="2324100"/>
            </a:xfrm>
            <a:prstGeom prst="roundRect">
              <a:avLst>
                <a:gd name="adj" fmla="val 4098"/>
              </a:avLst>
            </a:prstGeom>
            <a:solidFill>
              <a:srgbClr val="F4F6FB"/>
            </a:solidFill>
            <a:ln w="11430">
              <a:solidFill>
                <a:srgbClr val="D9DFEA"/>
              </a:solidFill>
            </a:ln>
          </p:spPr>
        </p:sp>
        <p:sp>
          <p:nvSpPr>
            <p:cNvPr id="52" name="TextBox 52"/>
            <p:cNvSpPr txBox="1"/>
            <p:nvPr/>
          </p:nvSpPr>
          <p:spPr>
            <a:xfrm>
              <a:off x="4451604" y="4099560"/>
              <a:ext cx="1843011"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⑤ 多分支选择型（CASE）</a:t>
              </a:r>
            </a:p>
          </p:txBody>
        </p:sp>
        <p:sp>
          <p:nvSpPr>
            <p:cNvPr id="53" name="Line 53"/>
            <p:cNvSpPr/>
            <p:nvPr/>
          </p:nvSpPr>
          <p:spPr>
            <a:xfrm>
              <a:off x="4629150" y="4438650"/>
              <a:ext cx="9525" cy="1676400"/>
            </a:xfrm>
            <a:custGeom>
              <a:avLst/>
              <a:gdLst/>
              <a:ahLst/>
              <a:cxnLst/>
              <a:rect l="l" t="t" r="r" b="b"/>
              <a:pathLst>
                <a:path w="9525" h="1676400">
                  <a:moveTo>
                    <a:pt x="0" y="0"/>
                  </a:moveTo>
                  <a:lnTo>
                    <a:pt x="0" y="1676400"/>
                  </a:lnTo>
                </a:path>
              </a:pathLst>
            </a:custGeom>
            <a:noFill/>
            <a:ln w="20955">
              <a:solidFill>
                <a:srgbClr val="334E68"/>
              </a:solidFill>
            </a:ln>
          </p:spPr>
        </p:sp>
        <p:sp>
          <p:nvSpPr>
            <p:cNvPr id="54" name="Polygon 54"/>
            <p:cNvSpPr/>
            <p:nvPr/>
          </p:nvSpPr>
          <p:spPr>
            <a:xfrm>
              <a:off x="4629150" y="4476750"/>
              <a:ext cx="914400" cy="1524000"/>
            </a:xfrm>
            <a:custGeom>
              <a:avLst/>
              <a:gdLst/>
              <a:ahLst/>
              <a:cxnLst/>
              <a:rect l="l" t="t" r="r" b="b"/>
              <a:pathLst>
                <a:path w="914400" h="1524000">
                  <a:moveTo>
                    <a:pt x="0" y="0"/>
                  </a:moveTo>
                  <a:lnTo>
                    <a:pt x="914400" y="0"/>
                  </a:lnTo>
                  <a:lnTo>
                    <a:pt x="762000" y="476250"/>
                  </a:lnTo>
                  <a:lnTo>
                    <a:pt x="914400" y="762000"/>
                  </a:lnTo>
                  <a:lnTo>
                    <a:pt x="762000" y="1047750"/>
                  </a:lnTo>
                  <a:lnTo>
                    <a:pt x="914400" y="1524000"/>
                  </a:lnTo>
                  <a:lnTo>
                    <a:pt x="0" y="1524000"/>
                  </a:lnTo>
                  <a:close/>
                </a:path>
              </a:pathLst>
            </a:custGeom>
            <a:solidFill>
              <a:srgbClr val="FFFFFF"/>
            </a:solidFill>
            <a:ln w="15240">
              <a:solidFill>
                <a:srgbClr val="334E68"/>
              </a:solidFill>
            </a:ln>
          </p:spPr>
        </p:sp>
        <p:sp>
          <p:nvSpPr>
            <p:cNvPr id="55" name="TextBox 55"/>
            <p:cNvSpPr txBox="1"/>
            <p:nvPr/>
          </p:nvSpPr>
          <p:spPr>
            <a:xfrm>
              <a:off x="4806035" y="5168741"/>
              <a:ext cx="103431" cy="220028"/>
            </a:xfrm>
            <a:prstGeom prst="rect">
              <a:avLst/>
            </a:prstGeom>
            <a:noFill/>
            <a:ln>
              <a:noFill/>
            </a:ln>
          </p:spPr>
          <p:txBody>
            <a:bodyPr wrap="none" lIns="0" tIns="0" rIns="0" bIns="0" anchor="t" anchorCtr="0">
              <a:spAutoFit/>
            </a:bodyPr>
            <a:lstStyle/>
            <a:p>
              <a:pPr algn="ctr"/>
              <a:r>
                <a:rPr lang="en-US" sz="1120" b="1" dirty="0">
                  <a:solidFill>
                    <a:srgbClr val="C2410C"/>
                  </a:solidFill>
                  <a:latin typeface="+mn-lt"/>
                  <a:ea typeface="+mn-ea"/>
                  <a:cs typeface="+mn-cs"/>
                </a:rPr>
                <a:t>P</a:t>
              </a:r>
            </a:p>
          </p:txBody>
        </p:sp>
        <p:sp>
          <p:nvSpPr>
            <p:cNvPr id="56" name="Line 56"/>
            <p:cNvSpPr/>
            <p:nvPr/>
          </p:nvSpPr>
          <p:spPr>
            <a:xfrm>
              <a:off x="5543550" y="4667250"/>
              <a:ext cx="590550" cy="9525"/>
            </a:xfrm>
            <a:custGeom>
              <a:avLst/>
              <a:gdLst/>
              <a:ahLst/>
              <a:cxnLst/>
              <a:rect l="l" t="t" r="r" b="b"/>
              <a:pathLst>
                <a:path w="590550" h="9525">
                  <a:moveTo>
                    <a:pt x="0" y="0"/>
                  </a:moveTo>
                  <a:lnTo>
                    <a:pt x="590550" y="0"/>
                  </a:lnTo>
                </a:path>
              </a:pathLst>
            </a:custGeom>
            <a:noFill/>
            <a:ln w="15240">
              <a:solidFill>
                <a:srgbClr val="334E68"/>
              </a:solidFill>
            </a:ln>
          </p:spPr>
        </p:sp>
        <p:sp>
          <p:nvSpPr>
            <p:cNvPr id="57" name="TextBox 57"/>
            <p:cNvSpPr txBox="1"/>
            <p:nvPr/>
          </p:nvSpPr>
          <p:spPr>
            <a:xfrm>
              <a:off x="5749252" y="4496752"/>
              <a:ext cx="179146"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 1</a:t>
              </a:r>
            </a:p>
          </p:txBody>
        </p:sp>
        <p:sp>
          <p:nvSpPr>
            <p:cNvPr id="58" name="Rectangle 58"/>
            <p:cNvSpPr/>
            <p:nvPr/>
          </p:nvSpPr>
          <p:spPr>
            <a:xfrm>
              <a:off x="6134100" y="4476750"/>
              <a:ext cx="876300" cy="381000"/>
            </a:xfrm>
            <a:prstGeom prst="rect">
              <a:avLst/>
            </a:prstGeom>
            <a:solidFill>
              <a:srgbClr val="FFFFFF"/>
            </a:solidFill>
            <a:ln w="15240">
              <a:solidFill>
                <a:srgbClr val="334E68"/>
              </a:solidFill>
            </a:ln>
          </p:spPr>
        </p:sp>
        <p:sp>
          <p:nvSpPr>
            <p:cNvPr id="59" name="TextBox 59"/>
            <p:cNvSpPr txBox="1"/>
            <p:nvPr/>
          </p:nvSpPr>
          <p:spPr>
            <a:xfrm>
              <a:off x="6484772" y="4601528"/>
              <a:ext cx="174955" cy="205359"/>
            </a:xfrm>
            <a:prstGeom prst="rect">
              <a:avLst/>
            </a:prstGeom>
            <a:noFill/>
            <a:ln>
              <a:noFill/>
            </a:ln>
          </p:spPr>
          <p:txBody>
            <a:bodyPr wrap="none" lIns="0" tIns="0" rIns="0" bIns="0" anchor="t" anchorCtr="0">
              <a:spAutoFit/>
            </a:bodyPr>
            <a:lstStyle/>
            <a:p>
              <a:pPr algn="ctr"/>
              <a:r>
                <a:rPr lang="en-US" sz="1050" dirty="0">
                  <a:solidFill>
                    <a:srgbClr val="1F2937"/>
                  </a:solidFill>
                  <a:latin typeface="+mn-lt"/>
                  <a:ea typeface="+mn-ea"/>
                  <a:cs typeface="+mn-cs"/>
                </a:rPr>
                <a:t>A1</a:t>
              </a:r>
            </a:p>
          </p:txBody>
        </p:sp>
        <p:sp>
          <p:nvSpPr>
            <p:cNvPr id="60" name="Line 60"/>
            <p:cNvSpPr/>
            <p:nvPr/>
          </p:nvSpPr>
          <p:spPr>
            <a:xfrm>
              <a:off x="5543550" y="5238750"/>
              <a:ext cx="590550" cy="9525"/>
            </a:xfrm>
            <a:custGeom>
              <a:avLst/>
              <a:gdLst/>
              <a:ahLst/>
              <a:cxnLst/>
              <a:rect l="l" t="t" r="r" b="b"/>
              <a:pathLst>
                <a:path w="590550" h="9525">
                  <a:moveTo>
                    <a:pt x="0" y="0"/>
                  </a:moveTo>
                  <a:lnTo>
                    <a:pt x="590550" y="0"/>
                  </a:lnTo>
                </a:path>
              </a:pathLst>
            </a:custGeom>
            <a:noFill/>
            <a:ln w="15240">
              <a:solidFill>
                <a:srgbClr val="334E68"/>
              </a:solidFill>
            </a:ln>
          </p:spPr>
        </p:sp>
        <p:sp>
          <p:nvSpPr>
            <p:cNvPr id="61" name="TextBox 61"/>
            <p:cNvSpPr txBox="1"/>
            <p:nvPr/>
          </p:nvSpPr>
          <p:spPr>
            <a:xfrm>
              <a:off x="5749252" y="5068252"/>
              <a:ext cx="179146"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 2</a:t>
              </a:r>
            </a:p>
          </p:txBody>
        </p:sp>
        <p:sp>
          <p:nvSpPr>
            <p:cNvPr id="62" name="Rectangle 62"/>
            <p:cNvSpPr/>
            <p:nvPr/>
          </p:nvSpPr>
          <p:spPr>
            <a:xfrm>
              <a:off x="6134100" y="5048250"/>
              <a:ext cx="876300" cy="381000"/>
            </a:xfrm>
            <a:prstGeom prst="rect">
              <a:avLst/>
            </a:prstGeom>
            <a:solidFill>
              <a:srgbClr val="FFFFFF"/>
            </a:solidFill>
            <a:ln w="15240">
              <a:solidFill>
                <a:srgbClr val="334E68"/>
              </a:solidFill>
            </a:ln>
          </p:spPr>
        </p:sp>
        <p:sp>
          <p:nvSpPr>
            <p:cNvPr id="63" name="TextBox 63"/>
            <p:cNvSpPr txBox="1"/>
            <p:nvPr/>
          </p:nvSpPr>
          <p:spPr>
            <a:xfrm>
              <a:off x="6484772" y="5173028"/>
              <a:ext cx="174955" cy="205359"/>
            </a:xfrm>
            <a:prstGeom prst="rect">
              <a:avLst/>
            </a:prstGeom>
            <a:noFill/>
            <a:ln>
              <a:noFill/>
            </a:ln>
          </p:spPr>
          <p:txBody>
            <a:bodyPr wrap="none" lIns="0" tIns="0" rIns="0" bIns="0" anchor="t" anchorCtr="0">
              <a:spAutoFit/>
            </a:bodyPr>
            <a:lstStyle/>
            <a:p>
              <a:pPr algn="ctr"/>
              <a:r>
                <a:rPr lang="en-US" sz="1050" dirty="0">
                  <a:solidFill>
                    <a:srgbClr val="1F2937"/>
                  </a:solidFill>
                  <a:latin typeface="+mn-lt"/>
                  <a:ea typeface="+mn-ea"/>
                  <a:cs typeface="+mn-cs"/>
                </a:rPr>
                <a:t>A2</a:t>
              </a:r>
            </a:p>
          </p:txBody>
        </p:sp>
        <p:sp>
          <p:nvSpPr>
            <p:cNvPr id="64" name="Line 64"/>
            <p:cNvSpPr/>
            <p:nvPr/>
          </p:nvSpPr>
          <p:spPr>
            <a:xfrm>
              <a:off x="5543550" y="5810250"/>
              <a:ext cx="590550" cy="9525"/>
            </a:xfrm>
            <a:custGeom>
              <a:avLst/>
              <a:gdLst/>
              <a:ahLst/>
              <a:cxnLst/>
              <a:rect l="l" t="t" r="r" b="b"/>
              <a:pathLst>
                <a:path w="590550" h="9525">
                  <a:moveTo>
                    <a:pt x="0" y="0"/>
                  </a:moveTo>
                  <a:lnTo>
                    <a:pt x="590550" y="0"/>
                  </a:lnTo>
                </a:path>
              </a:pathLst>
            </a:custGeom>
            <a:noFill/>
            <a:ln w="15240">
              <a:solidFill>
                <a:srgbClr val="334E68"/>
              </a:solidFill>
            </a:ln>
          </p:spPr>
        </p:sp>
        <p:sp>
          <p:nvSpPr>
            <p:cNvPr id="65" name="TextBox 65"/>
            <p:cNvSpPr txBox="1"/>
            <p:nvPr/>
          </p:nvSpPr>
          <p:spPr>
            <a:xfrm>
              <a:off x="5749252" y="5639752"/>
              <a:ext cx="179146" cy="176212"/>
            </a:xfrm>
            <a:prstGeom prst="rect">
              <a:avLst/>
            </a:prstGeom>
            <a:noFill/>
            <a:ln>
              <a:noFill/>
            </a:ln>
          </p:spPr>
          <p:txBody>
            <a:bodyPr wrap="none" lIns="0" tIns="0" rIns="0" bIns="0" anchor="t" anchorCtr="0">
              <a:spAutoFit/>
            </a:bodyPr>
            <a:lstStyle/>
            <a:p>
              <a:pPr algn="ctr"/>
              <a:r>
                <a:rPr lang="en-US" sz="900" dirty="0">
                  <a:solidFill>
                    <a:srgbClr val="5B6475"/>
                  </a:solidFill>
                  <a:latin typeface="+mn-lt"/>
                  <a:ea typeface="+mn-ea"/>
                  <a:cs typeface="+mn-cs"/>
                </a:rPr>
                <a:t>= n</a:t>
              </a:r>
            </a:p>
          </p:txBody>
        </p:sp>
        <p:sp>
          <p:nvSpPr>
            <p:cNvPr id="66" name="Rectangle 66"/>
            <p:cNvSpPr/>
            <p:nvPr/>
          </p:nvSpPr>
          <p:spPr>
            <a:xfrm>
              <a:off x="6134100" y="5619750"/>
              <a:ext cx="876300" cy="381000"/>
            </a:xfrm>
            <a:prstGeom prst="rect">
              <a:avLst/>
            </a:prstGeom>
            <a:solidFill>
              <a:srgbClr val="FFFFFF"/>
            </a:solidFill>
            <a:ln w="15240">
              <a:solidFill>
                <a:srgbClr val="334E68"/>
              </a:solidFill>
            </a:ln>
          </p:spPr>
        </p:sp>
        <p:sp>
          <p:nvSpPr>
            <p:cNvPr id="67" name="TextBox 67"/>
            <p:cNvSpPr txBox="1"/>
            <p:nvPr/>
          </p:nvSpPr>
          <p:spPr>
            <a:xfrm>
              <a:off x="6486973" y="5744528"/>
              <a:ext cx="170555" cy="205359"/>
            </a:xfrm>
            <a:prstGeom prst="rect">
              <a:avLst/>
            </a:prstGeom>
            <a:noFill/>
            <a:ln>
              <a:noFill/>
            </a:ln>
          </p:spPr>
          <p:txBody>
            <a:bodyPr wrap="none" lIns="0" tIns="0" rIns="0" bIns="0" anchor="t" anchorCtr="0">
              <a:spAutoFit/>
            </a:bodyPr>
            <a:lstStyle/>
            <a:p>
              <a:pPr algn="ctr"/>
              <a:r>
                <a:rPr lang="en-US" sz="1050" dirty="0">
                  <a:solidFill>
                    <a:srgbClr val="1F2937"/>
                  </a:solidFill>
                  <a:latin typeface="+mn-lt"/>
                  <a:ea typeface="+mn-ea"/>
                  <a:cs typeface="+mn-cs"/>
                </a:rPr>
                <a:t>An</a:t>
              </a:r>
            </a:p>
          </p:txBody>
        </p:sp>
      </p:grpSp>
      <p:grpSp>
        <p:nvGrpSpPr>
          <p:cNvPr id="81" name="pad5"/>
          <p:cNvGrpSpPr/>
          <p:nvPr/>
        </p:nvGrpSpPr>
        <p:grpSpPr>
          <a:xfrm>
            <a:off x="8077200" y="3981450"/>
            <a:ext cx="3581400" cy="2324100"/>
            <a:chOff x="8077200" y="3981450"/>
            <a:chExt cx="3581400" cy="2324100"/>
          </a:xfrm>
        </p:grpSpPr>
        <p:sp>
          <p:nvSpPr>
            <p:cNvPr id="69" name="Rectangle 69"/>
            <p:cNvSpPr/>
            <p:nvPr/>
          </p:nvSpPr>
          <p:spPr>
            <a:xfrm>
              <a:off x="8077200" y="3981450"/>
              <a:ext cx="3581400" cy="2324100"/>
            </a:xfrm>
            <a:prstGeom prst="roundRect">
              <a:avLst>
                <a:gd name="adj" fmla="val 4098"/>
              </a:avLst>
            </a:prstGeom>
            <a:solidFill>
              <a:srgbClr val="F4F6FB"/>
            </a:solidFill>
            <a:ln w="11430">
              <a:solidFill>
                <a:srgbClr val="D9DFEA"/>
              </a:solidFill>
            </a:ln>
          </p:spPr>
        </p:sp>
        <p:sp>
          <p:nvSpPr>
            <p:cNvPr id="70" name="TextBox 70"/>
            <p:cNvSpPr txBox="1"/>
            <p:nvPr/>
          </p:nvSpPr>
          <p:spPr>
            <a:xfrm>
              <a:off x="8223504" y="4099560"/>
              <a:ext cx="2054154"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⑥ 扩充：FOR 型与 def 定义</a:t>
              </a:r>
            </a:p>
          </p:txBody>
        </p:sp>
        <p:sp>
          <p:nvSpPr>
            <p:cNvPr id="71" name="Line 71"/>
            <p:cNvSpPr/>
            <p:nvPr/>
          </p:nvSpPr>
          <p:spPr>
            <a:xfrm>
              <a:off x="8401050" y="4495800"/>
              <a:ext cx="9525" cy="742950"/>
            </a:xfrm>
            <a:custGeom>
              <a:avLst/>
              <a:gdLst/>
              <a:ahLst/>
              <a:cxnLst/>
              <a:rect l="l" t="t" r="r" b="b"/>
              <a:pathLst>
                <a:path w="9525" h="742950">
                  <a:moveTo>
                    <a:pt x="0" y="0"/>
                  </a:moveTo>
                  <a:lnTo>
                    <a:pt x="0" y="742950"/>
                  </a:lnTo>
                </a:path>
              </a:pathLst>
            </a:custGeom>
            <a:noFill/>
            <a:ln w="20955">
              <a:solidFill>
                <a:srgbClr val="334E68"/>
              </a:solidFill>
            </a:ln>
          </p:spPr>
        </p:sp>
        <p:sp>
          <p:nvSpPr>
            <p:cNvPr id="72" name="Rectangle 72"/>
            <p:cNvSpPr/>
            <p:nvPr/>
          </p:nvSpPr>
          <p:spPr>
            <a:xfrm>
              <a:off x="8401050" y="4629150"/>
              <a:ext cx="1428750" cy="419100"/>
            </a:xfrm>
            <a:prstGeom prst="rect">
              <a:avLst/>
            </a:prstGeom>
            <a:solidFill>
              <a:srgbClr val="FFFFFF"/>
            </a:solidFill>
            <a:ln w="15240">
              <a:solidFill>
                <a:srgbClr val="334E68"/>
              </a:solidFill>
            </a:ln>
          </p:spPr>
        </p:sp>
        <p:sp>
          <p:nvSpPr>
            <p:cNvPr id="73" name="Line 73"/>
            <p:cNvSpPr/>
            <p:nvPr/>
          </p:nvSpPr>
          <p:spPr>
            <a:xfrm>
              <a:off x="9696450" y="4629150"/>
              <a:ext cx="9525" cy="419100"/>
            </a:xfrm>
            <a:custGeom>
              <a:avLst/>
              <a:gdLst/>
              <a:ahLst/>
              <a:cxnLst/>
              <a:rect l="l" t="t" r="r" b="b"/>
              <a:pathLst>
                <a:path w="9525" h="419100">
                  <a:moveTo>
                    <a:pt x="0" y="0"/>
                  </a:moveTo>
                  <a:lnTo>
                    <a:pt x="0" y="419100"/>
                  </a:lnTo>
                </a:path>
              </a:pathLst>
            </a:custGeom>
            <a:noFill/>
            <a:ln w="15240">
              <a:solidFill>
                <a:srgbClr val="334E68"/>
              </a:solidFill>
            </a:ln>
          </p:spPr>
        </p:sp>
        <p:sp>
          <p:nvSpPr>
            <p:cNvPr id="74" name="TextBox 74"/>
            <p:cNvSpPr txBox="1"/>
            <p:nvPr/>
          </p:nvSpPr>
          <p:spPr>
            <a:xfrm>
              <a:off x="8597057" y="4778216"/>
              <a:ext cx="903386" cy="190690"/>
            </a:xfrm>
            <a:prstGeom prst="rect">
              <a:avLst/>
            </a:prstGeom>
            <a:noFill/>
            <a:ln>
              <a:noFill/>
            </a:ln>
          </p:spPr>
          <p:txBody>
            <a:bodyPr wrap="none" lIns="0" tIns="0" rIns="0" bIns="0" anchor="t" anchorCtr="0">
              <a:spAutoFit/>
            </a:bodyPr>
            <a:lstStyle/>
            <a:p>
              <a:pPr algn="ctr"/>
              <a:r>
                <a:rPr lang="en-US" sz="980" b="1" dirty="0">
                  <a:solidFill>
                    <a:srgbClr val="C2410C"/>
                  </a:solidFill>
                  <a:latin typeface="+mn-lt"/>
                  <a:ea typeface="+mn-ea"/>
                  <a:cs typeface="+mn-cs"/>
                </a:rPr>
                <a:t>i = n1, n2, n3</a:t>
              </a:r>
            </a:p>
          </p:txBody>
        </p:sp>
        <p:sp>
          <p:nvSpPr>
            <p:cNvPr id="75" name="Line 75"/>
            <p:cNvSpPr/>
            <p:nvPr/>
          </p:nvSpPr>
          <p:spPr>
            <a:xfrm>
              <a:off x="9829800" y="4838700"/>
              <a:ext cx="342900" cy="9525"/>
            </a:xfrm>
            <a:custGeom>
              <a:avLst/>
              <a:gdLst/>
              <a:ahLst/>
              <a:cxnLst/>
              <a:rect l="l" t="t" r="r" b="b"/>
              <a:pathLst>
                <a:path w="342900" h="9525">
                  <a:moveTo>
                    <a:pt x="0" y="0"/>
                  </a:moveTo>
                  <a:lnTo>
                    <a:pt x="342900" y="0"/>
                  </a:lnTo>
                </a:path>
              </a:pathLst>
            </a:custGeom>
            <a:noFill/>
            <a:ln w="15240">
              <a:solidFill>
                <a:srgbClr val="334E68"/>
              </a:solidFill>
            </a:ln>
          </p:spPr>
        </p:sp>
        <p:sp>
          <p:nvSpPr>
            <p:cNvPr id="76" name="Rectangle 76"/>
            <p:cNvSpPr/>
            <p:nvPr/>
          </p:nvSpPr>
          <p:spPr>
            <a:xfrm>
              <a:off x="10172700" y="4629150"/>
              <a:ext cx="876300" cy="419100"/>
            </a:xfrm>
            <a:prstGeom prst="rect">
              <a:avLst/>
            </a:prstGeom>
            <a:solidFill>
              <a:srgbClr val="FFFFFF"/>
            </a:solidFill>
            <a:ln w="15240">
              <a:solidFill>
                <a:srgbClr val="334E68"/>
              </a:solidFill>
            </a:ln>
          </p:spPr>
        </p:sp>
        <p:sp>
          <p:nvSpPr>
            <p:cNvPr id="77" name="TextBox 77"/>
            <p:cNvSpPr txBox="1"/>
            <p:nvPr/>
          </p:nvSpPr>
          <p:spPr>
            <a:xfrm>
              <a:off x="10561325" y="4768691"/>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S</a:t>
              </a:r>
            </a:p>
          </p:txBody>
        </p:sp>
        <p:sp>
          <p:nvSpPr>
            <p:cNvPr id="78" name="TextBox 78"/>
            <p:cNvSpPr txBox="1"/>
            <p:nvPr/>
          </p:nvSpPr>
          <p:spPr>
            <a:xfrm>
              <a:off x="8224647" y="5381149"/>
              <a:ext cx="1905930"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FOR 型：i 从 n1 到 n2，步长 n3</a:t>
              </a:r>
            </a:p>
          </p:txBody>
        </p:sp>
        <p:sp>
          <p:nvSpPr>
            <p:cNvPr id="79" name="TextBox 79"/>
            <p:cNvSpPr txBox="1"/>
            <p:nvPr/>
          </p:nvSpPr>
          <p:spPr>
            <a:xfrm>
              <a:off x="8224647" y="5628799"/>
              <a:ext cx="283253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def 格式：用 NAME A 单独定义一张 PAD 子图，</a:t>
              </a:r>
            </a:p>
          </p:txBody>
        </p:sp>
        <p:sp>
          <p:nvSpPr>
            <p:cNvPr id="80" name="TextBox 80"/>
            <p:cNvSpPr txBox="1"/>
            <p:nvPr/>
          </p:nvSpPr>
          <p:spPr>
            <a:xfrm>
              <a:off x="8224647" y="5838349"/>
              <a:ext cx="278934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主图里写一个 NAME A 框就是调用它（可递归）</a:t>
              </a:r>
            </a:p>
          </p:txBody>
        </p:sp>
      </p:grpSp>
      <p:grpSp>
        <p:nvGrpSpPr>
          <p:cNvPr id="84" name="footer"/>
          <p:cNvGrpSpPr/>
          <p:nvPr/>
        </p:nvGrpSpPr>
        <p:grpSpPr>
          <a:xfrm>
            <a:off x="528447" y="6581299"/>
            <a:ext cx="11135106" cy="190690"/>
            <a:chOff x="528447" y="6581299"/>
            <a:chExt cx="11135106" cy="190690"/>
          </a:xfrm>
        </p:grpSpPr>
        <p:sp>
          <p:nvSpPr>
            <p:cNvPr id="82" name="TextBox 82"/>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83" name="TextBox 8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058278" cy="909257"/>
            <a:chOff x="520446" y="342900"/>
            <a:chExt cx="5058278"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过程设计技术和工具</a:t>
              </a:r>
            </a:p>
          </p:txBody>
        </p:sp>
        <p:sp>
          <p:nvSpPr>
            <p:cNvPr id="4" name="TextBox 4"/>
            <p:cNvSpPr txBox="1"/>
            <p:nvPr/>
          </p:nvSpPr>
          <p:spPr>
            <a:xfrm>
              <a:off x="520446" y="753428"/>
              <a:ext cx="505827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PAD 示例：同一段程序的 PAD 图</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63" name="padex"/>
          <p:cNvGrpSpPr/>
          <p:nvPr/>
        </p:nvGrpSpPr>
        <p:grpSpPr>
          <a:xfrm>
            <a:off x="704850" y="1676400"/>
            <a:ext cx="8515350" cy="4248150"/>
            <a:chOff x="704850" y="1676400"/>
            <a:chExt cx="8515350" cy="4248150"/>
          </a:xfrm>
        </p:grpSpPr>
        <p:sp>
          <p:nvSpPr>
            <p:cNvPr id="7" name="Line 7"/>
            <p:cNvSpPr/>
            <p:nvPr/>
          </p:nvSpPr>
          <p:spPr>
            <a:xfrm>
              <a:off x="704850" y="1676400"/>
              <a:ext cx="9525" cy="4229100"/>
            </a:xfrm>
            <a:custGeom>
              <a:avLst/>
              <a:gdLst/>
              <a:ahLst/>
              <a:cxnLst/>
              <a:rect l="l" t="t" r="r" b="b"/>
              <a:pathLst>
                <a:path w="9525" h="4229100">
                  <a:moveTo>
                    <a:pt x="0" y="0"/>
                  </a:moveTo>
                  <a:lnTo>
                    <a:pt x="0" y="4229100"/>
                  </a:lnTo>
                </a:path>
              </a:pathLst>
            </a:custGeom>
            <a:noFill/>
            <a:ln w="20955">
              <a:solidFill>
                <a:srgbClr val="334E68"/>
              </a:solidFill>
            </a:ln>
          </p:spPr>
        </p:sp>
        <p:sp>
          <p:nvSpPr>
            <p:cNvPr id="8" name="Rectangle 8"/>
            <p:cNvSpPr/>
            <p:nvPr/>
          </p:nvSpPr>
          <p:spPr>
            <a:xfrm>
              <a:off x="704850" y="1733550"/>
              <a:ext cx="1428750" cy="381000"/>
            </a:xfrm>
            <a:prstGeom prst="rect">
              <a:avLst/>
            </a:prstGeom>
            <a:solidFill>
              <a:srgbClr val="FFFFFF"/>
            </a:solidFill>
            <a:ln w="15240">
              <a:solidFill>
                <a:srgbClr val="334E68"/>
              </a:solidFill>
            </a:ln>
          </p:spPr>
        </p:sp>
        <p:sp>
          <p:nvSpPr>
            <p:cNvPr id="9" name="TextBox 9"/>
            <p:cNvSpPr txBox="1"/>
            <p:nvPr/>
          </p:nvSpPr>
          <p:spPr>
            <a:xfrm>
              <a:off x="1369974" y="1854041"/>
              <a:ext cx="98502"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a</a:t>
              </a:r>
            </a:p>
          </p:txBody>
        </p:sp>
        <p:sp>
          <p:nvSpPr>
            <p:cNvPr id="10" name="Rectangle 10"/>
            <p:cNvSpPr/>
            <p:nvPr/>
          </p:nvSpPr>
          <p:spPr>
            <a:xfrm>
              <a:off x="704850" y="2343150"/>
              <a:ext cx="1600200" cy="419100"/>
            </a:xfrm>
            <a:prstGeom prst="rect">
              <a:avLst/>
            </a:prstGeom>
            <a:solidFill>
              <a:srgbClr val="FFFFFF"/>
            </a:solidFill>
            <a:ln w="15240">
              <a:solidFill>
                <a:srgbClr val="334E68"/>
              </a:solidFill>
            </a:ln>
          </p:spPr>
        </p:sp>
        <p:sp>
          <p:nvSpPr>
            <p:cNvPr id="11" name="Line 11"/>
            <p:cNvSpPr/>
            <p:nvPr/>
          </p:nvSpPr>
          <p:spPr>
            <a:xfrm>
              <a:off x="2171700" y="2343150"/>
              <a:ext cx="9525" cy="419100"/>
            </a:xfrm>
            <a:custGeom>
              <a:avLst/>
              <a:gdLst/>
              <a:ahLst/>
              <a:cxnLst/>
              <a:rect l="l" t="t" r="r" b="b"/>
              <a:pathLst>
                <a:path w="9525" h="419100">
                  <a:moveTo>
                    <a:pt x="0" y="0"/>
                  </a:moveTo>
                  <a:lnTo>
                    <a:pt x="0" y="419100"/>
                  </a:lnTo>
                </a:path>
              </a:pathLst>
            </a:custGeom>
            <a:noFill/>
            <a:ln w="15240">
              <a:solidFill>
                <a:srgbClr val="334E68"/>
              </a:solidFill>
            </a:ln>
          </p:spPr>
        </p:sp>
        <p:sp>
          <p:nvSpPr>
            <p:cNvPr id="12" name="TextBox 12"/>
            <p:cNvSpPr txBox="1"/>
            <p:nvPr/>
          </p:nvSpPr>
          <p:spPr>
            <a:xfrm>
              <a:off x="1127143" y="2486978"/>
              <a:ext cx="622264" cy="205359"/>
            </a:xfrm>
            <a:prstGeom prst="rect">
              <a:avLst/>
            </a:prstGeom>
            <a:noFill/>
            <a:ln>
              <a:noFill/>
            </a:ln>
          </p:spPr>
          <p:txBody>
            <a:bodyPr wrap="none" lIns="0" tIns="0" rIns="0" bIns="0" anchor="t" anchorCtr="0">
              <a:spAutoFit/>
            </a:bodyPr>
            <a:lstStyle/>
            <a:p>
              <a:pPr algn="ctr"/>
              <a:r>
                <a:rPr lang="en-US" sz="1050" b="1" dirty="0">
                  <a:solidFill>
                    <a:srgbClr val="C2410C"/>
                  </a:solidFill>
                  <a:latin typeface="+mn-lt"/>
                  <a:ea typeface="+mn-ea"/>
                  <a:cs typeface="+mn-cs"/>
                </a:rPr>
                <a:t>UNTIL X6</a:t>
              </a:r>
            </a:p>
          </p:txBody>
        </p:sp>
        <p:sp>
          <p:nvSpPr>
            <p:cNvPr id="13" name="Rectangle 13"/>
            <p:cNvSpPr/>
            <p:nvPr/>
          </p:nvSpPr>
          <p:spPr>
            <a:xfrm>
              <a:off x="704850" y="5486400"/>
              <a:ext cx="1428750" cy="381000"/>
            </a:xfrm>
            <a:prstGeom prst="rect">
              <a:avLst/>
            </a:prstGeom>
            <a:solidFill>
              <a:srgbClr val="FFFFFF"/>
            </a:solidFill>
            <a:ln w="15240">
              <a:solidFill>
                <a:srgbClr val="334E68"/>
              </a:solidFill>
            </a:ln>
          </p:spPr>
        </p:sp>
        <p:sp>
          <p:nvSpPr>
            <p:cNvPr id="14" name="TextBox 14"/>
            <p:cNvSpPr txBox="1"/>
            <p:nvPr/>
          </p:nvSpPr>
          <p:spPr>
            <a:xfrm>
              <a:off x="1389763" y="5606891"/>
              <a:ext cx="58924"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j</a:t>
              </a:r>
            </a:p>
          </p:txBody>
        </p:sp>
        <p:sp>
          <p:nvSpPr>
            <p:cNvPr id="15" name="Line 15"/>
            <p:cNvSpPr/>
            <p:nvPr/>
          </p:nvSpPr>
          <p:spPr>
            <a:xfrm>
              <a:off x="2305050" y="2552700"/>
              <a:ext cx="247650" cy="9525"/>
            </a:xfrm>
            <a:custGeom>
              <a:avLst/>
              <a:gdLst/>
              <a:ahLst/>
              <a:cxnLst/>
              <a:rect l="l" t="t" r="r" b="b"/>
              <a:pathLst>
                <a:path w="247650" h="9525">
                  <a:moveTo>
                    <a:pt x="0" y="0"/>
                  </a:moveTo>
                  <a:lnTo>
                    <a:pt x="247650" y="0"/>
                  </a:lnTo>
                </a:path>
              </a:pathLst>
            </a:custGeom>
            <a:noFill/>
            <a:ln w="15240">
              <a:solidFill>
                <a:srgbClr val="334E68"/>
              </a:solidFill>
            </a:ln>
          </p:spPr>
        </p:sp>
        <p:sp>
          <p:nvSpPr>
            <p:cNvPr id="16" name="Line 16"/>
            <p:cNvSpPr/>
            <p:nvPr/>
          </p:nvSpPr>
          <p:spPr>
            <a:xfrm>
              <a:off x="2552700" y="1771650"/>
              <a:ext cx="9525" cy="3181350"/>
            </a:xfrm>
            <a:custGeom>
              <a:avLst/>
              <a:gdLst/>
              <a:ahLst/>
              <a:cxnLst/>
              <a:rect l="l" t="t" r="r" b="b"/>
              <a:pathLst>
                <a:path w="9525" h="3181350">
                  <a:moveTo>
                    <a:pt x="0" y="0"/>
                  </a:moveTo>
                  <a:lnTo>
                    <a:pt x="0" y="3181350"/>
                  </a:lnTo>
                </a:path>
              </a:pathLst>
            </a:custGeom>
            <a:noFill/>
            <a:ln w="20955">
              <a:solidFill>
                <a:srgbClr val="334E68"/>
              </a:solidFill>
            </a:ln>
          </p:spPr>
        </p:sp>
        <p:sp>
          <p:nvSpPr>
            <p:cNvPr id="17" name="Rectangle 17"/>
            <p:cNvSpPr/>
            <p:nvPr/>
          </p:nvSpPr>
          <p:spPr>
            <a:xfrm>
              <a:off x="2552700" y="1828800"/>
              <a:ext cx="1428750" cy="381000"/>
            </a:xfrm>
            <a:prstGeom prst="rect">
              <a:avLst/>
            </a:prstGeom>
            <a:solidFill>
              <a:srgbClr val="FFFFFF"/>
            </a:solidFill>
            <a:ln w="15240">
              <a:solidFill>
                <a:srgbClr val="334E68"/>
              </a:solidFill>
            </a:ln>
          </p:spPr>
        </p:sp>
        <p:sp>
          <p:nvSpPr>
            <p:cNvPr id="18" name="TextBox 18"/>
            <p:cNvSpPr txBox="1"/>
            <p:nvPr/>
          </p:nvSpPr>
          <p:spPr>
            <a:xfrm>
              <a:off x="3219897" y="1949291"/>
              <a:ext cx="94356"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b</a:t>
              </a:r>
            </a:p>
          </p:txBody>
        </p:sp>
        <p:sp>
          <p:nvSpPr>
            <p:cNvPr id="19" name="Polygon 19"/>
            <p:cNvSpPr/>
            <p:nvPr/>
          </p:nvSpPr>
          <p:spPr>
            <a:xfrm>
              <a:off x="2552700" y="2647950"/>
              <a:ext cx="1047750" cy="1657350"/>
            </a:xfrm>
            <a:custGeom>
              <a:avLst/>
              <a:gdLst/>
              <a:ahLst/>
              <a:cxnLst/>
              <a:rect l="l" t="t" r="r" b="b"/>
              <a:pathLst>
                <a:path w="1047750" h="1657350">
                  <a:moveTo>
                    <a:pt x="0" y="0"/>
                  </a:moveTo>
                  <a:lnTo>
                    <a:pt x="1047750" y="0"/>
                  </a:lnTo>
                  <a:lnTo>
                    <a:pt x="895350" y="828675"/>
                  </a:lnTo>
                  <a:lnTo>
                    <a:pt x="1047750" y="1657350"/>
                  </a:lnTo>
                  <a:lnTo>
                    <a:pt x="0" y="1657350"/>
                  </a:lnTo>
                  <a:close/>
                </a:path>
              </a:pathLst>
            </a:custGeom>
            <a:solidFill>
              <a:srgbClr val="FFFFFF"/>
            </a:solidFill>
            <a:ln w="15240">
              <a:solidFill>
                <a:srgbClr val="334E68"/>
              </a:solidFill>
            </a:ln>
          </p:spPr>
        </p:sp>
        <p:sp>
          <p:nvSpPr>
            <p:cNvPr id="20" name="TextBox 20"/>
            <p:cNvSpPr txBox="1"/>
            <p:nvPr/>
          </p:nvSpPr>
          <p:spPr>
            <a:xfrm>
              <a:off x="2702634" y="3406616"/>
              <a:ext cx="195432" cy="220028"/>
            </a:xfrm>
            <a:prstGeom prst="rect">
              <a:avLst/>
            </a:prstGeom>
            <a:noFill/>
            <a:ln>
              <a:noFill/>
            </a:ln>
          </p:spPr>
          <p:txBody>
            <a:bodyPr wrap="none" lIns="0" tIns="0" rIns="0" bIns="0" anchor="t" anchorCtr="0">
              <a:spAutoFit/>
            </a:bodyPr>
            <a:lstStyle/>
            <a:p>
              <a:pPr algn="ctr"/>
              <a:r>
                <a:rPr lang="en-US" sz="1120" b="1" dirty="0">
                  <a:solidFill>
                    <a:srgbClr val="C2410C"/>
                  </a:solidFill>
                  <a:latin typeface="+mn-lt"/>
                  <a:ea typeface="+mn-ea"/>
                  <a:cs typeface="+mn-cs"/>
                </a:rPr>
                <a:t>X1</a:t>
              </a:r>
            </a:p>
          </p:txBody>
        </p:sp>
        <p:sp>
          <p:nvSpPr>
            <p:cNvPr id="21" name="Line 21"/>
            <p:cNvSpPr/>
            <p:nvPr/>
          </p:nvSpPr>
          <p:spPr>
            <a:xfrm>
              <a:off x="3600450" y="2857500"/>
              <a:ext cx="876300" cy="9525"/>
            </a:xfrm>
            <a:custGeom>
              <a:avLst/>
              <a:gdLst/>
              <a:ahLst/>
              <a:cxnLst/>
              <a:rect l="l" t="t" r="r" b="b"/>
              <a:pathLst>
                <a:path w="876300" h="9525">
                  <a:moveTo>
                    <a:pt x="0" y="0"/>
                  </a:moveTo>
                  <a:lnTo>
                    <a:pt x="876300" y="0"/>
                  </a:lnTo>
                </a:path>
              </a:pathLst>
            </a:custGeom>
            <a:noFill/>
            <a:ln w="15240">
              <a:solidFill>
                <a:srgbClr val="334E68"/>
              </a:solidFill>
            </a:ln>
          </p:spPr>
        </p:sp>
        <p:sp>
          <p:nvSpPr>
            <p:cNvPr id="22" name="Line 22"/>
            <p:cNvSpPr/>
            <p:nvPr/>
          </p:nvSpPr>
          <p:spPr>
            <a:xfrm>
              <a:off x="3600450" y="4095750"/>
              <a:ext cx="876300" cy="9525"/>
            </a:xfrm>
            <a:custGeom>
              <a:avLst/>
              <a:gdLst/>
              <a:ahLst/>
              <a:cxnLst/>
              <a:rect l="l" t="t" r="r" b="b"/>
              <a:pathLst>
                <a:path w="876300" h="9525">
                  <a:moveTo>
                    <a:pt x="0" y="0"/>
                  </a:moveTo>
                  <a:lnTo>
                    <a:pt x="876300" y="0"/>
                  </a:lnTo>
                </a:path>
              </a:pathLst>
            </a:custGeom>
            <a:noFill/>
            <a:ln w="15240">
              <a:solidFill>
                <a:srgbClr val="334E68"/>
              </a:solidFill>
            </a:ln>
          </p:spPr>
        </p:sp>
        <p:sp>
          <p:nvSpPr>
            <p:cNvPr id="23" name="TextBox 23"/>
            <p:cNvSpPr txBox="1"/>
            <p:nvPr/>
          </p:nvSpPr>
          <p:spPr>
            <a:xfrm>
              <a:off x="3844473" y="2706052"/>
              <a:ext cx="83454" cy="176212"/>
            </a:xfrm>
            <a:prstGeom prst="rect">
              <a:avLst/>
            </a:prstGeom>
            <a:noFill/>
            <a:ln>
              <a:noFill/>
            </a:ln>
          </p:spPr>
          <p:txBody>
            <a:bodyPr wrap="none" lIns="0" tIns="0" rIns="0" bIns="0" anchor="t" anchorCtr="0">
              <a:spAutoFit/>
            </a:bodyPr>
            <a:lstStyle/>
            <a:p>
              <a:pPr algn="ctr"/>
              <a:r>
                <a:rPr lang="en-US" sz="900" b="1" dirty="0">
                  <a:solidFill>
                    <a:srgbClr val="5B6475"/>
                  </a:solidFill>
                  <a:latin typeface="+mn-lt"/>
                  <a:ea typeface="+mn-ea"/>
                  <a:cs typeface="+mn-cs"/>
                </a:rPr>
                <a:t>T</a:t>
              </a:r>
            </a:p>
          </p:txBody>
        </p:sp>
        <p:sp>
          <p:nvSpPr>
            <p:cNvPr id="24" name="TextBox 24"/>
            <p:cNvSpPr txBox="1"/>
            <p:nvPr/>
          </p:nvSpPr>
          <p:spPr>
            <a:xfrm>
              <a:off x="3844473" y="4172902"/>
              <a:ext cx="83454" cy="176212"/>
            </a:xfrm>
            <a:prstGeom prst="rect">
              <a:avLst/>
            </a:prstGeom>
            <a:noFill/>
            <a:ln>
              <a:noFill/>
            </a:ln>
          </p:spPr>
          <p:txBody>
            <a:bodyPr wrap="none" lIns="0" tIns="0" rIns="0" bIns="0" anchor="t" anchorCtr="0">
              <a:spAutoFit/>
            </a:bodyPr>
            <a:lstStyle/>
            <a:p>
              <a:pPr algn="ctr"/>
              <a:r>
                <a:rPr lang="en-US" sz="900" b="1" dirty="0">
                  <a:solidFill>
                    <a:srgbClr val="5B6475"/>
                  </a:solidFill>
                  <a:latin typeface="+mn-lt"/>
                  <a:ea typeface="+mn-ea"/>
                  <a:cs typeface="+mn-cs"/>
                </a:rPr>
                <a:t>F</a:t>
              </a:r>
            </a:p>
          </p:txBody>
        </p:sp>
        <p:sp>
          <p:nvSpPr>
            <p:cNvPr id="25" name="Line 25"/>
            <p:cNvSpPr/>
            <p:nvPr/>
          </p:nvSpPr>
          <p:spPr>
            <a:xfrm>
              <a:off x="4476750" y="1771650"/>
              <a:ext cx="9525" cy="4133850"/>
            </a:xfrm>
            <a:custGeom>
              <a:avLst/>
              <a:gdLst/>
              <a:ahLst/>
              <a:cxnLst/>
              <a:rect l="l" t="t" r="r" b="b"/>
              <a:pathLst>
                <a:path w="9525" h="4133850">
                  <a:moveTo>
                    <a:pt x="0" y="0"/>
                  </a:moveTo>
                  <a:lnTo>
                    <a:pt x="0" y="4133850"/>
                  </a:lnTo>
                </a:path>
              </a:pathLst>
            </a:custGeom>
            <a:noFill/>
            <a:ln w="20955">
              <a:solidFill>
                <a:srgbClr val="334E68"/>
              </a:solidFill>
            </a:ln>
          </p:spPr>
        </p:sp>
        <p:sp>
          <p:nvSpPr>
            <p:cNvPr id="26" name="Rectangle 26"/>
            <p:cNvSpPr/>
            <p:nvPr/>
          </p:nvSpPr>
          <p:spPr>
            <a:xfrm>
              <a:off x="4476750" y="1809750"/>
              <a:ext cx="1333500" cy="361950"/>
            </a:xfrm>
            <a:prstGeom prst="rect">
              <a:avLst/>
            </a:prstGeom>
            <a:solidFill>
              <a:srgbClr val="FFFFFF"/>
            </a:solidFill>
            <a:ln w="15240">
              <a:solidFill>
                <a:srgbClr val="334E68"/>
              </a:solidFill>
            </a:ln>
          </p:spPr>
        </p:sp>
        <p:sp>
          <p:nvSpPr>
            <p:cNvPr id="27" name="TextBox 27"/>
            <p:cNvSpPr txBox="1"/>
            <p:nvPr/>
          </p:nvSpPr>
          <p:spPr>
            <a:xfrm>
              <a:off x="5096322" y="1920716"/>
              <a:ext cx="94356"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28" name="Polygon 28"/>
            <p:cNvSpPr/>
            <p:nvPr/>
          </p:nvSpPr>
          <p:spPr>
            <a:xfrm>
              <a:off x="4476750" y="2171700"/>
              <a:ext cx="990600" cy="1371600"/>
            </a:xfrm>
            <a:custGeom>
              <a:avLst/>
              <a:gdLst/>
              <a:ahLst/>
              <a:cxnLst/>
              <a:rect l="l" t="t" r="r" b="b"/>
              <a:pathLst>
                <a:path w="990600" h="1371600">
                  <a:moveTo>
                    <a:pt x="0" y="0"/>
                  </a:moveTo>
                  <a:lnTo>
                    <a:pt x="990600" y="0"/>
                  </a:lnTo>
                  <a:lnTo>
                    <a:pt x="838200" y="685800"/>
                  </a:lnTo>
                  <a:lnTo>
                    <a:pt x="990600" y="1371600"/>
                  </a:lnTo>
                  <a:lnTo>
                    <a:pt x="0" y="1371600"/>
                  </a:lnTo>
                  <a:close/>
                </a:path>
              </a:pathLst>
            </a:custGeom>
            <a:solidFill>
              <a:srgbClr val="FFFFFF"/>
            </a:solidFill>
            <a:ln w="15240">
              <a:solidFill>
                <a:srgbClr val="334E68"/>
              </a:solidFill>
            </a:ln>
          </p:spPr>
        </p:sp>
        <p:sp>
          <p:nvSpPr>
            <p:cNvPr id="29" name="TextBox 29"/>
            <p:cNvSpPr txBox="1"/>
            <p:nvPr/>
          </p:nvSpPr>
          <p:spPr>
            <a:xfrm>
              <a:off x="4626684" y="2787491"/>
              <a:ext cx="195432" cy="220028"/>
            </a:xfrm>
            <a:prstGeom prst="rect">
              <a:avLst/>
            </a:prstGeom>
            <a:noFill/>
            <a:ln>
              <a:noFill/>
            </a:ln>
          </p:spPr>
          <p:txBody>
            <a:bodyPr wrap="none" lIns="0" tIns="0" rIns="0" bIns="0" anchor="t" anchorCtr="0">
              <a:spAutoFit/>
            </a:bodyPr>
            <a:lstStyle/>
            <a:p>
              <a:pPr algn="ctr"/>
              <a:r>
                <a:rPr lang="en-US" sz="1120" b="1" dirty="0">
                  <a:solidFill>
                    <a:srgbClr val="C2410C"/>
                  </a:solidFill>
                  <a:latin typeface="+mn-lt"/>
                  <a:ea typeface="+mn-ea"/>
                  <a:cs typeface="+mn-cs"/>
                </a:rPr>
                <a:t>X4</a:t>
              </a:r>
            </a:p>
          </p:txBody>
        </p:sp>
        <p:sp>
          <p:nvSpPr>
            <p:cNvPr id="30" name="Line 30"/>
            <p:cNvSpPr/>
            <p:nvPr/>
          </p:nvSpPr>
          <p:spPr>
            <a:xfrm>
              <a:off x="5467350" y="2381250"/>
              <a:ext cx="933450" cy="9525"/>
            </a:xfrm>
            <a:custGeom>
              <a:avLst/>
              <a:gdLst/>
              <a:ahLst/>
              <a:cxnLst/>
              <a:rect l="l" t="t" r="r" b="b"/>
              <a:pathLst>
                <a:path w="933450" h="9525">
                  <a:moveTo>
                    <a:pt x="0" y="0"/>
                  </a:moveTo>
                  <a:lnTo>
                    <a:pt x="933450" y="0"/>
                  </a:lnTo>
                </a:path>
              </a:pathLst>
            </a:custGeom>
            <a:noFill/>
            <a:ln w="15240">
              <a:solidFill>
                <a:srgbClr val="334E68"/>
              </a:solidFill>
            </a:ln>
          </p:spPr>
        </p:sp>
        <p:sp>
          <p:nvSpPr>
            <p:cNvPr id="31" name="Line 31"/>
            <p:cNvSpPr/>
            <p:nvPr/>
          </p:nvSpPr>
          <p:spPr>
            <a:xfrm>
              <a:off x="5467350" y="3333750"/>
              <a:ext cx="933450" cy="9525"/>
            </a:xfrm>
            <a:custGeom>
              <a:avLst/>
              <a:gdLst/>
              <a:ahLst/>
              <a:cxnLst/>
              <a:rect l="l" t="t" r="r" b="b"/>
              <a:pathLst>
                <a:path w="933450" h="9525">
                  <a:moveTo>
                    <a:pt x="0" y="0"/>
                  </a:moveTo>
                  <a:lnTo>
                    <a:pt x="933450" y="0"/>
                  </a:lnTo>
                </a:path>
              </a:pathLst>
            </a:custGeom>
            <a:noFill/>
            <a:ln w="15240">
              <a:solidFill>
                <a:srgbClr val="334E68"/>
              </a:solidFill>
            </a:ln>
          </p:spPr>
        </p:sp>
        <p:sp>
          <p:nvSpPr>
            <p:cNvPr id="32" name="TextBox 32"/>
            <p:cNvSpPr txBox="1"/>
            <p:nvPr/>
          </p:nvSpPr>
          <p:spPr>
            <a:xfrm>
              <a:off x="5673273" y="2229802"/>
              <a:ext cx="83454" cy="176212"/>
            </a:xfrm>
            <a:prstGeom prst="rect">
              <a:avLst/>
            </a:prstGeom>
            <a:noFill/>
            <a:ln>
              <a:noFill/>
            </a:ln>
          </p:spPr>
          <p:txBody>
            <a:bodyPr wrap="none" lIns="0" tIns="0" rIns="0" bIns="0" anchor="t" anchorCtr="0">
              <a:spAutoFit/>
            </a:bodyPr>
            <a:lstStyle/>
            <a:p>
              <a:pPr algn="ctr"/>
              <a:r>
                <a:rPr lang="en-US" sz="900" b="1" dirty="0">
                  <a:solidFill>
                    <a:srgbClr val="5B6475"/>
                  </a:solidFill>
                  <a:latin typeface="+mn-lt"/>
                  <a:ea typeface="+mn-ea"/>
                  <a:cs typeface="+mn-cs"/>
                </a:rPr>
                <a:t>T</a:t>
              </a:r>
            </a:p>
          </p:txBody>
        </p:sp>
        <p:sp>
          <p:nvSpPr>
            <p:cNvPr id="33" name="TextBox 33"/>
            <p:cNvSpPr txBox="1"/>
            <p:nvPr/>
          </p:nvSpPr>
          <p:spPr>
            <a:xfrm>
              <a:off x="5673273" y="3410902"/>
              <a:ext cx="83454" cy="176212"/>
            </a:xfrm>
            <a:prstGeom prst="rect">
              <a:avLst/>
            </a:prstGeom>
            <a:noFill/>
            <a:ln>
              <a:noFill/>
            </a:ln>
          </p:spPr>
          <p:txBody>
            <a:bodyPr wrap="none" lIns="0" tIns="0" rIns="0" bIns="0" anchor="t" anchorCtr="0">
              <a:spAutoFit/>
            </a:bodyPr>
            <a:lstStyle/>
            <a:p>
              <a:pPr algn="ctr"/>
              <a:r>
                <a:rPr lang="en-US" sz="900" b="1" dirty="0">
                  <a:solidFill>
                    <a:srgbClr val="5B6475"/>
                  </a:solidFill>
                  <a:latin typeface="+mn-lt"/>
                  <a:ea typeface="+mn-ea"/>
                  <a:cs typeface="+mn-cs"/>
                </a:rPr>
                <a:t>F</a:t>
              </a:r>
            </a:p>
          </p:txBody>
        </p:sp>
        <p:sp>
          <p:nvSpPr>
            <p:cNvPr id="34" name="Rectangle 34"/>
            <p:cNvSpPr/>
            <p:nvPr/>
          </p:nvSpPr>
          <p:spPr>
            <a:xfrm>
              <a:off x="6400800" y="2171700"/>
              <a:ext cx="1428750" cy="419100"/>
            </a:xfrm>
            <a:prstGeom prst="rect">
              <a:avLst/>
            </a:prstGeom>
            <a:solidFill>
              <a:srgbClr val="FFFFFF"/>
            </a:solidFill>
            <a:ln w="15240">
              <a:solidFill>
                <a:srgbClr val="334E68"/>
              </a:solidFill>
            </a:ln>
          </p:spPr>
        </p:sp>
        <p:sp>
          <p:nvSpPr>
            <p:cNvPr id="35" name="Line 35"/>
            <p:cNvSpPr/>
            <p:nvPr/>
          </p:nvSpPr>
          <p:spPr>
            <a:xfrm>
              <a:off x="7696200" y="2171700"/>
              <a:ext cx="9525" cy="419100"/>
            </a:xfrm>
            <a:custGeom>
              <a:avLst/>
              <a:gdLst/>
              <a:ahLst/>
              <a:cxnLst/>
              <a:rect l="l" t="t" r="r" b="b"/>
              <a:pathLst>
                <a:path w="9525" h="419100">
                  <a:moveTo>
                    <a:pt x="0" y="0"/>
                  </a:moveTo>
                  <a:lnTo>
                    <a:pt x="0" y="419100"/>
                  </a:lnTo>
                </a:path>
              </a:pathLst>
            </a:custGeom>
            <a:noFill/>
            <a:ln w="15240">
              <a:solidFill>
                <a:srgbClr val="334E68"/>
              </a:solidFill>
            </a:ln>
          </p:spPr>
        </p:sp>
        <p:sp>
          <p:nvSpPr>
            <p:cNvPr id="36" name="TextBox 36"/>
            <p:cNvSpPr txBox="1"/>
            <p:nvPr/>
          </p:nvSpPr>
          <p:spPr>
            <a:xfrm>
              <a:off x="6737368" y="2315528"/>
              <a:ext cx="622264" cy="205359"/>
            </a:xfrm>
            <a:prstGeom prst="rect">
              <a:avLst/>
            </a:prstGeom>
            <a:noFill/>
            <a:ln>
              <a:noFill/>
            </a:ln>
          </p:spPr>
          <p:txBody>
            <a:bodyPr wrap="none" lIns="0" tIns="0" rIns="0" bIns="0" anchor="t" anchorCtr="0">
              <a:spAutoFit/>
            </a:bodyPr>
            <a:lstStyle/>
            <a:p>
              <a:pPr algn="ctr"/>
              <a:r>
                <a:rPr lang="en-US" sz="1050" b="1" dirty="0">
                  <a:solidFill>
                    <a:srgbClr val="C2410C"/>
                  </a:solidFill>
                  <a:latin typeface="+mn-lt"/>
                  <a:ea typeface="+mn-ea"/>
                  <a:cs typeface="+mn-cs"/>
                </a:rPr>
                <a:t>UNTIL X5</a:t>
              </a:r>
            </a:p>
          </p:txBody>
        </p:sp>
        <p:sp>
          <p:nvSpPr>
            <p:cNvPr id="37" name="Line 37"/>
            <p:cNvSpPr/>
            <p:nvPr/>
          </p:nvSpPr>
          <p:spPr>
            <a:xfrm>
              <a:off x="7829550" y="2381250"/>
              <a:ext cx="342900" cy="9525"/>
            </a:xfrm>
            <a:custGeom>
              <a:avLst/>
              <a:gdLst/>
              <a:ahLst/>
              <a:cxnLst/>
              <a:rect l="l" t="t" r="r" b="b"/>
              <a:pathLst>
                <a:path w="342900" h="9525">
                  <a:moveTo>
                    <a:pt x="0" y="0"/>
                  </a:moveTo>
                  <a:lnTo>
                    <a:pt x="342900" y="0"/>
                  </a:lnTo>
                </a:path>
              </a:pathLst>
            </a:custGeom>
            <a:noFill/>
            <a:ln w="15240">
              <a:solidFill>
                <a:srgbClr val="334E68"/>
              </a:solidFill>
            </a:ln>
          </p:spPr>
        </p:sp>
        <p:sp>
          <p:nvSpPr>
            <p:cNvPr id="38" name="Rectangle 38"/>
            <p:cNvSpPr/>
            <p:nvPr/>
          </p:nvSpPr>
          <p:spPr>
            <a:xfrm>
              <a:off x="8172450" y="2190750"/>
              <a:ext cx="1047750" cy="381000"/>
            </a:xfrm>
            <a:prstGeom prst="rect">
              <a:avLst/>
            </a:prstGeom>
            <a:solidFill>
              <a:srgbClr val="FFFFFF"/>
            </a:solidFill>
            <a:ln w="15240">
              <a:solidFill>
                <a:srgbClr val="334E68"/>
              </a:solidFill>
            </a:ln>
          </p:spPr>
        </p:sp>
        <p:sp>
          <p:nvSpPr>
            <p:cNvPr id="39" name="TextBox 39"/>
            <p:cNvSpPr txBox="1"/>
            <p:nvPr/>
          </p:nvSpPr>
          <p:spPr>
            <a:xfrm>
              <a:off x="8667994" y="2311241"/>
              <a:ext cx="56662"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i</a:t>
              </a:r>
            </a:p>
          </p:txBody>
        </p:sp>
        <p:sp>
          <p:nvSpPr>
            <p:cNvPr id="40" name="Rectangle 40"/>
            <p:cNvSpPr/>
            <p:nvPr/>
          </p:nvSpPr>
          <p:spPr>
            <a:xfrm>
              <a:off x="6400800" y="3143250"/>
              <a:ext cx="1333500" cy="381000"/>
            </a:xfrm>
            <a:prstGeom prst="rect">
              <a:avLst/>
            </a:prstGeom>
            <a:solidFill>
              <a:srgbClr val="FFFFFF"/>
            </a:solidFill>
            <a:ln w="15240">
              <a:solidFill>
                <a:srgbClr val="334E68"/>
              </a:solidFill>
            </a:ln>
          </p:spPr>
        </p:sp>
        <p:sp>
          <p:nvSpPr>
            <p:cNvPr id="41" name="TextBox 41"/>
            <p:cNvSpPr txBox="1"/>
            <p:nvPr/>
          </p:nvSpPr>
          <p:spPr>
            <a:xfrm>
              <a:off x="7020372" y="3263741"/>
              <a:ext cx="94356"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g</a:t>
              </a:r>
            </a:p>
          </p:txBody>
        </p:sp>
        <p:sp>
          <p:nvSpPr>
            <p:cNvPr id="42" name="Rectangle 42"/>
            <p:cNvSpPr/>
            <p:nvPr/>
          </p:nvSpPr>
          <p:spPr>
            <a:xfrm>
              <a:off x="6400800" y="3638550"/>
              <a:ext cx="1333500" cy="381000"/>
            </a:xfrm>
            <a:prstGeom prst="rect">
              <a:avLst/>
            </a:prstGeom>
            <a:solidFill>
              <a:srgbClr val="FFFFFF"/>
            </a:solidFill>
            <a:ln w="15240">
              <a:solidFill>
                <a:srgbClr val="334E68"/>
              </a:solidFill>
            </a:ln>
          </p:spPr>
        </p:sp>
        <p:sp>
          <p:nvSpPr>
            <p:cNvPr id="43" name="TextBox 43"/>
            <p:cNvSpPr txBox="1"/>
            <p:nvPr/>
          </p:nvSpPr>
          <p:spPr>
            <a:xfrm>
              <a:off x="7020372" y="3759041"/>
              <a:ext cx="94356"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h</a:t>
              </a:r>
            </a:p>
          </p:txBody>
        </p:sp>
        <p:sp>
          <p:nvSpPr>
            <p:cNvPr id="44" name="Line 44"/>
            <p:cNvSpPr/>
            <p:nvPr/>
          </p:nvSpPr>
          <p:spPr>
            <a:xfrm>
              <a:off x="6400800" y="3143250"/>
              <a:ext cx="9525" cy="876300"/>
            </a:xfrm>
            <a:custGeom>
              <a:avLst/>
              <a:gdLst/>
              <a:ahLst/>
              <a:cxnLst/>
              <a:rect l="l" t="t" r="r" b="b"/>
              <a:pathLst>
                <a:path w="9525" h="876300">
                  <a:moveTo>
                    <a:pt x="0" y="0"/>
                  </a:moveTo>
                  <a:lnTo>
                    <a:pt x="0" y="876300"/>
                  </a:lnTo>
                </a:path>
              </a:pathLst>
            </a:custGeom>
            <a:noFill/>
            <a:ln w="20955">
              <a:solidFill>
                <a:srgbClr val="334E68"/>
              </a:solidFill>
            </a:ln>
          </p:spPr>
        </p:sp>
        <p:sp>
          <p:nvSpPr>
            <p:cNvPr id="45" name="Polygon 45"/>
            <p:cNvSpPr/>
            <p:nvPr/>
          </p:nvSpPr>
          <p:spPr>
            <a:xfrm>
              <a:off x="4476750" y="4343400"/>
              <a:ext cx="990600" cy="1581150"/>
            </a:xfrm>
            <a:custGeom>
              <a:avLst/>
              <a:gdLst/>
              <a:ahLst/>
              <a:cxnLst/>
              <a:rect l="l" t="t" r="r" b="b"/>
              <a:pathLst>
                <a:path w="990600" h="1581150">
                  <a:moveTo>
                    <a:pt x="0" y="0"/>
                  </a:moveTo>
                  <a:lnTo>
                    <a:pt x="990600" y="0"/>
                  </a:lnTo>
                  <a:lnTo>
                    <a:pt x="838200" y="504825"/>
                  </a:lnTo>
                  <a:lnTo>
                    <a:pt x="990600" y="800100"/>
                  </a:lnTo>
                  <a:lnTo>
                    <a:pt x="838200" y="1085850"/>
                  </a:lnTo>
                  <a:lnTo>
                    <a:pt x="990600" y="1581150"/>
                  </a:lnTo>
                  <a:lnTo>
                    <a:pt x="0" y="1581150"/>
                  </a:lnTo>
                  <a:close/>
                </a:path>
              </a:pathLst>
            </a:custGeom>
            <a:solidFill>
              <a:srgbClr val="FFFFFF"/>
            </a:solidFill>
            <a:ln w="15240">
              <a:solidFill>
                <a:srgbClr val="334E68"/>
              </a:solidFill>
            </a:ln>
          </p:spPr>
        </p:sp>
        <p:sp>
          <p:nvSpPr>
            <p:cNvPr id="46" name="TextBox 46"/>
            <p:cNvSpPr txBox="1"/>
            <p:nvPr/>
          </p:nvSpPr>
          <p:spPr>
            <a:xfrm>
              <a:off x="4626684" y="5073491"/>
              <a:ext cx="195432" cy="220028"/>
            </a:xfrm>
            <a:prstGeom prst="rect">
              <a:avLst/>
            </a:prstGeom>
            <a:noFill/>
            <a:ln>
              <a:noFill/>
            </a:ln>
          </p:spPr>
          <p:txBody>
            <a:bodyPr wrap="none" lIns="0" tIns="0" rIns="0" bIns="0" anchor="t" anchorCtr="0">
              <a:spAutoFit/>
            </a:bodyPr>
            <a:lstStyle/>
            <a:p>
              <a:pPr algn="ctr"/>
              <a:r>
                <a:rPr lang="en-US" sz="1120" b="1" dirty="0">
                  <a:solidFill>
                    <a:srgbClr val="C2410C"/>
                  </a:solidFill>
                  <a:latin typeface="+mn-lt"/>
                  <a:ea typeface="+mn-ea"/>
                  <a:cs typeface="+mn-cs"/>
                </a:rPr>
                <a:t>X2</a:t>
              </a:r>
            </a:p>
          </p:txBody>
        </p:sp>
        <p:sp>
          <p:nvSpPr>
            <p:cNvPr id="47" name="Line 47"/>
            <p:cNvSpPr/>
            <p:nvPr/>
          </p:nvSpPr>
          <p:spPr>
            <a:xfrm>
              <a:off x="5467350" y="4552950"/>
              <a:ext cx="933450" cy="9525"/>
            </a:xfrm>
            <a:custGeom>
              <a:avLst/>
              <a:gdLst/>
              <a:ahLst/>
              <a:cxnLst/>
              <a:rect l="l" t="t" r="r" b="b"/>
              <a:pathLst>
                <a:path w="933450" h="9525">
                  <a:moveTo>
                    <a:pt x="0" y="0"/>
                  </a:moveTo>
                  <a:lnTo>
                    <a:pt x="933450" y="0"/>
                  </a:lnTo>
                </a:path>
              </a:pathLst>
            </a:custGeom>
            <a:noFill/>
            <a:ln w="15240">
              <a:solidFill>
                <a:srgbClr val="334E68"/>
              </a:solidFill>
            </a:ln>
          </p:spPr>
        </p:sp>
        <p:sp>
          <p:nvSpPr>
            <p:cNvPr id="48" name="TextBox 48"/>
            <p:cNvSpPr txBox="1"/>
            <p:nvPr/>
          </p:nvSpPr>
          <p:spPr>
            <a:xfrm>
              <a:off x="5844502" y="4382452"/>
              <a:ext cx="179146"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 1</a:t>
              </a:r>
            </a:p>
          </p:txBody>
        </p:sp>
        <p:sp>
          <p:nvSpPr>
            <p:cNvPr id="49" name="Line 49"/>
            <p:cNvSpPr/>
            <p:nvPr/>
          </p:nvSpPr>
          <p:spPr>
            <a:xfrm>
              <a:off x="5467350" y="5143500"/>
              <a:ext cx="933450" cy="9525"/>
            </a:xfrm>
            <a:custGeom>
              <a:avLst/>
              <a:gdLst/>
              <a:ahLst/>
              <a:cxnLst/>
              <a:rect l="l" t="t" r="r" b="b"/>
              <a:pathLst>
                <a:path w="933450" h="9525">
                  <a:moveTo>
                    <a:pt x="0" y="0"/>
                  </a:moveTo>
                  <a:lnTo>
                    <a:pt x="933450" y="0"/>
                  </a:lnTo>
                </a:path>
              </a:pathLst>
            </a:custGeom>
            <a:noFill/>
            <a:ln w="15240">
              <a:solidFill>
                <a:srgbClr val="334E68"/>
              </a:solidFill>
            </a:ln>
          </p:spPr>
        </p:sp>
        <p:sp>
          <p:nvSpPr>
            <p:cNvPr id="50" name="TextBox 50"/>
            <p:cNvSpPr txBox="1"/>
            <p:nvPr/>
          </p:nvSpPr>
          <p:spPr>
            <a:xfrm>
              <a:off x="5844502" y="4973002"/>
              <a:ext cx="179146"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 2</a:t>
              </a:r>
            </a:p>
          </p:txBody>
        </p:sp>
        <p:sp>
          <p:nvSpPr>
            <p:cNvPr id="51" name="Line 51"/>
            <p:cNvSpPr/>
            <p:nvPr/>
          </p:nvSpPr>
          <p:spPr>
            <a:xfrm>
              <a:off x="5467350" y="5715000"/>
              <a:ext cx="933450" cy="9525"/>
            </a:xfrm>
            <a:custGeom>
              <a:avLst/>
              <a:gdLst/>
              <a:ahLst/>
              <a:cxnLst/>
              <a:rect l="l" t="t" r="r" b="b"/>
              <a:pathLst>
                <a:path w="933450" h="9525">
                  <a:moveTo>
                    <a:pt x="0" y="0"/>
                  </a:moveTo>
                  <a:lnTo>
                    <a:pt x="933450" y="0"/>
                  </a:lnTo>
                </a:path>
              </a:pathLst>
            </a:custGeom>
            <a:noFill/>
            <a:ln w="15240">
              <a:solidFill>
                <a:srgbClr val="334E68"/>
              </a:solidFill>
            </a:ln>
          </p:spPr>
        </p:sp>
        <p:sp>
          <p:nvSpPr>
            <p:cNvPr id="52" name="TextBox 52"/>
            <p:cNvSpPr txBox="1"/>
            <p:nvPr/>
          </p:nvSpPr>
          <p:spPr>
            <a:xfrm>
              <a:off x="5844502" y="5544502"/>
              <a:ext cx="179146"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 3</a:t>
              </a:r>
            </a:p>
          </p:txBody>
        </p:sp>
        <p:sp>
          <p:nvSpPr>
            <p:cNvPr id="53" name="Rectangle 53"/>
            <p:cNvSpPr/>
            <p:nvPr/>
          </p:nvSpPr>
          <p:spPr>
            <a:xfrm>
              <a:off x="6400800" y="4343400"/>
              <a:ext cx="1428750" cy="419100"/>
            </a:xfrm>
            <a:prstGeom prst="rect">
              <a:avLst/>
            </a:prstGeom>
            <a:solidFill>
              <a:srgbClr val="FFFFFF"/>
            </a:solidFill>
            <a:ln w="15240">
              <a:solidFill>
                <a:srgbClr val="334E68"/>
              </a:solidFill>
            </a:ln>
          </p:spPr>
        </p:sp>
        <p:sp>
          <p:nvSpPr>
            <p:cNvPr id="54" name="Line 54"/>
            <p:cNvSpPr/>
            <p:nvPr/>
          </p:nvSpPr>
          <p:spPr>
            <a:xfrm>
              <a:off x="7696200" y="4343400"/>
              <a:ext cx="9525" cy="419100"/>
            </a:xfrm>
            <a:custGeom>
              <a:avLst/>
              <a:gdLst/>
              <a:ahLst/>
              <a:cxnLst/>
              <a:rect l="l" t="t" r="r" b="b"/>
              <a:pathLst>
                <a:path w="9525" h="419100">
                  <a:moveTo>
                    <a:pt x="0" y="0"/>
                  </a:moveTo>
                  <a:lnTo>
                    <a:pt x="0" y="419100"/>
                  </a:lnTo>
                </a:path>
              </a:pathLst>
            </a:custGeom>
            <a:noFill/>
            <a:ln w="15240">
              <a:solidFill>
                <a:srgbClr val="334E68"/>
              </a:solidFill>
            </a:ln>
          </p:spPr>
        </p:sp>
        <p:sp>
          <p:nvSpPr>
            <p:cNvPr id="55" name="TextBox 55"/>
            <p:cNvSpPr txBox="1"/>
            <p:nvPr/>
          </p:nvSpPr>
          <p:spPr>
            <a:xfrm>
              <a:off x="6721686" y="4487228"/>
              <a:ext cx="653628" cy="205359"/>
            </a:xfrm>
            <a:prstGeom prst="rect">
              <a:avLst/>
            </a:prstGeom>
            <a:noFill/>
            <a:ln>
              <a:noFill/>
            </a:ln>
          </p:spPr>
          <p:txBody>
            <a:bodyPr wrap="none" lIns="0" tIns="0" rIns="0" bIns="0" anchor="t" anchorCtr="0">
              <a:spAutoFit/>
            </a:bodyPr>
            <a:lstStyle/>
            <a:p>
              <a:pPr algn="ctr"/>
              <a:r>
                <a:rPr lang="en-US" sz="1050" b="1" dirty="0">
                  <a:solidFill>
                    <a:srgbClr val="C2410C"/>
                  </a:solidFill>
                  <a:latin typeface="+mn-lt"/>
                  <a:ea typeface="+mn-ea"/>
                  <a:cs typeface="+mn-cs"/>
                </a:rPr>
                <a:t>WHILE X3</a:t>
              </a:r>
            </a:p>
          </p:txBody>
        </p:sp>
        <p:sp>
          <p:nvSpPr>
            <p:cNvPr id="56" name="Line 56"/>
            <p:cNvSpPr/>
            <p:nvPr/>
          </p:nvSpPr>
          <p:spPr>
            <a:xfrm>
              <a:off x="7829550" y="4552950"/>
              <a:ext cx="342900" cy="9525"/>
            </a:xfrm>
            <a:custGeom>
              <a:avLst/>
              <a:gdLst/>
              <a:ahLst/>
              <a:cxnLst/>
              <a:rect l="l" t="t" r="r" b="b"/>
              <a:pathLst>
                <a:path w="342900" h="9525">
                  <a:moveTo>
                    <a:pt x="0" y="0"/>
                  </a:moveTo>
                  <a:lnTo>
                    <a:pt x="342900" y="0"/>
                  </a:lnTo>
                </a:path>
              </a:pathLst>
            </a:custGeom>
            <a:noFill/>
            <a:ln w="15240">
              <a:solidFill>
                <a:srgbClr val="334E68"/>
              </a:solidFill>
            </a:ln>
          </p:spPr>
        </p:sp>
        <p:sp>
          <p:nvSpPr>
            <p:cNvPr id="57" name="Rectangle 57"/>
            <p:cNvSpPr/>
            <p:nvPr/>
          </p:nvSpPr>
          <p:spPr>
            <a:xfrm>
              <a:off x="8172450" y="4362450"/>
              <a:ext cx="1047750" cy="381000"/>
            </a:xfrm>
            <a:prstGeom prst="rect">
              <a:avLst/>
            </a:prstGeom>
            <a:solidFill>
              <a:srgbClr val="FFFFFF"/>
            </a:solidFill>
            <a:ln w="15240">
              <a:solidFill>
                <a:srgbClr val="334E68"/>
              </a:solidFill>
            </a:ln>
          </p:spPr>
        </p:sp>
        <p:sp>
          <p:nvSpPr>
            <p:cNvPr id="58" name="TextBox 58"/>
            <p:cNvSpPr txBox="1"/>
            <p:nvPr/>
          </p:nvSpPr>
          <p:spPr>
            <a:xfrm>
              <a:off x="8649147" y="4482941"/>
              <a:ext cx="94356"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c</a:t>
              </a:r>
            </a:p>
          </p:txBody>
        </p:sp>
        <p:sp>
          <p:nvSpPr>
            <p:cNvPr id="59" name="Rectangle 59"/>
            <p:cNvSpPr/>
            <p:nvPr/>
          </p:nvSpPr>
          <p:spPr>
            <a:xfrm>
              <a:off x="6400800" y="4953000"/>
              <a:ext cx="1333500" cy="381000"/>
            </a:xfrm>
            <a:prstGeom prst="rect">
              <a:avLst/>
            </a:prstGeom>
            <a:solidFill>
              <a:srgbClr val="FFFFFF"/>
            </a:solidFill>
            <a:ln w="15240">
              <a:solidFill>
                <a:srgbClr val="334E68"/>
              </a:solidFill>
            </a:ln>
          </p:spPr>
        </p:sp>
        <p:sp>
          <p:nvSpPr>
            <p:cNvPr id="60" name="TextBox 60"/>
            <p:cNvSpPr txBox="1"/>
            <p:nvPr/>
          </p:nvSpPr>
          <p:spPr>
            <a:xfrm>
              <a:off x="7020372" y="5073491"/>
              <a:ext cx="94356"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d</a:t>
              </a:r>
            </a:p>
          </p:txBody>
        </p:sp>
        <p:sp>
          <p:nvSpPr>
            <p:cNvPr id="61" name="Rectangle 61"/>
            <p:cNvSpPr/>
            <p:nvPr/>
          </p:nvSpPr>
          <p:spPr>
            <a:xfrm>
              <a:off x="6400800" y="5524500"/>
              <a:ext cx="1333500" cy="381000"/>
            </a:xfrm>
            <a:prstGeom prst="rect">
              <a:avLst/>
            </a:prstGeom>
            <a:solidFill>
              <a:srgbClr val="FFFFFF"/>
            </a:solidFill>
            <a:ln w="15240">
              <a:solidFill>
                <a:srgbClr val="334E68"/>
              </a:solidFill>
            </a:ln>
          </p:spPr>
        </p:sp>
        <p:sp>
          <p:nvSpPr>
            <p:cNvPr id="62" name="TextBox 62"/>
            <p:cNvSpPr txBox="1"/>
            <p:nvPr/>
          </p:nvSpPr>
          <p:spPr>
            <a:xfrm>
              <a:off x="7020372" y="5644991"/>
              <a:ext cx="94356"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e</a:t>
              </a:r>
            </a:p>
          </p:txBody>
        </p:sp>
      </p:grpSp>
      <p:grpSp>
        <p:nvGrpSpPr>
          <p:cNvPr id="65" name="padcap"/>
          <p:cNvGrpSpPr/>
          <p:nvPr/>
        </p:nvGrpSpPr>
        <p:grpSpPr>
          <a:xfrm>
            <a:off x="3617024" y="6125528"/>
            <a:ext cx="4957953" cy="205359"/>
            <a:chOff x="3617024" y="6125528"/>
            <a:chExt cx="4957953" cy="205359"/>
          </a:xfrm>
        </p:grpSpPr>
        <p:sp>
          <p:nvSpPr>
            <p:cNvPr id="64" name="TextBox 64"/>
            <p:cNvSpPr txBox="1"/>
            <p:nvPr/>
          </p:nvSpPr>
          <p:spPr>
            <a:xfrm>
              <a:off x="3617024" y="6125528"/>
              <a:ext cx="4957953"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二维树形：竖线表示顺序，往右一层就是往里一层嵌套，最右边是最内层的语句</a:t>
              </a:r>
            </a:p>
          </p:txBody>
        </p:sp>
      </p:grpSp>
      <p:grpSp>
        <p:nvGrpSpPr>
          <p:cNvPr id="68" name="footer"/>
          <p:cNvGrpSpPr/>
          <p:nvPr/>
        </p:nvGrpSpPr>
        <p:grpSpPr>
          <a:xfrm>
            <a:off x="528447" y="6581299"/>
            <a:ext cx="11135106" cy="190690"/>
            <a:chOff x="528447" y="6581299"/>
            <a:chExt cx="11135106" cy="190690"/>
          </a:xfrm>
        </p:grpSpPr>
        <p:sp>
          <p:nvSpPr>
            <p:cNvPr id="66" name="TextBox 66"/>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67" name="TextBox 6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23</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2828247" cy="909257"/>
            <a:chOff x="520446" y="342900"/>
            <a:chExt cx="2828247"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过程设计技术和工具</a:t>
              </a:r>
            </a:p>
          </p:txBody>
        </p:sp>
        <p:sp>
          <p:nvSpPr>
            <p:cNvPr id="4" name="TextBox 4"/>
            <p:cNvSpPr txBox="1"/>
            <p:nvPr/>
          </p:nvSpPr>
          <p:spPr>
            <a:xfrm>
              <a:off x="520446" y="753428"/>
              <a:ext cx="282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PAD 图的六个优点</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5" name="c1-bullets-1"/>
          <p:cNvGrpSpPr/>
          <p:nvPr/>
        </p:nvGrpSpPr>
        <p:grpSpPr>
          <a:xfrm>
            <a:off x="533400" y="1535430"/>
            <a:ext cx="5760656" cy="2467071"/>
            <a:chOff x="533400" y="1535430"/>
            <a:chExt cx="5760656" cy="2467071"/>
          </a:xfrm>
        </p:grpSpPr>
        <p:sp>
          <p:nvSpPr>
            <p:cNvPr id="7" name="Ellipse 7"/>
            <p:cNvSpPr/>
            <p:nvPr/>
          </p:nvSpPr>
          <p:spPr>
            <a:xfrm>
              <a:off x="533400" y="1535430"/>
              <a:ext cx="201930" cy="201930"/>
            </a:xfrm>
            <a:prstGeom prst="ellipse">
              <a:avLst/>
            </a:prstGeom>
            <a:solidFill>
              <a:srgbClr val="334E68"/>
            </a:solidFill>
            <a:ln>
              <a:noFill/>
            </a:ln>
          </p:spPr>
        </p:sp>
        <p:sp>
          <p:nvSpPr>
            <p:cNvPr id="8" name="TextBox 8"/>
            <p:cNvSpPr txBox="1"/>
            <p:nvPr/>
          </p:nvSpPr>
          <p:spPr>
            <a:xfrm>
              <a:off x="591745" y="157481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9" name="TextBox 9"/>
            <p:cNvSpPr txBox="1"/>
            <p:nvPr/>
          </p:nvSpPr>
          <p:spPr>
            <a:xfrm>
              <a:off x="824293" y="1547336"/>
              <a:ext cx="5469763"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用表示结构化控制结构的 PAD 符号设计出来的程序，</a:t>
              </a:r>
              <a:r>
                <a:rPr lang="zh-CN" sz="1420" b="1" dirty="0">
                  <a:solidFill>
                    <a:srgbClr val="C2410C"/>
                  </a:solidFill>
                  <a:latin typeface="+mn-lt"/>
                  <a:ea typeface="+mn-ea"/>
                  <a:cs typeface="+mn-cs"/>
                </a:rPr>
                <a:t>必然是结构化程</a:t>
              </a:r>
              <a:br/>
              <a:r>
                <a:rPr lang="zh-CN" sz="1420" b="1" dirty="0">
                  <a:solidFill>
                    <a:srgbClr val="C2410C"/>
                  </a:solidFill>
                  <a:latin typeface="+mn-lt"/>
                  <a:ea typeface="+mn-ea"/>
                  <a:cs typeface="+mn-cs"/>
                </a:rPr>
                <a:t>序</a:t>
              </a:r>
            </a:p>
          </p:txBody>
        </p:sp>
        <p:sp>
          <p:nvSpPr>
            <p:cNvPr id="10" name="Ellipse 10"/>
            <p:cNvSpPr/>
            <p:nvPr/>
          </p:nvSpPr>
          <p:spPr>
            <a:xfrm>
              <a:off x="533400" y="2133600"/>
              <a:ext cx="201930" cy="201930"/>
            </a:xfrm>
            <a:prstGeom prst="ellipse">
              <a:avLst/>
            </a:prstGeom>
            <a:solidFill>
              <a:srgbClr val="334E68"/>
            </a:solidFill>
            <a:ln>
              <a:noFill/>
            </a:ln>
          </p:spPr>
        </p:sp>
        <p:sp>
          <p:nvSpPr>
            <p:cNvPr id="11" name="TextBox 11"/>
            <p:cNvSpPr txBox="1"/>
            <p:nvPr/>
          </p:nvSpPr>
          <p:spPr>
            <a:xfrm>
              <a:off x="591745" y="217298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12" name="TextBox 12"/>
            <p:cNvSpPr txBox="1"/>
            <p:nvPr/>
          </p:nvSpPr>
          <p:spPr>
            <a:xfrm>
              <a:off x="824293" y="2145506"/>
              <a:ext cx="2893426"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PAD 图所描绘的程序结构十分清晰</a:t>
              </a:r>
            </a:p>
          </p:txBody>
        </p:sp>
        <p:sp>
          <p:nvSpPr>
            <p:cNvPr id="13" name="Ellipse 13"/>
            <p:cNvSpPr/>
            <p:nvPr/>
          </p:nvSpPr>
          <p:spPr>
            <a:xfrm>
              <a:off x="533400" y="2460307"/>
              <a:ext cx="201930" cy="201930"/>
            </a:xfrm>
            <a:prstGeom prst="ellipse">
              <a:avLst/>
            </a:prstGeom>
            <a:solidFill>
              <a:srgbClr val="334E68"/>
            </a:solidFill>
            <a:ln>
              <a:noFill/>
            </a:ln>
          </p:spPr>
        </p:sp>
        <p:sp>
          <p:nvSpPr>
            <p:cNvPr id="14" name="TextBox 14"/>
            <p:cNvSpPr txBox="1"/>
            <p:nvPr/>
          </p:nvSpPr>
          <p:spPr>
            <a:xfrm>
              <a:off x="591745" y="2499693"/>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3</a:t>
              </a:r>
            </a:p>
          </p:txBody>
        </p:sp>
        <p:sp>
          <p:nvSpPr>
            <p:cNvPr id="15" name="TextBox 15"/>
            <p:cNvSpPr txBox="1"/>
            <p:nvPr/>
          </p:nvSpPr>
          <p:spPr>
            <a:xfrm>
              <a:off x="824293" y="2472214"/>
              <a:ext cx="371866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用 PAD 图表现程序逻辑，易读、易懂、易记</a:t>
              </a:r>
            </a:p>
          </p:txBody>
        </p:sp>
        <p:sp>
          <p:nvSpPr>
            <p:cNvPr id="16" name="Ellipse 16"/>
            <p:cNvSpPr/>
            <p:nvPr/>
          </p:nvSpPr>
          <p:spPr>
            <a:xfrm>
              <a:off x="533400" y="2787015"/>
              <a:ext cx="201930" cy="201930"/>
            </a:xfrm>
            <a:prstGeom prst="ellipse">
              <a:avLst/>
            </a:prstGeom>
            <a:solidFill>
              <a:srgbClr val="334E68"/>
            </a:solidFill>
            <a:ln>
              <a:noFill/>
            </a:ln>
          </p:spPr>
        </p:sp>
        <p:sp>
          <p:nvSpPr>
            <p:cNvPr id="17" name="TextBox 17"/>
            <p:cNvSpPr txBox="1"/>
            <p:nvPr/>
          </p:nvSpPr>
          <p:spPr>
            <a:xfrm>
              <a:off x="591745" y="282640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4</a:t>
              </a:r>
            </a:p>
          </p:txBody>
        </p:sp>
        <p:sp>
          <p:nvSpPr>
            <p:cNvPr id="18" name="TextBox 18"/>
            <p:cNvSpPr txBox="1"/>
            <p:nvPr/>
          </p:nvSpPr>
          <p:spPr>
            <a:xfrm>
              <a:off x="824293" y="2798921"/>
              <a:ext cx="5469763"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容易将 PAD 图转换成高级语言源程序，这种转换可用软件工具自动完</a:t>
              </a:r>
              <a:br/>
              <a:r>
                <a:rPr lang="zh-CN" sz="1420" dirty="0">
                  <a:solidFill>
                    <a:srgbClr val="1F2937"/>
                  </a:solidFill>
                  <a:latin typeface="+mn-lt"/>
                  <a:ea typeface="+mn-ea"/>
                  <a:cs typeface="+mn-cs"/>
                </a:rPr>
                <a:t>成</a:t>
              </a:r>
            </a:p>
          </p:txBody>
        </p:sp>
        <p:sp>
          <p:nvSpPr>
            <p:cNvPr id="19" name="Ellipse 19"/>
            <p:cNvSpPr/>
            <p:nvPr/>
          </p:nvSpPr>
          <p:spPr>
            <a:xfrm>
              <a:off x="533400" y="3385185"/>
              <a:ext cx="201930" cy="201930"/>
            </a:xfrm>
            <a:prstGeom prst="ellipse">
              <a:avLst/>
            </a:prstGeom>
            <a:solidFill>
              <a:srgbClr val="334E68"/>
            </a:solidFill>
            <a:ln>
              <a:noFill/>
            </a:ln>
          </p:spPr>
        </p:sp>
        <p:sp>
          <p:nvSpPr>
            <p:cNvPr id="20" name="TextBox 20"/>
            <p:cNvSpPr txBox="1"/>
            <p:nvPr/>
          </p:nvSpPr>
          <p:spPr>
            <a:xfrm>
              <a:off x="591745" y="342457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5</a:t>
              </a:r>
            </a:p>
          </p:txBody>
        </p:sp>
        <p:sp>
          <p:nvSpPr>
            <p:cNvPr id="21" name="TextBox 21"/>
            <p:cNvSpPr txBox="1"/>
            <p:nvPr/>
          </p:nvSpPr>
          <p:spPr>
            <a:xfrm>
              <a:off x="824293" y="3397091"/>
              <a:ext cx="4028846"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既可用于表示程序逻辑，也可用于描绘数据结构</a:t>
              </a:r>
            </a:p>
          </p:txBody>
        </p:sp>
        <p:sp>
          <p:nvSpPr>
            <p:cNvPr id="22" name="Ellipse 22"/>
            <p:cNvSpPr/>
            <p:nvPr/>
          </p:nvSpPr>
          <p:spPr>
            <a:xfrm>
              <a:off x="533400" y="3711892"/>
              <a:ext cx="201930" cy="201930"/>
            </a:xfrm>
            <a:prstGeom prst="ellipse">
              <a:avLst/>
            </a:prstGeom>
            <a:solidFill>
              <a:srgbClr val="334E68"/>
            </a:solidFill>
            <a:ln>
              <a:noFill/>
            </a:ln>
          </p:spPr>
        </p:sp>
        <p:sp>
          <p:nvSpPr>
            <p:cNvPr id="23" name="TextBox 23"/>
            <p:cNvSpPr txBox="1"/>
            <p:nvPr/>
          </p:nvSpPr>
          <p:spPr>
            <a:xfrm>
              <a:off x="591745" y="3751278"/>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6</a:t>
              </a:r>
            </a:p>
          </p:txBody>
        </p:sp>
        <p:sp>
          <p:nvSpPr>
            <p:cNvPr id="24" name="TextBox 24"/>
            <p:cNvSpPr txBox="1"/>
            <p:nvPr/>
          </p:nvSpPr>
          <p:spPr>
            <a:xfrm>
              <a:off x="824293" y="3723799"/>
              <a:ext cx="4231549"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PAD 图的符号支持自顶向下、逐步求精方法的使用</a:t>
              </a:r>
            </a:p>
          </p:txBody>
        </p:sp>
      </p:grpSp>
      <p:grpSp>
        <p:nvGrpSpPr>
          <p:cNvPr id="32" name="c1-card-2"/>
          <p:cNvGrpSpPr/>
          <p:nvPr/>
        </p:nvGrpSpPr>
        <p:grpSpPr>
          <a:xfrm>
            <a:off x="533400" y="4127182"/>
            <a:ext cx="6059805" cy="1819275"/>
            <a:chOff x="533400" y="4127182"/>
            <a:chExt cx="6059805" cy="1819275"/>
          </a:xfrm>
        </p:grpSpPr>
        <p:sp>
          <p:nvSpPr>
            <p:cNvPr id="26" name="Rectangle 26"/>
            <p:cNvSpPr/>
            <p:nvPr/>
          </p:nvSpPr>
          <p:spPr>
            <a:xfrm>
              <a:off x="533400" y="4127182"/>
              <a:ext cx="6059805" cy="1819275"/>
            </a:xfrm>
            <a:prstGeom prst="roundRect">
              <a:avLst>
                <a:gd name="adj" fmla="val 7330"/>
              </a:avLst>
            </a:prstGeom>
            <a:solidFill>
              <a:srgbClr val="334E68"/>
            </a:solidFill>
            <a:ln>
              <a:noFill/>
            </a:ln>
          </p:spPr>
        </p:sp>
        <p:sp>
          <p:nvSpPr>
            <p:cNvPr id="27" name="Rectangle 27"/>
            <p:cNvSpPr/>
            <p:nvPr/>
          </p:nvSpPr>
          <p:spPr>
            <a:xfrm>
              <a:off x="731520" y="4325302"/>
              <a:ext cx="1704022" cy="247650"/>
            </a:xfrm>
            <a:prstGeom prst="roundRect">
              <a:avLst>
                <a:gd name="adj" fmla="val 50000"/>
              </a:avLst>
            </a:prstGeom>
            <a:solidFill>
              <a:srgbClr val="243B53"/>
            </a:solidFill>
            <a:ln>
              <a:noFill/>
            </a:ln>
          </p:spPr>
        </p:sp>
        <p:sp>
          <p:nvSpPr>
            <p:cNvPr id="28" name="TextBox 28"/>
            <p:cNvSpPr txBox="1"/>
            <p:nvPr/>
          </p:nvSpPr>
          <p:spPr>
            <a:xfrm>
              <a:off x="786578" y="4359592"/>
              <a:ext cx="1594859"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第 4 条优点是怎么做到的</a:t>
              </a:r>
            </a:p>
          </p:txBody>
        </p:sp>
        <p:sp>
          <p:nvSpPr>
            <p:cNvPr id="29" name="TextBox 29"/>
            <p:cNvSpPr txBox="1"/>
            <p:nvPr/>
          </p:nvSpPr>
          <p:spPr>
            <a:xfrm>
              <a:off x="2542604" y="4360069"/>
              <a:ext cx="1638620"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mn-lt"/>
                  <a:ea typeface="+mn-ea"/>
                  <a:cs typeface="+mn-cs"/>
                </a:rPr>
                <a:t>从 PAD 图到源程序</a:t>
              </a:r>
            </a:p>
          </p:txBody>
        </p:sp>
        <p:sp>
          <p:nvSpPr>
            <p:cNvPr id="30" name="TextBox 30"/>
            <p:cNvSpPr txBox="1"/>
            <p:nvPr/>
          </p:nvSpPr>
          <p:spPr>
            <a:xfrm>
              <a:off x="724281" y="4703921"/>
              <a:ext cx="5424678"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FFFFFF"/>
                  </a:solidFill>
                  <a:latin typeface="+mn-lt"/>
                  <a:ea typeface="+mn-ea"/>
                  <a:cs typeface="+mn-cs"/>
                </a:rPr>
                <a:t>沿主竖线自上而下读，每个框写成一条语句；遇到 WHILE／UNTIL 框</a:t>
              </a:r>
              <a:br/>
              <a:r>
                <a:rPr lang="zh-CN" sz="1420" dirty="0">
                  <a:solidFill>
                    <a:srgbClr val="FFFFFF"/>
                  </a:solidFill>
                  <a:latin typeface="+mn-lt"/>
                  <a:ea typeface="+mn-ea"/>
                  <a:cs typeface="+mn-cs"/>
                </a:rPr>
                <a:t>就写一层循环，把它右边那条竖线上的内容当循环体；遇到选择框就</a:t>
              </a:r>
              <a:br/>
              <a:r>
                <a:rPr lang="zh-CN" sz="1420" dirty="0">
                  <a:solidFill>
                    <a:srgbClr val="FFFFFF"/>
                  </a:solidFill>
                  <a:latin typeface="+mn-lt"/>
                  <a:ea typeface="+mn-ea"/>
                  <a:cs typeface="+mn-cs"/>
                </a:rPr>
                <a:t>写 if 或 case，右边每条横线对应一个分支。</a:t>
              </a:r>
            </a:p>
          </p:txBody>
        </p:sp>
        <p:sp>
          <p:nvSpPr>
            <p:cNvPr id="31" name="TextBox 31"/>
            <p:cNvSpPr txBox="1"/>
            <p:nvPr/>
          </p:nvSpPr>
          <p:spPr>
            <a:xfrm>
              <a:off x="725424" y="5560695"/>
              <a:ext cx="5504688" cy="234696"/>
            </a:xfrm>
            <a:prstGeom prst="rect">
              <a:avLst/>
            </a:prstGeom>
            <a:noFill/>
            <a:ln>
              <a:noFill/>
            </a:ln>
          </p:spPr>
          <p:txBody>
            <a:bodyPr wrap="none" lIns="0" tIns="0" rIns="0" bIns="0" anchor="t" anchorCtr="0">
              <a:spAutoFit/>
            </a:bodyPr>
            <a:lstStyle/>
            <a:p>
              <a:pPr algn="l"/>
              <a:r>
                <a:rPr lang="zh-CN" sz="1200" dirty="0">
                  <a:solidFill>
                    <a:srgbClr val="FFFFFF"/>
                  </a:solidFill>
                  <a:latin typeface="+mn-lt"/>
                  <a:ea typeface="+mn-ea"/>
                  <a:cs typeface="+mn-cs"/>
                </a:rPr>
                <a:t>这个过程是机械的，没有需要人判断的地方，所以可以由软件工具自动完成。</a:t>
              </a:r>
            </a:p>
          </p:txBody>
        </p:sp>
      </p:grpSp>
      <p:grpSp>
        <p:nvGrpSpPr>
          <p:cNvPr id="37" name="c2-card-1"/>
          <p:cNvGrpSpPr/>
          <p:nvPr/>
        </p:nvGrpSpPr>
        <p:grpSpPr>
          <a:xfrm>
            <a:off x="6898005" y="1524000"/>
            <a:ext cx="4760595" cy="1522095"/>
            <a:chOff x="6898005" y="1524000"/>
            <a:chExt cx="4760595" cy="1522095"/>
          </a:xfrm>
        </p:grpSpPr>
        <p:sp>
          <p:nvSpPr>
            <p:cNvPr id="33" name="Rectangle 33"/>
            <p:cNvSpPr/>
            <p:nvPr/>
          </p:nvSpPr>
          <p:spPr>
            <a:xfrm>
              <a:off x="6898005" y="1524000"/>
              <a:ext cx="4760595" cy="1522095"/>
            </a:xfrm>
            <a:prstGeom prst="roundRect">
              <a:avLst>
                <a:gd name="adj" fmla="val 8761"/>
              </a:avLst>
            </a:prstGeom>
            <a:solidFill>
              <a:srgbClr val="334E68"/>
            </a:solidFill>
            <a:ln>
              <a:noFill/>
            </a:ln>
          </p:spPr>
        </p:sp>
        <p:sp>
          <p:nvSpPr>
            <p:cNvPr id="34" name="Rectangle 34"/>
            <p:cNvSpPr/>
            <p:nvPr/>
          </p:nvSpPr>
          <p:spPr>
            <a:xfrm>
              <a:off x="7096125" y="1722120"/>
              <a:ext cx="1430655" cy="247650"/>
            </a:xfrm>
            <a:prstGeom prst="roundRect">
              <a:avLst>
                <a:gd name="adj" fmla="val 50000"/>
              </a:avLst>
            </a:prstGeom>
            <a:solidFill>
              <a:srgbClr val="243B53"/>
            </a:solidFill>
            <a:ln>
              <a:noFill/>
            </a:ln>
          </p:spPr>
        </p:sp>
        <p:sp>
          <p:nvSpPr>
            <p:cNvPr id="35" name="TextBox 35"/>
            <p:cNvSpPr txBox="1"/>
            <p:nvPr/>
          </p:nvSpPr>
          <p:spPr>
            <a:xfrm>
              <a:off x="7158132" y="1756410"/>
              <a:ext cx="1304736"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为什么"必然结构化"</a:t>
              </a:r>
            </a:p>
          </p:txBody>
        </p:sp>
        <p:sp>
          <p:nvSpPr>
            <p:cNvPr id="36" name="TextBox 36"/>
            <p:cNvSpPr txBox="1"/>
            <p:nvPr/>
          </p:nvSpPr>
          <p:spPr>
            <a:xfrm>
              <a:off x="7088886" y="2082641"/>
              <a:ext cx="4180332"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FFFFFF"/>
                  </a:solidFill>
                  <a:latin typeface="+mn-lt"/>
                  <a:ea typeface="+mn-ea"/>
                  <a:cs typeface="+mn-cs"/>
                </a:rPr>
                <a:t>PAD 只提供顺序、选择、WHILE、UNTIL、CASE 五种</a:t>
              </a:r>
              <a:br/>
              <a:r>
                <a:rPr lang="zh-CN" sz="1420" dirty="0">
                  <a:solidFill>
                    <a:srgbClr val="FFFFFF"/>
                  </a:solidFill>
                  <a:latin typeface="+mn-lt"/>
                  <a:ea typeface="+mn-ea"/>
                  <a:cs typeface="+mn-cs"/>
                </a:rPr>
                <a:t>图式，图上没有任何画"任意跳转"的符号，所以画得</a:t>
              </a:r>
              <a:br/>
              <a:r>
                <a:rPr lang="zh-CN" sz="1420" dirty="0">
                  <a:solidFill>
                    <a:srgbClr val="FFFFFF"/>
                  </a:solidFill>
                  <a:latin typeface="+mn-lt"/>
                  <a:ea typeface="+mn-ea"/>
                  <a:cs typeface="+mn-cs"/>
                </a:rPr>
                <a:t>出来的程序一定是结构化的。</a:t>
              </a:r>
            </a:p>
          </p:txBody>
        </p:sp>
      </p:grpSp>
      <p:grpSp>
        <p:nvGrpSpPr>
          <p:cNvPr id="58" name="c2-compare-2"/>
          <p:cNvGrpSpPr/>
          <p:nvPr/>
        </p:nvGrpSpPr>
        <p:grpSpPr>
          <a:xfrm>
            <a:off x="6898005" y="3227070"/>
            <a:ext cx="4760595" cy="2719388"/>
            <a:chOff x="6898005" y="3227070"/>
            <a:chExt cx="4760595" cy="2719388"/>
          </a:xfrm>
        </p:grpSpPr>
        <p:sp>
          <p:nvSpPr>
            <p:cNvPr id="38" name="Rectangle 38"/>
            <p:cNvSpPr/>
            <p:nvPr/>
          </p:nvSpPr>
          <p:spPr>
            <a:xfrm>
              <a:off x="6898005" y="3227070"/>
              <a:ext cx="2208848" cy="2719388"/>
            </a:xfrm>
            <a:prstGeom prst="roundRect">
              <a:avLst>
                <a:gd name="adj" fmla="val 6037"/>
              </a:avLst>
            </a:prstGeom>
            <a:solidFill>
              <a:srgbClr val="FFFFFF"/>
            </a:solidFill>
            <a:ln w="14288">
              <a:solidFill>
                <a:srgbClr val="D9DFEA"/>
              </a:solidFill>
            </a:ln>
          </p:spPr>
        </p:sp>
        <p:sp>
          <p:nvSpPr>
            <p:cNvPr id="39" name="Rectangle 39"/>
            <p:cNvSpPr/>
            <p:nvPr/>
          </p:nvSpPr>
          <p:spPr>
            <a:xfrm>
              <a:off x="6907530" y="3360420"/>
              <a:ext cx="47625" cy="2452688"/>
            </a:xfrm>
            <a:prstGeom prst="roundRect">
              <a:avLst>
                <a:gd name="adj" fmla="val 50000"/>
              </a:avLst>
            </a:prstGeom>
            <a:solidFill>
              <a:srgbClr val="334E68"/>
            </a:solidFill>
            <a:ln>
              <a:noFill/>
            </a:ln>
          </p:spPr>
        </p:sp>
        <p:sp>
          <p:nvSpPr>
            <p:cNvPr id="40" name="TextBox 40"/>
            <p:cNvSpPr txBox="1"/>
            <p:nvPr/>
          </p:nvSpPr>
          <p:spPr>
            <a:xfrm>
              <a:off x="7126986" y="3448526"/>
              <a:ext cx="1001515"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PAD 的读法</a:t>
              </a:r>
            </a:p>
          </p:txBody>
        </p:sp>
        <p:sp>
          <p:nvSpPr>
            <p:cNvPr id="41" name="Ellipse 41"/>
            <p:cNvSpPr/>
            <p:nvPr/>
          </p:nvSpPr>
          <p:spPr>
            <a:xfrm>
              <a:off x="7141845" y="3844290"/>
              <a:ext cx="60960" cy="60960"/>
            </a:xfrm>
            <a:prstGeom prst="ellipse">
              <a:avLst/>
            </a:prstGeom>
            <a:solidFill>
              <a:srgbClr val="334E68"/>
            </a:solidFill>
            <a:ln>
              <a:noFill/>
            </a:ln>
          </p:spPr>
        </p:sp>
        <p:sp>
          <p:nvSpPr>
            <p:cNvPr id="42" name="TextBox 42"/>
            <p:cNvSpPr txBox="1"/>
            <p:nvPr/>
          </p:nvSpPr>
          <p:spPr>
            <a:xfrm>
              <a:off x="7298436" y="3783806"/>
              <a:ext cx="154376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竖线表示顺序执行</a:t>
              </a:r>
            </a:p>
          </p:txBody>
        </p:sp>
        <p:sp>
          <p:nvSpPr>
            <p:cNvPr id="43" name="Ellipse 43"/>
            <p:cNvSpPr/>
            <p:nvPr/>
          </p:nvSpPr>
          <p:spPr>
            <a:xfrm>
              <a:off x="7141845" y="4161473"/>
              <a:ext cx="60960" cy="60960"/>
            </a:xfrm>
            <a:prstGeom prst="ellipse">
              <a:avLst/>
            </a:prstGeom>
            <a:solidFill>
              <a:srgbClr val="334E68"/>
            </a:solidFill>
            <a:ln>
              <a:noFill/>
            </a:ln>
          </p:spPr>
        </p:sp>
        <p:sp>
          <p:nvSpPr>
            <p:cNvPr id="44" name="TextBox 44"/>
            <p:cNvSpPr txBox="1"/>
            <p:nvPr/>
          </p:nvSpPr>
          <p:spPr>
            <a:xfrm>
              <a:off x="7298436" y="4101941"/>
              <a:ext cx="145719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往右一层就是往里</a:t>
              </a:r>
              <a:br/>
              <a:r>
                <a:rPr lang="zh-CN" sz="1420" dirty="0">
                  <a:solidFill>
                    <a:srgbClr val="1F2937"/>
                  </a:solidFill>
                  <a:latin typeface="+mn-lt"/>
                  <a:ea typeface="+mn-ea"/>
                  <a:cs typeface="+mn-cs"/>
                </a:rPr>
                <a:t>一层嵌套</a:t>
              </a:r>
            </a:p>
          </p:txBody>
        </p:sp>
        <p:sp>
          <p:nvSpPr>
            <p:cNvPr id="45" name="Ellipse 45"/>
            <p:cNvSpPr/>
            <p:nvPr/>
          </p:nvSpPr>
          <p:spPr>
            <a:xfrm>
              <a:off x="7141845" y="4751070"/>
              <a:ext cx="60960" cy="60960"/>
            </a:xfrm>
            <a:prstGeom prst="ellipse">
              <a:avLst/>
            </a:prstGeom>
            <a:solidFill>
              <a:srgbClr val="334E68"/>
            </a:solidFill>
            <a:ln>
              <a:noFill/>
            </a:ln>
          </p:spPr>
        </p:sp>
        <p:sp>
          <p:nvSpPr>
            <p:cNvPr id="46" name="TextBox 46"/>
            <p:cNvSpPr txBox="1"/>
            <p:nvPr/>
          </p:nvSpPr>
          <p:spPr>
            <a:xfrm>
              <a:off x="7298436" y="4690586"/>
              <a:ext cx="145719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最右边是最内层语</a:t>
              </a:r>
              <a:br/>
              <a:r>
                <a:rPr lang="zh-CN" sz="1420" dirty="0">
                  <a:solidFill>
                    <a:srgbClr val="1F2937"/>
                  </a:solidFill>
                  <a:latin typeface="+mn-lt"/>
                  <a:ea typeface="+mn-ea"/>
                  <a:cs typeface="+mn-cs"/>
                </a:rPr>
                <a:t>句</a:t>
              </a:r>
            </a:p>
          </p:txBody>
        </p:sp>
        <p:sp>
          <p:nvSpPr>
            <p:cNvPr id="47" name="Rectangle 47"/>
            <p:cNvSpPr/>
            <p:nvPr/>
          </p:nvSpPr>
          <p:spPr>
            <a:xfrm>
              <a:off x="9449752" y="3227070"/>
              <a:ext cx="2208848" cy="2719388"/>
            </a:xfrm>
            <a:prstGeom prst="roundRect">
              <a:avLst>
                <a:gd name="adj" fmla="val 6037"/>
              </a:avLst>
            </a:prstGeom>
            <a:solidFill>
              <a:srgbClr val="FFFFFF"/>
            </a:solidFill>
            <a:ln w="14288">
              <a:solidFill>
                <a:srgbClr val="D9DFEA"/>
              </a:solidFill>
            </a:ln>
          </p:spPr>
        </p:sp>
        <p:sp>
          <p:nvSpPr>
            <p:cNvPr id="48" name="Rectangle 48"/>
            <p:cNvSpPr/>
            <p:nvPr/>
          </p:nvSpPr>
          <p:spPr>
            <a:xfrm>
              <a:off x="9459278" y="3360420"/>
              <a:ext cx="47625" cy="2452688"/>
            </a:xfrm>
            <a:prstGeom prst="roundRect">
              <a:avLst>
                <a:gd name="adj" fmla="val 50000"/>
              </a:avLst>
            </a:prstGeom>
            <a:solidFill>
              <a:srgbClr val="F26B3A"/>
            </a:solidFill>
            <a:ln>
              <a:noFill/>
            </a:ln>
          </p:spPr>
        </p:sp>
        <p:sp>
          <p:nvSpPr>
            <p:cNvPr id="49" name="TextBox 49"/>
            <p:cNvSpPr txBox="1"/>
            <p:nvPr/>
          </p:nvSpPr>
          <p:spPr>
            <a:xfrm>
              <a:off x="9678734" y="3448526"/>
              <a:ext cx="779120"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逐步求精</a:t>
              </a:r>
            </a:p>
          </p:txBody>
        </p:sp>
        <p:sp>
          <p:nvSpPr>
            <p:cNvPr id="50" name="Ellipse 50"/>
            <p:cNvSpPr/>
            <p:nvPr/>
          </p:nvSpPr>
          <p:spPr>
            <a:xfrm>
              <a:off x="9693592" y="3844290"/>
              <a:ext cx="60960" cy="60960"/>
            </a:xfrm>
            <a:prstGeom prst="ellipse">
              <a:avLst/>
            </a:prstGeom>
            <a:solidFill>
              <a:srgbClr val="334E68"/>
            </a:solidFill>
            <a:ln>
              <a:noFill/>
            </a:ln>
          </p:spPr>
        </p:sp>
        <p:sp>
          <p:nvSpPr>
            <p:cNvPr id="51" name="TextBox 51"/>
            <p:cNvSpPr txBox="1"/>
            <p:nvPr/>
          </p:nvSpPr>
          <p:spPr>
            <a:xfrm>
              <a:off x="9850184" y="3783806"/>
              <a:ext cx="145719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先画主竖线上的大</a:t>
              </a:r>
              <a:br/>
              <a:r>
                <a:rPr lang="zh-CN" sz="1420" dirty="0">
                  <a:solidFill>
                    <a:srgbClr val="1F2937"/>
                  </a:solidFill>
                  <a:latin typeface="+mn-lt"/>
                  <a:ea typeface="+mn-ea"/>
                  <a:cs typeface="+mn-cs"/>
                </a:rPr>
                <a:t>步骤</a:t>
              </a:r>
            </a:p>
          </p:txBody>
        </p:sp>
        <p:sp>
          <p:nvSpPr>
            <p:cNvPr id="52" name="Ellipse 52"/>
            <p:cNvSpPr/>
            <p:nvPr/>
          </p:nvSpPr>
          <p:spPr>
            <a:xfrm>
              <a:off x="9693592" y="4432935"/>
              <a:ext cx="60960" cy="60960"/>
            </a:xfrm>
            <a:prstGeom prst="ellipse">
              <a:avLst/>
            </a:prstGeom>
            <a:solidFill>
              <a:srgbClr val="334E68"/>
            </a:solidFill>
            <a:ln>
              <a:noFill/>
            </a:ln>
          </p:spPr>
        </p:sp>
        <p:sp>
          <p:nvSpPr>
            <p:cNvPr id="53" name="TextBox 53"/>
            <p:cNvSpPr txBox="1"/>
            <p:nvPr/>
          </p:nvSpPr>
          <p:spPr>
            <a:xfrm>
              <a:off x="9850184" y="4373404"/>
              <a:ext cx="145719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再把每一步向右展</a:t>
              </a:r>
              <a:br/>
              <a:r>
                <a:rPr lang="zh-CN" sz="1420" dirty="0">
                  <a:solidFill>
                    <a:srgbClr val="1F2937"/>
                  </a:solidFill>
                  <a:latin typeface="+mn-lt"/>
                  <a:ea typeface="+mn-ea"/>
                  <a:cs typeface="+mn-cs"/>
                </a:rPr>
                <a:t>开</a:t>
              </a:r>
            </a:p>
          </p:txBody>
        </p:sp>
        <p:sp>
          <p:nvSpPr>
            <p:cNvPr id="54" name="Ellipse 54"/>
            <p:cNvSpPr/>
            <p:nvPr/>
          </p:nvSpPr>
          <p:spPr>
            <a:xfrm>
              <a:off x="9693592" y="5022532"/>
              <a:ext cx="60960" cy="60960"/>
            </a:xfrm>
            <a:prstGeom prst="ellipse">
              <a:avLst/>
            </a:prstGeom>
            <a:solidFill>
              <a:srgbClr val="334E68"/>
            </a:solidFill>
            <a:ln>
              <a:noFill/>
            </a:ln>
          </p:spPr>
        </p:sp>
        <p:sp>
          <p:nvSpPr>
            <p:cNvPr id="55" name="TextBox 55"/>
            <p:cNvSpPr txBox="1"/>
            <p:nvPr/>
          </p:nvSpPr>
          <p:spPr>
            <a:xfrm>
              <a:off x="9850184" y="4962049"/>
              <a:ext cx="145719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展开深度即嵌套深</a:t>
              </a:r>
              <a:br/>
              <a:r>
                <a:rPr lang="zh-CN" sz="1420" dirty="0">
                  <a:solidFill>
                    <a:srgbClr val="1F2937"/>
                  </a:solidFill>
                  <a:latin typeface="+mn-lt"/>
                  <a:ea typeface="+mn-ea"/>
                  <a:cs typeface="+mn-cs"/>
                </a:rPr>
                <a:t>度</a:t>
              </a:r>
            </a:p>
          </p:txBody>
        </p:sp>
        <p:sp>
          <p:nvSpPr>
            <p:cNvPr id="56" name="Ellipse 56"/>
            <p:cNvSpPr/>
            <p:nvPr/>
          </p:nvSpPr>
          <p:spPr>
            <a:xfrm>
              <a:off x="9116378" y="4424362"/>
              <a:ext cx="323850" cy="323850"/>
            </a:xfrm>
            <a:prstGeom prst="ellipse">
              <a:avLst/>
            </a:prstGeom>
            <a:solidFill>
              <a:srgbClr val="F26B3A"/>
            </a:solidFill>
            <a:ln>
              <a:noFill/>
            </a:ln>
          </p:spPr>
        </p:sp>
        <p:sp>
          <p:nvSpPr>
            <p:cNvPr id="57" name="TextBox 57"/>
            <p:cNvSpPr txBox="1"/>
            <p:nvPr/>
          </p:nvSpPr>
          <p:spPr>
            <a:xfrm>
              <a:off x="9186718" y="4520565"/>
              <a:ext cx="18317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VS</a:t>
              </a:r>
            </a:p>
          </p:txBody>
        </p:sp>
      </p:grpSp>
      <p:grpSp>
        <p:nvGrpSpPr>
          <p:cNvPr id="61" name="footer"/>
          <p:cNvGrpSpPr/>
          <p:nvPr/>
        </p:nvGrpSpPr>
        <p:grpSpPr>
          <a:xfrm>
            <a:off x="528447" y="6581299"/>
            <a:ext cx="11135106" cy="190690"/>
            <a:chOff x="528447" y="6581299"/>
            <a:chExt cx="11135106" cy="190690"/>
          </a:xfrm>
        </p:grpSpPr>
        <p:sp>
          <p:nvSpPr>
            <p:cNvPr id="59" name="TextBox 59"/>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60" name="TextBox 6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24</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375311" cy="909257"/>
            <a:chOff x="520446" y="342900"/>
            <a:chExt cx="6375311"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过程设计技术和工具</a:t>
              </a:r>
            </a:p>
          </p:txBody>
        </p:sp>
        <p:sp>
          <p:nvSpPr>
            <p:cNvPr id="4" name="TextBox 4"/>
            <p:cNvSpPr txBox="1"/>
            <p:nvPr/>
          </p:nvSpPr>
          <p:spPr>
            <a:xfrm>
              <a:off x="520446" y="753428"/>
              <a:ext cx="637531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课堂练习一：把程序流程图改画成 PAD 图</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4" name="exq"/>
          <p:cNvGrpSpPr/>
          <p:nvPr/>
        </p:nvGrpSpPr>
        <p:grpSpPr>
          <a:xfrm>
            <a:off x="552450" y="1581150"/>
            <a:ext cx="5257800" cy="4724400"/>
            <a:chOff x="552450" y="1581150"/>
            <a:chExt cx="5257800" cy="4724400"/>
          </a:xfrm>
        </p:grpSpPr>
        <p:sp>
          <p:nvSpPr>
            <p:cNvPr id="7" name="Rectangle 7"/>
            <p:cNvSpPr/>
            <p:nvPr/>
          </p:nvSpPr>
          <p:spPr>
            <a:xfrm>
              <a:off x="552450" y="1581150"/>
              <a:ext cx="5257800" cy="4724400"/>
            </a:xfrm>
            <a:prstGeom prst="roundRect">
              <a:avLst>
                <a:gd name="adj" fmla="val 2016"/>
              </a:avLst>
            </a:prstGeom>
            <a:solidFill>
              <a:srgbClr val="F4F6FB"/>
            </a:solidFill>
            <a:ln w="11430">
              <a:solidFill>
                <a:srgbClr val="D9DFEA"/>
              </a:solidFill>
            </a:ln>
          </p:spPr>
        </p:sp>
        <p:sp>
          <p:nvSpPr>
            <p:cNvPr id="8" name="TextBox 8"/>
            <p:cNvSpPr txBox="1"/>
            <p:nvPr/>
          </p:nvSpPr>
          <p:spPr>
            <a:xfrm>
              <a:off x="717804" y="1699260"/>
              <a:ext cx="1627632" cy="234696"/>
            </a:xfrm>
            <a:prstGeom prst="rect">
              <a:avLst/>
            </a:prstGeom>
            <a:noFill/>
            <a:ln>
              <a:noFill/>
            </a:ln>
          </p:spPr>
          <p:txBody>
            <a:bodyPr wrap="none" lIns="0" tIns="0" rIns="0" bIns="0" anchor="t" anchorCtr="0">
              <a:spAutoFit/>
            </a:bodyPr>
            <a:lstStyle/>
            <a:p>
              <a:pPr algn="l"/>
              <a:r>
                <a:rPr lang="zh-CN" sz="1200" b="1" dirty="0">
                  <a:solidFill>
                    <a:srgbClr val="334E68"/>
                  </a:solidFill>
                  <a:latin typeface="+mn-lt"/>
                  <a:ea typeface="+mn-ea"/>
                  <a:cs typeface="+mn-cs"/>
                </a:rPr>
                <a:t>题：下面的程序流程图</a:t>
              </a:r>
            </a:p>
          </p:txBody>
        </p:sp>
        <p:sp>
          <p:nvSpPr>
            <p:cNvPr id="9" name="Rectangle 9"/>
            <p:cNvSpPr/>
            <p:nvPr/>
          </p:nvSpPr>
          <p:spPr>
            <a:xfrm>
              <a:off x="2781300" y="2038350"/>
              <a:ext cx="1066800" cy="323850"/>
            </a:xfrm>
            <a:prstGeom prst="roundRect">
              <a:avLst>
                <a:gd name="adj" fmla="val 50000"/>
              </a:avLst>
            </a:prstGeom>
            <a:solidFill>
              <a:srgbClr val="E7EDF3"/>
            </a:solidFill>
            <a:ln w="15240">
              <a:solidFill>
                <a:srgbClr val="334E68"/>
              </a:solidFill>
            </a:ln>
          </p:spPr>
        </p:sp>
        <p:sp>
          <p:nvSpPr>
            <p:cNvPr id="10" name="TextBox 10"/>
            <p:cNvSpPr txBox="1"/>
            <p:nvPr/>
          </p:nvSpPr>
          <p:spPr>
            <a:xfrm>
              <a:off x="3108853" y="2130266"/>
              <a:ext cx="411693" cy="220028"/>
            </a:xfrm>
            <a:prstGeom prst="rect">
              <a:avLst/>
            </a:prstGeom>
            <a:noFill/>
            <a:ln>
              <a:noFill/>
            </a:ln>
          </p:spPr>
          <p:txBody>
            <a:bodyPr wrap="none" lIns="0" tIns="0" rIns="0" bIns="0" anchor="t" anchorCtr="0">
              <a:spAutoFit/>
            </a:bodyPr>
            <a:lstStyle/>
            <a:p>
              <a:pPr algn="ctr"/>
              <a:r>
                <a:rPr lang="en-US" sz="1120" b="1" dirty="0">
                  <a:solidFill>
                    <a:srgbClr val="243B53"/>
                  </a:solidFill>
                  <a:latin typeface="+mn-lt"/>
                  <a:ea typeface="+mn-ea"/>
                  <a:cs typeface="+mn-cs"/>
                </a:rPr>
                <a:t>Begin</a:t>
              </a:r>
            </a:p>
          </p:txBody>
        </p:sp>
        <p:sp>
          <p:nvSpPr>
            <p:cNvPr id="11" name="Line 11"/>
            <p:cNvSpPr/>
            <p:nvPr/>
          </p:nvSpPr>
          <p:spPr>
            <a:xfrm>
              <a:off x="3314700" y="2362200"/>
              <a:ext cx="9525" cy="266700"/>
            </a:xfrm>
            <a:custGeom>
              <a:avLst/>
              <a:gdLst/>
              <a:ahLst/>
              <a:cxnLst/>
              <a:rect l="l" t="t" r="r" b="b"/>
              <a:pathLst>
                <a:path w="9525" h="266700">
                  <a:moveTo>
                    <a:pt x="0" y="0"/>
                  </a:moveTo>
                  <a:lnTo>
                    <a:pt x="0" y="266700"/>
                  </a:lnTo>
                </a:path>
              </a:pathLst>
            </a:custGeom>
            <a:noFill/>
            <a:ln w="15240">
              <a:solidFill>
                <a:srgbClr val="334E68"/>
              </a:solidFill>
            </a:ln>
          </p:spPr>
        </p:sp>
        <p:sp>
          <p:nvSpPr>
            <p:cNvPr id="12" name="Polygon 12"/>
            <p:cNvSpPr/>
            <p:nvPr/>
          </p:nvSpPr>
          <p:spPr>
            <a:xfrm>
              <a:off x="3267075" y="2590800"/>
              <a:ext cx="95250" cy="76200"/>
            </a:xfrm>
            <a:custGeom>
              <a:avLst/>
              <a:gdLst/>
              <a:ahLst/>
              <a:cxnLst/>
              <a:rect l="l" t="t" r="r" b="b"/>
              <a:pathLst>
                <a:path w="95250" h="76200">
                  <a:moveTo>
                    <a:pt x="0" y="0"/>
                  </a:moveTo>
                  <a:lnTo>
                    <a:pt x="95250" y="0"/>
                  </a:lnTo>
                  <a:lnTo>
                    <a:pt x="47625" y="76200"/>
                  </a:lnTo>
                  <a:close/>
                </a:path>
              </a:pathLst>
            </a:custGeom>
            <a:solidFill>
              <a:srgbClr val="334E68"/>
            </a:solidFill>
            <a:ln w="9525">
              <a:solidFill>
                <a:srgbClr val="334E68"/>
              </a:solidFill>
            </a:ln>
          </p:spPr>
        </p:sp>
        <p:sp>
          <p:nvSpPr>
            <p:cNvPr id="13" name="Rectangle 13"/>
            <p:cNvSpPr/>
            <p:nvPr/>
          </p:nvSpPr>
          <p:spPr>
            <a:xfrm>
              <a:off x="2724150" y="2686050"/>
              <a:ext cx="1181100" cy="361950"/>
            </a:xfrm>
            <a:prstGeom prst="rect">
              <a:avLst/>
            </a:prstGeom>
            <a:solidFill>
              <a:srgbClr val="FFFFFF"/>
            </a:solidFill>
            <a:ln w="15240">
              <a:solidFill>
                <a:srgbClr val="334E68"/>
              </a:solidFill>
            </a:ln>
          </p:spPr>
        </p:sp>
        <p:sp>
          <p:nvSpPr>
            <p:cNvPr id="14" name="TextBox 14"/>
            <p:cNvSpPr txBox="1"/>
            <p:nvPr/>
          </p:nvSpPr>
          <p:spPr>
            <a:xfrm>
              <a:off x="3262985" y="2797016"/>
              <a:ext cx="103431"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A</a:t>
              </a:r>
            </a:p>
          </p:txBody>
        </p:sp>
        <p:sp>
          <p:nvSpPr>
            <p:cNvPr id="15" name="Line 15"/>
            <p:cNvSpPr/>
            <p:nvPr/>
          </p:nvSpPr>
          <p:spPr>
            <a:xfrm>
              <a:off x="3314700" y="3048000"/>
              <a:ext cx="9525" cy="228600"/>
            </a:xfrm>
            <a:custGeom>
              <a:avLst/>
              <a:gdLst/>
              <a:ahLst/>
              <a:cxnLst/>
              <a:rect l="l" t="t" r="r" b="b"/>
              <a:pathLst>
                <a:path w="9525" h="228600">
                  <a:moveTo>
                    <a:pt x="0" y="0"/>
                  </a:moveTo>
                  <a:lnTo>
                    <a:pt x="0" y="228600"/>
                  </a:lnTo>
                </a:path>
              </a:pathLst>
            </a:custGeom>
            <a:noFill/>
            <a:ln w="15240">
              <a:solidFill>
                <a:srgbClr val="334E68"/>
              </a:solidFill>
            </a:ln>
          </p:spPr>
        </p:sp>
        <p:sp>
          <p:nvSpPr>
            <p:cNvPr id="16" name="Polygon 16"/>
            <p:cNvSpPr/>
            <p:nvPr/>
          </p:nvSpPr>
          <p:spPr>
            <a:xfrm>
              <a:off x="3267075" y="3238500"/>
              <a:ext cx="95250" cy="76200"/>
            </a:xfrm>
            <a:custGeom>
              <a:avLst/>
              <a:gdLst/>
              <a:ahLst/>
              <a:cxnLst/>
              <a:rect l="l" t="t" r="r" b="b"/>
              <a:pathLst>
                <a:path w="95250" h="76200">
                  <a:moveTo>
                    <a:pt x="0" y="0"/>
                  </a:moveTo>
                  <a:lnTo>
                    <a:pt x="95250" y="0"/>
                  </a:lnTo>
                  <a:lnTo>
                    <a:pt x="47625" y="76200"/>
                  </a:lnTo>
                  <a:close/>
                </a:path>
              </a:pathLst>
            </a:custGeom>
            <a:solidFill>
              <a:srgbClr val="334E68"/>
            </a:solidFill>
            <a:ln w="9525">
              <a:solidFill>
                <a:srgbClr val="334E68"/>
              </a:solidFill>
            </a:ln>
          </p:spPr>
        </p:sp>
        <p:sp>
          <p:nvSpPr>
            <p:cNvPr id="17" name="Rectangle 17"/>
            <p:cNvSpPr/>
            <p:nvPr/>
          </p:nvSpPr>
          <p:spPr>
            <a:xfrm>
              <a:off x="2724150" y="3333750"/>
              <a:ext cx="1181100" cy="361950"/>
            </a:xfrm>
            <a:prstGeom prst="rect">
              <a:avLst/>
            </a:prstGeom>
            <a:solidFill>
              <a:srgbClr val="FFFFFF"/>
            </a:solidFill>
            <a:ln w="15240">
              <a:solidFill>
                <a:srgbClr val="334E68"/>
              </a:solidFill>
            </a:ln>
          </p:spPr>
        </p:sp>
        <p:sp>
          <p:nvSpPr>
            <p:cNvPr id="18" name="TextBox 18"/>
            <p:cNvSpPr txBox="1"/>
            <p:nvPr/>
          </p:nvSpPr>
          <p:spPr>
            <a:xfrm>
              <a:off x="3262985" y="3444716"/>
              <a:ext cx="103431"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B</a:t>
              </a:r>
            </a:p>
          </p:txBody>
        </p:sp>
        <p:sp>
          <p:nvSpPr>
            <p:cNvPr id="19" name="Line 19"/>
            <p:cNvSpPr/>
            <p:nvPr/>
          </p:nvSpPr>
          <p:spPr>
            <a:xfrm>
              <a:off x="3314700" y="3695700"/>
              <a:ext cx="9525" cy="209550"/>
            </a:xfrm>
            <a:custGeom>
              <a:avLst/>
              <a:gdLst/>
              <a:ahLst/>
              <a:cxnLst/>
              <a:rect l="l" t="t" r="r" b="b"/>
              <a:pathLst>
                <a:path w="9525" h="209550">
                  <a:moveTo>
                    <a:pt x="0" y="0"/>
                  </a:moveTo>
                  <a:lnTo>
                    <a:pt x="0" y="209550"/>
                  </a:lnTo>
                </a:path>
              </a:pathLst>
            </a:custGeom>
            <a:noFill/>
            <a:ln w="15240">
              <a:solidFill>
                <a:srgbClr val="334E68"/>
              </a:solidFill>
            </a:ln>
          </p:spPr>
        </p:sp>
        <p:sp>
          <p:nvSpPr>
            <p:cNvPr id="20" name="Polygon 20"/>
            <p:cNvSpPr/>
            <p:nvPr/>
          </p:nvSpPr>
          <p:spPr>
            <a:xfrm>
              <a:off x="3267075" y="3867150"/>
              <a:ext cx="95250" cy="76200"/>
            </a:xfrm>
            <a:custGeom>
              <a:avLst/>
              <a:gdLst/>
              <a:ahLst/>
              <a:cxnLst/>
              <a:rect l="l" t="t" r="r" b="b"/>
              <a:pathLst>
                <a:path w="95250" h="76200">
                  <a:moveTo>
                    <a:pt x="0" y="0"/>
                  </a:moveTo>
                  <a:lnTo>
                    <a:pt x="95250" y="0"/>
                  </a:lnTo>
                  <a:lnTo>
                    <a:pt x="47625" y="76200"/>
                  </a:lnTo>
                  <a:close/>
                </a:path>
              </a:pathLst>
            </a:custGeom>
            <a:solidFill>
              <a:srgbClr val="334E68"/>
            </a:solidFill>
            <a:ln w="9525">
              <a:solidFill>
                <a:srgbClr val="334E68"/>
              </a:solidFill>
            </a:ln>
          </p:spPr>
        </p:sp>
        <p:sp>
          <p:nvSpPr>
            <p:cNvPr id="21" name="Polygon 21"/>
            <p:cNvSpPr/>
            <p:nvPr/>
          </p:nvSpPr>
          <p:spPr>
            <a:xfrm>
              <a:off x="2705100" y="3943350"/>
              <a:ext cx="1219200" cy="609600"/>
            </a:xfrm>
            <a:custGeom>
              <a:avLst/>
              <a:gdLst/>
              <a:ahLst/>
              <a:cxnLst/>
              <a:rect l="l" t="t" r="r" b="b"/>
              <a:pathLst>
                <a:path w="1219200" h="609600">
                  <a:moveTo>
                    <a:pt x="609600" y="0"/>
                  </a:moveTo>
                  <a:lnTo>
                    <a:pt x="1219200" y="304800"/>
                  </a:lnTo>
                  <a:lnTo>
                    <a:pt x="609600" y="609600"/>
                  </a:lnTo>
                  <a:lnTo>
                    <a:pt x="0" y="304800"/>
                  </a:lnTo>
                  <a:close/>
                </a:path>
              </a:pathLst>
            </a:custGeom>
            <a:solidFill>
              <a:srgbClr val="FFFFFF"/>
            </a:solidFill>
            <a:ln w="15240">
              <a:solidFill>
                <a:srgbClr val="334E68"/>
              </a:solidFill>
            </a:ln>
          </p:spPr>
        </p:sp>
        <p:sp>
          <p:nvSpPr>
            <p:cNvPr id="22" name="TextBox 22"/>
            <p:cNvSpPr txBox="1"/>
            <p:nvPr/>
          </p:nvSpPr>
          <p:spPr>
            <a:xfrm>
              <a:off x="3259318" y="4173855"/>
              <a:ext cx="110764" cy="234696"/>
            </a:xfrm>
            <a:prstGeom prst="rect">
              <a:avLst/>
            </a:prstGeom>
            <a:noFill/>
            <a:ln>
              <a:noFill/>
            </a:ln>
          </p:spPr>
          <p:txBody>
            <a:bodyPr wrap="none" lIns="0" tIns="0" rIns="0" bIns="0" anchor="t" anchorCtr="0">
              <a:spAutoFit/>
            </a:bodyPr>
            <a:lstStyle/>
            <a:p>
              <a:pPr algn="ctr"/>
              <a:r>
                <a:rPr lang="en-US" sz="1200" b="1" dirty="0">
                  <a:solidFill>
                    <a:srgbClr val="C2410C"/>
                  </a:solidFill>
                  <a:latin typeface="+mn-lt"/>
                  <a:ea typeface="+mn-ea"/>
                  <a:cs typeface="+mn-cs"/>
                </a:rPr>
                <a:t>P</a:t>
              </a:r>
            </a:p>
          </p:txBody>
        </p:sp>
        <p:sp>
          <p:nvSpPr>
            <p:cNvPr id="23" name="Line 23"/>
            <p:cNvSpPr/>
            <p:nvPr/>
          </p:nvSpPr>
          <p:spPr>
            <a:xfrm>
              <a:off x="3924300" y="4248150"/>
              <a:ext cx="1028700" cy="9525"/>
            </a:xfrm>
            <a:custGeom>
              <a:avLst/>
              <a:gdLst/>
              <a:ahLst/>
              <a:cxnLst/>
              <a:rect l="l" t="t" r="r" b="b"/>
              <a:pathLst>
                <a:path w="1028700" h="9525">
                  <a:moveTo>
                    <a:pt x="0" y="0"/>
                  </a:moveTo>
                  <a:lnTo>
                    <a:pt x="1028700" y="0"/>
                  </a:lnTo>
                </a:path>
              </a:pathLst>
            </a:custGeom>
            <a:noFill/>
            <a:ln w="15240">
              <a:solidFill>
                <a:srgbClr val="334E68"/>
              </a:solidFill>
            </a:ln>
          </p:spPr>
        </p:sp>
        <p:sp>
          <p:nvSpPr>
            <p:cNvPr id="24" name="Polygon 24"/>
            <p:cNvSpPr/>
            <p:nvPr/>
          </p:nvSpPr>
          <p:spPr>
            <a:xfrm>
              <a:off x="4914900" y="4200525"/>
              <a:ext cx="76200" cy="95250"/>
            </a:xfrm>
            <a:custGeom>
              <a:avLst/>
              <a:gdLst/>
              <a:ahLst/>
              <a:cxnLst/>
              <a:rect l="l" t="t" r="r" b="b"/>
              <a:pathLst>
                <a:path w="76200" h="95250">
                  <a:moveTo>
                    <a:pt x="0" y="0"/>
                  </a:moveTo>
                  <a:lnTo>
                    <a:pt x="0" y="95250"/>
                  </a:lnTo>
                  <a:lnTo>
                    <a:pt x="76200" y="47625"/>
                  </a:lnTo>
                  <a:close/>
                </a:path>
              </a:pathLst>
            </a:custGeom>
            <a:solidFill>
              <a:srgbClr val="334E68"/>
            </a:solidFill>
            <a:ln w="9525">
              <a:solidFill>
                <a:srgbClr val="334E68"/>
              </a:solidFill>
            </a:ln>
          </p:spPr>
        </p:sp>
        <p:sp>
          <p:nvSpPr>
            <p:cNvPr id="25" name="Rectangle 25"/>
            <p:cNvSpPr/>
            <p:nvPr/>
          </p:nvSpPr>
          <p:spPr>
            <a:xfrm>
              <a:off x="4991100" y="4086225"/>
              <a:ext cx="704850" cy="323850"/>
            </a:xfrm>
            <a:prstGeom prst="roundRect">
              <a:avLst>
                <a:gd name="adj" fmla="val 50000"/>
              </a:avLst>
            </a:prstGeom>
            <a:solidFill>
              <a:srgbClr val="E7EDF3"/>
            </a:solidFill>
            <a:ln w="15240">
              <a:solidFill>
                <a:srgbClr val="334E68"/>
              </a:solidFill>
            </a:ln>
          </p:spPr>
        </p:sp>
        <p:sp>
          <p:nvSpPr>
            <p:cNvPr id="26" name="TextBox 26"/>
            <p:cNvSpPr txBox="1"/>
            <p:nvPr/>
          </p:nvSpPr>
          <p:spPr>
            <a:xfrm>
              <a:off x="5213435" y="4182428"/>
              <a:ext cx="260179" cy="205359"/>
            </a:xfrm>
            <a:prstGeom prst="rect">
              <a:avLst/>
            </a:prstGeom>
            <a:noFill/>
            <a:ln>
              <a:noFill/>
            </a:ln>
          </p:spPr>
          <p:txBody>
            <a:bodyPr wrap="none" lIns="0" tIns="0" rIns="0" bIns="0" anchor="t" anchorCtr="0">
              <a:spAutoFit/>
            </a:bodyPr>
            <a:lstStyle/>
            <a:p>
              <a:pPr algn="ctr"/>
              <a:r>
                <a:rPr lang="en-US" sz="1050" b="1" dirty="0">
                  <a:solidFill>
                    <a:srgbClr val="243B53"/>
                  </a:solidFill>
                  <a:latin typeface="+mn-lt"/>
                  <a:ea typeface="+mn-ea"/>
                  <a:cs typeface="+mn-cs"/>
                </a:rPr>
                <a:t>End</a:t>
              </a:r>
            </a:p>
          </p:txBody>
        </p:sp>
        <p:sp>
          <p:nvSpPr>
            <p:cNvPr id="27" name="TextBox 27"/>
            <p:cNvSpPr txBox="1"/>
            <p:nvPr/>
          </p:nvSpPr>
          <p:spPr>
            <a:xfrm>
              <a:off x="4260097" y="4073366"/>
              <a:ext cx="90407" cy="190690"/>
            </a:xfrm>
            <a:prstGeom prst="rect">
              <a:avLst/>
            </a:prstGeom>
            <a:noFill/>
            <a:ln>
              <a:noFill/>
            </a:ln>
          </p:spPr>
          <p:txBody>
            <a:bodyPr wrap="none" lIns="0" tIns="0" rIns="0" bIns="0" anchor="t" anchorCtr="0">
              <a:spAutoFit/>
            </a:bodyPr>
            <a:lstStyle/>
            <a:p>
              <a:pPr algn="ctr"/>
              <a:r>
                <a:rPr lang="en-US" sz="980" b="1" dirty="0">
                  <a:solidFill>
                    <a:srgbClr val="5B6475"/>
                  </a:solidFill>
                  <a:latin typeface="+mn-lt"/>
                  <a:ea typeface="+mn-ea"/>
                  <a:cs typeface="+mn-cs"/>
                </a:rPr>
                <a:t>N</a:t>
              </a:r>
            </a:p>
          </p:txBody>
        </p:sp>
        <p:sp>
          <p:nvSpPr>
            <p:cNvPr id="28" name="Line 28"/>
            <p:cNvSpPr/>
            <p:nvPr/>
          </p:nvSpPr>
          <p:spPr>
            <a:xfrm>
              <a:off x="3314700" y="4552950"/>
              <a:ext cx="9525" cy="266700"/>
            </a:xfrm>
            <a:custGeom>
              <a:avLst/>
              <a:gdLst/>
              <a:ahLst/>
              <a:cxnLst/>
              <a:rect l="l" t="t" r="r" b="b"/>
              <a:pathLst>
                <a:path w="9525" h="266700">
                  <a:moveTo>
                    <a:pt x="0" y="0"/>
                  </a:moveTo>
                  <a:lnTo>
                    <a:pt x="0" y="266700"/>
                  </a:lnTo>
                </a:path>
              </a:pathLst>
            </a:custGeom>
            <a:noFill/>
            <a:ln w="15240">
              <a:solidFill>
                <a:srgbClr val="334E68"/>
              </a:solidFill>
            </a:ln>
          </p:spPr>
        </p:sp>
        <p:sp>
          <p:nvSpPr>
            <p:cNvPr id="29" name="Polygon 29"/>
            <p:cNvSpPr/>
            <p:nvPr/>
          </p:nvSpPr>
          <p:spPr>
            <a:xfrm>
              <a:off x="3267075" y="4781550"/>
              <a:ext cx="95250" cy="76200"/>
            </a:xfrm>
            <a:custGeom>
              <a:avLst/>
              <a:gdLst/>
              <a:ahLst/>
              <a:cxnLst/>
              <a:rect l="l" t="t" r="r" b="b"/>
              <a:pathLst>
                <a:path w="95250" h="76200">
                  <a:moveTo>
                    <a:pt x="0" y="0"/>
                  </a:moveTo>
                  <a:lnTo>
                    <a:pt x="95250" y="0"/>
                  </a:lnTo>
                  <a:lnTo>
                    <a:pt x="47625" y="76200"/>
                  </a:lnTo>
                  <a:close/>
                </a:path>
              </a:pathLst>
            </a:custGeom>
            <a:solidFill>
              <a:srgbClr val="334E68"/>
            </a:solidFill>
            <a:ln w="9525">
              <a:solidFill>
                <a:srgbClr val="334E68"/>
              </a:solidFill>
            </a:ln>
          </p:spPr>
        </p:sp>
        <p:sp>
          <p:nvSpPr>
            <p:cNvPr id="30" name="TextBox 30"/>
            <p:cNvSpPr txBox="1"/>
            <p:nvPr/>
          </p:nvSpPr>
          <p:spPr>
            <a:xfrm>
              <a:off x="3421897" y="4644866"/>
              <a:ext cx="90407" cy="190690"/>
            </a:xfrm>
            <a:prstGeom prst="rect">
              <a:avLst/>
            </a:prstGeom>
            <a:noFill/>
            <a:ln>
              <a:noFill/>
            </a:ln>
          </p:spPr>
          <p:txBody>
            <a:bodyPr wrap="none" lIns="0" tIns="0" rIns="0" bIns="0" anchor="t" anchorCtr="0">
              <a:spAutoFit/>
            </a:bodyPr>
            <a:lstStyle/>
            <a:p>
              <a:pPr algn="ctr"/>
              <a:r>
                <a:rPr lang="en-US" sz="980" b="1" dirty="0">
                  <a:solidFill>
                    <a:srgbClr val="5B6475"/>
                  </a:solidFill>
                  <a:latin typeface="+mn-lt"/>
                  <a:ea typeface="+mn-ea"/>
                  <a:cs typeface="+mn-cs"/>
                </a:rPr>
                <a:t>Y</a:t>
              </a:r>
            </a:p>
          </p:txBody>
        </p:sp>
        <p:sp>
          <p:nvSpPr>
            <p:cNvPr id="31" name="Polygon 31"/>
            <p:cNvSpPr/>
            <p:nvPr/>
          </p:nvSpPr>
          <p:spPr>
            <a:xfrm>
              <a:off x="2705100" y="4857750"/>
              <a:ext cx="1219200" cy="609600"/>
            </a:xfrm>
            <a:custGeom>
              <a:avLst/>
              <a:gdLst/>
              <a:ahLst/>
              <a:cxnLst/>
              <a:rect l="l" t="t" r="r" b="b"/>
              <a:pathLst>
                <a:path w="1219200" h="609600">
                  <a:moveTo>
                    <a:pt x="609600" y="0"/>
                  </a:moveTo>
                  <a:lnTo>
                    <a:pt x="1219200" y="304800"/>
                  </a:lnTo>
                  <a:lnTo>
                    <a:pt x="609600" y="609600"/>
                  </a:lnTo>
                  <a:lnTo>
                    <a:pt x="0" y="304800"/>
                  </a:lnTo>
                  <a:close/>
                </a:path>
              </a:pathLst>
            </a:custGeom>
            <a:solidFill>
              <a:srgbClr val="FFFFFF"/>
            </a:solidFill>
            <a:ln w="15240">
              <a:solidFill>
                <a:srgbClr val="334E68"/>
              </a:solidFill>
            </a:ln>
          </p:spPr>
        </p:sp>
        <p:sp>
          <p:nvSpPr>
            <p:cNvPr id="32" name="TextBox 32"/>
            <p:cNvSpPr txBox="1"/>
            <p:nvPr/>
          </p:nvSpPr>
          <p:spPr>
            <a:xfrm>
              <a:off x="3241396" y="5088255"/>
              <a:ext cx="146609" cy="234696"/>
            </a:xfrm>
            <a:prstGeom prst="rect">
              <a:avLst/>
            </a:prstGeom>
            <a:noFill/>
            <a:ln>
              <a:noFill/>
            </a:ln>
          </p:spPr>
          <p:txBody>
            <a:bodyPr wrap="none" lIns="0" tIns="0" rIns="0" bIns="0" anchor="t" anchorCtr="0">
              <a:spAutoFit/>
            </a:bodyPr>
            <a:lstStyle/>
            <a:p>
              <a:pPr algn="ctr"/>
              <a:r>
                <a:rPr lang="en-US" sz="1200" b="1" dirty="0">
                  <a:solidFill>
                    <a:srgbClr val="C2410C"/>
                  </a:solidFill>
                  <a:latin typeface="+mn-lt"/>
                  <a:ea typeface="+mn-ea"/>
                  <a:cs typeface="+mn-cs"/>
                </a:rPr>
                <a:t>Q</a:t>
              </a:r>
            </a:p>
          </p:txBody>
        </p:sp>
        <p:sp>
          <p:nvSpPr>
            <p:cNvPr id="33" name="Line 33"/>
            <p:cNvSpPr/>
            <p:nvPr/>
          </p:nvSpPr>
          <p:spPr>
            <a:xfrm>
              <a:off x="1924050" y="5162550"/>
              <a:ext cx="781050" cy="9525"/>
            </a:xfrm>
            <a:custGeom>
              <a:avLst/>
              <a:gdLst/>
              <a:ahLst/>
              <a:cxnLst/>
              <a:rect l="l" t="t" r="r" b="b"/>
              <a:pathLst>
                <a:path w="781050" h="9525">
                  <a:moveTo>
                    <a:pt x="781050" y="0"/>
                  </a:moveTo>
                  <a:lnTo>
                    <a:pt x="0" y="0"/>
                  </a:lnTo>
                </a:path>
              </a:pathLst>
            </a:custGeom>
            <a:noFill/>
            <a:ln w="15240">
              <a:solidFill>
                <a:srgbClr val="334E68"/>
              </a:solidFill>
            </a:ln>
          </p:spPr>
        </p:sp>
        <p:sp>
          <p:nvSpPr>
            <p:cNvPr id="34" name="Line 34"/>
            <p:cNvSpPr/>
            <p:nvPr/>
          </p:nvSpPr>
          <p:spPr>
            <a:xfrm>
              <a:off x="1924050" y="3514725"/>
              <a:ext cx="9525" cy="1647825"/>
            </a:xfrm>
            <a:custGeom>
              <a:avLst/>
              <a:gdLst/>
              <a:ahLst/>
              <a:cxnLst/>
              <a:rect l="l" t="t" r="r" b="b"/>
              <a:pathLst>
                <a:path w="9525" h="1647825">
                  <a:moveTo>
                    <a:pt x="0" y="1647825"/>
                  </a:moveTo>
                  <a:lnTo>
                    <a:pt x="0" y="0"/>
                  </a:lnTo>
                </a:path>
              </a:pathLst>
            </a:custGeom>
            <a:noFill/>
            <a:ln w="15240">
              <a:solidFill>
                <a:srgbClr val="334E68"/>
              </a:solidFill>
            </a:ln>
          </p:spPr>
        </p:sp>
        <p:sp>
          <p:nvSpPr>
            <p:cNvPr id="35" name="Line 35"/>
            <p:cNvSpPr/>
            <p:nvPr/>
          </p:nvSpPr>
          <p:spPr>
            <a:xfrm>
              <a:off x="1924050" y="3514725"/>
              <a:ext cx="762000" cy="9525"/>
            </a:xfrm>
            <a:custGeom>
              <a:avLst/>
              <a:gdLst/>
              <a:ahLst/>
              <a:cxnLst/>
              <a:rect l="l" t="t" r="r" b="b"/>
              <a:pathLst>
                <a:path w="762000" h="9525">
                  <a:moveTo>
                    <a:pt x="0" y="0"/>
                  </a:moveTo>
                  <a:lnTo>
                    <a:pt x="762000" y="0"/>
                  </a:lnTo>
                </a:path>
              </a:pathLst>
            </a:custGeom>
            <a:noFill/>
            <a:ln w="15240">
              <a:solidFill>
                <a:srgbClr val="334E68"/>
              </a:solidFill>
            </a:ln>
          </p:spPr>
        </p:sp>
        <p:sp>
          <p:nvSpPr>
            <p:cNvPr id="36" name="Polygon 36"/>
            <p:cNvSpPr/>
            <p:nvPr/>
          </p:nvSpPr>
          <p:spPr>
            <a:xfrm>
              <a:off x="2647950" y="3467100"/>
              <a:ext cx="76200" cy="95250"/>
            </a:xfrm>
            <a:custGeom>
              <a:avLst/>
              <a:gdLst/>
              <a:ahLst/>
              <a:cxnLst/>
              <a:rect l="l" t="t" r="r" b="b"/>
              <a:pathLst>
                <a:path w="76200" h="95250">
                  <a:moveTo>
                    <a:pt x="0" y="0"/>
                  </a:moveTo>
                  <a:lnTo>
                    <a:pt x="0" y="95250"/>
                  </a:lnTo>
                  <a:lnTo>
                    <a:pt x="76200" y="47625"/>
                  </a:lnTo>
                  <a:close/>
                </a:path>
              </a:pathLst>
            </a:custGeom>
            <a:solidFill>
              <a:srgbClr val="334E68"/>
            </a:solidFill>
            <a:ln w="9525">
              <a:solidFill>
                <a:srgbClr val="334E68"/>
              </a:solidFill>
            </a:ln>
          </p:spPr>
        </p:sp>
        <p:sp>
          <p:nvSpPr>
            <p:cNvPr id="37" name="TextBox 37"/>
            <p:cNvSpPr txBox="1"/>
            <p:nvPr/>
          </p:nvSpPr>
          <p:spPr>
            <a:xfrm>
              <a:off x="2469397" y="4987766"/>
              <a:ext cx="90407" cy="190690"/>
            </a:xfrm>
            <a:prstGeom prst="rect">
              <a:avLst/>
            </a:prstGeom>
            <a:noFill/>
            <a:ln>
              <a:noFill/>
            </a:ln>
          </p:spPr>
          <p:txBody>
            <a:bodyPr wrap="none" lIns="0" tIns="0" rIns="0" bIns="0" anchor="t" anchorCtr="0">
              <a:spAutoFit/>
            </a:bodyPr>
            <a:lstStyle/>
            <a:p>
              <a:pPr algn="ctr"/>
              <a:r>
                <a:rPr lang="en-US" sz="980" b="1" dirty="0">
                  <a:solidFill>
                    <a:srgbClr val="5B6475"/>
                  </a:solidFill>
                  <a:latin typeface="+mn-lt"/>
                  <a:ea typeface="+mn-ea"/>
                  <a:cs typeface="+mn-cs"/>
                </a:rPr>
                <a:t>N</a:t>
              </a:r>
            </a:p>
          </p:txBody>
        </p:sp>
        <p:sp>
          <p:nvSpPr>
            <p:cNvPr id="38" name="Line 38"/>
            <p:cNvSpPr/>
            <p:nvPr/>
          </p:nvSpPr>
          <p:spPr>
            <a:xfrm>
              <a:off x="3314700" y="5467350"/>
              <a:ext cx="9525" cy="381000"/>
            </a:xfrm>
            <a:custGeom>
              <a:avLst/>
              <a:gdLst/>
              <a:ahLst/>
              <a:cxnLst/>
              <a:rect l="l" t="t" r="r" b="b"/>
              <a:pathLst>
                <a:path w="9525" h="381000">
                  <a:moveTo>
                    <a:pt x="0" y="0"/>
                  </a:moveTo>
                  <a:lnTo>
                    <a:pt x="0" y="381000"/>
                  </a:lnTo>
                </a:path>
              </a:pathLst>
            </a:custGeom>
            <a:noFill/>
            <a:ln w="15240">
              <a:solidFill>
                <a:srgbClr val="334E68"/>
              </a:solidFill>
            </a:ln>
          </p:spPr>
        </p:sp>
        <p:sp>
          <p:nvSpPr>
            <p:cNvPr id="39" name="Line 39"/>
            <p:cNvSpPr/>
            <p:nvPr/>
          </p:nvSpPr>
          <p:spPr>
            <a:xfrm>
              <a:off x="1257300" y="5848350"/>
              <a:ext cx="2057400" cy="9525"/>
            </a:xfrm>
            <a:custGeom>
              <a:avLst/>
              <a:gdLst/>
              <a:ahLst/>
              <a:cxnLst/>
              <a:rect l="l" t="t" r="r" b="b"/>
              <a:pathLst>
                <a:path w="2057400" h="9525">
                  <a:moveTo>
                    <a:pt x="2057400" y="0"/>
                  </a:moveTo>
                  <a:lnTo>
                    <a:pt x="0" y="0"/>
                  </a:lnTo>
                </a:path>
              </a:pathLst>
            </a:custGeom>
            <a:noFill/>
            <a:ln w="15240">
              <a:solidFill>
                <a:srgbClr val="334E68"/>
              </a:solidFill>
            </a:ln>
          </p:spPr>
        </p:sp>
        <p:sp>
          <p:nvSpPr>
            <p:cNvPr id="40" name="Line 40"/>
            <p:cNvSpPr/>
            <p:nvPr/>
          </p:nvSpPr>
          <p:spPr>
            <a:xfrm>
              <a:off x="1257300" y="2867025"/>
              <a:ext cx="9525" cy="2981325"/>
            </a:xfrm>
            <a:custGeom>
              <a:avLst/>
              <a:gdLst/>
              <a:ahLst/>
              <a:cxnLst/>
              <a:rect l="l" t="t" r="r" b="b"/>
              <a:pathLst>
                <a:path w="9525" h="2981325">
                  <a:moveTo>
                    <a:pt x="0" y="2981325"/>
                  </a:moveTo>
                  <a:lnTo>
                    <a:pt x="0" y="0"/>
                  </a:lnTo>
                </a:path>
              </a:pathLst>
            </a:custGeom>
            <a:noFill/>
            <a:ln w="15240">
              <a:solidFill>
                <a:srgbClr val="334E68"/>
              </a:solidFill>
            </a:ln>
          </p:spPr>
        </p:sp>
        <p:sp>
          <p:nvSpPr>
            <p:cNvPr id="41" name="Line 41"/>
            <p:cNvSpPr/>
            <p:nvPr/>
          </p:nvSpPr>
          <p:spPr>
            <a:xfrm>
              <a:off x="1257300" y="2867025"/>
              <a:ext cx="1428750" cy="9525"/>
            </a:xfrm>
            <a:custGeom>
              <a:avLst/>
              <a:gdLst/>
              <a:ahLst/>
              <a:cxnLst/>
              <a:rect l="l" t="t" r="r" b="b"/>
              <a:pathLst>
                <a:path w="1428750" h="9525">
                  <a:moveTo>
                    <a:pt x="0" y="0"/>
                  </a:moveTo>
                  <a:lnTo>
                    <a:pt x="1428750" y="0"/>
                  </a:lnTo>
                </a:path>
              </a:pathLst>
            </a:custGeom>
            <a:noFill/>
            <a:ln w="15240">
              <a:solidFill>
                <a:srgbClr val="334E68"/>
              </a:solidFill>
            </a:ln>
          </p:spPr>
        </p:sp>
        <p:sp>
          <p:nvSpPr>
            <p:cNvPr id="42" name="Polygon 42"/>
            <p:cNvSpPr/>
            <p:nvPr/>
          </p:nvSpPr>
          <p:spPr>
            <a:xfrm>
              <a:off x="2647950" y="2819400"/>
              <a:ext cx="76200" cy="95250"/>
            </a:xfrm>
            <a:custGeom>
              <a:avLst/>
              <a:gdLst/>
              <a:ahLst/>
              <a:cxnLst/>
              <a:rect l="l" t="t" r="r" b="b"/>
              <a:pathLst>
                <a:path w="76200" h="95250">
                  <a:moveTo>
                    <a:pt x="0" y="0"/>
                  </a:moveTo>
                  <a:lnTo>
                    <a:pt x="0" y="95250"/>
                  </a:lnTo>
                  <a:lnTo>
                    <a:pt x="76200" y="47625"/>
                  </a:lnTo>
                  <a:close/>
                </a:path>
              </a:pathLst>
            </a:custGeom>
            <a:solidFill>
              <a:srgbClr val="334E68"/>
            </a:solidFill>
            <a:ln w="9525">
              <a:solidFill>
                <a:srgbClr val="334E68"/>
              </a:solidFill>
            </a:ln>
          </p:spPr>
        </p:sp>
        <p:sp>
          <p:nvSpPr>
            <p:cNvPr id="43" name="TextBox 43"/>
            <p:cNvSpPr txBox="1"/>
            <p:nvPr/>
          </p:nvSpPr>
          <p:spPr>
            <a:xfrm>
              <a:off x="3421897" y="5597366"/>
              <a:ext cx="90407" cy="190690"/>
            </a:xfrm>
            <a:prstGeom prst="rect">
              <a:avLst/>
            </a:prstGeom>
            <a:noFill/>
            <a:ln>
              <a:noFill/>
            </a:ln>
          </p:spPr>
          <p:txBody>
            <a:bodyPr wrap="none" lIns="0" tIns="0" rIns="0" bIns="0" anchor="t" anchorCtr="0">
              <a:spAutoFit/>
            </a:bodyPr>
            <a:lstStyle/>
            <a:p>
              <a:pPr algn="ctr"/>
              <a:r>
                <a:rPr lang="en-US" sz="980" b="1" dirty="0">
                  <a:solidFill>
                    <a:srgbClr val="5B6475"/>
                  </a:solidFill>
                  <a:latin typeface="+mn-lt"/>
                  <a:ea typeface="+mn-ea"/>
                  <a:cs typeface="+mn-cs"/>
                </a:rPr>
                <a:t>Y</a:t>
              </a:r>
            </a:p>
          </p:txBody>
        </p:sp>
      </p:grpSp>
      <p:grpSp>
        <p:nvGrpSpPr>
          <p:cNvPr id="71" name="exa"/>
          <p:cNvGrpSpPr/>
          <p:nvPr/>
        </p:nvGrpSpPr>
        <p:grpSpPr>
          <a:xfrm>
            <a:off x="5981700" y="1581150"/>
            <a:ext cx="5676900" cy="4724400"/>
            <a:chOff x="5981700" y="1581150"/>
            <a:chExt cx="5676900" cy="4724400"/>
          </a:xfrm>
        </p:grpSpPr>
        <p:sp>
          <p:nvSpPr>
            <p:cNvPr id="45" name="Rectangle 45"/>
            <p:cNvSpPr/>
            <p:nvPr/>
          </p:nvSpPr>
          <p:spPr>
            <a:xfrm>
              <a:off x="5981700" y="1581150"/>
              <a:ext cx="5676900" cy="4724400"/>
            </a:xfrm>
            <a:prstGeom prst="roundRect">
              <a:avLst>
                <a:gd name="adj" fmla="val 2016"/>
              </a:avLst>
            </a:prstGeom>
            <a:solidFill>
              <a:srgbClr val="E3F5F1"/>
            </a:solidFill>
            <a:ln w="11430">
              <a:solidFill>
                <a:srgbClr val="B8E0D8"/>
              </a:solidFill>
            </a:ln>
          </p:spPr>
        </p:sp>
        <p:sp>
          <p:nvSpPr>
            <p:cNvPr id="46" name="TextBox 46"/>
            <p:cNvSpPr txBox="1"/>
            <p:nvPr/>
          </p:nvSpPr>
          <p:spPr>
            <a:xfrm>
              <a:off x="6166104" y="1699260"/>
              <a:ext cx="1384706" cy="234696"/>
            </a:xfrm>
            <a:prstGeom prst="rect">
              <a:avLst/>
            </a:prstGeom>
            <a:noFill/>
            <a:ln>
              <a:noFill/>
            </a:ln>
          </p:spPr>
          <p:txBody>
            <a:bodyPr wrap="none" lIns="0" tIns="0" rIns="0" bIns="0" anchor="t" anchorCtr="0">
              <a:spAutoFit/>
            </a:bodyPr>
            <a:lstStyle/>
            <a:p>
              <a:pPr algn="l"/>
              <a:r>
                <a:rPr lang="zh-CN" sz="1200" b="1" dirty="0">
                  <a:solidFill>
                    <a:srgbClr val="0F7A68"/>
                  </a:solidFill>
                  <a:latin typeface="+mn-lt"/>
                  <a:ea typeface="+mn-ea"/>
                  <a:cs typeface="+mn-cs"/>
                </a:rPr>
                <a:t>答：对应的 PAD 图</a:t>
              </a:r>
            </a:p>
          </p:txBody>
        </p:sp>
        <p:sp>
          <p:nvSpPr>
            <p:cNvPr id="47" name="Line 47"/>
            <p:cNvSpPr/>
            <p:nvPr/>
          </p:nvSpPr>
          <p:spPr>
            <a:xfrm>
              <a:off x="6400800" y="2038350"/>
              <a:ext cx="9525" cy="3295650"/>
            </a:xfrm>
            <a:custGeom>
              <a:avLst/>
              <a:gdLst/>
              <a:ahLst/>
              <a:cxnLst/>
              <a:rect l="l" t="t" r="r" b="b"/>
              <a:pathLst>
                <a:path w="9525" h="3295650">
                  <a:moveTo>
                    <a:pt x="0" y="0"/>
                  </a:moveTo>
                  <a:lnTo>
                    <a:pt x="0" y="3295650"/>
                  </a:lnTo>
                </a:path>
              </a:pathLst>
            </a:custGeom>
            <a:noFill/>
            <a:ln w="20955">
              <a:solidFill>
                <a:srgbClr val="334E68"/>
              </a:solidFill>
            </a:ln>
          </p:spPr>
        </p:sp>
        <p:sp>
          <p:nvSpPr>
            <p:cNvPr id="48" name="Rectangle 48"/>
            <p:cNvSpPr/>
            <p:nvPr/>
          </p:nvSpPr>
          <p:spPr>
            <a:xfrm>
              <a:off x="6400800" y="2095500"/>
              <a:ext cx="1333500" cy="381000"/>
            </a:xfrm>
            <a:prstGeom prst="rect">
              <a:avLst/>
            </a:prstGeom>
            <a:solidFill>
              <a:srgbClr val="FFFFFF"/>
            </a:solidFill>
            <a:ln w="15240">
              <a:solidFill>
                <a:srgbClr val="334E68"/>
              </a:solidFill>
            </a:ln>
          </p:spPr>
        </p:sp>
        <p:sp>
          <p:nvSpPr>
            <p:cNvPr id="49" name="TextBox 49"/>
            <p:cNvSpPr txBox="1"/>
            <p:nvPr/>
          </p:nvSpPr>
          <p:spPr>
            <a:xfrm>
              <a:off x="7015835" y="2215991"/>
              <a:ext cx="103431"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A</a:t>
              </a:r>
            </a:p>
          </p:txBody>
        </p:sp>
        <p:sp>
          <p:nvSpPr>
            <p:cNvPr id="50" name="Rectangle 50"/>
            <p:cNvSpPr/>
            <p:nvPr/>
          </p:nvSpPr>
          <p:spPr>
            <a:xfrm>
              <a:off x="6400800" y="2628900"/>
              <a:ext cx="1333500" cy="381000"/>
            </a:xfrm>
            <a:prstGeom prst="rect">
              <a:avLst/>
            </a:prstGeom>
            <a:solidFill>
              <a:srgbClr val="FFFFFF"/>
            </a:solidFill>
            <a:ln w="15240">
              <a:solidFill>
                <a:srgbClr val="334E68"/>
              </a:solidFill>
            </a:ln>
          </p:spPr>
        </p:sp>
        <p:sp>
          <p:nvSpPr>
            <p:cNvPr id="51" name="TextBox 51"/>
            <p:cNvSpPr txBox="1"/>
            <p:nvPr/>
          </p:nvSpPr>
          <p:spPr>
            <a:xfrm>
              <a:off x="7015835" y="2749391"/>
              <a:ext cx="103431"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B</a:t>
              </a:r>
            </a:p>
          </p:txBody>
        </p:sp>
        <p:sp>
          <p:nvSpPr>
            <p:cNvPr id="52" name="Rectangle 52"/>
            <p:cNvSpPr/>
            <p:nvPr/>
          </p:nvSpPr>
          <p:spPr>
            <a:xfrm>
              <a:off x="6400800" y="3200400"/>
              <a:ext cx="1504950" cy="438150"/>
            </a:xfrm>
            <a:prstGeom prst="rect">
              <a:avLst/>
            </a:prstGeom>
            <a:solidFill>
              <a:srgbClr val="FFFFFF"/>
            </a:solidFill>
            <a:ln w="15240">
              <a:solidFill>
                <a:srgbClr val="334E68"/>
              </a:solidFill>
            </a:ln>
          </p:spPr>
        </p:sp>
        <p:sp>
          <p:nvSpPr>
            <p:cNvPr id="53" name="Line 53"/>
            <p:cNvSpPr/>
            <p:nvPr/>
          </p:nvSpPr>
          <p:spPr>
            <a:xfrm>
              <a:off x="7772400" y="3200400"/>
              <a:ext cx="9525" cy="438150"/>
            </a:xfrm>
            <a:custGeom>
              <a:avLst/>
              <a:gdLst/>
              <a:ahLst/>
              <a:cxnLst/>
              <a:rect l="l" t="t" r="r" b="b"/>
              <a:pathLst>
                <a:path w="9525" h="438150">
                  <a:moveTo>
                    <a:pt x="0" y="0"/>
                  </a:moveTo>
                  <a:lnTo>
                    <a:pt x="0" y="438150"/>
                  </a:lnTo>
                </a:path>
              </a:pathLst>
            </a:custGeom>
            <a:noFill/>
            <a:ln w="15240">
              <a:solidFill>
                <a:srgbClr val="334E68"/>
              </a:solidFill>
            </a:ln>
          </p:spPr>
        </p:sp>
        <p:sp>
          <p:nvSpPr>
            <p:cNvPr id="54" name="TextBox 54"/>
            <p:cNvSpPr txBox="1"/>
            <p:nvPr/>
          </p:nvSpPr>
          <p:spPr>
            <a:xfrm>
              <a:off x="6802911" y="3353752"/>
              <a:ext cx="567378" cy="205359"/>
            </a:xfrm>
            <a:prstGeom prst="rect">
              <a:avLst/>
            </a:prstGeom>
            <a:noFill/>
            <a:ln>
              <a:noFill/>
            </a:ln>
          </p:spPr>
          <p:txBody>
            <a:bodyPr wrap="none" lIns="0" tIns="0" rIns="0" bIns="0" anchor="t" anchorCtr="0">
              <a:spAutoFit/>
            </a:bodyPr>
            <a:lstStyle/>
            <a:p>
              <a:pPr algn="ctr"/>
              <a:r>
                <a:rPr lang="en-US" sz="1050" b="1" dirty="0">
                  <a:solidFill>
                    <a:srgbClr val="C2410C"/>
                  </a:solidFill>
                  <a:latin typeface="+mn-lt"/>
                  <a:ea typeface="+mn-ea"/>
                  <a:cs typeface="+mn-cs"/>
                </a:rPr>
                <a:t>WHILE P</a:t>
              </a:r>
            </a:p>
          </p:txBody>
        </p:sp>
        <p:sp>
          <p:nvSpPr>
            <p:cNvPr id="55" name="Line 55"/>
            <p:cNvSpPr/>
            <p:nvPr/>
          </p:nvSpPr>
          <p:spPr>
            <a:xfrm>
              <a:off x="7905750" y="3419475"/>
              <a:ext cx="457200" cy="9525"/>
            </a:xfrm>
            <a:custGeom>
              <a:avLst/>
              <a:gdLst/>
              <a:ahLst/>
              <a:cxnLst/>
              <a:rect l="l" t="t" r="r" b="b"/>
              <a:pathLst>
                <a:path w="457200" h="9525">
                  <a:moveTo>
                    <a:pt x="0" y="0"/>
                  </a:moveTo>
                  <a:lnTo>
                    <a:pt x="457200" y="0"/>
                  </a:lnTo>
                </a:path>
              </a:pathLst>
            </a:custGeom>
            <a:noFill/>
            <a:ln w="15240">
              <a:solidFill>
                <a:srgbClr val="334E68"/>
              </a:solidFill>
            </a:ln>
          </p:spPr>
        </p:sp>
        <p:sp>
          <p:nvSpPr>
            <p:cNvPr id="56" name="Line 56"/>
            <p:cNvSpPr/>
            <p:nvPr/>
          </p:nvSpPr>
          <p:spPr>
            <a:xfrm>
              <a:off x="8362950" y="3200400"/>
              <a:ext cx="9525" cy="1943100"/>
            </a:xfrm>
            <a:custGeom>
              <a:avLst/>
              <a:gdLst/>
              <a:ahLst/>
              <a:cxnLst/>
              <a:rect l="l" t="t" r="r" b="b"/>
              <a:pathLst>
                <a:path w="9525" h="1943100">
                  <a:moveTo>
                    <a:pt x="0" y="0"/>
                  </a:moveTo>
                  <a:lnTo>
                    <a:pt x="0" y="1943100"/>
                  </a:lnTo>
                </a:path>
              </a:pathLst>
            </a:custGeom>
            <a:noFill/>
            <a:ln w="20955">
              <a:solidFill>
                <a:srgbClr val="334E68"/>
              </a:solidFill>
            </a:ln>
          </p:spPr>
        </p:sp>
        <p:sp>
          <p:nvSpPr>
            <p:cNvPr id="57" name="Polygon 57"/>
            <p:cNvSpPr/>
            <p:nvPr/>
          </p:nvSpPr>
          <p:spPr>
            <a:xfrm>
              <a:off x="8362950" y="3409950"/>
              <a:ext cx="952500" cy="838200"/>
            </a:xfrm>
            <a:custGeom>
              <a:avLst/>
              <a:gdLst/>
              <a:ahLst/>
              <a:cxnLst/>
              <a:rect l="l" t="t" r="r" b="b"/>
              <a:pathLst>
                <a:path w="952500" h="838200">
                  <a:moveTo>
                    <a:pt x="0" y="0"/>
                  </a:moveTo>
                  <a:lnTo>
                    <a:pt x="952500" y="0"/>
                  </a:lnTo>
                  <a:lnTo>
                    <a:pt x="800100" y="419100"/>
                  </a:lnTo>
                  <a:lnTo>
                    <a:pt x="952500" y="838200"/>
                  </a:lnTo>
                  <a:lnTo>
                    <a:pt x="0" y="838200"/>
                  </a:lnTo>
                  <a:close/>
                </a:path>
              </a:pathLst>
            </a:custGeom>
            <a:solidFill>
              <a:srgbClr val="FFFFFF"/>
            </a:solidFill>
            <a:ln w="15240">
              <a:solidFill>
                <a:srgbClr val="334E68"/>
              </a:solidFill>
            </a:ln>
          </p:spPr>
        </p:sp>
        <p:sp>
          <p:nvSpPr>
            <p:cNvPr id="58" name="TextBox 58"/>
            <p:cNvSpPr txBox="1"/>
            <p:nvPr/>
          </p:nvSpPr>
          <p:spPr>
            <a:xfrm>
              <a:off x="8542157" y="3759041"/>
              <a:ext cx="136886" cy="220028"/>
            </a:xfrm>
            <a:prstGeom prst="rect">
              <a:avLst/>
            </a:prstGeom>
            <a:noFill/>
            <a:ln>
              <a:noFill/>
            </a:ln>
          </p:spPr>
          <p:txBody>
            <a:bodyPr wrap="none" lIns="0" tIns="0" rIns="0" bIns="0" anchor="t" anchorCtr="0">
              <a:spAutoFit/>
            </a:bodyPr>
            <a:lstStyle/>
            <a:p>
              <a:pPr algn="ctr"/>
              <a:r>
                <a:rPr lang="en-US" sz="1120" b="1" dirty="0">
                  <a:solidFill>
                    <a:srgbClr val="C2410C"/>
                  </a:solidFill>
                  <a:latin typeface="+mn-lt"/>
                  <a:ea typeface="+mn-ea"/>
                  <a:cs typeface="+mn-cs"/>
                </a:rPr>
                <a:t>Q</a:t>
              </a:r>
            </a:p>
          </p:txBody>
        </p:sp>
        <p:sp>
          <p:nvSpPr>
            <p:cNvPr id="59" name="Line 59"/>
            <p:cNvSpPr/>
            <p:nvPr/>
          </p:nvSpPr>
          <p:spPr>
            <a:xfrm>
              <a:off x="9315450" y="3619500"/>
              <a:ext cx="457200" cy="9525"/>
            </a:xfrm>
            <a:custGeom>
              <a:avLst/>
              <a:gdLst/>
              <a:ahLst/>
              <a:cxnLst/>
              <a:rect l="l" t="t" r="r" b="b"/>
              <a:pathLst>
                <a:path w="457200" h="9525">
                  <a:moveTo>
                    <a:pt x="0" y="0"/>
                  </a:moveTo>
                  <a:lnTo>
                    <a:pt x="457200" y="0"/>
                  </a:lnTo>
                </a:path>
              </a:pathLst>
            </a:custGeom>
            <a:noFill/>
            <a:ln w="15240">
              <a:solidFill>
                <a:srgbClr val="334E68"/>
              </a:solidFill>
            </a:ln>
          </p:spPr>
        </p:sp>
        <p:sp>
          <p:nvSpPr>
            <p:cNvPr id="60" name="Rectangle 60"/>
            <p:cNvSpPr/>
            <p:nvPr/>
          </p:nvSpPr>
          <p:spPr>
            <a:xfrm>
              <a:off x="9772650" y="3429000"/>
              <a:ext cx="1047750" cy="381000"/>
            </a:xfrm>
            <a:prstGeom prst="rect">
              <a:avLst/>
            </a:prstGeom>
            <a:solidFill>
              <a:srgbClr val="FFFFFF"/>
            </a:solidFill>
            <a:ln w="15240">
              <a:solidFill>
                <a:srgbClr val="334E68"/>
              </a:solidFill>
            </a:ln>
          </p:spPr>
        </p:sp>
        <p:sp>
          <p:nvSpPr>
            <p:cNvPr id="61" name="TextBox 61"/>
            <p:cNvSpPr txBox="1"/>
            <p:nvPr/>
          </p:nvSpPr>
          <p:spPr>
            <a:xfrm>
              <a:off x="10244810" y="3549491"/>
              <a:ext cx="103431"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A</a:t>
              </a:r>
            </a:p>
          </p:txBody>
        </p:sp>
        <p:sp>
          <p:nvSpPr>
            <p:cNvPr id="62" name="TextBox 62"/>
            <p:cNvSpPr txBox="1"/>
            <p:nvPr/>
          </p:nvSpPr>
          <p:spPr>
            <a:xfrm>
              <a:off x="9502323" y="3449002"/>
              <a:ext cx="83454" cy="176212"/>
            </a:xfrm>
            <a:prstGeom prst="rect">
              <a:avLst/>
            </a:prstGeom>
            <a:noFill/>
            <a:ln>
              <a:noFill/>
            </a:ln>
          </p:spPr>
          <p:txBody>
            <a:bodyPr wrap="none" lIns="0" tIns="0" rIns="0" bIns="0" anchor="t" anchorCtr="0">
              <a:spAutoFit/>
            </a:bodyPr>
            <a:lstStyle/>
            <a:p>
              <a:pPr algn="ctr"/>
              <a:r>
                <a:rPr lang="en-US" sz="900" b="1" dirty="0">
                  <a:solidFill>
                    <a:srgbClr val="5B6475"/>
                  </a:solidFill>
                  <a:latin typeface="+mn-lt"/>
                  <a:ea typeface="+mn-ea"/>
                  <a:cs typeface="+mn-cs"/>
                </a:rPr>
                <a:t>T</a:t>
              </a:r>
            </a:p>
          </p:txBody>
        </p:sp>
        <p:sp>
          <p:nvSpPr>
            <p:cNvPr id="63" name="Line 63"/>
            <p:cNvSpPr/>
            <p:nvPr/>
          </p:nvSpPr>
          <p:spPr>
            <a:xfrm>
              <a:off x="9315450" y="4038600"/>
              <a:ext cx="323850" cy="9525"/>
            </a:xfrm>
            <a:custGeom>
              <a:avLst/>
              <a:gdLst/>
              <a:ahLst/>
              <a:cxnLst/>
              <a:rect l="l" t="t" r="r" b="b"/>
              <a:pathLst>
                <a:path w="323850" h="9525">
                  <a:moveTo>
                    <a:pt x="0" y="0"/>
                  </a:moveTo>
                  <a:lnTo>
                    <a:pt x="323850" y="0"/>
                  </a:lnTo>
                </a:path>
              </a:pathLst>
            </a:custGeom>
            <a:noFill/>
            <a:ln w="15240">
              <a:solidFill>
                <a:srgbClr val="334E68"/>
              </a:solidFill>
            </a:ln>
          </p:spPr>
        </p:sp>
        <p:sp>
          <p:nvSpPr>
            <p:cNvPr id="64" name="TextBox 64"/>
            <p:cNvSpPr txBox="1"/>
            <p:nvPr/>
          </p:nvSpPr>
          <p:spPr>
            <a:xfrm>
              <a:off x="9681400" y="3982402"/>
              <a:ext cx="372999" cy="176212"/>
            </a:xfrm>
            <a:prstGeom prst="rect">
              <a:avLst/>
            </a:prstGeom>
            <a:noFill/>
            <a:ln>
              <a:noFill/>
            </a:ln>
          </p:spPr>
          <p:txBody>
            <a:bodyPr wrap="none" lIns="0" tIns="0" rIns="0" bIns="0" anchor="t" anchorCtr="0">
              <a:spAutoFit/>
            </a:bodyPr>
            <a:lstStyle/>
            <a:p>
              <a:pPr algn="ctr"/>
              <a:r>
                <a:rPr lang="zh-CN" sz="900" dirty="0">
                  <a:solidFill>
                    <a:srgbClr val="5B6475"/>
                  </a:solidFill>
                  <a:latin typeface="+mn-lt"/>
                  <a:ea typeface="+mn-ea"/>
                  <a:cs typeface="+mn-cs"/>
                </a:rPr>
                <a:t>（空）</a:t>
              </a:r>
            </a:p>
          </p:txBody>
        </p:sp>
        <p:sp>
          <p:nvSpPr>
            <p:cNvPr id="65" name="Rectangle 65"/>
            <p:cNvSpPr/>
            <p:nvPr/>
          </p:nvSpPr>
          <p:spPr>
            <a:xfrm>
              <a:off x="8362950" y="4572000"/>
              <a:ext cx="1333500" cy="381000"/>
            </a:xfrm>
            <a:prstGeom prst="rect">
              <a:avLst/>
            </a:prstGeom>
            <a:solidFill>
              <a:srgbClr val="FFFFFF"/>
            </a:solidFill>
            <a:ln w="15240">
              <a:solidFill>
                <a:srgbClr val="334E68"/>
              </a:solidFill>
            </a:ln>
          </p:spPr>
        </p:sp>
        <p:sp>
          <p:nvSpPr>
            <p:cNvPr id="66" name="TextBox 66"/>
            <p:cNvSpPr txBox="1"/>
            <p:nvPr/>
          </p:nvSpPr>
          <p:spPr>
            <a:xfrm>
              <a:off x="8977985" y="4692491"/>
              <a:ext cx="103431" cy="220028"/>
            </a:xfrm>
            <a:prstGeom prst="rect">
              <a:avLst/>
            </a:prstGeom>
            <a:noFill/>
            <a:ln>
              <a:noFill/>
            </a:ln>
          </p:spPr>
          <p:txBody>
            <a:bodyPr wrap="none" lIns="0" tIns="0" rIns="0" bIns="0" anchor="t" anchorCtr="0">
              <a:spAutoFit/>
            </a:bodyPr>
            <a:lstStyle/>
            <a:p>
              <a:pPr algn="ctr"/>
              <a:r>
                <a:rPr lang="en-US" sz="1120" b="1" dirty="0">
                  <a:solidFill>
                    <a:srgbClr val="1F2937"/>
                  </a:solidFill>
                  <a:latin typeface="+mn-lt"/>
                  <a:ea typeface="+mn-ea"/>
                  <a:cs typeface="+mn-cs"/>
                </a:rPr>
                <a:t>B</a:t>
              </a:r>
            </a:p>
          </p:txBody>
        </p:sp>
        <p:sp>
          <p:nvSpPr>
            <p:cNvPr id="67" name="Rectangle 67"/>
            <p:cNvSpPr/>
            <p:nvPr/>
          </p:nvSpPr>
          <p:spPr>
            <a:xfrm>
              <a:off x="6172200" y="5391150"/>
              <a:ext cx="5295900" cy="781050"/>
            </a:xfrm>
            <a:prstGeom prst="roundRect">
              <a:avLst>
                <a:gd name="adj" fmla="val 9756"/>
              </a:avLst>
            </a:prstGeom>
            <a:solidFill>
              <a:srgbClr val="FFFFFF"/>
            </a:solidFill>
            <a:ln w="11430">
              <a:solidFill>
                <a:srgbClr val="B8E0D8"/>
              </a:solidFill>
            </a:ln>
          </p:spPr>
        </p:sp>
        <p:sp>
          <p:nvSpPr>
            <p:cNvPr id="68" name="TextBox 68"/>
            <p:cNvSpPr txBox="1"/>
            <p:nvPr/>
          </p:nvSpPr>
          <p:spPr>
            <a:xfrm>
              <a:off x="6338316" y="5525452"/>
              <a:ext cx="248137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读法：先做 A、B，再反复执行循环体；</a:t>
              </a:r>
            </a:p>
          </p:txBody>
        </p:sp>
        <p:sp>
          <p:nvSpPr>
            <p:cNvPr id="69" name="TextBox 69"/>
            <p:cNvSpPr txBox="1"/>
            <p:nvPr/>
          </p:nvSpPr>
          <p:spPr>
            <a:xfrm>
              <a:off x="6338316" y="5754052"/>
              <a:ext cx="2727808"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循环体是「若 Q 成立就做 A，然后做 B」，</a:t>
              </a:r>
            </a:p>
          </p:txBody>
        </p:sp>
        <p:sp>
          <p:nvSpPr>
            <p:cNvPr id="70" name="TextBox 70"/>
            <p:cNvSpPr txBox="1"/>
            <p:nvPr/>
          </p:nvSpPr>
          <p:spPr>
            <a:xfrm>
              <a:off x="6338316" y="5982652"/>
              <a:ext cx="145458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直到 P 不成立才退出。</a:t>
              </a:r>
            </a:p>
          </p:txBody>
        </p:sp>
      </p:grpSp>
      <p:grpSp>
        <p:nvGrpSpPr>
          <p:cNvPr id="74" name="footer"/>
          <p:cNvGrpSpPr/>
          <p:nvPr/>
        </p:nvGrpSpPr>
        <p:grpSpPr>
          <a:xfrm>
            <a:off x="528447" y="6581299"/>
            <a:ext cx="11135106" cy="190690"/>
            <a:chOff x="528447" y="6581299"/>
            <a:chExt cx="11135106" cy="190690"/>
          </a:xfrm>
        </p:grpSpPr>
        <p:sp>
          <p:nvSpPr>
            <p:cNvPr id="72" name="TextBox 72"/>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73" name="TextBox 7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25</a:t>
              </a:r>
            </a:p>
          </p:txBody>
        </p:sp>
      </p:gr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过程设计技术和工具</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判定表：条件组合与动作的对照表</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8" name="c1-card-1"/>
          <p:cNvGrpSpPr/>
          <p:nvPr/>
        </p:nvGrpSpPr>
        <p:grpSpPr>
          <a:xfrm>
            <a:off x="533400" y="1524000"/>
            <a:ext cx="5410200" cy="2085975"/>
            <a:chOff x="533400" y="1524000"/>
            <a:chExt cx="5410200" cy="2085975"/>
          </a:xfrm>
        </p:grpSpPr>
        <p:sp>
          <p:nvSpPr>
            <p:cNvPr id="7" name="Rectangle 7"/>
            <p:cNvSpPr/>
            <p:nvPr/>
          </p:nvSpPr>
          <p:spPr>
            <a:xfrm>
              <a:off x="533400" y="1524000"/>
              <a:ext cx="5410200" cy="2085975"/>
            </a:xfrm>
            <a:prstGeom prst="roundRect">
              <a:avLst>
                <a:gd name="adj" fmla="val 6393"/>
              </a:avLst>
            </a:prstGeom>
            <a:solidFill>
              <a:srgbClr val="FFFFFF"/>
            </a:solidFill>
            <a:ln w="14288">
              <a:solidFill>
                <a:srgbClr val="D9DFEA"/>
              </a:solidFill>
            </a:ln>
          </p:spPr>
        </p:sp>
        <p:sp>
          <p:nvSpPr>
            <p:cNvPr id="8" name="Rectangle 8"/>
            <p:cNvSpPr/>
            <p:nvPr/>
          </p:nvSpPr>
          <p:spPr>
            <a:xfrm>
              <a:off x="542925" y="1657350"/>
              <a:ext cx="47625" cy="1819275"/>
            </a:xfrm>
            <a:prstGeom prst="roundRect">
              <a:avLst>
                <a:gd name="adj" fmla="val 50000"/>
              </a:avLst>
            </a:prstGeom>
            <a:solidFill>
              <a:srgbClr val="334E68"/>
            </a:solidFill>
            <a:ln>
              <a:noFill/>
            </a:ln>
          </p:spPr>
        </p:sp>
        <p:sp>
          <p:nvSpPr>
            <p:cNvPr id="9" name="Rectangle 9"/>
            <p:cNvSpPr/>
            <p:nvPr/>
          </p:nvSpPr>
          <p:spPr>
            <a:xfrm>
              <a:off x="758190" y="1710690"/>
              <a:ext cx="831532" cy="238125"/>
            </a:xfrm>
            <a:prstGeom prst="roundRect">
              <a:avLst>
                <a:gd name="adj" fmla="val 50000"/>
              </a:avLst>
            </a:prstGeom>
            <a:solidFill>
              <a:srgbClr val="E7EDF3"/>
            </a:solidFill>
            <a:ln>
              <a:noFill/>
            </a:ln>
          </p:spPr>
        </p:sp>
        <p:sp>
          <p:nvSpPr>
            <p:cNvPr id="10" name="TextBox 10"/>
            <p:cNvSpPr txBox="1"/>
            <p:nvPr/>
          </p:nvSpPr>
          <p:spPr>
            <a:xfrm>
              <a:off x="839660" y="1743551"/>
              <a:ext cx="669544"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定义与用途</a:t>
              </a:r>
            </a:p>
          </p:txBody>
        </p:sp>
        <p:sp>
          <p:nvSpPr>
            <p:cNvPr id="11" name="TextBox 11"/>
            <p:cNvSpPr txBox="1"/>
            <p:nvPr/>
          </p:nvSpPr>
          <p:spPr>
            <a:xfrm>
              <a:off x="751332" y="2054542"/>
              <a:ext cx="48143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当算法中包含多重嵌套的条件选择时，判定表能够清晰地表示</a:t>
              </a:r>
              <a:r>
                <a:rPr lang="zh-CN" sz="1350" b="1" dirty="0">
                  <a:solidFill>
                    <a:srgbClr val="C2410C"/>
                  </a:solidFill>
                  <a:latin typeface="+mn-lt"/>
                  <a:ea typeface="+mn-ea"/>
                  <a:cs typeface="+mn-cs"/>
                </a:rPr>
                <a:t>复</a:t>
              </a:r>
              <a:br/>
              <a:r>
                <a:rPr lang="zh-CN" sz="1350" b="1" dirty="0">
                  <a:solidFill>
                    <a:srgbClr val="C2410C"/>
                  </a:solidFill>
                  <a:latin typeface="+mn-lt"/>
                  <a:ea typeface="+mn-ea"/>
                  <a:cs typeface="+mn-cs"/>
                </a:rPr>
                <a:t>杂的条件组合</a:t>
              </a:r>
              <a:r>
                <a:rPr lang="zh-CN" sz="1350" dirty="0">
                  <a:solidFill>
                    <a:srgbClr val="1F2937"/>
                  </a:solidFill>
                  <a:latin typeface="+mn-lt"/>
                  <a:ea typeface="+mn-ea"/>
                  <a:cs typeface="+mn-cs"/>
                </a:rPr>
                <a:t>与应做的动作之间的对应关系。</a:t>
              </a:r>
            </a:p>
          </p:txBody>
        </p:sp>
        <p:sp>
          <p:nvSpPr>
            <p:cNvPr id="12" name="Ellipse 12"/>
            <p:cNvSpPr/>
            <p:nvPr/>
          </p:nvSpPr>
          <p:spPr>
            <a:xfrm>
              <a:off x="766762" y="2668905"/>
              <a:ext cx="59055" cy="59055"/>
            </a:xfrm>
            <a:prstGeom prst="ellipse">
              <a:avLst/>
            </a:prstGeom>
            <a:solidFill>
              <a:srgbClr val="334E68"/>
            </a:solidFill>
            <a:ln>
              <a:noFill/>
            </a:ln>
          </p:spPr>
        </p:sp>
        <p:sp>
          <p:nvSpPr>
            <p:cNvPr id="13" name="TextBox 13"/>
            <p:cNvSpPr txBox="1"/>
            <p:nvPr/>
          </p:nvSpPr>
          <p:spPr>
            <a:xfrm>
              <a:off x="922782" y="2612708"/>
              <a:ext cx="219456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判定表表示程序的</a:t>
              </a:r>
              <a:r>
                <a:rPr lang="zh-CN" sz="1350" b="1" dirty="0">
                  <a:solidFill>
                    <a:srgbClr val="1F2937"/>
                  </a:solidFill>
                  <a:latin typeface="+mn-lt"/>
                  <a:ea typeface="+mn-ea"/>
                  <a:cs typeface="+mn-cs"/>
                </a:rPr>
                <a:t>静态逻辑</a:t>
              </a:r>
            </a:p>
          </p:txBody>
        </p:sp>
        <p:sp>
          <p:nvSpPr>
            <p:cNvPr id="14" name="Ellipse 14"/>
            <p:cNvSpPr/>
            <p:nvPr/>
          </p:nvSpPr>
          <p:spPr>
            <a:xfrm>
              <a:off x="766762" y="2968942"/>
              <a:ext cx="59055" cy="59055"/>
            </a:xfrm>
            <a:prstGeom prst="ellipse">
              <a:avLst/>
            </a:prstGeom>
            <a:solidFill>
              <a:srgbClr val="334E68"/>
            </a:solidFill>
            <a:ln>
              <a:noFill/>
            </a:ln>
          </p:spPr>
        </p:sp>
        <p:sp>
          <p:nvSpPr>
            <p:cNvPr id="15" name="TextBox 15"/>
            <p:cNvSpPr txBox="1"/>
            <p:nvPr/>
          </p:nvSpPr>
          <p:spPr>
            <a:xfrm>
              <a:off x="922782" y="2912745"/>
              <a:ext cx="473887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条件部分给出所有的</a:t>
              </a:r>
              <a:r>
                <a:rPr lang="zh-CN" sz="1350" b="1" dirty="0">
                  <a:solidFill>
                    <a:srgbClr val="1F2937"/>
                  </a:solidFill>
                  <a:latin typeface="+mn-lt"/>
                  <a:ea typeface="+mn-ea"/>
                  <a:cs typeface="+mn-cs"/>
                </a:rPr>
                <a:t>两分支判断</a:t>
              </a:r>
              <a:r>
                <a:rPr lang="zh-CN" sz="1350" dirty="0">
                  <a:solidFill>
                    <a:srgbClr val="1F2937"/>
                  </a:solidFill>
                  <a:latin typeface="+mn-lt"/>
                  <a:ea typeface="+mn-ea"/>
                  <a:cs typeface="+mn-cs"/>
                </a:rPr>
                <a:t>，动作部分给出相应的处理</a:t>
              </a:r>
            </a:p>
          </p:txBody>
        </p:sp>
        <p:sp>
          <p:nvSpPr>
            <p:cNvPr id="16" name="Ellipse 16"/>
            <p:cNvSpPr/>
            <p:nvPr/>
          </p:nvSpPr>
          <p:spPr>
            <a:xfrm>
              <a:off x="766762" y="3268980"/>
              <a:ext cx="59055" cy="59055"/>
            </a:xfrm>
            <a:prstGeom prst="ellipse">
              <a:avLst/>
            </a:prstGeom>
            <a:solidFill>
              <a:srgbClr val="334E68"/>
            </a:solidFill>
            <a:ln>
              <a:noFill/>
            </a:ln>
          </p:spPr>
        </p:sp>
        <p:sp>
          <p:nvSpPr>
            <p:cNvPr id="17" name="TextBox 17"/>
            <p:cNvSpPr txBox="1"/>
            <p:nvPr/>
          </p:nvSpPr>
          <p:spPr>
            <a:xfrm>
              <a:off x="922782" y="3212782"/>
              <a:ext cx="455714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因此要先把程序流程图中的多分支判断都改成两分支判断</a:t>
              </a:r>
            </a:p>
          </p:txBody>
        </p:sp>
      </p:grpSp>
      <p:grpSp>
        <p:nvGrpSpPr>
          <p:cNvPr id="37" name="c1-table-2"/>
          <p:cNvGrpSpPr/>
          <p:nvPr/>
        </p:nvGrpSpPr>
        <p:grpSpPr>
          <a:xfrm>
            <a:off x="533400" y="3780472"/>
            <a:ext cx="5410200" cy="2000250"/>
            <a:chOff x="533400" y="3780472"/>
            <a:chExt cx="5410200" cy="2000250"/>
          </a:xfrm>
        </p:grpSpPr>
        <p:sp>
          <p:nvSpPr>
            <p:cNvPr id="19" name="Rectangle 19"/>
            <p:cNvSpPr/>
            <p:nvPr/>
          </p:nvSpPr>
          <p:spPr>
            <a:xfrm>
              <a:off x="533400" y="3780472"/>
              <a:ext cx="5410200" cy="400050"/>
            </a:xfrm>
            <a:prstGeom prst="rect">
              <a:avLst/>
            </a:prstGeom>
            <a:solidFill>
              <a:srgbClr val="334E68"/>
            </a:solidFill>
            <a:ln>
              <a:noFill/>
            </a:ln>
          </p:spPr>
        </p:sp>
        <p:sp>
          <p:nvSpPr>
            <p:cNvPr id="20" name="TextBox 20"/>
            <p:cNvSpPr txBox="1"/>
            <p:nvPr/>
          </p:nvSpPr>
          <p:spPr>
            <a:xfrm>
              <a:off x="1297026" y="390191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区域</a:t>
              </a:r>
            </a:p>
          </p:txBody>
        </p:sp>
        <p:sp>
          <p:nvSpPr>
            <p:cNvPr id="21" name="TextBox 21"/>
            <p:cNvSpPr txBox="1"/>
            <p:nvPr/>
          </p:nvSpPr>
          <p:spPr>
            <a:xfrm>
              <a:off x="3926738" y="3901916"/>
              <a:ext cx="46375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放什么</a:t>
              </a:r>
            </a:p>
          </p:txBody>
        </p:sp>
        <p:sp>
          <p:nvSpPr>
            <p:cNvPr id="22" name="TextBox 22"/>
            <p:cNvSpPr txBox="1"/>
            <p:nvPr/>
          </p:nvSpPr>
          <p:spPr>
            <a:xfrm>
              <a:off x="630555" y="4301966"/>
              <a:ext cx="46375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左上角</a:t>
              </a:r>
            </a:p>
          </p:txBody>
        </p:sp>
        <p:sp>
          <p:nvSpPr>
            <p:cNvPr id="23" name="TextBox 23"/>
            <p:cNvSpPr txBox="1"/>
            <p:nvPr/>
          </p:nvSpPr>
          <p:spPr>
            <a:xfrm>
              <a:off x="2469832" y="4301966"/>
              <a:ext cx="91607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列出所有条件</a:t>
              </a:r>
            </a:p>
          </p:txBody>
        </p:sp>
        <p:sp>
          <p:nvSpPr>
            <p:cNvPr id="24" name="Rectangle 24"/>
            <p:cNvSpPr/>
            <p:nvPr/>
          </p:nvSpPr>
          <p:spPr>
            <a:xfrm>
              <a:off x="533400" y="4575810"/>
              <a:ext cx="5410200" cy="9525"/>
            </a:xfrm>
            <a:prstGeom prst="rect">
              <a:avLst/>
            </a:prstGeom>
            <a:solidFill>
              <a:srgbClr val="D9DFEA"/>
            </a:solidFill>
            <a:ln>
              <a:noFill/>
            </a:ln>
          </p:spPr>
        </p:sp>
        <p:sp>
          <p:nvSpPr>
            <p:cNvPr id="25" name="Rectangle 25"/>
            <p:cNvSpPr/>
            <p:nvPr/>
          </p:nvSpPr>
          <p:spPr>
            <a:xfrm>
              <a:off x="533400" y="4580572"/>
              <a:ext cx="5410200" cy="400050"/>
            </a:xfrm>
            <a:prstGeom prst="rect">
              <a:avLst/>
            </a:prstGeom>
            <a:solidFill>
              <a:srgbClr val="F4F6FB"/>
            </a:solidFill>
            <a:ln>
              <a:noFill/>
            </a:ln>
          </p:spPr>
        </p:sp>
        <p:sp>
          <p:nvSpPr>
            <p:cNvPr id="26" name="TextBox 26"/>
            <p:cNvSpPr txBox="1"/>
            <p:nvPr/>
          </p:nvSpPr>
          <p:spPr>
            <a:xfrm>
              <a:off x="630555" y="4702016"/>
              <a:ext cx="46375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右上角</a:t>
              </a:r>
            </a:p>
          </p:txBody>
        </p:sp>
        <p:sp>
          <p:nvSpPr>
            <p:cNvPr id="27" name="TextBox 27"/>
            <p:cNvSpPr txBox="1"/>
            <p:nvPr/>
          </p:nvSpPr>
          <p:spPr>
            <a:xfrm>
              <a:off x="2469832" y="4702016"/>
              <a:ext cx="302691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列出条件的各种取值组合，每一列是一条规则</a:t>
              </a:r>
            </a:p>
          </p:txBody>
        </p:sp>
        <p:sp>
          <p:nvSpPr>
            <p:cNvPr id="28" name="Rectangle 28"/>
            <p:cNvSpPr/>
            <p:nvPr/>
          </p:nvSpPr>
          <p:spPr>
            <a:xfrm>
              <a:off x="533400" y="4975860"/>
              <a:ext cx="5410200" cy="9525"/>
            </a:xfrm>
            <a:prstGeom prst="rect">
              <a:avLst/>
            </a:prstGeom>
            <a:solidFill>
              <a:srgbClr val="D9DFEA"/>
            </a:solidFill>
            <a:ln>
              <a:noFill/>
            </a:ln>
          </p:spPr>
        </p:sp>
        <p:sp>
          <p:nvSpPr>
            <p:cNvPr id="29" name="TextBox 29"/>
            <p:cNvSpPr txBox="1"/>
            <p:nvPr/>
          </p:nvSpPr>
          <p:spPr>
            <a:xfrm>
              <a:off x="630555" y="5102066"/>
              <a:ext cx="46375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左下角</a:t>
              </a:r>
            </a:p>
          </p:txBody>
        </p:sp>
        <p:sp>
          <p:nvSpPr>
            <p:cNvPr id="30" name="TextBox 30"/>
            <p:cNvSpPr txBox="1"/>
            <p:nvPr/>
          </p:nvSpPr>
          <p:spPr>
            <a:xfrm>
              <a:off x="2469832" y="5102066"/>
              <a:ext cx="91607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列出所有动作</a:t>
              </a:r>
            </a:p>
          </p:txBody>
        </p:sp>
        <p:sp>
          <p:nvSpPr>
            <p:cNvPr id="31" name="Rectangle 31"/>
            <p:cNvSpPr/>
            <p:nvPr/>
          </p:nvSpPr>
          <p:spPr>
            <a:xfrm>
              <a:off x="533400" y="5375910"/>
              <a:ext cx="5410200" cy="9525"/>
            </a:xfrm>
            <a:prstGeom prst="rect">
              <a:avLst/>
            </a:prstGeom>
            <a:solidFill>
              <a:srgbClr val="D9DFEA"/>
            </a:solidFill>
            <a:ln>
              <a:noFill/>
            </a:ln>
          </p:spPr>
        </p:sp>
        <p:sp>
          <p:nvSpPr>
            <p:cNvPr id="32" name="Rectangle 32"/>
            <p:cNvSpPr/>
            <p:nvPr/>
          </p:nvSpPr>
          <p:spPr>
            <a:xfrm>
              <a:off x="533400" y="5380672"/>
              <a:ext cx="5410200" cy="400050"/>
            </a:xfrm>
            <a:prstGeom prst="rect">
              <a:avLst/>
            </a:prstGeom>
            <a:solidFill>
              <a:srgbClr val="F4F6FB"/>
            </a:solidFill>
            <a:ln>
              <a:noFill/>
            </a:ln>
          </p:spPr>
        </p:sp>
        <p:sp>
          <p:nvSpPr>
            <p:cNvPr id="33" name="TextBox 33"/>
            <p:cNvSpPr txBox="1"/>
            <p:nvPr/>
          </p:nvSpPr>
          <p:spPr>
            <a:xfrm>
              <a:off x="630555" y="5502116"/>
              <a:ext cx="46375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右下角</a:t>
              </a:r>
            </a:p>
          </p:txBody>
        </p:sp>
        <p:sp>
          <p:nvSpPr>
            <p:cNvPr id="34" name="TextBox 34"/>
            <p:cNvSpPr txBox="1"/>
            <p:nvPr/>
          </p:nvSpPr>
          <p:spPr>
            <a:xfrm>
              <a:off x="2469832" y="5502116"/>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标出每种组合下要做的动作</a:t>
              </a:r>
            </a:p>
          </p:txBody>
        </p:sp>
        <p:sp>
          <p:nvSpPr>
            <p:cNvPr id="35" name="Rectangle 35"/>
            <p:cNvSpPr/>
            <p:nvPr/>
          </p:nvSpPr>
          <p:spPr>
            <a:xfrm>
              <a:off x="533400" y="3780472"/>
              <a:ext cx="5410200" cy="2000250"/>
            </a:xfrm>
            <a:prstGeom prst="rect">
              <a:avLst/>
            </a:prstGeom>
            <a:noFill/>
            <a:ln w="14288">
              <a:solidFill>
                <a:srgbClr val="D9DFEA"/>
              </a:solidFill>
            </a:ln>
          </p:spPr>
        </p:sp>
        <p:sp>
          <p:nvSpPr>
            <p:cNvPr id="36" name="Rectangle 36"/>
            <p:cNvSpPr/>
            <p:nvPr/>
          </p:nvSpPr>
          <p:spPr>
            <a:xfrm>
              <a:off x="2367915" y="3780472"/>
              <a:ext cx="9525" cy="2000250"/>
            </a:xfrm>
            <a:prstGeom prst="rect">
              <a:avLst/>
            </a:prstGeom>
            <a:solidFill>
              <a:srgbClr val="D9DFEA"/>
            </a:solidFill>
            <a:ln>
              <a:noFill/>
            </a:ln>
          </p:spPr>
        </p:sp>
      </p:grpSp>
      <p:grpSp>
        <p:nvGrpSpPr>
          <p:cNvPr id="56" name="c2-compare-1"/>
          <p:cNvGrpSpPr/>
          <p:nvPr/>
        </p:nvGrpSpPr>
        <p:grpSpPr>
          <a:xfrm>
            <a:off x="6248400" y="1524000"/>
            <a:ext cx="5410200" cy="1738312"/>
            <a:chOff x="6248400" y="1524000"/>
            <a:chExt cx="5410200" cy="1738312"/>
          </a:xfrm>
        </p:grpSpPr>
        <p:sp>
          <p:nvSpPr>
            <p:cNvPr id="38" name="Rectangle 38"/>
            <p:cNvSpPr/>
            <p:nvPr/>
          </p:nvSpPr>
          <p:spPr>
            <a:xfrm>
              <a:off x="6248400" y="1524000"/>
              <a:ext cx="2533650" cy="1738312"/>
            </a:xfrm>
            <a:prstGeom prst="roundRect">
              <a:avLst>
                <a:gd name="adj" fmla="val 7671"/>
              </a:avLst>
            </a:prstGeom>
            <a:solidFill>
              <a:srgbClr val="FFFFFF"/>
            </a:solidFill>
            <a:ln w="14288">
              <a:solidFill>
                <a:srgbClr val="D9DFEA"/>
              </a:solidFill>
            </a:ln>
          </p:spPr>
        </p:sp>
        <p:sp>
          <p:nvSpPr>
            <p:cNvPr id="39" name="Rectangle 39"/>
            <p:cNvSpPr/>
            <p:nvPr/>
          </p:nvSpPr>
          <p:spPr>
            <a:xfrm>
              <a:off x="6257925" y="1657350"/>
              <a:ext cx="47625" cy="1471612"/>
            </a:xfrm>
            <a:prstGeom prst="roundRect">
              <a:avLst>
                <a:gd name="adj" fmla="val 50000"/>
              </a:avLst>
            </a:prstGeom>
            <a:solidFill>
              <a:srgbClr val="14A38B"/>
            </a:solidFill>
            <a:ln>
              <a:noFill/>
            </a:ln>
          </p:spPr>
        </p:sp>
        <p:sp>
          <p:nvSpPr>
            <p:cNvPr id="40" name="TextBox 40"/>
            <p:cNvSpPr txBox="1"/>
            <p:nvPr/>
          </p:nvSpPr>
          <p:spPr>
            <a:xfrm>
              <a:off x="6466332" y="1732597"/>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优点</a:t>
              </a:r>
            </a:p>
          </p:txBody>
        </p:sp>
        <p:sp>
          <p:nvSpPr>
            <p:cNvPr id="41" name="Ellipse 41"/>
            <p:cNvSpPr/>
            <p:nvPr/>
          </p:nvSpPr>
          <p:spPr>
            <a:xfrm>
              <a:off x="6481762" y="2105978"/>
              <a:ext cx="59055" cy="59055"/>
            </a:xfrm>
            <a:prstGeom prst="ellipse">
              <a:avLst/>
            </a:prstGeom>
            <a:solidFill>
              <a:srgbClr val="334E68"/>
            </a:solidFill>
            <a:ln>
              <a:noFill/>
            </a:ln>
          </p:spPr>
        </p:sp>
        <p:sp>
          <p:nvSpPr>
            <p:cNvPr id="42" name="TextBox 42"/>
            <p:cNvSpPr txBox="1"/>
            <p:nvPr/>
          </p:nvSpPr>
          <p:spPr>
            <a:xfrm>
              <a:off x="6637782" y="2049780"/>
              <a:ext cx="17282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能够简洁、无二义性地</a:t>
              </a:r>
              <a:br/>
              <a:r>
                <a:rPr lang="zh-CN" sz="1350" dirty="0">
                  <a:solidFill>
                    <a:srgbClr val="1F2937"/>
                  </a:solidFill>
                  <a:latin typeface="+mn-lt"/>
                  <a:ea typeface="+mn-ea"/>
                  <a:cs typeface="+mn-cs"/>
                </a:rPr>
                <a:t>描述所有的处理规则</a:t>
              </a:r>
            </a:p>
          </p:txBody>
        </p:sp>
        <p:sp>
          <p:nvSpPr>
            <p:cNvPr id="43" name="Ellipse 43"/>
            <p:cNvSpPr/>
            <p:nvPr/>
          </p:nvSpPr>
          <p:spPr>
            <a:xfrm>
              <a:off x="6481762" y="2663190"/>
              <a:ext cx="59055" cy="59055"/>
            </a:xfrm>
            <a:prstGeom prst="ellipse">
              <a:avLst/>
            </a:prstGeom>
            <a:solidFill>
              <a:srgbClr val="334E68"/>
            </a:solidFill>
            <a:ln>
              <a:noFill/>
            </a:ln>
          </p:spPr>
        </p:sp>
        <p:sp>
          <p:nvSpPr>
            <p:cNvPr id="44" name="TextBox 44"/>
            <p:cNvSpPr txBox="1"/>
            <p:nvPr/>
          </p:nvSpPr>
          <p:spPr>
            <a:xfrm>
              <a:off x="6637782" y="2606992"/>
              <a:ext cx="17282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条件一多就比流程图清</a:t>
              </a:r>
              <a:br/>
              <a:r>
                <a:rPr lang="zh-CN" sz="1350" dirty="0">
                  <a:solidFill>
                    <a:srgbClr val="1F2937"/>
                  </a:solidFill>
                  <a:latin typeface="+mn-lt"/>
                  <a:ea typeface="+mn-ea"/>
                  <a:cs typeface="+mn-cs"/>
                </a:rPr>
                <a:t>楚得多</a:t>
              </a:r>
            </a:p>
          </p:txBody>
        </p:sp>
        <p:sp>
          <p:nvSpPr>
            <p:cNvPr id="45" name="Rectangle 45"/>
            <p:cNvSpPr/>
            <p:nvPr/>
          </p:nvSpPr>
          <p:spPr>
            <a:xfrm>
              <a:off x="9124950" y="1524000"/>
              <a:ext cx="2533650" cy="1738312"/>
            </a:xfrm>
            <a:prstGeom prst="roundRect">
              <a:avLst>
                <a:gd name="adj" fmla="val 7671"/>
              </a:avLst>
            </a:prstGeom>
            <a:solidFill>
              <a:srgbClr val="FFFFFF"/>
            </a:solidFill>
            <a:ln w="14288">
              <a:solidFill>
                <a:srgbClr val="D9DFEA"/>
              </a:solidFill>
            </a:ln>
          </p:spPr>
        </p:sp>
        <p:sp>
          <p:nvSpPr>
            <p:cNvPr id="46" name="Rectangle 46"/>
            <p:cNvSpPr/>
            <p:nvPr/>
          </p:nvSpPr>
          <p:spPr>
            <a:xfrm>
              <a:off x="9134475" y="1657350"/>
              <a:ext cx="47625" cy="1471612"/>
            </a:xfrm>
            <a:prstGeom prst="roundRect">
              <a:avLst>
                <a:gd name="adj" fmla="val 50000"/>
              </a:avLst>
            </a:prstGeom>
            <a:solidFill>
              <a:srgbClr val="B42318"/>
            </a:solidFill>
            <a:ln>
              <a:noFill/>
            </a:ln>
          </p:spPr>
        </p:sp>
        <p:sp>
          <p:nvSpPr>
            <p:cNvPr id="47" name="TextBox 47"/>
            <p:cNvSpPr txBox="1"/>
            <p:nvPr/>
          </p:nvSpPr>
          <p:spPr>
            <a:xfrm>
              <a:off x="9342882" y="1732597"/>
              <a:ext cx="37719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缺点</a:t>
              </a:r>
            </a:p>
          </p:txBody>
        </p:sp>
        <p:sp>
          <p:nvSpPr>
            <p:cNvPr id="48" name="Ellipse 48"/>
            <p:cNvSpPr/>
            <p:nvPr/>
          </p:nvSpPr>
          <p:spPr>
            <a:xfrm>
              <a:off x="9358312" y="2105978"/>
              <a:ext cx="59055" cy="59055"/>
            </a:xfrm>
            <a:prstGeom prst="ellipse">
              <a:avLst/>
            </a:prstGeom>
            <a:solidFill>
              <a:srgbClr val="334E68"/>
            </a:solidFill>
            <a:ln>
              <a:noFill/>
            </a:ln>
          </p:spPr>
        </p:sp>
        <p:sp>
          <p:nvSpPr>
            <p:cNvPr id="49" name="TextBox 49"/>
            <p:cNvSpPr txBox="1"/>
            <p:nvPr/>
          </p:nvSpPr>
          <p:spPr>
            <a:xfrm>
              <a:off x="9514332" y="2049780"/>
              <a:ext cx="146761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表示的是静态逻辑</a:t>
              </a:r>
            </a:p>
          </p:txBody>
        </p:sp>
        <p:sp>
          <p:nvSpPr>
            <p:cNvPr id="50" name="Ellipse 50"/>
            <p:cNvSpPr/>
            <p:nvPr/>
          </p:nvSpPr>
          <p:spPr>
            <a:xfrm>
              <a:off x="9358312" y="2406015"/>
              <a:ext cx="59055" cy="59055"/>
            </a:xfrm>
            <a:prstGeom prst="ellipse">
              <a:avLst/>
            </a:prstGeom>
            <a:solidFill>
              <a:srgbClr val="334E68"/>
            </a:solidFill>
            <a:ln>
              <a:noFill/>
            </a:ln>
          </p:spPr>
        </p:sp>
        <p:sp>
          <p:nvSpPr>
            <p:cNvPr id="51" name="TextBox 51"/>
            <p:cNvSpPr txBox="1"/>
            <p:nvPr/>
          </p:nvSpPr>
          <p:spPr>
            <a:xfrm>
              <a:off x="9514332" y="2349818"/>
              <a:ext cx="16493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不能表达加工的顺序</a:t>
              </a:r>
            </a:p>
          </p:txBody>
        </p:sp>
        <p:sp>
          <p:nvSpPr>
            <p:cNvPr id="52" name="Ellipse 52"/>
            <p:cNvSpPr/>
            <p:nvPr/>
          </p:nvSpPr>
          <p:spPr>
            <a:xfrm>
              <a:off x="9358312" y="2707005"/>
              <a:ext cx="59055" cy="59055"/>
            </a:xfrm>
            <a:prstGeom prst="ellipse">
              <a:avLst/>
            </a:prstGeom>
            <a:solidFill>
              <a:srgbClr val="334E68"/>
            </a:solidFill>
            <a:ln>
              <a:noFill/>
            </a:ln>
          </p:spPr>
        </p:sp>
        <p:sp>
          <p:nvSpPr>
            <p:cNvPr id="53" name="TextBox 53"/>
            <p:cNvSpPr txBox="1"/>
            <p:nvPr/>
          </p:nvSpPr>
          <p:spPr>
            <a:xfrm>
              <a:off x="9514332" y="2650808"/>
              <a:ext cx="146761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不能表达循环结构</a:t>
              </a:r>
            </a:p>
          </p:txBody>
        </p:sp>
        <p:sp>
          <p:nvSpPr>
            <p:cNvPr id="54" name="Ellipse 54"/>
            <p:cNvSpPr/>
            <p:nvPr/>
          </p:nvSpPr>
          <p:spPr>
            <a:xfrm>
              <a:off x="8791575" y="2230755"/>
              <a:ext cx="323850" cy="323850"/>
            </a:xfrm>
            <a:prstGeom prst="ellipse">
              <a:avLst/>
            </a:prstGeom>
            <a:solidFill>
              <a:srgbClr val="F26B3A"/>
            </a:solidFill>
            <a:ln>
              <a:noFill/>
            </a:ln>
          </p:spPr>
        </p:sp>
        <p:sp>
          <p:nvSpPr>
            <p:cNvPr id="55" name="TextBox 55"/>
            <p:cNvSpPr txBox="1"/>
            <p:nvPr/>
          </p:nvSpPr>
          <p:spPr>
            <a:xfrm>
              <a:off x="8861915" y="2326958"/>
              <a:ext cx="18317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VS</a:t>
              </a:r>
            </a:p>
          </p:txBody>
        </p:sp>
      </p:grpSp>
      <p:grpSp>
        <p:nvGrpSpPr>
          <p:cNvPr id="63" name="c2-callout-2"/>
          <p:cNvGrpSpPr/>
          <p:nvPr/>
        </p:nvGrpSpPr>
        <p:grpSpPr>
          <a:xfrm>
            <a:off x="6248400" y="3431858"/>
            <a:ext cx="5410200" cy="729615"/>
            <a:chOff x="6248400" y="3431858"/>
            <a:chExt cx="5410200" cy="729615"/>
          </a:xfrm>
        </p:grpSpPr>
        <p:sp>
          <p:nvSpPr>
            <p:cNvPr id="57" name="Rectangle 57"/>
            <p:cNvSpPr/>
            <p:nvPr/>
          </p:nvSpPr>
          <p:spPr>
            <a:xfrm>
              <a:off x="6248400" y="3431858"/>
              <a:ext cx="5410200" cy="729615"/>
            </a:xfrm>
            <a:prstGeom prst="roundRect">
              <a:avLst>
                <a:gd name="adj" fmla="val 15666"/>
              </a:avLst>
            </a:prstGeom>
            <a:solidFill>
              <a:srgbClr val="FDECEA"/>
            </a:solidFill>
            <a:ln>
              <a:noFill/>
            </a:ln>
          </p:spPr>
        </p:sp>
        <p:grpSp>
          <p:nvGrpSpPr>
            <p:cNvPr id="61" name="Group 61"/>
            <p:cNvGrpSpPr/>
            <p:nvPr/>
          </p:nvGrpSpPr>
          <p:grpSpPr>
            <a:xfrm>
              <a:off x="6441129" y="3692961"/>
              <a:ext cx="224134" cy="192560"/>
              <a:chOff x="6441129" y="3692961"/>
              <a:chExt cx="224134" cy="192560"/>
            </a:xfrm>
          </p:grpSpPr>
          <p:sp>
            <p:nvSpPr>
              <p:cNvPr id="58" name="Freeform 58"/>
              <p:cNvSpPr/>
              <p:nvPr/>
            </p:nvSpPr>
            <p:spPr>
              <a:xfrm>
                <a:off x="6553200" y="3763328"/>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59" name="Freeform 59"/>
              <p:cNvSpPr/>
              <p:nvPr/>
            </p:nvSpPr>
            <p:spPr>
              <a:xfrm>
                <a:off x="6441129" y="3692961"/>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60" name="Freeform 60"/>
              <p:cNvSpPr/>
              <p:nvPr/>
            </p:nvSpPr>
            <p:spPr>
              <a:xfrm>
                <a:off x="6553200" y="3841116"/>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62" name="TextBox 62"/>
            <p:cNvSpPr txBox="1"/>
            <p:nvPr/>
          </p:nvSpPr>
          <p:spPr>
            <a:xfrm>
              <a:off x="6755892" y="3578542"/>
              <a:ext cx="447141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B42318"/>
                  </a:solidFill>
                  <a:latin typeface="+mn-lt"/>
                  <a:ea typeface="+mn-ea"/>
                  <a:cs typeface="+mn-cs"/>
                </a:rPr>
                <a:t>因为不能表达顺序和循环，判定表不能成为一种通用的设计</a:t>
              </a:r>
              <a:br/>
              <a:r>
                <a:rPr lang="zh-CN" sz="1350" dirty="0">
                  <a:solidFill>
                    <a:srgbClr val="B42318"/>
                  </a:solidFill>
                  <a:latin typeface="+mn-lt"/>
                  <a:ea typeface="+mn-ea"/>
                  <a:cs typeface="+mn-cs"/>
                </a:rPr>
                <a:t>工具，只能用来描述某个加工内部的条件逻辑。</a:t>
              </a:r>
            </a:p>
          </p:txBody>
        </p:sp>
      </p:grpSp>
      <p:grpSp>
        <p:nvGrpSpPr>
          <p:cNvPr id="79" name="c2-card-3"/>
          <p:cNvGrpSpPr/>
          <p:nvPr/>
        </p:nvGrpSpPr>
        <p:grpSpPr>
          <a:xfrm>
            <a:off x="6248400" y="4331018"/>
            <a:ext cx="5410200" cy="1828800"/>
            <a:chOff x="6248400" y="4331018"/>
            <a:chExt cx="5410200" cy="1828800"/>
          </a:xfrm>
        </p:grpSpPr>
        <p:sp>
          <p:nvSpPr>
            <p:cNvPr id="64" name="Rectangle 64"/>
            <p:cNvSpPr/>
            <p:nvPr/>
          </p:nvSpPr>
          <p:spPr>
            <a:xfrm>
              <a:off x="6248400" y="4331018"/>
              <a:ext cx="5410200" cy="1828800"/>
            </a:xfrm>
            <a:prstGeom prst="roundRect">
              <a:avLst>
                <a:gd name="adj" fmla="val 7292"/>
              </a:avLst>
            </a:prstGeom>
            <a:solidFill>
              <a:srgbClr val="334E68"/>
            </a:solidFill>
            <a:ln>
              <a:noFill/>
            </a:ln>
          </p:spPr>
        </p:sp>
        <p:sp>
          <p:nvSpPr>
            <p:cNvPr id="65" name="Rectangle 65"/>
            <p:cNvSpPr/>
            <p:nvPr/>
          </p:nvSpPr>
          <p:spPr>
            <a:xfrm>
              <a:off x="6435090" y="4517708"/>
              <a:ext cx="1454468" cy="238125"/>
            </a:xfrm>
            <a:prstGeom prst="roundRect">
              <a:avLst>
                <a:gd name="adj" fmla="val 50000"/>
              </a:avLst>
            </a:prstGeom>
            <a:solidFill>
              <a:srgbClr val="243B53"/>
            </a:solidFill>
            <a:ln>
              <a:noFill/>
            </a:ln>
          </p:spPr>
        </p:sp>
        <p:sp>
          <p:nvSpPr>
            <p:cNvPr id="66" name="TextBox 66"/>
            <p:cNvSpPr txBox="1"/>
            <p:nvPr/>
          </p:nvSpPr>
          <p:spPr>
            <a:xfrm>
              <a:off x="6497256" y="4550569"/>
              <a:ext cx="1329182"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组织一张判定表的四步</a:t>
              </a:r>
            </a:p>
          </p:txBody>
        </p:sp>
        <p:sp>
          <p:nvSpPr>
            <p:cNvPr id="67" name="Ellipse 67"/>
            <p:cNvSpPr/>
            <p:nvPr/>
          </p:nvSpPr>
          <p:spPr>
            <a:xfrm>
              <a:off x="6435090" y="4850130"/>
              <a:ext cx="192405" cy="192405"/>
            </a:xfrm>
            <a:prstGeom prst="ellipse">
              <a:avLst/>
            </a:prstGeom>
            <a:solidFill>
              <a:srgbClr val="334E68"/>
            </a:solidFill>
            <a:ln>
              <a:noFill/>
            </a:ln>
          </p:spPr>
        </p:sp>
        <p:sp>
          <p:nvSpPr>
            <p:cNvPr id="68" name="TextBox 68"/>
            <p:cNvSpPr txBox="1"/>
            <p:nvPr/>
          </p:nvSpPr>
          <p:spPr>
            <a:xfrm>
              <a:off x="6490768" y="488851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69" name="TextBox 69"/>
            <p:cNvSpPr txBox="1"/>
            <p:nvPr/>
          </p:nvSpPr>
          <p:spPr>
            <a:xfrm>
              <a:off x="6715887" y="4862512"/>
              <a:ext cx="292150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列出所有条件，多分支先拆成两分支</a:t>
              </a:r>
            </a:p>
          </p:txBody>
        </p:sp>
        <p:sp>
          <p:nvSpPr>
            <p:cNvPr id="70" name="Ellipse 70"/>
            <p:cNvSpPr/>
            <p:nvPr/>
          </p:nvSpPr>
          <p:spPr>
            <a:xfrm>
              <a:off x="6435090" y="5150167"/>
              <a:ext cx="192405" cy="192405"/>
            </a:xfrm>
            <a:prstGeom prst="ellipse">
              <a:avLst/>
            </a:prstGeom>
            <a:solidFill>
              <a:srgbClr val="334E68"/>
            </a:solidFill>
            <a:ln>
              <a:noFill/>
            </a:ln>
          </p:spPr>
        </p:sp>
        <p:sp>
          <p:nvSpPr>
            <p:cNvPr id="71" name="TextBox 71"/>
            <p:cNvSpPr txBox="1"/>
            <p:nvPr/>
          </p:nvSpPr>
          <p:spPr>
            <a:xfrm>
              <a:off x="6490768" y="518855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72" name="TextBox 72"/>
            <p:cNvSpPr txBox="1"/>
            <p:nvPr/>
          </p:nvSpPr>
          <p:spPr>
            <a:xfrm>
              <a:off x="6715887" y="5162550"/>
              <a:ext cx="1649349"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列出所有可能的动作</a:t>
              </a:r>
            </a:p>
          </p:txBody>
        </p:sp>
        <p:sp>
          <p:nvSpPr>
            <p:cNvPr id="73" name="Ellipse 73"/>
            <p:cNvSpPr/>
            <p:nvPr/>
          </p:nvSpPr>
          <p:spPr>
            <a:xfrm>
              <a:off x="6435090" y="5450205"/>
              <a:ext cx="192405" cy="192405"/>
            </a:xfrm>
            <a:prstGeom prst="ellipse">
              <a:avLst/>
            </a:prstGeom>
            <a:solidFill>
              <a:srgbClr val="334E68"/>
            </a:solidFill>
            <a:ln>
              <a:noFill/>
            </a:ln>
          </p:spPr>
        </p:sp>
        <p:sp>
          <p:nvSpPr>
            <p:cNvPr id="74" name="TextBox 74"/>
            <p:cNvSpPr txBox="1"/>
            <p:nvPr/>
          </p:nvSpPr>
          <p:spPr>
            <a:xfrm>
              <a:off x="6490768" y="548954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75" name="TextBox 75"/>
            <p:cNvSpPr txBox="1"/>
            <p:nvPr/>
          </p:nvSpPr>
          <p:spPr>
            <a:xfrm>
              <a:off x="6715887" y="5462588"/>
              <a:ext cx="3466719"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逐列填条件的取值组合，一列就是一条规则</a:t>
              </a:r>
            </a:p>
          </p:txBody>
        </p:sp>
        <p:sp>
          <p:nvSpPr>
            <p:cNvPr id="76" name="Ellipse 76"/>
            <p:cNvSpPr/>
            <p:nvPr/>
          </p:nvSpPr>
          <p:spPr>
            <a:xfrm>
              <a:off x="6435090" y="5751195"/>
              <a:ext cx="192405" cy="192405"/>
            </a:xfrm>
            <a:prstGeom prst="ellipse">
              <a:avLst/>
            </a:prstGeom>
            <a:solidFill>
              <a:srgbClr val="334E68"/>
            </a:solidFill>
            <a:ln>
              <a:noFill/>
            </a:ln>
          </p:spPr>
        </p:sp>
        <p:sp>
          <p:nvSpPr>
            <p:cNvPr id="77" name="TextBox 77"/>
            <p:cNvSpPr txBox="1"/>
            <p:nvPr/>
          </p:nvSpPr>
          <p:spPr>
            <a:xfrm>
              <a:off x="6490768" y="578958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4</a:t>
              </a:r>
            </a:p>
          </p:txBody>
        </p:sp>
        <p:sp>
          <p:nvSpPr>
            <p:cNvPr id="78" name="TextBox 78"/>
            <p:cNvSpPr txBox="1"/>
            <p:nvPr/>
          </p:nvSpPr>
          <p:spPr>
            <a:xfrm>
              <a:off x="6715887" y="5762625"/>
              <a:ext cx="4039191"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用 × 标出每条规则下要做的动作，取值无关处留空</a:t>
              </a:r>
            </a:p>
          </p:txBody>
        </p:sp>
      </p:grpSp>
      <p:grpSp>
        <p:nvGrpSpPr>
          <p:cNvPr id="82" name="footer"/>
          <p:cNvGrpSpPr/>
          <p:nvPr/>
        </p:nvGrpSpPr>
        <p:grpSpPr>
          <a:xfrm>
            <a:off x="528447" y="6581299"/>
            <a:ext cx="11135106" cy="190690"/>
            <a:chOff x="528447" y="6581299"/>
            <a:chExt cx="11135106" cy="190690"/>
          </a:xfrm>
        </p:grpSpPr>
        <p:sp>
          <p:nvSpPr>
            <p:cNvPr id="80" name="TextBox 80"/>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81" name="TextBox 8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26</a:t>
              </a:r>
            </a:p>
          </p:txBody>
        </p:sp>
      </p:gr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过程设计技术和工具</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判定表例题：行李托运费怎么收</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1" name="c1-card-1"/>
          <p:cNvGrpSpPr/>
          <p:nvPr/>
        </p:nvGrpSpPr>
        <p:grpSpPr>
          <a:xfrm>
            <a:off x="533400" y="1524000"/>
            <a:ext cx="5193982" cy="2676525"/>
            <a:chOff x="533400" y="1524000"/>
            <a:chExt cx="5193982" cy="2676525"/>
          </a:xfrm>
        </p:grpSpPr>
        <p:sp>
          <p:nvSpPr>
            <p:cNvPr id="7" name="Rectangle 7"/>
            <p:cNvSpPr/>
            <p:nvPr/>
          </p:nvSpPr>
          <p:spPr>
            <a:xfrm>
              <a:off x="533400" y="1524000"/>
              <a:ext cx="5193982" cy="2676525"/>
            </a:xfrm>
            <a:prstGeom prst="roundRect">
              <a:avLst>
                <a:gd name="adj" fmla="val 4982"/>
              </a:avLst>
            </a:prstGeom>
            <a:solidFill>
              <a:srgbClr val="FFFFFF"/>
            </a:solidFill>
            <a:ln w="14288">
              <a:solidFill>
                <a:srgbClr val="D9DFEA"/>
              </a:solidFill>
            </a:ln>
          </p:spPr>
        </p:sp>
        <p:sp>
          <p:nvSpPr>
            <p:cNvPr id="8" name="Rectangle 8"/>
            <p:cNvSpPr/>
            <p:nvPr/>
          </p:nvSpPr>
          <p:spPr>
            <a:xfrm>
              <a:off x="542925" y="1657350"/>
              <a:ext cx="47625" cy="2409825"/>
            </a:xfrm>
            <a:prstGeom prst="roundRect">
              <a:avLst>
                <a:gd name="adj" fmla="val 50000"/>
              </a:avLst>
            </a:prstGeom>
            <a:solidFill>
              <a:srgbClr val="14A38B"/>
            </a:solidFill>
            <a:ln>
              <a:noFill/>
            </a:ln>
          </p:spPr>
        </p:sp>
        <p:sp>
          <p:nvSpPr>
            <p:cNvPr id="9" name="Rectangle 9"/>
            <p:cNvSpPr/>
            <p:nvPr/>
          </p:nvSpPr>
          <p:spPr>
            <a:xfrm>
              <a:off x="781050" y="1733550"/>
              <a:ext cx="494348" cy="257175"/>
            </a:xfrm>
            <a:prstGeom prst="roundRect">
              <a:avLst>
                <a:gd name="adj" fmla="val 50000"/>
              </a:avLst>
            </a:prstGeom>
            <a:solidFill>
              <a:srgbClr val="E3F5F1"/>
            </a:solidFill>
            <a:ln>
              <a:noFill/>
            </a:ln>
          </p:spPr>
        </p:sp>
        <p:sp>
          <p:nvSpPr>
            <p:cNvPr id="10" name="TextBox 10"/>
            <p:cNvSpPr txBox="1"/>
            <p:nvPr/>
          </p:nvSpPr>
          <p:spPr>
            <a:xfrm>
              <a:off x="871258" y="1769269"/>
              <a:ext cx="312979"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题目</a:t>
              </a:r>
            </a:p>
          </p:txBody>
        </p:sp>
        <p:sp>
          <p:nvSpPr>
            <p:cNvPr id="11" name="TextBox 11"/>
            <p:cNvSpPr txBox="1"/>
            <p:nvPr/>
          </p:nvSpPr>
          <p:spPr>
            <a:xfrm>
              <a:off x="1382078" y="1768792"/>
              <a:ext cx="243840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某航空公司的行李托运规定</a:t>
              </a:r>
            </a:p>
          </p:txBody>
        </p:sp>
        <p:sp>
          <p:nvSpPr>
            <p:cNvPr id="12" name="TextBox 12"/>
            <p:cNvSpPr txBox="1"/>
            <p:nvPr/>
          </p:nvSpPr>
          <p:spPr>
            <a:xfrm>
              <a:off x="773430" y="2129790"/>
              <a:ext cx="45491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乘客可以免费托运重量不超过 30kg 的行李。当行李重</a:t>
              </a:r>
              <a:br/>
              <a:r>
                <a:rPr lang="zh-CN" sz="1500" dirty="0">
                  <a:solidFill>
                    <a:srgbClr val="1F2937"/>
                  </a:solidFill>
                  <a:latin typeface="+mn-lt"/>
                  <a:ea typeface="+mn-ea"/>
                  <a:cs typeface="+mn-cs"/>
                </a:rPr>
                <a:t>量超过 30kg 时：</a:t>
              </a:r>
            </a:p>
          </p:txBody>
        </p:sp>
        <p:sp>
          <p:nvSpPr>
            <p:cNvPr id="13" name="Ellipse 13"/>
            <p:cNvSpPr/>
            <p:nvPr/>
          </p:nvSpPr>
          <p:spPr>
            <a:xfrm>
              <a:off x="786765" y="2813685"/>
              <a:ext cx="64770" cy="64770"/>
            </a:xfrm>
            <a:prstGeom prst="ellipse">
              <a:avLst/>
            </a:prstGeom>
            <a:solidFill>
              <a:srgbClr val="334E68"/>
            </a:solidFill>
            <a:ln>
              <a:noFill/>
            </a:ln>
          </p:spPr>
        </p:sp>
        <p:sp>
          <p:nvSpPr>
            <p:cNvPr id="14" name="TextBox 14"/>
            <p:cNvSpPr txBox="1"/>
            <p:nvPr/>
          </p:nvSpPr>
          <p:spPr>
            <a:xfrm>
              <a:off x="944880" y="2750820"/>
              <a:ext cx="38822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头等舱国内乘客，超重部分每公斤收费 4 元</a:t>
              </a:r>
            </a:p>
          </p:txBody>
        </p:sp>
        <p:sp>
          <p:nvSpPr>
            <p:cNvPr id="15" name="Ellipse 15"/>
            <p:cNvSpPr/>
            <p:nvPr/>
          </p:nvSpPr>
          <p:spPr>
            <a:xfrm>
              <a:off x="786765" y="3148965"/>
              <a:ext cx="64770" cy="64770"/>
            </a:xfrm>
            <a:prstGeom prst="ellipse">
              <a:avLst/>
            </a:prstGeom>
            <a:solidFill>
              <a:srgbClr val="334E68"/>
            </a:solidFill>
            <a:ln>
              <a:noFill/>
            </a:ln>
          </p:spPr>
        </p:sp>
        <p:sp>
          <p:nvSpPr>
            <p:cNvPr id="16" name="TextBox 16"/>
            <p:cNvSpPr txBox="1"/>
            <p:nvPr/>
          </p:nvSpPr>
          <p:spPr>
            <a:xfrm>
              <a:off x="944880" y="3086100"/>
              <a:ext cx="388220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其他舱国内乘客，超重部分每公斤收费 6 元</a:t>
              </a:r>
            </a:p>
          </p:txBody>
        </p:sp>
        <p:sp>
          <p:nvSpPr>
            <p:cNvPr id="17" name="Ellipse 17"/>
            <p:cNvSpPr/>
            <p:nvPr/>
          </p:nvSpPr>
          <p:spPr>
            <a:xfrm>
              <a:off x="786765" y="3484245"/>
              <a:ext cx="64770" cy="64770"/>
            </a:xfrm>
            <a:prstGeom prst="ellipse">
              <a:avLst/>
            </a:prstGeom>
            <a:solidFill>
              <a:srgbClr val="334E68"/>
            </a:solidFill>
            <a:ln>
              <a:noFill/>
            </a:ln>
          </p:spPr>
        </p:sp>
        <p:sp>
          <p:nvSpPr>
            <p:cNvPr id="18" name="TextBox 18"/>
            <p:cNvSpPr txBox="1"/>
            <p:nvPr/>
          </p:nvSpPr>
          <p:spPr>
            <a:xfrm>
              <a:off x="944880" y="3421380"/>
              <a:ext cx="42557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外国乘客超重部分每公斤收费比国内乘客</a:t>
              </a:r>
              <a:r>
                <a:rPr lang="zh-CN" sz="1500" b="1" dirty="0">
                  <a:solidFill>
                    <a:srgbClr val="C2410C"/>
                  </a:solidFill>
                  <a:latin typeface="+mn-lt"/>
                  <a:ea typeface="+mn-ea"/>
                  <a:cs typeface="+mn-cs"/>
                </a:rPr>
                <a:t>多一倍</a:t>
              </a:r>
            </a:p>
          </p:txBody>
        </p:sp>
        <p:sp>
          <p:nvSpPr>
            <p:cNvPr id="19" name="Ellipse 19"/>
            <p:cNvSpPr/>
            <p:nvPr/>
          </p:nvSpPr>
          <p:spPr>
            <a:xfrm>
              <a:off x="786765" y="3819525"/>
              <a:ext cx="64770" cy="64770"/>
            </a:xfrm>
            <a:prstGeom prst="ellipse">
              <a:avLst/>
            </a:prstGeom>
            <a:solidFill>
              <a:srgbClr val="334E68"/>
            </a:solidFill>
            <a:ln>
              <a:noFill/>
            </a:ln>
          </p:spPr>
        </p:sp>
        <p:sp>
          <p:nvSpPr>
            <p:cNvPr id="20" name="TextBox 20"/>
            <p:cNvSpPr txBox="1"/>
            <p:nvPr/>
          </p:nvSpPr>
          <p:spPr>
            <a:xfrm>
              <a:off x="944880" y="3756660"/>
              <a:ext cx="42557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残疾乘客超重部分每公斤收费比正常乘客</a:t>
              </a:r>
              <a:r>
                <a:rPr lang="zh-CN" sz="1500" b="1" dirty="0">
                  <a:solidFill>
                    <a:srgbClr val="C2410C"/>
                  </a:solidFill>
                  <a:latin typeface="+mn-lt"/>
                  <a:ea typeface="+mn-ea"/>
                  <a:cs typeface="+mn-cs"/>
                </a:rPr>
                <a:t>少一半</a:t>
              </a:r>
            </a:p>
          </p:txBody>
        </p:sp>
      </p:grpSp>
      <p:grpSp>
        <p:nvGrpSpPr>
          <p:cNvPr id="28" name="c1-callout-2"/>
          <p:cNvGrpSpPr/>
          <p:nvPr/>
        </p:nvGrpSpPr>
        <p:grpSpPr>
          <a:xfrm>
            <a:off x="533400" y="4391025"/>
            <a:ext cx="5193982" cy="919162"/>
            <a:chOff x="533400" y="4391025"/>
            <a:chExt cx="5193982" cy="919162"/>
          </a:xfrm>
        </p:grpSpPr>
        <p:sp>
          <p:nvSpPr>
            <p:cNvPr id="22" name="Rectangle 22"/>
            <p:cNvSpPr/>
            <p:nvPr/>
          </p:nvSpPr>
          <p:spPr>
            <a:xfrm>
              <a:off x="533400" y="4391025"/>
              <a:ext cx="5193982" cy="919162"/>
            </a:xfrm>
            <a:prstGeom prst="roundRect">
              <a:avLst>
                <a:gd name="adj" fmla="val 12435"/>
              </a:avLst>
            </a:prstGeom>
            <a:solidFill>
              <a:srgbClr val="FDEEE7"/>
            </a:solidFill>
            <a:ln>
              <a:noFill/>
            </a:ln>
          </p:spPr>
        </p:sp>
        <p:grpSp>
          <p:nvGrpSpPr>
            <p:cNvPr id="26" name="Group 26"/>
            <p:cNvGrpSpPr/>
            <p:nvPr/>
          </p:nvGrpSpPr>
          <p:grpSpPr>
            <a:xfrm>
              <a:off x="738188" y="4750118"/>
              <a:ext cx="200026" cy="200025"/>
              <a:chOff x="738188" y="4750118"/>
              <a:chExt cx="200026" cy="200025"/>
            </a:xfrm>
          </p:grpSpPr>
          <p:sp>
            <p:nvSpPr>
              <p:cNvPr id="23" name="Freeform 23"/>
              <p:cNvSpPr/>
              <p:nvPr/>
            </p:nvSpPr>
            <p:spPr>
              <a:xfrm>
                <a:off x="738188" y="475011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24" name="Freeform 24"/>
              <p:cNvSpPr/>
              <p:nvPr/>
            </p:nvSpPr>
            <p:spPr>
              <a:xfrm>
                <a:off x="777926" y="479456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25" name="Freeform 25"/>
              <p:cNvSpPr/>
              <p:nvPr/>
            </p:nvSpPr>
            <p:spPr>
              <a:xfrm>
                <a:off x="812642" y="490569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27" name="TextBox 27"/>
            <p:cNvSpPr txBox="1"/>
            <p:nvPr/>
          </p:nvSpPr>
          <p:spPr>
            <a:xfrm>
              <a:off x="1040130" y="4607242"/>
              <a:ext cx="42062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三个条件（国内／头等舱／残疾）各有两种取值，</a:t>
              </a:r>
              <a:br/>
              <a:r>
                <a:rPr lang="zh-CN" sz="1500" dirty="0">
                  <a:solidFill>
                    <a:srgbClr val="C2410C"/>
                  </a:solidFill>
                  <a:latin typeface="+mn-lt"/>
                  <a:ea typeface="+mn-ea"/>
                  <a:cs typeface="+mn-cs"/>
                </a:rPr>
                <a:t>加上重量这一条，一共 2³ + 1 = 9 条规则。</a:t>
              </a:r>
            </a:p>
          </p:txBody>
        </p:sp>
      </p:grpSp>
      <p:grpSp>
        <p:nvGrpSpPr>
          <p:cNvPr id="55" name="c2-table-1"/>
          <p:cNvGrpSpPr/>
          <p:nvPr/>
        </p:nvGrpSpPr>
        <p:grpSpPr>
          <a:xfrm>
            <a:off x="6026467" y="1524000"/>
            <a:ext cx="5632133" cy="1642587"/>
            <a:chOff x="6026467" y="1524000"/>
            <a:chExt cx="5632133" cy="1642587"/>
          </a:xfrm>
        </p:grpSpPr>
        <p:sp>
          <p:nvSpPr>
            <p:cNvPr id="29" name="Rectangle 29"/>
            <p:cNvSpPr/>
            <p:nvPr/>
          </p:nvSpPr>
          <p:spPr>
            <a:xfrm>
              <a:off x="6032182" y="1524000"/>
              <a:ext cx="5626418" cy="448628"/>
            </a:xfrm>
            <a:prstGeom prst="rect">
              <a:avLst/>
            </a:prstGeom>
            <a:solidFill>
              <a:srgbClr val="334E68"/>
            </a:solidFill>
            <a:ln>
              <a:noFill/>
            </a:ln>
          </p:spPr>
        </p:sp>
        <p:sp>
          <p:nvSpPr>
            <p:cNvPr id="30" name="TextBox 30"/>
            <p:cNvSpPr txBox="1"/>
            <p:nvPr/>
          </p:nvSpPr>
          <p:spPr>
            <a:xfrm>
              <a:off x="6302972"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舱位</a:t>
              </a:r>
            </a:p>
          </p:txBody>
        </p:sp>
        <p:sp>
          <p:nvSpPr>
            <p:cNvPr id="31" name="TextBox 31"/>
            <p:cNvSpPr txBox="1"/>
            <p:nvPr/>
          </p:nvSpPr>
          <p:spPr>
            <a:xfrm>
              <a:off x="7121985" y="1659731"/>
              <a:ext cx="801720"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国内·正常</a:t>
              </a:r>
            </a:p>
          </p:txBody>
        </p:sp>
        <p:sp>
          <p:nvSpPr>
            <p:cNvPr id="32" name="TextBox 32"/>
            <p:cNvSpPr txBox="1"/>
            <p:nvPr/>
          </p:nvSpPr>
          <p:spPr>
            <a:xfrm>
              <a:off x="8304038" y="1659731"/>
              <a:ext cx="801720"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国内·残疾</a:t>
              </a:r>
            </a:p>
          </p:txBody>
        </p:sp>
        <p:sp>
          <p:nvSpPr>
            <p:cNvPr id="33" name="TextBox 33"/>
            <p:cNvSpPr txBox="1"/>
            <p:nvPr/>
          </p:nvSpPr>
          <p:spPr>
            <a:xfrm>
              <a:off x="9485138" y="1659731"/>
              <a:ext cx="801720"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外国·正常</a:t>
              </a:r>
            </a:p>
          </p:txBody>
        </p:sp>
        <p:sp>
          <p:nvSpPr>
            <p:cNvPr id="34" name="TextBox 34"/>
            <p:cNvSpPr txBox="1"/>
            <p:nvPr/>
          </p:nvSpPr>
          <p:spPr>
            <a:xfrm>
              <a:off x="10667190" y="1659731"/>
              <a:ext cx="801720"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外国·残疾</a:t>
              </a:r>
            </a:p>
          </p:txBody>
        </p:sp>
        <p:sp>
          <p:nvSpPr>
            <p:cNvPr id="35" name="TextBox 35"/>
            <p:cNvSpPr txBox="1"/>
            <p:nvPr/>
          </p:nvSpPr>
          <p:spPr>
            <a:xfrm>
              <a:off x="6140006" y="2108359"/>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头等舱</a:t>
              </a:r>
            </a:p>
          </p:txBody>
        </p:sp>
        <p:sp>
          <p:nvSpPr>
            <p:cNvPr id="36" name="Rectangle 36"/>
            <p:cNvSpPr/>
            <p:nvPr/>
          </p:nvSpPr>
          <p:spPr>
            <a:xfrm>
              <a:off x="6941820" y="1982152"/>
              <a:ext cx="1163002" cy="429578"/>
            </a:xfrm>
            <a:prstGeom prst="rect">
              <a:avLst/>
            </a:prstGeom>
            <a:solidFill>
              <a:srgbClr val="FDEEE7"/>
            </a:solidFill>
            <a:ln>
              <a:noFill/>
            </a:ln>
          </p:spPr>
        </p:sp>
        <p:sp>
          <p:nvSpPr>
            <p:cNvPr id="37" name="TextBox 37"/>
            <p:cNvSpPr txBox="1"/>
            <p:nvPr/>
          </p:nvSpPr>
          <p:spPr>
            <a:xfrm>
              <a:off x="7468982" y="2108359"/>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4</a:t>
              </a:r>
            </a:p>
          </p:txBody>
        </p:sp>
        <p:sp>
          <p:nvSpPr>
            <p:cNvPr id="38" name="TextBox 38"/>
            <p:cNvSpPr txBox="1"/>
            <p:nvPr/>
          </p:nvSpPr>
          <p:spPr>
            <a:xfrm>
              <a:off x="8651034" y="2108359"/>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2</a:t>
              </a:r>
            </a:p>
          </p:txBody>
        </p:sp>
        <p:sp>
          <p:nvSpPr>
            <p:cNvPr id="39" name="TextBox 39"/>
            <p:cNvSpPr txBox="1"/>
            <p:nvPr/>
          </p:nvSpPr>
          <p:spPr>
            <a:xfrm>
              <a:off x="9832134" y="2108359"/>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8</a:t>
              </a:r>
            </a:p>
          </p:txBody>
        </p:sp>
        <p:sp>
          <p:nvSpPr>
            <p:cNvPr id="40" name="TextBox 40"/>
            <p:cNvSpPr txBox="1"/>
            <p:nvPr/>
          </p:nvSpPr>
          <p:spPr>
            <a:xfrm>
              <a:off x="11014187" y="2108359"/>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4</a:t>
              </a:r>
            </a:p>
          </p:txBody>
        </p:sp>
        <p:sp>
          <p:nvSpPr>
            <p:cNvPr id="41" name="Rectangle 41"/>
            <p:cNvSpPr/>
            <p:nvPr/>
          </p:nvSpPr>
          <p:spPr>
            <a:xfrm>
              <a:off x="6032182" y="2416492"/>
              <a:ext cx="5626418" cy="9525"/>
            </a:xfrm>
            <a:prstGeom prst="rect">
              <a:avLst/>
            </a:prstGeom>
            <a:solidFill>
              <a:srgbClr val="D9DFEA"/>
            </a:solidFill>
            <a:ln>
              <a:noFill/>
            </a:ln>
          </p:spPr>
        </p:sp>
        <p:sp>
          <p:nvSpPr>
            <p:cNvPr id="42" name="Rectangle 42"/>
            <p:cNvSpPr/>
            <p:nvPr/>
          </p:nvSpPr>
          <p:spPr>
            <a:xfrm>
              <a:off x="6032182" y="2421255"/>
              <a:ext cx="5626418" cy="448628"/>
            </a:xfrm>
            <a:prstGeom prst="rect">
              <a:avLst/>
            </a:prstGeom>
            <a:solidFill>
              <a:srgbClr val="F4F6FB"/>
            </a:solidFill>
            <a:ln>
              <a:noFill/>
            </a:ln>
          </p:spPr>
        </p:sp>
        <p:sp>
          <p:nvSpPr>
            <p:cNvPr id="43" name="TextBox 43"/>
            <p:cNvSpPr txBox="1"/>
            <p:nvPr/>
          </p:nvSpPr>
          <p:spPr>
            <a:xfrm>
              <a:off x="6140006" y="2556986"/>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其他舱</a:t>
              </a:r>
            </a:p>
          </p:txBody>
        </p:sp>
        <p:sp>
          <p:nvSpPr>
            <p:cNvPr id="44" name="Rectangle 44"/>
            <p:cNvSpPr/>
            <p:nvPr/>
          </p:nvSpPr>
          <p:spPr>
            <a:xfrm>
              <a:off x="6941820" y="2430780"/>
              <a:ext cx="1163002" cy="429578"/>
            </a:xfrm>
            <a:prstGeom prst="rect">
              <a:avLst/>
            </a:prstGeom>
            <a:solidFill>
              <a:srgbClr val="FDEEE7"/>
            </a:solidFill>
            <a:ln>
              <a:noFill/>
            </a:ln>
          </p:spPr>
        </p:sp>
        <p:sp>
          <p:nvSpPr>
            <p:cNvPr id="45" name="TextBox 45"/>
            <p:cNvSpPr txBox="1"/>
            <p:nvPr/>
          </p:nvSpPr>
          <p:spPr>
            <a:xfrm>
              <a:off x="7468982" y="2556986"/>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6</a:t>
              </a:r>
            </a:p>
          </p:txBody>
        </p:sp>
        <p:sp>
          <p:nvSpPr>
            <p:cNvPr id="46" name="TextBox 46"/>
            <p:cNvSpPr txBox="1"/>
            <p:nvPr/>
          </p:nvSpPr>
          <p:spPr>
            <a:xfrm>
              <a:off x="8651034" y="2556986"/>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3</a:t>
              </a:r>
            </a:p>
          </p:txBody>
        </p:sp>
        <p:sp>
          <p:nvSpPr>
            <p:cNvPr id="47" name="TextBox 47"/>
            <p:cNvSpPr txBox="1"/>
            <p:nvPr/>
          </p:nvSpPr>
          <p:spPr>
            <a:xfrm>
              <a:off x="9784748" y="2556986"/>
              <a:ext cx="202499"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12</a:t>
              </a:r>
            </a:p>
          </p:txBody>
        </p:sp>
        <p:sp>
          <p:nvSpPr>
            <p:cNvPr id="48" name="TextBox 48"/>
            <p:cNvSpPr txBox="1"/>
            <p:nvPr/>
          </p:nvSpPr>
          <p:spPr>
            <a:xfrm>
              <a:off x="11014187" y="2556986"/>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6</a:t>
              </a:r>
            </a:p>
          </p:txBody>
        </p:sp>
        <p:sp>
          <p:nvSpPr>
            <p:cNvPr id="49" name="Rectangle 49"/>
            <p:cNvSpPr/>
            <p:nvPr/>
          </p:nvSpPr>
          <p:spPr>
            <a:xfrm>
              <a:off x="6032182" y="1524000"/>
              <a:ext cx="5626418" cy="1346835"/>
            </a:xfrm>
            <a:prstGeom prst="rect">
              <a:avLst/>
            </a:prstGeom>
            <a:noFill/>
            <a:ln w="14288">
              <a:solidFill>
                <a:srgbClr val="D9DFEA"/>
              </a:solidFill>
            </a:ln>
          </p:spPr>
        </p:sp>
        <p:sp>
          <p:nvSpPr>
            <p:cNvPr id="50" name="Rectangle 50"/>
            <p:cNvSpPr/>
            <p:nvPr/>
          </p:nvSpPr>
          <p:spPr>
            <a:xfrm>
              <a:off x="6927532" y="1524000"/>
              <a:ext cx="9525" cy="1346835"/>
            </a:xfrm>
            <a:prstGeom prst="rect">
              <a:avLst/>
            </a:prstGeom>
            <a:solidFill>
              <a:srgbClr val="D9DFEA"/>
            </a:solidFill>
            <a:ln>
              <a:noFill/>
            </a:ln>
          </p:spPr>
        </p:sp>
        <p:sp>
          <p:nvSpPr>
            <p:cNvPr id="51" name="Rectangle 51"/>
            <p:cNvSpPr/>
            <p:nvPr/>
          </p:nvSpPr>
          <p:spPr>
            <a:xfrm>
              <a:off x="8108632" y="1524000"/>
              <a:ext cx="9525" cy="1346835"/>
            </a:xfrm>
            <a:prstGeom prst="rect">
              <a:avLst/>
            </a:prstGeom>
            <a:solidFill>
              <a:srgbClr val="D9DFEA"/>
            </a:solidFill>
            <a:ln>
              <a:noFill/>
            </a:ln>
          </p:spPr>
        </p:sp>
        <p:sp>
          <p:nvSpPr>
            <p:cNvPr id="52" name="Rectangle 52"/>
            <p:cNvSpPr/>
            <p:nvPr/>
          </p:nvSpPr>
          <p:spPr>
            <a:xfrm>
              <a:off x="9290685" y="1524000"/>
              <a:ext cx="9525" cy="1346835"/>
            </a:xfrm>
            <a:prstGeom prst="rect">
              <a:avLst/>
            </a:prstGeom>
            <a:solidFill>
              <a:srgbClr val="D9DFEA"/>
            </a:solidFill>
            <a:ln>
              <a:noFill/>
            </a:ln>
          </p:spPr>
        </p:sp>
        <p:sp>
          <p:nvSpPr>
            <p:cNvPr id="53" name="Rectangle 53"/>
            <p:cNvSpPr/>
            <p:nvPr/>
          </p:nvSpPr>
          <p:spPr>
            <a:xfrm>
              <a:off x="10471785" y="1524000"/>
              <a:ext cx="9525" cy="1346835"/>
            </a:xfrm>
            <a:prstGeom prst="rect">
              <a:avLst/>
            </a:prstGeom>
            <a:solidFill>
              <a:srgbClr val="D9DFEA"/>
            </a:solidFill>
            <a:ln>
              <a:noFill/>
            </a:ln>
          </p:spPr>
        </p:sp>
        <p:sp>
          <p:nvSpPr>
            <p:cNvPr id="54" name="TextBox 54"/>
            <p:cNvSpPr txBox="1"/>
            <p:nvPr/>
          </p:nvSpPr>
          <p:spPr>
            <a:xfrm>
              <a:off x="6026467" y="2946559"/>
              <a:ext cx="4911598"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超过 30kg 的部分每公斤收费（元）；先按舱位定基准，再乘 2，再除以 2</a:t>
              </a:r>
            </a:p>
          </p:txBody>
        </p:sp>
      </p:grpSp>
      <p:grpSp>
        <p:nvGrpSpPr>
          <p:cNvPr id="69" name="c2-card-2"/>
          <p:cNvGrpSpPr/>
          <p:nvPr/>
        </p:nvGrpSpPr>
        <p:grpSpPr>
          <a:xfrm>
            <a:off x="6032182" y="3312795"/>
            <a:ext cx="5626418" cy="1997392"/>
            <a:chOff x="6032182" y="3312795"/>
            <a:chExt cx="5626418" cy="1997392"/>
          </a:xfrm>
        </p:grpSpPr>
        <p:sp>
          <p:nvSpPr>
            <p:cNvPr id="56" name="Rectangle 56"/>
            <p:cNvSpPr/>
            <p:nvPr/>
          </p:nvSpPr>
          <p:spPr>
            <a:xfrm>
              <a:off x="6032182" y="3312795"/>
              <a:ext cx="5626418" cy="1997392"/>
            </a:xfrm>
            <a:prstGeom prst="roundRect">
              <a:avLst>
                <a:gd name="adj" fmla="val 6676"/>
              </a:avLst>
            </a:prstGeom>
            <a:solidFill>
              <a:srgbClr val="334E68"/>
            </a:solidFill>
            <a:ln>
              <a:noFill/>
            </a:ln>
          </p:spPr>
        </p:sp>
        <p:sp>
          <p:nvSpPr>
            <p:cNvPr id="57" name="Rectangle 57"/>
            <p:cNvSpPr/>
            <p:nvPr/>
          </p:nvSpPr>
          <p:spPr>
            <a:xfrm>
              <a:off x="6241732" y="3522345"/>
              <a:ext cx="778192" cy="257175"/>
            </a:xfrm>
            <a:prstGeom prst="roundRect">
              <a:avLst>
                <a:gd name="adj" fmla="val 50000"/>
              </a:avLst>
            </a:prstGeom>
            <a:solidFill>
              <a:srgbClr val="243B53"/>
            </a:solidFill>
            <a:ln>
              <a:noFill/>
            </a:ln>
          </p:spPr>
        </p:sp>
        <p:sp>
          <p:nvSpPr>
            <p:cNvPr id="58" name="TextBox 58"/>
            <p:cNvSpPr txBox="1"/>
            <p:nvPr/>
          </p:nvSpPr>
          <p:spPr>
            <a:xfrm>
              <a:off x="6323089" y="3558064"/>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推导顺序</a:t>
              </a:r>
            </a:p>
          </p:txBody>
        </p:sp>
        <p:sp>
          <p:nvSpPr>
            <p:cNvPr id="59" name="Ellipse 59"/>
            <p:cNvSpPr/>
            <p:nvPr/>
          </p:nvSpPr>
          <p:spPr>
            <a:xfrm>
              <a:off x="6241732" y="3886200"/>
              <a:ext cx="213360" cy="213360"/>
            </a:xfrm>
            <a:prstGeom prst="ellipse">
              <a:avLst/>
            </a:prstGeom>
            <a:solidFill>
              <a:srgbClr val="334E68"/>
            </a:solidFill>
            <a:ln>
              <a:noFill/>
            </a:ln>
          </p:spPr>
        </p:sp>
        <p:sp>
          <p:nvSpPr>
            <p:cNvPr id="60" name="TextBox 60"/>
            <p:cNvSpPr txBox="1"/>
            <p:nvPr/>
          </p:nvSpPr>
          <p:spPr>
            <a:xfrm>
              <a:off x="6303582" y="392849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1</a:t>
              </a:r>
            </a:p>
          </p:txBody>
        </p:sp>
        <p:sp>
          <p:nvSpPr>
            <p:cNvPr id="61" name="TextBox 61"/>
            <p:cNvSpPr txBox="1"/>
            <p:nvPr/>
          </p:nvSpPr>
          <p:spPr>
            <a:xfrm>
              <a:off x="6542723" y="3899535"/>
              <a:ext cx="2902839"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基准：头等舱 4 元，其他舱 6 元</a:t>
              </a:r>
            </a:p>
          </p:txBody>
        </p:sp>
        <p:sp>
          <p:nvSpPr>
            <p:cNvPr id="62" name="Ellipse 62"/>
            <p:cNvSpPr/>
            <p:nvPr/>
          </p:nvSpPr>
          <p:spPr>
            <a:xfrm>
              <a:off x="6241732" y="4221480"/>
              <a:ext cx="213360" cy="213360"/>
            </a:xfrm>
            <a:prstGeom prst="ellipse">
              <a:avLst/>
            </a:prstGeom>
            <a:solidFill>
              <a:srgbClr val="334E68"/>
            </a:solidFill>
            <a:ln>
              <a:noFill/>
            </a:ln>
          </p:spPr>
        </p:sp>
        <p:sp>
          <p:nvSpPr>
            <p:cNvPr id="63" name="TextBox 63"/>
            <p:cNvSpPr txBox="1"/>
            <p:nvPr/>
          </p:nvSpPr>
          <p:spPr>
            <a:xfrm>
              <a:off x="6303582" y="426377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2</a:t>
              </a:r>
            </a:p>
          </p:txBody>
        </p:sp>
        <p:sp>
          <p:nvSpPr>
            <p:cNvPr id="64" name="TextBox 64"/>
            <p:cNvSpPr txBox="1"/>
            <p:nvPr/>
          </p:nvSpPr>
          <p:spPr>
            <a:xfrm>
              <a:off x="6542723" y="4234815"/>
              <a:ext cx="1711452"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外国乘客：基准 ×2</a:t>
              </a:r>
            </a:p>
          </p:txBody>
        </p:sp>
        <p:sp>
          <p:nvSpPr>
            <p:cNvPr id="65" name="Ellipse 65"/>
            <p:cNvSpPr/>
            <p:nvPr/>
          </p:nvSpPr>
          <p:spPr>
            <a:xfrm>
              <a:off x="6241732" y="4556760"/>
              <a:ext cx="213360" cy="213360"/>
            </a:xfrm>
            <a:prstGeom prst="ellipse">
              <a:avLst/>
            </a:prstGeom>
            <a:solidFill>
              <a:srgbClr val="334E68"/>
            </a:solidFill>
            <a:ln>
              <a:noFill/>
            </a:ln>
          </p:spPr>
        </p:sp>
        <p:sp>
          <p:nvSpPr>
            <p:cNvPr id="66" name="TextBox 66"/>
            <p:cNvSpPr txBox="1"/>
            <p:nvPr/>
          </p:nvSpPr>
          <p:spPr>
            <a:xfrm>
              <a:off x="6303582" y="459905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3</a:t>
              </a:r>
            </a:p>
          </p:txBody>
        </p:sp>
        <p:sp>
          <p:nvSpPr>
            <p:cNvPr id="67" name="TextBox 67"/>
            <p:cNvSpPr txBox="1"/>
            <p:nvPr/>
          </p:nvSpPr>
          <p:spPr>
            <a:xfrm>
              <a:off x="6542723" y="4570095"/>
              <a:ext cx="1509522"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残疾乘客：再 ÷2</a:t>
              </a:r>
            </a:p>
          </p:txBody>
        </p:sp>
        <p:sp>
          <p:nvSpPr>
            <p:cNvPr id="68" name="TextBox 68"/>
            <p:cNvSpPr txBox="1"/>
            <p:nvPr/>
          </p:nvSpPr>
          <p:spPr>
            <a:xfrm>
              <a:off x="6235256" y="4901089"/>
              <a:ext cx="4174327"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外国 + 残疾正好一乘一除，回到国内正常乘客的价钱。</a:t>
              </a:r>
            </a:p>
          </p:txBody>
        </p:sp>
      </p:grpSp>
      <p:grpSp>
        <p:nvGrpSpPr>
          <p:cNvPr id="75" name="takeaway"/>
          <p:cNvGrpSpPr/>
          <p:nvPr/>
        </p:nvGrpSpPr>
        <p:grpSpPr>
          <a:xfrm>
            <a:off x="533400" y="5579745"/>
            <a:ext cx="11125200" cy="782955"/>
            <a:chOff x="533400" y="5579745"/>
            <a:chExt cx="11125200" cy="782955"/>
          </a:xfrm>
        </p:grpSpPr>
        <p:sp>
          <p:nvSpPr>
            <p:cNvPr id="70" name="Rectangle 70"/>
            <p:cNvSpPr/>
            <p:nvPr/>
          </p:nvSpPr>
          <p:spPr>
            <a:xfrm>
              <a:off x="533400" y="5579745"/>
              <a:ext cx="11125200" cy="782955"/>
            </a:xfrm>
            <a:prstGeom prst="roundRect">
              <a:avLst>
                <a:gd name="adj" fmla="val 14599"/>
              </a:avLst>
            </a:prstGeom>
            <a:solidFill>
              <a:srgbClr val="334E68"/>
            </a:solidFill>
            <a:ln>
              <a:noFill/>
            </a:ln>
          </p:spPr>
        </p:sp>
        <p:grpSp>
          <p:nvGrpSpPr>
            <p:cNvPr id="73" name="Group 73"/>
            <p:cNvGrpSpPr/>
            <p:nvPr/>
          </p:nvGrpSpPr>
          <p:grpSpPr>
            <a:xfrm>
              <a:off x="738188" y="5871212"/>
              <a:ext cx="200023" cy="200023"/>
              <a:chOff x="738188" y="5871212"/>
              <a:chExt cx="200023" cy="200023"/>
            </a:xfrm>
          </p:grpSpPr>
          <p:sp>
            <p:nvSpPr>
              <p:cNvPr id="71" name="Freeform 71"/>
              <p:cNvSpPr/>
              <p:nvPr/>
            </p:nvSpPr>
            <p:spPr>
              <a:xfrm>
                <a:off x="738188" y="587121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2" name="Freeform 72"/>
              <p:cNvSpPr/>
              <p:nvPr/>
            </p:nvSpPr>
            <p:spPr>
              <a:xfrm>
                <a:off x="871538" y="593788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74" name="TextBox 74"/>
            <p:cNvSpPr txBox="1"/>
            <p:nvPr/>
          </p:nvSpPr>
          <p:spPr>
            <a:xfrm>
              <a:off x="1040130" y="5728335"/>
              <a:ext cx="993076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下一页的判定表里，空格表示与这条条件无关。已用脚本按题意逐列复核，9 条规则的倍率依次是免费、4、6、2、3、</a:t>
              </a:r>
              <a:br/>
              <a:r>
                <a:rPr lang="zh-CN" sz="1500" dirty="0">
                  <a:solidFill>
                    <a:srgbClr val="FFFFFF"/>
                  </a:solidFill>
                  <a:latin typeface="+mn-lt"/>
                  <a:ea typeface="+mn-ea"/>
                  <a:cs typeface="+mn-cs"/>
                </a:rPr>
                <a:t>8、12、4、6。</a:t>
              </a:r>
            </a:p>
          </p:txBody>
        </p:sp>
      </p:grpSp>
      <p:grpSp>
        <p:nvGrpSpPr>
          <p:cNvPr id="78" name="footer"/>
          <p:cNvGrpSpPr/>
          <p:nvPr/>
        </p:nvGrpSpPr>
        <p:grpSpPr>
          <a:xfrm>
            <a:off x="528447" y="6581299"/>
            <a:ext cx="11135106" cy="190690"/>
            <a:chOff x="528447" y="6581299"/>
            <a:chExt cx="11135106" cy="190690"/>
          </a:xfrm>
        </p:grpSpPr>
        <p:sp>
          <p:nvSpPr>
            <p:cNvPr id="76" name="TextBox 76"/>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77" name="TextBox 7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27</a:t>
              </a:r>
            </a:p>
          </p:txBody>
        </p:sp>
      </p:gr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168063" cy="909257"/>
            <a:chOff x="520446" y="342900"/>
            <a:chExt cx="6168063"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过程设计技术和工具</a:t>
              </a:r>
            </a:p>
          </p:txBody>
        </p:sp>
        <p:sp>
          <p:nvSpPr>
            <p:cNvPr id="4" name="TextBox 4"/>
            <p:cNvSpPr txBox="1"/>
            <p:nvPr/>
          </p:nvSpPr>
          <p:spPr>
            <a:xfrm>
              <a:off x="520446" y="753428"/>
              <a:ext cx="616806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行李托运费的判定表：9 条规则逐列核对</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90" name="c1-table-1"/>
          <p:cNvGrpSpPr/>
          <p:nvPr/>
        </p:nvGrpSpPr>
        <p:grpSpPr>
          <a:xfrm>
            <a:off x="533400" y="1524000"/>
            <a:ext cx="11125200" cy="4800600"/>
            <a:chOff x="533400" y="1524000"/>
            <a:chExt cx="11125200" cy="4800600"/>
          </a:xfrm>
        </p:grpSpPr>
        <p:sp>
          <p:nvSpPr>
            <p:cNvPr id="7" name="Rectangle 7"/>
            <p:cNvSpPr/>
            <p:nvPr/>
          </p:nvSpPr>
          <p:spPr>
            <a:xfrm>
              <a:off x="533400" y="1524000"/>
              <a:ext cx="11125200" cy="400050"/>
            </a:xfrm>
            <a:prstGeom prst="rect">
              <a:avLst/>
            </a:prstGeom>
            <a:solidFill>
              <a:srgbClr val="334E68"/>
            </a:solidFill>
            <a:ln>
              <a:noFill/>
            </a:ln>
          </p:spPr>
        </p:sp>
        <p:sp>
          <p:nvSpPr>
            <p:cNvPr id="8" name="TextBox 8"/>
            <p:cNvSpPr txBox="1"/>
            <p:nvPr/>
          </p:nvSpPr>
          <p:spPr>
            <a:xfrm>
              <a:off x="3098761" y="16454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9" name="TextBox 9"/>
            <p:cNvSpPr txBox="1"/>
            <p:nvPr/>
          </p:nvSpPr>
          <p:spPr>
            <a:xfrm>
              <a:off x="4099839" y="16454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0" name="TextBox 10"/>
            <p:cNvSpPr txBox="1"/>
            <p:nvPr/>
          </p:nvSpPr>
          <p:spPr>
            <a:xfrm>
              <a:off x="5100916" y="16454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1" name="TextBox 11"/>
            <p:cNvSpPr txBox="1"/>
            <p:nvPr/>
          </p:nvSpPr>
          <p:spPr>
            <a:xfrm>
              <a:off x="6101994" y="16454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12" name="TextBox 12"/>
            <p:cNvSpPr txBox="1"/>
            <p:nvPr/>
          </p:nvSpPr>
          <p:spPr>
            <a:xfrm>
              <a:off x="7104024" y="16454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5</a:t>
              </a:r>
            </a:p>
          </p:txBody>
        </p:sp>
        <p:sp>
          <p:nvSpPr>
            <p:cNvPr id="13" name="TextBox 13"/>
            <p:cNvSpPr txBox="1"/>
            <p:nvPr/>
          </p:nvSpPr>
          <p:spPr>
            <a:xfrm>
              <a:off x="8105101" y="16454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6</a:t>
              </a:r>
            </a:p>
          </p:txBody>
        </p:sp>
        <p:sp>
          <p:nvSpPr>
            <p:cNvPr id="14" name="TextBox 14"/>
            <p:cNvSpPr txBox="1"/>
            <p:nvPr/>
          </p:nvSpPr>
          <p:spPr>
            <a:xfrm>
              <a:off x="9106179" y="16454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7</a:t>
              </a:r>
            </a:p>
          </p:txBody>
        </p:sp>
        <p:sp>
          <p:nvSpPr>
            <p:cNvPr id="15" name="TextBox 15"/>
            <p:cNvSpPr txBox="1"/>
            <p:nvPr/>
          </p:nvSpPr>
          <p:spPr>
            <a:xfrm>
              <a:off x="10107256" y="16454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8</a:t>
              </a:r>
            </a:p>
          </p:txBody>
        </p:sp>
        <p:sp>
          <p:nvSpPr>
            <p:cNvPr id="16" name="TextBox 16"/>
            <p:cNvSpPr txBox="1"/>
            <p:nvPr/>
          </p:nvSpPr>
          <p:spPr>
            <a:xfrm>
              <a:off x="11108334" y="16454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9</a:t>
              </a:r>
            </a:p>
          </p:txBody>
        </p:sp>
        <p:sp>
          <p:nvSpPr>
            <p:cNvPr id="17" name="TextBox 17"/>
            <p:cNvSpPr txBox="1"/>
            <p:nvPr/>
          </p:nvSpPr>
          <p:spPr>
            <a:xfrm>
              <a:off x="630555" y="2045494"/>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国内乘客</a:t>
              </a:r>
            </a:p>
          </p:txBody>
        </p:sp>
        <p:sp>
          <p:nvSpPr>
            <p:cNvPr id="18" name="TextBox 18"/>
            <p:cNvSpPr txBox="1"/>
            <p:nvPr/>
          </p:nvSpPr>
          <p:spPr>
            <a:xfrm>
              <a:off x="4099565"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19" name="TextBox 19"/>
            <p:cNvSpPr txBox="1"/>
            <p:nvPr/>
          </p:nvSpPr>
          <p:spPr>
            <a:xfrm>
              <a:off x="5100643"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20" name="TextBox 20"/>
            <p:cNvSpPr txBox="1"/>
            <p:nvPr/>
          </p:nvSpPr>
          <p:spPr>
            <a:xfrm>
              <a:off x="6101720"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21" name="TextBox 21"/>
            <p:cNvSpPr txBox="1"/>
            <p:nvPr/>
          </p:nvSpPr>
          <p:spPr>
            <a:xfrm>
              <a:off x="7103750"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22" name="TextBox 22"/>
            <p:cNvSpPr txBox="1"/>
            <p:nvPr/>
          </p:nvSpPr>
          <p:spPr>
            <a:xfrm>
              <a:off x="8104828"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23" name="TextBox 23"/>
            <p:cNvSpPr txBox="1"/>
            <p:nvPr/>
          </p:nvSpPr>
          <p:spPr>
            <a:xfrm>
              <a:off x="9105905"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24" name="TextBox 24"/>
            <p:cNvSpPr txBox="1"/>
            <p:nvPr/>
          </p:nvSpPr>
          <p:spPr>
            <a:xfrm>
              <a:off x="10106983"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25" name="TextBox 25"/>
            <p:cNvSpPr txBox="1"/>
            <p:nvPr/>
          </p:nvSpPr>
          <p:spPr>
            <a:xfrm>
              <a:off x="11108060"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26" name="Rectangle 26"/>
            <p:cNvSpPr/>
            <p:nvPr/>
          </p:nvSpPr>
          <p:spPr>
            <a:xfrm>
              <a:off x="533400" y="2319338"/>
              <a:ext cx="11125200" cy="9525"/>
            </a:xfrm>
            <a:prstGeom prst="rect">
              <a:avLst/>
            </a:prstGeom>
            <a:solidFill>
              <a:srgbClr val="D9DFEA"/>
            </a:solidFill>
            <a:ln>
              <a:noFill/>
            </a:ln>
          </p:spPr>
        </p:sp>
        <p:sp>
          <p:nvSpPr>
            <p:cNvPr id="27" name="TextBox 27"/>
            <p:cNvSpPr txBox="1"/>
            <p:nvPr/>
          </p:nvSpPr>
          <p:spPr>
            <a:xfrm>
              <a:off x="630555" y="2445544"/>
              <a:ext cx="46375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头等舱</a:t>
              </a:r>
            </a:p>
          </p:txBody>
        </p:sp>
        <p:sp>
          <p:nvSpPr>
            <p:cNvPr id="28" name="TextBox 28"/>
            <p:cNvSpPr txBox="1"/>
            <p:nvPr/>
          </p:nvSpPr>
          <p:spPr>
            <a:xfrm>
              <a:off x="4099565" y="24455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29" name="TextBox 29"/>
            <p:cNvSpPr txBox="1"/>
            <p:nvPr/>
          </p:nvSpPr>
          <p:spPr>
            <a:xfrm>
              <a:off x="5100643" y="24455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30" name="TextBox 30"/>
            <p:cNvSpPr txBox="1"/>
            <p:nvPr/>
          </p:nvSpPr>
          <p:spPr>
            <a:xfrm>
              <a:off x="6101720" y="24455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31" name="TextBox 31"/>
            <p:cNvSpPr txBox="1"/>
            <p:nvPr/>
          </p:nvSpPr>
          <p:spPr>
            <a:xfrm>
              <a:off x="7103750" y="24455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32" name="TextBox 32"/>
            <p:cNvSpPr txBox="1"/>
            <p:nvPr/>
          </p:nvSpPr>
          <p:spPr>
            <a:xfrm>
              <a:off x="8104828" y="24455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33" name="TextBox 33"/>
            <p:cNvSpPr txBox="1"/>
            <p:nvPr/>
          </p:nvSpPr>
          <p:spPr>
            <a:xfrm>
              <a:off x="9105905" y="24455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34" name="TextBox 34"/>
            <p:cNvSpPr txBox="1"/>
            <p:nvPr/>
          </p:nvSpPr>
          <p:spPr>
            <a:xfrm>
              <a:off x="10106983" y="24455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35" name="TextBox 35"/>
            <p:cNvSpPr txBox="1"/>
            <p:nvPr/>
          </p:nvSpPr>
          <p:spPr>
            <a:xfrm>
              <a:off x="11108060" y="24455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36" name="Rectangle 36"/>
            <p:cNvSpPr/>
            <p:nvPr/>
          </p:nvSpPr>
          <p:spPr>
            <a:xfrm>
              <a:off x="533400" y="2719388"/>
              <a:ext cx="11125200" cy="9525"/>
            </a:xfrm>
            <a:prstGeom prst="rect">
              <a:avLst/>
            </a:prstGeom>
            <a:solidFill>
              <a:srgbClr val="D9DFEA"/>
            </a:solidFill>
            <a:ln>
              <a:noFill/>
            </a:ln>
          </p:spPr>
        </p:sp>
        <p:sp>
          <p:nvSpPr>
            <p:cNvPr id="37" name="TextBox 37"/>
            <p:cNvSpPr txBox="1"/>
            <p:nvPr/>
          </p:nvSpPr>
          <p:spPr>
            <a:xfrm>
              <a:off x="630555" y="2845594"/>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残疾乘客</a:t>
              </a:r>
            </a:p>
          </p:txBody>
        </p:sp>
        <p:sp>
          <p:nvSpPr>
            <p:cNvPr id="38" name="TextBox 38"/>
            <p:cNvSpPr txBox="1"/>
            <p:nvPr/>
          </p:nvSpPr>
          <p:spPr>
            <a:xfrm>
              <a:off x="4099565" y="28455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39" name="TextBox 39"/>
            <p:cNvSpPr txBox="1"/>
            <p:nvPr/>
          </p:nvSpPr>
          <p:spPr>
            <a:xfrm>
              <a:off x="5100643" y="28455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40" name="TextBox 40"/>
            <p:cNvSpPr txBox="1"/>
            <p:nvPr/>
          </p:nvSpPr>
          <p:spPr>
            <a:xfrm>
              <a:off x="6101720" y="28455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41" name="TextBox 41"/>
            <p:cNvSpPr txBox="1"/>
            <p:nvPr/>
          </p:nvSpPr>
          <p:spPr>
            <a:xfrm>
              <a:off x="7103750" y="28455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42" name="TextBox 42"/>
            <p:cNvSpPr txBox="1"/>
            <p:nvPr/>
          </p:nvSpPr>
          <p:spPr>
            <a:xfrm>
              <a:off x="8104828" y="28455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43" name="TextBox 43"/>
            <p:cNvSpPr txBox="1"/>
            <p:nvPr/>
          </p:nvSpPr>
          <p:spPr>
            <a:xfrm>
              <a:off x="9105905" y="28455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44" name="TextBox 44"/>
            <p:cNvSpPr txBox="1"/>
            <p:nvPr/>
          </p:nvSpPr>
          <p:spPr>
            <a:xfrm>
              <a:off x="10106983" y="28455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45" name="TextBox 45"/>
            <p:cNvSpPr txBox="1"/>
            <p:nvPr/>
          </p:nvSpPr>
          <p:spPr>
            <a:xfrm>
              <a:off x="11108060" y="28455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46" name="Rectangle 46"/>
            <p:cNvSpPr/>
            <p:nvPr/>
          </p:nvSpPr>
          <p:spPr>
            <a:xfrm>
              <a:off x="533400" y="3119438"/>
              <a:ext cx="11125200" cy="9525"/>
            </a:xfrm>
            <a:prstGeom prst="rect">
              <a:avLst/>
            </a:prstGeom>
            <a:solidFill>
              <a:srgbClr val="D9DFEA"/>
            </a:solidFill>
            <a:ln>
              <a:noFill/>
            </a:ln>
          </p:spPr>
        </p:sp>
        <p:sp>
          <p:nvSpPr>
            <p:cNvPr id="47" name="TextBox 47"/>
            <p:cNvSpPr txBox="1"/>
            <p:nvPr/>
          </p:nvSpPr>
          <p:spPr>
            <a:xfrm>
              <a:off x="630555" y="3245644"/>
              <a:ext cx="122746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行李重量 W≤30kg</a:t>
              </a:r>
            </a:p>
          </p:txBody>
        </p:sp>
        <p:sp>
          <p:nvSpPr>
            <p:cNvPr id="48" name="TextBox 48"/>
            <p:cNvSpPr txBox="1"/>
            <p:nvPr/>
          </p:nvSpPr>
          <p:spPr>
            <a:xfrm>
              <a:off x="3098488" y="32456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49" name="TextBox 49"/>
            <p:cNvSpPr txBox="1"/>
            <p:nvPr/>
          </p:nvSpPr>
          <p:spPr>
            <a:xfrm>
              <a:off x="4099565" y="32456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50" name="TextBox 50"/>
            <p:cNvSpPr txBox="1"/>
            <p:nvPr/>
          </p:nvSpPr>
          <p:spPr>
            <a:xfrm>
              <a:off x="5100643" y="32456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51" name="TextBox 51"/>
            <p:cNvSpPr txBox="1"/>
            <p:nvPr/>
          </p:nvSpPr>
          <p:spPr>
            <a:xfrm>
              <a:off x="6101720" y="32456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52" name="TextBox 52"/>
            <p:cNvSpPr txBox="1"/>
            <p:nvPr/>
          </p:nvSpPr>
          <p:spPr>
            <a:xfrm>
              <a:off x="7103750" y="32456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53" name="TextBox 53"/>
            <p:cNvSpPr txBox="1"/>
            <p:nvPr/>
          </p:nvSpPr>
          <p:spPr>
            <a:xfrm>
              <a:off x="8104828" y="32456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54" name="TextBox 54"/>
            <p:cNvSpPr txBox="1"/>
            <p:nvPr/>
          </p:nvSpPr>
          <p:spPr>
            <a:xfrm>
              <a:off x="9105905" y="32456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55" name="TextBox 55"/>
            <p:cNvSpPr txBox="1"/>
            <p:nvPr/>
          </p:nvSpPr>
          <p:spPr>
            <a:xfrm>
              <a:off x="10106983" y="32456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56" name="TextBox 56"/>
            <p:cNvSpPr txBox="1"/>
            <p:nvPr/>
          </p:nvSpPr>
          <p:spPr>
            <a:xfrm>
              <a:off x="11108060" y="32456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57" name="Rectangle 57"/>
            <p:cNvSpPr/>
            <p:nvPr/>
          </p:nvSpPr>
          <p:spPr>
            <a:xfrm>
              <a:off x="533400" y="3519488"/>
              <a:ext cx="11125200" cy="9525"/>
            </a:xfrm>
            <a:prstGeom prst="rect">
              <a:avLst/>
            </a:prstGeom>
            <a:solidFill>
              <a:srgbClr val="D9DFEA"/>
            </a:solidFill>
            <a:ln>
              <a:noFill/>
            </a:ln>
          </p:spPr>
        </p:sp>
        <p:sp>
          <p:nvSpPr>
            <p:cNvPr id="58" name="TextBox 58"/>
            <p:cNvSpPr txBox="1"/>
            <p:nvPr/>
          </p:nvSpPr>
          <p:spPr>
            <a:xfrm>
              <a:off x="630555" y="3645694"/>
              <a:ext cx="31297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免费</a:t>
              </a:r>
            </a:p>
          </p:txBody>
        </p:sp>
        <p:sp>
          <p:nvSpPr>
            <p:cNvPr id="59" name="TextBox 59"/>
            <p:cNvSpPr txBox="1"/>
            <p:nvPr/>
          </p:nvSpPr>
          <p:spPr>
            <a:xfrm>
              <a:off x="3100835" y="3645694"/>
              <a:ext cx="94356" cy="220028"/>
            </a:xfrm>
            <a:prstGeom prst="rect">
              <a:avLst/>
            </a:prstGeom>
            <a:noFill/>
            <a:ln>
              <a:noFill/>
            </a:ln>
          </p:spPr>
          <p:txBody>
            <a:bodyPr wrap="none" lIns="0" tIns="0" rIns="0" bIns="0" anchor="t" anchorCtr="0">
              <a:spAutoFit/>
            </a:bodyPr>
            <a:lstStyle/>
            <a:p>
              <a:pPr algn="ctr"/>
              <a:r>
                <a:rPr lang="zh-CN" sz="1120" dirty="0">
                  <a:solidFill>
                    <a:srgbClr val="B42318"/>
                  </a:solidFill>
                  <a:latin typeface="+mn-lt"/>
                  <a:ea typeface="+mn-ea"/>
                  <a:cs typeface="+mn-cs"/>
                </a:rPr>
                <a:t>×</a:t>
              </a:r>
            </a:p>
          </p:txBody>
        </p:sp>
        <p:sp>
          <p:nvSpPr>
            <p:cNvPr id="60" name="Rectangle 60"/>
            <p:cNvSpPr/>
            <p:nvPr/>
          </p:nvSpPr>
          <p:spPr>
            <a:xfrm>
              <a:off x="533400" y="3919538"/>
              <a:ext cx="11125200" cy="9525"/>
            </a:xfrm>
            <a:prstGeom prst="rect">
              <a:avLst/>
            </a:prstGeom>
            <a:solidFill>
              <a:srgbClr val="D9DFEA"/>
            </a:solidFill>
            <a:ln>
              <a:noFill/>
            </a:ln>
          </p:spPr>
        </p:sp>
        <p:sp>
          <p:nvSpPr>
            <p:cNvPr id="61" name="TextBox 61"/>
            <p:cNvSpPr txBox="1"/>
            <p:nvPr/>
          </p:nvSpPr>
          <p:spPr>
            <a:xfrm>
              <a:off x="630555" y="4045744"/>
              <a:ext cx="78089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(W-30)×2</a:t>
              </a:r>
            </a:p>
          </p:txBody>
        </p:sp>
        <p:sp>
          <p:nvSpPr>
            <p:cNvPr id="62" name="TextBox 62"/>
            <p:cNvSpPr txBox="1"/>
            <p:nvPr/>
          </p:nvSpPr>
          <p:spPr>
            <a:xfrm>
              <a:off x="6104067" y="4045744"/>
              <a:ext cx="94356" cy="220028"/>
            </a:xfrm>
            <a:prstGeom prst="rect">
              <a:avLst/>
            </a:prstGeom>
            <a:noFill/>
            <a:ln>
              <a:noFill/>
            </a:ln>
          </p:spPr>
          <p:txBody>
            <a:bodyPr wrap="none" lIns="0" tIns="0" rIns="0" bIns="0" anchor="t" anchorCtr="0">
              <a:spAutoFit/>
            </a:bodyPr>
            <a:lstStyle/>
            <a:p>
              <a:pPr algn="ctr"/>
              <a:r>
                <a:rPr lang="zh-CN" sz="1120" dirty="0">
                  <a:solidFill>
                    <a:srgbClr val="B42318"/>
                  </a:solidFill>
                  <a:latin typeface="+mn-lt"/>
                  <a:ea typeface="+mn-ea"/>
                  <a:cs typeface="+mn-cs"/>
                </a:rPr>
                <a:t>×</a:t>
              </a:r>
            </a:p>
          </p:txBody>
        </p:sp>
        <p:sp>
          <p:nvSpPr>
            <p:cNvPr id="63" name="Rectangle 63"/>
            <p:cNvSpPr/>
            <p:nvPr/>
          </p:nvSpPr>
          <p:spPr>
            <a:xfrm>
              <a:off x="533400" y="4319588"/>
              <a:ext cx="11125200" cy="9525"/>
            </a:xfrm>
            <a:prstGeom prst="rect">
              <a:avLst/>
            </a:prstGeom>
            <a:solidFill>
              <a:srgbClr val="D9DFEA"/>
            </a:solidFill>
            <a:ln>
              <a:noFill/>
            </a:ln>
          </p:spPr>
        </p:sp>
        <p:sp>
          <p:nvSpPr>
            <p:cNvPr id="64" name="TextBox 64"/>
            <p:cNvSpPr txBox="1"/>
            <p:nvPr/>
          </p:nvSpPr>
          <p:spPr>
            <a:xfrm>
              <a:off x="630555" y="4445794"/>
              <a:ext cx="78089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(W-30)×3</a:t>
              </a:r>
            </a:p>
          </p:txBody>
        </p:sp>
        <p:sp>
          <p:nvSpPr>
            <p:cNvPr id="65" name="TextBox 65"/>
            <p:cNvSpPr txBox="1"/>
            <p:nvPr/>
          </p:nvSpPr>
          <p:spPr>
            <a:xfrm>
              <a:off x="7106097" y="4445794"/>
              <a:ext cx="94356" cy="220028"/>
            </a:xfrm>
            <a:prstGeom prst="rect">
              <a:avLst/>
            </a:prstGeom>
            <a:noFill/>
            <a:ln>
              <a:noFill/>
            </a:ln>
          </p:spPr>
          <p:txBody>
            <a:bodyPr wrap="none" lIns="0" tIns="0" rIns="0" bIns="0" anchor="t" anchorCtr="0">
              <a:spAutoFit/>
            </a:bodyPr>
            <a:lstStyle/>
            <a:p>
              <a:pPr algn="ctr"/>
              <a:r>
                <a:rPr lang="zh-CN" sz="1120" dirty="0">
                  <a:solidFill>
                    <a:srgbClr val="B42318"/>
                  </a:solidFill>
                  <a:latin typeface="+mn-lt"/>
                  <a:ea typeface="+mn-ea"/>
                  <a:cs typeface="+mn-cs"/>
                </a:rPr>
                <a:t>×</a:t>
              </a:r>
            </a:p>
          </p:txBody>
        </p:sp>
        <p:sp>
          <p:nvSpPr>
            <p:cNvPr id="66" name="Rectangle 66"/>
            <p:cNvSpPr/>
            <p:nvPr/>
          </p:nvSpPr>
          <p:spPr>
            <a:xfrm>
              <a:off x="533400" y="4719638"/>
              <a:ext cx="11125200" cy="9525"/>
            </a:xfrm>
            <a:prstGeom prst="rect">
              <a:avLst/>
            </a:prstGeom>
            <a:solidFill>
              <a:srgbClr val="D9DFEA"/>
            </a:solidFill>
            <a:ln>
              <a:noFill/>
            </a:ln>
          </p:spPr>
        </p:sp>
        <p:sp>
          <p:nvSpPr>
            <p:cNvPr id="67" name="TextBox 67"/>
            <p:cNvSpPr txBox="1"/>
            <p:nvPr/>
          </p:nvSpPr>
          <p:spPr>
            <a:xfrm>
              <a:off x="630555" y="4845844"/>
              <a:ext cx="78089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(W-30)×4</a:t>
              </a:r>
            </a:p>
          </p:txBody>
        </p:sp>
        <p:sp>
          <p:nvSpPr>
            <p:cNvPr id="68" name="TextBox 68"/>
            <p:cNvSpPr txBox="1"/>
            <p:nvPr/>
          </p:nvSpPr>
          <p:spPr>
            <a:xfrm>
              <a:off x="4101912" y="4845844"/>
              <a:ext cx="94356" cy="220028"/>
            </a:xfrm>
            <a:prstGeom prst="rect">
              <a:avLst/>
            </a:prstGeom>
            <a:noFill/>
            <a:ln>
              <a:noFill/>
            </a:ln>
          </p:spPr>
          <p:txBody>
            <a:bodyPr wrap="none" lIns="0" tIns="0" rIns="0" bIns="0" anchor="t" anchorCtr="0">
              <a:spAutoFit/>
            </a:bodyPr>
            <a:lstStyle/>
            <a:p>
              <a:pPr algn="ctr"/>
              <a:r>
                <a:rPr lang="zh-CN" sz="1120" dirty="0">
                  <a:solidFill>
                    <a:srgbClr val="B42318"/>
                  </a:solidFill>
                  <a:latin typeface="+mn-lt"/>
                  <a:ea typeface="+mn-ea"/>
                  <a:cs typeface="+mn-cs"/>
                </a:rPr>
                <a:t>×</a:t>
              </a:r>
            </a:p>
          </p:txBody>
        </p:sp>
        <p:sp>
          <p:nvSpPr>
            <p:cNvPr id="69" name="TextBox 69"/>
            <p:cNvSpPr txBox="1"/>
            <p:nvPr/>
          </p:nvSpPr>
          <p:spPr>
            <a:xfrm>
              <a:off x="10109330" y="4845844"/>
              <a:ext cx="94356" cy="220028"/>
            </a:xfrm>
            <a:prstGeom prst="rect">
              <a:avLst/>
            </a:prstGeom>
            <a:noFill/>
            <a:ln>
              <a:noFill/>
            </a:ln>
          </p:spPr>
          <p:txBody>
            <a:bodyPr wrap="none" lIns="0" tIns="0" rIns="0" bIns="0" anchor="t" anchorCtr="0">
              <a:spAutoFit/>
            </a:bodyPr>
            <a:lstStyle/>
            <a:p>
              <a:pPr algn="ctr"/>
              <a:r>
                <a:rPr lang="zh-CN" sz="1120" dirty="0">
                  <a:solidFill>
                    <a:srgbClr val="B42318"/>
                  </a:solidFill>
                  <a:latin typeface="+mn-lt"/>
                  <a:ea typeface="+mn-ea"/>
                  <a:cs typeface="+mn-cs"/>
                </a:rPr>
                <a:t>×</a:t>
              </a:r>
            </a:p>
          </p:txBody>
        </p:sp>
        <p:sp>
          <p:nvSpPr>
            <p:cNvPr id="70" name="Rectangle 70"/>
            <p:cNvSpPr/>
            <p:nvPr/>
          </p:nvSpPr>
          <p:spPr>
            <a:xfrm>
              <a:off x="533400" y="5119688"/>
              <a:ext cx="11125200" cy="9525"/>
            </a:xfrm>
            <a:prstGeom prst="rect">
              <a:avLst/>
            </a:prstGeom>
            <a:solidFill>
              <a:srgbClr val="D9DFEA"/>
            </a:solidFill>
            <a:ln>
              <a:noFill/>
            </a:ln>
          </p:spPr>
        </p:sp>
        <p:sp>
          <p:nvSpPr>
            <p:cNvPr id="71" name="TextBox 71"/>
            <p:cNvSpPr txBox="1"/>
            <p:nvPr/>
          </p:nvSpPr>
          <p:spPr>
            <a:xfrm>
              <a:off x="630555" y="5245894"/>
              <a:ext cx="78089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(W-30)×6</a:t>
              </a:r>
            </a:p>
          </p:txBody>
        </p:sp>
        <p:sp>
          <p:nvSpPr>
            <p:cNvPr id="72" name="TextBox 72"/>
            <p:cNvSpPr txBox="1"/>
            <p:nvPr/>
          </p:nvSpPr>
          <p:spPr>
            <a:xfrm>
              <a:off x="5102990" y="5245894"/>
              <a:ext cx="94356" cy="220028"/>
            </a:xfrm>
            <a:prstGeom prst="rect">
              <a:avLst/>
            </a:prstGeom>
            <a:noFill/>
            <a:ln>
              <a:noFill/>
            </a:ln>
          </p:spPr>
          <p:txBody>
            <a:bodyPr wrap="none" lIns="0" tIns="0" rIns="0" bIns="0" anchor="t" anchorCtr="0">
              <a:spAutoFit/>
            </a:bodyPr>
            <a:lstStyle/>
            <a:p>
              <a:pPr algn="ctr"/>
              <a:r>
                <a:rPr lang="zh-CN" sz="1120" dirty="0">
                  <a:solidFill>
                    <a:srgbClr val="B42318"/>
                  </a:solidFill>
                  <a:latin typeface="+mn-lt"/>
                  <a:ea typeface="+mn-ea"/>
                  <a:cs typeface="+mn-cs"/>
                </a:rPr>
                <a:t>×</a:t>
              </a:r>
            </a:p>
          </p:txBody>
        </p:sp>
        <p:sp>
          <p:nvSpPr>
            <p:cNvPr id="73" name="TextBox 73"/>
            <p:cNvSpPr txBox="1"/>
            <p:nvPr/>
          </p:nvSpPr>
          <p:spPr>
            <a:xfrm>
              <a:off x="11110407" y="5245894"/>
              <a:ext cx="94356" cy="220028"/>
            </a:xfrm>
            <a:prstGeom prst="rect">
              <a:avLst/>
            </a:prstGeom>
            <a:noFill/>
            <a:ln>
              <a:noFill/>
            </a:ln>
          </p:spPr>
          <p:txBody>
            <a:bodyPr wrap="none" lIns="0" tIns="0" rIns="0" bIns="0" anchor="t" anchorCtr="0">
              <a:spAutoFit/>
            </a:bodyPr>
            <a:lstStyle/>
            <a:p>
              <a:pPr algn="ctr"/>
              <a:r>
                <a:rPr lang="zh-CN" sz="1120" dirty="0">
                  <a:solidFill>
                    <a:srgbClr val="B42318"/>
                  </a:solidFill>
                  <a:latin typeface="+mn-lt"/>
                  <a:ea typeface="+mn-ea"/>
                  <a:cs typeface="+mn-cs"/>
                </a:rPr>
                <a:t>×</a:t>
              </a:r>
            </a:p>
          </p:txBody>
        </p:sp>
        <p:sp>
          <p:nvSpPr>
            <p:cNvPr id="74" name="Rectangle 74"/>
            <p:cNvSpPr/>
            <p:nvPr/>
          </p:nvSpPr>
          <p:spPr>
            <a:xfrm>
              <a:off x="533400" y="5519738"/>
              <a:ext cx="11125200" cy="9525"/>
            </a:xfrm>
            <a:prstGeom prst="rect">
              <a:avLst/>
            </a:prstGeom>
            <a:solidFill>
              <a:srgbClr val="D9DFEA"/>
            </a:solidFill>
            <a:ln>
              <a:noFill/>
            </a:ln>
          </p:spPr>
        </p:sp>
        <p:sp>
          <p:nvSpPr>
            <p:cNvPr id="75" name="TextBox 75"/>
            <p:cNvSpPr txBox="1"/>
            <p:nvPr/>
          </p:nvSpPr>
          <p:spPr>
            <a:xfrm>
              <a:off x="630555" y="5645944"/>
              <a:ext cx="78089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(W-30)×8</a:t>
              </a:r>
            </a:p>
          </p:txBody>
        </p:sp>
        <p:sp>
          <p:nvSpPr>
            <p:cNvPr id="76" name="TextBox 76"/>
            <p:cNvSpPr txBox="1"/>
            <p:nvPr/>
          </p:nvSpPr>
          <p:spPr>
            <a:xfrm>
              <a:off x="8107175" y="5645944"/>
              <a:ext cx="94356" cy="220028"/>
            </a:xfrm>
            <a:prstGeom prst="rect">
              <a:avLst/>
            </a:prstGeom>
            <a:noFill/>
            <a:ln>
              <a:noFill/>
            </a:ln>
          </p:spPr>
          <p:txBody>
            <a:bodyPr wrap="none" lIns="0" tIns="0" rIns="0" bIns="0" anchor="t" anchorCtr="0">
              <a:spAutoFit/>
            </a:bodyPr>
            <a:lstStyle/>
            <a:p>
              <a:pPr algn="ctr"/>
              <a:r>
                <a:rPr lang="zh-CN" sz="1120" dirty="0">
                  <a:solidFill>
                    <a:srgbClr val="B42318"/>
                  </a:solidFill>
                  <a:latin typeface="+mn-lt"/>
                  <a:ea typeface="+mn-ea"/>
                  <a:cs typeface="+mn-cs"/>
                </a:rPr>
                <a:t>×</a:t>
              </a:r>
            </a:p>
          </p:txBody>
        </p:sp>
        <p:sp>
          <p:nvSpPr>
            <p:cNvPr id="77" name="Rectangle 77"/>
            <p:cNvSpPr/>
            <p:nvPr/>
          </p:nvSpPr>
          <p:spPr>
            <a:xfrm>
              <a:off x="533400" y="5919788"/>
              <a:ext cx="11125200" cy="9525"/>
            </a:xfrm>
            <a:prstGeom prst="rect">
              <a:avLst/>
            </a:prstGeom>
            <a:solidFill>
              <a:srgbClr val="D9DFEA"/>
            </a:solidFill>
            <a:ln>
              <a:noFill/>
            </a:ln>
          </p:spPr>
        </p:sp>
        <p:sp>
          <p:nvSpPr>
            <p:cNvPr id="78" name="TextBox 78"/>
            <p:cNvSpPr txBox="1"/>
            <p:nvPr/>
          </p:nvSpPr>
          <p:spPr>
            <a:xfrm>
              <a:off x="630555" y="6045994"/>
              <a:ext cx="87289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(W-30)×12</a:t>
              </a:r>
            </a:p>
          </p:txBody>
        </p:sp>
        <p:sp>
          <p:nvSpPr>
            <p:cNvPr id="79" name="TextBox 79"/>
            <p:cNvSpPr txBox="1"/>
            <p:nvPr/>
          </p:nvSpPr>
          <p:spPr>
            <a:xfrm>
              <a:off x="9108252" y="6045994"/>
              <a:ext cx="94356" cy="220028"/>
            </a:xfrm>
            <a:prstGeom prst="rect">
              <a:avLst/>
            </a:prstGeom>
            <a:noFill/>
            <a:ln>
              <a:noFill/>
            </a:ln>
          </p:spPr>
          <p:txBody>
            <a:bodyPr wrap="none" lIns="0" tIns="0" rIns="0" bIns="0" anchor="t" anchorCtr="0">
              <a:spAutoFit/>
            </a:bodyPr>
            <a:lstStyle/>
            <a:p>
              <a:pPr algn="ctr"/>
              <a:r>
                <a:rPr lang="zh-CN" sz="1120" dirty="0">
                  <a:solidFill>
                    <a:srgbClr val="B42318"/>
                  </a:solidFill>
                  <a:latin typeface="+mn-lt"/>
                  <a:ea typeface="+mn-ea"/>
                  <a:cs typeface="+mn-cs"/>
                </a:rPr>
                <a:t>×</a:t>
              </a:r>
            </a:p>
          </p:txBody>
        </p:sp>
        <p:sp>
          <p:nvSpPr>
            <p:cNvPr id="80" name="Rectangle 80"/>
            <p:cNvSpPr/>
            <p:nvPr/>
          </p:nvSpPr>
          <p:spPr>
            <a:xfrm>
              <a:off x="533400" y="1524000"/>
              <a:ext cx="11125200" cy="4800600"/>
            </a:xfrm>
            <a:prstGeom prst="rect">
              <a:avLst/>
            </a:prstGeom>
            <a:noFill/>
            <a:ln w="14288">
              <a:solidFill>
                <a:srgbClr val="D9DFEA"/>
              </a:solidFill>
            </a:ln>
          </p:spPr>
        </p:sp>
        <p:sp>
          <p:nvSpPr>
            <p:cNvPr id="81" name="Rectangle 81"/>
            <p:cNvSpPr/>
            <p:nvPr/>
          </p:nvSpPr>
          <p:spPr>
            <a:xfrm>
              <a:off x="2642235" y="1524000"/>
              <a:ext cx="9525" cy="4800600"/>
            </a:xfrm>
            <a:prstGeom prst="rect">
              <a:avLst/>
            </a:prstGeom>
            <a:solidFill>
              <a:srgbClr val="D9DFEA"/>
            </a:solidFill>
            <a:ln>
              <a:noFill/>
            </a:ln>
          </p:spPr>
        </p:sp>
        <p:sp>
          <p:nvSpPr>
            <p:cNvPr id="82" name="Rectangle 82"/>
            <p:cNvSpPr/>
            <p:nvPr/>
          </p:nvSpPr>
          <p:spPr>
            <a:xfrm>
              <a:off x="3643312" y="1524000"/>
              <a:ext cx="9525" cy="4800600"/>
            </a:xfrm>
            <a:prstGeom prst="rect">
              <a:avLst/>
            </a:prstGeom>
            <a:solidFill>
              <a:srgbClr val="D9DFEA"/>
            </a:solidFill>
            <a:ln>
              <a:noFill/>
            </a:ln>
          </p:spPr>
        </p:sp>
        <p:sp>
          <p:nvSpPr>
            <p:cNvPr id="83" name="Rectangle 83"/>
            <p:cNvSpPr/>
            <p:nvPr/>
          </p:nvSpPr>
          <p:spPr>
            <a:xfrm>
              <a:off x="4645342" y="1524000"/>
              <a:ext cx="9525" cy="4800600"/>
            </a:xfrm>
            <a:prstGeom prst="rect">
              <a:avLst/>
            </a:prstGeom>
            <a:solidFill>
              <a:srgbClr val="D9DFEA"/>
            </a:solidFill>
            <a:ln>
              <a:noFill/>
            </a:ln>
          </p:spPr>
        </p:sp>
        <p:sp>
          <p:nvSpPr>
            <p:cNvPr id="84" name="Rectangle 84"/>
            <p:cNvSpPr/>
            <p:nvPr/>
          </p:nvSpPr>
          <p:spPr>
            <a:xfrm>
              <a:off x="5646420" y="1524000"/>
              <a:ext cx="9525" cy="4800600"/>
            </a:xfrm>
            <a:prstGeom prst="rect">
              <a:avLst/>
            </a:prstGeom>
            <a:solidFill>
              <a:srgbClr val="D9DFEA"/>
            </a:solidFill>
            <a:ln>
              <a:noFill/>
            </a:ln>
          </p:spPr>
        </p:sp>
        <p:sp>
          <p:nvSpPr>
            <p:cNvPr id="85" name="Rectangle 85"/>
            <p:cNvSpPr/>
            <p:nvPr/>
          </p:nvSpPr>
          <p:spPr>
            <a:xfrm>
              <a:off x="6647498" y="1524000"/>
              <a:ext cx="9525" cy="4800600"/>
            </a:xfrm>
            <a:prstGeom prst="rect">
              <a:avLst/>
            </a:prstGeom>
            <a:solidFill>
              <a:srgbClr val="D9DFEA"/>
            </a:solidFill>
            <a:ln>
              <a:noFill/>
            </a:ln>
          </p:spPr>
        </p:sp>
        <p:sp>
          <p:nvSpPr>
            <p:cNvPr id="86" name="Rectangle 86"/>
            <p:cNvSpPr/>
            <p:nvPr/>
          </p:nvSpPr>
          <p:spPr>
            <a:xfrm>
              <a:off x="7648575" y="1524000"/>
              <a:ext cx="9525" cy="4800600"/>
            </a:xfrm>
            <a:prstGeom prst="rect">
              <a:avLst/>
            </a:prstGeom>
            <a:solidFill>
              <a:srgbClr val="D9DFEA"/>
            </a:solidFill>
            <a:ln>
              <a:noFill/>
            </a:ln>
          </p:spPr>
        </p:sp>
        <p:sp>
          <p:nvSpPr>
            <p:cNvPr id="87" name="Rectangle 87"/>
            <p:cNvSpPr/>
            <p:nvPr/>
          </p:nvSpPr>
          <p:spPr>
            <a:xfrm>
              <a:off x="8649652" y="1524000"/>
              <a:ext cx="9525" cy="4800600"/>
            </a:xfrm>
            <a:prstGeom prst="rect">
              <a:avLst/>
            </a:prstGeom>
            <a:solidFill>
              <a:srgbClr val="D9DFEA"/>
            </a:solidFill>
            <a:ln>
              <a:noFill/>
            </a:ln>
          </p:spPr>
        </p:sp>
        <p:sp>
          <p:nvSpPr>
            <p:cNvPr id="88" name="Rectangle 88"/>
            <p:cNvSpPr/>
            <p:nvPr/>
          </p:nvSpPr>
          <p:spPr>
            <a:xfrm>
              <a:off x="9651682" y="1524000"/>
              <a:ext cx="9525" cy="4800600"/>
            </a:xfrm>
            <a:prstGeom prst="rect">
              <a:avLst/>
            </a:prstGeom>
            <a:solidFill>
              <a:srgbClr val="D9DFEA"/>
            </a:solidFill>
            <a:ln>
              <a:noFill/>
            </a:ln>
          </p:spPr>
        </p:sp>
        <p:sp>
          <p:nvSpPr>
            <p:cNvPr id="89" name="Rectangle 89"/>
            <p:cNvSpPr/>
            <p:nvPr/>
          </p:nvSpPr>
          <p:spPr>
            <a:xfrm>
              <a:off x="10652760" y="1524000"/>
              <a:ext cx="9525" cy="4800600"/>
            </a:xfrm>
            <a:prstGeom prst="rect">
              <a:avLst/>
            </a:prstGeom>
            <a:solidFill>
              <a:srgbClr val="D9DFEA"/>
            </a:solidFill>
            <a:ln>
              <a:noFill/>
            </a:ln>
          </p:spPr>
        </p:sp>
      </p:grpSp>
      <p:grpSp>
        <p:nvGrpSpPr>
          <p:cNvPr id="93" name="footer"/>
          <p:cNvGrpSpPr/>
          <p:nvPr/>
        </p:nvGrpSpPr>
        <p:grpSpPr>
          <a:xfrm>
            <a:off x="528447" y="6581299"/>
            <a:ext cx="11135106" cy="190690"/>
            <a:chOff x="528447" y="6581299"/>
            <a:chExt cx="11135106" cy="190690"/>
          </a:xfrm>
        </p:grpSpPr>
        <p:sp>
          <p:nvSpPr>
            <p:cNvPr id="91" name="TextBox 91"/>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92" name="TextBox 9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28</a:t>
              </a:r>
            </a:p>
          </p:txBody>
        </p:sp>
      </p:gr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504285" cy="909257"/>
            <a:chOff x="520446" y="342900"/>
            <a:chExt cx="7504285"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过程设计技术和工具</a:t>
              </a:r>
            </a:p>
          </p:txBody>
        </p:sp>
        <p:sp>
          <p:nvSpPr>
            <p:cNvPr id="4" name="TextBox 4"/>
            <p:cNvSpPr txBox="1"/>
            <p:nvPr/>
          </p:nvSpPr>
          <p:spPr>
            <a:xfrm>
              <a:off x="520446" y="753428"/>
              <a:ext cx="75042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示例程序的判定表（上）：八个条件的 14 种组合</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542" y="1545907"/>
            <a:ext cx="9454439" cy="264033"/>
            <a:chOff x="526542" y="1545907"/>
            <a:chExt cx="9454439" cy="264033"/>
          </a:xfrm>
        </p:grpSpPr>
        <p:sp>
          <p:nvSpPr>
            <p:cNvPr id="7" name="TextBox 7"/>
            <p:cNvSpPr txBox="1"/>
            <p:nvPr/>
          </p:nvSpPr>
          <p:spPr>
            <a:xfrm>
              <a:off x="526542" y="1545907"/>
              <a:ext cx="9454439"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先把三路 CASE 拆成 X2、X3、X4 三个两分支判断，原来的 X3 到 X6 顺延编号为 X5 到 X8；横杠表示与本规则无关。</a:t>
              </a:r>
            </a:p>
          </p:txBody>
        </p:sp>
      </p:grpSp>
      <p:grpSp>
        <p:nvGrpSpPr>
          <p:cNvPr id="167" name="c1-table-1"/>
          <p:cNvGrpSpPr/>
          <p:nvPr/>
        </p:nvGrpSpPr>
        <p:grpSpPr>
          <a:xfrm>
            <a:off x="533400" y="1928812"/>
            <a:ext cx="11125200" cy="3600450"/>
            <a:chOff x="533400" y="1928812"/>
            <a:chExt cx="11125200" cy="3600450"/>
          </a:xfrm>
        </p:grpSpPr>
        <p:sp>
          <p:nvSpPr>
            <p:cNvPr id="9" name="Rectangle 9"/>
            <p:cNvSpPr/>
            <p:nvPr/>
          </p:nvSpPr>
          <p:spPr>
            <a:xfrm>
              <a:off x="533400" y="1928812"/>
              <a:ext cx="11125200" cy="400050"/>
            </a:xfrm>
            <a:prstGeom prst="rect">
              <a:avLst/>
            </a:prstGeom>
            <a:solidFill>
              <a:srgbClr val="334E68"/>
            </a:solidFill>
            <a:ln>
              <a:noFill/>
            </a:ln>
          </p:spPr>
        </p:sp>
        <p:sp>
          <p:nvSpPr>
            <p:cNvPr id="10" name="TextBox 10"/>
            <p:cNvSpPr txBox="1"/>
            <p:nvPr/>
          </p:nvSpPr>
          <p:spPr>
            <a:xfrm>
              <a:off x="1266546" y="2050256"/>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条件</a:t>
              </a:r>
            </a:p>
          </p:txBody>
        </p:sp>
        <p:sp>
          <p:nvSpPr>
            <p:cNvPr id="11" name="TextBox 11"/>
            <p:cNvSpPr txBox="1"/>
            <p:nvPr/>
          </p:nvSpPr>
          <p:spPr>
            <a:xfrm>
              <a:off x="2597746" y="205025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2" name="TextBox 12"/>
            <p:cNvSpPr txBox="1"/>
            <p:nvPr/>
          </p:nvSpPr>
          <p:spPr>
            <a:xfrm>
              <a:off x="3265449" y="205025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3" name="TextBox 13"/>
            <p:cNvSpPr txBox="1"/>
            <p:nvPr/>
          </p:nvSpPr>
          <p:spPr>
            <a:xfrm>
              <a:off x="3933151" y="205025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4" name="TextBox 14"/>
            <p:cNvSpPr txBox="1"/>
            <p:nvPr/>
          </p:nvSpPr>
          <p:spPr>
            <a:xfrm>
              <a:off x="4600854" y="205025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15" name="TextBox 15"/>
            <p:cNvSpPr txBox="1"/>
            <p:nvPr/>
          </p:nvSpPr>
          <p:spPr>
            <a:xfrm>
              <a:off x="5267604" y="205025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5</a:t>
              </a:r>
            </a:p>
          </p:txBody>
        </p:sp>
        <p:sp>
          <p:nvSpPr>
            <p:cNvPr id="16" name="TextBox 16"/>
            <p:cNvSpPr txBox="1"/>
            <p:nvPr/>
          </p:nvSpPr>
          <p:spPr>
            <a:xfrm>
              <a:off x="5935306" y="205025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6</a:t>
              </a:r>
            </a:p>
          </p:txBody>
        </p:sp>
        <p:sp>
          <p:nvSpPr>
            <p:cNvPr id="17" name="TextBox 17"/>
            <p:cNvSpPr txBox="1"/>
            <p:nvPr/>
          </p:nvSpPr>
          <p:spPr>
            <a:xfrm>
              <a:off x="6603009" y="205025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7</a:t>
              </a:r>
            </a:p>
          </p:txBody>
        </p:sp>
        <p:sp>
          <p:nvSpPr>
            <p:cNvPr id="18" name="TextBox 18"/>
            <p:cNvSpPr txBox="1"/>
            <p:nvPr/>
          </p:nvSpPr>
          <p:spPr>
            <a:xfrm>
              <a:off x="7270711" y="205025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8</a:t>
              </a:r>
            </a:p>
          </p:txBody>
        </p:sp>
        <p:sp>
          <p:nvSpPr>
            <p:cNvPr id="19" name="TextBox 19"/>
            <p:cNvSpPr txBox="1"/>
            <p:nvPr/>
          </p:nvSpPr>
          <p:spPr>
            <a:xfrm>
              <a:off x="7938414" y="2050256"/>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9</a:t>
              </a:r>
            </a:p>
          </p:txBody>
        </p:sp>
        <p:sp>
          <p:nvSpPr>
            <p:cNvPr id="20" name="TextBox 20"/>
            <p:cNvSpPr txBox="1"/>
            <p:nvPr/>
          </p:nvSpPr>
          <p:spPr>
            <a:xfrm>
              <a:off x="8561628" y="2050256"/>
              <a:ext cx="185574"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10</a:t>
              </a:r>
            </a:p>
          </p:txBody>
        </p:sp>
        <p:sp>
          <p:nvSpPr>
            <p:cNvPr id="21" name="TextBox 21"/>
            <p:cNvSpPr txBox="1"/>
            <p:nvPr/>
          </p:nvSpPr>
          <p:spPr>
            <a:xfrm>
              <a:off x="9229330" y="2050256"/>
              <a:ext cx="185574"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11</a:t>
              </a:r>
            </a:p>
          </p:txBody>
        </p:sp>
        <p:sp>
          <p:nvSpPr>
            <p:cNvPr id="22" name="TextBox 22"/>
            <p:cNvSpPr txBox="1"/>
            <p:nvPr/>
          </p:nvSpPr>
          <p:spPr>
            <a:xfrm>
              <a:off x="9897033" y="2050256"/>
              <a:ext cx="185574"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12</a:t>
              </a:r>
            </a:p>
          </p:txBody>
        </p:sp>
        <p:sp>
          <p:nvSpPr>
            <p:cNvPr id="23" name="TextBox 23"/>
            <p:cNvSpPr txBox="1"/>
            <p:nvPr/>
          </p:nvSpPr>
          <p:spPr>
            <a:xfrm>
              <a:off x="10564735" y="2050256"/>
              <a:ext cx="185574"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13</a:t>
              </a:r>
            </a:p>
          </p:txBody>
        </p:sp>
        <p:sp>
          <p:nvSpPr>
            <p:cNvPr id="24" name="TextBox 24"/>
            <p:cNvSpPr txBox="1"/>
            <p:nvPr/>
          </p:nvSpPr>
          <p:spPr>
            <a:xfrm>
              <a:off x="11232438" y="2050256"/>
              <a:ext cx="185574"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14</a:t>
              </a:r>
            </a:p>
          </p:txBody>
        </p:sp>
        <p:sp>
          <p:nvSpPr>
            <p:cNvPr id="25" name="TextBox 25"/>
            <p:cNvSpPr txBox="1"/>
            <p:nvPr/>
          </p:nvSpPr>
          <p:spPr>
            <a:xfrm>
              <a:off x="630555" y="2450306"/>
              <a:ext cx="54716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X1 选择</a:t>
              </a:r>
            </a:p>
          </p:txBody>
        </p:sp>
        <p:sp>
          <p:nvSpPr>
            <p:cNvPr id="26" name="TextBox 26"/>
            <p:cNvSpPr txBox="1"/>
            <p:nvPr/>
          </p:nvSpPr>
          <p:spPr>
            <a:xfrm>
              <a:off x="2597473" y="24503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27" name="TextBox 27"/>
            <p:cNvSpPr txBox="1"/>
            <p:nvPr/>
          </p:nvSpPr>
          <p:spPr>
            <a:xfrm>
              <a:off x="3265175" y="24503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28" name="TextBox 28"/>
            <p:cNvSpPr txBox="1"/>
            <p:nvPr/>
          </p:nvSpPr>
          <p:spPr>
            <a:xfrm>
              <a:off x="3932878" y="24503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29" name="TextBox 29"/>
            <p:cNvSpPr txBox="1"/>
            <p:nvPr/>
          </p:nvSpPr>
          <p:spPr>
            <a:xfrm>
              <a:off x="4600580" y="24503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30" name="TextBox 30"/>
            <p:cNvSpPr txBox="1"/>
            <p:nvPr/>
          </p:nvSpPr>
          <p:spPr>
            <a:xfrm>
              <a:off x="5267330" y="24503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31" name="TextBox 31"/>
            <p:cNvSpPr txBox="1"/>
            <p:nvPr/>
          </p:nvSpPr>
          <p:spPr>
            <a:xfrm>
              <a:off x="5935033" y="24503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32" name="TextBox 32"/>
            <p:cNvSpPr txBox="1"/>
            <p:nvPr/>
          </p:nvSpPr>
          <p:spPr>
            <a:xfrm>
              <a:off x="6602735" y="24503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33" name="TextBox 33"/>
            <p:cNvSpPr txBox="1"/>
            <p:nvPr/>
          </p:nvSpPr>
          <p:spPr>
            <a:xfrm>
              <a:off x="7270438" y="24503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34" name="TextBox 34"/>
            <p:cNvSpPr txBox="1"/>
            <p:nvPr/>
          </p:nvSpPr>
          <p:spPr>
            <a:xfrm>
              <a:off x="7938140" y="24503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35" name="TextBox 35"/>
            <p:cNvSpPr txBox="1"/>
            <p:nvPr/>
          </p:nvSpPr>
          <p:spPr>
            <a:xfrm>
              <a:off x="8604890" y="24503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36" name="TextBox 36"/>
            <p:cNvSpPr txBox="1"/>
            <p:nvPr/>
          </p:nvSpPr>
          <p:spPr>
            <a:xfrm>
              <a:off x="9272593" y="24503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37" name="TextBox 37"/>
            <p:cNvSpPr txBox="1"/>
            <p:nvPr/>
          </p:nvSpPr>
          <p:spPr>
            <a:xfrm>
              <a:off x="9940295" y="24503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38" name="TextBox 38"/>
            <p:cNvSpPr txBox="1"/>
            <p:nvPr/>
          </p:nvSpPr>
          <p:spPr>
            <a:xfrm>
              <a:off x="10607998" y="24503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39" name="TextBox 39"/>
            <p:cNvSpPr txBox="1"/>
            <p:nvPr/>
          </p:nvSpPr>
          <p:spPr>
            <a:xfrm>
              <a:off x="11275700" y="24503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40" name="Rectangle 40"/>
            <p:cNvSpPr/>
            <p:nvPr/>
          </p:nvSpPr>
          <p:spPr>
            <a:xfrm>
              <a:off x="533400" y="2724150"/>
              <a:ext cx="11125200" cy="9525"/>
            </a:xfrm>
            <a:prstGeom prst="rect">
              <a:avLst/>
            </a:prstGeom>
            <a:solidFill>
              <a:srgbClr val="D9DFEA"/>
            </a:solidFill>
            <a:ln>
              <a:noFill/>
            </a:ln>
          </p:spPr>
        </p:sp>
        <p:sp>
          <p:nvSpPr>
            <p:cNvPr id="41" name="TextBox 41"/>
            <p:cNvSpPr txBox="1"/>
            <p:nvPr/>
          </p:nvSpPr>
          <p:spPr>
            <a:xfrm>
              <a:off x="630555" y="2850356"/>
              <a:ext cx="768801"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X2 是否 =1</a:t>
              </a:r>
            </a:p>
          </p:txBody>
        </p:sp>
        <p:sp>
          <p:nvSpPr>
            <p:cNvPr id="42" name="TextBox 42"/>
            <p:cNvSpPr txBox="1"/>
            <p:nvPr/>
          </p:nvSpPr>
          <p:spPr>
            <a:xfrm>
              <a:off x="2599820" y="28503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43" name="TextBox 43"/>
            <p:cNvSpPr txBox="1"/>
            <p:nvPr/>
          </p:nvSpPr>
          <p:spPr>
            <a:xfrm>
              <a:off x="3267522" y="28503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44" name="TextBox 44"/>
            <p:cNvSpPr txBox="1"/>
            <p:nvPr/>
          </p:nvSpPr>
          <p:spPr>
            <a:xfrm>
              <a:off x="3935225" y="28503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45" name="TextBox 45"/>
            <p:cNvSpPr txBox="1"/>
            <p:nvPr/>
          </p:nvSpPr>
          <p:spPr>
            <a:xfrm>
              <a:off x="4602927" y="28503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46" name="TextBox 46"/>
            <p:cNvSpPr txBox="1"/>
            <p:nvPr/>
          </p:nvSpPr>
          <p:spPr>
            <a:xfrm>
              <a:off x="5269677" y="28503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47" name="TextBox 47"/>
            <p:cNvSpPr txBox="1"/>
            <p:nvPr/>
          </p:nvSpPr>
          <p:spPr>
            <a:xfrm>
              <a:off x="5935033" y="28503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48" name="TextBox 48"/>
            <p:cNvSpPr txBox="1"/>
            <p:nvPr/>
          </p:nvSpPr>
          <p:spPr>
            <a:xfrm>
              <a:off x="6602735" y="28503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49" name="TextBox 49"/>
            <p:cNvSpPr txBox="1"/>
            <p:nvPr/>
          </p:nvSpPr>
          <p:spPr>
            <a:xfrm>
              <a:off x="7270438" y="28503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50" name="TextBox 50"/>
            <p:cNvSpPr txBox="1"/>
            <p:nvPr/>
          </p:nvSpPr>
          <p:spPr>
            <a:xfrm>
              <a:off x="7938140" y="28503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51" name="TextBox 51"/>
            <p:cNvSpPr txBox="1"/>
            <p:nvPr/>
          </p:nvSpPr>
          <p:spPr>
            <a:xfrm>
              <a:off x="8604890" y="28503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52" name="TextBox 52"/>
            <p:cNvSpPr txBox="1"/>
            <p:nvPr/>
          </p:nvSpPr>
          <p:spPr>
            <a:xfrm>
              <a:off x="9272593" y="28503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53" name="TextBox 53"/>
            <p:cNvSpPr txBox="1"/>
            <p:nvPr/>
          </p:nvSpPr>
          <p:spPr>
            <a:xfrm>
              <a:off x="9940295" y="28503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54" name="TextBox 54"/>
            <p:cNvSpPr txBox="1"/>
            <p:nvPr/>
          </p:nvSpPr>
          <p:spPr>
            <a:xfrm>
              <a:off x="10607998" y="28503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55" name="TextBox 55"/>
            <p:cNvSpPr txBox="1"/>
            <p:nvPr/>
          </p:nvSpPr>
          <p:spPr>
            <a:xfrm>
              <a:off x="11275700" y="28503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56" name="Rectangle 56"/>
            <p:cNvSpPr/>
            <p:nvPr/>
          </p:nvSpPr>
          <p:spPr>
            <a:xfrm>
              <a:off x="533400" y="3124200"/>
              <a:ext cx="11125200" cy="9525"/>
            </a:xfrm>
            <a:prstGeom prst="rect">
              <a:avLst/>
            </a:prstGeom>
            <a:solidFill>
              <a:srgbClr val="D9DFEA"/>
            </a:solidFill>
            <a:ln>
              <a:noFill/>
            </a:ln>
          </p:spPr>
        </p:sp>
        <p:sp>
          <p:nvSpPr>
            <p:cNvPr id="57" name="TextBox 57"/>
            <p:cNvSpPr txBox="1"/>
            <p:nvPr/>
          </p:nvSpPr>
          <p:spPr>
            <a:xfrm>
              <a:off x="630555" y="3250406"/>
              <a:ext cx="768801"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X3 是否 =2</a:t>
              </a:r>
            </a:p>
          </p:txBody>
        </p:sp>
        <p:sp>
          <p:nvSpPr>
            <p:cNvPr id="58" name="TextBox 58"/>
            <p:cNvSpPr txBox="1"/>
            <p:nvPr/>
          </p:nvSpPr>
          <p:spPr>
            <a:xfrm>
              <a:off x="2599820" y="32504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59" name="TextBox 59"/>
            <p:cNvSpPr txBox="1"/>
            <p:nvPr/>
          </p:nvSpPr>
          <p:spPr>
            <a:xfrm>
              <a:off x="3267522" y="32504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60" name="TextBox 60"/>
            <p:cNvSpPr txBox="1"/>
            <p:nvPr/>
          </p:nvSpPr>
          <p:spPr>
            <a:xfrm>
              <a:off x="3935225" y="32504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61" name="TextBox 61"/>
            <p:cNvSpPr txBox="1"/>
            <p:nvPr/>
          </p:nvSpPr>
          <p:spPr>
            <a:xfrm>
              <a:off x="4602927" y="32504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62" name="TextBox 62"/>
            <p:cNvSpPr txBox="1"/>
            <p:nvPr/>
          </p:nvSpPr>
          <p:spPr>
            <a:xfrm>
              <a:off x="5269677" y="32504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63" name="TextBox 63"/>
            <p:cNvSpPr txBox="1"/>
            <p:nvPr/>
          </p:nvSpPr>
          <p:spPr>
            <a:xfrm>
              <a:off x="5937380" y="32504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64" name="TextBox 64"/>
            <p:cNvSpPr txBox="1"/>
            <p:nvPr/>
          </p:nvSpPr>
          <p:spPr>
            <a:xfrm>
              <a:off x="6605082" y="32504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65" name="TextBox 65"/>
            <p:cNvSpPr txBox="1"/>
            <p:nvPr/>
          </p:nvSpPr>
          <p:spPr>
            <a:xfrm>
              <a:off x="7272785" y="32504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66" name="TextBox 66"/>
            <p:cNvSpPr txBox="1"/>
            <p:nvPr/>
          </p:nvSpPr>
          <p:spPr>
            <a:xfrm>
              <a:off x="7938140" y="32504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67" name="TextBox 67"/>
            <p:cNvSpPr txBox="1"/>
            <p:nvPr/>
          </p:nvSpPr>
          <p:spPr>
            <a:xfrm>
              <a:off x="8604890" y="32504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68" name="TextBox 68"/>
            <p:cNvSpPr txBox="1"/>
            <p:nvPr/>
          </p:nvSpPr>
          <p:spPr>
            <a:xfrm>
              <a:off x="9272593" y="32504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69" name="TextBox 69"/>
            <p:cNvSpPr txBox="1"/>
            <p:nvPr/>
          </p:nvSpPr>
          <p:spPr>
            <a:xfrm>
              <a:off x="9940295" y="32504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70" name="TextBox 70"/>
            <p:cNvSpPr txBox="1"/>
            <p:nvPr/>
          </p:nvSpPr>
          <p:spPr>
            <a:xfrm>
              <a:off x="10607998" y="32504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71" name="TextBox 71"/>
            <p:cNvSpPr txBox="1"/>
            <p:nvPr/>
          </p:nvSpPr>
          <p:spPr>
            <a:xfrm>
              <a:off x="11275700" y="32504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72" name="Rectangle 72"/>
            <p:cNvSpPr/>
            <p:nvPr/>
          </p:nvSpPr>
          <p:spPr>
            <a:xfrm>
              <a:off x="533400" y="3524250"/>
              <a:ext cx="11125200" cy="9525"/>
            </a:xfrm>
            <a:prstGeom prst="rect">
              <a:avLst/>
            </a:prstGeom>
            <a:solidFill>
              <a:srgbClr val="D9DFEA"/>
            </a:solidFill>
            <a:ln>
              <a:noFill/>
            </a:ln>
          </p:spPr>
        </p:sp>
        <p:sp>
          <p:nvSpPr>
            <p:cNvPr id="73" name="TextBox 73"/>
            <p:cNvSpPr txBox="1"/>
            <p:nvPr/>
          </p:nvSpPr>
          <p:spPr>
            <a:xfrm>
              <a:off x="630555" y="3650456"/>
              <a:ext cx="768801"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X4 是否 =3</a:t>
              </a:r>
            </a:p>
          </p:txBody>
        </p:sp>
        <p:sp>
          <p:nvSpPr>
            <p:cNvPr id="74" name="TextBox 74"/>
            <p:cNvSpPr txBox="1"/>
            <p:nvPr/>
          </p:nvSpPr>
          <p:spPr>
            <a:xfrm>
              <a:off x="2599820" y="36504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75" name="TextBox 75"/>
            <p:cNvSpPr txBox="1"/>
            <p:nvPr/>
          </p:nvSpPr>
          <p:spPr>
            <a:xfrm>
              <a:off x="3267522" y="36504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76" name="TextBox 76"/>
            <p:cNvSpPr txBox="1"/>
            <p:nvPr/>
          </p:nvSpPr>
          <p:spPr>
            <a:xfrm>
              <a:off x="3935225" y="36504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77" name="TextBox 77"/>
            <p:cNvSpPr txBox="1"/>
            <p:nvPr/>
          </p:nvSpPr>
          <p:spPr>
            <a:xfrm>
              <a:off x="4602927" y="36504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78" name="TextBox 78"/>
            <p:cNvSpPr txBox="1"/>
            <p:nvPr/>
          </p:nvSpPr>
          <p:spPr>
            <a:xfrm>
              <a:off x="5269677" y="36504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79" name="TextBox 79"/>
            <p:cNvSpPr txBox="1"/>
            <p:nvPr/>
          </p:nvSpPr>
          <p:spPr>
            <a:xfrm>
              <a:off x="5937380" y="36504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80" name="TextBox 80"/>
            <p:cNvSpPr txBox="1"/>
            <p:nvPr/>
          </p:nvSpPr>
          <p:spPr>
            <a:xfrm>
              <a:off x="6605082" y="36504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81" name="TextBox 81"/>
            <p:cNvSpPr txBox="1"/>
            <p:nvPr/>
          </p:nvSpPr>
          <p:spPr>
            <a:xfrm>
              <a:off x="7272785" y="36504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82" name="TextBox 82"/>
            <p:cNvSpPr txBox="1"/>
            <p:nvPr/>
          </p:nvSpPr>
          <p:spPr>
            <a:xfrm>
              <a:off x="7938140" y="36504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83" name="TextBox 83"/>
            <p:cNvSpPr txBox="1"/>
            <p:nvPr/>
          </p:nvSpPr>
          <p:spPr>
            <a:xfrm>
              <a:off x="8604890" y="36504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84" name="TextBox 84"/>
            <p:cNvSpPr txBox="1"/>
            <p:nvPr/>
          </p:nvSpPr>
          <p:spPr>
            <a:xfrm>
              <a:off x="9274940" y="36504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85" name="TextBox 85"/>
            <p:cNvSpPr txBox="1"/>
            <p:nvPr/>
          </p:nvSpPr>
          <p:spPr>
            <a:xfrm>
              <a:off x="9942642" y="36504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86" name="TextBox 86"/>
            <p:cNvSpPr txBox="1"/>
            <p:nvPr/>
          </p:nvSpPr>
          <p:spPr>
            <a:xfrm>
              <a:off x="10607998" y="36504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87" name="TextBox 87"/>
            <p:cNvSpPr txBox="1"/>
            <p:nvPr/>
          </p:nvSpPr>
          <p:spPr>
            <a:xfrm>
              <a:off x="11275700" y="36504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88" name="Rectangle 88"/>
            <p:cNvSpPr/>
            <p:nvPr/>
          </p:nvSpPr>
          <p:spPr>
            <a:xfrm>
              <a:off x="533400" y="3924300"/>
              <a:ext cx="11125200" cy="9525"/>
            </a:xfrm>
            <a:prstGeom prst="rect">
              <a:avLst/>
            </a:prstGeom>
            <a:solidFill>
              <a:srgbClr val="D9DFEA"/>
            </a:solidFill>
            <a:ln>
              <a:noFill/>
            </a:ln>
          </p:spPr>
        </p:sp>
        <p:sp>
          <p:nvSpPr>
            <p:cNvPr id="89" name="TextBox 89"/>
            <p:cNvSpPr txBox="1"/>
            <p:nvPr/>
          </p:nvSpPr>
          <p:spPr>
            <a:xfrm>
              <a:off x="630555" y="4050506"/>
              <a:ext cx="1048985"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X5 内层 WHILE</a:t>
              </a:r>
            </a:p>
          </p:txBody>
        </p:sp>
        <p:sp>
          <p:nvSpPr>
            <p:cNvPr id="90" name="TextBox 90"/>
            <p:cNvSpPr txBox="1"/>
            <p:nvPr/>
          </p:nvSpPr>
          <p:spPr>
            <a:xfrm>
              <a:off x="2599820" y="40505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91" name="TextBox 91"/>
            <p:cNvSpPr txBox="1"/>
            <p:nvPr/>
          </p:nvSpPr>
          <p:spPr>
            <a:xfrm>
              <a:off x="3267522" y="40505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92" name="TextBox 92"/>
            <p:cNvSpPr txBox="1"/>
            <p:nvPr/>
          </p:nvSpPr>
          <p:spPr>
            <a:xfrm>
              <a:off x="3935225" y="40505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93" name="TextBox 93"/>
            <p:cNvSpPr txBox="1"/>
            <p:nvPr/>
          </p:nvSpPr>
          <p:spPr>
            <a:xfrm>
              <a:off x="4602927" y="40505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94" name="TextBox 94"/>
            <p:cNvSpPr txBox="1"/>
            <p:nvPr/>
          </p:nvSpPr>
          <p:spPr>
            <a:xfrm>
              <a:off x="5269677" y="40505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95" name="TextBox 95"/>
            <p:cNvSpPr txBox="1"/>
            <p:nvPr/>
          </p:nvSpPr>
          <p:spPr>
            <a:xfrm>
              <a:off x="5935033" y="40505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96" name="TextBox 96"/>
            <p:cNvSpPr txBox="1"/>
            <p:nvPr/>
          </p:nvSpPr>
          <p:spPr>
            <a:xfrm>
              <a:off x="6602735" y="40505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97" name="TextBox 97"/>
            <p:cNvSpPr txBox="1"/>
            <p:nvPr/>
          </p:nvSpPr>
          <p:spPr>
            <a:xfrm>
              <a:off x="7270438" y="40505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98" name="TextBox 98"/>
            <p:cNvSpPr txBox="1"/>
            <p:nvPr/>
          </p:nvSpPr>
          <p:spPr>
            <a:xfrm>
              <a:off x="7940487" y="40505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99" name="TextBox 99"/>
            <p:cNvSpPr txBox="1"/>
            <p:nvPr/>
          </p:nvSpPr>
          <p:spPr>
            <a:xfrm>
              <a:off x="8607237" y="40505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00" name="TextBox 100"/>
            <p:cNvSpPr txBox="1"/>
            <p:nvPr/>
          </p:nvSpPr>
          <p:spPr>
            <a:xfrm>
              <a:off x="9274940" y="40505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01" name="TextBox 101"/>
            <p:cNvSpPr txBox="1"/>
            <p:nvPr/>
          </p:nvSpPr>
          <p:spPr>
            <a:xfrm>
              <a:off x="9942642" y="40505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02" name="TextBox 102"/>
            <p:cNvSpPr txBox="1"/>
            <p:nvPr/>
          </p:nvSpPr>
          <p:spPr>
            <a:xfrm>
              <a:off x="10610345" y="40505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03" name="TextBox 103"/>
            <p:cNvSpPr txBox="1"/>
            <p:nvPr/>
          </p:nvSpPr>
          <p:spPr>
            <a:xfrm>
              <a:off x="11278047" y="40505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04" name="Rectangle 104"/>
            <p:cNvSpPr/>
            <p:nvPr/>
          </p:nvSpPr>
          <p:spPr>
            <a:xfrm>
              <a:off x="533400" y="4324350"/>
              <a:ext cx="11125200" cy="9525"/>
            </a:xfrm>
            <a:prstGeom prst="rect">
              <a:avLst/>
            </a:prstGeom>
            <a:solidFill>
              <a:srgbClr val="D9DFEA"/>
            </a:solidFill>
            <a:ln>
              <a:noFill/>
            </a:ln>
          </p:spPr>
        </p:sp>
        <p:sp>
          <p:nvSpPr>
            <p:cNvPr id="105" name="TextBox 105"/>
            <p:cNvSpPr txBox="1"/>
            <p:nvPr/>
          </p:nvSpPr>
          <p:spPr>
            <a:xfrm>
              <a:off x="630555" y="4450556"/>
              <a:ext cx="54716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X6 选择</a:t>
              </a:r>
            </a:p>
          </p:txBody>
        </p:sp>
        <p:sp>
          <p:nvSpPr>
            <p:cNvPr id="106" name="TextBox 106"/>
            <p:cNvSpPr txBox="1"/>
            <p:nvPr/>
          </p:nvSpPr>
          <p:spPr>
            <a:xfrm>
              <a:off x="2597473" y="44505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107" name="TextBox 107"/>
            <p:cNvSpPr txBox="1"/>
            <p:nvPr/>
          </p:nvSpPr>
          <p:spPr>
            <a:xfrm>
              <a:off x="3265175" y="44505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108" name="TextBox 108"/>
            <p:cNvSpPr txBox="1"/>
            <p:nvPr/>
          </p:nvSpPr>
          <p:spPr>
            <a:xfrm>
              <a:off x="3932878" y="44505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109" name="TextBox 109"/>
            <p:cNvSpPr txBox="1"/>
            <p:nvPr/>
          </p:nvSpPr>
          <p:spPr>
            <a:xfrm>
              <a:off x="4600580" y="44505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110" name="TextBox 110"/>
            <p:cNvSpPr txBox="1"/>
            <p:nvPr/>
          </p:nvSpPr>
          <p:spPr>
            <a:xfrm>
              <a:off x="5267330" y="44505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111" name="TextBox 111"/>
            <p:cNvSpPr txBox="1"/>
            <p:nvPr/>
          </p:nvSpPr>
          <p:spPr>
            <a:xfrm>
              <a:off x="5937380" y="44505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12" name="TextBox 112"/>
            <p:cNvSpPr txBox="1"/>
            <p:nvPr/>
          </p:nvSpPr>
          <p:spPr>
            <a:xfrm>
              <a:off x="6605082" y="44505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13" name="TextBox 113"/>
            <p:cNvSpPr txBox="1"/>
            <p:nvPr/>
          </p:nvSpPr>
          <p:spPr>
            <a:xfrm>
              <a:off x="7272785" y="44505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14" name="TextBox 114"/>
            <p:cNvSpPr txBox="1"/>
            <p:nvPr/>
          </p:nvSpPr>
          <p:spPr>
            <a:xfrm>
              <a:off x="7940487" y="44505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15" name="TextBox 115"/>
            <p:cNvSpPr txBox="1"/>
            <p:nvPr/>
          </p:nvSpPr>
          <p:spPr>
            <a:xfrm>
              <a:off x="8607237" y="44505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16" name="TextBox 116"/>
            <p:cNvSpPr txBox="1"/>
            <p:nvPr/>
          </p:nvSpPr>
          <p:spPr>
            <a:xfrm>
              <a:off x="9274940" y="44505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17" name="TextBox 117"/>
            <p:cNvSpPr txBox="1"/>
            <p:nvPr/>
          </p:nvSpPr>
          <p:spPr>
            <a:xfrm>
              <a:off x="9942642" y="44505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18" name="TextBox 118"/>
            <p:cNvSpPr txBox="1"/>
            <p:nvPr/>
          </p:nvSpPr>
          <p:spPr>
            <a:xfrm>
              <a:off x="10610345" y="44505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19" name="TextBox 119"/>
            <p:cNvSpPr txBox="1"/>
            <p:nvPr/>
          </p:nvSpPr>
          <p:spPr>
            <a:xfrm>
              <a:off x="11278047" y="44505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20" name="Rectangle 120"/>
            <p:cNvSpPr/>
            <p:nvPr/>
          </p:nvSpPr>
          <p:spPr>
            <a:xfrm>
              <a:off x="533400" y="4724400"/>
              <a:ext cx="11125200" cy="9525"/>
            </a:xfrm>
            <a:prstGeom prst="rect">
              <a:avLst/>
            </a:prstGeom>
            <a:solidFill>
              <a:srgbClr val="D9DFEA"/>
            </a:solidFill>
            <a:ln>
              <a:noFill/>
            </a:ln>
          </p:spPr>
        </p:sp>
        <p:sp>
          <p:nvSpPr>
            <p:cNvPr id="121" name="TextBox 121"/>
            <p:cNvSpPr txBox="1"/>
            <p:nvPr/>
          </p:nvSpPr>
          <p:spPr>
            <a:xfrm>
              <a:off x="630555" y="4850606"/>
              <a:ext cx="1015531"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X7 内层 UNTIL</a:t>
              </a:r>
            </a:p>
          </p:txBody>
        </p:sp>
        <p:sp>
          <p:nvSpPr>
            <p:cNvPr id="122" name="TextBox 122"/>
            <p:cNvSpPr txBox="1"/>
            <p:nvPr/>
          </p:nvSpPr>
          <p:spPr>
            <a:xfrm>
              <a:off x="2597473" y="48506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123" name="TextBox 123"/>
            <p:cNvSpPr txBox="1"/>
            <p:nvPr/>
          </p:nvSpPr>
          <p:spPr>
            <a:xfrm>
              <a:off x="3265175" y="48506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124" name="TextBox 124"/>
            <p:cNvSpPr txBox="1"/>
            <p:nvPr/>
          </p:nvSpPr>
          <p:spPr>
            <a:xfrm>
              <a:off x="3932878" y="485060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125" name="TextBox 125"/>
            <p:cNvSpPr txBox="1"/>
            <p:nvPr/>
          </p:nvSpPr>
          <p:spPr>
            <a:xfrm>
              <a:off x="4602927" y="48506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26" name="TextBox 126"/>
            <p:cNvSpPr txBox="1"/>
            <p:nvPr/>
          </p:nvSpPr>
          <p:spPr>
            <a:xfrm>
              <a:off x="5269677" y="48506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27" name="TextBox 127"/>
            <p:cNvSpPr txBox="1"/>
            <p:nvPr/>
          </p:nvSpPr>
          <p:spPr>
            <a:xfrm>
              <a:off x="5937380" y="48506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28" name="TextBox 128"/>
            <p:cNvSpPr txBox="1"/>
            <p:nvPr/>
          </p:nvSpPr>
          <p:spPr>
            <a:xfrm>
              <a:off x="6605082" y="48506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29" name="TextBox 129"/>
            <p:cNvSpPr txBox="1"/>
            <p:nvPr/>
          </p:nvSpPr>
          <p:spPr>
            <a:xfrm>
              <a:off x="7272785" y="48506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30" name="TextBox 130"/>
            <p:cNvSpPr txBox="1"/>
            <p:nvPr/>
          </p:nvSpPr>
          <p:spPr>
            <a:xfrm>
              <a:off x="7940487" y="48506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31" name="TextBox 131"/>
            <p:cNvSpPr txBox="1"/>
            <p:nvPr/>
          </p:nvSpPr>
          <p:spPr>
            <a:xfrm>
              <a:off x="8607237" y="48506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32" name="TextBox 132"/>
            <p:cNvSpPr txBox="1"/>
            <p:nvPr/>
          </p:nvSpPr>
          <p:spPr>
            <a:xfrm>
              <a:off x="9274940" y="48506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33" name="TextBox 133"/>
            <p:cNvSpPr txBox="1"/>
            <p:nvPr/>
          </p:nvSpPr>
          <p:spPr>
            <a:xfrm>
              <a:off x="9942642" y="48506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34" name="TextBox 134"/>
            <p:cNvSpPr txBox="1"/>
            <p:nvPr/>
          </p:nvSpPr>
          <p:spPr>
            <a:xfrm>
              <a:off x="10610345" y="48506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35" name="TextBox 135"/>
            <p:cNvSpPr txBox="1"/>
            <p:nvPr/>
          </p:nvSpPr>
          <p:spPr>
            <a:xfrm>
              <a:off x="11278047" y="485060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36" name="Rectangle 136"/>
            <p:cNvSpPr/>
            <p:nvPr/>
          </p:nvSpPr>
          <p:spPr>
            <a:xfrm>
              <a:off x="533400" y="5124450"/>
              <a:ext cx="11125200" cy="9525"/>
            </a:xfrm>
            <a:prstGeom prst="rect">
              <a:avLst/>
            </a:prstGeom>
            <a:solidFill>
              <a:srgbClr val="D9DFEA"/>
            </a:solidFill>
            <a:ln>
              <a:noFill/>
            </a:ln>
          </p:spPr>
        </p:sp>
        <p:sp>
          <p:nvSpPr>
            <p:cNvPr id="137" name="TextBox 137"/>
            <p:cNvSpPr txBox="1"/>
            <p:nvPr/>
          </p:nvSpPr>
          <p:spPr>
            <a:xfrm>
              <a:off x="630555" y="5250656"/>
              <a:ext cx="1015531"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X8 外层 UNTIL</a:t>
              </a:r>
            </a:p>
          </p:txBody>
        </p:sp>
        <p:sp>
          <p:nvSpPr>
            <p:cNvPr id="138" name="TextBox 138"/>
            <p:cNvSpPr txBox="1"/>
            <p:nvPr/>
          </p:nvSpPr>
          <p:spPr>
            <a:xfrm>
              <a:off x="2597473" y="52506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139" name="TextBox 139"/>
            <p:cNvSpPr txBox="1"/>
            <p:nvPr/>
          </p:nvSpPr>
          <p:spPr>
            <a:xfrm>
              <a:off x="3265175" y="52506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140" name="TextBox 140"/>
            <p:cNvSpPr txBox="1"/>
            <p:nvPr/>
          </p:nvSpPr>
          <p:spPr>
            <a:xfrm>
              <a:off x="3935225" y="52506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41" name="TextBox 141"/>
            <p:cNvSpPr txBox="1"/>
            <p:nvPr/>
          </p:nvSpPr>
          <p:spPr>
            <a:xfrm>
              <a:off x="4600580" y="52506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142" name="TextBox 142"/>
            <p:cNvSpPr txBox="1"/>
            <p:nvPr/>
          </p:nvSpPr>
          <p:spPr>
            <a:xfrm>
              <a:off x="5267330" y="52506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143" name="TextBox 143"/>
            <p:cNvSpPr txBox="1"/>
            <p:nvPr/>
          </p:nvSpPr>
          <p:spPr>
            <a:xfrm>
              <a:off x="5937380" y="525065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44" name="TextBox 144"/>
            <p:cNvSpPr txBox="1"/>
            <p:nvPr/>
          </p:nvSpPr>
          <p:spPr>
            <a:xfrm>
              <a:off x="6602735" y="52506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145" name="TextBox 145"/>
            <p:cNvSpPr txBox="1"/>
            <p:nvPr/>
          </p:nvSpPr>
          <p:spPr>
            <a:xfrm>
              <a:off x="7270438" y="52506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146" name="TextBox 146"/>
            <p:cNvSpPr txBox="1"/>
            <p:nvPr/>
          </p:nvSpPr>
          <p:spPr>
            <a:xfrm>
              <a:off x="7938140" y="52506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147" name="TextBox 147"/>
            <p:cNvSpPr txBox="1"/>
            <p:nvPr/>
          </p:nvSpPr>
          <p:spPr>
            <a:xfrm>
              <a:off x="8604890" y="52506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148" name="TextBox 148"/>
            <p:cNvSpPr txBox="1"/>
            <p:nvPr/>
          </p:nvSpPr>
          <p:spPr>
            <a:xfrm>
              <a:off x="9272593" y="52506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149" name="TextBox 149"/>
            <p:cNvSpPr txBox="1"/>
            <p:nvPr/>
          </p:nvSpPr>
          <p:spPr>
            <a:xfrm>
              <a:off x="9940295" y="52506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150" name="TextBox 150"/>
            <p:cNvSpPr txBox="1"/>
            <p:nvPr/>
          </p:nvSpPr>
          <p:spPr>
            <a:xfrm>
              <a:off x="10607998" y="52506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T</a:t>
              </a:r>
            </a:p>
          </p:txBody>
        </p:sp>
        <p:sp>
          <p:nvSpPr>
            <p:cNvPr id="151" name="TextBox 151"/>
            <p:cNvSpPr txBox="1"/>
            <p:nvPr/>
          </p:nvSpPr>
          <p:spPr>
            <a:xfrm>
              <a:off x="11275700" y="5250656"/>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F</a:t>
              </a:r>
            </a:p>
          </p:txBody>
        </p:sp>
        <p:sp>
          <p:nvSpPr>
            <p:cNvPr id="152" name="Rectangle 152"/>
            <p:cNvSpPr/>
            <p:nvPr/>
          </p:nvSpPr>
          <p:spPr>
            <a:xfrm>
              <a:off x="533400" y="1928812"/>
              <a:ext cx="11125200" cy="3600450"/>
            </a:xfrm>
            <a:prstGeom prst="rect">
              <a:avLst/>
            </a:prstGeom>
            <a:noFill/>
            <a:ln w="14288">
              <a:solidFill>
                <a:srgbClr val="D9DFEA"/>
              </a:solidFill>
            </a:ln>
          </p:spPr>
        </p:sp>
        <p:sp>
          <p:nvSpPr>
            <p:cNvPr id="153" name="Rectangle 153"/>
            <p:cNvSpPr/>
            <p:nvPr/>
          </p:nvSpPr>
          <p:spPr>
            <a:xfrm>
              <a:off x="2308860" y="1928812"/>
              <a:ext cx="9525" cy="3600450"/>
            </a:xfrm>
            <a:prstGeom prst="rect">
              <a:avLst/>
            </a:prstGeom>
            <a:solidFill>
              <a:srgbClr val="D9DFEA"/>
            </a:solidFill>
            <a:ln>
              <a:noFill/>
            </a:ln>
          </p:spPr>
        </p:sp>
        <p:sp>
          <p:nvSpPr>
            <p:cNvPr id="154" name="Rectangle 154"/>
            <p:cNvSpPr/>
            <p:nvPr/>
          </p:nvSpPr>
          <p:spPr>
            <a:xfrm>
              <a:off x="2976562" y="1928812"/>
              <a:ext cx="9525" cy="3600450"/>
            </a:xfrm>
            <a:prstGeom prst="rect">
              <a:avLst/>
            </a:prstGeom>
            <a:solidFill>
              <a:srgbClr val="D9DFEA"/>
            </a:solidFill>
            <a:ln>
              <a:noFill/>
            </a:ln>
          </p:spPr>
        </p:sp>
        <p:sp>
          <p:nvSpPr>
            <p:cNvPr id="155" name="Rectangle 155"/>
            <p:cNvSpPr/>
            <p:nvPr/>
          </p:nvSpPr>
          <p:spPr>
            <a:xfrm>
              <a:off x="3643312" y="1928812"/>
              <a:ext cx="9525" cy="3600450"/>
            </a:xfrm>
            <a:prstGeom prst="rect">
              <a:avLst/>
            </a:prstGeom>
            <a:solidFill>
              <a:srgbClr val="D9DFEA"/>
            </a:solidFill>
            <a:ln>
              <a:noFill/>
            </a:ln>
          </p:spPr>
        </p:sp>
        <p:sp>
          <p:nvSpPr>
            <p:cNvPr id="156" name="Rectangle 156"/>
            <p:cNvSpPr/>
            <p:nvPr/>
          </p:nvSpPr>
          <p:spPr>
            <a:xfrm>
              <a:off x="4311015" y="1928812"/>
              <a:ext cx="9525" cy="3600450"/>
            </a:xfrm>
            <a:prstGeom prst="rect">
              <a:avLst/>
            </a:prstGeom>
            <a:solidFill>
              <a:srgbClr val="D9DFEA"/>
            </a:solidFill>
            <a:ln>
              <a:noFill/>
            </a:ln>
          </p:spPr>
        </p:sp>
        <p:sp>
          <p:nvSpPr>
            <p:cNvPr id="157" name="Rectangle 157"/>
            <p:cNvSpPr/>
            <p:nvPr/>
          </p:nvSpPr>
          <p:spPr>
            <a:xfrm>
              <a:off x="4978718" y="1928812"/>
              <a:ext cx="9525" cy="3600450"/>
            </a:xfrm>
            <a:prstGeom prst="rect">
              <a:avLst/>
            </a:prstGeom>
            <a:solidFill>
              <a:srgbClr val="D9DFEA"/>
            </a:solidFill>
            <a:ln>
              <a:noFill/>
            </a:ln>
          </p:spPr>
        </p:sp>
        <p:sp>
          <p:nvSpPr>
            <p:cNvPr id="158" name="Rectangle 158"/>
            <p:cNvSpPr/>
            <p:nvPr/>
          </p:nvSpPr>
          <p:spPr>
            <a:xfrm>
              <a:off x="5646420" y="1928812"/>
              <a:ext cx="9525" cy="3600450"/>
            </a:xfrm>
            <a:prstGeom prst="rect">
              <a:avLst/>
            </a:prstGeom>
            <a:solidFill>
              <a:srgbClr val="D9DFEA"/>
            </a:solidFill>
            <a:ln>
              <a:noFill/>
            </a:ln>
          </p:spPr>
        </p:sp>
        <p:sp>
          <p:nvSpPr>
            <p:cNvPr id="159" name="Rectangle 159"/>
            <p:cNvSpPr/>
            <p:nvPr/>
          </p:nvSpPr>
          <p:spPr>
            <a:xfrm>
              <a:off x="6314122" y="1928812"/>
              <a:ext cx="9525" cy="3600450"/>
            </a:xfrm>
            <a:prstGeom prst="rect">
              <a:avLst/>
            </a:prstGeom>
            <a:solidFill>
              <a:srgbClr val="D9DFEA"/>
            </a:solidFill>
            <a:ln>
              <a:noFill/>
            </a:ln>
          </p:spPr>
        </p:sp>
        <p:sp>
          <p:nvSpPr>
            <p:cNvPr id="160" name="Rectangle 160"/>
            <p:cNvSpPr/>
            <p:nvPr/>
          </p:nvSpPr>
          <p:spPr>
            <a:xfrm>
              <a:off x="6980872" y="1928812"/>
              <a:ext cx="9525" cy="3600450"/>
            </a:xfrm>
            <a:prstGeom prst="rect">
              <a:avLst/>
            </a:prstGeom>
            <a:solidFill>
              <a:srgbClr val="D9DFEA"/>
            </a:solidFill>
            <a:ln>
              <a:noFill/>
            </a:ln>
          </p:spPr>
        </p:sp>
        <p:sp>
          <p:nvSpPr>
            <p:cNvPr id="161" name="Rectangle 161"/>
            <p:cNvSpPr/>
            <p:nvPr/>
          </p:nvSpPr>
          <p:spPr>
            <a:xfrm>
              <a:off x="7648575" y="1928812"/>
              <a:ext cx="9525" cy="3600450"/>
            </a:xfrm>
            <a:prstGeom prst="rect">
              <a:avLst/>
            </a:prstGeom>
            <a:solidFill>
              <a:srgbClr val="D9DFEA"/>
            </a:solidFill>
            <a:ln>
              <a:noFill/>
            </a:ln>
          </p:spPr>
        </p:sp>
        <p:sp>
          <p:nvSpPr>
            <p:cNvPr id="162" name="Rectangle 162"/>
            <p:cNvSpPr/>
            <p:nvPr/>
          </p:nvSpPr>
          <p:spPr>
            <a:xfrm>
              <a:off x="8316278" y="1928812"/>
              <a:ext cx="9525" cy="3600450"/>
            </a:xfrm>
            <a:prstGeom prst="rect">
              <a:avLst/>
            </a:prstGeom>
            <a:solidFill>
              <a:srgbClr val="D9DFEA"/>
            </a:solidFill>
            <a:ln>
              <a:noFill/>
            </a:ln>
          </p:spPr>
        </p:sp>
        <p:sp>
          <p:nvSpPr>
            <p:cNvPr id="163" name="Rectangle 163"/>
            <p:cNvSpPr/>
            <p:nvPr/>
          </p:nvSpPr>
          <p:spPr>
            <a:xfrm>
              <a:off x="8983980" y="1928812"/>
              <a:ext cx="9525" cy="3600450"/>
            </a:xfrm>
            <a:prstGeom prst="rect">
              <a:avLst/>
            </a:prstGeom>
            <a:solidFill>
              <a:srgbClr val="D9DFEA"/>
            </a:solidFill>
            <a:ln>
              <a:noFill/>
            </a:ln>
          </p:spPr>
        </p:sp>
        <p:sp>
          <p:nvSpPr>
            <p:cNvPr id="164" name="Rectangle 164"/>
            <p:cNvSpPr/>
            <p:nvPr/>
          </p:nvSpPr>
          <p:spPr>
            <a:xfrm>
              <a:off x="9651682" y="1928812"/>
              <a:ext cx="9525" cy="3600450"/>
            </a:xfrm>
            <a:prstGeom prst="rect">
              <a:avLst/>
            </a:prstGeom>
            <a:solidFill>
              <a:srgbClr val="D9DFEA"/>
            </a:solidFill>
            <a:ln>
              <a:noFill/>
            </a:ln>
          </p:spPr>
        </p:sp>
        <p:sp>
          <p:nvSpPr>
            <p:cNvPr id="165" name="Rectangle 165"/>
            <p:cNvSpPr/>
            <p:nvPr/>
          </p:nvSpPr>
          <p:spPr>
            <a:xfrm>
              <a:off x="10318432" y="1928812"/>
              <a:ext cx="9525" cy="3600450"/>
            </a:xfrm>
            <a:prstGeom prst="rect">
              <a:avLst/>
            </a:prstGeom>
            <a:solidFill>
              <a:srgbClr val="D9DFEA"/>
            </a:solidFill>
            <a:ln>
              <a:noFill/>
            </a:ln>
          </p:spPr>
        </p:sp>
        <p:sp>
          <p:nvSpPr>
            <p:cNvPr id="166" name="Rectangle 166"/>
            <p:cNvSpPr/>
            <p:nvPr/>
          </p:nvSpPr>
          <p:spPr>
            <a:xfrm>
              <a:off x="10986135" y="1928812"/>
              <a:ext cx="9525" cy="3600450"/>
            </a:xfrm>
            <a:prstGeom prst="rect">
              <a:avLst/>
            </a:prstGeom>
            <a:solidFill>
              <a:srgbClr val="D9DFEA"/>
            </a:solidFill>
            <a:ln>
              <a:noFill/>
            </a:ln>
          </p:spPr>
        </p:sp>
      </p:grpSp>
      <p:grpSp>
        <p:nvGrpSpPr>
          <p:cNvPr id="174" name="takeaway"/>
          <p:cNvGrpSpPr/>
          <p:nvPr/>
        </p:nvGrpSpPr>
        <p:grpSpPr>
          <a:xfrm>
            <a:off x="533400" y="5881688"/>
            <a:ext cx="11125200" cy="481012"/>
            <a:chOff x="533400" y="5881688"/>
            <a:chExt cx="11125200" cy="481012"/>
          </a:xfrm>
        </p:grpSpPr>
        <p:sp>
          <p:nvSpPr>
            <p:cNvPr id="168" name="Rectangle 168"/>
            <p:cNvSpPr/>
            <p:nvPr/>
          </p:nvSpPr>
          <p:spPr>
            <a:xfrm>
              <a:off x="533400" y="5881688"/>
              <a:ext cx="11125200" cy="481012"/>
            </a:xfrm>
            <a:prstGeom prst="roundRect">
              <a:avLst>
                <a:gd name="adj" fmla="val 23762"/>
              </a:avLst>
            </a:prstGeom>
            <a:solidFill>
              <a:srgbClr val="F4F6FB"/>
            </a:solidFill>
            <a:ln>
              <a:noFill/>
            </a:ln>
          </p:spPr>
        </p:sp>
        <p:grpSp>
          <p:nvGrpSpPr>
            <p:cNvPr id="172" name="Group 172"/>
            <p:cNvGrpSpPr/>
            <p:nvPr/>
          </p:nvGrpSpPr>
          <p:grpSpPr>
            <a:xfrm>
              <a:off x="738188" y="6022658"/>
              <a:ext cx="200026" cy="200026"/>
              <a:chOff x="738188" y="6022658"/>
              <a:chExt cx="200026" cy="200026"/>
            </a:xfrm>
          </p:grpSpPr>
          <p:sp>
            <p:nvSpPr>
              <p:cNvPr id="169" name="Freeform 169"/>
              <p:cNvSpPr/>
              <p:nvPr/>
            </p:nvSpPr>
            <p:spPr>
              <a:xfrm>
                <a:off x="738188" y="602265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170" name="Freeform 170"/>
              <p:cNvSpPr/>
              <p:nvPr/>
            </p:nvSpPr>
            <p:spPr>
              <a:xfrm>
                <a:off x="838200" y="608933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171" name="Freeform 171"/>
              <p:cNvSpPr/>
              <p:nvPr/>
            </p:nvSpPr>
            <p:spPr>
              <a:xfrm>
                <a:off x="827088" y="612267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173" name="TextBox 173"/>
            <p:cNvSpPr txBox="1"/>
            <p:nvPr/>
          </p:nvSpPr>
          <p:spPr>
            <a:xfrm>
              <a:off x="1040892" y="6028373"/>
              <a:ext cx="952764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8 个两分支条件本来有 2⁸ 种组合，去掉互相矛盾和到不了的组合之后只剩 14 条规则，这正是判定表能"简洁"的原因。</a:t>
              </a:r>
            </a:p>
          </p:txBody>
        </p:sp>
      </p:grpSp>
      <p:grpSp>
        <p:nvGrpSpPr>
          <p:cNvPr id="177" name="footer"/>
          <p:cNvGrpSpPr/>
          <p:nvPr/>
        </p:nvGrpSpPr>
        <p:grpSpPr>
          <a:xfrm>
            <a:off x="528447" y="6581299"/>
            <a:ext cx="11135106" cy="190690"/>
            <a:chOff x="528447" y="6581299"/>
            <a:chExt cx="11135106" cy="190690"/>
          </a:xfrm>
        </p:grpSpPr>
        <p:sp>
          <p:nvSpPr>
            <p:cNvPr id="175" name="TextBox 175"/>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176" name="TextBox 17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29</a:t>
              </a:r>
            </a:p>
          </p:txBody>
        </p:sp>
      </p:gr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578090" cy="909257"/>
            <a:chOff x="520446" y="342900"/>
            <a:chExt cx="7578090"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过程设计技术和工具</a:t>
              </a:r>
            </a:p>
          </p:txBody>
        </p:sp>
        <p:sp>
          <p:nvSpPr>
            <p:cNvPr id="4" name="TextBox 4"/>
            <p:cNvSpPr txBox="1"/>
            <p:nvPr/>
          </p:nvSpPr>
          <p:spPr>
            <a:xfrm>
              <a:off x="520446" y="753428"/>
              <a:ext cx="757809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示例程序的判定表（下）：每种组合执行哪些动作</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81" name="c1-table-1"/>
          <p:cNvGrpSpPr/>
          <p:nvPr/>
        </p:nvGrpSpPr>
        <p:grpSpPr>
          <a:xfrm>
            <a:off x="533400" y="1524000"/>
            <a:ext cx="11125200" cy="4000500"/>
            <a:chOff x="533400" y="1524000"/>
            <a:chExt cx="11125200" cy="4000500"/>
          </a:xfrm>
        </p:grpSpPr>
        <p:sp>
          <p:nvSpPr>
            <p:cNvPr id="7" name="Rectangle 7"/>
            <p:cNvSpPr/>
            <p:nvPr/>
          </p:nvSpPr>
          <p:spPr>
            <a:xfrm>
              <a:off x="533400" y="1524000"/>
              <a:ext cx="11125200" cy="400050"/>
            </a:xfrm>
            <a:prstGeom prst="rect">
              <a:avLst/>
            </a:prstGeom>
            <a:solidFill>
              <a:srgbClr val="334E68"/>
            </a:solidFill>
            <a:ln>
              <a:noFill/>
            </a:ln>
          </p:spPr>
        </p:sp>
        <p:sp>
          <p:nvSpPr>
            <p:cNvPr id="8" name="TextBox 8"/>
            <p:cNvSpPr txBox="1"/>
            <p:nvPr/>
          </p:nvSpPr>
          <p:spPr>
            <a:xfrm>
              <a:off x="1266546" y="1645444"/>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动作</a:t>
              </a:r>
            </a:p>
          </p:txBody>
        </p:sp>
        <p:sp>
          <p:nvSpPr>
            <p:cNvPr id="9" name="TextBox 9"/>
            <p:cNvSpPr txBox="1"/>
            <p:nvPr/>
          </p:nvSpPr>
          <p:spPr>
            <a:xfrm>
              <a:off x="2597746" y="16454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0" name="TextBox 10"/>
            <p:cNvSpPr txBox="1"/>
            <p:nvPr/>
          </p:nvSpPr>
          <p:spPr>
            <a:xfrm>
              <a:off x="3265449" y="16454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1" name="TextBox 11"/>
            <p:cNvSpPr txBox="1"/>
            <p:nvPr/>
          </p:nvSpPr>
          <p:spPr>
            <a:xfrm>
              <a:off x="3933151" y="16454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2" name="TextBox 12"/>
            <p:cNvSpPr txBox="1"/>
            <p:nvPr/>
          </p:nvSpPr>
          <p:spPr>
            <a:xfrm>
              <a:off x="4600854" y="16454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13" name="TextBox 13"/>
            <p:cNvSpPr txBox="1"/>
            <p:nvPr/>
          </p:nvSpPr>
          <p:spPr>
            <a:xfrm>
              <a:off x="5267604" y="16454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5</a:t>
              </a:r>
            </a:p>
          </p:txBody>
        </p:sp>
        <p:sp>
          <p:nvSpPr>
            <p:cNvPr id="14" name="TextBox 14"/>
            <p:cNvSpPr txBox="1"/>
            <p:nvPr/>
          </p:nvSpPr>
          <p:spPr>
            <a:xfrm>
              <a:off x="5935306" y="16454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6</a:t>
              </a:r>
            </a:p>
          </p:txBody>
        </p:sp>
        <p:sp>
          <p:nvSpPr>
            <p:cNvPr id="15" name="TextBox 15"/>
            <p:cNvSpPr txBox="1"/>
            <p:nvPr/>
          </p:nvSpPr>
          <p:spPr>
            <a:xfrm>
              <a:off x="6603009" y="16454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7</a:t>
              </a:r>
            </a:p>
          </p:txBody>
        </p:sp>
        <p:sp>
          <p:nvSpPr>
            <p:cNvPr id="16" name="TextBox 16"/>
            <p:cNvSpPr txBox="1"/>
            <p:nvPr/>
          </p:nvSpPr>
          <p:spPr>
            <a:xfrm>
              <a:off x="7270711" y="16454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8</a:t>
              </a:r>
            </a:p>
          </p:txBody>
        </p:sp>
        <p:sp>
          <p:nvSpPr>
            <p:cNvPr id="17" name="TextBox 17"/>
            <p:cNvSpPr txBox="1"/>
            <p:nvPr/>
          </p:nvSpPr>
          <p:spPr>
            <a:xfrm>
              <a:off x="7938414" y="16454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9</a:t>
              </a:r>
            </a:p>
          </p:txBody>
        </p:sp>
        <p:sp>
          <p:nvSpPr>
            <p:cNvPr id="18" name="TextBox 18"/>
            <p:cNvSpPr txBox="1"/>
            <p:nvPr/>
          </p:nvSpPr>
          <p:spPr>
            <a:xfrm>
              <a:off x="8561628" y="1645444"/>
              <a:ext cx="185574"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10</a:t>
              </a:r>
            </a:p>
          </p:txBody>
        </p:sp>
        <p:sp>
          <p:nvSpPr>
            <p:cNvPr id="19" name="TextBox 19"/>
            <p:cNvSpPr txBox="1"/>
            <p:nvPr/>
          </p:nvSpPr>
          <p:spPr>
            <a:xfrm>
              <a:off x="9229330" y="1645444"/>
              <a:ext cx="185574"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11</a:t>
              </a:r>
            </a:p>
          </p:txBody>
        </p:sp>
        <p:sp>
          <p:nvSpPr>
            <p:cNvPr id="20" name="TextBox 20"/>
            <p:cNvSpPr txBox="1"/>
            <p:nvPr/>
          </p:nvSpPr>
          <p:spPr>
            <a:xfrm>
              <a:off x="9897033" y="1645444"/>
              <a:ext cx="185574"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12</a:t>
              </a:r>
            </a:p>
          </p:txBody>
        </p:sp>
        <p:sp>
          <p:nvSpPr>
            <p:cNvPr id="21" name="TextBox 21"/>
            <p:cNvSpPr txBox="1"/>
            <p:nvPr/>
          </p:nvSpPr>
          <p:spPr>
            <a:xfrm>
              <a:off x="10564735" y="1645444"/>
              <a:ext cx="185574"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13</a:t>
              </a:r>
            </a:p>
          </p:txBody>
        </p:sp>
        <p:sp>
          <p:nvSpPr>
            <p:cNvPr id="22" name="TextBox 22"/>
            <p:cNvSpPr txBox="1"/>
            <p:nvPr/>
          </p:nvSpPr>
          <p:spPr>
            <a:xfrm>
              <a:off x="11232438" y="1645444"/>
              <a:ext cx="185574"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14</a:t>
              </a:r>
            </a:p>
          </p:txBody>
        </p:sp>
        <p:sp>
          <p:nvSpPr>
            <p:cNvPr id="23" name="TextBox 23"/>
            <p:cNvSpPr txBox="1"/>
            <p:nvPr/>
          </p:nvSpPr>
          <p:spPr>
            <a:xfrm>
              <a:off x="630555" y="2045494"/>
              <a:ext cx="33634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a、b</a:t>
              </a:r>
            </a:p>
          </p:txBody>
        </p:sp>
        <p:sp>
          <p:nvSpPr>
            <p:cNvPr id="24" name="TextBox 24"/>
            <p:cNvSpPr txBox="1"/>
            <p:nvPr/>
          </p:nvSpPr>
          <p:spPr>
            <a:xfrm>
              <a:off x="2597473"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25" name="TextBox 25"/>
            <p:cNvSpPr txBox="1"/>
            <p:nvPr/>
          </p:nvSpPr>
          <p:spPr>
            <a:xfrm>
              <a:off x="3265175"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26" name="TextBox 26"/>
            <p:cNvSpPr txBox="1"/>
            <p:nvPr/>
          </p:nvSpPr>
          <p:spPr>
            <a:xfrm>
              <a:off x="3932878"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27" name="TextBox 27"/>
            <p:cNvSpPr txBox="1"/>
            <p:nvPr/>
          </p:nvSpPr>
          <p:spPr>
            <a:xfrm>
              <a:off x="4600580"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28" name="TextBox 28"/>
            <p:cNvSpPr txBox="1"/>
            <p:nvPr/>
          </p:nvSpPr>
          <p:spPr>
            <a:xfrm>
              <a:off x="5267330"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29" name="TextBox 29"/>
            <p:cNvSpPr txBox="1"/>
            <p:nvPr/>
          </p:nvSpPr>
          <p:spPr>
            <a:xfrm>
              <a:off x="5935033"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30" name="TextBox 30"/>
            <p:cNvSpPr txBox="1"/>
            <p:nvPr/>
          </p:nvSpPr>
          <p:spPr>
            <a:xfrm>
              <a:off x="6602735"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31" name="TextBox 31"/>
            <p:cNvSpPr txBox="1"/>
            <p:nvPr/>
          </p:nvSpPr>
          <p:spPr>
            <a:xfrm>
              <a:off x="7270438"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32" name="TextBox 32"/>
            <p:cNvSpPr txBox="1"/>
            <p:nvPr/>
          </p:nvSpPr>
          <p:spPr>
            <a:xfrm>
              <a:off x="7938140"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33" name="TextBox 33"/>
            <p:cNvSpPr txBox="1"/>
            <p:nvPr/>
          </p:nvSpPr>
          <p:spPr>
            <a:xfrm>
              <a:off x="8604890"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34" name="TextBox 34"/>
            <p:cNvSpPr txBox="1"/>
            <p:nvPr/>
          </p:nvSpPr>
          <p:spPr>
            <a:xfrm>
              <a:off x="9272593"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35" name="TextBox 35"/>
            <p:cNvSpPr txBox="1"/>
            <p:nvPr/>
          </p:nvSpPr>
          <p:spPr>
            <a:xfrm>
              <a:off x="9940295"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36" name="TextBox 36"/>
            <p:cNvSpPr txBox="1"/>
            <p:nvPr/>
          </p:nvSpPr>
          <p:spPr>
            <a:xfrm>
              <a:off x="10607998"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37" name="TextBox 37"/>
            <p:cNvSpPr txBox="1"/>
            <p:nvPr/>
          </p:nvSpPr>
          <p:spPr>
            <a:xfrm>
              <a:off x="11275700" y="20454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38" name="Rectangle 38"/>
            <p:cNvSpPr/>
            <p:nvPr/>
          </p:nvSpPr>
          <p:spPr>
            <a:xfrm>
              <a:off x="533400" y="2319338"/>
              <a:ext cx="11125200" cy="9525"/>
            </a:xfrm>
            <a:prstGeom prst="rect">
              <a:avLst/>
            </a:prstGeom>
            <a:solidFill>
              <a:srgbClr val="D9DFEA"/>
            </a:solidFill>
            <a:ln>
              <a:noFill/>
            </a:ln>
          </p:spPr>
        </p:sp>
        <p:sp>
          <p:nvSpPr>
            <p:cNvPr id="39" name="TextBox 39"/>
            <p:cNvSpPr txBox="1"/>
            <p:nvPr/>
          </p:nvSpPr>
          <p:spPr>
            <a:xfrm>
              <a:off x="630555" y="2445544"/>
              <a:ext cx="9850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c</a:t>
              </a:r>
            </a:p>
          </p:txBody>
        </p:sp>
        <p:sp>
          <p:nvSpPr>
            <p:cNvPr id="40" name="TextBox 40"/>
            <p:cNvSpPr txBox="1"/>
            <p:nvPr/>
          </p:nvSpPr>
          <p:spPr>
            <a:xfrm>
              <a:off x="2599820" y="24455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41" name="TextBox 41"/>
            <p:cNvSpPr txBox="1"/>
            <p:nvPr/>
          </p:nvSpPr>
          <p:spPr>
            <a:xfrm>
              <a:off x="3267522" y="24455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42" name="TextBox 42"/>
            <p:cNvSpPr txBox="1"/>
            <p:nvPr/>
          </p:nvSpPr>
          <p:spPr>
            <a:xfrm>
              <a:off x="3935225" y="24455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43" name="TextBox 43"/>
            <p:cNvSpPr txBox="1"/>
            <p:nvPr/>
          </p:nvSpPr>
          <p:spPr>
            <a:xfrm>
              <a:off x="4602927" y="24455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44" name="TextBox 44"/>
            <p:cNvSpPr txBox="1"/>
            <p:nvPr/>
          </p:nvSpPr>
          <p:spPr>
            <a:xfrm>
              <a:off x="5269677" y="24455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45" name="TextBox 45"/>
            <p:cNvSpPr txBox="1"/>
            <p:nvPr/>
          </p:nvSpPr>
          <p:spPr>
            <a:xfrm>
              <a:off x="5935033" y="24455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46" name="TextBox 46"/>
            <p:cNvSpPr txBox="1"/>
            <p:nvPr/>
          </p:nvSpPr>
          <p:spPr>
            <a:xfrm>
              <a:off x="6605082" y="24455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47" name="TextBox 47"/>
            <p:cNvSpPr txBox="1"/>
            <p:nvPr/>
          </p:nvSpPr>
          <p:spPr>
            <a:xfrm>
              <a:off x="7272785" y="24455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48" name="TextBox 48"/>
            <p:cNvSpPr txBox="1"/>
            <p:nvPr/>
          </p:nvSpPr>
          <p:spPr>
            <a:xfrm>
              <a:off x="7940487" y="24455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49" name="TextBox 49"/>
            <p:cNvSpPr txBox="1"/>
            <p:nvPr/>
          </p:nvSpPr>
          <p:spPr>
            <a:xfrm>
              <a:off x="8607237" y="24455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50" name="TextBox 50"/>
            <p:cNvSpPr txBox="1"/>
            <p:nvPr/>
          </p:nvSpPr>
          <p:spPr>
            <a:xfrm>
              <a:off x="9274940" y="24455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51" name="TextBox 51"/>
            <p:cNvSpPr txBox="1"/>
            <p:nvPr/>
          </p:nvSpPr>
          <p:spPr>
            <a:xfrm>
              <a:off x="9942642" y="24455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52" name="TextBox 52"/>
            <p:cNvSpPr txBox="1"/>
            <p:nvPr/>
          </p:nvSpPr>
          <p:spPr>
            <a:xfrm>
              <a:off x="10610345" y="24455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53" name="TextBox 53"/>
            <p:cNvSpPr txBox="1"/>
            <p:nvPr/>
          </p:nvSpPr>
          <p:spPr>
            <a:xfrm>
              <a:off x="11278047" y="24455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54" name="Rectangle 54"/>
            <p:cNvSpPr/>
            <p:nvPr/>
          </p:nvSpPr>
          <p:spPr>
            <a:xfrm>
              <a:off x="533400" y="2719388"/>
              <a:ext cx="11125200" cy="9525"/>
            </a:xfrm>
            <a:prstGeom prst="rect">
              <a:avLst/>
            </a:prstGeom>
            <a:solidFill>
              <a:srgbClr val="D9DFEA"/>
            </a:solidFill>
            <a:ln>
              <a:noFill/>
            </a:ln>
          </p:spPr>
        </p:sp>
        <p:sp>
          <p:nvSpPr>
            <p:cNvPr id="55" name="TextBox 55"/>
            <p:cNvSpPr txBox="1"/>
            <p:nvPr/>
          </p:nvSpPr>
          <p:spPr>
            <a:xfrm>
              <a:off x="630555" y="2845594"/>
              <a:ext cx="9850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d</a:t>
              </a:r>
            </a:p>
          </p:txBody>
        </p:sp>
        <p:sp>
          <p:nvSpPr>
            <p:cNvPr id="56" name="TextBox 56"/>
            <p:cNvSpPr txBox="1"/>
            <p:nvPr/>
          </p:nvSpPr>
          <p:spPr>
            <a:xfrm>
              <a:off x="2599820" y="28455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57" name="TextBox 57"/>
            <p:cNvSpPr txBox="1"/>
            <p:nvPr/>
          </p:nvSpPr>
          <p:spPr>
            <a:xfrm>
              <a:off x="3267522" y="28455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58" name="TextBox 58"/>
            <p:cNvSpPr txBox="1"/>
            <p:nvPr/>
          </p:nvSpPr>
          <p:spPr>
            <a:xfrm>
              <a:off x="3935225" y="28455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59" name="TextBox 59"/>
            <p:cNvSpPr txBox="1"/>
            <p:nvPr/>
          </p:nvSpPr>
          <p:spPr>
            <a:xfrm>
              <a:off x="4602927" y="28455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60" name="TextBox 60"/>
            <p:cNvSpPr txBox="1"/>
            <p:nvPr/>
          </p:nvSpPr>
          <p:spPr>
            <a:xfrm>
              <a:off x="5269677" y="28455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61" name="TextBox 61"/>
            <p:cNvSpPr txBox="1"/>
            <p:nvPr/>
          </p:nvSpPr>
          <p:spPr>
            <a:xfrm>
              <a:off x="5937380" y="28455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62" name="TextBox 62"/>
            <p:cNvSpPr txBox="1"/>
            <p:nvPr/>
          </p:nvSpPr>
          <p:spPr>
            <a:xfrm>
              <a:off x="6605082" y="28455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63" name="TextBox 63"/>
            <p:cNvSpPr txBox="1"/>
            <p:nvPr/>
          </p:nvSpPr>
          <p:spPr>
            <a:xfrm>
              <a:off x="7272785" y="28455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64" name="TextBox 64"/>
            <p:cNvSpPr txBox="1"/>
            <p:nvPr/>
          </p:nvSpPr>
          <p:spPr>
            <a:xfrm>
              <a:off x="7940487" y="28455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65" name="TextBox 65"/>
            <p:cNvSpPr txBox="1"/>
            <p:nvPr/>
          </p:nvSpPr>
          <p:spPr>
            <a:xfrm>
              <a:off x="8607237" y="28455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66" name="TextBox 66"/>
            <p:cNvSpPr txBox="1"/>
            <p:nvPr/>
          </p:nvSpPr>
          <p:spPr>
            <a:xfrm>
              <a:off x="9272593" y="28455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67" name="TextBox 67"/>
            <p:cNvSpPr txBox="1"/>
            <p:nvPr/>
          </p:nvSpPr>
          <p:spPr>
            <a:xfrm>
              <a:off x="9940295" y="28455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68" name="TextBox 68"/>
            <p:cNvSpPr txBox="1"/>
            <p:nvPr/>
          </p:nvSpPr>
          <p:spPr>
            <a:xfrm>
              <a:off x="10610345" y="28455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69" name="TextBox 69"/>
            <p:cNvSpPr txBox="1"/>
            <p:nvPr/>
          </p:nvSpPr>
          <p:spPr>
            <a:xfrm>
              <a:off x="11278047" y="28455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70" name="Rectangle 70"/>
            <p:cNvSpPr/>
            <p:nvPr/>
          </p:nvSpPr>
          <p:spPr>
            <a:xfrm>
              <a:off x="533400" y="3119438"/>
              <a:ext cx="11125200" cy="9525"/>
            </a:xfrm>
            <a:prstGeom prst="rect">
              <a:avLst/>
            </a:prstGeom>
            <a:solidFill>
              <a:srgbClr val="D9DFEA"/>
            </a:solidFill>
            <a:ln>
              <a:noFill/>
            </a:ln>
          </p:spPr>
        </p:sp>
        <p:sp>
          <p:nvSpPr>
            <p:cNvPr id="71" name="TextBox 71"/>
            <p:cNvSpPr txBox="1"/>
            <p:nvPr/>
          </p:nvSpPr>
          <p:spPr>
            <a:xfrm>
              <a:off x="630555" y="3245644"/>
              <a:ext cx="9850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e</a:t>
              </a:r>
            </a:p>
          </p:txBody>
        </p:sp>
        <p:sp>
          <p:nvSpPr>
            <p:cNvPr id="72" name="TextBox 72"/>
            <p:cNvSpPr txBox="1"/>
            <p:nvPr/>
          </p:nvSpPr>
          <p:spPr>
            <a:xfrm>
              <a:off x="2599820" y="32456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73" name="TextBox 73"/>
            <p:cNvSpPr txBox="1"/>
            <p:nvPr/>
          </p:nvSpPr>
          <p:spPr>
            <a:xfrm>
              <a:off x="3267522" y="32456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74" name="TextBox 74"/>
            <p:cNvSpPr txBox="1"/>
            <p:nvPr/>
          </p:nvSpPr>
          <p:spPr>
            <a:xfrm>
              <a:off x="3935225" y="32456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75" name="TextBox 75"/>
            <p:cNvSpPr txBox="1"/>
            <p:nvPr/>
          </p:nvSpPr>
          <p:spPr>
            <a:xfrm>
              <a:off x="4602927" y="32456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76" name="TextBox 76"/>
            <p:cNvSpPr txBox="1"/>
            <p:nvPr/>
          </p:nvSpPr>
          <p:spPr>
            <a:xfrm>
              <a:off x="5269677" y="32456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77" name="TextBox 77"/>
            <p:cNvSpPr txBox="1"/>
            <p:nvPr/>
          </p:nvSpPr>
          <p:spPr>
            <a:xfrm>
              <a:off x="5937380" y="32456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78" name="TextBox 78"/>
            <p:cNvSpPr txBox="1"/>
            <p:nvPr/>
          </p:nvSpPr>
          <p:spPr>
            <a:xfrm>
              <a:off x="6605082" y="32456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79" name="TextBox 79"/>
            <p:cNvSpPr txBox="1"/>
            <p:nvPr/>
          </p:nvSpPr>
          <p:spPr>
            <a:xfrm>
              <a:off x="7272785" y="32456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80" name="TextBox 80"/>
            <p:cNvSpPr txBox="1"/>
            <p:nvPr/>
          </p:nvSpPr>
          <p:spPr>
            <a:xfrm>
              <a:off x="7940487" y="32456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81" name="TextBox 81"/>
            <p:cNvSpPr txBox="1"/>
            <p:nvPr/>
          </p:nvSpPr>
          <p:spPr>
            <a:xfrm>
              <a:off x="8607237" y="32456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82" name="TextBox 82"/>
            <p:cNvSpPr txBox="1"/>
            <p:nvPr/>
          </p:nvSpPr>
          <p:spPr>
            <a:xfrm>
              <a:off x="9274940" y="32456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83" name="TextBox 83"/>
            <p:cNvSpPr txBox="1"/>
            <p:nvPr/>
          </p:nvSpPr>
          <p:spPr>
            <a:xfrm>
              <a:off x="9942642" y="32456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84" name="TextBox 84"/>
            <p:cNvSpPr txBox="1"/>
            <p:nvPr/>
          </p:nvSpPr>
          <p:spPr>
            <a:xfrm>
              <a:off x="10607998" y="32456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85" name="TextBox 85"/>
            <p:cNvSpPr txBox="1"/>
            <p:nvPr/>
          </p:nvSpPr>
          <p:spPr>
            <a:xfrm>
              <a:off x="11275700" y="32456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86" name="Rectangle 86"/>
            <p:cNvSpPr/>
            <p:nvPr/>
          </p:nvSpPr>
          <p:spPr>
            <a:xfrm>
              <a:off x="533400" y="3519488"/>
              <a:ext cx="11125200" cy="9525"/>
            </a:xfrm>
            <a:prstGeom prst="rect">
              <a:avLst/>
            </a:prstGeom>
            <a:solidFill>
              <a:srgbClr val="D9DFEA"/>
            </a:solidFill>
            <a:ln>
              <a:noFill/>
            </a:ln>
          </p:spPr>
        </p:sp>
        <p:sp>
          <p:nvSpPr>
            <p:cNvPr id="87" name="TextBox 87"/>
            <p:cNvSpPr txBox="1"/>
            <p:nvPr/>
          </p:nvSpPr>
          <p:spPr>
            <a:xfrm>
              <a:off x="630555" y="3645694"/>
              <a:ext cx="9850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f</a:t>
              </a:r>
            </a:p>
          </p:txBody>
        </p:sp>
        <p:sp>
          <p:nvSpPr>
            <p:cNvPr id="88" name="TextBox 88"/>
            <p:cNvSpPr txBox="1"/>
            <p:nvPr/>
          </p:nvSpPr>
          <p:spPr>
            <a:xfrm>
              <a:off x="2597473" y="36456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89" name="TextBox 89"/>
            <p:cNvSpPr txBox="1"/>
            <p:nvPr/>
          </p:nvSpPr>
          <p:spPr>
            <a:xfrm>
              <a:off x="3265175" y="36456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90" name="TextBox 90"/>
            <p:cNvSpPr txBox="1"/>
            <p:nvPr/>
          </p:nvSpPr>
          <p:spPr>
            <a:xfrm>
              <a:off x="3932878" y="36456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91" name="TextBox 91"/>
            <p:cNvSpPr txBox="1"/>
            <p:nvPr/>
          </p:nvSpPr>
          <p:spPr>
            <a:xfrm>
              <a:off x="4600580" y="36456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92" name="TextBox 92"/>
            <p:cNvSpPr txBox="1"/>
            <p:nvPr/>
          </p:nvSpPr>
          <p:spPr>
            <a:xfrm>
              <a:off x="5267330" y="36456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93" name="TextBox 93"/>
            <p:cNvSpPr txBox="1"/>
            <p:nvPr/>
          </p:nvSpPr>
          <p:spPr>
            <a:xfrm>
              <a:off x="5937380" y="36456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94" name="TextBox 94"/>
            <p:cNvSpPr txBox="1"/>
            <p:nvPr/>
          </p:nvSpPr>
          <p:spPr>
            <a:xfrm>
              <a:off x="6605082" y="36456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95" name="TextBox 95"/>
            <p:cNvSpPr txBox="1"/>
            <p:nvPr/>
          </p:nvSpPr>
          <p:spPr>
            <a:xfrm>
              <a:off x="7272785" y="36456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96" name="TextBox 96"/>
            <p:cNvSpPr txBox="1"/>
            <p:nvPr/>
          </p:nvSpPr>
          <p:spPr>
            <a:xfrm>
              <a:off x="7940487" y="36456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97" name="TextBox 97"/>
            <p:cNvSpPr txBox="1"/>
            <p:nvPr/>
          </p:nvSpPr>
          <p:spPr>
            <a:xfrm>
              <a:off x="8607237" y="36456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98" name="TextBox 98"/>
            <p:cNvSpPr txBox="1"/>
            <p:nvPr/>
          </p:nvSpPr>
          <p:spPr>
            <a:xfrm>
              <a:off x="9274940" y="36456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99" name="TextBox 99"/>
            <p:cNvSpPr txBox="1"/>
            <p:nvPr/>
          </p:nvSpPr>
          <p:spPr>
            <a:xfrm>
              <a:off x="9942642" y="36456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00" name="TextBox 100"/>
            <p:cNvSpPr txBox="1"/>
            <p:nvPr/>
          </p:nvSpPr>
          <p:spPr>
            <a:xfrm>
              <a:off x="10610345" y="36456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01" name="TextBox 101"/>
            <p:cNvSpPr txBox="1"/>
            <p:nvPr/>
          </p:nvSpPr>
          <p:spPr>
            <a:xfrm>
              <a:off x="11278047" y="36456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02" name="Rectangle 102"/>
            <p:cNvSpPr/>
            <p:nvPr/>
          </p:nvSpPr>
          <p:spPr>
            <a:xfrm>
              <a:off x="533400" y="3919538"/>
              <a:ext cx="11125200" cy="9525"/>
            </a:xfrm>
            <a:prstGeom prst="rect">
              <a:avLst/>
            </a:prstGeom>
            <a:solidFill>
              <a:srgbClr val="D9DFEA"/>
            </a:solidFill>
            <a:ln>
              <a:noFill/>
            </a:ln>
          </p:spPr>
        </p:sp>
        <p:sp>
          <p:nvSpPr>
            <p:cNvPr id="103" name="TextBox 103"/>
            <p:cNvSpPr txBox="1"/>
            <p:nvPr/>
          </p:nvSpPr>
          <p:spPr>
            <a:xfrm>
              <a:off x="630555" y="4045744"/>
              <a:ext cx="9850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g</a:t>
              </a:r>
            </a:p>
          </p:txBody>
        </p:sp>
        <p:sp>
          <p:nvSpPr>
            <p:cNvPr id="104" name="TextBox 104"/>
            <p:cNvSpPr txBox="1"/>
            <p:nvPr/>
          </p:nvSpPr>
          <p:spPr>
            <a:xfrm>
              <a:off x="2599820" y="40457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05" name="TextBox 105"/>
            <p:cNvSpPr txBox="1"/>
            <p:nvPr/>
          </p:nvSpPr>
          <p:spPr>
            <a:xfrm>
              <a:off x="3267522" y="40457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06" name="TextBox 106"/>
            <p:cNvSpPr txBox="1"/>
            <p:nvPr/>
          </p:nvSpPr>
          <p:spPr>
            <a:xfrm>
              <a:off x="3935225" y="40457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07" name="TextBox 107"/>
            <p:cNvSpPr txBox="1"/>
            <p:nvPr/>
          </p:nvSpPr>
          <p:spPr>
            <a:xfrm>
              <a:off x="4600580" y="40457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108" name="TextBox 108"/>
            <p:cNvSpPr txBox="1"/>
            <p:nvPr/>
          </p:nvSpPr>
          <p:spPr>
            <a:xfrm>
              <a:off x="5267330" y="40457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109" name="TextBox 109"/>
            <p:cNvSpPr txBox="1"/>
            <p:nvPr/>
          </p:nvSpPr>
          <p:spPr>
            <a:xfrm>
              <a:off x="5937380" y="40457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10" name="TextBox 110"/>
            <p:cNvSpPr txBox="1"/>
            <p:nvPr/>
          </p:nvSpPr>
          <p:spPr>
            <a:xfrm>
              <a:off x="6605082" y="40457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11" name="TextBox 111"/>
            <p:cNvSpPr txBox="1"/>
            <p:nvPr/>
          </p:nvSpPr>
          <p:spPr>
            <a:xfrm>
              <a:off x="7272785" y="40457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12" name="TextBox 112"/>
            <p:cNvSpPr txBox="1"/>
            <p:nvPr/>
          </p:nvSpPr>
          <p:spPr>
            <a:xfrm>
              <a:off x="7940487" y="40457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13" name="TextBox 113"/>
            <p:cNvSpPr txBox="1"/>
            <p:nvPr/>
          </p:nvSpPr>
          <p:spPr>
            <a:xfrm>
              <a:off x="8607237" y="40457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14" name="TextBox 114"/>
            <p:cNvSpPr txBox="1"/>
            <p:nvPr/>
          </p:nvSpPr>
          <p:spPr>
            <a:xfrm>
              <a:off x="9274940" y="40457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15" name="TextBox 115"/>
            <p:cNvSpPr txBox="1"/>
            <p:nvPr/>
          </p:nvSpPr>
          <p:spPr>
            <a:xfrm>
              <a:off x="9942642" y="40457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16" name="TextBox 116"/>
            <p:cNvSpPr txBox="1"/>
            <p:nvPr/>
          </p:nvSpPr>
          <p:spPr>
            <a:xfrm>
              <a:off x="10610345" y="40457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17" name="TextBox 117"/>
            <p:cNvSpPr txBox="1"/>
            <p:nvPr/>
          </p:nvSpPr>
          <p:spPr>
            <a:xfrm>
              <a:off x="11278047" y="40457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18" name="Rectangle 118"/>
            <p:cNvSpPr/>
            <p:nvPr/>
          </p:nvSpPr>
          <p:spPr>
            <a:xfrm>
              <a:off x="533400" y="4319588"/>
              <a:ext cx="11125200" cy="9525"/>
            </a:xfrm>
            <a:prstGeom prst="rect">
              <a:avLst/>
            </a:prstGeom>
            <a:solidFill>
              <a:srgbClr val="D9DFEA"/>
            </a:solidFill>
            <a:ln>
              <a:noFill/>
            </a:ln>
          </p:spPr>
        </p:sp>
        <p:sp>
          <p:nvSpPr>
            <p:cNvPr id="119" name="TextBox 119"/>
            <p:cNvSpPr txBox="1"/>
            <p:nvPr/>
          </p:nvSpPr>
          <p:spPr>
            <a:xfrm>
              <a:off x="630555" y="4445794"/>
              <a:ext cx="98502"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h</a:t>
              </a:r>
            </a:p>
          </p:txBody>
        </p:sp>
        <p:sp>
          <p:nvSpPr>
            <p:cNvPr id="120" name="TextBox 120"/>
            <p:cNvSpPr txBox="1"/>
            <p:nvPr/>
          </p:nvSpPr>
          <p:spPr>
            <a:xfrm>
              <a:off x="2599820" y="44457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21" name="TextBox 121"/>
            <p:cNvSpPr txBox="1"/>
            <p:nvPr/>
          </p:nvSpPr>
          <p:spPr>
            <a:xfrm>
              <a:off x="3267522" y="44457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22" name="TextBox 122"/>
            <p:cNvSpPr txBox="1"/>
            <p:nvPr/>
          </p:nvSpPr>
          <p:spPr>
            <a:xfrm>
              <a:off x="3935225" y="44457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23" name="TextBox 123"/>
            <p:cNvSpPr txBox="1"/>
            <p:nvPr/>
          </p:nvSpPr>
          <p:spPr>
            <a:xfrm>
              <a:off x="4600580" y="44457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124" name="TextBox 124"/>
            <p:cNvSpPr txBox="1"/>
            <p:nvPr/>
          </p:nvSpPr>
          <p:spPr>
            <a:xfrm>
              <a:off x="5267330" y="44457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125" name="TextBox 125"/>
            <p:cNvSpPr txBox="1"/>
            <p:nvPr/>
          </p:nvSpPr>
          <p:spPr>
            <a:xfrm>
              <a:off x="5937380" y="44457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26" name="TextBox 126"/>
            <p:cNvSpPr txBox="1"/>
            <p:nvPr/>
          </p:nvSpPr>
          <p:spPr>
            <a:xfrm>
              <a:off x="6605082" y="44457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27" name="TextBox 127"/>
            <p:cNvSpPr txBox="1"/>
            <p:nvPr/>
          </p:nvSpPr>
          <p:spPr>
            <a:xfrm>
              <a:off x="7272785" y="44457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28" name="TextBox 128"/>
            <p:cNvSpPr txBox="1"/>
            <p:nvPr/>
          </p:nvSpPr>
          <p:spPr>
            <a:xfrm>
              <a:off x="7940487" y="44457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29" name="TextBox 129"/>
            <p:cNvSpPr txBox="1"/>
            <p:nvPr/>
          </p:nvSpPr>
          <p:spPr>
            <a:xfrm>
              <a:off x="8607237" y="44457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30" name="TextBox 130"/>
            <p:cNvSpPr txBox="1"/>
            <p:nvPr/>
          </p:nvSpPr>
          <p:spPr>
            <a:xfrm>
              <a:off x="9274940" y="44457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31" name="TextBox 131"/>
            <p:cNvSpPr txBox="1"/>
            <p:nvPr/>
          </p:nvSpPr>
          <p:spPr>
            <a:xfrm>
              <a:off x="9942642" y="44457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32" name="TextBox 132"/>
            <p:cNvSpPr txBox="1"/>
            <p:nvPr/>
          </p:nvSpPr>
          <p:spPr>
            <a:xfrm>
              <a:off x="10610345" y="44457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33" name="TextBox 133"/>
            <p:cNvSpPr txBox="1"/>
            <p:nvPr/>
          </p:nvSpPr>
          <p:spPr>
            <a:xfrm>
              <a:off x="11278047" y="44457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34" name="Rectangle 134"/>
            <p:cNvSpPr/>
            <p:nvPr/>
          </p:nvSpPr>
          <p:spPr>
            <a:xfrm>
              <a:off x="533400" y="4719638"/>
              <a:ext cx="11125200" cy="9525"/>
            </a:xfrm>
            <a:prstGeom prst="rect">
              <a:avLst/>
            </a:prstGeom>
            <a:solidFill>
              <a:srgbClr val="D9DFEA"/>
            </a:solidFill>
            <a:ln>
              <a:noFill/>
            </a:ln>
          </p:spPr>
        </p:sp>
        <p:sp>
          <p:nvSpPr>
            <p:cNvPr id="135" name="TextBox 135"/>
            <p:cNvSpPr txBox="1"/>
            <p:nvPr/>
          </p:nvSpPr>
          <p:spPr>
            <a:xfrm>
              <a:off x="630555" y="4845844"/>
              <a:ext cx="58924"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i</a:t>
              </a:r>
            </a:p>
          </p:txBody>
        </p:sp>
        <p:sp>
          <p:nvSpPr>
            <p:cNvPr id="136" name="TextBox 136"/>
            <p:cNvSpPr txBox="1"/>
            <p:nvPr/>
          </p:nvSpPr>
          <p:spPr>
            <a:xfrm>
              <a:off x="2597473" y="48458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137" name="TextBox 137"/>
            <p:cNvSpPr txBox="1"/>
            <p:nvPr/>
          </p:nvSpPr>
          <p:spPr>
            <a:xfrm>
              <a:off x="3265175" y="48458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138" name="TextBox 138"/>
            <p:cNvSpPr txBox="1"/>
            <p:nvPr/>
          </p:nvSpPr>
          <p:spPr>
            <a:xfrm>
              <a:off x="3932878" y="484584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139" name="TextBox 139"/>
            <p:cNvSpPr txBox="1"/>
            <p:nvPr/>
          </p:nvSpPr>
          <p:spPr>
            <a:xfrm>
              <a:off x="4602927" y="48458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40" name="TextBox 140"/>
            <p:cNvSpPr txBox="1"/>
            <p:nvPr/>
          </p:nvSpPr>
          <p:spPr>
            <a:xfrm>
              <a:off x="5269677" y="48458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41" name="TextBox 141"/>
            <p:cNvSpPr txBox="1"/>
            <p:nvPr/>
          </p:nvSpPr>
          <p:spPr>
            <a:xfrm>
              <a:off x="5937380" y="48458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42" name="TextBox 142"/>
            <p:cNvSpPr txBox="1"/>
            <p:nvPr/>
          </p:nvSpPr>
          <p:spPr>
            <a:xfrm>
              <a:off x="6605082" y="48458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43" name="TextBox 143"/>
            <p:cNvSpPr txBox="1"/>
            <p:nvPr/>
          </p:nvSpPr>
          <p:spPr>
            <a:xfrm>
              <a:off x="7272785" y="48458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44" name="TextBox 144"/>
            <p:cNvSpPr txBox="1"/>
            <p:nvPr/>
          </p:nvSpPr>
          <p:spPr>
            <a:xfrm>
              <a:off x="7940487" y="48458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45" name="TextBox 145"/>
            <p:cNvSpPr txBox="1"/>
            <p:nvPr/>
          </p:nvSpPr>
          <p:spPr>
            <a:xfrm>
              <a:off x="8607237" y="48458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46" name="TextBox 146"/>
            <p:cNvSpPr txBox="1"/>
            <p:nvPr/>
          </p:nvSpPr>
          <p:spPr>
            <a:xfrm>
              <a:off x="9274940" y="48458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47" name="TextBox 147"/>
            <p:cNvSpPr txBox="1"/>
            <p:nvPr/>
          </p:nvSpPr>
          <p:spPr>
            <a:xfrm>
              <a:off x="9942642" y="48458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48" name="TextBox 148"/>
            <p:cNvSpPr txBox="1"/>
            <p:nvPr/>
          </p:nvSpPr>
          <p:spPr>
            <a:xfrm>
              <a:off x="10610345" y="48458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49" name="TextBox 149"/>
            <p:cNvSpPr txBox="1"/>
            <p:nvPr/>
          </p:nvSpPr>
          <p:spPr>
            <a:xfrm>
              <a:off x="11278047" y="48458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50" name="Rectangle 150"/>
            <p:cNvSpPr/>
            <p:nvPr/>
          </p:nvSpPr>
          <p:spPr>
            <a:xfrm>
              <a:off x="533400" y="5119688"/>
              <a:ext cx="11125200" cy="9525"/>
            </a:xfrm>
            <a:prstGeom prst="rect">
              <a:avLst/>
            </a:prstGeom>
            <a:solidFill>
              <a:srgbClr val="D9DFEA"/>
            </a:solidFill>
            <a:ln>
              <a:noFill/>
            </a:ln>
          </p:spPr>
        </p:sp>
        <p:sp>
          <p:nvSpPr>
            <p:cNvPr id="151" name="TextBox 151"/>
            <p:cNvSpPr txBox="1"/>
            <p:nvPr/>
          </p:nvSpPr>
          <p:spPr>
            <a:xfrm>
              <a:off x="630555" y="5245894"/>
              <a:ext cx="58924"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j</a:t>
              </a:r>
            </a:p>
          </p:txBody>
        </p:sp>
        <p:sp>
          <p:nvSpPr>
            <p:cNvPr id="152" name="TextBox 152"/>
            <p:cNvSpPr txBox="1"/>
            <p:nvPr/>
          </p:nvSpPr>
          <p:spPr>
            <a:xfrm>
              <a:off x="2597473" y="52458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153" name="TextBox 153"/>
            <p:cNvSpPr txBox="1"/>
            <p:nvPr/>
          </p:nvSpPr>
          <p:spPr>
            <a:xfrm>
              <a:off x="3267522" y="52458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54" name="TextBox 154"/>
            <p:cNvSpPr txBox="1"/>
            <p:nvPr/>
          </p:nvSpPr>
          <p:spPr>
            <a:xfrm>
              <a:off x="3935225" y="52458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55" name="TextBox 155"/>
            <p:cNvSpPr txBox="1"/>
            <p:nvPr/>
          </p:nvSpPr>
          <p:spPr>
            <a:xfrm>
              <a:off x="4600580" y="52458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156" name="TextBox 156"/>
            <p:cNvSpPr txBox="1"/>
            <p:nvPr/>
          </p:nvSpPr>
          <p:spPr>
            <a:xfrm>
              <a:off x="5269677" y="52458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57" name="TextBox 157"/>
            <p:cNvSpPr txBox="1"/>
            <p:nvPr/>
          </p:nvSpPr>
          <p:spPr>
            <a:xfrm>
              <a:off x="5937380" y="52458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58" name="TextBox 158"/>
            <p:cNvSpPr txBox="1"/>
            <p:nvPr/>
          </p:nvSpPr>
          <p:spPr>
            <a:xfrm>
              <a:off x="6602735" y="52458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159" name="TextBox 159"/>
            <p:cNvSpPr txBox="1"/>
            <p:nvPr/>
          </p:nvSpPr>
          <p:spPr>
            <a:xfrm>
              <a:off x="7272785" y="52458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60" name="TextBox 160"/>
            <p:cNvSpPr txBox="1"/>
            <p:nvPr/>
          </p:nvSpPr>
          <p:spPr>
            <a:xfrm>
              <a:off x="7940487" y="52458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61" name="TextBox 161"/>
            <p:cNvSpPr txBox="1"/>
            <p:nvPr/>
          </p:nvSpPr>
          <p:spPr>
            <a:xfrm>
              <a:off x="8604890" y="52458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162" name="TextBox 162"/>
            <p:cNvSpPr txBox="1"/>
            <p:nvPr/>
          </p:nvSpPr>
          <p:spPr>
            <a:xfrm>
              <a:off x="9272593" y="52458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163" name="TextBox 163"/>
            <p:cNvSpPr txBox="1"/>
            <p:nvPr/>
          </p:nvSpPr>
          <p:spPr>
            <a:xfrm>
              <a:off x="9942642" y="52458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64" name="TextBox 164"/>
            <p:cNvSpPr txBox="1"/>
            <p:nvPr/>
          </p:nvSpPr>
          <p:spPr>
            <a:xfrm>
              <a:off x="10607998" y="524589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a:t>
              </a:r>
            </a:p>
          </p:txBody>
        </p:sp>
        <p:sp>
          <p:nvSpPr>
            <p:cNvPr id="165" name="TextBox 165"/>
            <p:cNvSpPr txBox="1"/>
            <p:nvPr/>
          </p:nvSpPr>
          <p:spPr>
            <a:xfrm>
              <a:off x="11278047" y="52458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66" name="Rectangle 166"/>
            <p:cNvSpPr/>
            <p:nvPr/>
          </p:nvSpPr>
          <p:spPr>
            <a:xfrm>
              <a:off x="533400" y="1524000"/>
              <a:ext cx="11125200" cy="4000500"/>
            </a:xfrm>
            <a:prstGeom prst="rect">
              <a:avLst/>
            </a:prstGeom>
            <a:noFill/>
            <a:ln w="14288">
              <a:solidFill>
                <a:srgbClr val="D9DFEA"/>
              </a:solidFill>
            </a:ln>
          </p:spPr>
        </p:sp>
        <p:sp>
          <p:nvSpPr>
            <p:cNvPr id="167" name="Rectangle 167"/>
            <p:cNvSpPr/>
            <p:nvPr/>
          </p:nvSpPr>
          <p:spPr>
            <a:xfrm>
              <a:off x="2308860" y="1524000"/>
              <a:ext cx="9525" cy="4000500"/>
            </a:xfrm>
            <a:prstGeom prst="rect">
              <a:avLst/>
            </a:prstGeom>
            <a:solidFill>
              <a:srgbClr val="D9DFEA"/>
            </a:solidFill>
            <a:ln>
              <a:noFill/>
            </a:ln>
          </p:spPr>
        </p:sp>
        <p:sp>
          <p:nvSpPr>
            <p:cNvPr id="168" name="Rectangle 168"/>
            <p:cNvSpPr/>
            <p:nvPr/>
          </p:nvSpPr>
          <p:spPr>
            <a:xfrm>
              <a:off x="2976562" y="1524000"/>
              <a:ext cx="9525" cy="4000500"/>
            </a:xfrm>
            <a:prstGeom prst="rect">
              <a:avLst/>
            </a:prstGeom>
            <a:solidFill>
              <a:srgbClr val="D9DFEA"/>
            </a:solidFill>
            <a:ln>
              <a:noFill/>
            </a:ln>
          </p:spPr>
        </p:sp>
        <p:sp>
          <p:nvSpPr>
            <p:cNvPr id="169" name="Rectangle 169"/>
            <p:cNvSpPr/>
            <p:nvPr/>
          </p:nvSpPr>
          <p:spPr>
            <a:xfrm>
              <a:off x="3643312" y="1524000"/>
              <a:ext cx="9525" cy="4000500"/>
            </a:xfrm>
            <a:prstGeom prst="rect">
              <a:avLst/>
            </a:prstGeom>
            <a:solidFill>
              <a:srgbClr val="D9DFEA"/>
            </a:solidFill>
            <a:ln>
              <a:noFill/>
            </a:ln>
          </p:spPr>
        </p:sp>
        <p:sp>
          <p:nvSpPr>
            <p:cNvPr id="170" name="Rectangle 170"/>
            <p:cNvSpPr/>
            <p:nvPr/>
          </p:nvSpPr>
          <p:spPr>
            <a:xfrm>
              <a:off x="4311015" y="1524000"/>
              <a:ext cx="9525" cy="4000500"/>
            </a:xfrm>
            <a:prstGeom prst="rect">
              <a:avLst/>
            </a:prstGeom>
            <a:solidFill>
              <a:srgbClr val="D9DFEA"/>
            </a:solidFill>
            <a:ln>
              <a:noFill/>
            </a:ln>
          </p:spPr>
        </p:sp>
        <p:sp>
          <p:nvSpPr>
            <p:cNvPr id="171" name="Rectangle 171"/>
            <p:cNvSpPr/>
            <p:nvPr/>
          </p:nvSpPr>
          <p:spPr>
            <a:xfrm>
              <a:off x="4978718" y="1524000"/>
              <a:ext cx="9525" cy="4000500"/>
            </a:xfrm>
            <a:prstGeom prst="rect">
              <a:avLst/>
            </a:prstGeom>
            <a:solidFill>
              <a:srgbClr val="D9DFEA"/>
            </a:solidFill>
            <a:ln>
              <a:noFill/>
            </a:ln>
          </p:spPr>
        </p:sp>
        <p:sp>
          <p:nvSpPr>
            <p:cNvPr id="172" name="Rectangle 172"/>
            <p:cNvSpPr/>
            <p:nvPr/>
          </p:nvSpPr>
          <p:spPr>
            <a:xfrm>
              <a:off x="5646420" y="1524000"/>
              <a:ext cx="9525" cy="4000500"/>
            </a:xfrm>
            <a:prstGeom prst="rect">
              <a:avLst/>
            </a:prstGeom>
            <a:solidFill>
              <a:srgbClr val="D9DFEA"/>
            </a:solidFill>
            <a:ln>
              <a:noFill/>
            </a:ln>
          </p:spPr>
        </p:sp>
        <p:sp>
          <p:nvSpPr>
            <p:cNvPr id="173" name="Rectangle 173"/>
            <p:cNvSpPr/>
            <p:nvPr/>
          </p:nvSpPr>
          <p:spPr>
            <a:xfrm>
              <a:off x="6314122" y="1524000"/>
              <a:ext cx="9525" cy="4000500"/>
            </a:xfrm>
            <a:prstGeom prst="rect">
              <a:avLst/>
            </a:prstGeom>
            <a:solidFill>
              <a:srgbClr val="D9DFEA"/>
            </a:solidFill>
            <a:ln>
              <a:noFill/>
            </a:ln>
          </p:spPr>
        </p:sp>
        <p:sp>
          <p:nvSpPr>
            <p:cNvPr id="174" name="Rectangle 174"/>
            <p:cNvSpPr/>
            <p:nvPr/>
          </p:nvSpPr>
          <p:spPr>
            <a:xfrm>
              <a:off x="6980872" y="1524000"/>
              <a:ext cx="9525" cy="4000500"/>
            </a:xfrm>
            <a:prstGeom prst="rect">
              <a:avLst/>
            </a:prstGeom>
            <a:solidFill>
              <a:srgbClr val="D9DFEA"/>
            </a:solidFill>
            <a:ln>
              <a:noFill/>
            </a:ln>
          </p:spPr>
        </p:sp>
        <p:sp>
          <p:nvSpPr>
            <p:cNvPr id="175" name="Rectangle 175"/>
            <p:cNvSpPr/>
            <p:nvPr/>
          </p:nvSpPr>
          <p:spPr>
            <a:xfrm>
              <a:off x="7648575" y="1524000"/>
              <a:ext cx="9525" cy="4000500"/>
            </a:xfrm>
            <a:prstGeom prst="rect">
              <a:avLst/>
            </a:prstGeom>
            <a:solidFill>
              <a:srgbClr val="D9DFEA"/>
            </a:solidFill>
            <a:ln>
              <a:noFill/>
            </a:ln>
          </p:spPr>
        </p:sp>
        <p:sp>
          <p:nvSpPr>
            <p:cNvPr id="176" name="Rectangle 176"/>
            <p:cNvSpPr/>
            <p:nvPr/>
          </p:nvSpPr>
          <p:spPr>
            <a:xfrm>
              <a:off x="8316278" y="1524000"/>
              <a:ext cx="9525" cy="4000500"/>
            </a:xfrm>
            <a:prstGeom prst="rect">
              <a:avLst/>
            </a:prstGeom>
            <a:solidFill>
              <a:srgbClr val="D9DFEA"/>
            </a:solidFill>
            <a:ln>
              <a:noFill/>
            </a:ln>
          </p:spPr>
        </p:sp>
        <p:sp>
          <p:nvSpPr>
            <p:cNvPr id="177" name="Rectangle 177"/>
            <p:cNvSpPr/>
            <p:nvPr/>
          </p:nvSpPr>
          <p:spPr>
            <a:xfrm>
              <a:off x="8983980" y="1524000"/>
              <a:ext cx="9525" cy="4000500"/>
            </a:xfrm>
            <a:prstGeom prst="rect">
              <a:avLst/>
            </a:prstGeom>
            <a:solidFill>
              <a:srgbClr val="D9DFEA"/>
            </a:solidFill>
            <a:ln>
              <a:noFill/>
            </a:ln>
          </p:spPr>
        </p:sp>
        <p:sp>
          <p:nvSpPr>
            <p:cNvPr id="178" name="Rectangle 178"/>
            <p:cNvSpPr/>
            <p:nvPr/>
          </p:nvSpPr>
          <p:spPr>
            <a:xfrm>
              <a:off x="9651682" y="1524000"/>
              <a:ext cx="9525" cy="4000500"/>
            </a:xfrm>
            <a:prstGeom prst="rect">
              <a:avLst/>
            </a:prstGeom>
            <a:solidFill>
              <a:srgbClr val="D9DFEA"/>
            </a:solidFill>
            <a:ln>
              <a:noFill/>
            </a:ln>
          </p:spPr>
        </p:sp>
        <p:sp>
          <p:nvSpPr>
            <p:cNvPr id="179" name="Rectangle 179"/>
            <p:cNvSpPr/>
            <p:nvPr/>
          </p:nvSpPr>
          <p:spPr>
            <a:xfrm>
              <a:off x="10318432" y="1524000"/>
              <a:ext cx="9525" cy="4000500"/>
            </a:xfrm>
            <a:prstGeom prst="rect">
              <a:avLst/>
            </a:prstGeom>
            <a:solidFill>
              <a:srgbClr val="D9DFEA"/>
            </a:solidFill>
            <a:ln>
              <a:noFill/>
            </a:ln>
          </p:spPr>
        </p:sp>
        <p:sp>
          <p:nvSpPr>
            <p:cNvPr id="180" name="Rectangle 180"/>
            <p:cNvSpPr/>
            <p:nvPr/>
          </p:nvSpPr>
          <p:spPr>
            <a:xfrm>
              <a:off x="10986135" y="1524000"/>
              <a:ext cx="9525" cy="4000500"/>
            </a:xfrm>
            <a:prstGeom prst="rect">
              <a:avLst/>
            </a:prstGeom>
            <a:solidFill>
              <a:srgbClr val="D9DFEA"/>
            </a:solidFill>
            <a:ln>
              <a:noFill/>
            </a:ln>
          </p:spPr>
        </p:sp>
      </p:grpSp>
      <p:grpSp>
        <p:nvGrpSpPr>
          <p:cNvPr id="188" name="takeaway"/>
          <p:cNvGrpSpPr/>
          <p:nvPr/>
        </p:nvGrpSpPr>
        <p:grpSpPr>
          <a:xfrm>
            <a:off x="533400" y="5881688"/>
            <a:ext cx="11125200" cy="481012"/>
            <a:chOff x="533400" y="5881688"/>
            <a:chExt cx="11125200" cy="481012"/>
          </a:xfrm>
        </p:grpSpPr>
        <p:sp>
          <p:nvSpPr>
            <p:cNvPr id="182" name="Rectangle 182"/>
            <p:cNvSpPr/>
            <p:nvPr/>
          </p:nvSpPr>
          <p:spPr>
            <a:xfrm>
              <a:off x="533400" y="5881688"/>
              <a:ext cx="11125200" cy="481012"/>
            </a:xfrm>
            <a:prstGeom prst="roundRect">
              <a:avLst>
                <a:gd name="adj" fmla="val 23762"/>
              </a:avLst>
            </a:prstGeom>
            <a:solidFill>
              <a:srgbClr val="FDECEA"/>
            </a:solidFill>
            <a:ln>
              <a:noFill/>
            </a:ln>
          </p:spPr>
        </p:sp>
        <p:grpSp>
          <p:nvGrpSpPr>
            <p:cNvPr id="186" name="Group 186"/>
            <p:cNvGrpSpPr/>
            <p:nvPr/>
          </p:nvGrpSpPr>
          <p:grpSpPr>
            <a:xfrm>
              <a:off x="726129" y="6018966"/>
              <a:ext cx="224134" cy="192560"/>
              <a:chOff x="726129" y="6018966"/>
              <a:chExt cx="224134" cy="192560"/>
            </a:xfrm>
          </p:grpSpPr>
          <p:sp>
            <p:nvSpPr>
              <p:cNvPr id="183" name="Freeform 183"/>
              <p:cNvSpPr/>
              <p:nvPr/>
            </p:nvSpPr>
            <p:spPr>
              <a:xfrm>
                <a:off x="838200" y="608933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184" name="Freeform 184"/>
              <p:cNvSpPr/>
              <p:nvPr/>
            </p:nvSpPr>
            <p:spPr>
              <a:xfrm>
                <a:off x="726129" y="601896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185" name="Freeform 185"/>
              <p:cNvSpPr/>
              <p:nvPr/>
            </p:nvSpPr>
            <p:spPr>
              <a:xfrm>
                <a:off x="838200" y="616712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187" name="TextBox 187"/>
            <p:cNvSpPr txBox="1"/>
            <p:nvPr/>
          </p:nvSpPr>
          <p:spPr>
            <a:xfrm>
              <a:off x="1040892" y="6028373"/>
              <a:ext cx="8700059" cy="264033"/>
            </a:xfrm>
            <a:prstGeom prst="rect">
              <a:avLst/>
            </a:prstGeom>
            <a:noFill/>
            <a:ln>
              <a:noFill/>
            </a:ln>
          </p:spPr>
          <p:txBody>
            <a:bodyPr wrap="none" lIns="0" tIns="0" rIns="0" bIns="0" anchor="t" anchorCtr="0">
              <a:spAutoFit/>
            </a:bodyPr>
            <a:lstStyle/>
            <a:p>
              <a:pPr algn="l"/>
              <a:r>
                <a:rPr lang="zh-CN" sz="1350" dirty="0">
                  <a:solidFill>
                    <a:srgbClr val="B42318"/>
                  </a:solidFill>
                  <a:latin typeface="+mn-lt"/>
                  <a:ea typeface="+mn-ea"/>
                  <a:cs typeface="+mn-cs"/>
                </a:rPr>
                <a:t>已按伪码逐列核对过 14 条规则。表里看不出 a 在 b 之前，也看不出 X8 是循环条件，这就是「静态逻辑」。</a:t>
              </a:r>
            </a:p>
          </p:txBody>
        </p:sp>
      </p:grpSp>
      <p:grpSp>
        <p:nvGrpSpPr>
          <p:cNvPr id="191" name="footer"/>
          <p:cNvGrpSpPr/>
          <p:nvPr/>
        </p:nvGrpSpPr>
        <p:grpSpPr>
          <a:xfrm>
            <a:off x="528447" y="6581299"/>
            <a:ext cx="11135106" cy="190690"/>
            <a:chOff x="528447" y="6581299"/>
            <a:chExt cx="11135106" cy="190690"/>
          </a:xfrm>
        </p:grpSpPr>
        <p:sp>
          <p:nvSpPr>
            <p:cNvPr id="189" name="TextBox 189"/>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190" name="TextBox 19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30</a:t>
              </a:r>
            </a:p>
          </p:txBody>
        </p:sp>
      </p:gr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过程设计技术和工具</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判定树：同一个算法画成树更直观</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60" name="c1-tree-1"/>
          <p:cNvGrpSpPr/>
          <p:nvPr/>
        </p:nvGrpSpPr>
        <p:grpSpPr>
          <a:xfrm>
            <a:off x="533400" y="1550670"/>
            <a:ext cx="6709410" cy="3550920"/>
            <a:chOff x="533400" y="1550670"/>
            <a:chExt cx="6709410" cy="3550920"/>
          </a:xfrm>
        </p:grpSpPr>
        <p:sp>
          <p:nvSpPr>
            <p:cNvPr id="7" name="Freeform 7"/>
            <p:cNvSpPr/>
            <p:nvPr/>
          </p:nvSpPr>
          <p:spPr>
            <a:xfrm>
              <a:off x="2965132" y="1724025"/>
              <a:ext cx="419100" cy="9525"/>
            </a:xfrm>
            <a:custGeom>
              <a:avLst/>
              <a:gdLst/>
              <a:ahLst/>
              <a:cxnLst/>
              <a:rect l="l" t="t" r="r" b="b"/>
              <a:pathLst>
                <a:path w="419100" h="9525">
                  <a:moveTo>
                    <a:pt x="0" y="0"/>
                  </a:moveTo>
                  <a:lnTo>
                    <a:pt x="209550" y="0"/>
                  </a:lnTo>
                  <a:lnTo>
                    <a:pt x="209550" y="0"/>
                  </a:lnTo>
                  <a:lnTo>
                    <a:pt x="419100" y="0"/>
                  </a:lnTo>
                </a:path>
              </a:pathLst>
            </a:custGeom>
            <a:noFill/>
            <a:ln w="17145">
              <a:solidFill>
                <a:srgbClr val="D9DFEA"/>
              </a:solidFill>
            </a:ln>
          </p:spPr>
        </p:sp>
        <p:sp>
          <p:nvSpPr>
            <p:cNvPr id="8" name="Freeform 8"/>
            <p:cNvSpPr/>
            <p:nvPr/>
          </p:nvSpPr>
          <p:spPr>
            <a:xfrm>
              <a:off x="5816918" y="2125028"/>
              <a:ext cx="419100" cy="200025"/>
            </a:xfrm>
            <a:custGeom>
              <a:avLst/>
              <a:gdLst/>
              <a:ahLst/>
              <a:cxnLst/>
              <a:rect l="l" t="t" r="r" b="b"/>
              <a:pathLst>
                <a:path w="419100" h="200025">
                  <a:moveTo>
                    <a:pt x="0" y="200025"/>
                  </a:moveTo>
                  <a:lnTo>
                    <a:pt x="209550" y="200025"/>
                  </a:lnTo>
                  <a:lnTo>
                    <a:pt x="209550" y="0"/>
                  </a:lnTo>
                  <a:lnTo>
                    <a:pt x="419100" y="0"/>
                  </a:lnTo>
                </a:path>
              </a:pathLst>
            </a:custGeom>
            <a:noFill/>
            <a:ln w="17145">
              <a:solidFill>
                <a:srgbClr val="D9DFEA"/>
              </a:solidFill>
            </a:ln>
          </p:spPr>
        </p:sp>
        <p:sp>
          <p:nvSpPr>
            <p:cNvPr id="9" name="Freeform 9"/>
            <p:cNvSpPr/>
            <p:nvPr/>
          </p:nvSpPr>
          <p:spPr>
            <a:xfrm>
              <a:off x="5816918" y="2325052"/>
              <a:ext cx="419100" cy="200025"/>
            </a:xfrm>
            <a:custGeom>
              <a:avLst/>
              <a:gdLst/>
              <a:ahLst/>
              <a:cxnLst/>
              <a:rect l="l" t="t" r="r" b="b"/>
              <a:pathLst>
                <a:path w="419100" h="200025">
                  <a:moveTo>
                    <a:pt x="0" y="0"/>
                  </a:moveTo>
                  <a:lnTo>
                    <a:pt x="209550" y="0"/>
                  </a:lnTo>
                  <a:lnTo>
                    <a:pt x="209550" y="200025"/>
                  </a:lnTo>
                  <a:lnTo>
                    <a:pt x="419100" y="200025"/>
                  </a:lnTo>
                </a:path>
              </a:pathLst>
            </a:custGeom>
            <a:noFill/>
            <a:ln w="17145">
              <a:solidFill>
                <a:srgbClr val="D9DFEA"/>
              </a:solidFill>
            </a:ln>
          </p:spPr>
        </p:sp>
        <p:sp>
          <p:nvSpPr>
            <p:cNvPr id="10" name="Freeform 10"/>
            <p:cNvSpPr/>
            <p:nvPr/>
          </p:nvSpPr>
          <p:spPr>
            <a:xfrm>
              <a:off x="5816918" y="2926080"/>
              <a:ext cx="419100" cy="200025"/>
            </a:xfrm>
            <a:custGeom>
              <a:avLst/>
              <a:gdLst/>
              <a:ahLst/>
              <a:cxnLst/>
              <a:rect l="l" t="t" r="r" b="b"/>
              <a:pathLst>
                <a:path w="419100" h="200025">
                  <a:moveTo>
                    <a:pt x="0" y="200025"/>
                  </a:moveTo>
                  <a:lnTo>
                    <a:pt x="209550" y="200025"/>
                  </a:lnTo>
                  <a:lnTo>
                    <a:pt x="209550" y="0"/>
                  </a:lnTo>
                  <a:lnTo>
                    <a:pt x="419100" y="0"/>
                  </a:lnTo>
                </a:path>
              </a:pathLst>
            </a:custGeom>
            <a:noFill/>
            <a:ln w="17145">
              <a:solidFill>
                <a:srgbClr val="D9DFEA"/>
              </a:solidFill>
            </a:ln>
          </p:spPr>
        </p:sp>
        <p:sp>
          <p:nvSpPr>
            <p:cNvPr id="11" name="Freeform 11"/>
            <p:cNvSpPr/>
            <p:nvPr/>
          </p:nvSpPr>
          <p:spPr>
            <a:xfrm>
              <a:off x="5816918" y="3126105"/>
              <a:ext cx="419100" cy="200025"/>
            </a:xfrm>
            <a:custGeom>
              <a:avLst/>
              <a:gdLst/>
              <a:ahLst/>
              <a:cxnLst/>
              <a:rect l="l" t="t" r="r" b="b"/>
              <a:pathLst>
                <a:path w="419100" h="200025">
                  <a:moveTo>
                    <a:pt x="0" y="0"/>
                  </a:moveTo>
                  <a:lnTo>
                    <a:pt x="209550" y="0"/>
                  </a:lnTo>
                  <a:lnTo>
                    <a:pt x="209550" y="200025"/>
                  </a:lnTo>
                  <a:lnTo>
                    <a:pt x="419100" y="200025"/>
                  </a:lnTo>
                </a:path>
              </a:pathLst>
            </a:custGeom>
            <a:noFill/>
            <a:ln w="17145">
              <a:solidFill>
                <a:srgbClr val="D9DFEA"/>
              </a:solidFill>
            </a:ln>
          </p:spPr>
        </p:sp>
        <p:sp>
          <p:nvSpPr>
            <p:cNvPr id="12" name="Freeform 12"/>
            <p:cNvSpPr/>
            <p:nvPr/>
          </p:nvSpPr>
          <p:spPr>
            <a:xfrm>
              <a:off x="4391025" y="2325052"/>
              <a:ext cx="419100" cy="400050"/>
            </a:xfrm>
            <a:custGeom>
              <a:avLst/>
              <a:gdLst/>
              <a:ahLst/>
              <a:cxnLst/>
              <a:rect l="l" t="t" r="r" b="b"/>
              <a:pathLst>
                <a:path w="419100" h="400050">
                  <a:moveTo>
                    <a:pt x="0" y="400050"/>
                  </a:moveTo>
                  <a:lnTo>
                    <a:pt x="209550" y="400050"/>
                  </a:lnTo>
                  <a:lnTo>
                    <a:pt x="209550" y="0"/>
                  </a:lnTo>
                  <a:lnTo>
                    <a:pt x="419100" y="0"/>
                  </a:lnTo>
                </a:path>
              </a:pathLst>
            </a:custGeom>
            <a:noFill/>
            <a:ln w="17145">
              <a:solidFill>
                <a:srgbClr val="D9DFEA"/>
              </a:solidFill>
            </a:ln>
          </p:spPr>
        </p:sp>
        <p:sp>
          <p:nvSpPr>
            <p:cNvPr id="13" name="Freeform 13"/>
            <p:cNvSpPr/>
            <p:nvPr/>
          </p:nvSpPr>
          <p:spPr>
            <a:xfrm>
              <a:off x="4391025" y="2725102"/>
              <a:ext cx="419100" cy="401002"/>
            </a:xfrm>
            <a:custGeom>
              <a:avLst/>
              <a:gdLst/>
              <a:ahLst/>
              <a:cxnLst/>
              <a:rect l="l" t="t" r="r" b="b"/>
              <a:pathLst>
                <a:path w="419100" h="401002">
                  <a:moveTo>
                    <a:pt x="0" y="0"/>
                  </a:moveTo>
                  <a:lnTo>
                    <a:pt x="209550" y="0"/>
                  </a:lnTo>
                  <a:lnTo>
                    <a:pt x="209550" y="401002"/>
                  </a:lnTo>
                  <a:lnTo>
                    <a:pt x="419100" y="401002"/>
                  </a:lnTo>
                </a:path>
              </a:pathLst>
            </a:custGeom>
            <a:noFill/>
            <a:ln w="17145">
              <a:solidFill>
                <a:srgbClr val="D9DFEA"/>
              </a:solidFill>
            </a:ln>
          </p:spPr>
        </p:sp>
        <p:sp>
          <p:nvSpPr>
            <p:cNvPr id="14" name="Freeform 14"/>
            <p:cNvSpPr/>
            <p:nvPr/>
          </p:nvSpPr>
          <p:spPr>
            <a:xfrm>
              <a:off x="5816918" y="3726180"/>
              <a:ext cx="419100" cy="200978"/>
            </a:xfrm>
            <a:custGeom>
              <a:avLst/>
              <a:gdLst/>
              <a:ahLst/>
              <a:cxnLst/>
              <a:rect l="l" t="t" r="r" b="b"/>
              <a:pathLst>
                <a:path w="419100" h="200978">
                  <a:moveTo>
                    <a:pt x="0" y="200978"/>
                  </a:moveTo>
                  <a:lnTo>
                    <a:pt x="209550" y="200978"/>
                  </a:lnTo>
                  <a:lnTo>
                    <a:pt x="209550" y="0"/>
                  </a:lnTo>
                  <a:lnTo>
                    <a:pt x="419100" y="0"/>
                  </a:lnTo>
                </a:path>
              </a:pathLst>
            </a:custGeom>
            <a:noFill/>
            <a:ln w="17145">
              <a:solidFill>
                <a:srgbClr val="D9DFEA"/>
              </a:solidFill>
            </a:ln>
          </p:spPr>
        </p:sp>
        <p:sp>
          <p:nvSpPr>
            <p:cNvPr id="15" name="Freeform 15"/>
            <p:cNvSpPr/>
            <p:nvPr/>
          </p:nvSpPr>
          <p:spPr>
            <a:xfrm>
              <a:off x="5816918" y="3927158"/>
              <a:ext cx="419100" cy="200025"/>
            </a:xfrm>
            <a:custGeom>
              <a:avLst/>
              <a:gdLst/>
              <a:ahLst/>
              <a:cxnLst/>
              <a:rect l="l" t="t" r="r" b="b"/>
              <a:pathLst>
                <a:path w="419100" h="200025">
                  <a:moveTo>
                    <a:pt x="0" y="0"/>
                  </a:moveTo>
                  <a:lnTo>
                    <a:pt x="209550" y="0"/>
                  </a:lnTo>
                  <a:lnTo>
                    <a:pt x="209550" y="200025"/>
                  </a:lnTo>
                  <a:lnTo>
                    <a:pt x="419100" y="200025"/>
                  </a:lnTo>
                </a:path>
              </a:pathLst>
            </a:custGeom>
            <a:noFill/>
            <a:ln w="17145">
              <a:solidFill>
                <a:srgbClr val="D9DFEA"/>
              </a:solidFill>
            </a:ln>
          </p:spPr>
        </p:sp>
        <p:sp>
          <p:nvSpPr>
            <p:cNvPr id="16" name="Freeform 16"/>
            <p:cNvSpPr/>
            <p:nvPr/>
          </p:nvSpPr>
          <p:spPr>
            <a:xfrm>
              <a:off x="5816918" y="4527232"/>
              <a:ext cx="419100" cy="200977"/>
            </a:xfrm>
            <a:custGeom>
              <a:avLst/>
              <a:gdLst/>
              <a:ahLst/>
              <a:cxnLst/>
              <a:rect l="l" t="t" r="r" b="b"/>
              <a:pathLst>
                <a:path w="419100" h="200977">
                  <a:moveTo>
                    <a:pt x="0" y="200977"/>
                  </a:moveTo>
                  <a:lnTo>
                    <a:pt x="209550" y="200977"/>
                  </a:lnTo>
                  <a:lnTo>
                    <a:pt x="209550" y="0"/>
                  </a:lnTo>
                  <a:lnTo>
                    <a:pt x="419100" y="0"/>
                  </a:lnTo>
                </a:path>
              </a:pathLst>
            </a:custGeom>
            <a:noFill/>
            <a:ln w="17145">
              <a:solidFill>
                <a:srgbClr val="D9DFEA"/>
              </a:solidFill>
            </a:ln>
          </p:spPr>
        </p:sp>
        <p:sp>
          <p:nvSpPr>
            <p:cNvPr id="17" name="Freeform 17"/>
            <p:cNvSpPr/>
            <p:nvPr/>
          </p:nvSpPr>
          <p:spPr>
            <a:xfrm>
              <a:off x="5816918" y="4728210"/>
              <a:ext cx="419100" cy="200025"/>
            </a:xfrm>
            <a:custGeom>
              <a:avLst/>
              <a:gdLst/>
              <a:ahLst/>
              <a:cxnLst/>
              <a:rect l="l" t="t" r="r" b="b"/>
              <a:pathLst>
                <a:path w="419100" h="200025">
                  <a:moveTo>
                    <a:pt x="0" y="0"/>
                  </a:moveTo>
                  <a:lnTo>
                    <a:pt x="209550" y="0"/>
                  </a:lnTo>
                  <a:lnTo>
                    <a:pt x="209550" y="200025"/>
                  </a:lnTo>
                  <a:lnTo>
                    <a:pt x="419100" y="200025"/>
                  </a:lnTo>
                </a:path>
              </a:pathLst>
            </a:custGeom>
            <a:noFill/>
            <a:ln w="17145">
              <a:solidFill>
                <a:srgbClr val="D9DFEA"/>
              </a:solidFill>
            </a:ln>
          </p:spPr>
        </p:sp>
        <p:sp>
          <p:nvSpPr>
            <p:cNvPr id="18" name="Freeform 18"/>
            <p:cNvSpPr/>
            <p:nvPr/>
          </p:nvSpPr>
          <p:spPr>
            <a:xfrm>
              <a:off x="4391025" y="3927158"/>
              <a:ext cx="419100" cy="400050"/>
            </a:xfrm>
            <a:custGeom>
              <a:avLst/>
              <a:gdLst/>
              <a:ahLst/>
              <a:cxnLst/>
              <a:rect l="l" t="t" r="r" b="b"/>
              <a:pathLst>
                <a:path w="419100" h="400050">
                  <a:moveTo>
                    <a:pt x="0" y="400050"/>
                  </a:moveTo>
                  <a:lnTo>
                    <a:pt x="209550" y="400050"/>
                  </a:lnTo>
                  <a:lnTo>
                    <a:pt x="209550" y="0"/>
                  </a:lnTo>
                  <a:lnTo>
                    <a:pt x="419100" y="0"/>
                  </a:lnTo>
                </a:path>
              </a:pathLst>
            </a:custGeom>
            <a:noFill/>
            <a:ln w="17145">
              <a:solidFill>
                <a:srgbClr val="D9DFEA"/>
              </a:solidFill>
            </a:ln>
          </p:spPr>
        </p:sp>
        <p:sp>
          <p:nvSpPr>
            <p:cNvPr id="19" name="Freeform 19"/>
            <p:cNvSpPr/>
            <p:nvPr/>
          </p:nvSpPr>
          <p:spPr>
            <a:xfrm>
              <a:off x="4391025" y="4327208"/>
              <a:ext cx="419100" cy="401002"/>
            </a:xfrm>
            <a:custGeom>
              <a:avLst/>
              <a:gdLst/>
              <a:ahLst/>
              <a:cxnLst/>
              <a:rect l="l" t="t" r="r" b="b"/>
              <a:pathLst>
                <a:path w="419100" h="401002">
                  <a:moveTo>
                    <a:pt x="0" y="0"/>
                  </a:moveTo>
                  <a:lnTo>
                    <a:pt x="209550" y="0"/>
                  </a:lnTo>
                  <a:lnTo>
                    <a:pt x="209550" y="401002"/>
                  </a:lnTo>
                  <a:lnTo>
                    <a:pt x="419100" y="401002"/>
                  </a:lnTo>
                </a:path>
              </a:pathLst>
            </a:custGeom>
            <a:noFill/>
            <a:ln w="17145">
              <a:solidFill>
                <a:srgbClr val="D9DFEA"/>
              </a:solidFill>
            </a:ln>
          </p:spPr>
        </p:sp>
        <p:sp>
          <p:nvSpPr>
            <p:cNvPr id="20" name="Freeform 20"/>
            <p:cNvSpPr/>
            <p:nvPr/>
          </p:nvSpPr>
          <p:spPr>
            <a:xfrm>
              <a:off x="2965132" y="2725102"/>
              <a:ext cx="419100" cy="801052"/>
            </a:xfrm>
            <a:custGeom>
              <a:avLst/>
              <a:gdLst/>
              <a:ahLst/>
              <a:cxnLst/>
              <a:rect l="l" t="t" r="r" b="b"/>
              <a:pathLst>
                <a:path w="419100" h="801052">
                  <a:moveTo>
                    <a:pt x="0" y="801052"/>
                  </a:moveTo>
                  <a:lnTo>
                    <a:pt x="209550" y="801052"/>
                  </a:lnTo>
                  <a:lnTo>
                    <a:pt x="209550" y="0"/>
                  </a:lnTo>
                  <a:lnTo>
                    <a:pt x="419100" y="0"/>
                  </a:lnTo>
                </a:path>
              </a:pathLst>
            </a:custGeom>
            <a:noFill/>
            <a:ln w="17145">
              <a:solidFill>
                <a:srgbClr val="D9DFEA"/>
              </a:solidFill>
            </a:ln>
          </p:spPr>
        </p:sp>
        <p:sp>
          <p:nvSpPr>
            <p:cNvPr id="21" name="Freeform 21"/>
            <p:cNvSpPr/>
            <p:nvPr/>
          </p:nvSpPr>
          <p:spPr>
            <a:xfrm>
              <a:off x="2965132" y="3526155"/>
              <a:ext cx="419100" cy="801053"/>
            </a:xfrm>
            <a:custGeom>
              <a:avLst/>
              <a:gdLst/>
              <a:ahLst/>
              <a:cxnLst/>
              <a:rect l="l" t="t" r="r" b="b"/>
              <a:pathLst>
                <a:path w="419100" h="801053">
                  <a:moveTo>
                    <a:pt x="0" y="0"/>
                  </a:moveTo>
                  <a:lnTo>
                    <a:pt x="209550" y="0"/>
                  </a:lnTo>
                  <a:lnTo>
                    <a:pt x="209550" y="801053"/>
                  </a:lnTo>
                  <a:lnTo>
                    <a:pt x="419100" y="801053"/>
                  </a:lnTo>
                </a:path>
              </a:pathLst>
            </a:custGeom>
            <a:noFill/>
            <a:ln w="17145">
              <a:solidFill>
                <a:srgbClr val="D9DFEA"/>
              </a:solidFill>
            </a:ln>
          </p:spPr>
        </p:sp>
        <p:sp>
          <p:nvSpPr>
            <p:cNvPr id="22" name="Freeform 22"/>
            <p:cNvSpPr/>
            <p:nvPr/>
          </p:nvSpPr>
          <p:spPr>
            <a:xfrm>
              <a:off x="1540192" y="1724025"/>
              <a:ext cx="419100" cy="901065"/>
            </a:xfrm>
            <a:custGeom>
              <a:avLst/>
              <a:gdLst/>
              <a:ahLst/>
              <a:cxnLst/>
              <a:rect l="l" t="t" r="r" b="b"/>
              <a:pathLst>
                <a:path w="419100" h="901065">
                  <a:moveTo>
                    <a:pt x="0" y="901065"/>
                  </a:moveTo>
                  <a:lnTo>
                    <a:pt x="209550" y="901065"/>
                  </a:lnTo>
                  <a:lnTo>
                    <a:pt x="209550" y="0"/>
                  </a:lnTo>
                  <a:lnTo>
                    <a:pt x="419100" y="0"/>
                  </a:lnTo>
                </a:path>
              </a:pathLst>
            </a:custGeom>
            <a:noFill/>
            <a:ln w="17145">
              <a:solidFill>
                <a:srgbClr val="D9DFEA"/>
              </a:solidFill>
            </a:ln>
          </p:spPr>
        </p:sp>
        <p:sp>
          <p:nvSpPr>
            <p:cNvPr id="23" name="Freeform 23"/>
            <p:cNvSpPr/>
            <p:nvPr/>
          </p:nvSpPr>
          <p:spPr>
            <a:xfrm>
              <a:off x="1540192" y="2625090"/>
              <a:ext cx="419100" cy="901065"/>
            </a:xfrm>
            <a:custGeom>
              <a:avLst/>
              <a:gdLst/>
              <a:ahLst/>
              <a:cxnLst/>
              <a:rect l="l" t="t" r="r" b="b"/>
              <a:pathLst>
                <a:path w="419100" h="901065">
                  <a:moveTo>
                    <a:pt x="0" y="0"/>
                  </a:moveTo>
                  <a:lnTo>
                    <a:pt x="209550" y="0"/>
                  </a:lnTo>
                  <a:lnTo>
                    <a:pt x="209550" y="901065"/>
                  </a:lnTo>
                  <a:lnTo>
                    <a:pt x="419100" y="901065"/>
                  </a:lnTo>
                </a:path>
              </a:pathLst>
            </a:custGeom>
            <a:noFill/>
            <a:ln w="17145">
              <a:solidFill>
                <a:srgbClr val="D9DFEA"/>
              </a:solidFill>
            </a:ln>
          </p:spPr>
        </p:sp>
        <p:sp>
          <p:nvSpPr>
            <p:cNvPr id="24" name="Rectangle 24"/>
            <p:cNvSpPr/>
            <p:nvPr/>
          </p:nvSpPr>
          <p:spPr>
            <a:xfrm>
              <a:off x="3384232" y="1550670"/>
              <a:ext cx="1006792" cy="346710"/>
            </a:xfrm>
            <a:prstGeom prst="roundRect">
              <a:avLst>
                <a:gd name="adj" fmla="val 27473"/>
              </a:avLst>
            </a:prstGeom>
            <a:solidFill>
              <a:srgbClr val="FFFFFF"/>
            </a:solidFill>
            <a:ln w="13335">
              <a:solidFill>
                <a:srgbClr val="D9DFEA"/>
              </a:solidFill>
            </a:ln>
          </p:spPr>
        </p:sp>
        <p:sp>
          <p:nvSpPr>
            <p:cNvPr id="25" name="Rectangle 25"/>
            <p:cNvSpPr/>
            <p:nvPr/>
          </p:nvSpPr>
          <p:spPr>
            <a:xfrm>
              <a:off x="1959292" y="1550670"/>
              <a:ext cx="1006792" cy="346710"/>
            </a:xfrm>
            <a:prstGeom prst="roundRect">
              <a:avLst>
                <a:gd name="adj" fmla="val 27473"/>
              </a:avLst>
            </a:prstGeom>
            <a:solidFill>
              <a:srgbClr val="E7EDF3"/>
            </a:solidFill>
            <a:ln>
              <a:noFill/>
            </a:ln>
          </p:spPr>
        </p:sp>
        <p:sp>
          <p:nvSpPr>
            <p:cNvPr id="26" name="Rectangle 26"/>
            <p:cNvSpPr/>
            <p:nvPr/>
          </p:nvSpPr>
          <p:spPr>
            <a:xfrm>
              <a:off x="6236018" y="1951672"/>
              <a:ext cx="1006792" cy="346710"/>
            </a:xfrm>
            <a:prstGeom prst="roundRect">
              <a:avLst>
                <a:gd name="adj" fmla="val 27473"/>
              </a:avLst>
            </a:prstGeom>
            <a:solidFill>
              <a:srgbClr val="FFFFFF"/>
            </a:solidFill>
            <a:ln w="13335">
              <a:solidFill>
                <a:srgbClr val="D9DFEA"/>
              </a:solidFill>
            </a:ln>
          </p:spPr>
        </p:sp>
        <p:sp>
          <p:nvSpPr>
            <p:cNvPr id="27" name="Rectangle 27"/>
            <p:cNvSpPr/>
            <p:nvPr/>
          </p:nvSpPr>
          <p:spPr>
            <a:xfrm>
              <a:off x="6236018" y="2351722"/>
              <a:ext cx="1006792" cy="346710"/>
            </a:xfrm>
            <a:prstGeom prst="roundRect">
              <a:avLst>
                <a:gd name="adj" fmla="val 27473"/>
              </a:avLst>
            </a:prstGeom>
            <a:solidFill>
              <a:srgbClr val="FFFFFF"/>
            </a:solidFill>
            <a:ln w="13335">
              <a:solidFill>
                <a:srgbClr val="D9DFEA"/>
              </a:solidFill>
            </a:ln>
          </p:spPr>
        </p:sp>
        <p:sp>
          <p:nvSpPr>
            <p:cNvPr id="28" name="Rectangle 28"/>
            <p:cNvSpPr/>
            <p:nvPr/>
          </p:nvSpPr>
          <p:spPr>
            <a:xfrm>
              <a:off x="4810125" y="2151698"/>
              <a:ext cx="1006792" cy="346710"/>
            </a:xfrm>
            <a:prstGeom prst="roundRect">
              <a:avLst>
                <a:gd name="adj" fmla="val 27473"/>
              </a:avLst>
            </a:prstGeom>
            <a:solidFill>
              <a:srgbClr val="E7EDF3"/>
            </a:solidFill>
            <a:ln>
              <a:noFill/>
            </a:ln>
          </p:spPr>
        </p:sp>
        <p:sp>
          <p:nvSpPr>
            <p:cNvPr id="29" name="Rectangle 29"/>
            <p:cNvSpPr/>
            <p:nvPr/>
          </p:nvSpPr>
          <p:spPr>
            <a:xfrm>
              <a:off x="6236018" y="2752725"/>
              <a:ext cx="1006792" cy="346710"/>
            </a:xfrm>
            <a:prstGeom prst="roundRect">
              <a:avLst>
                <a:gd name="adj" fmla="val 27473"/>
              </a:avLst>
            </a:prstGeom>
            <a:solidFill>
              <a:srgbClr val="FFFFFF"/>
            </a:solidFill>
            <a:ln w="13335">
              <a:solidFill>
                <a:srgbClr val="D9DFEA"/>
              </a:solidFill>
            </a:ln>
          </p:spPr>
        </p:sp>
        <p:sp>
          <p:nvSpPr>
            <p:cNvPr id="30" name="Rectangle 30"/>
            <p:cNvSpPr/>
            <p:nvPr/>
          </p:nvSpPr>
          <p:spPr>
            <a:xfrm>
              <a:off x="6236018" y="3152775"/>
              <a:ext cx="1006792" cy="346710"/>
            </a:xfrm>
            <a:prstGeom prst="roundRect">
              <a:avLst>
                <a:gd name="adj" fmla="val 27473"/>
              </a:avLst>
            </a:prstGeom>
            <a:solidFill>
              <a:srgbClr val="FFFFFF"/>
            </a:solidFill>
            <a:ln w="13335">
              <a:solidFill>
                <a:srgbClr val="D9DFEA"/>
              </a:solidFill>
            </a:ln>
          </p:spPr>
        </p:sp>
        <p:sp>
          <p:nvSpPr>
            <p:cNvPr id="31" name="Rectangle 31"/>
            <p:cNvSpPr/>
            <p:nvPr/>
          </p:nvSpPr>
          <p:spPr>
            <a:xfrm>
              <a:off x="4810125" y="2952750"/>
              <a:ext cx="1006792" cy="346710"/>
            </a:xfrm>
            <a:prstGeom prst="roundRect">
              <a:avLst>
                <a:gd name="adj" fmla="val 27473"/>
              </a:avLst>
            </a:prstGeom>
            <a:solidFill>
              <a:srgbClr val="E7EDF3"/>
            </a:solidFill>
            <a:ln>
              <a:noFill/>
            </a:ln>
          </p:spPr>
        </p:sp>
        <p:sp>
          <p:nvSpPr>
            <p:cNvPr id="32" name="Rectangle 32"/>
            <p:cNvSpPr/>
            <p:nvPr/>
          </p:nvSpPr>
          <p:spPr>
            <a:xfrm>
              <a:off x="3384232" y="2551748"/>
              <a:ext cx="1006792" cy="346710"/>
            </a:xfrm>
            <a:prstGeom prst="roundRect">
              <a:avLst>
                <a:gd name="adj" fmla="val 27473"/>
              </a:avLst>
            </a:prstGeom>
            <a:solidFill>
              <a:srgbClr val="E7EDF3"/>
            </a:solidFill>
            <a:ln>
              <a:noFill/>
            </a:ln>
          </p:spPr>
        </p:sp>
        <p:sp>
          <p:nvSpPr>
            <p:cNvPr id="33" name="Rectangle 33"/>
            <p:cNvSpPr/>
            <p:nvPr/>
          </p:nvSpPr>
          <p:spPr>
            <a:xfrm>
              <a:off x="6236018" y="3552825"/>
              <a:ext cx="1006792" cy="346710"/>
            </a:xfrm>
            <a:prstGeom prst="roundRect">
              <a:avLst>
                <a:gd name="adj" fmla="val 27473"/>
              </a:avLst>
            </a:prstGeom>
            <a:solidFill>
              <a:srgbClr val="FFFFFF"/>
            </a:solidFill>
            <a:ln w="13335">
              <a:solidFill>
                <a:srgbClr val="D9DFEA"/>
              </a:solidFill>
            </a:ln>
          </p:spPr>
        </p:sp>
        <p:sp>
          <p:nvSpPr>
            <p:cNvPr id="34" name="Rectangle 34"/>
            <p:cNvSpPr/>
            <p:nvPr/>
          </p:nvSpPr>
          <p:spPr>
            <a:xfrm>
              <a:off x="6236018" y="3953828"/>
              <a:ext cx="1006792" cy="346710"/>
            </a:xfrm>
            <a:prstGeom prst="roundRect">
              <a:avLst>
                <a:gd name="adj" fmla="val 27473"/>
              </a:avLst>
            </a:prstGeom>
            <a:solidFill>
              <a:srgbClr val="FFFFFF"/>
            </a:solidFill>
            <a:ln w="13335">
              <a:solidFill>
                <a:srgbClr val="D9DFEA"/>
              </a:solidFill>
            </a:ln>
          </p:spPr>
        </p:sp>
        <p:sp>
          <p:nvSpPr>
            <p:cNvPr id="35" name="Rectangle 35"/>
            <p:cNvSpPr/>
            <p:nvPr/>
          </p:nvSpPr>
          <p:spPr>
            <a:xfrm>
              <a:off x="4810125" y="3753802"/>
              <a:ext cx="1006792" cy="346710"/>
            </a:xfrm>
            <a:prstGeom prst="roundRect">
              <a:avLst>
                <a:gd name="adj" fmla="val 27473"/>
              </a:avLst>
            </a:prstGeom>
            <a:solidFill>
              <a:srgbClr val="E7EDF3"/>
            </a:solidFill>
            <a:ln>
              <a:noFill/>
            </a:ln>
          </p:spPr>
        </p:sp>
        <p:sp>
          <p:nvSpPr>
            <p:cNvPr id="36" name="Rectangle 36"/>
            <p:cNvSpPr/>
            <p:nvPr/>
          </p:nvSpPr>
          <p:spPr>
            <a:xfrm>
              <a:off x="6236018" y="4353878"/>
              <a:ext cx="1006792" cy="346710"/>
            </a:xfrm>
            <a:prstGeom prst="roundRect">
              <a:avLst>
                <a:gd name="adj" fmla="val 27473"/>
              </a:avLst>
            </a:prstGeom>
            <a:solidFill>
              <a:srgbClr val="FFFFFF"/>
            </a:solidFill>
            <a:ln w="13335">
              <a:solidFill>
                <a:srgbClr val="D9DFEA"/>
              </a:solidFill>
            </a:ln>
          </p:spPr>
        </p:sp>
        <p:sp>
          <p:nvSpPr>
            <p:cNvPr id="37" name="Rectangle 37"/>
            <p:cNvSpPr/>
            <p:nvPr/>
          </p:nvSpPr>
          <p:spPr>
            <a:xfrm>
              <a:off x="6236018" y="4754880"/>
              <a:ext cx="1006792" cy="346710"/>
            </a:xfrm>
            <a:prstGeom prst="roundRect">
              <a:avLst>
                <a:gd name="adj" fmla="val 27473"/>
              </a:avLst>
            </a:prstGeom>
            <a:solidFill>
              <a:srgbClr val="FFFFFF"/>
            </a:solidFill>
            <a:ln w="13335">
              <a:solidFill>
                <a:srgbClr val="D9DFEA"/>
              </a:solidFill>
            </a:ln>
          </p:spPr>
        </p:sp>
        <p:sp>
          <p:nvSpPr>
            <p:cNvPr id="38" name="Rectangle 38"/>
            <p:cNvSpPr/>
            <p:nvPr/>
          </p:nvSpPr>
          <p:spPr>
            <a:xfrm>
              <a:off x="4810125" y="4554855"/>
              <a:ext cx="1006792" cy="346710"/>
            </a:xfrm>
            <a:prstGeom prst="roundRect">
              <a:avLst>
                <a:gd name="adj" fmla="val 27473"/>
              </a:avLst>
            </a:prstGeom>
            <a:solidFill>
              <a:srgbClr val="E7EDF3"/>
            </a:solidFill>
            <a:ln>
              <a:noFill/>
            </a:ln>
          </p:spPr>
        </p:sp>
        <p:sp>
          <p:nvSpPr>
            <p:cNvPr id="39" name="Rectangle 39"/>
            <p:cNvSpPr/>
            <p:nvPr/>
          </p:nvSpPr>
          <p:spPr>
            <a:xfrm>
              <a:off x="3384232" y="4153852"/>
              <a:ext cx="1006792" cy="346710"/>
            </a:xfrm>
            <a:prstGeom prst="roundRect">
              <a:avLst>
                <a:gd name="adj" fmla="val 27473"/>
              </a:avLst>
            </a:prstGeom>
            <a:solidFill>
              <a:srgbClr val="E7EDF3"/>
            </a:solidFill>
            <a:ln>
              <a:noFill/>
            </a:ln>
          </p:spPr>
        </p:sp>
        <p:sp>
          <p:nvSpPr>
            <p:cNvPr id="40" name="Rectangle 40"/>
            <p:cNvSpPr/>
            <p:nvPr/>
          </p:nvSpPr>
          <p:spPr>
            <a:xfrm>
              <a:off x="1959292" y="3352800"/>
              <a:ext cx="1006792" cy="346710"/>
            </a:xfrm>
            <a:prstGeom prst="roundRect">
              <a:avLst>
                <a:gd name="adj" fmla="val 27473"/>
              </a:avLst>
            </a:prstGeom>
            <a:solidFill>
              <a:srgbClr val="E7EDF3"/>
            </a:solidFill>
            <a:ln>
              <a:noFill/>
            </a:ln>
          </p:spPr>
        </p:sp>
        <p:sp>
          <p:nvSpPr>
            <p:cNvPr id="41" name="Rectangle 41"/>
            <p:cNvSpPr/>
            <p:nvPr/>
          </p:nvSpPr>
          <p:spPr>
            <a:xfrm>
              <a:off x="533400" y="2451735"/>
              <a:ext cx="1006792" cy="346710"/>
            </a:xfrm>
            <a:prstGeom prst="roundRect">
              <a:avLst>
                <a:gd name="adj" fmla="val 27473"/>
              </a:avLst>
            </a:prstGeom>
            <a:solidFill>
              <a:srgbClr val="334E68"/>
            </a:solidFill>
            <a:ln>
              <a:noFill/>
            </a:ln>
          </p:spPr>
        </p:sp>
        <p:sp>
          <p:nvSpPr>
            <p:cNvPr id="42" name="TextBox 42"/>
            <p:cNvSpPr txBox="1"/>
            <p:nvPr/>
          </p:nvSpPr>
          <p:spPr>
            <a:xfrm>
              <a:off x="3473768" y="1645444"/>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免费</a:t>
              </a:r>
            </a:p>
          </p:txBody>
        </p:sp>
        <p:sp>
          <p:nvSpPr>
            <p:cNvPr id="43" name="TextBox 43"/>
            <p:cNvSpPr txBox="1"/>
            <p:nvPr/>
          </p:nvSpPr>
          <p:spPr>
            <a:xfrm>
              <a:off x="2048828" y="1645444"/>
              <a:ext cx="672761" cy="220028"/>
            </a:xfrm>
            <a:prstGeom prst="rect">
              <a:avLst/>
            </a:prstGeom>
            <a:noFill/>
            <a:ln>
              <a:noFill/>
            </a:ln>
          </p:spPr>
          <p:txBody>
            <a:bodyPr wrap="none" lIns="0" tIns="0" rIns="0" bIns="0" anchor="t" anchorCtr="0">
              <a:spAutoFit/>
            </a:bodyPr>
            <a:lstStyle/>
            <a:p>
              <a:pPr algn="l"/>
              <a:r>
                <a:rPr lang="en-US" sz="1120" b="1" dirty="0">
                  <a:solidFill>
                    <a:srgbClr val="243B53"/>
                  </a:solidFill>
                  <a:latin typeface="+mn-lt"/>
                  <a:ea typeface="+mn-ea"/>
                  <a:cs typeface="+mn-cs"/>
                </a:rPr>
                <a:t>W ≤ 30kg</a:t>
              </a:r>
            </a:p>
          </p:txBody>
        </p:sp>
        <p:sp>
          <p:nvSpPr>
            <p:cNvPr id="44" name="TextBox 44"/>
            <p:cNvSpPr txBox="1"/>
            <p:nvPr/>
          </p:nvSpPr>
          <p:spPr>
            <a:xfrm>
              <a:off x="6325552" y="2046446"/>
              <a:ext cx="52406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残疾 ×2</a:t>
              </a:r>
            </a:p>
          </p:txBody>
        </p:sp>
        <p:sp>
          <p:nvSpPr>
            <p:cNvPr id="45" name="TextBox 45"/>
            <p:cNvSpPr txBox="1"/>
            <p:nvPr/>
          </p:nvSpPr>
          <p:spPr>
            <a:xfrm>
              <a:off x="6325552" y="2446496"/>
              <a:ext cx="52406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正常 ×4</a:t>
              </a:r>
            </a:p>
          </p:txBody>
        </p:sp>
        <p:sp>
          <p:nvSpPr>
            <p:cNvPr id="46" name="TextBox 46"/>
            <p:cNvSpPr txBox="1"/>
            <p:nvPr/>
          </p:nvSpPr>
          <p:spPr>
            <a:xfrm>
              <a:off x="4899660" y="2246471"/>
              <a:ext cx="463753" cy="220028"/>
            </a:xfrm>
            <a:prstGeom prst="rect">
              <a:avLst/>
            </a:prstGeom>
            <a:noFill/>
            <a:ln>
              <a:noFill/>
            </a:ln>
          </p:spPr>
          <p:txBody>
            <a:bodyPr wrap="none" lIns="0" tIns="0" rIns="0" bIns="0" anchor="t" anchorCtr="0">
              <a:spAutoFit/>
            </a:bodyPr>
            <a:lstStyle/>
            <a:p>
              <a:pPr algn="l"/>
              <a:r>
                <a:rPr lang="zh-CN" sz="1120" b="1" dirty="0">
                  <a:solidFill>
                    <a:srgbClr val="243B53"/>
                  </a:solidFill>
                  <a:latin typeface="+mn-lt"/>
                  <a:ea typeface="+mn-ea"/>
                  <a:cs typeface="+mn-cs"/>
                </a:rPr>
                <a:t>头等舱</a:t>
              </a:r>
            </a:p>
          </p:txBody>
        </p:sp>
        <p:sp>
          <p:nvSpPr>
            <p:cNvPr id="47" name="TextBox 47"/>
            <p:cNvSpPr txBox="1"/>
            <p:nvPr/>
          </p:nvSpPr>
          <p:spPr>
            <a:xfrm>
              <a:off x="6325552" y="2847499"/>
              <a:ext cx="52406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残疾 ×3</a:t>
              </a:r>
            </a:p>
          </p:txBody>
        </p:sp>
        <p:sp>
          <p:nvSpPr>
            <p:cNvPr id="48" name="TextBox 48"/>
            <p:cNvSpPr txBox="1"/>
            <p:nvPr/>
          </p:nvSpPr>
          <p:spPr>
            <a:xfrm>
              <a:off x="6325552" y="3247549"/>
              <a:ext cx="52406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正常 ×6</a:t>
              </a:r>
            </a:p>
          </p:txBody>
        </p:sp>
        <p:sp>
          <p:nvSpPr>
            <p:cNvPr id="49" name="TextBox 49"/>
            <p:cNvSpPr txBox="1"/>
            <p:nvPr/>
          </p:nvSpPr>
          <p:spPr>
            <a:xfrm>
              <a:off x="4899660" y="3047524"/>
              <a:ext cx="463753" cy="220028"/>
            </a:xfrm>
            <a:prstGeom prst="rect">
              <a:avLst/>
            </a:prstGeom>
            <a:noFill/>
            <a:ln>
              <a:noFill/>
            </a:ln>
          </p:spPr>
          <p:txBody>
            <a:bodyPr wrap="none" lIns="0" tIns="0" rIns="0" bIns="0" anchor="t" anchorCtr="0">
              <a:spAutoFit/>
            </a:bodyPr>
            <a:lstStyle/>
            <a:p>
              <a:pPr algn="l"/>
              <a:r>
                <a:rPr lang="zh-CN" sz="1120" b="1" dirty="0">
                  <a:solidFill>
                    <a:srgbClr val="243B53"/>
                  </a:solidFill>
                  <a:latin typeface="+mn-lt"/>
                  <a:ea typeface="+mn-ea"/>
                  <a:cs typeface="+mn-cs"/>
                </a:rPr>
                <a:t>其他舱</a:t>
              </a:r>
            </a:p>
          </p:txBody>
        </p:sp>
        <p:sp>
          <p:nvSpPr>
            <p:cNvPr id="50" name="TextBox 50"/>
            <p:cNvSpPr txBox="1"/>
            <p:nvPr/>
          </p:nvSpPr>
          <p:spPr>
            <a:xfrm>
              <a:off x="3473768" y="2646521"/>
              <a:ext cx="614528" cy="220028"/>
            </a:xfrm>
            <a:prstGeom prst="rect">
              <a:avLst/>
            </a:prstGeom>
            <a:noFill/>
            <a:ln>
              <a:noFill/>
            </a:ln>
          </p:spPr>
          <p:txBody>
            <a:bodyPr wrap="none" lIns="0" tIns="0" rIns="0" bIns="0" anchor="t" anchorCtr="0">
              <a:spAutoFit/>
            </a:bodyPr>
            <a:lstStyle/>
            <a:p>
              <a:pPr algn="l"/>
              <a:r>
                <a:rPr lang="zh-CN" sz="1120" b="1" dirty="0">
                  <a:solidFill>
                    <a:srgbClr val="243B53"/>
                  </a:solidFill>
                  <a:latin typeface="+mn-lt"/>
                  <a:ea typeface="+mn-ea"/>
                  <a:cs typeface="+mn-cs"/>
                </a:rPr>
                <a:t>国内乘客</a:t>
              </a:r>
            </a:p>
          </p:txBody>
        </p:sp>
        <p:sp>
          <p:nvSpPr>
            <p:cNvPr id="51" name="TextBox 51"/>
            <p:cNvSpPr txBox="1"/>
            <p:nvPr/>
          </p:nvSpPr>
          <p:spPr>
            <a:xfrm>
              <a:off x="6325552" y="3647599"/>
              <a:ext cx="52406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残疾 ×4</a:t>
              </a:r>
            </a:p>
          </p:txBody>
        </p:sp>
        <p:sp>
          <p:nvSpPr>
            <p:cNvPr id="52" name="TextBox 52"/>
            <p:cNvSpPr txBox="1"/>
            <p:nvPr/>
          </p:nvSpPr>
          <p:spPr>
            <a:xfrm>
              <a:off x="6325552" y="4048601"/>
              <a:ext cx="52406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正常 ×8</a:t>
              </a:r>
            </a:p>
          </p:txBody>
        </p:sp>
        <p:sp>
          <p:nvSpPr>
            <p:cNvPr id="53" name="TextBox 53"/>
            <p:cNvSpPr txBox="1"/>
            <p:nvPr/>
          </p:nvSpPr>
          <p:spPr>
            <a:xfrm>
              <a:off x="4899660" y="3848576"/>
              <a:ext cx="463753" cy="220028"/>
            </a:xfrm>
            <a:prstGeom prst="rect">
              <a:avLst/>
            </a:prstGeom>
            <a:noFill/>
            <a:ln>
              <a:noFill/>
            </a:ln>
          </p:spPr>
          <p:txBody>
            <a:bodyPr wrap="none" lIns="0" tIns="0" rIns="0" bIns="0" anchor="t" anchorCtr="0">
              <a:spAutoFit/>
            </a:bodyPr>
            <a:lstStyle/>
            <a:p>
              <a:pPr algn="l"/>
              <a:r>
                <a:rPr lang="zh-CN" sz="1120" b="1" dirty="0">
                  <a:solidFill>
                    <a:srgbClr val="243B53"/>
                  </a:solidFill>
                  <a:latin typeface="+mn-lt"/>
                  <a:ea typeface="+mn-ea"/>
                  <a:cs typeface="+mn-cs"/>
                </a:rPr>
                <a:t>头等舱</a:t>
              </a:r>
            </a:p>
          </p:txBody>
        </p:sp>
        <p:sp>
          <p:nvSpPr>
            <p:cNvPr id="54" name="TextBox 54"/>
            <p:cNvSpPr txBox="1"/>
            <p:nvPr/>
          </p:nvSpPr>
          <p:spPr>
            <a:xfrm>
              <a:off x="6325552" y="4448651"/>
              <a:ext cx="52406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残疾 ×6</a:t>
              </a:r>
            </a:p>
          </p:txBody>
        </p:sp>
        <p:sp>
          <p:nvSpPr>
            <p:cNvPr id="55" name="TextBox 55"/>
            <p:cNvSpPr txBox="1"/>
            <p:nvPr/>
          </p:nvSpPr>
          <p:spPr>
            <a:xfrm>
              <a:off x="6325552" y="4849654"/>
              <a:ext cx="60698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正常 ×12</a:t>
              </a:r>
            </a:p>
          </p:txBody>
        </p:sp>
        <p:sp>
          <p:nvSpPr>
            <p:cNvPr id="56" name="TextBox 56"/>
            <p:cNvSpPr txBox="1"/>
            <p:nvPr/>
          </p:nvSpPr>
          <p:spPr>
            <a:xfrm>
              <a:off x="4899660" y="4649629"/>
              <a:ext cx="463753" cy="220028"/>
            </a:xfrm>
            <a:prstGeom prst="rect">
              <a:avLst/>
            </a:prstGeom>
            <a:noFill/>
            <a:ln>
              <a:noFill/>
            </a:ln>
          </p:spPr>
          <p:txBody>
            <a:bodyPr wrap="none" lIns="0" tIns="0" rIns="0" bIns="0" anchor="t" anchorCtr="0">
              <a:spAutoFit/>
            </a:bodyPr>
            <a:lstStyle/>
            <a:p>
              <a:pPr algn="l"/>
              <a:r>
                <a:rPr lang="zh-CN" sz="1120" b="1" dirty="0">
                  <a:solidFill>
                    <a:srgbClr val="243B53"/>
                  </a:solidFill>
                  <a:latin typeface="+mn-lt"/>
                  <a:ea typeface="+mn-ea"/>
                  <a:cs typeface="+mn-cs"/>
                </a:rPr>
                <a:t>其他舱</a:t>
              </a:r>
            </a:p>
          </p:txBody>
        </p:sp>
        <p:sp>
          <p:nvSpPr>
            <p:cNvPr id="57" name="TextBox 57"/>
            <p:cNvSpPr txBox="1"/>
            <p:nvPr/>
          </p:nvSpPr>
          <p:spPr>
            <a:xfrm>
              <a:off x="3473768" y="4248626"/>
              <a:ext cx="614528" cy="220028"/>
            </a:xfrm>
            <a:prstGeom prst="rect">
              <a:avLst/>
            </a:prstGeom>
            <a:noFill/>
            <a:ln>
              <a:noFill/>
            </a:ln>
          </p:spPr>
          <p:txBody>
            <a:bodyPr wrap="none" lIns="0" tIns="0" rIns="0" bIns="0" anchor="t" anchorCtr="0">
              <a:spAutoFit/>
            </a:bodyPr>
            <a:lstStyle/>
            <a:p>
              <a:pPr algn="l"/>
              <a:r>
                <a:rPr lang="zh-CN" sz="1120" b="1" dirty="0">
                  <a:solidFill>
                    <a:srgbClr val="243B53"/>
                  </a:solidFill>
                  <a:latin typeface="+mn-lt"/>
                  <a:ea typeface="+mn-ea"/>
                  <a:cs typeface="+mn-cs"/>
                </a:rPr>
                <a:t>外国乘客</a:t>
              </a:r>
            </a:p>
          </p:txBody>
        </p:sp>
        <p:sp>
          <p:nvSpPr>
            <p:cNvPr id="58" name="TextBox 58"/>
            <p:cNvSpPr txBox="1"/>
            <p:nvPr/>
          </p:nvSpPr>
          <p:spPr>
            <a:xfrm>
              <a:off x="2048828" y="3447574"/>
              <a:ext cx="672761" cy="220028"/>
            </a:xfrm>
            <a:prstGeom prst="rect">
              <a:avLst/>
            </a:prstGeom>
            <a:noFill/>
            <a:ln>
              <a:noFill/>
            </a:ln>
          </p:spPr>
          <p:txBody>
            <a:bodyPr wrap="none" lIns="0" tIns="0" rIns="0" bIns="0" anchor="t" anchorCtr="0">
              <a:spAutoFit/>
            </a:bodyPr>
            <a:lstStyle/>
            <a:p>
              <a:pPr algn="l"/>
              <a:r>
                <a:rPr lang="en-US" sz="1120" b="1" dirty="0">
                  <a:solidFill>
                    <a:srgbClr val="243B53"/>
                  </a:solidFill>
                  <a:latin typeface="+mn-lt"/>
                  <a:ea typeface="+mn-ea"/>
                  <a:cs typeface="+mn-cs"/>
                </a:rPr>
                <a:t>W &gt; 30kg</a:t>
              </a:r>
            </a:p>
          </p:txBody>
        </p:sp>
        <p:sp>
          <p:nvSpPr>
            <p:cNvPr id="59" name="TextBox 59"/>
            <p:cNvSpPr txBox="1"/>
            <p:nvPr/>
          </p:nvSpPr>
          <p:spPr>
            <a:xfrm>
              <a:off x="622935" y="2546509"/>
              <a:ext cx="765302" cy="220028"/>
            </a:xfrm>
            <a:prstGeom prst="rect">
              <a:avLst/>
            </a:prstGeom>
            <a:noFill/>
            <a:ln>
              <a:noFill/>
            </a:ln>
          </p:spPr>
          <p:txBody>
            <a:bodyPr wrap="none" lIns="0" tIns="0" rIns="0" bIns="0" anchor="t" anchorCtr="0">
              <a:spAutoFit/>
            </a:bodyPr>
            <a:lstStyle/>
            <a:p>
              <a:pPr algn="l"/>
              <a:r>
                <a:rPr lang="zh-CN" sz="1120" b="1" dirty="0">
                  <a:solidFill>
                    <a:srgbClr val="FFFFFF"/>
                  </a:solidFill>
                  <a:latin typeface="+mn-lt"/>
                  <a:ea typeface="+mn-ea"/>
                  <a:cs typeface="+mn-cs"/>
                </a:rPr>
                <a:t>行李费算法</a:t>
              </a:r>
            </a:p>
          </p:txBody>
        </p:sp>
      </p:grpSp>
      <p:grpSp>
        <p:nvGrpSpPr>
          <p:cNvPr id="62" name="c1-text-2"/>
          <p:cNvGrpSpPr/>
          <p:nvPr/>
        </p:nvGrpSpPr>
        <p:grpSpPr>
          <a:xfrm>
            <a:off x="527685" y="5316379"/>
            <a:ext cx="3292622" cy="220028"/>
            <a:chOff x="527685" y="5316379"/>
            <a:chExt cx="3292622" cy="220028"/>
          </a:xfrm>
        </p:grpSpPr>
        <p:sp>
          <p:nvSpPr>
            <p:cNvPr id="61" name="TextBox 61"/>
            <p:cNvSpPr txBox="1"/>
            <p:nvPr/>
          </p:nvSpPr>
          <p:spPr>
            <a:xfrm>
              <a:off x="527685" y="5316379"/>
              <a:ext cx="329262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叶子上是每公斤的元数，收费 = (W − 30) × 倍率</a:t>
              </a:r>
            </a:p>
          </p:txBody>
        </p:sp>
      </p:grpSp>
      <p:grpSp>
        <p:nvGrpSpPr>
          <p:cNvPr id="79" name="c2-compare-1"/>
          <p:cNvGrpSpPr/>
          <p:nvPr/>
        </p:nvGrpSpPr>
        <p:grpSpPr>
          <a:xfrm>
            <a:off x="7546658" y="1524000"/>
            <a:ext cx="4111942" cy="1995488"/>
            <a:chOff x="7546658" y="1524000"/>
            <a:chExt cx="4111942" cy="1995488"/>
          </a:xfrm>
        </p:grpSpPr>
        <p:sp>
          <p:nvSpPr>
            <p:cNvPr id="63" name="Rectangle 63"/>
            <p:cNvSpPr/>
            <p:nvPr/>
          </p:nvSpPr>
          <p:spPr>
            <a:xfrm>
              <a:off x="7546658" y="1524000"/>
              <a:ext cx="1884045" cy="1995488"/>
            </a:xfrm>
            <a:prstGeom prst="roundRect">
              <a:avLst>
                <a:gd name="adj" fmla="val 7078"/>
              </a:avLst>
            </a:prstGeom>
            <a:solidFill>
              <a:srgbClr val="FFFFFF"/>
            </a:solidFill>
            <a:ln w="14288">
              <a:solidFill>
                <a:srgbClr val="D9DFEA"/>
              </a:solidFill>
            </a:ln>
          </p:spPr>
        </p:sp>
        <p:sp>
          <p:nvSpPr>
            <p:cNvPr id="64" name="Rectangle 64"/>
            <p:cNvSpPr/>
            <p:nvPr/>
          </p:nvSpPr>
          <p:spPr>
            <a:xfrm>
              <a:off x="7556182" y="1657350"/>
              <a:ext cx="47625" cy="1728788"/>
            </a:xfrm>
            <a:prstGeom prst="roundRect">
              <a:avLst>
                <a:gd name="adj" fmla="val 50000"/>
              </a:avLst>
            </a:prstGeom>
            <a:solidFill>
              <a:srgbClr val="14A38B"/>
            </a:solidFill>
            <a:ln>
              <a:noFill/>
            </a:ln>
          </p:spPr>
        </p:sp>
        <p:sp>
          <p:nvSpPr>
            <p:cNvPr id="65" name="TextBox 65"/>
            <p:cNvSpPr txBox="1"/>
            <p:nvPr/>
          </p:nvSpPr>
          <p:spPr>
            <a:xfrm>
              <a:off x="7764589" y="1732597"/>
              <a:ext cx="11041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判定树的优点</a:t>
              </a:r>
            </a:p>
          </p:txBody>
        </p:sp>
        <p:sp>
          <p:nvSpPr>
            <p:cNvPr id="66" name="Ellipse 66"/>
            <p:cNvSpPr/>
            <p:nvPr/>
          </p:nvSpPr>
          <p:spPr>
            <a:xfrm>
              <a:off x="7780020" y="2105978"/>
              <a:ext cx="59055" cy="59055"/>
            </a:xfrm>
            <a:prstGeom prst="ellipse">
              <a:avLst/>
            </a:prstGeom>
            <a:solidFill>
              <a:srgbClr val="334E68"/>
            </a:solidFill>
            <a:ln>
              <a:noFill/>
            </a:ln>
          </p:spPr>
        </p:sp>
        <p:sp>
          <p:nvSpPr>
            <p:cNvPr id="67" name="TextBox 67"/>
            <p:cNvSpPr txBox="1"/>
            <p:nvPr/>
          </p:nvSpPr>
          <p:spPr>
            <a:xfrm>
              <a:off x="7936039" y="2049780"/>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形式简单</a:t>
              </a:r>
            </a:p>
          </p:txBody>
        </p:sp>
        <p:sp>
          <p:nvSpPr>
            <p:cNvPr id="68" name="Ellipse 68"/>
            <p:cNvSpPr/>
            <p:nvPr/>
          </p:nvSpPr>
          <p:spPr>
            <a:xfrm>
              <a:off x="7780020" y="2406015"/>
              <a:ext cx="59055" cy="59055"/>
            </a:xfrm>
            <a:prstGeom prst="ellipse">
              <a:avLst/>
            </a:prstGeom>
            <a:solidFill>
              <a:srgbClr val="334E68"/>
            </a:solidFill>
            <a:ln>
              <a:noFill/>
            </a:ln>
          </p:spPr>
        </p:sp>
        <p:sp>
          <p:nvSpPr>
            <p:cNvPr id="69" name="TextBox 69"/>
            <p:cNvSpPr txBox="1"/>
            <p:nvPr/>
          </p:nvSpPr>
          <p:spPr>
            <a:xfrm>
              <a:off x="7936039" y="2349818"/>
              <a:ext cx="128587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比判定表更直观</a:t>
              </a:r>
            </a:p>
          </p:txBody>
        </p:sp>
        <p:sp>
          <p:nvSpPr>
            <p:cNvPr id="70" name="Rectangle 70"/>
            <p:cNvSpPr/>
            <p:nvPr/>
          </p:nvSpPr>
          <p:spPr>
            <a:xfrm>
              <a:off x="9774555" y="1524000"/>
              <a:ext cx="1884045" cy="1995488"/>
            </a:xfrm>
            <a:prstGeom prst="roundRect">
              <a:avLst>
                <a:gd name="adj" fmla="val 7078"/>
              </a:avLst>
            </a:prstGeom>
            <a:solidFill>
              <a:srgbClr val="FFFFFF"/>
            </a:solidFill>
            <a:ln w="14288">
              <a:solidFill>
                <a:srgbClr val="D9DFEA"/>
              </a:solidFill>
            </a:ln>
          </p:spPr>
        </p:sp>
        <p:sp>
          <p:nvSpPr>
            <p:cNvPr id="71" name="Rectangle 71"/>
            <p:cNvSpPr/>
            <p:nvPr/>
          </p:nvSpPr>
          <p:spPr>
            <a:xfrm>
              <a:off x="9784080" y="1657350"/>
              <a:ext cx="47625" cy="1728788"/>
            </a:xfrm>
            <a:prstGeom prst="roundRect">
              <a:avLst>
                <a:gd name="adj" fmla="val 50000"/>
              </a:avLst>
            </a:prstGeom>
            <a:solidFill>
              <a:srgbClr val="B42318"/>
            </a:solidFill>
            <a:ln>
              <a:noFill/>
            </a:ln>
          </p:spPr>
        </p:sp>
        <p:sp>
          <p:nvSpPr>
            <p:cNvPr id="72" name="TextBox 72"/>
            <p:cNvSpPr txBox="1"/>
            <p:nvPr/>
          </p:nvSpPr>
          <p:spPr>
            <a:xfrm>
              <a:off x="9992487" y="1732597"/>
              <a:ext cx="11041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判定树的缺点</a:t>
              </a:r>
            </a:p>
          </p:txBody>
        </p:sp>
        <p:sp>
          <p:nvSpPr>
            <p:cNvPr id="73" name="Ellipse 73"/>
            <p:cNvSpPr/>
            <p:nvPr/>
          </p:nvSpPr>
          <p:spPr>
            <a:xfrm>
              <a:off x="10007918" y="2105978"/>
              <a:ext cx="59055" cy="59055"/>
            </a:xfrm>
            <a:prstGeom prst="ellipse">
              <a:avLst/>
            </a:prstGeom>
            <a:solidFill>
              <a:srgbClr val="334E68"/>
            </a:solidFill>
            <a:ln>
              <a:noFill/>
            </a:ln>
          </p:spPr>
        </p:sp>
        <p:sp>
          <p:nvSpPr>
            <p:cNvPr id="74" name="TextBox 74"/>
            <p:cNvSpPr txBox="1"/>
            <p:nvPr/>
          </p:nvSpPr>
          <p:spPr>
            <a:xfrm>
              <a:off x="10163937" y="2049780"/>
              <a:ext cx="12138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简洁性不如判定</a:t>
              </a:r>
              <a:br/>
              <a:r>
                <a:rPr lang="zh-CN" sz="1350" dirty="0">
                  <a:solidFill>
                    <a:srgbClr val="1F2937"/>
                  </a:solidFill>
                  <a:latin typeface="+mn-lt"/>
                  <a:ea typeface="+mn-ea"/>
                  <a:cs typeface="+mn-cs"/>
                </a:rPr>
                <a:t>表</a:t>
              </a:r>
            </a:p>
          </p:txBody>
        </p:sp>
        <p:sp>
          <p:nvSpPr>
            <p:cNvPr id="75" name="Ellipse 75"/>
            <p:cNvSpPr/>
            <p:nvPr/>
          </p:nvSpPr>
          <p:spPr>
            <a:xfrm>
              <a:off x="10007918" y="2663190"/>
              <a:ext cx="59055" cy="59055"/>
            </a:xfrm>
            <a:prstGeom prst="ellipse">
              <a:avLst/>
            </a:prstGeom>
            <a:solidFill>
              <a:srgbClr val="334E68"/>
            </a:solidFill>
            <a:ln>
              <a:noFill/>
            </a:ln>
          </p:spPr>
        </p:sp>
        <p:sp>
          <p:nvSpPr>
            <p:cNvPr id="76" name="TextBox 76"/>
            <p:cNvSpPr txBox="1"/>
            <p:nvPr/>
          </p:nvSpPr>
          <p:spPr>
            <a:xfrm>
              <a:off x="10163937" y="2606992"/>
              <a:ext cx="12138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分枝的次序对画</a:t>
              </a:r>
              <a:br/>
              <a:r>
                <a:rPr lang="zh-CN" sz="1350" dirty="0">
                  <a:solidFill>
                    <a:srgbClr val="1F2937"/>
                  </a:solidFill>
                  <a:latin typeface="+mn-lt"/>
                  <a:ea typeface="+mn-ea"/>
                  <a:cs typeface="+mn-cs"/>
                </a:rPr>
                <a:t>出来的树繁简影</a:t>
              </a:r>
              <a:br/>
              <a:r>
                <a:rPr lang="zh-CN" sz="1350" dirty="0">
                  <a:solidFill>
                    <a:srgbClr val="1F2937"/>
                  </a:solidFill>
                  <a:latin typeface="+mn-lt"/>
                  <a:ea typeface="+mn-ea"/>
                  <a:cs typeface="+mn-cs"/>
                </a:rPr>
                <a:t>响很大</a:t>
              </a:r>
            </a:p>
          </p:txBody>
        </p:sp>
        <p:sp>
          <p:nvSpPr>
            <p:cNvPr id="77" name="Ellipse 77"/>
            <p:cNvSpPr/>
            <p:nvPr/>
          </p:nvSpPr>
          <p:spPr>
            <a:xfrm>
              <a:off x="9441180" y="2359342"/>
              <a:ext cx="323850" cy="323850"/>
            </a:xfrm>
            <a:prstGeom prst="ellipse">
              <a:avLst/>
            </a:prstGeom>
            <a:solidFill>
              <a:srgbClr val="F26B3A"/>
            </a:solidFill>
            <a:ln>
              <a:noFill/>
            </a:ln>
          </p:spPr>
        </p:sp>
        <p:sp>
          <p:nvSpPr>
            <p:cNvPr id="78" name="TextBox 78"/>
            <p:cNvSpPr txBox="1"/>
            <p:nvPr/>
          </p:nvSpPr>
          <p:spPr>
            <a:xfrm>
              <a:off x="9511520" y="2455545"/>
              <a:ext cx="18317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VS</a:t>
              </a:r>
            </a:p>
          </p:txBody>
        </p:sp>
      </p:grpSp>
      <p:grpSp>
        <p:nvGrpSpPr>
          <p:cNvPr id="85" name="c2-card-2"/>
          <p:cNvGrpSpPr/>
          <p:nvPr/>
        </p:nvGrpSpPr>
        <p:grpSpPr>
          <a:xfrm>
            <a:off x="7546658" y="3689032"/>
            <a:ext cx="4111942" cy="1700212"/>
            <a:chOff x="7546658" y="3689032"/>
            <a:chExt cx="4111942" cy="1700212"/>
          </a:xfrm>
        </p:grpSpPr>
        <p:sp>
          <p:nvSpPr>
            <p:cNvPr id="80" name="Rectangle 80"/>
            <p:cNvSpPr/>
            <p:nvPr/>
          </p:nvSpPr>
          <p:spPr>
            <a:xfrm>
              <a:off x="7546658" y="3689032"/>
              <a:ext cx="4111942" cy="1700212"/>
            </a:xfrm>
            <a:prstGeom prst="roundRect">
              <a:avLst>
                <a:gd name="adj" fmla="val 7843"/>
              </a:avLst>
            </a:prstGeom>
            <a:solidFill>
              <a:srgbClr val="FFFFFF"/>
            </a:solidFill>
            <a:ln w="14288">
              <a:solidFill>
                <a:srgbClr val="D9DFEA"/>
              </a:solidFill>
            </a:ln>
          </p:spPr>
        </p:sp>
        <p:sp>
          <p:nvSpPr>
            <p:cNvPr id="81" name="Rectangle 81"/>
            <p:cNvSpPr/>
            <p:nvPr/>
          </p:nvSpPr>
          <p:spPr>
            <a:xfrm>
              <a:off x="7556182" y="3822382"/>
              <a:ext cx="47625" cy="1433512"/>
            </a:xfrm>
            <a:prstGeom prst="roundRect">
              <a:avLst>
                <a:gd name="adj" fmla="val 50000"/>
              </a:avLst>
            </a:prstGeom>
            <a:solidFill>
              <a:srgbClr val="5B6475"/>
            </a:solidFill>
            <a:ln>
              <a:noFill/>
            </a:ln>
          </p:spPr>
        </p:sp>
        <p:sp>
          <p:nvSpPr>
            <p:cNvPr id="82" name="Rectangle 82"/>
            <p:cNvSpPr/>
            <p:nvPr/>
          </p:nvSpPr>
          <p:spPr>
            <a:xfrm>
              <a:off x="7771448" y="3875722"/>
              <a:ext cx="458152" cy="238125"/>
            </a:xfrm>
            <a:prstGeom prst="roundRect">
              <a:avLst>
                <a:gd name="adj" fmla="val 50000"/>
              </a:avLst>
            </a:prstGeom>
            <a:solidFill>
              <a:srgbClr val="F4F6FB"/>
            </a:solidFill>
            <a:ln>
              <a:noFill/>
            </a:ln>
          </p:spPr>
        </p:sp>
        <p:sp>
          <p:nvSpPr>
            <p:cNvPr id="83" name="TextBox 83"/>
            <p:cNvSpPr txBox="1"/>
            <p:nvPr/>
          </p:nvSpPr>
          <p:spPr>
            <a:xfrm>
              <a:off x="7864119" y="3908584"/>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更正</a:t>
              </a:r>
            </a:p>
          </p:txBody>
        </p:sp>
        <p:sp>
          <p:nvSpPr>
            <p:cNvPr id="84" name="TextBox 84"/>
            <p:cNvSpPr txBox="1"/>
            <p:nvPr/>
          </p:nvSpPr>
          <p:spPr>
            <a:xfrm>
              <a:off x="7764589" y="4220528"/>
              <a:ext cx="3380994" cy="103555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原课件的判定树在这一支写作「行李重量</a:t>
              </a:r>
              <a:br/>
              <a:r>
                <a:rPr lang="en-US" sz="1350" b="1" dirty="0">
                  <a:solidFill>
                    <a:srgbClr val="B42318"/>
                  </a:solidFill>
                  <a:latin typeface="+mn-lt"/>
                  <a:ea typeface="+mn-ea"/>
                  <a:cs typeface="+mn-cs"/>
                </a:rPr>
                <a:t>W&lt;30kg</a:t>
              </a:r>
              <a:r>
                <a:rPr lang="zh-CN" sz="1350" dirty="0">
                  <a:solidFill>
                    <a:srgbClr val="1F2937"/>
                  </a:solidFill>
                  <a:latin typeface="+mn-lt"/>
                  <a:ea typeface="+mn-ea"/>
                  <a:cs typeface="+mn-cs"/>
                </a:rPr>
                <a:t xml:space="preserve"> 免费」，与同一例题判定表里的 </a:t>
              </a:r>
              <a:r>
                <a:rPr lang="en-US" sz="1350" b="1" dirty="0">
                  <a:solidFill>
                    <a:srgbClr val="0F7A68"/>
                  </a:solidFill>
                  <a:latin typeface="+mn-lt"/>
                  <a:ea typeface="+mn-ea"/>
                  <a:cs typeface="+mn-cs"/>
                </a:rPr>
                <a:t>W≤</a:t>
              </a:r>
              <a:br/>
              <a:r>
                <a:rPr lang="en-US" sz="1350" b="1" dirty="0">
                  <a:solidFill>
                    <a:srgbClr val="0F7A68"/>
                  </a:solidFill>
                  <a:latin typeface="+mn-lt"/>
                  <a:ea typeface="+mn-ea"/>
                  <a:cs typeface="+mn-cs"/>
                </a:rPr>
                <a:t>30kg</a:t>
              </a:r>
              <a:r>
                <a:rPr lang="zh-CN" sz="1350" dirty="0">
                  <a:solidFill>
                    <a:srgbClr val="1F2937"/>
                  </a:solidFill>
                  <a:latin typeface="+mn-lt"/>
                  <a:ea typeface="+mn-ea"/>
                  <a:cs typeface="+mn-cs"/>
                </a:rPr>
                <a:t xml:space="preserve"> 矛盾。按题意「不超过 30kg」免费，</a:t>
              </a:r>
              <a:br/>
              <a:r>
                <a:rPr lang="zh-CN" sz="1350" dirty="0">
                  <a:solidFill>
                    <a:srgbClr val="1F2937"/>
                  </a:solidFill>
                  <a:latin typeface="+mn-lt"/>
                  <a:ea typeface="+mn-ea"/>
                  <a:cs typeface="+mn-cs"/>
                </a:rPr>
                <a:t>30kg 本身也免费，本页统一写成 W≤30kg。</a:t>
              </a:r>
            </a:p>
          </p:txBody>
        </p:sp>
      </p:grpSp>
      <p:grpSp>
        <p:nvGrpSpPr>
          <p:cNvPr id="92" name="c2-callout-3"/>
          <p:cNvGrpSpPr/>
          <p:nvPr/>
        </p:nvGrpSpPr>
        <p:grpSpPr>
          <a:xfrm>
            <a:off x="7546658" y="5558790"/>
            <a:ext cx="4111942" cy="729615"/>
            <a:chOff x="7546658" y="5558790"/>
            <a:chExt cx="4111942" cy="729615"/>
          </a:xfrm>
        </p:grpSpPr>
        <p:sp>
          <p:nvSpPr>
            <p:cNvPr id="86" name="Rectangle 86"/>
            <p:cNvSpPr/>
            <p:nvPr/>
          </p:nvSpPr>
          <p:spPr>
            <a:xfrm>
              <a:off x="7546658" y="5558790"/>
              <a:ext cx="4111942" cy="729615"/>
            </a:xfrm>
            <a:prstGeom prst="roundRect">
              <a:avLst>
                <a:gd name="adj" fmla="val 15666"/>
              </a:avLst>
            </a:prstGeom>
            <a:solidFill>
              <a:srgbClr val="FDEEE7"/>
            </a:solidFill>
            <a:ln>
              <a:noFill/>
            </a:ln>
          </p:spPr>
        </p:sp>
        <p:grpSp>
          <p:nvGrpSpPr>
            <p:cNvPr id="90" name="Group 90"/>
            <p:cNvGrpSpPr/>
            <p:nvPr/>
          </p:nvGrpSpPr>
          <p:grpSpPr>
            <a:xfrm>
              <a:off x="7751445" y="5823585"/>
              <a:ext cx="200026" cy="200025"/>
              <a:chOff x="7751445" y="5823585"/>
              <a:chExt cx="200026" cy="200025"/>
            </a:xfrm>
          </p:grpSpPr>
          <p:sp>
            <p:nvSpPr>
              <p:cNvPr id="87" name="Freeform 87"/>
              <p:cNvSpPr/>
              <p:nvPr/>
            </p:nvSpPr>
            <p:spPr>
              <a:xfrm>
                <a:off x="7751445" y="582358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88" name="Freeform 88"/>
              <p:cNvSpPr/>
              <p:nvPr/>
            </p:nvSpPr>
            <p:spPr>
              <a:xfrm>
                <a:off x="7791184" y="586803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89" name="Freeform 89"/>
              <p:cNvSpPr/>
              <p:nvPr/>
            </p:nvSpPr>
            <p:spPr>
              <a:xfrm>
                <a:off x="7825899" y="597916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91" name="TextBox 91"/>
            <p:cNvSpPr txBox="1"/>
            <p:nvPr/>
          </p:nvSpPr>
          <p:spPr>
            <a:xfrm>
              <a:off x="8054149" y="5705475"/>
              <a:ext cx="327126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判定树和判定表都只描述条件组合与动作的</a:t>
              </a:r>
              <a:br/>
              <a:r>
                <a:rPr lang="zh-CN" sz="1350" dirty="0">
                  <a:solidFill>
                    <a:srgbClr val="C2410C"/>
                  </a:solidFill>
                  <a:latin typeface="+mn-lt"/>
                  <a:ea typeface="+mn-ea"/>
                  <a:cs typeface="+mn-cs"/>
                </a:rPr>
                <a:t>对应关系，同样不表达顺序和循环。</a:t>
              </a:r>
            </a:p>
          </p:txBody>
        </p:sp>
      </p:grpSp>
      <p:grpSp>
        <p:nvGrpSpPr>
          <p:cNvPr id="95" name="footer"/>
          <p:cNvGrpSpPr/>
          <p:nvPr/>
        </p:nvGrpSpPr>
        <p:grpSpPr>
          <a:xfrm>
            <a:off x="528447" y="6581299"/>
            <a:ext cx="11135106" cy="190690"/>
            <a:chOff x="528447" y="6581299"/>
            <a:chExt cx="11135106" cy="190690"/>
          </a:xfrm>
        </p:grpSpPr>
        <p:sp>
          <p:nvSpPr>
            <p:cNvPr id="93" name="TextBox 93"/>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94" name="TextBox 9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31</a:t>
              </a:r>
            </a:p>
          </p:txBody>
        </p:sp>
      </p:gr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743836" cy="909257"/>
            <a:chOff x="520446" y="342900"/>
            <a:chExt cx="3743836"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过程设计技术和工具</a:t>
              </a:r>
            </a:p>
          </p:txBody>
        </p:sp>
        <p:sp>
          <p:nvSpPr>
            <p:cNvPr id="4" name="TextBox 4"/>
            <p:cNvSpPr txBox="1"/>
            <p:nvPr/>
          </p:nvSpPr>
          <p:spPr>
            <a:xfrm>
              <a:off x="520446" y="753428"/>
              <a:ext cx="374383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PDL：用正文写的伪代码</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7" name="c1-card-1"/>
          <p:cNvGrpSpPr/>
          <p:nvPr/>
        </p:nvGrpSpPr>
        <p:grpSpPr>
          <a:xfrm>
            <a:off x="533400" y="1524000"/>
            <a:ext cx="5410200" cy="2175510"/>
            <a:chOff x="533400" y="1524000"/>
            <a:chExt cx="5410200" cy="2175510"/>
          </a:xfrm>
        </p:grpSpPr>
        <p:sp>
          <p:nvSpPr>
            <p:cNvPr id="7" name="Rectangle 7"/>
            <p:cNvSpPr/>
            <p:nvPr/>
          </p:nvSpPr>
          <p:spPr>
            <a:xfrm>
              <a:off x="533400" y="1524000"/>
              <a:ext cx="5410200" cy="2175510"/>
            </a:xfrm>
            <a:prstGeom prst="roundRect">
              <a:avLst>
                <a:gd name="adj" fmla="val 6130"/>
              </a:avLst>
            </a:prstGeom>
            <a:solidFill>
              <a:srgbClr val="FFFFFF"/>
            </a:solidFill>
            <a:ln w="14288">
              <a:solidFill>
                <a:srgbClr val="D9DFEA"/>
              </a:solidFill>
            </a:ln>
          </p:spPr>
        </p:sp>
        <p:sp>
          <p:nvSpPr>
            <p:cNvPr id="8" name="Rectangle 8"/>
            <p:cNvSpPr/>
            <p:nvPr/>
          </p:nvSpPr>
          <p:spPr>
            <a:xfrm>
              <a:off x="542925" y="1657350"/>
              <a:ext cx="47625" cy="1908810"/>
            </a:xfrm>
            <a:prstGeom prst="roundRect">
              <a:avLst>
                <a:gd name="adj" fmla="val 50000"/>
              </a:avLst>
            </a:prstGeom>
            <a:solidFill>
              <a:srgbClr val="334E68"/>
            </a:solidFill>
            <a:ln>
              <a:noFill/>
            </a:ln>
          </p:spPr>
        </p:sp>
        <p:sp>
          <p:nvSpPr>
            <p:cNvPr id="9" name="Rectangle 9"/>
            <p:cNvSpPr/>
            <p:nvPr/>
          </p:nvSpPr>
          <p:spPr>
            <a:xfrm>
              <a:off x="769620" y="1722120"/>
              <a:ext cx="476250" cy="247650"/>
            </a:xfrm>
            <a:prstGeom prst="roundRect">
              <a:avLst>
                <a:gd name="adj" fmla="val 50000"/>
              </a:avLst>
            </a:prstGeom>
            <a:solidFill>
              <a:srgbClr val="E7EDF3"/>
            </a:solidFill>
            <a:ln>
              <a:noFill/>
            </a:ln>
          </p:spPr>
        </p:sp>
        <p:sp>
          <p:nvSpPr>
            <p:cNvPr id="10" name="TextBox 10"/>
            <p:cNvSpPr txBox="1"/>
            <p:nvPr/>
          </p:nvSpPr>
          <p:spPr>
            <a:xfrm>
              <a:off x="861060" y="1756410"/>
              <a:ext cx="293370"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定义</a:t>
              </a:r>
            </a:p>
          </p:txBody>
        </p:sp>
        <p:sp>
          <p:nvSpPr>
            <p:cNvPr id="11" name="TextBox 11"/>
            <p:cNvSpPr txBox="1"/>
            <p:nvPr/>
          </p:nvSpPr>
          <p:spPr>
            <a:xfrm>
              <a:off x="1352931" y="1756886"/>
              <a:ext cx="189369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过程设计语言（PDL）</a:t>
              </a:r>
            </a:p>
          </p:txBody>
        </p:sp>
        <p:sp>
          <p:nvSpPr>
            <p:cNvPr id="12" name="TextBox 12"/>
            <p:cNvSpPr txBox="1"/>
            <p:nvPr/>
          </p:nvSpPr>
          <p:spPr>
            <a:xfrm>
              <a:off x="762381" y="2100739"/>
              <a:ext cx="470331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用正文形式表示数据和处理过程的设计工具，也被称为</a:t>
              </a:r>
              <a:r>
                <a:rPr lang="zh-CN" sz="1420" b="1" dirty="0">
                  <a:solidFill>
                    <a:srgbClr val="C2410C"/>
                  </a:solidFill>
                  <a:latin typeface="+mn-lt"/>
                  <a:ea typeface="+mn-ea"/>
                  <a:cs typeface="+mn-cs"/>
                </a:rPr>
                <a:t>伪代</a:t>
              </a:r>
              <a:br/>
              <a:r>
                <a:rPr lang="zh-CN" sz="1420" b="1" dirty="0">
                  <a:solidFill>
                    <a:srgbClr val="C2410C"/>
                  </a:solidFill>
                  <a:latin typeface="+mn-lt"/>
                  <a:ea typeface="+mn-ea"/>
                  <a:cs typeface="+mn-cs"/>
                </a:rPr>
                <a:t>码</a:t>
              </a:r>
              <a:r>
                <a:rPr lang="zh-CN" sz="1420" dirty="0">
                  <a:solidFill>
                    <a:srgbClr val="1F2937"/>
                  </a:solidFill>
                  <a:latin typeface="+mn-lt"/>
                  <a:ea typeface="+mn-ea"/>
                  <a:cs typeface="+mn-cs"/>
                </a:rPr>
                <a:t>。</a:t>
              </a:r>
            </a:p>
          </p:txBody>
        </p:sp>
        <p:sp>
          <p:nvSpPr>
            <p:cNvPr id="13" name="Ellipse 13"/>
            <p:cNvSpPr/>
            <p:nvPr/>
          </p:nvSpPr>
          <p:spPr>
            <a:xfrm>
              <a:off x="777240" y="2749868"/>
              <a:ext cx="60960" cy="60960"/>
            </a:xfrm>
            <a:prstGeom prst="ellipse">
              <a:avLst/>
            </a:prstGeom>
            <a:solidFill>
              <a:srgbClr val="334E68"/>
            </a:solidFill>
            <a:ln>
              <a:noFill/>
            </a:ln>
          </p:spPr>
        </p:sp>
        <p:sp>
          <p:nvSpPr>
            <p:cNvPr id="14" name="TextBox 14"/>
            <p:cNvSpPr txBox="1"/>
            <p:nvPr/>
          </p:nvSpPr>
          <p:spPr>
            <a:xfrm>
              <a:off x="933831" y="2690336"/>
              <a:ext cx="4411167"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外部语法严格</a:t>
              </a:r>
              <a:r>
                <a:rPr lang="zh-CN" sz="1420" dirty="0">
                  <a:solidFill>
                    <a:srgbClr val="1F2937"/>
                  </a:solidFill>
                  <a:latin typeface="+mn-lt"/>
                  <a:ea typeface="+mn-ea"/>
                  <a:cs typeface="+mn-cs"/>
                </a:rPr>
                <a:t>：关键字用来定义控制结构和数据结构</a:t>
              </a:r>
            </a:p>
          </p:txBody>
        </p:sp>
        <p:sp>
          <p:nvSpPr>
            <p:cNvPr id="15" name="Ellipse 15"/>
            <p:cNvSpPr/>
            <p:nvPr/>
          </p:nvSpPr>
          <p:spPr>
            <a:xfrm>
              <a:off x="777240" y="3068002"/>
              <a:ext cx="60960" cy="60960"/>
            </a:xfrm>
            <a:prstGeom prst="ellipse">
              <a:avLst/>
            </a:prstGeom>
            <a:solidFill>
              <a:srgbClr val="334E68"/>
            </a:solidFill>
            <a:ln>
              <a:noFill/>
            </a:ln>
          </p:spPr>
        </p:sp>
        <p:sp>
          <p:nvSpPr>
            <p:cNvPr id="16" name="TextBox 16"/>
            <p:cNvSpPr txBox="1"/>
            <p:nvPr/>
          </p:nvSpPr>
          <p:spPr>
            <a:xfrm>
              <a:off x="933831" y="3007519"/>
              <a:ext cx="4522978" cy="550164"/>
            </a:xfrm>
            <a:prstGeom prst="rect">
              <a:avLst/>
            </a:prstGeom>
            <a:noFill/>
            <a:ln>
              <a:noFill/>
            </a:ln>
          </p:spPr>
          <p:txBody>
            <a:bodyPr wrap="none" lIns="0" tIns="0" rIns="0" bIns="0" anchor="t" anchorCtr="0">
              <a:spAutoFit/>
            </a:bodyPr>
            <a:lstStyle/>
            <a:p>
              <a:pPr algn="l">
                <a:lnSpc>
                  <a:spcPts val="2138"/>
                </a:lnSpc>
              </a:pPr>
              <a:r>
                <a:rPr lang="zh-CN" sz="1420" b="1" dirty="0">
                  <a:solidFill>
                    <a:srgbClr val="1F2937"/>
                  </a:solidFill>
                  <a:latin typeface="+mn-lt"/>
                  <a:ea typeface="+mn-ea"/>
                  <a:cs typeface="+mn-cs"/>
                </a:rPr>
                <a:t>内部语法自由</a:t>
              </a:r>
              <a:r>
                <a:rPr lang="zh-CN" sz="1420" dirty="0">
                  <a:solidFill>
                    <a:srgbClr val="1F2937"/>
                  </a:solidFill>
                  <a:latin typeface="+mn-lt"/>
                  <a:ea typeface="+mn-ea"/>
                  <a:cs typeface="+mn-cs"/>
                </a:rPr>
                <a:t>：表示实际操作和条件的部分可以随项目需</a:t>
              </a:r>
              <a:br/>
              <a:r>
                <a:rPr lang="zh-CN" sz="1420" dirty="0">
                  <a:solidFill>
                    <a:srgbClr val="1F2937"/>
                  </a:solidFill>
                  <a:latin typeface="+mn-lt"/>
                  <a:ea typeface="+mn-ea"/>
                  <a:cs typeface="+mn-cs"/>
                </a:rPr>
                <a:t>要写</a:t>
              </a:r>
            </a:p>
          </p:txBody>
        </p:sp>
      </p:grpSp>
      <p:grpSp>
        <p:nvGrpSpPr>
          <p:cNvPr id="21" name="c1-code-2"/>
          <p:cNvGrpSpPr/>
          <p:nvPr/>
        </p:nvGrpSpPr>
        <p:grpSpPr>
          <a:xfrm>
            <a:off x="533400" y="3880485"/>
            <a:ext cx="5410200" cy="1829752"/>
            <a:chOff x="533400" y="3880485"/>
            <a:chExt cx="5410200" cy="1829752"/>
          </a:xfrm>
        </p:grpSpPr>
        <p:sp>
          <p:nvSpPr>
            <p:cNvPr id="18" name="Rectangle 18"/>
            <p:cNvSpPr/>
            <p:nvPr/>
          </p:nvSpPr>
          <p:spPr>
            <a:xfrm>
              <a:off x="533400" y="3880485"/>
              <a:ext cx="5410200" cy="1829752"/>
            </a:xfrm>
            <a:prstGeom prst="roundRect">
              <a:avLst>
                <a:gd name="adj" fmla="val 5206"/>
              </a:avLst>
            </a:prstGeom>
            <a:solidFill>
              <a:srgbClr val="F6F8FA"/>
            </a:solidFill>
            <a:ln w="11430">
              <a:solidFill>
                <a:srgbClr val="D9DFEA"/>
              </a:solidFill>
            </a:ln>
          </p:spPr>
        </p:sp>
        <p:sp>
          <p:nvSpPr>
            <p:cNvPr id="19" name="TextBox 19"/>
            <p:cNvSpPr txBox="1"/>
            <p:nvPr/>
          </p:nvSpPr>
          <p:spPr>
            <a:xfrm>
              <a:off x="661797" y="4032409"/>
              <a:ext cx="1197254"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示例：拼写检查程序</a:t>
              </a:r>
            </a:p>
          </p:txBody>
        </p:sp>
        <p:sp>
          <p:nvSpPr>
            <p:cNvPr id="20" name="TextBox 20"/>
            <p:cNvSpPr txBox="1"/>
            <p:nvPr/>
          </p:nvSpPr>
          <p:spPr>
            <a:xfrm>
              <a:off x="661416" y="4293870"/>
              <a:ext cx="4217861" cy="1342644"/>
            </a:xfrm>
            <a:prstGeom prst="rect">
              <a:avLst/>
            </a:prstGeom>
            <a:noFill/>
            <a:ln>
              <a:noFill/>
            </a:ln>
          </p:spPr>
          <p:txBody>
            <a:bodyPr wrap="none" lIns="0" tIns="0" rIns="0" bIns="0" anchor="t" anchorCtr="0">
              <a:spAutoFit/>
            </a:bodyPr>
            <a:lstStyle/>
            <a:p>
              <a:pPr algn="l">
                <a:lnSpc>
                  <a:spcPts val="1492"/>
                </a:lnSpc>
              </a:pPr>
              <a:r>
                <a:rPr lang="zh-CN" sz="1050" dirty="0">
                  <a:solidFill>
                    <a:srgbClr val="1F2937"/>
                  </a:solidFill>
                  <a:latin typeface="Consolas"/>
                  <a:ea typeface="Microsoft YaHei"/>
                  <a:cs typeface="Consolas"/>
                </a:rPr>
                <a:t>PROCEDURE spellcheck IS            查找错拼的单词</a:t>
              </a:r>
              <a:br/>
              <a:r>
                <a:rPr lang="en-US" sz="1050" dirty="0">
                  <a:solidFill>
                    <a:srgbClr val="1F2937"/>
                  </a:solidFill>
                  <a:latin typeface="Consolas"/>
                  <a:ea typeface="Consolas"/>
                  <a:cs typeface="Consolas"/>
                </a:rPr>
                <a:t xml:space="preserve">  BEGIN</a:t>
              </a:r>
              <a:br/>
              <a:r>
                <a:rPr lang="zh-CN" sz="1050" dirty="0">
                  <a:solidFill>
                    <a:srgbClr val="1F2937"/>
                  </a:solidFill>
                  <a:latin typeface="Consolas"/>
                  <a:ea typeface="Microsoft YaHei"/>
                  <a:cs typeface="Consolas"/>
                </a:rPr>
                <a:t xml:space="preserve">    split document into single words     把文档分离成单词</a:t>
              </a:r>
              <a:br/>
              <a:r>
                <a:rPr lang="zh-CN" sz="1050" dirty="0">
                  <a:solidFill>
                    <a:srgbClr val="1F2937"/>
                  </a:solidFill>
                  <a:latin typeface="Consolas"/>
                  <a:ea typeface="Microsoft YaHei"/>
                  <a:cs typeface="Consolas"/>
                </a:rPr>
                <a:t xml:space="preserve">    look up words in dictionary          在字典中查这些单词</a:t>
              </a:r>
              <a:br/>
              <a:r>
                <a:rPr lang="zh-CN" sz="1050" dirty="0">
                  <a:solidFill>
                    <a:srgbClr val="1F2937"/>
                  </a:solidFill>
                  <a:latin typeface="Consolas"/>
                  <a:ea typeface="Microsoft YaHei"/>
                  <a:cs typeface="Consolas"/>
                </a:rPr>
                <a:t xml:space="preserve">    display words not in dictionary      显示查不到的单词</a:t>
              </a:r>
              <a:br/>
              <a:r>
                <a:rPr lang="zh-CN" sz="1050" dirty="0">
                  <a:solidFill>
                    <a:srgbClr val="1F2937"/>
                  </a:solidFill>
                  <a:latin typeface="Consolas"/>
                  <a:ea typeface="Microsoft YaHei"/>
                  <a:cs typeface="Consolas"/>
                </a:rPr>
                <a:t xml:space="preserve">    create a new dictionary              造一新字典</a:t>
              </a:r>
              <a:br/>
              <a:r>
                <a:rPr lang="en-US" sz="1050" dirty="0">
                  <a:solidFill>
                    <a:srgbClr val="1F2937"/>
                  </a:solidFill>
                  <a:latin typeface="Consolas"/>
                  <a:ea typeface="Consolas"/>
                  <a:cs typeface="Consolas"/>
                </a:rPr>
                <a:t xml:space="preserve">  END spellcheck</a:t>
              </a:r>
            </a:p>
          </p:txBody>
        </p:sp>
      </p:grpSp>
      <p:grpSp>
        <p:nvGrpSpPr>
          <p:cNvPr id="29" name="c2-bullets-1"/>
          <p:cNvGrpSpPr/>
          <p:nvPr/>
        </p:nvGrpSpPr>
        <p:grpSpPr>
          <a:xfrm>
            <a:off x="6241161" y="1547336"/>
            <a:ext cx="5499405" cy="1539812"/>
            <a:chOff x="6241161" y="1547336"/>
            <a:chExt cx="5499405" cy="1539812"/>
          </a:xfrm>
        </p:grpSpPr>
        <p:sp>
          <p:nvSpPr>
            <p:cNvPr id="22" name="TextBox 22"/>
            <p:cNvSpPr txBox="1"/>
            <p:nvPr/>
          </p:nvSpPr>
          <p:spPr>
            <a:xfrm>
              <a:off x="6241161" y="1547336"/>
              <a:ext cx="1001515"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PDL 的优点</a:t>
              </a:r>
            </a:p>
          </p:txBody>
        </p:sp>
        <p:sp>
          <p:nvSpPr>
            <p:cNvPr id="23" name="Freeform 23"/>
            <p:cNvSpPr/>
            <p:nvPr/>
          </p:nvSpPr>
          <p:spPr>
            <a:xfrm>
              <a:off x="6248400" y="1913572"/>
              <a:ext cx="137160" cy="110490"/>
            </a:xfrm>
            <a:custGeom>
              <a:avLst/>
              <a:gdLst/>
              <a:ahLst/>
              <a:cxnLst/>
              <a:rect l="l" t="t" r="r" b="b"/>
              <a:pathLst>
                <a:path w="137160" h="110490">
                  <a:moveTo>
                    <a:pt x="0" y="58102"/>
                  </a:moveTo>
                  <a:lnTo>
                    <a:pt x="52388" y="110490"/>
                  </a:lnTo>
                  <a:lnTo>
                    <a:pt x="137160" y="0"/>
                  </a:lnTo>
                </a:path>
              </a:pathLst>
            </a:custGeom>
            <a:noFill/>
            <a:ln w="24765" cap="rnd">
              <a:solidFill>
                <a:srgbClr val="14A38B"/>
              </a:solidFill>
              <a:round/>
            </a:ln>
          </p:spPr>
        </p:sp>
        <p:sp>
          <p:nvSpPr>
            <p:cNvPr id="24" name="TextBox 24"/>
            <p:cNvSpPr txBox="1"/>
            <p:nvPr/>
          </p:nvSpPr>
          <p:spPr>
            <a:xfrm>
              <a:off x="6492621" y="1883569"/>
              <a:ext cx="488365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可以作为</a:t>
              </a:r>
              <a:r>
                <a:rPr lang="zh-CN" sz="1420" b="1" dirty="0">
                  <a:solidFill>
                    <a:srgbClr val="C2410C"/>
                  </a:solidFill>
                  <a:latin typeface="+mn-lt"/>
                  <a:ea typeface="+mn-ea"/>
                  <a:cs typeface="+mn-cs"/>
                </a:rPr>
                <a:t>注释直接插在源程序中间</a:t>
              </a:r>
              <a:r>
                <a:rPr lang="zh-CN" sz="1420" dirty="0">
                  <a:solidFill>
                    <a:srgbClr val="1F2937"/>
                  </a:solidFill>
                  <a:latin typeface="+mn-lt"/>
                  <a:ea typeface="+mn-ea"/>
                  <a:cs typeface="+mn-cs"/>
                </a:rPr>
                <a:t>，促使维护人员改代码时同</a:t>
              </a:r>
              <a:br/>
              <a:r>
                <a:rPr lang="zh-CN" sz="1420" dirty="0">
                  <a:solidFill>
                    <a:srgbClr val="1F2937"/>
                  </a:solidFill>
                  <a:latin typeface="+mn-lt"/>
                  <a:ea typeface="+mn-ea"/>
                  <a:cs typeface="+mn-cs"/>
                </a:rPr>
                <a:t>时改注释，文档和程序不容易脱节</a:t>
              </a:r>
            </a:p>
          </p:txBody>
        </p:sp>
        <p:sp>
          <p:nvSpPr>
            <p:cNvPr id="25" name="Freeform 25"/>
            <p:cNvSpPr/>
            <p:nvPr/>
          </p:nvSpPr>
          <p:spPr>
            <a:xfrm>
              <a:off x="6248400" y="2511742"/>
              <a:ext cx="137160" cy="110490"/>
            </a:xfrm>
            <a:custGeom>
              <a:avLst/>
              <a:gdLst/>
              <a:ahLst/>
              <a:cxnLst/>
              <a:rect l="l" t="t" r="r" b="b"/>
              <a:pathLst>
                <a:path w="137160" h="110490">
                  <a:moveTo>
                    <a:pt x="0" y="58103"/>
                  </a:moveTo>
                  <a:lnTo>
                    <a:pt x="52388" y="110490"/>
                  </a:lnTo>
                  <a:lnTo>
                    <a:pt x="137160" y="0"/>
                  </a:lnTo>
                </a:path>
              </a:pathLst>
            </a:custGeom>
            <a:noFill/>
            <a:ln w="24765" cap="rnd">
              <a:solidFill>
                <a:srgbClr val="14A38B"/>
              </a:solidFill>
              <a:round/>
            </a:ln>
          </p:spPr>
        </p:sp>
        <p:sp>
          <p:nvSpPr>
            <p:cNvPr id="26" name="TextBox 26"/>
            <p:cNvSpPr txBox="1"/>
            <p:nvPr/>
          </p:nvSpPr>
          <p:spPr>
            <a:xfrm>
              <a:off x="6492621" y="2481739"/>
              <a:ext cx="4984648"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用普通的正文编辑程序或文字处理系统就能完成书写和编辑</a:t>
              </a:r>
            </a:p>
          </p:txBody>
        </p:sp>
        <p:sp>
          <p:nvSpPr>
            <p:cNvPr id="27" name="Freeform 27"/>
            <p:cNvSpPr/>
            <p:nvPr/>
          </p:nvSpPr>
          <p:spPr>
            <a:xfrm>
              <a:off x="6248400" y="2838450"/>
              <a:ext cx="137160" cy="110490"/>
            </a:xfrm>
            <a:custGeom>
              <a:avLst/>
              <a:gdLst/>
              <a:ahLst/>
              <a:cxnLst/>
              <a:rect l="l" t="t" r="r" b="b"/>
              <a:pathLst>
                <a:path w="137160" h="110490">
                  <a:moveTo>
                    <a:pt x="0" y="58103"/>
                  </a:moveTo>
                  <a:lnTo>
                    <a:pt x="52388" y="110490"/>
                  </a:lnTo>
                  <a:lnTo>
                    <a:pt x="137160" y="0"/>
                  </a:lnTo>
                </a:path>
              </a:pathLst>
            </a:custGeom>
            <a:noFill/>
            <a:ln w="24765" cap="rnd">
              <a:solidFill>
                <a:srgbClr val="14A38B"/>
              </a:solidFill>
              <a:round/>
            </a:ln>
          </p:spPr>
        </p:sp>
        <p:sp>
          <p:nvSpPr>
            <p:cNvPr id="28" name="TextBox 28"/>
            <p:cNvSpPr txBox="1"/>
            <p:nvPr/>
          </p:nvSpPr>
          <p:spPr>
            <a:xfrm>
              <a:off x="6492621" y="2808446"/>
              <a:ext cx="524794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已经有自动处理程序存在，而且可以自动由 PDL 生成程序代码</a:t>
              </a:r>
            </a:p>
          </p:txBody>
        </p:sp>
      </p:grpSp>
      <p:grpSp>
        <p:nvGrpSpPr>
          <p:cNvPr id="35" name="c2-bullets-2"/>
          <p:cNvGrpSpPr/>
          <p:nvPr/>
        </p:nvGrpSpPr>
        <p:grpSpPr>
          <a:xfrm>
            <a:off x="6241161" y="3234214"/>
            <a:ext cx="5125593" cy="1213104"/>
            <a:chOff x="6241161" y="3234214"/>
            <a:chExt cx="5125593" cy="1213104"/>
          </a:xfrm>
        </p:grpSpPr>
        <p:sp>
          <p:nvSpPr>
            <p:cNvPr id="30" name="TextBox 30"/>
            <p:cNvSpPr txBox="1"/>
            <p:nvPr/>
          </p:nvSpPr>
          <p:spPr>
            <a:xfrm>
              <a:off x="6241161" y="3234214"/>
              <a:ext cx="1001515"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PDL 的缺点</a:t>
              </a:r>
            </a:p>
          </p:txBody>
        </p:sp>
        <p:sp>
          <p:nvSpPr>
            <p:cNvPr id="31" name="Freeform 31"/>
            <p:cNvSpPr/>
            <p:nvPr/>
          </p:nvSpPr>
          <p:spPr>
            <a:xfrm>
              <a:off x="6248400" y="3604260"/>
              <a:ext cx="108585" cy="108585"/>
            </a:xfrm>
            <a:custGeom>
              <a:avLst/>
              <a:gdLst/>
              <a:ahLst/>
              <a:cxnLst/>
              <a:rect l="l" t="t" r="r" b="b"/>
              <a:pathLst>
                <a:path w="108585" h="108585">
                  <a:moveTo>
                    <a:pt x="0" y="0"/>
                  </a:moveTo>
                  <a:lnTo>
                    <a:pt x="108585" y="108585"/>
                  </a:lnTo>
                  <a:moveTo>
                    <a:pt x="108585" y="0"/>
                  </a:moveTo>
                  <a:lnTo>
                    <a:pt x="0" y="108585"/>
                  </a:lnTo>
                </a:path>
              </a:pathLst>
            </a:custGeom>
            <a:noFill/>
            <a:ln w="24765" cap="rnd">
              <a:solidFill>
                <a:srgbClr val="B42318"/>
              </a:solidFill>
            </a:ln>
          </p:spPr>
        </p:sp>
        <p:sp>
          <p:nvSpPr>
            <p:cNvPr id="32" name="TextBox 32"/>
            <p:cNvSpPr txBox="1"/>
            <p:nvPr/>
          </p:nvSpPr>
          <p:spPr>
            <a:xfrm>
              <a:off x="6483096" y="3570446"/>
              <a:ext cx="1926082"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不如图形工具形象直观</a:t>
              </a:r>
            </a:p>
          </p:txBody>
        </p:sp>
        <p:sp>
          <p:nvSpPr>
            <p:cNvPr id="33" name="Freeform 33"/>
            <p:cNvSpPr/>
            <p:nvPr/>
          </p:nvSpPr>
          <p:spPr>
            <a:xfrm>
              <a:off x="6248400" y="3930968"/>
              <a:ext cx="108585" cy="108585"/>
            </a:xfrm>
            <a:custGeom>
              <a:avLst/>
              <a:gdLst/>
              <a:ahLst/>
              <a:cxnLst/>
              <a:rect l="l" t="t" r="r" b="b"/>
              <a:pathLst>
                <a:path w="108585" h="108585">
                  <a:moveTo>
                    <a:pt x="0" y="0"/>
                  </a:moveTo>
                  <a:lnTo>
                    <a:pt x="108585" y="108585"/>
                  </a:lnTo>
                  <a:moveTo>
                    <a:pt x="108585" y="0"/>
                  </a:moveTo>
                  <a:lnTo>
                    <a:pt x="0" y="108585"/>
                  </a:lnTo>
                </a:path>
              </a:pathLst>
            </a:custGeom>
            <a:noFill/>
            <a:ln w="24765" cap="rnd">
              <a:solidFill>
                <a:srgbClr val="B42318"/>
              </a:solidFill>
            </a:ln>
          </p:spPr>
        </p:sp>
        <p:sp>
          <p:nvSpPr>
            <p:cNvPr id="34" name="TextBox 34"/>
            <p:cNvSpPr txBox="1"/>
            <p:nvPr/>
          </p:nvSpPr>
          <p:spPr>
            <a:xfrm>
              <a:off x="6483096" y="3897154"/>
              <a:ext cx="488365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描述复杂的条件组合与动作间的对应关系时，不如判定表清晰</a:t>
              </a:r>
              <a:br/>
              <a:r>
                <a:rPr lang="zh-CN" sz="1420" dirty="0">
                  <a:solidFill>
                    <a:srgbClr val="1F2937"/>
                  </a:solidFill>
                  <a:latin typeface="+mn-lt"/>
                  <a:ea typeface="+mn-ea"/>
                  <a:cs typeface="+mn-cs"/>
                </a:rPr>
                <a:t>简单</a:t>
              </a:r>
            </a:p>
          </p:txBody>
        </p:sp>
      </p:grpSp>
      <p:grpSp>
        <p:nvGrpSpPr>
          <p:cNvPr id="42" name="c2-card-3"/>
          <p:cNvGrpSpPr/>
          <p:nvPr/>
        </p:nvGrpSpPr>
        <p:grpSpPr>
          <a:xfrm>
            <a:off x="6248400" y="4571048"/>
            <a:ext cx="5410200" cy="1750695"/>
            <a:chOff x="6248400" y="4571048"/>
            <a:chExt cx="5410200" cy="1750695"/>
          </a:xfrm>
        </p:grpSpPr>
        <p:sp>
          <p:nvSpPr>
            <p:cNvPr id="36" name="Rectangle 36"/>
            <p:cNvSpPr/>
            <p:nvPr/>
          </p:nvSpPr>
          <p:spPr>
            <a:xfrm>
              <a:off x="6248400" y="4571048"/>
              <a:ext cx="5410200" cy="1750695"/>
            </a:xfrm>
            <a:prstGeom prst="roundRect">
              <a:avLst>
                <a:gd name="adj" fmla="val 7617"/>
              </a:avLst>
            </a:prstGeom>
            <a:solidFill>
              <a:srgbClr val="FFFFFF"/>
            </a:solidFill>
            <a:ln w="14288">
              <a:solidFill>
                <a:srgbClr val="D9DFEA"/>
              </a:solidFill>
            </a:ln>
          </p:spPr>
        </p:sp>
        <p:sp>
          <p:nvSpPr>
            <p:cNvPr id="37" name="Rectangle 37"/>
            <p:cNvSpPr/>
            <p:nvPr/>
          </p:nvSpPr>
          <p:spPr>
            <a:xfrm>
              <a:off x="6257925" y="4704398"/>
              <a:ext cx="47625" cy="1483995"/>
            </a:xfrm>
            <a:prstGeom prst="roundRect">
              <a:avLst>
                <a:gd name="adj" fmla="val 50000"/>
              </a:avLst>
            </a:prstGeom>
            <a:solidFill>
              <a:srgbClr val="5B6475"/>
            </a:solidFill>
            <a:ln>
              <a:noFill/>
            </a:ln>
          </p:spPr>
        </p:sp>
        <p:sp>
          <p:nvSpPr>
            <p:cNvPr id="38" name="Rectangle 38"/>
            <p:cNvSpPr/>
            <p:nvPr/>
          </p:nvSpPr>
          <p:spPr>
            <a:xfrm>
              <a:off x="6484620" y="4769168"/>
              <a:ext cx="1283018" cy="247650"/>
            </a:xfrm>
            <a:prstGeom prst="roundRect">
              <a:avLst>
                <a:gd name="adj" fmla="val 50000"/>
              </a:avLst>
            </a:prstGeom>
            <a:solidFill>
              <a:srgbClr val="F4F6FB"/>
            </a:solidFill>
            <a:ln>
              <a:noFill/>
            </a:ln>
          </p:spPr>
        </p:sp>
        <p:sp>
          <p:nvSpPr>
            <p:cNvPr id="39" name="TextBox 39"/>
            <p:cNvSpPr txBox="1"/>
            <p:nvPr/>
          </p:nvSpPr>
          <p:spPr>
            <a:xfrm>
              <a:off x="6543366" y="4803458"/>
              <a:ext cx="1164572"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PDL 常用的关键字</a:t>
              </a:r>
            </a:p>
          </p:txBody>
        </p:sp>
        <p:sp>
          <p:nvSpPr>
            <p:cNvPr id="40" name="TextBox 40"/>
            <p:cNvSpPr txBox="1"/>
            <p:nvPr/>
          </p:nvSpPr>
          <p:spPr>
            <a:xfrm>
              <a:off x="6477381" y="5129689"/>
              <a:ext cx="4685284"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控制结构：</a:t>
              </a:r>
              <a:r>
                <a:rPr lang="en-US" sz="1420" dirty="0">
                  <a:solidFill>
                    <a:srgbClr val="243B53"/>
                  </a:solidFill>
                  <a:latin typeface="+mn-lt"/>
                  <a:ea typeface="+mn-ea"/>
                  <a:cs typeface="+mn-cs"/>
                </a:rPr>
                <a:t>IF…THEN…ELSE…ENDIF</a:t>
              </a:r>
              <a:r>
                <a:rPr lang="zh-CN" sz="1420" dirty="0">
                  <a:solidFill>
                    <a:srgbClr val="1F2937"/>
                  </a:solidFill>
                  <a:latin typeface="+mn-lt"/>
                  <a:ea typeface="+mn-ea"/>
                  <a:cs typeface="+mn-cs"/>
                </a:rPr>
                <a:t>、</a:t>
              </a:r>
              <a:r>
                <a:rPr lang="en-US" sz="1420" dirty="0">
                  <a:solidFill>
                    <a:srgbClr val="243B53"/>
                  </a:solidFill>
                  <a:latin typeface="+mn-lt"/>
                  <a:ea typeface="+mn-ea"/>
                  <a:cs typeface="+mn-cs"/>
                </a:rPr>
                <a:t>CASE OF…ENDCASE</a:t>
              </a:r>
              <a:r>
                <a:rPr lang="zh-CN" sz="1420" dirty="0">
                  <a:solidFill>
                    <a:srgbClr val="1F2937"/>
                  </a:solidFill>
                  <a:latin typeface="+mn-lt"/>
                  <a:ea typeface="+mn-ea"/>
                  <a:cs typeface="+mn-cs"/>
                </a:rPr>
                <a:t>、</a:t>
              </a:r>
              <a:r>
                <a:rPr lang="en-US" sz="1420" dirty="0">
                  <a:solidFill>
                    <a:srgbClr val="243B53"/>
                  </a:solidFill>
                  <a:latin typeface="+mn-lt"/>
                  <a:ea typeface="+mn-ea"/>
                  <a:cs typeface="+mn-cs"/>
                </a:rPr>
                <a:t>DO</a:t>
              </a:r>
              <a:br/>
              <a:r>
                <a:rPr lang="en-US" sz="1420" dirty="0">
                  <a:solidFill>
                    <a:srgbClr val="243B53"/>
                  </a:solidFill>
                  <a:latin typeface="+mn-lt"/>
                  <a:ea typeface="+mn-ea"/>
                  <a:cs typeface="+mn-cs"/>
                </a:rPr>
                <a:t>WHILE…ENDDO</a:t>
              </a:r>
              <a:r>
                <a:rPr lang="zh-CN" sz="1420" dirty="0">
                  <a:solidFill>
                    <a:srgbClr val="1F2937"/>
                  </a:solidFill>
                  <a:latin typeface="+mn-lt"/>
                  <a:ea typeface="+mn-ea"/>
                  <a:cs typeface="+mn-cs"/>
                </a:rPr>
                <a:t>、</a:t>
              </a:r>
              <a:r>
                <a:rPr lang="en-US" sz="1420" dirty="0">
                  <a:solidFill>
                    <a:srgbClr val="243B53"/>
                  </a:solidFill>
                  <a:latin typeface="+mn-lt"/>
                  <a:ea typeface="+mn-ea"/>
                  <a:cs typeface="+mn-cs"/>
                </a:rPr>
                <a:t>REPEAT UNTIL…</a:t>
              </a:r>
              <a:r>
                <a:rPr lang="zh-CN" sz="1420" dirty="0">
                  <a:solidFill>
                    <a:srgbClr val="1F2937"/>
                  </a:solidFill>
                  <a:latin typeface="+mn-lt"/>
                  <a:ea typeface="+mn-ea"/>
                  <a:cs typeface="+mn-cs"/>
                </a:rPr>
                <a:t>、</a:t>
              </a:r>
              <a:r>
                <a:rPr lang="en-US" sz="1420" dirty="0">
                  <a:solidFill>
                    <a:srgbClr val="243B53"/>
                  </a:solidFill>
                  <a:latin typeface="+mn-lt"/>
                  <a:ea typeface="+mn-ea"/>
                  <a:cs typeface="+mn-cs"/>
                </a:rPr>
                <a:t>PROCEDURE…END</a:t>
              </a:r>
              <a:r>
                <a:rPr lang="zh-CN" sz="1420" dirty="0">
                  <a:solidFill>
                    <a:srgbClr val="1F2937"/>
                  </a:solidFill>
                  <a:latin typeface="+mn-lt"/>
                  <a:ea typeface="+mn-ea"/>
                  <a:cs typeface="+mn-cs"/>
                </a:rPr>
                <a:t>。</a:t>
              </a:r>
            </a:p>
          </p:txBody>
        </p:sp>
        <p:sp>
          <p:nvSpPr>
            <p:cNvPr id="41" name="TextBox 41"/>
            <p:cNvSpPr txBox="1"/>
            <p:nvPr/>
          </p:nvSpPr>
          <p:spPr>
            <a:xfrm>
              <a:off x="6478524" y="5715000"/>
              <a:ext cx="458419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5B6475"/>
                  </a:solidFill>
                  <a:latin typeface="+mn-lt"/>
                  <a:ea typeface="+mn-ea"/>
                  <a:cs typeface="+mn-cs"/>
                </a:rPr>
                <a:t>关键字这一层是固定的（外部语法严格），关键字之间写中文还是英</a:t>
              </a:r>
              <a:br/>
              <a:r>
                <a:rPr lang="zh-CN" sz="1200" dirty="0">
                  <a:solidFill>
                    <a:srgbClr val="5B6475"/>
                  </a:solidFill>
                  <a:latin typeface="+mn-lt"/>
                  <a:ea typeface="+mn-ea"/>
                  <a:cs typeface="+mn-cs"/>
                </a:rPr>
                <a:t>文、写到多细，由项目自己定（内部语法自由）。</a:t>
              </a:r>
            </a:p>
          </p:txBody>
        </p:sp>
      </p:grpSp>
      <p:grpSp>
        <p:nvGrpSpPr>
          <p:cNvPr id="45" name="footer"/>
          <p:cNvGrpSpPr/>
          <p:nvPr/>
        </p:nvGrpSpPr>
        <p:grpSpPr>
          <a:xfrm>
            <a:off x="528447" y="6581299"/>
            <a:ext cx="11135106" cy="190690"/>
            <a:chOff x="528447" y="6581299"/>
            <a:chExt cx="11135106" cy="190690"/>
          </a:xfrm>
        </p:grpSpPr>
        <p:sp>
          <p:nvSpPr>
            <p:cNvPr id="43" name="TextBox 43"/>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44" name="TextBox 4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32</a:t>
              </a:r>
            </a:p>
          </p:txBody>
        </p:sp>
      </p:grpSp>
    </p:spTree>
  </p:cSld>
  <p:clrMapOvr>
    <a:masterClrMapping/>
  </p:clrMapOvr>
  <p:transition xmlns:p14="http://schemas.microsoft.com/office/powerpoint/2010/main" p14:dur="400">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458718" cy="909257"/>
            <a:chOff x="520446" y="342900"/>
            <a:chExt cx="3458718" cy="909257"/>
          </a:xfrm>
        </p:grpSpPr>
        <p:sp>
          <p:nvSpPr>
            <p:cNvPr id="2" name="Rectangle 2"/>
            <p:cNvSpPr/>
            <p:nvPr/>
          </p:nvSpPr>
          <p:spPr>
            <a:xfrm>
              <a:off x="533400" y="342900"/>
              <a:ext cx="2699385" cy="266700"/>
            </a:xfrm>
            <a:prstGeom prst="roundRect">
              <a:avLst>
                <a:gd name="adj" fmla="val 50000"/>
              </a:avLst>
            </a:prstGeom>
            <a:solidFill>
              <a:srgbClr val="E7EDF3"/>
            </a:solidFill>
            <a:ln>
              <a:noFill/>
            </a:ln>
          </p:spPr>
        </p:sp>
        <p:sp>
          <p:nvSpPr>
            <p:cNvPr id="3" name="TextBox 3"/>
            <p:cNvSpPr txBox="1"/>
            <p:nvPr/>
          </p:nvSpPr>
          <p:spPr>
            <a:xfrm>
              <a:off x="588256" y="407194"/>
              <a:ext cx="2589672"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过程设计技术和工具</a:t>
              </a:r>
            </a:p>
          </p:txBody>
        </p:sp>
        <p:sp>
          <p:nvSpPr>
            <p:cNvPr id="4" name="TextBox 4"/>
            <p:cNvSpPr txBox="1"/>
            <p:nvPr/>
          </p:nvSpPr>
          <p:spPr>
            <a:xfrm>
              <a:off x="520446" y="753428"/>
              <a:ext cx="345871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六种过程设计工具对照</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8" name="c1-table-1"/>
          <p:cNvGrpSpPr/>
          <p:nvPr/>
        </p:nvGrpSpPr>
        <p:grpSpPr>
          <a:xfrm>
            <a:off x="533400" y="1524000"/>
            <a:ext cx="11125200" cy="3600450"/>
            <a:chOff x="533400" y="1524000"/>
            <a:chExt cx="11125200" cy="3600450"/>
          </a:xfrm>
        </p:grpSpPr>
        <p:sp>
          <p:nvSpPr>
            <p:cNvPr id="7" name="Rectangle 7"/>
            <p:cNvSpPr/>
            <p:nvPr/>
          </p:nvSpPr>
          <p:spPr>
            <a:xfrm>
              <a:off x="533400" y="1524000"/>
              <a:ext cx="11125200" cy="400050"/>
            </a:xfrm>
            <a:prstGeom prst="rect">
              <a:avLst/>
            </a:prstGeom>
            <a:solidFill>
              <a:srgbClr val="334E68"/>
            </a:solidFill>
            <a:ln>
              <a:noFill/>
            </a:ln>
          </p:spPr>
        </p:sp>
        <p:sp>
          <p:nvSpPr>
            <p:cNvPr id="8" name="TextBox 8"/>
            <p:cNvSpPr txBox="1"/>
            <p:nvPr/>
          </p:nvSpPr>
          <p:spPr>
            <a:xfrm>
              <a:off x="1211301" y="1645444"/>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工具</a:t>
              </a:r>
            </a:p>
          </p:txBody>
        </p:sp>
        <p:sp>
          <p:nvSpPr>
            <p:cNvPr id="9" name="TextBox 9"/>
            <p:cNvSpPr txBox="1"/>
            <p:nvPr/>
          </p:nvSpPr>
          <p:spPr>
            <a:xfrm>
              <a:off x="2601951" y="1645444"/>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类别</a:t>
              </a:r>
            </a:p>
          </p:txBody>
        </p:sp>
        <p:sp>
          <p:nvSpPr>
            <p:cNvPr id="10" name="TextBox 10"/>
            <p:cNvSpPr txBox="1"/>
            <p:nvPr/>
          </p:nvSpPr>
          <p:spPr>
            <a:xfrm>
              <a:off x="5328006" y="1645444"/>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优点</a:t>
              </a:r>
            </a:p>
          </p:txBody>
        </p:sp>
        <p:sp>
          <p:nvSpPr>
            <p:cNvPr id="11" name="TextBox 11"/>
            <p:cNvSpPr txBox="1"/>
            <p:nvPr/>
          </p:nvSpPr>
          <p:spPr>
            <a:xfrm>
              <a:off x="9499956" y="1645444"/>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缺点</a:t>
              </a:r>
            </a:p>
          </p:txBody>
        </p:sp>
        <p:sp>
          <p:nvSpPr>
            <p:cNvPr id="12" name="TextBox 12"/>
            <p:cNvSpPr txBox="1"/>
            <p:nvPr/>
          </p:nvSpPr>
          <p:spPr>
            <a:xfrm>
              <a:off x="630555" y="2145506"/>
              <a:ext cx="7653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程序流程图</a:t>
              </a:r>
            </a:p>
          </p:txBody>
        </p:sp>
        <p:sp>
          <p:nvSpPr>
            <p:cNvPr id="13" name="TextBox 13"/>
            <p:cNvSpPr txBox="1"/>
            <p:nvPr/>
          </p:nvSpPr>
          <p:spPr>
            <a:xfrm>
              <a:off x="2299335" y="2145506"/>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图形</a:t>
              </a:r>
            </a:p>
          </p:txBody>
        </p:sp>
        <p:sp>
          <p:nvSpPr>
            <p:cNvPr id="14" name="TextBox 14"/>
            <p:cNvSpPr txBox="1"/>
            <p:nvPr/>
          </p:nvSpPr>
          <p:spPr>
            <a:xfrm>
              <a:off x="3411855" y="2145506"/>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画法人人都懂，最容易上手</a:t>
              </a:r>
            </a:p>
          </p:txBody>
        </p:sp>
        <p:sp>
          <p:nvSpPr>
            <p:cNvPr id="15" name="TextBox 15"/>
            <p:cNvSpPr txBox="1"/>
            <p:nvPr/>
          </p:nvSpPr>
          <p:spPr>
            <a:xfrm>
              <a:off x="7750492" y="2045494"/>
              <a:ext cx="356743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不是逐步求精的好工具；可以随意转移控制；不易表示数</a:t>
              </a:r>
              <a:br/>
              <a:r>
                <a:rPr lang="zh-CN" sz="1120" dirty="0">
                  <a:solidFill>
                    <a:srgbClr val="1F2937"/>
                  </a:solidFill>
                  <a:latin typeface="+mn-lt"/>
                  <a:ea typeface="+mn-ea"/>
                  <a:cs typeface="+mn-cs"/>
                </a:rPr>
                <a:t>据结构</a:t>
              </a:r>
            </a:p>
          </p:txBody>
        </p:sp>
        <p:sp>
          <p:nvSpPr>
            <p:cNvPr id="16" name="Rectangle 16"/>
            <p:cNvSpPr/>
            <p:nvPr/>
          </p:nvSpPr>
          <p:spPr>
            <a:xfrm>
              <a:off x="533400" y="2519362"/>
              <a:ext cx="11125200" cy="9525"/>
            </a:xfrm>
            <a:prstGeom prst="rect">
              <a:avLst/>
            </a:prstGeom>
            <a:solidFill>
              <a:srgbClr val="D9DFEA"/>
            </a:solidFill>
            <a:ln>
              <a:noFill/>
            </a:ln>
          </p:spPr>
        </p:sp>
        <p:sp>
          <p:nvSpPr>
            <p:cNvPr id="17" name="Rectangle 17"/>
            <p:cNvSpPr/>
            <p:nvPr/>
          </p:nvSpPr>
          <p:spPr>
            <a:xfrm>
              <a:off x="533400" y="2524125"/>
              <a:ext cx="11125200" cy="600075"/>
            </a:xfrm>
            <a:prstGeom prst="rect">
              <a:avLst/>
            </a:prstGeom>
            <a:solidFill>
              <a:srgbClr val="F4F6FB"/>
            </a:solidFill>
            <a:ln>
              <a:noFill/>
            </a:ln>
          </p:spPr>
        </p:sp>
        <p:sp>
          <p:nvSpPr>
            <p:cNvPr id="18" name="TextBox 18"/>
            <p:cNvSpPr txBox="1"/>
            <p:nvPr/>
          </p:nvSpPr>
          <p:spPr>
            <a:xfrm>
              <a:off x="630555" y="2745581"/>
              <a:ext cx="1091487"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盒图（N-S 图）</a:t>
              </a:r>
            </a:p>
          </p:txBody>
        </p:sp>
        <p:sp>
          <p:nvSpPr>
            <p:cNvPr id="19" name="TextBox 19"/>
            <p:cNvSpPr txBox="1"/>
            <p:nvPr/>
          </p:nvSpPr>
          <p:spPr>
            <a:xfrm>
              <a:off x="2299335" y="2745581"/>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图形</a:t>
              </a:r>
            </a:p>
          </p:txBody>
        </p:sp>
        <p:sp>
          <p:nvSpPr>
            <p:cNvPr id="20" name="TextBox 20"/>
            <p:cNvSpPr txBox="1"/>
            <p:nvPr/>
          </p:nvSpPr>
          <p:spPr>
            <a:xfrm>
              <a:off x="3411855" y="2645569"/>
              <a:ext cx="385191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功能域明确；不可能任意转移控制；容易确定作用域；容易表</a:t>
              </a:r>
              <a:br/>
              <a:r>
                <a:rPr lang="zh-CN" sz="1120" dirty="0">
                  <a:solidFill>
                    <a:srgbClr val="1F2937"/>
                  </a:solidFill>
                  <a:latin typeface="+mn-lt"/>
                  <a:ea typeface="+mn-ea"/>
                  <a:cs typeface="+mn-cs"/>
                </a:rPr>
                <a:t>现嵌套和层次</a:t>
              </a:r>
            </a:p>
          </p:txBody>
        </p:sp>
        <p:sp>
          <p:nvSpPr>
            <p:cNvPr id="21" name="TextBox 21"/>
            <p:cNvSpPr txBox="1"/>
            <p:nvPr/>
          </p:nvSpPr>
          <p:spPr>
            <a:xfrm>
              <a:off x="7750492" y="2745581"/>
              <a:ext cx="151917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修改时要重画整块方框</a:t>
              </a:r>
            </a:p>
          </p:txBody>
        </p:sp>
        <p:sp>
          <p:nvSpPr>
            <p:cNvPr id="22" name="Rectangle 22"/>
            <p:cNvSpPr/>
            <p:nvPr/>
          </p:nvSpPr>
          <p:spPr>
            <a:xfrm>
              <a:off x="533400" y="3119438"/>
              <a:ext cx="11125200" cy="9525"/>
            </a:xfrm>
            <a:prstGeom prst="rect">
              <a:avLst/>
            </a:prstGeom>
            <a:solidFill>
              <a:srgbClr val="D9DFEA"/>
            </a:solidFill>
            <a:ln>
              <a:noFill/>
            </a:ln>
          </p:spPr>
        </p:sp>
        <p:sp>
          <p:nvSpPr>
            <p:cNvPr id="23" name="TextBox 23"/>
            <p:cNvSpPr txBox="1"/>
            <p:nvPr/>
          </p:nvSpPr>
          <p:spPr>
            <a:xfrm>
              <a:off x="630555" y="3345656"/>
              <a:ext cx="488389"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PAD 图</a:t>
              </a:r>
            </a:p>
          </p:txBody>
        </p:sp>
        <p:sp>
          <p:nvSpPr>
            <p:cNvPr id="24" name="TextBox 24"/>
            <p:cNvSpPr txBox="1"/>
            <p:nvPr/>
          </p:nvSpPr>
          <p:spPr>
            <a:xfrm>
              <a:off x="2299335" y="3345656"/>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图形</a:t>
              </a:r>
            </a:p>
          </p:txBody>
        </p:sp>
        <p:sp>
          <p:nvSpPr>
            <p:cNvPr id="25" name="TextBox 25"/>
            <p:cNvSpPr txBox="1"/>
            <p:nvPr/>
          </p:nvSpPr>
          <p:spPr>
            <a:xfrm>
              <a:off x="3411855" y="3245644"/>
              <a:ext cx="370967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画出来必然是结构化程序；结构清晰易读；可自动转成源程</a:t>
              </a:r>
              <a:br/>
              <a:r>
                <a:rPr lang="zh-CN" sz="1120" dirty="0">
                  <a:solidFill>
                    <a:srgbClr val="1F2937"/>
                  </a:solidFill>
                  <a:latin typeface="+mn-lt"/>
                  <a:ea typeface="+mn-ea"/>
                  <a:cs typeface="+mn-cs"/>
                </a:rPr>
                <a:t>序；也能描绘数据结构</a:t>
              </a:r>
            </a:p>
          </p:txBody>
        </p:sp>
        <p:sp>
          <p:nvSpPr>
            <p:cNvPr id="26" name="TextBox 26"/>
            <p:cNvSpPr txBox="1"/>
            <p:nvPr/>
          </p:nvSpPr>
          <p:spPr>
            <a:xfrm>
              <a:off x="7750492" y="3345656"/>
              <a:ext cx="166994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需要专门的画图工具支持</a:t>
              </a:r>
            </a:p>
          </p:txBody>
        </p:sp>
        <p:sp>
          <p:nvSpPr>
            <p:cNvPr id="27" name="Rectangle 27"/>
            <p:cNvSpPr/>
            <p:nvPr/>
          </p:nvSpPr>
          <p:spPr>
            <a:xfrm>
              <a:off x="533400" y="3719512"/>
              <a:ext cx="11125200" cy="9525"/>
            </a:xfrm>
            <a:prstGeom prst="rect">
              <a:avLst/>
            </a:prstGeom>
            <a:solidFill>
              <a:srgbClr val="D9DFEA"/>
            </a:solidFill>
            <a:ln>
              <a:noFill/>
            </a:ln>
          </p:spPr>
        </p:sp>
        <p:sp>
          <p:nvSpPr>
            <p:cNvPr id="28" name="Rectangle 28"/>
            <p:cNvSpPr/>
            <p:nvPr/>
          </p:nvSpPr>
          <p:spPr>
            <a:xfrm>
              <a:off x="533400" y="3724275"/>
              <a:ext cx="11125200" cy="600075"/>
            </a:xfrm>
            <a:prstGeom prst="rect">
              <a:avLst/>
            </a:prstGeom>
            <a:solidFill>
              <a:srgbClr val="F4F6FB"/>
            </a:solidFill>
            <a:ln>
              <a:noFill/>
            </a:ln>
          </p:spPr>
        </p:sp>
        <p:sp>
          <p:nvSpPr>
            <p:cNvPr id="29" name="TextBox 29"/>
            <p:cNvSpPr txBox="1"/>
            <p:nvPr/>
          </p:nvSpPr>
          <p:spPr>
            <a:xfrm>
              <a:off x="630555" y="3945731"/>
              <a:ext cx="46375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判定表</a:t>
              </a:r>
            </a:p>
          </p:txBody>
        </p:sp>
        <p:sp>
          <p:nvSpPr>
            <p:cNvPr id="30" name="TextBox 30"/>
            <p:cNvSpPr txBox="1"/>
            <p:nvPr/>
          </p:nvSpPr>
          <p:spPr>
            <a:xfrm>
              <a:off x="2299335" y="3945731"/>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表格</a:t>
              </a:r>
            </a:p>
          </p:txBody>
        </p:sp>
        <p:sp>
          <p:nvSpPr>
            <p:cNvPr id="31" name="TextBox 31"/>
            <p:cNvSpPr txBox="1"/>
            <p:nvPr/>
          </p:nvSpPr>
          <p:spPr>
            <a:xfrm>
              <a:off x="3411855" y="3845719"/>
              <a:ext cx="3851910"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1F2937"/>
                  </a:solidFill>
                  <a:latin typeface="+mn-lt"/>
                  <a:ea typeface="+mn-ea"/>
                  <a:cs typeface="+mn-cs"/>
                </a:rPr>
                <a:t>简洁、无二义性地描述所有处理规则，适合多重嵌套的条件选</a:t>
              </a:r>
              <a:br/>
              <a:r>
                <a:rPr lang="zh-CN" sz="1120" dirty="0">
                  <a:solidFill>
                    <a:srgbClr val="1F2937"/>
                  </a:solidFill>
                  <a:latin typeface="+mn-lt"/>
                  <a:ea typeface="+mn-ea"/>
                  <a:cs typeface="+mn-cs"/>
                </a:rPr>
                <a:t>择</a:t>
              </a:r>
            </a:p>
          </p:txBody>
        </p:sp>
        <p:sp>
          <p:nvSpPr>
            <p:cNvPr id="32" name="TextBox 32"/>
            <p:cNvSpPr txBox="1"/>
            <p:nvPr/>
          </p:nvSpPr>
          <p:spPr>
            <a:xfrm>
              <a:off x="7750492" y="3945731"/>
              <a:ext cx="272536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静态逻辑；不能表达加工顺序和循环结构</a:t>
              </a:r>
            </a:p>
          </p:txBody>
        </p:sp>
        <p:sp>
          <p:nvSpPr>
            <p:cNvPr id="33" name="Rectangle 33"/>
            <p:cNvSpPr/>
            <p:nvPr/>
          </p:nvSpPr>
          <p:spPr>
            <a:xfrm>
              <a:off x="533400" y="4319588"/>
              <a:ext cx="11125200" cy="9525"/>
            </a:xfrm>
            <a:prstGeom prst="rect">
              <a:avLst/>
            </a:prstGeom>
            <a:solidFill>
              <a:srgbClr val="D9DFEA"/>
            </a:solidFill>
            <a:ln>
              <a:noFill/>
            </a:ln>
          </p:spPr>
        </p:sp>
        <p:sp>
          <p:nvSpPr>
            <p:cNvPr id="34" name="TextBox 34"/>
            <p:cNvSpPr txBox="1"/>
            <p:nvPr/>
          </p:nvSpPr>
          <p:spPr>
            <a:xfrm>
              <a:off x="630555" y="4445794"/>
              <a:ext cx="463753"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判定树</a:t>
              </a:r>
            </a:p>
          </p:txBody>
        </p:sp>
        <p:sp>
          <p:nvSpPr>
            <p:cNvPr id="35" name="TextBox 35"/>
            <p:cNvSpPr txBox="1"/>
            <p:nvPr/>
          </p:nvSpPr>
          <p:spPr>
            <a:xfrm>
              <a:off x="2299335" y="4445794"/>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表格</a:t>
              </a:r>
            </a:p>
          </p:txBody>
        </p:sp>
        <p:sp>
          <p:nvSpPr>
            <p:cNvPr id="36" name="TextBox 36"/>
            <p:cNvSpPr txBox="1"/>
            <p:nvPr/>
          </p:nvSpPr>
          <p:spPr>
            <a:xfrm>
              <a:off x="3411855" y="4445794"/>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形式简单，比判定表更直观</a:t>
              </a:r>
            </a:p>
          </p:txBody>
        </p:sp>
        <p:sp>
          <p:nvSpPr>
            <p:cNvPr id="37" name="TextBox 37"/>
            <p:cNvSpPr txBox="1"/>
            <p:nvPr/>
          </p:nvSpPr>
          <p:spPr>
            <a:xfrm>
              <a:off x="7750492" y="4445794"/>
              <a:ext cx="257459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简洁性不如判定表；分枝次序影响繁简</a:t>
              </a:r>
            </a:p>
          </p:txBody>
        </p:sp>
        <p:sp>
          <p:nvSpPr>
            <p:cNvPr id="38" name="Rectangle 38"/>
            <p:cNvSpPr/>
            <p:nvPr/>
          </p:nvSpPr>
          <p:spPr>
            <a:xfrm>
              <a:off x="533400" y="4719638"/>
              <a:ext cx="11125200" cy="9525"/>
            </a:xfrm>
            <a:prstGeom prst="rect">
              <a:avLst/>
            </a:prstGeom>
            <a:solidFill>
              <a:srgbClr val="D9DFEA"/>
            </a:solidFill>
            <a:ln>
              <a:noFill/>
            </a:ln>
          </p:spPr>
        </p:sp>
        <p:sp>
          <p:nvSpPr>
            <p:cNvPr id="39" name="Rectangle 39"/>
            <p:cNvSpPr/>
            <p:nvPr/>
          </p:nvSpPr>
          <p:spPr>
            <a:xfrm>
              <a:off x="533400" y="4724400"/>
              <a:ext cx="11125200" cy="400050"/>
            </a:xfrm>
            <a:prstGeom prst="rect">
              <a:avLst/>
            </a:prstGeom>
            <a:solidFill>
              <a:srgbClr val="F4F6FB"/>
            </a:solidFill>
            <a:ln>
              <a:noFill/>
            </a:ln>
          </p:spPr>
        </p:sp>
        <p:sp>
          <p:nvSpPr>
            <p:cNvPr id="40" name="TextBox 40"/>
            <p:cNvSpPr txBox="1"/>
            <p:nvPr/>
          </p:nvSpPr>
          <p:spPr>
            <a:xfrm>
              <a:off x="630555" y="4845844"/>
              <a:ext cx="890530"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PDL（伪码）</a:t>
              </a:r>
            </a:p>
          </p:txBody>
        </p:sp>
        <p:sp>
          <p:nvSpPr>
            <p:cNvPr id="41" name="TextBox 41"/>
            <p:cNvSpPr txBox="1"/>
            <p:nvPr/>
          </p:nvSpPr>
          <p:spPr>
            <a:xfrm>
              <a:off x="2299335" y="4845844"/>
              <a:ext cx="31297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语言</a:t>
              </a:r>
            </a:p>
          </p:txBody>
        </p:sp>
        <p:sp>
          <p:nvSpPr>
            <p:cNvPr id="42" name="TextBox 42"/>
            <p:cNvSpPr txBox="1"/>
            <p:nvPr/>
          </p:nvSpPr>
          <p:spPr>
            <a:xfrm>
              <a:off x="3411855" y="4845844"/>
              <a:ext cx="408233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可作注释插在源程序中；普通编辑器就能写；可自动生成代码</a:t>
              </a:r>
            </a:p>
          </p:txBody>
        </p:sp>
        <p:sp>
          <p:nvSpPr>
            <p:cNvPr id="43" name="TextBox 43"/>
            <p:cNvSpPr txBox="1"/>
            <p:nvPr/>
          </p:nvSpPr>
          <p:spPr>
            <a:xfrm>
              <a:off x="7750492" y="4845844"/>
              <a:ext cx="302691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不如图形直观；描述复杂条件组合不如判定表</a:t>
              </a:r>
            </a:p>
          </p:txBody>
        </p:sp>
        <p:sp>
          <p:nvSpPr>
            <p:cNvPr id="44" name="Rectangle 44"/>
            <p:cNvSpPr/>
            <p:nvPr/>
          </p:nvSpPr>
          <p:spPr>
            <a:xfrm>
              <a:off x="533400" y="1524000"/>
              <a:ext cx="11125200" cy="3600450"/>
            </a:xfrm>
            <a:prstGeom prst="rect">
              <a:avLst/>
            </a:prstGeom>
            <a:noFill/>
            <a:ln w="14288">
              <a:solidFill>
                <a:srgbClr val="D9DFEA"/>
              </a:solidFill>
            </a:ln>
          </p:spPr>
        </p:sp>
        <p:sp>
          <p:nvSpPr>
            <p:cNvPr id="45" name="Rectangle 45"/>
            <p:cNvSpPr/>
            <p:nvPr/>
          </p:nvSpPr>
          <p:spPr>
            <a:xfrm>
              <a:off x="2197418" y="1524000"/>
              <a:ext cx="9525" cy="3600450"/>
            </a:xfrm>
            <a:prstGeom prst="rect">
              <a:avLst/>
            </a:prstGeom>
            <a:solidFill>
              <a:srgbClr val="D9DFEA"/>
            </a:solidFill>
            <a:ln>
              <a:noFill/>
            </a:ln>
          </p:spPr>
        </p:sp>
        <p:sp>
          <p:nvSpPr>
            <p:cNvPr id="46" name="Rectangle 46"/>
            <p:cNvSpPr/>
            <p:nvPr/>
          </p:nvSpPr>
          <p:spPr>
            <a:xfrm>
              <a:off x="3309938" y="1524000"/>
              <a:ext cx="9525" cy="3600450"/>
            </a:xfrm>
            <a:prstGeom prst="rect">
              <a:avLst/>
            </a:prstGeom>
            <a:solidFill>
              <a:srgbClr val="D9DFEA"/>
            </a:solidFill>
            <a:ln>
              <a:noFill/>
            </a:ln>
          </p:spPr>
        </p:sp>
        <p:sp>
          <p:nvSpPr>
            <p:cNvPr id="47" name="Rectangle 47"/>
            <p:cNvSpPr/>
            <p:nvPr/>
          </p:nvSpPr>
          <p:spPr>
            <a:xfrm>
              <a:off x="7648575" y="1524000"/>
              <a:ext cx="9525" cy="3600450"/>
            </a:xfrm>
            <a:prstGeom prst="rect">
              <a:avLst/>
            </a:prstGeom>
            <a:solidFill>
              <a:srgbClr val="D9DFEA"/>
            </a:solidFill>
            <a:ln>
              <a:noFill/>
            </a:ln>
          </p:spPr>
        </p:sp>
      </p:grpSp>
      <p:grpSp>
        <p:nvGrpSpPr>
          <p:cNvPr id="54" name="takeaway"/>
          <p:cNvGrpSpPr/>
          <p:nvPr/>
        </p:nvGrpSpPr>
        <p:grpSpPr>
          <a:xfrm>
            <a:off x="533400" y="5633085"/>
            <a:ext cx="11125200" cy="729615"/>
            <a:chOff x="533400" y="5633085"/>
            <a:chExt cx="11125200" cy="729615"/>
          </a:xfrm>
        </p:grpSpPr>
        <p:sp>
          <p:nvSpPr>
            <p:cNvPr id="49" name="Rectangle 49"/>
            <p:cNvSpPr/>
            <p:nvPr/>
          </p:nvSpPr>
          <p:spPr>
            <a:xfrm>
              <a:off x="533400" y="5633085"/>
              <a:ext cx="11125200" cy="729615"/>
            </a:xfrm>
            <a:prstGeom prst="roundRect">
              <a:avLst>
                <a:gd name="adj" fmla="val 15666"/>
              </a:avLst>
            </a:prstGeom>
            <a:solidFill>
              <a:srgbClr val="334E68"/>
            </a:solidFill>
            <a:ln>
              <a:noFill/>
            </a:ln>
          </p:spPr>
        </p:sp>
        <p:grpSp>
          <p:nvGrpSpPr>
            <p:cNvPr id="52" name="Group 52"/>
            <p:cNvGrpSpPr/>
            <p:nvPr/>
          </p:nvGrpSpPr>
          <p:grpSpPr>
            <a:xfrm>
              <a:off x="738188" y="5897882"/>
              <a:ext cx="200023" cy="200023"/>
              <a:chOff x="738188" y="5897882"/>
              <a:chExt cx="200023" cy="200023"/>
            </a:xfrm>
          </p:grpSpPr>
          <p:sp>
            <p:nvSpPr>
              <p:cNvPr id="50" name="Freeform 50"/>
              <p:cNvSpPr/>
              <p:nvPr/>
            </p:nvSpPr>
            <p:spPr>
              <a:xfrm>
                <a:off x="738188" y="589788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1" name="Freeform 51"/>
              <p:cNvSpPr/>
              <p:nvPr/>
            </p:nvSpPr>
            <p:spPr>
              <a:xfrm>
                <a:off x="871538" y="596455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3" name="TextBox 53"/>
            <p:cNvSpPr txBox="1"/>
            <p:nvPr/>
          </p:nvSpPr>
          <p:spPr>
            <a:xfrm>
              <a:off x="1040892" y="5779770"/>
              <a:ext cx="9949244"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记忆办法：说「随意转移控制」的是流程图，说「功能域」的是盒图，说「必然结构化」的是 PAD，说「静态逻辑」的是判定表，说</a:t>
              </a:r>
              <a:br/>
              <a:r>
                <a:rPr lang="zh-CN" sz="1350" dirty="0">
                  <a:solidFill>
                    <a:srgbClr val="FFFFFF"/>
                  </a:solidFill>
                  <a:latin typeface="+mn-lt"/>
                  <a:ea typeface="+mn-ea"/>
                  <a:cs typeface="+mn-cs"/>
                </a:rPr>
                <a:t>「能作注释」的是 PDL。</a:t>
              </a:r>
            </a:p>
          </p:txBody>
        </p:sp>
      </p:grpSp>
      <p:grpSp>
        <p:nvGrpSpPr>
          <p:cNvPr id="57" name="footer"/>
          <p:cNvGrpSpPr/>
          <p:nvPr/>
        </p:nvGrpSpPr>
        <p:grpSpPr>
          <a:xfrm>
            <a:off x="528447" y="6581299"/>
            <a:ext cx="11135106" cy="190690"/>
            <a:chOff x="528447" y="6581299"/>
            <a:chExt cx="11135106" cy="190690"/>
          </a:xfrm>
        </p:grpSpPr>
        <p:sp>
          <p:nvSpPr>
            <p:cNvPr id="55" name="TextBox 55"/>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56" name="TextBox 5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33</a:t>
              </a:r>
            </a:p>
          </p:txBody>
        </p:sp>
      </p:grpSp>
    </p:spTree>
  </p:cSld>
  <p:clrMapOvr>
    <a:masterClrMapping/>
  </p:clrMapOvr>
  <p:transition xmlns:p14="http://schemas.microsoft.com/office/powerpoint/2010/main" p14:dur="400">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04</a:t>
              </a:r>
            </a:p>
          </p:txBody>
        </p:sp>
      </p:grpSp>
      <p:grpSp>
        <p:nvGrpSpPr>
          <p:cNvPr id="16" name="section-title"/>
          <p:cNvGrpSpPr/>
          <p:nvPr/>
        </p:nvGrpSpPr>
        <p:grpSpPr>
          <a:xfrm>
            <a:off x="667512" y="1835468"/>
            <a:ext cx="5367528" cy="2997517"/>
            <a:chOff x="667512" y="1835468"/>
            <a:chExt cx="5367528" cy="299751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第四部分</a:t>
              </a:r>
            </a:p>
          </p:txBody>
        </p:sp>
        <p:sp>
          <p:nvSpPr>
            <p:cNvPr id="7" name="TextBox 7"/>
            <p:cNvSpPr txBox="1"/>
            <p:nvPr/>
          </p:nvSpPr>
          <p:spPr>
            <a:xfrm>
              <a:off x="667512" y="2240280"/>
              <a:ext cx="5367528"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面向数据结构的设计方法</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5125593"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输入输出的数据结构长什么样，程序结构就长什么样</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247546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Jackson 图的三种基本结构</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227353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Jackson 方法的五个步骤</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28422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统计空格与信用卡帐册两个实例</a:t>
              </a:r>
            </a:p>
          </p:txBody>
        </p:sp>
      </p:grpSp>
      <p:grpSp>
        <p:nvGrpSpPr>
          <p:cNvPr id="19" name="footer"/>
          <p:cNvGrpSpPr/>
          <p:nvPr/>
        </p:nvGrpSpPr>
        <p:grpSpPr>
          <a:xfrm>
            <a:off x="528447" y="6581299"/>
            <a:ext cx="11135106" cy="190690"/>
            <a:chOff x="528447" y="6581299"/>
            <a:chExt cx="11135106" cy="190690"/>
          </a:xfrm>
        </p:grpSpPr>
        <p:sp>
          <p:nvSpPr>
            <p:cNvPr id="17" name="TextBox 17"/>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18" name="TextBox 1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34</a:t>
              </a:r>
            </a:p>
          </p:txBody>
        </p:sp>
      </p:grpSp>
    </p:spTree>
  </p:cSld>
  <p:clrMapOvr>
    <a:masterClrMapping/>
  </p:clrMapOvr>
  <p:transition xmlns:p14="http://schemas.microsoft.com/office/powerpoint/2010/main" p14:dur="400">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026347" cy="909257"/>
            <a:chOff x="520446" y="342900"/>
            <a:chExt cx="7026347"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面向数据结构的设计方法</a:t>
              </a:r>
            </a:p>
          </p:txBody>
        </p:sp>
        <p:sp>
          <p:nvSpPr>
            <p:cNvPr id="4" name="TextBox 4"/>
            <p:cNvSpPr txBox="1"/>
            <p:nvPr/>
          </p:nvSpPr>
          <p:spPr>
            <a:xfrm>
              <a:off x="520446" y="753428"/>
              <a:ext cx="70263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Jackson 图：顺序、选择、重复三种基本结构</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8949385" cy="308039"/>
            <a:chOff x="525399" y="1550194"/>
            <a:chExt cx="8949385" cy="308039"/>
          </a:xfrm>
        </p:grpSpPr>
        <p:sp>
          <p:nvSpPr>
            <p:cNvPr id="7" name="TextBox 7"/>
            <p:cNvSpPr txBox="1"/>
            <p:nvPr/>
          </p:nvSpPr>
          <p:spPr>
            <a:xfrm>
              <a:off x="525399" y="1550194"/>
              <a:ext cx="8949385"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同一种图既能描述数据结构，也能描述程序结构；框里画的是数据还是语句块，看用在哪一步。</a:t>
              </a:r>
            </a:p>
          </p:txBody>
        </p:sp>
      </p:grpSp>
      <p:grpSp>
        <p:nvGrpSpPr>
          <p:cNvPr id="10" name="c1-text-1"/>
          <p:cNvGrpSpPr/>
          <p:nvPr/>
        </p:nvGrpSpPr>
        <p:grpSpPr>
          <a:xfrm>
            <a:off x="526923" y="1988344"/>
            <a:ext cx="702208" cy="249364"/>
            <a:chOff x="526923" y="1988344"/>
            <a:chExt cx="702208" cy="249364"/>
          </a:xfrm>
        </p:grpSpPr>
        <p:sp>
          <p:nvSpPr>
            <p:cNvPr id="9" name="TextBox 9"/>
            <p:cNvSpPr txBox="1"/>
            <p:nvPr/>
          </p:nvSpPr>
          <p:spPr>
            <a:xfrm>
              <a:off x="526923" y="1988344"/>
              <a:ext cx="702208" cy="249364"/>
            </a:xfrm>
            <a:prstGeom prst="rect">
              <a:avLst/>
            </a:prstGeom>
            <a:noFill/>
            <a:ln>
              <a:noFill/>
            </a:ln>
          </p:spPr>
          <p:txBody>
            <a:bodyPr wrap="none" lIns="0" tIns="0" rIns="0" bIns="0" anchor="t" anchorCtr="0">
              <a:spAutoFit/>
            </a:bodyPr>
            <a:lstStyle/>
            <a:p>
              <a:pPr algn="l"/>
              <a:r>
                <a:rPr lang="zh-CN" sz="1280" b="1" dirty="0">
                  <a:solidFill>
                    <a:srgbClr val="334E68"/>
                  </a:solidFill>
                  <a:latin typeface="+mn-lt"/>
                  <a:ea typeface="+mn-ea"/>
                  <a:cs typeface="+mn-cs"/>
                </a:rPr>
                <a:t>顺序结构</a:t>
              </a:r>
            </a:p>
          </p:txBody>
        </p:sp>
      </p:grpSp>
      <p:grpSp>
        <p:nvGrpSpPr>
          <p:cNvPr id="22" name="c1-tree-2"/>
          <p:cNvGrpSpPr/>
          <p:nvPr/>
        </p:nvGrpSpPr>
        <p:grpSpPr>
          <a:xfrm>
            <a:off x="907732" y="2621280"/>
            <a:ext cx="2756536" cy="1323975"/>
            <a:chOff x="907732" y="2621280"/>
            <a:chExt cx="2756536" cy="1323975"/>
          </a:xfrm>
        </p:grpSpPr>
        <p:sp>
          <p:nvSpPr>
            <p:cNvPr id="11" name="Freeform 11"/>
            <p:cNvSpPr/>
            <p:nvPr/>
          </p:nvSpPr>
          <p:spPr>
            <a:xfrm>
              <a:off x="1117282" y="2830830"/>
              <a:ext cx="1168718" cy="904875"/>
            </a:xfrm>
            <a:custGeom>
              <a:avLst/>
              <a:gdLst/>
              <a:ahLst/>
              <a:cxnLst/>
              <a:rect l="l" t="t" r="r" b="b"/>
              <a:pathLst>
                <a:path w="1168718" h="904875">
                  <a:moveTo>
                    <a:pt x="1168718" y="0"/>
                  </a:moveTo>
                  <a:lnTo>
                    <a:pt x="0" y="904875"/>
                  </a:lnTo>
                </a:path>
              </a:pathLst>
            </a:custGeom>
            <a:noFill/>
            <a:ln w="15240">
              <a:solidFill>
                <a:srgbClr val="5B6475"/>
              </a:solidFill>
            </a:ln>
          </p:spPr>
        </p:sp>
        <p:sp>
          <p:nvSpPr>
            <p:cNvPr id="12" name="Freeform 12"/>
            <p:cNvSpPr/>
            <p:nvPr/>
          </p:nvSpPr>
          <p:spPr>
            <a:xfrm>
              <a:off x="2286000" y="2830830"/>
              <a:ext cx="9525" cy="904875"/>
            </a:xfrm>
            <a:custGeom>
              <a:avLst/>
              <a:gdLst/>
              <a:ahLst/>
              <a:cxnLst/>
              <a:rect l="l" t="t" r="r" b="b"/>
              <a:pathLst>
                <a:path w="9525" h="904875">
                  <a:moveTo>
                    <a:pt x="0" y="0"/>
                  </a:moveTo>
                  <a:lnTo>
                    <a:pt x="0" y="904875"/>
                  </a:lnTo>
                </a:path>
              </a:pathLst>
            </a:custGeom>
            <a:noFill/>
            <a:ln w="15240">
              <a:solidFill>
                <a:srgbClr val="5B6475"/>
              </a:solidFill>
            </a:ln>
          </p:spPr>
        </p:sp>
        <p:sp>
          <p:nvSpPr>
            <p:cNvPr id="13" name="Freeform 13"/>
            <p:cNvSpPr/>
            <p:nvPr/>
          </p:nvSpPr>
          <p:spPr>
            <a:xfrm>
              <a:off x="2286000" y="2830830"/>
              <a:ext cx="1168718" cy="904875"/>
            </a:xfrm>
            <a:custGeom>
              <a:avLst/>
              <a:gdLst/>
              <a:ahLst/>
              <a:cxnLst/>
              <a:rect l="l" t="t" r="r" b="b"/>
              <a:pathLst>
                <a:path w="1168718" h="904875">
                  <a:moveTo>
                    <a:pt x="0" y="0"/>
                  </a:moveTo>
                  <a:lnTo>
                    <a:pt x="1168718" y="904875"/>
                  </a:lnTo>
                </a:path>
              </a:pathLst>
            </a:custGeom>
            <a:noFill/>
            <a:ln w="15240">
              <a:solidFill>
                <a:srgbClr val="5B6475"/>
              </a:solidFill>
            </a:ln>
          </p:spPr>
        </p:sp>
        <p:sp>
          <p:nvSpPr>
            <p:cNvPr id="14" name="Rectangle 14"/>
            <p:cNvSpPr/>
            <p:nvPr/>
          </p:nvSpPr>
          <p:spPr>
            <a:xfrm>
              <a:off x="907732" y="3526155"/>
              <a:ext cx="419100" cy="419100"/>
            </a:xfrm>
            <a:prstGeom prst="roundRect">
              <a:avLst>
                <a:gd name="adj" fmla="val 18182"/>
              </a:avLst>
            </a:prstGeom>
            <a:solidFill>
              <a:srgbClr val="FFFFFF"/>
            </a:solidFill>
            <a:ln w="17145">
              <a:solidFill>
                <a:srgbClr val="334E68"/>
              </a:solidFill>
            </a:ln>
          </p:spPr>
        </p:sp>
        <p:sp>
          <p:nvSpPr>
            <p:cNvPr id="15" name="Rectangle 15"/>
            <p:cNvSpPr/>
            <p:nvPr/>
          </p:nvSpPr>
          <p:spPr>
            <a:xfrm>
              <a:off x="2076450" y="3526155"/>
              <a:ext cx="419100" cy="419100"/>
            </a:xfrm>
            <a:prstGeom prst="roundRect">
              <a:avLst>
                <a:gd name="adj" fmla="val 18182"/>
              </a:avLst>
            </a:prstGeom>
            <a:solidFill>
              <a:srgbClr val="FFFFFF"/>
            </a:solidFill>
            <a:ln w="17145">
              <a:solidFill>
                <a:srgbClr val="334E68"/>
              </a:solidFill>
            </a:ln>
          </p:spPr>
        </p:sp>
        <p:sp>
          <p:nvSpPr>
            <p:cNvPr id="16" name="Rectangle 16"/>
            <p:cNvSpPr/>
            <p:nvPr/>
          </p:nvSpPr>
          <p:spPr>
            <a:xfrm>
              <a:off x="3245168" y="3526155"/>
              <a:ext cx="419100" cy="419100"/>
            </a:xfrm>
            <a:prstGeom prst="roundRect">
              <a:avLst>
                <a:gd name="adj" fmla="val 18182"/>
              </a:avLst>
            </a:prstGeom>
            <a:solidFill>
              <a:srgbClr val="FFFFFF"/>
            </a:solidFill>
            <a:ln w="17145">
              <a:solidFill>
                <a:srgbClr val="334E68"/>
              </a:solidFill>
            </a:ln>
          </p:spPr>
        </p:sp>
        <p:sp>
          <p:nvSpPr>
            <p:cNvPr id="17" name="Rectangle 17"/>
            <p:cNvSpPr/>
            <p:nvPr/>
          </p:nvSpPr>
          <p:spPr>
            <a:xfrm>
              <a:off x="2076450" y="2621280"/>
              <a:ext cx="419100" cy="419100"/>
            </a:xfrm>
            <a:prstGeom prst="roundRect">
              <a:avLst>
                <a:gd name="adj" fmla="val 18182"/>
              </a:avLst>
            </a:prstGeom>
            <a:solidFill>
              <a:srgbClr val="FFFFFF"/>
            </a:solidFill>
            <a:ln w="17145">
              <a:solidFill>
                <a:srgbClr val="334E68"/>
              </a:solidFill>
            </a:ln>
          </p:spPr>
        </p:sp>
        <p:sp>
          <p:nvSpPr>
            <p:cNvPr id="18" name="TextBox 18"/>
            <p:cNvSpPr txBox="1"/>
            <p:nvPr/>
          </p:nvSpPr>
          <p:spPr>
            <a:xfrm>
              <a:off x="1061900" y="3660457"/>
              <a:ext cx="11076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B</a:t>
              </a:r>
            </a:p>
          </p:txBody>
        </p:sp>
        <p:sp>
          <p:nvSpPr>
            <p:cNvPr id="19" name="TextBox 19"/>
            <p:cNvSpPr txBox="1"/>
            <p:nvPr/>
          </p:nvSpPr>
          <p:spPr>
            <a:xfrm>
              <a:off x="2230618" y="3660457"/>
              <a:ext cx="11076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C</a:t>
              </a:r>
            </a:p>
          </p:txBody>
        </p:sp>
        <p:sp>
          <p:nvSpPr>
            <p:cNvPr id="20" name="TextBox 20"/>
            <p:cNvSpPr txBox="1"/>
            <p:nvPr/>
          </p:nvSpPr>
          <p:spPr>
            <a:xfrm>
              <a:off x="3399335" y="3660457"/>
              <a:ext cx="11076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D</a:t>
              </a:r>
            </a:p>
          </p:txBody>
        </p:sp>
        <p:sp>
          <p:nvSpPr>
            <p:cNvPr id="21" name="TextBox 21"/>
            <p:cNvSpPr txBox="1"/>
            <p:nvPr/>
          </p:nvSpPr>
          <p:spPr>
            <a:xfrm>
              <a:off x="2230618" y="2755582"/>
              <a:ext cx="11076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A</a:t>
              </a:r>
            </a:p>
          </p:txBody>
        </p:sp>
      </p:grpSp>
      <p:grpSp>
        <p:nvGrpSpPr>
          <p:cNvPr id="24" name="c1-text-3"/>
          <p:cNvGrpSpPr/>
          <p:nvPr/>
        </p:nvGrpSpPr>
        <p:grpSpPr>
          <a:xfrm>
            <a:off x="526923" y="4399121"/>
            <a:ext cx="3162066" cy="249364"/>
            <a:chOff x="526923" y="4399121"/>
            <a:chExt cx="3162066" cy="249364"/>
          </a:xfrm>
        </p:grpSpPr>
        <p:sp>
          <p:nvSpPr>
            <p:cNvPr id="23" name="TextBox 23"/>
            <p:cNvSpPr txBox="1"/>
            <p:nvPr/>
          </p:nvSpPr>
          <p:spPr>
            <a:xfrm>
              <a:off x="526923" y="4399121"/>
              <a:ext cx="316206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A 由 B、C、D 按确定次序各出现一次组成</a:t>
              </a:r>
            </a:p>
          </p:txBody>
        </p:sp>
      </p:grpSp>
      <p:grpSp>
        <p:nvGrpSpPr>
          <p:cNvPr id="26" name="c2-text-1"/>
          <p:cNvGrpSpPr/>
          <p:nvPr/>
        </p:nvGrpSpPr>
        <p:grpSpPr>
          <a:xfrm>
            <a:off x="4336923" y="1988344"/>
            <a:ext cx="1889880" cy="249364"/>
            <a:chOff x="4336923" y="1988344"/>
            <a:chExt cx="1889880" cy="249364"/>
          </a:xfrm>
        </p:grpSpPr>
        <p:sp>
          <p:nvSpPr>
            <p:cNvPr id="25" name="TextBox 25"/>
            <p:cNvSpPr txBox="1"/>
            <p:nvPr/>
          </p:nvSpPr>
          <p:spPr>
            <a:xfrm>
              <a:off x="4336923" y="1988344"/>
              <a:ext cx="1889880" cy="249364"/>
            </a:xfrm>
            <a:prstGeom prst="rect">
              <a:avLst/>
            </a:prstGeom>
            <a:noFill/>
            <a:ln>
              <a:noFill/>
            </a:ln>
          </p:spPr>
          <p:txBody>
            <a:bodyPr wrap="none" lIns="0" tIns="0" rIns="0" bIns="0" anchor="t" anchorCtr="0">
              <a:spAutoFit/>
            </a:bodyPr>
            <a:lstStyle/>
            <a:p>
              <a:pPr algn="l"/>
              <a:r>
                <a:rPr lang="zh-CN" sz="1280" b="1" dirty="0">
                  <a:solidFill>
                    <a:srgbClr val="334E68"/>
                  </a:solidFill>
                  <a:latin typeface="+mn-lt"/>
                  <a:ea typeface="+mn-ea"/>
                  <a:cs typeface="+mn-cs"/>
                </a:rPr>
                <a:t>选择结构（° 表示选择）</a:t>
              </a:r>
            </a:p>
          </p:txBody>
        </p:sp>
      </p:grpSp>
      <p:grpSp>
        <p:nvGrpSpPr>
          <p:cNvPr id="38" name="c2-tree-2"/>
          <p:cNvGrpSpPr/>
          <p:nvPr/>
        </p:nvGrpSpPr>
        <p:grpSpPr>
          <a:xfrm>
            <a:off x="4717732" y="2621280"/>
            <a:ext cx="2756536" cy="1323975"/>
            <a:chOff x="4717732" y="2621280"/>
            <a:chExt cx="2756536" cy="1323975"/>
          </a:xfrm>
        </p:grpSpPr>
        <p:sp>
          <p:nvSpPr>
            <p:cNvPr id="27" name="Freeform 27"/>
            <p:cNvSpPr/>
            <p:nvPr/>
          </p:nvSpPr>
          <p:spPr>
            <a:xfrm>
              <a:off x="4927282" y="2830830"/>
              <a:ext cx="1168718" cy="904875"/>
            </a:xfrm>
            <a:custGeom>
              <a:avLst/>
              <a:gdLst/>
              <a:ahLst/>
              <a:cxnLst/>
              <a:rect l="l" t="t" r="r" b="b"/>
              <a:pathLst>
                <a:path w="1168718" h="904875">
                  <a:moveTo>
                    <a:pt x="1168718" y="0"/>
                  </a:moveTo>
                  <a:lnTo>
                    <a:pt x="0" y="904875"/>
                  </a:lnTo>
                </a:path>
              </a:pathLst>
            </a:custGeom>
            <a:noFill/>
            <a:ln w="15240">
              <a:solidFill>
                <a:srgbClr val="5B6475"/>
              </a:solidFill>
            </a:ln>
          </p:spPr>
        </p:sp>
        <p:sp>
          <p:nvSpPr>
            <p:cNvPr id="28" name="Freeform 28"/>
            <p:cNvSpPr/>
            <p:nvPr/>
          </p:nvSpPr>
          <p:spPr>
            <a:xfrm>
              <a:off x="6096000" y="2830830"/>
              <a:ext cx="9525" cy="904875"/>
            </a:xfrm>
            <a:custGeom>
              <a:avLst/>
              <a:gdLst/>
              <a:ahLst/>
              <a:cxnLst/>
              <a:rect l="l" t="t" r="r" b="b"/>
              <a:pathLst>
                <a:path w="9525" h="904875">
                  <a:moveTo>
                    <a:pt x="0" y="0"/>
                  </a:moveTo>
                  <a:lnTo>
                    <a:pt x="0" y="904875"/>
                  </a:lnTo>
                </a:path>
              </a:pathLst>
            </a:custGeom>
            <a:noFill/>
            <a:ln w="15240">
              <a:solidFill>
                <a:srgbClr val="5B6475"/>
              </a:solidFill>
            </a:ln>
          </p:spPr>
        </p:sp>
        <p:sp>
          <p:nvSpPr>
            <p:cNvPr id="29" name="Freeform 29"/>
            <p:cNvSpPr/>
            <p:nvPr/>
          </p:nvSpPr>
          <p:spPr>
            <a:xfrm>
              <a:off x="6096000" y="2830830"/>
              <a:ext cx="1168718" cy="904875"/>
            </a:xfrm>
            <a:custGeom>
              <a:avLst/>
              <a:gdLst/>
              <a:ahLst/>
              <a:cxnLst/>
              <a:rect l="l" t="t" r="r" b="b"/>
              <a:pathLst>
                <a:path w="1168718" h="904875">
                  <a:moveTo>
                    <a:pt x="0" y="0"/>
                  </a:moveTo>
                  <a:lnTo>
                    <a:pt x="1168718" y="904875"/>
                  </a:lnTo>
                </a:path>
              </a:pathLst>
            </a:custGeom>
            <a:noFill/>
            <a:ln w="15240">
              <a:solidFill>
                <a:srgbClr val="5B6475"/>
              </a:solidFill>
            </a:ln>
          </p:spPr>
        </p:sp>
        <p:sp>
          <p:nvSpPr>
            <p:cNvPr id="30" name="Rectangle 30"/>
            <p:cNvSpPr/>
            <p:nvPr/>
          </p:nvSpPr>
          <p:spPr>
            <a:xfrm>
              <a:off x="4717732" y="3526155"/>
              <a:ext cx="419100" cy="419100"/>
            </a:xfrm>
            <a:prstGeom prst="roundRect">
              <a:avLst>
                <a:gd name="adj" fmla="val 18182"/>
              </a:avLst>
            </a:prstGeom>
            <a:solidFill>
              <a:srgbClr val="FFFFFF"/>
            </a:solidFill>
            <a:ln w="17145">
              <a:solidFill>
                <a:srgbClr val="334E68"/>
              </a:solidFill>
            </a:ln>
          </p:spPr>
        </p:sp>
        <p:sp>
          <p:nvSpPr>
            <p:cNvPr id="31" name="Rectangle 31"/>
            <p:cNvSpPr/>
            <p:nvPr/>
          </p:nvSpPr>
          <p:spPr>
            <a:xfrm>
              <a:off x="5886450" y="3526155"/>
              <a:ext cx="419100" cy="419100"/>
            </a:xfrm>
            <a:prstGeom prst="roundRect">
              <a:avLst>
                <a:gd name="adj" fmla="val 18182"/>
              </a:avLst>
            </a:prstGeom>
            <a:solidFill>
              <a:srgbClr val="FFFFFF"/>
            </a:solidFill>
            <a:ln w="17145">
              <a:solidFill>
                <a:srgbClr val="334E68"/>
              </a:solidFill>
            </a:ln>
          </p:spPr>
        </p:sp>
        <p:sp>
          <p:nvSpPr>
            <p:cNvPr id="32" name="Rectangle 32"/>
            <p:cNvSpPr/>
            <p:nvPr/>
          </p:nvSpPr>
          <p:spPr>
            <a:xfrm>
              <a:off x="7055168" y="3526155"/>
              <a:ext cx="419100" cy="419100"/>
            </a:xfrm>
            <a:prstGeom prst="roundRect">
              <a:avLst>
                <a:gd name="adj" fmla="val 18182"/>
              </a:avLst>
            </a:prstGeom>
            <a:solidFill>
              <a:srgbClr val="FFFFFF"/>
            </a:solidFill>
            <a:ln w="17145">
              <a:solidFill>
                <a:srgbClr val="334E68"/>
              </a:solidFill>
            </a:ln>
          </p:spPr>
        </p:sp>
        <p:sp>
          <p:nvSpPr>
            <p:cNvPr id="33" name="Rectangle 33"/>
            <p:cNvSpPr/>
            <p:nvPr/>
          </p:nvSpPr>
          <p:spPr>
            <a:xfrm>
              <a:off x="5886450" y="2621280"/>
              <a:ext cx="419100" cy="419100"/>
            </a:xfrm>
            <a:prstGeom prst="roundRect">
              <a:avLst>
                <a:gd name="adj" fmla="val 18182"/>
              </a:avLst>
            </a:prstGeom>
            <a:solidFill>
              <a:srgbClr val="FFFFFF"/>
            </a:solidFill>
            <a:ln w="17145">
              <a:solidFill>
                <a:srgbClr val="334E68"/>
              </a:solidFill>
            </a:ln>
          </p:spPr>
        </p:sp>
        <p:sp>
          <p:nvSpPr>
            <p:cNvPr id="34" name="TextBox 34"/>
            <p:cNvSpPr txBox="1"/>
            <p:nvPr/>
          </p:nvSpPr>
          <p:spPr>
            <a:xfrm>
              <a:off x="4822614" y="3660457"/>
              <a:ext cx="209337"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B°</a:t>
              </a:r>
            </a:p>
          </p:txBody>
        </p:sp>
        <p:sp>
          <p:nvSpPr>
            <p:cNvPr id="35" name="TextBox 35"/>
            <p:cNvSpPr txBox="1"/>
            <p:nvPr/>
          </p:nvSpPr>
          <p:spPr>
            <a:xfrm>
              <a:off x="5991332" y="3660457"/>
              <a:ext cx="209337"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C°</a:t>
              </a:r>
            </a:p>
          </p:txBody>
        </p:sp>
        <p:sp>
          <p:nvSpPr>
            <p:cNvPr id="36" name="TextBox 36"/>
            <p:cNvSpPr txBox="1"/>
            <p:nvPr/>
          </p:nvSpPr>
          <p:spPr>
            <a:xfrm>
              <a:off x="7160049" y="3660457"/>
              <a:ext cx="209337"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D°</a:t>
              </a:r>
            </a:p>
          </p:txBody>
        </p:sp>
        <p:sp>
          <p:nvSpPr>
            <p:cNvPr id="37" name="TextBox 37"/>
            <p:cNvSpPr txBox="1"/>
            <p:nvPr/>
          </p:nvSpPr>
          <p:spPr>
            <a:xfrm>
              <a:off x="6040618" y="2755582"/>
              <a:ext cx="11076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A</a:t>
              </a:r>
            </a:p>
          </p:txBody>
        </p:sp>
      </p:grpSp>
      <p:grpSp>
        <p:nvGrpSpPr>
          <p:cNvPr id="40" name="c2-text-3"/>
          <p:cNvGrpSpPr/>
          <p:nvPr/>
        </p:nvGrpSpPr>
        <p:grpSpPr>
          <a:xfrm>
            <a:off x="4336923" y="4399121"/>
            <a:ext cx="3216686" cy="249364"/>
            <a:chOff x="4336923" y="4399121"/>
            <a:chExt cx="3216686" cy="249364"/>
          </a:xfrm>
        </p:grpSpPr>
        <p:sp>
          <p:nvSpPr>
            <p:cNvPr id="39" name="TextBox 39"/>
            <p:cNvSpPr txBox="1"/>
            <p:nvPr/>
          </p:nvSpPr>
          <p:spPr>
            <a:xfrm>
              <a:off x="4336923" y="4399121"/>
              <a:ext cx="321668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每次使用 A 时按条件从 B、C、D 中选一个</a:t>
              </a:r>
            </a:p>
          </p:txBody>
        </p:sp>
      </p:grpSp>
      <p:grpSp>
        <p:nvGrpSpPr>
          <p:cNvPr id="42" name="c3-text-1"/>
          <p:cNvGrpSpPr/>
          <p:nvPr/>
        </p:nvGrpSpPr>
        <p:grpSpPr>
          <a:xfrm>
            <a:off x="8146923" y="1988344"/>
            <a:ext cx="1889880" cy="249364"/>
            <a:chOff x="8146923" y="1988344"/>
            <a:chExt cx="1889880" cy="249364"/>
          </a:xfrm>
        </p:grpSpPr>
        <p:sp>
          <p:nvSpPr>
            <p:cNvPr id="41" name="TextBox 41"/>
            <p:cNvSpPr txBox="1"/>
            <p:nvPr/>
          </p:nvSpPr>
          <p:spPr>
            <a:xfrm>
              <a:off x="8146923" y="1988344"/>
              <a:ext cx="1889880" cy="249364"/>
            </a:xfrm>
            <a:prstGeom prst="rect">
              <a:avLst/>
            </a:prstGeom>
            <a:noFill/>
            <a:ln>
              <a:noFill/>
            </a:ln>
          </p:spPr>
          <p:txBody>
            <a:bodyPr wrap="none" lIns="0" tIns="0" rIns="0" bIns="0" anchor="t" anchorCtr="0">
              <a:spAutoFit/>
            </a:bodyPr>
            <a:lstStyle/>
            <a:p>
              <a:pPr algn="l"/>
              <a:r>
                <a:rPr lang="zh-CN" sz="1280" b="1" dirty="0">
                  <a:solidFill>
                    <a:srgbClr val="334E68"/>
                  </a:solidFill>
                  <a:latin typeface="+mn-lt"/>
                  <a:ea typeface="+mn-ea"/>
                  <a:cs typeface="+mn-cs"/>
                </a:rPr>
                <a:t>重复结构（* 表示重复）</a:t>
              </a:r>
            </a:p>
          </p:txBody>
        </p:sp>
      </p:grpSp>
      <p:grpSp>
        <p:nvGrpSpPr>
          <p:cNvPr id="48" name="c3-tree-2"/>
          <p:cNvGrpSpPr/>
          <p:nvPr/>
        </p:nvGrpSpPr>
        <p:grpSpPr>
          <a:xfrm>
            <a:off x="9696450" y="2621280"/>
            <a:ext cx="419100" cy="1323975"/>
            <a:chOff x="9696450" y="2621280"/>
            <a:chExt cx="419100" cy="1323975"/>
          </a:xfrm>
        </p:grpSpPr>
        <p:sp>
          <p:nvSpPr>
            <p:cNvPr id="43" name="Freeform 43"/>
            <p:cNvSpPr/>
            <p:nvPr/>
          </p:nvSpPr>
          <p:spPr>
            <a:xfrm>
              <a:off x="9906000" y="2830830"/>
              <a:ext cx="9525" cy="904875"/>
            </a:xfrm>
            <a:custGeom>
              <a:avLst/>
              <a:gdLst/>
              <a:ahLst/>
              <a:cxnLst/>
              <a:rect l="l" t="t" r="r" b="b"/>
              <a:pathLst>
                <a:path w="9525" h="904875">
                  <a:moveTo>
                    <a:pt x="0" y="0"/>
                  </a:moveTo>
                  <a:lnTo>
                    <a:pt x="0" y="904875"/>
                  </a:lnTo>
                </a:path>
              </a:pathLst>
            </a:custGeom>
            <a:noFill/>
            <a:ln w="15240">
              <a:solidFill>
                <a:srgbClr val="5B6475"/>
              </a:solidFill>
            </a:ln>
          </p:spPr>
        </p:sp>
        <p:sp>
          <p:nvSpPr>
            <p:cNvPr id="44" name="Rectangle 44"/>
            <p:cNvSpPr/>
            <p:nvPr/>
          </p:nvSpPr>
          <p:spPr>
            <a:xfrm>
              <a:off x="9696450" y="3526155"/>
              <a:ext cx="419100" cy="419100"/>
            </a:xfrm>
            <a:prstGeom prst="roundRect">
              <a:avLst>
                <a:gd name="adj" fmla="val 18182"/>
              </a:avLst>
            </a:prstGeom>
            <a:solidFill>
              <a:srgbClr val="FFFFFF"/>
            </a:solidFill>
            <a:ln w="17145">
              <a:solidFill>
                <a:srgbClr val="334E68"/>
              </a:solidFill>
            </a:ln>
          </p:spPr>
        </p:sp>
        <p:sp>
          <p:nvSpPr>
            <p:cNvPr id="45" name="Rectangle 45"/>
            <p:cNvSpPr/>
            <p:nvPr/>
          </p:nvSpPr>
          <p:spPr>
            <a:xfrm>
              <a:off x="9696450" y="2621280"/>
              <a:ext cx="419100" cy="419100"/>
            </a:xfrm>
            <a:prstGeom prst="roundRect">
              <a:avLst>
                <a:gd name="adj" fmla="val 18182"/>
              </a:avLst>
            </a:prstGeom>
            <a:solidFill>
              <a:srgbClr val="FFFFFF"/>
            </a:solidFill>
            <a:ln w="17145">
              <a:solidFill>
                <a:srgbClr val="334E68"/>
              </a:solidFill>
            </a:ln>
          </p:spPr>
        </p:sp>
        <p:sp>
          <p:nvSpPr>
            <p:cNvPr id="46" name="TextBox 46"/>
            <p:cNvSpPr txBox="1"/>
            <p:nvPr/>
          </p:nvSpPr>
          <p:spPr>
            <a:xfrm>
              <a:off x="9801332" y="3660457"/>
              <a:ext cx="209337"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B*</a:t>
              </a:r>
            </a:p>
          </p:txBody>
        </p:sp>
        <p:sp>
          <p:nvSpPr>
            <p:cNvPr id="47" name="TextBox 47"/>
            <p:cNvSpPr txBox="1"/>
            <p:nvPr/>
          </p:nvSpPr>
          <p:spPr>
            <a:xfrm>
              <a:off x="9850618" y="2755582"/>
              <a:ext cx="110764" cy="234696"/>
            </a:xfrm>
            <a:prstGeom prst="rect">
              <a:avLst/>
            </a:prstGeom>
            <a:noFill/>
            <a:ln>
              <a:noFill/>
            </a:ln>
          </p:spPr>
          <p:txBody>
            <a:bodyPr wrap="none" lIns="0" tIns="0" rIns="0" bIns="0" anchor="t" anchorCtr="0">
              <a:spAutoFit/>
            </a:bodyPr>
            <a:lstStyle/>
            <a:p>
              <a:pPr algn="ctr"/>
              <a:r>
                <a:rPr lang="en-US" sz="1200" b="1" dirty="0">
                  <a:solidFill>
                    <a:srgbClr val="1F2937"/>
                  </a:solidFill>
                  <a:latin typeface="+mn-lt"/>
                  <a:ea typeface="+mn-ea"/>
                  <a:cs typeface="+mn-cs"/>
                </a:rPr>
                <a:t>A</a:t>
              </a:r>
            </a:p>
          </p:txBody>
        </p:sp>
      </p:grpSp>
      <p:grpSp>
        <p:nvGrpSpPr>
          <p:cNvPr id="50" name="c3-text-3"/>
          <p:cNvGrpSpPr/>
          <p:nvPr/>
        </p:nvGrpSpPr>
        <p:grpSpPr>
          <a:xfrm>
            <a:off x="8146923" y="4399121"/>
            <a:ext cx="3478733" cy="249364"/>
            <a:chOff x="8146923" y="4399121"/>
            <a:chExt cx="3478733" cy="249364"/>
          </a:xfrm>
        </p:grpSpPr>
        <p:sp>
          <p:nvSpPr>
            <p:cNvPr id="49" name="TextBox 49"/>
            <p:cNvSpPr txBox="1"/>
            <p:nvPr/>
          </p:nvSpPr>
          <p:spPr>
            <a:xfrm>
              <a:off x="8146923" y="4399121"/>
              <a:ext cx="347873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A 由 B 出现零次或多次构成，次数由条件决定</a:t>
              </a:r>
            </a:p>
          </p:txBody>
        </p:sp>
      </p:grpSp>
      <p:grpSp>
        <p:nvGrpSpPr>
          <p:cNvPr id="57" name="takeaway"/>
          <p:cNvGrpSpPr/>
          <p:nvPr/>
        </p:nvGrpSpPr>
        <p:grpSpPr>
          <a:xfrm>
            <a:off x="533400" y="5579745"/>
            <a:ext cx="11125200" cy="782955"/>
            <a:chOff x="533400" y="5579745"/>
            <a:chExt cx="11125200" cy="782955"/>
          </a:xfrm>
        </p:grpSpPr>
        <p:sp>
          <p:nvSpPr>
            <p:cNvPr id="51" name="Rectangle 51"/>
            <p:cNvSpPr/>
            <p:nvPr/>
          </p:nvSpPr>
          <p:spPr>
            <a:xfrm>
              <a:off x="533400" y="5579745"/>
              <a:ext cx="11125200" cy="782955"/>
            </a:xfrm>
            <a:prstGeom prst="roundRect">
              <a:avLst>
                <a:gd name="adj" fmla="val 14599"/>
              </a:avLst>
            </a:prstGeom>
            <a:solidFill>
              <a:srgbClr val="FDECEA"/>
            </a:solidFill>
            <a:ln>
              <a:noFill/>
            </a:ln>
          </p:spPr>
        </p:sp>
        <p:grpSp>
          <p:nvGrpSpPr>
            <p:cNvPr id="55" name="Group 55"/>
            <p:cNvGrpSpPr/>
            <p:nvPr/>
          </p:nvGrpSpPr>
          <p:grpSpPr>
            <a:xfrm>
              <a:off x="726129" y="5867518"/>
              <a:ext cx="224134" cy="192560"/>
              <a:chOff x="726129" y="5867518"/>
              <a:chExt cx="224134" cy="192560"/>
            </a:xfrm>
          </p:grpSpPr>
          <p:sp>
            <p:nvSpPr>
              <p:cNvPr id="52" name="Freeform 52"/>
              <p:cNvSpPr/>
              <p:nvPr/>
            </p:nvSpPr>
            <p:spPr>
              <a:xfrm>
                <a:off x="838200" y="5937885"/>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53" name="Freeform 53"/>
              <p:cNvSpPr/>
              <p:nvPr/>
            </p:nvSpPr>
            <p:spPr>
              <a:xfrm>
                <a:off x="726129" y="5867518"/>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54" name="Freeform 54"/>
              <p:cNvSpPr/>
              <p:nvPr/>
            </p:nvSpPr>
            <p:spPr>
              <a:xfrm>
                <a:off x="838200" y="6015673"/>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56" name="TextBox 56"/>
            <p:cNvSpPr txBox="1"/>
            <p:nvPr/>
          </p:nvSpPr>
          <p:spPr>
            <a:xfrm>
              <a:off x="1040130" y="5728335"/>
              <a:ext cx="97307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B42318"/>
                  </a:solidFill>
                  <a:latin typeface="+mn-lt"/>
                  <a:ea typeface="+mn-ea"/>
                  <a:cs typeface="+mn-cs"/>
                </a:rPr>
                <a:t>画法规则：同一个父框下面的子框必须属于同一种结构。想在顺序结构里放一个重复项，要先加一个中间框把它包起</a:t>
              </a:r>
              <a:br/>
              <a:r>
                <a:rPr lang="zh-CN" sz="1500" dirty="0">
                  <a:solidFill>
                    <a:srgbClr val="B42318"/>
                  </a:solidFill>
                  <a:latin typeface="+mn-lt"/>
                  <a:ea typeface="+mn-ea"/>
                  <a:cs typeface="+mn-cs"/>
                </a:rPr>
                <a:t>来。</a:t>
              </a:r>
            </a:p>
          </p:txBody>
        </p:sp>
      </p:grpSp>
      <p:grpSp>
        <p:nvGrpSpPr>
          <p:cNvPr id="60" name="footer"/>
          <p:cNvGrpSpPr/>
          <p:nvPr/>
        </p:nvGrpSpPr>
        <p:grpSpPr>
          <a:xfrm>
            <a:off x="528447" y="6581299"/>
            <a:ext cx="11135106" cy="190690"/>
            <a:chOff x="528447" y="6581299"/>
            <a:chExt cx="11135106" cy="190690"/>
          </a:xfrm>
        </p:grpSpPr>
        <p:sp>
          <p:nvSpPr>
            <p:cNvPr id="58" name="TextBox 58"/>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59" name="TextBox 5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35</a:t>
              </a:r>
            </a:p>
          </p:txBody>
        </p:sp>
      </p:grpSp>
    </p:spTree>
  </p:cSld>
  <p:clrMapOvr>
    <a:masterClrMapping/>
  </p:clrMapOvr>
  <p:transition xmlns:p14="http://schemas.microsoft.com/office/powerpoint/2010/main" p14:dur="400">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075669" cy="909257"/>
            <a:chOff x="520446" y="342900"/>
            <a:chExt cx="5075669"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面向数据结构的设计方法</a:t>
              </a:r>
            </a:p>
          </p:txBody>
        </p:sp>
        <p:sp>
          <p:nvSpPr>
            <p:cNvPr id="4" name="TextBox 4"/>
            <p:cNvSpPr txBox="1"/>
            <p:nvPr/>
          </p:nvSpPr>
          <p:spPr>
            <a:xfrm>
              <a:off x="520446" y="753428"/>
              <a:ext cx="507566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改进的 Jackson 图与对应的伪码</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2" name="c1-card-1"/>
          <p:cNvGrpSpPr/>
          <p:nvPr/>
        </p:nvGrpSpPr>
        <p:grpSpPr>
          <a:xfrm>
            <a:off x="533400" y="1524000"/>
            <a:ext cx="4760595" cy="2475548"/>
            <a:chOff x="533400" y="1524000"/>
            <a:chExt cx="4760595" cy="2475548"/>
          </a:xfrm>
        </p:grpSpPr>
        <p:sp>
          <p:nvSpPr>
            <p:cNvPr id="7" name="Rectangle 7"/>
            <p:cNvSpPr/>
            <p:nvPr/>
          </p:nvSpPr>
          <p:spPr>
            <a:xfrm>
              <a:off x="533400" y="1524000"/>
              <a:ext cx="4760595" cy="2475548"/>
            </a:xfrm>
            <a:prstGeom prst="roundRect">
              <a:avLst>
                <a:gd name="adj" fmla="val 5387"/>
              </a:avLst>
            </a:prstGeom>
            <a:solidFill>
              <a:srgbClr val="334E68"/>
            </a:solidFill>
            <a:ln>
              <a:noFill/>
            </a:ln>
          </p:spPr>
        </p:sp>
        <p:sp>
          <p:nvSpPr>
            <p:cNvPr id="8" name="Rectangle 8"/>
            <p:cNvSpPr/>
            <p:nvPr/>
          </p:nvSpPr>
          <p:spPr>
            <a:xfrm>
              <a:off x="731520" y="1722120"/>
              <a:ext cx="1009650" cy="247650"/>
            </a:xfrm>
            <a:prstGeom prst="roundRect">
              <a:avLst>
                <a:gd name="adj" fmla="val 50000"/>
              </a:avLst>
            </a:prstGeom>
            <a:solidFill>
              <a:srgbClr val="243B53"/>
            </a:solidFill>
            <a:ln>
              <a:noFill/>
            </a:ln>
          </p:spPr>
        </p:sp>
        <p:sp>
          <p:nvSpPr>
            <p:cNvPr id="9" name="TextBox 9"/>
            <p:cNvSpPr txBox="1"/>
            <p:nvPr/>
          </p:nvSpPr>
          <p:spPr>
            <a:xfrm>
              <a:off x="806958" y="1756410"/>
              <a:ext cx="858774"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改进了哪四处</a:t>
              </a:r>
            </a:p>
          </p:txBody>
        </p:sp>
        <p:sp>
          <p:nvSpPr>
            <p:cNvPr id="10" name="Ellipse 10"/>
            <p:cNvSpPr/>
            <p:nvPr/>
          </p:nvSpPr>
          <p:spPr>
            <a:xfrm>
              <a:off x="731520" y="2070735"/>
              <a:ext cx="201930" cy="201930"/>
            </a:xfrm>
            <a:prstGeom prst="ellipse">
              <a:avLst/>
            </a:prstGeom>
            <a:solidFill>
              <a:srgbClr val="334E68"/>
            </a:solidFill>
            <a:ln>
              <a:noFill/>
            </a:ln>
          </p:spPr>
        </p:sp>
        <p:sp>
          <p:nvSpPr>
            <p:cNvPr id="11" name="TextBox 11"/>
            <p:cNvSpPr txBox="1"/>
            <p:nvPr/>
          </p:nvSpPr>
          <p:spPr>
            <a:xfrm>
              <a:off x="789865" y="211012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12" name="TextBox 12"/>
            <p:cNvSpPr txBox="1"/>
            <p:nvPr/>
          </p:nvSpPr>
          <p:spPr>
            <a:xfrm>
              <a:off x="1022413" y="2082641"/>
              <a:ext cx="2881884"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把原来的折线改成直线，图更整齐</a:t>
              </a:r>
            </a:p>
          </p:txBody>
        </p:sp>
        <p:sp>
          <p:nvSpPr>
            <p:cNvPr id="13" name="Ellipse 13"/>
            <p:cNvSpPr/>
            <p:nvPr/>
          </p:nvSpPr>
          <p:spPr>
            <a:xfrm>
              <a:off x="731520" y="2387918"/>
              <a:ext cx="201930" cy="201930"/>
            </a:xfrm>
            <a:prstGeom prst="ellipse">
              <a:avLst/>
            </a:prstGeom>
            <a:solidFill>
              <a:srgbClr val="334E68"/>
            </a:solidFill>
            <a:ln>
              <a:noFill/>
            </a:ln>
          </p:spPr>
        </p:sp>
        <p:sp>
          <p:nvSpPr>
            <p:cNvPr id="14" name="TextBox 14"/>
            <p:cNvSpPr txBox="1"/>
            <p:nvPr/>
          </p:nvSpPr>
          <p:spPr>
            <a:xfrm>
              <a:off x="789865" y="242825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15" name="TextBox 15"/>
            <p:cNvSpPr txBox="1"/>
            <p:nvPr/>
          </p:nvSpPr>
          <p:spPr>
            <a:xfrm>
              <a:off x="1022413" y="2400776"/>
              <a:ext cx="3792150"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FFFFFF"/>
                  </a:solidFill>
                  <a:latin typeface="+mn-lt"/>
                  <a:ea typeface="+mn-ea"/>
                  <a:cs typeface="+mn-cs"/>
                </a:rPr>
                <a:t xml:space="preserve">选择结构在父框下面的连线旁标 </a:t>
              </a:r>
              <a:r>
                <a:rPr lang="en-US" sz="1420" b="1" dirty="0">
                  <a:solidFill>
                    <a:srgbClr val="FFD58A"/>
                  </a:solidFill>
                  <a:latin typeface="+mn-lt"/>
                  <a:ea typeface="+mn-ea"/>
                  <a:cs typeface="+mn-cs"/>
                </a:rPr>
                <a:t>S(i)</a:t>
              </a:r>
              <a:r>
                <a:rPr lang="zh-CN" sz="1420" dirty="0">
                  <a:solidFill>
                    <a:srgbClr val="FFFFFF"/>
                  </a:solidFill>
                  <a:latin typeface="+mn-lt"/>
                  <a:ea typeface="+mn-ea"/>
                  <a:cs typeface="+mn-cs"/>
                </a:rPr>
                <a:t>，i 是分支</a:t>
              </a:r>
              <a:br/>
              <a:r>
                <a:rPr lang="zh-CN" sz="1420" dirty="0">
                  <a:solidFill>
                    <a:srgbClr val="FFFFFF"/>
                  </a:solidFill>
                  <a:latin typeface="+mn-lt"/>
                  <a:ea typeface="+mn-ea"/>
                  <a:cs typeface="+mn-cs"/>
                </a:rPr>
                <a:t>条件的编号</a:t>
              </a:r>
            </a:p>
          </p:txBody>
        </p:sp>
        <p:sp>
          <p:nvSpPr>
            <p:cNvPr id="16" name="Ellipse 16"/>
            <p:cNvSpPr/>
            <p:nvPr/>
          </p:nvSpPr>
          <p:spPr>
            <a:xfrm>
              <a:off x="731520" y="2977515"/>
              <a:ext cx="201930" cy="201930"/>
            </a:xfrm>
            <a:prstGeom prst="ellipse">
              <a:avLst/>
            </a:prstGeom>
            <a:solidFill>
              <a:srgbClr val="334E68"/>
            </a:solidFill>
            <a:ln>
              <a:noFill/>
            </a:ln>
          </p:spPr>
        </p:sp>
        <p:sp>
          <p:nvSpPr>
            <p:cNvPr id="17" name="TextBox 17"/>
            <p:cNvSpPr txBox="1"/>
            <p:nvPr/>
          </p:nvSpPr>
          <p:spPr>
            <a:xfrm>
              <a:off x="789865" y="3017853"/>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3</a:t>
              </a:r>
            </a:p>
          </p:txBody>
        </p:sp>
        <p:sp>
          <p:nvSpPr>
            <p:cNvPr id="18" name="TextBox 18"/>
            <p:cNvSpPr txBox="1"/>
            <p:nvPr/>
          </p:nvSpPr>
          <p:spPr>
            <a:xfrm>
              <a:off x="1022413" y="2989421"/>
              <a:ext cx="3978288" cy="278702"/>
            </a:xfrm>
            <a:prstGeom prst="rect">
              <a:avLst/>
            </a:prstGeom>
            <a:noFill/>
            <a:ln>
              <a:noFill/>
            </a:ln>
          </p:spPr>
          <p:txBody>
            <a:bodyPr wrap="none" lIns="0" tIns="0" rIns="0" bIns="0" anchor="t" anchorCtr="0">
              <a:spAutoFit/>
            </a:bodyPr>
            <a:lstStyle/>
            <a:p>
              <a:pPr algn="l"/>
              <a:r>
                <a:rPr lang="zh-CN" sz="1420" dirty="0">
                  <a:solidFill>
                    <a:srgbClr val="FFFFFF"/>
                  </a:solidFill>
                  <a:latin typeface="+mn-lt"/>
                  <a:ea typeface="+mn-ea"/>
                  <a:cs typeface="+mn-cs"/>
                </a:rPr>
                <a:t xml:space="preserve">重复结构在连线旁标 </a:t>
              </a:r>
              <a:r>
                <a:rPr lang="en-US" sz="1420" b="1" dirty="0">
                  <a:solidFill>
                    <a:srgbClr val="FFD58A"/>
                  </a:solidFill>
                  <a:latin typeface="+mn-lt"/>
                  <a:ea typeface="+mn-ea"/>
                  <a:cs typeface="+mn-cs"/>
                </a:rPr>
                <a:t>I(i)</a:t>
              </a:r>
              <a:r>
                <a:rPr lang="zh-CN" sz="1420" dirty="0">
                  <a:solidFill>
                    <a:srgbClr val="FFFFFF"/>
                  </a:solidFill>
                  <a:latin typeface="+mn-lt"/>
                  <a:ea typeface="+mn-ea"/>
                  <a:cs typeface="+mn-cs"/>
                </a:rPr>
                <a:t>，i 是循环条件的编号</a:t>
              </a:r>
            </a:p>
          </p:txBody>
        </p:sp>
        <p:sp>
          <p:nvSpPr>
            <p:cNvPr id="19" name="Ellipse 19"/>
            <p:cNvSpPr/>
            <p:nvPr/>
          </p:nvSpPr>
          <p:spPr>
            <a:xfrm>
              <a:off x="731520" y="3295650"/>
              <a:ext cx="201930" cy="201930"/>
            </a:xfrm>
            <a:prstGeom prst="ellipse">
              <a:avLst/>
            </a:prstGeom>
            <a:solidFill>
              <a:srgbClr val="334E68"/>
            </a:solidFill>
            <a:ln>
              <a:noFill/>
            </a:ln>
          </p:spPr>
        </p:sp>
        <p:sp>
          <p:nvSpPr>
            <p:cNvPr id="20" name="TextBox 20"/>
            <p:cNvSpPr txBox="1"/>
            <p:nvPr/>
          </p:nvSpPr>
          <p:spPr>
            <a:xfrm>
              <a:off x="789865" y="333503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4</a:t>
              </a:r>
            </a:p>
          </p:txBody>
        </p:sp>
        <p:sp>
          <p:nvSpPr>
            <p:cNvPr id="21" name="TextBox 21"/>
            <p:cNvSpPr txBox="1"/>
            <p:nvPr/>
          </p:nvSpPr>
          <p:spPr>
            <a:xfrm>
              <a:off x="1022413" y="3307556"/>
              <a:ext cx="3900805"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FFFFFF"/>
                  </a:solidFill>
                  <a:latin typeface="+mn-lt"/>
                  <a:ea typeface="+mn-ea"/>
                  <a:cs typeface="+mn-cs"/>
                </a:rPr>
                <a:t>增加</a:t>
              </a:r>
              <a:r>
                <a:rPr lang="zh-CN" sz="1420" b="1" dirty="0">
                  <a:solidFill>
                    <a:srgbClr val="FFFFFF"/>
                  </a:solidFill>
                  <a:latin typeface="+mn-lt"/>
                  <a:ea typeface="+mn-ea"/>
                  <a:cs typeface="+mn-cs"/>
                </a:rPr>
                <a:t>可选结构</a:t>
              </a:r>
              <a:r>
                <a:rPr lang="zh-CN" sz="1420" dirty="0">
                  <a:solidFill>
                    <a:srgbClr val="FFFFFF"/>
                  </a:solidFill>
                  <a:latin typeface="+mn-lt"/>
                  <a:ea typeface="+mn-ea"/>
                  <a:cs typeface="+mn-cs"/>
                </a:rPr>
                <a:t>：A 下面挂 B° 和一个只画一条短横</a:t>
              </a:r>
              <a:br/>
              <a:r>
                <a:rPr lang="zh-CN" sz="1420" dirty="0">
                  <a:solidFill>
                    <a:srgbClr val="FFFFFF"/>
                  </a:solidFill>
                  <a:latin typeface="+mn-lt"/>
                  <a:ea typeface="+mn-ea"/>
                  <a:cs typeface="+mn-cs"/>
                </a:rPr>
                <a:t>线的空框，表示要么有 B，要么什么都没有</a:t>
              </a:r>
            </a:p>
          </p:txBody>
        </p:sp>
      </p:grpSp>
      <p:grpSp>
        <p:nvGrpSpPr>
          <p:cNvPr id="29" name="c1-callout-2"/>
          <p:cNvGrpSpPr/>
          <p:nvPr/>
        </p:nvGrpSpPr>
        <p:grpSpPr>
          <a:xfrm>
            <a:off x="533400" y="4179570"/>
            <a:ext cx="4760595" cy="756285"/>
            <a:chOff x="533400" y="4179570"/>
            <a:chExt cx="4760595" cy="756285"/>
          </a:xfrm>
        </p:grpSpPr>
        <p:sp>
          <p:nvSpPr>
            <p:cNvPr id="23" name="Rectangle 23"/>
            <p:cNvSpPr/>
            <p:nvPr/>
          </p:nvSpPr>
          <p:spPr>
            <a:xfrm>
              <a:off x="533400" y="4179570"/>
              <a:ext cx="4760595" cy="756285"/>
            </a:xfrm>
            <a:prstGeom prst="roundRect">
              <a:avLst>
                <a:gd name="adj" fmla="val 15113"/>
              </a:avLst>
            </a:prstGeom>
            <a:solidFill>
              <a:srgbClr val="FDEEE7"/>
            </a:solidFill>
            <a:ln>
              <a:noFill/>
            </a:ln>
          </p:spPr>
        </p:sp>
        <p:grpSp>
          <p:nvGrpSpPr>
            <p:cNvPr id="27" name="Group 27"/>
            <p:cNvGrpSpPr/>
            <p:nvPr/>
          </p:nvGrpSpPr>
          <p:grpSpPr>
            <a:xfrm>
              <a:off x="738188" y="4457700"/>
              <a:ext cx="200026" cy="200025"/>
              <a:chOff x="738188" y="4457700"/>
              <a:chExt cx="200026" cy="200025"/>
            </a:xfrm>
          </p:grpSpPr>
          <p:sp>
            <p:nvSpPr>
              <p:cNvPr id="24" name="Freeform 24"/>
              <p:cNvSpPr/>
              <p:nvPr/>
            </p:nvSpPr>
            <p:spPr>
              <a:xfrm>
                <a:off x="738188" y="445770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25" name="Freeform 25"/>
              <p:cNvSpPr/>
              <p:nvPr/>
            </p:nvSpPr>
            <p:spPr>
              <a:xfrm>
                <a:off x="777926" y="450215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26" name="Freeform 26"/>
              <p:cNvSpPr/>
              <p:nvPr/>
            </p:nvSpPr>
            <p:spPr>
              <a:xfrm>
                <a:off x="812642" y="461327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28" name="TextBox 28"/>
            <p:cNvSpPr txBox="1"/>
            <p:nvPr/>
          </p:nvSpPr>
          <p:spPr>
            <a:xfrm>
              <a:off x="1040511" y="4327684"/>
              <a:ext cx="3792601"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C2410C"/>
                  </a:solidFill>
                  <a:latin typeface="+mn-lt"/>
                  <a:ea typeface="+mn-ea"/>
                  <a:cs typeface="+mn-cs"/>
                </a:rPr>
                <a:t>标上 S(i)、I(i) 之后，第 4 步"列出所有操作和</a:t>
              </a:r>
              <a:br/>
              <a:r>
                <a:rPr lang="zh-CN" sz="1420" dirty="0">
                  <a:solidFill>
                    <a:srgbClr val="C2410C"/>
                  </a:solidFill>
                  <a:latin typeface="+mn-lt"/>
                  <a:ea typeface="+mn-ea"/>
                  <a:cs typeface="+mn-cs"/>
                </a:rPr>
                <a:t>条件"就能直接把条件编号对上号。</a:t>
              </a:r>
            </a:p>
          </p:txBody>
        </p:sp>
      </p:grpSp>
      <p:grpSp>
        <p:nvGrpSpPr>
          <p:cNvPr id="33" name="c2-code-1"/>
          <p:cNvGrpSpPr/>
          <p:nvPr/>
        </p:nvGrpSpPr>
        <p:grpSpPr>
          <a:xfrm>
            <a:off x="5598795" y="1524000"/>
            <a:ext cx="6059805" cy="2586990"/>
            <a:chOff x="5598795" y="1524000"/>
            <a:chExt cx="6059805" cy="2586990"/>
          </a:xfrm>
        </p:grpSpPr>
        <p:sp>
          <p:nvSpPr>
            <p:cNvPr id="30" name="Rectangle 30"/>
            <p:cNvSpPr/>
            <p:nvPr/>
          </p:nvSpPr>
          <p:spPr>
            <a:xfrm>
              <a:off x="5598795" y="1524000"/>
              <a:ext cx="6059805" cy="2586990"/>
            </a:xfrm>
            <a:prstGeom prst="roundRect">
              <a:avLst>
                <a:gd name="adj" fmla="val 3682"/>
              </a:avLst>
            </a:prstGeom>
            <a:solidFill>
              <a:srgbClr val="F6F8FA"/>
            </a:solidFill>
            <a:ln w="11430">
              <a:solidFill>
                <a:srgbClr val="D9DFEA"/>
              </a:solidFill>
            </a:ln>
          </p:spPr>
        </p:sp>
        <p:sp>
          <p:nvSpPr>
            <p:cNvPr id="31" name="TextBox 31"/>
            <p:cNvSpPr txBox="1"/>
            <p:nvPr/>
          </p:nvSpPr>
          <p:spPr>
            <a:xfrm>
              <a:off x="5727192" y="1675924"/>
              <a:ext cx="1818671"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三种结构对应的 Jackson 伪码</a:t>
              </a:r>
            </a:p>
          </p:txBody>
        </p:sp>
        <p:sp>
          <p:nvSpPr>
            <p:cNvPr id="32" name="TextBox 32"/>
            <p:cNvSpPr txBox="1"/>
            <p:nvPr/>
          </p:nvSpPr>
          <p:spPr>
            <a:xfrm>
              <a:off x="5726811" y="1937385"/>
              <a:ext cx="2797683" cy="2100834"/>
            </a:xfrm>
            <a:prstGeom prst="rect">
              <a:avLst/>
            </a:prstGeom>
            <a:noFill/>
            <a:ln>
              <a:noFill/>
            </a:ln>
          </p:spPr>
          <p:txBody>
            <a:bodyPr wrap="none" lIns="0" tIns="0" rIns="0" bIns="0" anchor="t" anchorCtr="0">
              <a:spAutoFit/>
            </a:bodyPr>
            <a:lstStyle/>
            <a:p>
              <a:pPr algn="l">
                <a:lnSpc>
                  <a:spcPts val="1492"/>
                </a:lnSpc>
              </a:pPr>
              <a:r>
                <a:rPr lang="en-US" sz="1050" dirty="0">
                  <a:solidFill>
                    <a:srgbClr val="1F2937"/>
                  </a:solidFill>
                  <a:latin typeface="Consolas"/>
                  <a:ea typeface="Consolas"/>
                  <a:cs typeface="Consolas"/>
                </a:rPr>
                <a:t>A  seq                A  select  cond1</a:t>
              </a:r>
              <a:br/>
              <a:r>
                <a:rPr lang="en-US" sz="1050" dirty="0">
                  <a:solidFill>
                    <a:srgbClr val="1F2937"/>
                  </a:solidFill>
                  <a:latin typeface="Consolas"/>
                  <a:ea typeface="Consolas"/>
                  <a:cs typeface="Consolas"/>
                </a:rPr>
                <a:t xml:space="preserve">   B                     B</a:t>
              </a:r>
              <a:br/>
              <a:r>
                <a:rPr lang="en-US" sz="1050" dirty="0">
                  <a:solidFill>
                    <a:srgbClr val="1F2937"/>
                  </a:solidFill>
                  <a:latin typeface="Consolas"/>
                  <a:ea typeface="Consolas"/>
                  <a:cs typeface="Consolas"/>
                </a:rPr>
                <a:t xml:space="preserve">   C                  A  or      cond2</a:t>
              </a:r>
              <a:br/>
              <a:r>
                <a:rPr lang="en-US" sz="1050" dirty="0">
                  <a:solidFill>
                    <a:srgbClr val="1F2937"/>
                  </a:solidFill>
                  <a:latin typeface="Consolas"/>
                  <a:ea typeface="Consolas"/>
                  <a:cs typeface="Consolas"/>
                </a:rPr>
                <a:t xml:space="preserve">   D                     C</a:t>
              </a:r>
              <a:br/>
              <a:r>
                <a:rPr lang="en-US" sz="1050" dirty="0">
                  <a:solidFill>
                    <a:srgbClr val="1F2937"/>
                  </a:solidFill>
                  <a:latin typeface="Consolas"/>
                  <a:ea typeface="Consolas"/>
                  <a:cs typeface="Consolas"/>
                </a:rPr>
                <a:t>A  end                A  or      cond3</a:t>
              </a:r>
              <a:br/>
              <a:r>
                <a:rPr lang="en-US" sz="1050" dirty="0">
                  <a:solidFill>
                    <a:srgbClr val="1F2937"/>
                  </a:solidFill>
                  <a:latin typeface="Consolas"/>
                  <a:ea typeface="Consolas"/>
                  <a:cs typeface="Consolas"/>
                </a:rPr>
                <a:t xml:space="preserve">                         D</a:t>
              </a:r>
              <a:br/>
              <a:r>
                <a:rPr lang="en-US" sz="1050" dirty="0">
                  <a:solidFill>
                    <a:srgbClr val="1F2937"/>
                  </a:solidFill>
                  <a:latin typeface="Consolas"/>
                  <a:ea typeface="Consolas"/>
                  <a:cs typeface="Consolas"/>
                </a:rPr>
                <a:t xml:space="preserve">                      A  end</a:t>
              </a:r>
              <a:br/>
              <a:r>
                <a:rPr lang="zh-CN" sz="1050" dirty="0">
                  <a:solidFill>
                    <a:srgbClr val="1F2937"/>
                  </a:solidFill>
                  <a:latin typeface="Consolas"/>
                  <a:ea typeface="Consolas"/>
                  <a:cs typeface="Consolas"/>
                </a:rPr>
                <a:t xml:space="preserve"> </a:t>
              </a:r>
              <a:br/>
              <a:r>
                <a:rPr lang="zh-CN" sz="1050" dirty="0">
                  <a:solidFill>
                    <a:srgbClr val="1F2937"/>
                  </a:solidFill>
                  <a:latin typeface="Consolas"/>
                  <a:ea typeface="Microsoft YaHei"/>
                  <a:cs typeface="Consolas"/>
                </a:rPr>
                <a:t>A  iter  until（或 while）cond</a:t>
              </a:r>
              <a:br/>
              <a:r>
                <a:rPr lang="en-US" sz="1050" dirty="0">
                  <a:solidFill>
                    <a:srgbClr val="1F2937"/>
                  </a:solidFill>
                  <a:latin typeface="Consolas"/>
                  <a:ea typeface="Consolas"/>
                  <a:cs typeface="Consolas"/>
                </a:rPr>
                <a:t xml:space="preserve">   B</a:t>
              </a:r>
              <a:br/>
              <a:r>
                <a:rPr lang="en-US" sz="1050" dirty="0">
                  <a:solidFill>
                    <a:srgbClr val="1F2937"/>
                  </a:solidFill>
                  <a:latin typeface="Consolas"/>
                  <a:ea typeface="Consolas"/>
                  <a:cs typeface="Consolas"/>
                </a:rPr>
                <a:t>A  end</a:t>
              </a:r>
            </a:p>
          </p:txBody>
        </p:sp>
      </p:grpSp>
      <p:grpSp>
        <p:nvGrpSpPr>
          <p:cNvPr id="44" name="c2-card-2"/>
          <p:cNvGrpSpPr/>
          <p:nvPr/>
        </p:nvGrpSpPr>
        <p:grpSpPr>
          <a:xfrm>
            <a:off x="5598795" y="4291012"/>
            <a:ext cx="6059805" cy="1893570"/>
            <a:chOff x="5598795" y="4291012"/>
            <a:chExt cx="6059805" cy="1893570"/>
          </a:xfrm>
        </p:grpSpPr>
        <p:sp>
          <p:nvSpPr>
            <p:cNvPr id="34" name="Rectangle 34"/>
            <p:cNvSpPr/>
            <p:nvPr/>
          </p:nvSpPr>
          <p:spPr>
            <a:xfrm>
              <a:off x="5598795" y="4291012"/>
              <a:ext cx="6059805" cy="1893570"/>
            </a:xfrm>
            <a:prstGeom prst="roundRect">
              <a:avLst>
                <a:gd name="adj" fmla="val 7042"/>
              </a:avLst>
            </a:prstGeom>
            <a:solidFill>
              <a:srgbClr val="334E68"/>
            </a:solidFill>
            <a:ln>
              <a:noFill/>
            </a:ln>
          </p:spPr>
        </p:sp>
        <p:sp>
          <p:nvSpPr>
            <p:cNvPr id="35" name="Rectangle 35"/>
            <p:cNvSpPr/>
            <p:nvPr/>
          </p:nvSpPr>
          <p:spPr>
            <a:xfrm>
              <a:off x="5796915" y="4489132"/>
              <a:ext cx="1276350" cy="247650"/>
            </a:xfrm>
            <a:prstGeom prst="roundRect">
              <a:avLst>
                <a:gd name="adj" fmla="val 50000"/>
              </a:avLst>
            </a:prstGeom>
            <a:solidFill>
              <a:srgbClr val="243B53"/>
            </a:solidFill>
            <a:ln>
              <a:noFill/>
            </a:ln>
          </p:spPr>
        </p:sp>
        <p:sp>
          <p:nvSpPr>
            <p:cNvPr id="36" name="TextBox 36"/>
            <p:cNvSpPr txBox="1"/>
            <p:nvPr/>
          </p:nvSpPr>
          <p:spPr>
            <a:xfrm>
              <a:off x="5864352" y="4523422"/>
              <a:ext cx="1141476"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三个关键字怎么读</a:t>
              </a:r>
            </a:p>
          </p:txBody>
        </p:sp>
        <p:sp>
          <p:nvSpPr>
            <p:cNvPr id="37" name="Ellipse 37"/>
            <p:cNvSpPr/>
            <p:nvPr/>
          </p:nvSpPr>
          <p:spPr>
            <a:xfrm>
              <a:off x="5804535" y="4910138"/>
              <a:ext cx="60960" cy="60960"/>
            </a:xfrm>
            <a:prstGeom prst="ellipse">
              <a:avLst/>
            </a:prstGeom>
            <a:solidFill>
              <a:srgbClr val="FFFFFF"/>
            </a:solidFill>
            <a:ln>
              <a:noFill/>
            </a:ln>
          </p:spPr>
        </p:sp>
        <p:sp>
          <p:nvSpPr>
            <p:cNvPr id="38" name="TextBox 38"/>
            <p:cNvSpPr txBox="1"/>
            <p:nvPr/>
          </p:nvSpPr>
          <p:spPr>
            <a:xfrm>
              <a:off x="5961126" y="4849654"/>
              <a:ext cx="3197299" cy="278702"/>
            </a:xfrm>
            <a:prstGeom prst="rect">
              <a:avLst/>
            </a:prstGeom>
            <a:noFill/>
            <a:ln>
              <a:noFill/>
            </a:ln>
          </p:spPr>
          <p:txBody>
            <a:bodyPr wrap="none" lIns="0" tIns="0" rIns="0" bIns="0" anchor="t" anchorCtr="0">
              <a:spAutoFit/>
            </a:bodyPr>
            <a:lstStyle/>
            <a:p>
              <a:pPr algn="l"/>
              <a:r>
                <a:rPr lang="en-US" sz="1420" dirty="0">
                  <a:solidFill>
                    <a:srgbClr val="E7EDF3"/>
                  </a:solidFill>
                  <a:latin typeface="+mn-lt"/>
                  <a:ea typeface="+mn-ea"/>
                  <a:cs typeface="+mn-cs"/>
                </a:rPr>
                <a:t>seq</a:t>
              </a:r>
              <a:r>
                <a:rPr lang="zh-CN" sz="1420" dirty="0">
                  <a:solidFill>
                    <a:srgbClr val="FFFFFF"/>
                  </a:solidFill>
                  <a:latin typeface="+mn-lt"/>
                  <a:ea typeface="+mn-ea"/>
                  <a:cs typeface="+mn-cs"/>
                </a:rPr>
                <a:t>：括起来的几个框按次序各做一次</a:t>
              </a:r>
            </a:p>
          </p:txBody>
        </p:sp>
        <p:sp>
          <p:nvSpPr>
            <p:cNvPr id="39" name="Ellipse 39"/>
            <p:cNvSpPr/>
            <p:nvPr/>
          </p:nvSpPr>
          <p:spPr>
            <a:xfrm>
              <a:off x="5804535" y="5227320"/>
              <a:ext cx="60960" cy="60960"/>
            </a:xfrm>
            <a:prstGeom prst="ellipse">
              <a:avLst/>
            </a:prstGeom>
            <a:solidFill>
              <a:srgbClr val="FFFFFF"/>
            </a:solidFill>
            <a:ln>
              <a:noFill/>
            </a:ln>
          </p:spPr>
        </p:sp>
        <p:sp>
          <p:nvSpPr>
            <p:cNvPr id="40" name="TextBox 40"/>
            <p:cNvSpPr txBox="1"/>
            <p:nvPr/>
          </p:nvSpPr>
          <p:spPr>
            <a:xfrm>
              <a:off x="5961126" y="5167789"/>
              <a:ext cx="3484039" cy="278702"/>
            </a:xfrm>
            <a:prstGeom prst="rect">
              <a:avLst/>
            </a:prstGeom>
            <a:noFill/>
            <a:ln>
              <a:noFill/>
            </a:ln>
          </p:spPr>
          <p:txBody>
            <a:bodyPr wrap="none" lIns="0" tIns="0" rIns="0" bIns="0" anchor="t" anchorCtr="0">
              <a:spAutoFit/>
            </a:bodyPr>
            <a:lstStyle/>
            <a:p>
              <a:pPr algn="l"/>
              <a:r>
                <a:rPr lang="en-US" sz="1420" dirty="0">
                  <a:solidFill>
                    <a:srgbClr val="E7EDF3"/>
                  </a:solidFill>
                  <a:latin typeface="+mn-lt"/>
                  <a:ea typeface="+mn-ea"/>
                  <a:cs typeface="+mn-cs"/>
                </a:rPr>
                <a:t>select … or …</a:t>
              </a:r>
              <a:r>
                <a:rPr lang="zh-CN" sz="1420" dirty="0">
                  <a:solidFill>
                    <a:srgbClr val="FFFFFF"/>
                  </a:solidFill>
                  <a:latin typeface="+mn-lt"/>
                  <a:ea typeface="+mn-ea"/>
                  <a:cs typeface="+mn-cs"/>
                </a:rPr>
                <a:t>：按条件在几段里挑一段做</a:t>
              </a:r>
            </a:p>
          </p:txBody>
        </p:sp>
        <p:sp>
          <p:nvSpPr>
            <p:cNvPr id="41" name="Ellipse 41"/>
            <p:cNvSpPr/>
            <p:nvPr/>
          </p:nvSpPr>
          <p:spPr>
            <a:xfrm>
              <a:off x="5804535" y="5545455"/>
              <a:ext cx="60960" cy="60960"/>
            </a:xfrm>
            <a:prstGeom prst="ellipse">
              <a:avLst/>
            </a:prstGeom>
            <a:solidFill>
              <a:srgbClr val="FFFFFF"/>
            </a:solidFill>
            <a:ln>
              <a:noFill/>
            </a:ln>
          </p:spPr>
        </p:sp>
        <p:sp>
          <p:nvSpPr>
            <p:cNvPr id="42" name="TextBox 42"/>
            <p:cNvSpPr txBox="1"/>
            <p:nvPr/>
          </p:nvSpPr>
          <p:spPr>
            <a:xfrm>
              <a:off x="5961126" y="5485924"/>
              <a:ext cx="3445807" cy="278702"/>
            </a:xfrm>
            <a:prstGeom prst="rect">
              <a:avLst/>
            </a:prstGeom>
            <a:noFill/>
            <a:ln>
              <a:noFill/>
            </a:ln>
          </p:spPr>
          <p:txBody>
            <a:bodyPr wrap="none" lIns="0" tIns="0" rIns="0" bIns="0" anchor="t" anchorCtr="0">
              <a:spAutoFit/>
            </a:bodyPr>
            <a:lstStyle/>
            <a:p>
              <a:pPr algn="l"/>
              <a:r>
                <a:rPr lang="zh-CN" sz="1420" dirty="0">
                  <a:solidFill>
                    <a:srgbClr val="E7EDF3"/>
                  </a:solidFill>
                  <a:latin typeface="+mn-lt"/>
                  <a:ea typeface="+mn-ea"/>
                  <a:cs typeface="+mn-cs"/>
                </a:rPr>
                <a:t>iter until（while）</a:t>
              </a:r>
              <a:r>
                <a:rPr lang="zh-CN" sz="1420" dirty="0">
                  <a:solidFill>
                    <a:srgbClr val="FFFFFF"/>
                  </a:solidFill>
                  <a:latin typeface="+mn-lt"/>
                  <a:ea typeface="+mn-ea"/>
                  <a:cs typeface="+mn-cs"/>
                </a:rPr>
                <a:t>：把里面那段反复做</a:t>
              </a:r>
            </a:p>
          </p:txBody>
        </p:sp>
        <p:sp>
          <p:nvSpPr>
            <p:cNvPr id="43" name="TextBox 43"/>
            <p:cNvSpPr txBox="1"/>
            <p:nvPr/>
          </p:nvSpPr>
          <p:spPr>
            <a:xfrm>
              <a:off x="5790819" y="5799772"/>
              <a:ext cx="3889248" cy="234696"/>
            </a:xfrm>
            <a:prstGeom prst="rect">
              <a:avLst/>
            </a:prstGeom>
            <a:noFill/>
            <a:ln>
              <a:noFill/>
            </a:ln>
          </p:spPr>
          <p:txBody>
            <a:bodyPr wrap="none" lIns="0" tIns="0" rIns="0" bIns="0" anchor="t" anchorCtr="0">
              <a:spAutoFit/>
            </a:bodyPr>
            <a:lstStyle/>
            <a:p>
              <a:pPr algn="l"/>
              <a:r>
                <a:rPr lang="zh-CN" sz="1200" dirty="0">
                  <a:solidFill>
                    <a:srgbClr val="FFFFFF"/>
                  </a:solidFill>
                  <a:latin typeface="+mn-lt"/>
                  <a:ea typeface="+mn-ea"/>
                  <a:cs typeface="+mn-cs"/>
                </a:rPr>
                <a:t>一个框里只能用一种关键字，要混用就得再加一层框。</a:t>
              </a:r>
            </a:p>
          </p:txBody>
        </p:sp>
      </p:grpSp>
      <p:grpSp>
        <p:nvGrpSpPr>
          <p:cNvPr id="47" name="footer"/>
          <p:cNvGrpSpPr/>
          <p:nvPr/>
        </p:nvGrpSpPr>
        <p:grpSpPr>
          <a:xfrm>
            <a:off x="528447" y="6581299"/>
            <a:ext cx="11135106" cy="190690"/>
            <a:chOff x="528447" y="6581299"/>
            <a:chExt cx="11135106" cy="190690"/>
          </a:xfrm>
        </p:grpSpPr>
        <p:sp>
          <p:nvSpPr>
            <p:cNvPr id="45" name="TextBox 45"/>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46" name="TextBox 4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36</a:t>
              </a:r>
            </a:p>
          </p:txBody>
        </p:sp>
      </p:grpSp>
    </p:spTree>
  </p:cSld>
  <p:clrMapOvr>
    <a:masterClrMapping/>
  </p:clrMapOvr>
  <p:transition xmlns:p14="http://schemas.microsoft.com/office/powerpoint/2010/main" p14:dur="400">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936818" cy="909257"/>
            <a:chOff x="520446" y="342900"/>
            <a:chExt cx="3936818"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面向数据结构的设计方法</a:t>
              </a:r>
            </a:p>
          </p:txBody>
        </p:sp>
        <p:sp>
          <p:nvSpPr>
            <p:cNvPr id="4" name="TextBox 4"/>
            <p:cNvSpPr txBox="1"/>
            <p:nvPr/>
          </p:nvSpPr>
          <p:spPr>
            <a:xfrm>
              <a:off x="520446" y="753428"/>
              <a:ext cx="393681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Jackson 方法的五个步骤</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8" name="c1-steps-1"/>
          <p:cNvGrpSpPr/>
          <p:nvPr/>
        </p:nvGrpSpPr>
        <p:grpSpPr>
          <a:xfrm>
            <a:off x="533400" y="1533525"/>
            <a:ext cx="6003468" cy="2851309"/>
            <a:chOff x="533400" y="1533525"/>
            <a:chExt cx="6003468" cy="2851309"/>
          </a:xfrm>
        </p:grpSpPr>
        <p:sp>
          <p:nvSpPr>
            <p:cNvPr id="7" name="Rectangle 7"/>
            <p:cNvSpPr/>
            <p:nvPr/>
          </p:nvSpPr>
          <p:spPr>
            <a:xfrm>
              <a:off x="666750" y="1676400"/>
              <a:ext cx="19050" cy="2331720"/>
            </a:xfrm>
            <a:prstGeom prst="rect">
              <a:avLst/>
            </a:prstGeom>
            <a:solidFill>
              <a:srgbClr val="D9DFEA"/>
            </a:solidFill>
            <a:ln>
              <a:noFill/>
            </a:ln>
          </p:spPr>
        </p:sp>
        <p:sp>
          <p:nvSpPr>
            <p:cNvPr id="8" name="Ellipse 8"/>
            <p:cNvSpPr/>
            <p:nvPr/>
          </p:nvSpPr>
          <p:spPr>
            <a:xfrm>
              <a:off x="533400" y="1533525"/>
              <a:ext cx="285750" cy="285750"/>
            </a:xfrm>
            <a:prstGeom prst="ellipse">
              <a:avLst/>
            </a:prstGeom>
            <a:solidFill>
              <a:srgbClr val="334E68"/>
            </a:solidFill>
            <a:ln>
              <a:noFill/>
            </a:ln>
          </p:spPr>
        </p:sp>
        <p:sp>
          <p:nvSpPr>
            <p:cNvPr id="9" name="TextBox 9"/>
            <p:cNvSpPr txBox="1"/>
            <p:nvPr/>
          </p:nvSpPr>
          <p:spPr>
            <a:xfrm>
              <a:off x="627024" y="16073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0" name="Ellipse 10"/>
            <p:cNvSpPr/>
            <p:nvPr/>
          </p:nvSpPr>
          <p:spPr>
            <a:xfrm>
              <a:off x="533400" y="2116455"/>
              <a:ext cx="285750" cy="285750"/>
            </a:xfrm>
            <a:prstGeom prst="ellipse">
              <a:avLst/>
            </a:prstGeom>
            <a:solidFill>
              <a:srgbClr val="334E68"/>
            </a:solidFill>
            <a:ln>
              <a:noFill/>
            </a:ln>
          </p:spPr>
        </p:sp>
        <p:sp>
          <p:nvSpPr>
            <p:cNvPr id="11" name="TextBox 11"/>
            <p:cNvSpPr txBox="1"/>
            <p:nvPr/>
          </p:nvSpPr>
          <p:spPr>
            <a:xfrm>
              <a:off x="627024" y="219027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2" name="Ellipse 12"/>
            <p:cNvSpPr/>
            <p:nvPr/>
          </p:nvSpPr>
          <p:spPr>
            <a:xfrm>
              <a:off x="533400" y="2699385"/>
              <a:ext cx="285750" cy="285750"/>
            </a:xfrm>
            <a:prstGeom prst="ellipse">
              <a:avLst/>
            </a:prstGeom>
            <a:solidFill>
              <a:srgbClr val="334E68"/>
            </a:solidFill>
            <a:ln>
              <a:noFill/>
            </a:ln>
          </p:spPr>
        </p:sp>
        <p:sp>
          <p:nvSpPr>
            <p:cNvPr id="13" name="TextBox 13"/>
            <p:cNvSpPr txBox="1"/>
            <p:nvPr/>
          </p:nvSpPr>
          <p:spPr>
            <a:xfrm>
              <a:off x="627024" y="277320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4" name="Ellipse 14"/>
            <p:cNvSpPr/>
            <p:nvPr/>
          </p:nvSpPr>
          <p:spPr>
            <a:xfrm>
              <a:off x="533400" y="3282315"/>
              <a:ext cx="285750" cy="285750"/>
            </a:xfrm>
            <a:prstGeom prst="ellipse">
              <a:avLst/>
            </a:prstGeom>
            <a:solidFill>
              <a:srgbClr val="334E68"/>
            </a:solidFill>
            <a:ln>
              <a:noFill/>
            </a:ln>
          </p:spPr>
        </p:sp>
        <p:sp>
          <p:nvSpPr>
            <p:cNvPr id="15" name="TextBox 15"/>
            <p:cNvSpPr txBox="1"/>
            <p:nvPr/>
          </p:nvSpPr>
          <p:spPr>
            <a:xfrm>
              <a:off x="627024" y="335613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16" name="Ellipse 16"/>
            <p:cNvSpPr/>
            <p:nvPr/>
          </p:nvSpPr>
          <p:spPr>
            <a:xfrm>
              <a:off x="533400" y="3865245"/>
              <a:ext cx="285750" cy="285750"/>
            </a:xfrm>
            <a:prstGeom prst="ellipse">
              <a:avLst/>
            </a:prstGeom>
            <a:solidFill>
              <a:srgbClr val="334E68"/>
            </a:solidFill>
            <a:ln>
              <a:noFill/>
            </a:ln>
          </p:spPr>
        </p:sp>
        <p:sp>
          <p:nvSpPr>
            <p:cNvPr id="17" name="TextBox 17"/>
            <p:cNvSpPr txBox="1"/>
            <p:nvPr/>
          </p:nvSpPr>
          <p:spPr>
            <a:xfrm>
              <a:off x="627024" y="393906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5</a:t>
              </a:r>
            </a:p>
          </p:txBody>
        </p:sp>
        <p:sp>
          <p:nvSpPr>
            <p:cNvPr id="18" name="TextBox 18"/>
            <p:cNvSpPr txBox="1"/>
            <p:nvPr/>
          </p:nvSpPr>
          <p:spPr>
            <a:xfrm>
              <a:off x="945642" y="1564957"/>
              <a:ext cx="59663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第 1 步</a:t>
              </a:r>
            </a:p>
          </p:txBody>
        </p:sp>
        <p:sp>
          <p:nvSpPr>
            <p:cNvPr id="19" name="TextBox 19"/>
            <p:cNvSpPr txBox="1"/>
            <p:nvPr/>
          </p:nvSpPr>
          <p:spPr>
            <a:xfrm>
              <a:off x="946785" y="1833086"/>
              <a:ext cx="521103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分析并确定输入数据和输出数据的逻辑结构，用 Jackson 图描绘这些数据结构</a:t>
              </a:r>
            </a:p>
          </p:txBody>
        </p:sp>
        <p:sp>
          <p:nvSpPr>
            <p:cNvPr id="20" name="TextBox 20"/>
            <p:cNvSpPr txBox="1"/>
            <p:nvPr/>
          </p:nvSpPr>
          <p:spPr>
            <a:xfrm>
              <a:off x="945642" y="2147888"/>
              <a:ext cx="59663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第 2 步</a:t>
              </a:r>
            </a:p>
          </p:txBody>
        </p:sp>
        <p:sp>
          <p:nvSpPr>
            <p:cNvPr id="21" name="TextBox 21"/>
            <p:cNvSpPr txBox="1"/>
            <p:nvPr/>
          </p:nvSpPr>
          <p:spPr>
            <a:xfrm>
              <a:off x="946785" y="2416016"/>
              <a:ext cx="393156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找出输入数据结构和输出数据结构中</a:t>
              </a:r>
              <a:r>
                <a:rPr lang="zh-CN" sz="1120" b="1" dirty="0">
                  <a:solidFill>
                    <a:srgbClr val="C2410C"/>
                  </a:solidFill>
                  <a:latin typeface="+mn-lt"/>
                  <a:ea typeface="+mn-ea"/>
                  <a:cs typeface="+mn-cs"/>
                </a:rPr>
                <a:t>有对应关系</a:t>
              </a:r>
              <a:r>
                <a:rPr lang="zh-CN" sz="1120" dirty="0">
                  <a:solidFill>
                    <a:srgbClr val="1F2937"/>
                  </a:solidFill>
                  <a:latin typeface="+mn-lt"/>
                  <a:ea typeface="+mn-ea"/>
                  <a:cs typeface="+mn-cs"/>
                </a:rPr>
                <a:t>的数据单元</a:t>
              </a:r>
            </a:p>
          </p:txBody>
        </p:sp>
        <p:sp>
          <p:nvSpPr>
            <p:cNvPr id="22" name="TextBox 22"/>
            <p:cNvSpPr txBox="1"/>
            <p:nvPr/>
          </p:nvSpPr>
          <p:spPr>
            <a:xfrm>
              <a:off x="945642" y="2730818"/>
              <a:ext cx="59663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第 3 步</a:t>
              </a:r>
            </a:p>
          </p:txBody>
        </p:sp>
        <p:sp>
          <p:nvSpPr>
            <p:cNvPr id="23" name="TextBox 23"/>
            <p:cNvSpPr txBox="1"/>
            <p:nvPr/>
          </p:nvSpPr>
          <p:spPr>
            <a:xfrm>
              <a:off x="946785" y="2998946"/>
              <a:ext cx="3273582"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用下面 3 条规则导出描绘程序结构的 Jackson 图</a:t>
              </a:r>
            </a:p>
          </p:txBody>
        </p:sp>
        <p:sp>
          <p:nvSpPr>
            <p:cNvPr id="24" name="TextBox 24"/>
            <p:cNvSpPr txBox="1"/>
            <p:nvPr/>
          </p:nvSpPr>
          <p:spPr>
            <a:xfrm>
              <a:off x="945642" y="3313748"/>
              <a:ext cx="59663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第 4 步</a:t>
              </a:r>
            </a:p>
          </p:txBody>
        </p:sp>
        <p:sp>
          <p:nvSpPr>
            <p:cNvPr id="25" name="TextBox 25"/>
            <p:cNvSpPr txBox="1"/>
            <p:nvPr/>
          </p:nvSpPr>
          <p:spPr>
            <a:xfrm>
              <a:off x="946785" y="3581876"/>
              <a:ext cx="559008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列出所有操作和条件（含分支条件和循环结束条件），分配到程序结构图的适当位置</a:t>
              </a:r>
            </a:p>
          </p:txBody>
        </p:sp>
        <p:sp>
          <p:nvSpPr>
            <p:cNvPr id="26" name="TextBox 26"/>
            <p:cNvSpPr txBox="1"/>
            <p:nvPr/>
          </p:nvSpPr>
          <p:spPr>
            <a:xfrm>
              <a:off x="945642" y="3896677"/>
              <a:ext cx="59663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第 5 步</a:t>
              </a:r>
            </a:p>
          </p:txBody>
        </p:sp>
        <p:sp>
          <p:nvSpPr>
            <p:cNvPr id="27" name="TextBox 27"/>
            <p:cNvSpPr txBox="1"/>
            <p:nvPr/>
          </p:nvSpPr>
          <p:spPr>
            <a:xfrm>
              <a:off x="946785" y="4164806"/>
              <a:ext cx="1066851"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用伪码表示程序</a:t>
              </a:r>
            </a:p>
          </p:txBody>
        </p:sp>
      </p:grpSp>
      <p:grpSp>
        <p:nvGrpSpPr>
          <p:cNvPr id="34" name="c1-kv-2"/>
          <p:cNvGrpSpPr/>
          <p:nvPr/>
        </p:nvGrpSpPr>
        <p:grpSpPr>
          <a:xfrm>
            <a:off x="526542" y="4571048"/>
            <a:ext cx="6066663" cy="656463"/>
            <a:chOff x="526542" y="4571048"/>
            <a:chExt cx="6066663" cy="656463"/>
          </a:xfrm>
        </p:grpSpPr>
        <p:sp>
          <p:nvSpPr>
            <p:cNvPr id="29" name="TextBox 29"/>
            <p:cNvSpPr txBox="1"/>
            <p:nvPr/>
          </p:nvSpPr>
          <p:spPr>
            <a:xfrm>
              <a:off x="526542" y="4571048"/>
              <a:ext cx="347298" cy="264033"/>
            </a:xfrm>
            <a:prstGeom prst="rect">
              <a:avLst/>
            </a:prstGeom>
            <a:noFill/>
            <a:ln>
              <a:noFill/>
            </a:ln>
          </p:spPr>
          <p:txBody>
            <a:bodyPr wrap="none" lIns="0" tIns="0" rIns="0" bIns="0" anchor="t" anchorCtr="0">
              <a:spAutoFit/>
            </a:bodyPr>
            <a:lstStyle/>
            <a:p>
              <a:pPr algn="l"/>
              <a:r>
                <a:rPr lang="en-US" sz="1350" b="1" dirty="0">
                  <a:solidFill>
                    <a:srgbClr val="334E68"/>
                  </a:solidFill>
                  <a:latin typeface="+mn-lt"/>
                  <a:ea typeface="+mn-ea"/>
                  <a:cs typeface="+mn-cs"/>
                </a:rPr>
                <a:t>I(i)</a:t>
              </a:r>
            </a:p>
          </p:txBody>
        </p:sp>
        <p:sp>
          <p:nvSpPr>
            <p:cNvPr id="30" name="TextBox 30"/>
            <p:cNvSpPr txBox="1"/>
            <p:nvPr/>
          </p:nvSpPr>
          <p:spPr>
            <a:xfrm>
              <a:off x="1139952" y="4571048"/>
              <a:ext cx="364845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循环结束条件的编号，标在重复结构的连线旁</a:t>
              </a:r>
            </a:p>
          </p:txBody>
        </p:sp>
        <p:sp>
          <p:nvSpPr>
            <p:cNvPr id="31" name="Rectangle 31"/>
            <p:cNvSpPr/>
            <p:nvPr/>
          </p:nvSpPr>
          <p:spPr>
            <a:xfrm>
              <a:off x="533400" y="4856798"/>
              <a:ext cx="6059805" cy="9525"/>
            </a:xfrm>
            <a:prstGeom prst="rect">
              <a:avLst/>
            </a:prstGeom>
            <a:solidFill>
              <a:srgbClr val="D9DFEA"/>
            </a:solidFill>
            <a:ln>
              <a:noFill/>
            </a:ln>
          </p:spPr>
        </p:sp>
        <p:sp>
          <p:nvSpPr>
            <p:cNvPr id="32" name="TextBox 32"/>
            <p:cNvSpPr txBox="1"/>
            <p:nvPr/>
          </p:nvSpPr>
          <p:spPr>
            <a:xfrm>
              <a:off x="526542" y="4963478"/>
              <a:ext cx="396354" cy="264033"/>
            </a:xfrm>
            <a:prstGeom prst="rect">
              <a:avLst/>
            </a:prstGeom>
            <a:noFill/>
            <a:ln>
              <a:noFill/>
            </a:ln>
          </p:spPr>
          <p:txBody>
            <a:bodyPr wrap="none" lIns="0" tIns="0" rIns="0" bIns="0" anchor="t" anchorCtr="0">
              <a:spAutoFit/>
            </a:bodyPr>
            <a:lstStyle/>
            <a:p>
              <a:pPr algn="l"/>
              <a:r>
                <a:rPr lang="en-US" sz="1350" b="1" dirty="0">
                  <a:solidFill>
                    <a:srgbClr val="334E68"/>
                  </a:solidFill>
                  <a:latin typeface="+mn-lt"/>
                  <a:ea typeface="+mn-ea"/>
                  <a:cs typeface="+mn-cs"/>
                </a:rPr>
                <a:t>S(i)</a:t>
              </a:r>
            </a:p>
          </p:txBody>
        </p:sp>
        <p:sp>
          <p:nvSpPr>
            <p:cNvPr id="33" name="TextBox 33"/>
            <p:cNvSpPr txBox="1"/>
            <p:nvPr/>
          </p:nvSpPr>
          <p:spPr>
            <a:xfrm>
              <a:off x="1139952" y="4963478"/>
              <a:ext cx="328498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分支条件的编号，标在选择结构的连线旁</a:t>
              </a:r>
            </a:p>
          </p:txBody>
        </p:sp>
      </p:grpSp>
      <p:grpSp>
        <p:nvGrpSpPr>
          <p:cNvPr id="48" name="c2-card-1"/>
          <p:cNvGrpSpPr/>
          <p:nvPr/>
        </p:nvGrpSpPr>
        <p:grpSpPr>
          <a:xfrm>
            <a:off x="6898005" y="1524000"/>
            <a:ext cx="4760595" cy="2814638"/>
            <a:chOff x="6898005" y="1524000"/>
            <a:chExt cx="4760595" cy="2814638"/>
          </a:xfrm>
        </p:grpSpPr>
        <p:sp>
          <p:nvSpPr>
            <p:cNvPr id="35" name="Rectangle 35"/>
            <p:cNvSpPr/>
            <p:nvPr/>
          </p:nvSpPr>
          <p:spPr>
            <a:xfrm>
              <a:off x="6898005" y="1524000"/>
              <a:ext cx="4760595" cy="2814638"/>
            </a:xfrm>
            <a:prstGeom prst="roundRect">
              <a:avLst>
                <a:gd name="adj" fmla="val 4738"/>
              </a:avLst>
            </a:prstGeom>
            <a:solidFill>
              <a:srgbClr val="FFFFFF"/>
            </a:solidFill>
            <a:ln w="14288">
              <a:solidFill>
                <a:srgbClr val="D9DFEA"/>
              </a:solidFill>
            </a:ln>
          </p:spPr>
        </p:sp>
        <p:sp>
          <p:nvSpPr>
            <p:cNvPr id="36" name="Rectangle 36"/>
            <p:cNvSpPr/>
            <p:nvPr/>
          </p:nvSpPr>
          <p:spPr>
            <a:xfrm>
              <a:off x="6907530" y="1657350"/>
              <a:ext cx="47625" cy="2547938"/>
            </a:xfrm>
            <a:prstGeom prst="roundRect">
              <a:avLst>
                <a:gd name="adj" fmla="val 50000"/>
              </a:avLst>
            </a:prstGeom>
            <a:solidFill>
              <a:srgbClr val="334E68"/>
            </a:solidFill>
            <a:ln>
              <a:noFill/>
            </a:ln>
          </p:spPr>
        </p:sp>
        <p:sp>
          <p:nvSpPr>
            <p:cNvPr id="37" name="Rectangle 37"/>
            <p:cNvSpPr/>
            <p:nvPr/>
          </p:nvSpPr>
          <p:spPr>
            <a:xfrm>
              <a:off x="7122795" y="1710690"/>
              <a:ext cx="1230630" cy="238125"/>
            </a:xfrm>
            <a:prstGeom prst="roundRect">
              <a:avLst>
                <a:gd name="adj" fmla="val 50000"/>
              </a:avLst>
            </a:prstGeom>
            <a:solidFill>
              <a:srgbClr val="E7EDF3"/>
            </a:solidFill>
            <a:ln>
              <a:noFill/>
            </a:ln>
          </p:spPr>
        </p:sp>
        <p:sp>
          <p:nvSpPr>
            <p:cNvPr id="38" name="TextBox 38"/>
            <p:cNvSpPr txBox="1"/>
            <p:nvPr/>
          </p:nvSpPr>
          <p:spPr>
            <a:xfrm>
              <a:off x="7191759" y="1743551"/>
              <a:ext cx="1092702" cy="190690"/>
            </a:xfrm>
            <a:prstGeom prst="rect">
              <a:avLst/>
            </a:prstGeom>
            <a:noFill/>
            <a:ln>
              <a:noFill/>
            </a:ln>
          </p:spPr>
          <p:txBody>
            <a:bodyPr wrap="none" lIns="0" tIns="0" rIns="0" bIns="0" anchor="t" anchorCtr="0">
              <a:spAutoFit/>
            </a:bodyPr>
            <a:lstStyle/>
            <a:p>
              <a:pPr algn="ctr"/>
              <a:r>
                <a:rPr lang="zh-CN" sz="980" b="1" dirty="0">
                  <a:solidFill>
                    <a:srgbClr val="334E68"/>
                  </a:solidFill>
                  <a:latin typeface="+mn-lt"/>
                  <a:ea typeface="+mn-ea"/>
                  <a:cs typeface="+mn-cs"/>
                </a:rPr>
                <a:t>第 3 步的三条规则</a:t>
              </a:r>
            </a:p>
          </p:txBody>
        </p:sp>
        <p:sp>
          <p:nvSpPr>
            <p:cNvPr id="39" name="Ellipse 39"/>
            <p:cNvSpPr/>
            <p:nvPr/>
          </p:nvSpPr>
          <p:spPr>
            <a:xfrm>
              <a:off x="7121842" y="2043112"/>
              <a:ext cx="192405" cy="192405"/>
            </a:xfrm>
            <a:prstGeom prst="ellipse">
              <a:avLst/>
            </a:prstGeom>
            <a:solidFill>
              <a:srgbClr val="334E68"/>
            </a:solidFill>
            <a:ln>
              <a:noFill/>
            </a:ln>
          </p:spPr>
        </p:sp>
        <p:sp>
          <p:nvSpPr>
            <p:cNvPr id="40" name="TextBox 40"/>
            <p:cNvSpPr txBox="1"/>
            <p:nvPr/>
          </p:nvSpPr>
          <p:spPr>
            <a:xfrm>
              <a:off x="7177521" y="208149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41" name="TextBox 41"/>
            <p:cNvSpPr txBox="1"/>
            <p:nvPr/>
          </p:nvSpPr>
          <p:spPr>
            <a:xfrm>
              <a:off x="7402639" y="2054542"/>
              <a:ext cx="378561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为每对</a:t>
              </a:r>
              <a:r>
                <a:rPr lang="zh-CN" sz="1350" b="1" dirty="0">
                  <a:solidFill>
                    <a:srgbClr val="1F2937"/>
                  </a:solidFill>
                  <a:latin typeface="+mn-lt"/>
                  <a:ea typeface="+mn-ea"/>
                  <a:cs typeface="+mn-cs"/>
                </a:rPr>
                <a:t>有对应关系</a:t>
              </a:r>
              <a:r>
                <a:rPr lang="zh-CN" sz="1350" dirty="0">
                  <a:solidFill>
                    <a:srgbClr val="1F2937"/>
                  </a:solidFill>
                  <a:latin typeface="+mn-lt"/>
                  <a:ea typeface="+mn-ea"/>
                  <a:cs typeface="+mn-cs"/>
                </a:rPr>
                <a:t>的数据单元，按它们在数据结构</a:t>
              </a:r>
              <a:br/>
              <a:r>
                <a:rPr lang="zh-CN" sz="1350" dirty="0">
                  <a:solidFill>
                    <a:srgbClr val="1F2937"/>
                  </a:solidFill>
                  <a:latin typeface="+mn-lt"/>
                  <a:ea typeface="+mn-ea"/>
                  <a:cs typeface="+mn-cs"/>
                </a:rPr>
                <a:t>图中的层次，在程序结构图的相应层次画一个处理</a:t>
              </a:r>
              <a:br/>
              <a:r>
                <a:rPr lang="zh-CN" sz="1350" dirty="0">
                  <a:solidFill>
                    <a:srgbClr val="1F2937"/>
                  </a:solidFill>
                  <a:latin typeface="+mn-lt"/>
                  <a:ea typeface="+mn-ea"/>
                  <a:cs typeface="+mn-cs"/>
                </a:rPr>
                <a:t>框</a:t>
              </a:r>
            </a:p>
          </p:txBody>
        </p:sp>
        <p:sp>
          <p:nvSpPr>
            <p:cNvPr id="42" name="Ellipse 42"/>
            <p:cNvSpPr/>
            <p:nvPr/>
          </p:nvSpPr>
          <p:spPr>
            <a:xfrm>
              <a:off x="7121842" y="2857500"/>
              <a:ext cx="192405" cy="192405"/>
            </a:xfrm>
            <a:prstGeom prst="ellipse">
              <a:avLst/>
            </a:prstGeom>
            <a:solidFill>
              <a:srgbClr val="334E68"/>
            </a:solidFill>
            <a:ln>
              <a:noFill/>
            </a:ln>
          </p:spPr>
        </p:sp>
        <p:sp>
          <p:nvSpPr>
            <p:cNvPr id="43" name="TextBox 43"/>
            <p:cNvSpPr txBox="1"/>
            <p:nvPr/>
          </p:nvSpPr>
          <p:spPr>
            <a:xfrm>
              <a:off x="7177521" y="2895886"/>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44" name="TextBox 44"/>
            <p:cNvSpPr txBox="1"/>
            <p:nvPr/>
          </p:nvSpPr>
          <p:spPr>
            <a:xfrm>
              <a:off x="7402639" y="2869882"/>
              <a:ext cx="378561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根据输入数据结构中剩余的每个数据单元所处的层</a:t>
              </a:r>
              <a:br/>
              <a:r>
                <a:rPr lang="zh-CN" sz="1350" dirty="0">
                  <a:solidFill>
                    <a:srgbClr val="1F2937"/>
                  </a:solidFill>
                  <a:latin typeface="+mn-lt"/>
                  <a:ea typeface="+mn-ea"/>
                  <a:cs typeface="+mn-cs"/>
                </a:rPr>
                <a:t>次，在程序结构图的相应层次分别画上对应的处理</a:t>
              </a:r>
              <a:br/>
              <a:r>
                <a:rPr lang="zh-CN" sz="1350" dirty="0">
                  <a:solidFill>
                    <a:srgbClr val="1F2937"/>
                  </a:solidFill>
                  <a:latin typeface="+mn-lt"/>
                  <a:ea typeface="+mn-ea"/>
                  <a:cs typeface="+mn-cs"/>
                </a:rPr>
                <a:t>框</a:t>
              </a:r>
            </a:p>
          </p:txBody>
        </p:sp>
        <p:sp>
          <p:nvSpPr>
            <p:cNvPr id="45" name="Ellipse 45"/>
            <p:cNvSpPr/>
            <p:nvPr/>
          </p:nvSpPr>
          <p:spPr>
            <a:xfrm>
              <a:off x="7121842" y="3671888"/>
              <a:ext cx="192405" cy="192405"/>
            </a:xfrm>
            <a:prstGeom prst="ellipse">
              <a:avLst/>
            </a:prstGeom>
            <a:solidFill>
              <a:srgbClr val="334E68"/>
            </a:solidFill>
            <a:ln>
              <a:noFill/>
            </a:ln>
          </p:spPr>
        </p:sp>
        <p:sp>
          <p:nvSpPr>
            <p:cNvPr id="46" name="TextBox 46"/>
            <p:cNvSpPr txBox="1"/>
            <p:nvPr/>
          </p:nvSpPr>
          <p:spPr>
            <a:xfrm>
              <a:off x="7177521" y="371027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47" name="TextBox 47"/>
            <p:cNvSpPr txBox="1"/>
            <p:nvPr/>
          </p:nvSpPr>
          <p:spPr>
            <a:xfrm>
              <a:off x="7402639" y="3684270"/>
              <a:ext cx="37856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根据输出数据结构中剩余的每个数据单元所处的层</a:t>
              </a:r>
              <a:br/>
              <a:r>
                <a:rPr lang="zh-CN" sz="1350" dirty="0">
                  <a:solidFill>
                    <a:srgbClr val="1F2937"/>
                  </a:solidFill>
                  <a:latin typeface="+mn-lt"/>
                  <a:ea typeface="+mn-ea"/>
                  <a:cs typeface="+mn-cs"/>
                </a:rPr>
                <a:t>次，同样分别画上对应的处理框</a:t>
              </a:r>
            </a:p>
          </p:txBody>
        </p:sp>
      </p:grpSp>
      <p:grpSp>
        <p:nvGrpSpPr>
          <p:cNvPr id="54" name="c2-callout-2"/>
          <p:cNvGrpSpPr/>
          <p:nvPr/>
        </p:nvGrpSpPr>
        <p:grpSpPr>
          <a:xfrm>
            <a:off x="6898005" y="4509135"/>
            <a:ext cx="4760595" cy="729615"/>
            <a:chOff x="6898005" y="4509135"/>
            <a:chExt cx="4760595" cy="729615"/>
          </a:xfrm>
        </p:grpSpPr>
        <p:sp>
          <p:nvSpPr>
            <p:cNvPr id="49" name="Rectangle 49"/>
            <p:cNvSpPr/>
            <p:nvPr/>
          </p:nvSpPr>
          <p:spPr>
            <a:xfrm>
              <a:off x="6898005" y="4509135"/>
              <a:ext cx="4760595" cy="729615"/>
            </a:xfrm>
            <a:prstGeom prst="roundRect">
              <a:avLst>
                <a:gd name="adj" fmla="val 15666"/>
              </a:avLst>
            </a:prstGeom>
            <a:solidFill>
              <a:srgbClr val="334E68"/>
            </a:solidFill>
            <a:ln>
              <a:noFill/>
            </a:ln>
          </p:spPr>
        </p:sp>
        <p:grpSp>
          <p:nvGrpSpPr>
            <p:cNvPr id="52" name="Group 52"/>
            <p:cNvGrpSpPr/>
            <p:nvPr/>
          </p:nvGrpSpPr>
          <p:grpSpPr>
            <a:xfrm>
              <a:off x="7102793" y="4773932"/>
              <a:ext cx="200023" cy="200023"/>
              <a:chOff x="7102793" y="4773932"/>
              <a:chExt cx="200023" cy="200023"/>
            </a:xfrm>
          </p:grpSpPr>
          <p:sp>
            <p:nvSpPr>
              <p:cNvPr id="50" name="Freeform 50"/>
              <p:cNvSpPr/>
              <p:nvPr/>
            </p:nvSpPr>
            <p:spPr>
              <a:xfrm>
                <a:off x="7102793" y="477393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1" name="Freeform 51"/>
              <p:cNvSpPr/>
              <p:nvPr/>
            </p:nvSpPr>
            <p:spPr>
              <a:xfrm>
                <a:off x="7236143" y="484060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3" name="TextBox 53"/>
            <p:cNvSpPr txBox="1"/>
            <p:nvPr/>
          </p:nvSpPr>
          <p:spPr>
            <a:xfrm>
              <a:off x="7405497" y="4654868"/>
              <a:ext cx="378561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FFFFFF"/>
                  </a:solidFill>
                  <a:latin typeface="+mn-lt"/>
                  <a:ea typeface="+mn-ea"/>
                  <a:cs typeface="+mn-cs"/>
                </a:rPr>
                <a:t>什么叫「有对应关系」：两个数据单元在同一次循</a:t>
              </a:r>
              <a:br/>
              <a:r>
                <a:rPr lang="zh-CN" sz="1350" dirty="0">
                  <a:solidFill>
                    <a:srgbClr val="FFFFFF"/>
                  </a:solidFill>
                  <a:latin typeface="+mn-lt"/>
                  <a:ea typeface="+mn-ea"/>
                  <a:cs typeface="+mn-cs"/>
                </a:rPr>
                <a:t>环里出现、重复次数相同，就能合成一个处理框。</a:t>
              </a:r>
            </a:p>
          </p:txBody>
        </p:sp>
      </p:grpSp>
      <p:grpSp>
        <p:nvGrpSpPr>
          <p:cNvPr id="61" name="takeaway"/>
          <p:cNvGrpSpPr/>
          <p:nvPr/>
        </p:nvGrpSpPr>
        <p:grpSpPr>
          <a:xfrm>
            <a:off x="533400" y="5633085"/>
            <a:ext cx="11125200" cy="729615"/>
            <a:chOff x="533400" y="5633085"/>
            <a:chExt cx="11125200" cy="729615"/>
          </a:xfrm>
        </p:grpSpPr>
        <p:sp>
          <p:nvSpPr>
            <p:cNvPr id="55" name="Rectangle 55"/>
            <p:cNvSpPr/>
            <p:nvPr/>
          </p:nvSpPr>
          <p:spPr>
            <a:xfrm>
              <a:off x="533400" y="5633085"/>
              <a:ext cx="11125200" cy="729615"/>
            </a:xfrm>
            <a:prstGeom prst="roundRect">
              <a:avLst>
                <a:gd name="adj" fmla="val 15666"/>
              </a:avLst>
            </a:prstGeom>
            <a:solidFill>
              <a:srgbClr val="FDECEA"/>
            </a:solidFill>
            <a:ln>
              <a:noFill/>
            </a:ln>
          </p:spPr>
        </p:sp>
        <p:grpSp>
          <p:nvGrpSpPr>
            <p:cNvPr id="59" name="Group 59"/>
            <p:cNvGrpSpPr/>
            <p:nvPr/>
          </p:nvGrpSpPr>
          <p:grpSpPr>
            <a:xfrm>
              <a:off x="726129" y="5894188"/>
              <a:ext cx="224134" cy="192560"/>
              <a:chOff x="726129" y="5894188"/>
              <a:chExt cx="224134" cy="192560"/>
            </a:xfrm>
          </p:grpSpPr>
          <p:sp>
            <p:nvSpPr>
              <p:cNvPr id="56" name="Freeform 56"/>
              <p:cNvSpPr/>
              <p:nvPr/>
            </p:nvSpPr>
            <p:spPr>
              <a:xfrm>
                <a:off x="838200" y="5964555"/>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57" name="Freeform 57"/>
              <p:cNvSpPr/>
              <p:nvPr/>
            </p:nvSpPr>
            <p:spPr>
              <a:xfrm>
                <a:off x="726129" y="5894188"/>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58" name="Freeform 58"/>
              <p:cNvSpPr/>
              <p:nvPr/>
            </p:nvSpPr>
            <p:spPr>
              <a:xfrm>
                <a:off x="838200" y="6042343"/>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60" name="TextBox 60"/>
            <p:cNvSpPr txBox="1"/>
            <p:nvPr/>
          </p:nvSpPr>
          <p:spPr>
            <a:xfrm>
              <a:off x="1040892" y="5779770"/>
              <a:ext cx="9983534"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B42318"/>
                  </a:solidFill>
                  <a:latin typeface="+mn-lt"/>
                  <a:ea typeface="+mn-ea"/>
                  <a:cs typeface="+mn-cs"/>
                </a:rPr>
                <a:t>输入和输出的结构次序不同、重复次数也不同时，第 2 步找不出成对的数据单元，这叫结构冲突；办法是把程序拆成两个，中间用一</a:t>
              </a:r>
              <a:br/>
              <a:r>
                <a:rPr lang="zh-CN" sz="1350" dirty="0">
                  <a:solidFill>
                    <a:srgbClr val="B42318"/>
                  </a:solidFill>
                  <a:latin typeface="+mn-lt"/>
                  <a:ea typeface="+mn-ea"/>
                  <a:cs typeface="+mn-cs"/>
                </a:rPr>
                <a:t>个文件过渡。</a:t>
              </a:r>
            </a:p>
          </p:txBody>
        </p:sp>
      </p:grpSp>
      <p:grpSp>
        <p:nvGrpSpPr>
          <p:cNvPr id="64" name="footer"/>
          <p:cNvGrpSpPr/>
          <p:nvPr/>
        </p:nvGrpSpPr>
        <p:grpSpPr>
          <a:xfrm>
            <a:off x="528447" y="6581299"/>
            <a:ext cx="11135106" cy="190690"/>
            <a:chOff x="528447" y="6581299"/>
            <a:chExt cx="11135106" cy="190690"/>
          </a:xfrm>
        </p:grpSpPr>
        <p:sp>
          <p:nvSpPr>
            <p:cNvPr id="62" name="TextBox 62"/>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63" name="TextBox 6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37</a:t>
              </a:r>
            </a:p>
          </p:txBody>
        </p:sp>
      </p:grpSp>
    </p:spTree>
  </p:cSld>
  <p:clrMapOvr>
    <a:masterClrMapping/>
  </p:clrMapOvr>
  <p:transition xmlns:p14="http://schemas.microsoft.com/office/powerpoint/2010/main" p14:dur="400">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面向数据结构的设计方法</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实例一：统计正文文件中的空格</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10650982" cy="597598"/>
            <a:chOff x="525399" y="1550194"/>
            <a:chExt cx="10650982" cy="597598"/>
          </a:xfrm>
        </p:grpSpPr>
        <p:sp>
          <p:nvSpPr>
            <p:cNvPr id="7" name="TextBox 7"/>
            <p:cNvSpPr txBox="1"/>
            <p:nvPr/>
          </p:nvSpPr>
          <p:spPr>
            <a:xfrm>
              <a:off x="525399" y="1550194"/>
              <a:ext cx="10650982" cy="597598"/>
            </a:xfrm>
            <a:prstGeom prst="rect">
              <a:avLst/>
            </a:prstGeom>
            <a:noFill/>
            <a:ln>
              <a:noFill/>
            </a:ln>
          </p:spPr>
          <p:txBody>
            <a:bodyPr wrap="none" lIns="0" tIns="0" rIns="0" bIns="0" anchor="t" anchorCtr="0">
              <a:spAutoFit/>
            </a:bodyPr>
            <a:lstStyle/>
            <a:p>
              <a:pPr algn="l">
                <a:lnSpc>
                  <a:spcPts val="2280"/>
                </a:lnSpc>
              </a:pPr>
              <a:r>
                <a:rPr lang="zh-CN" sz="1580" dirty="0">
                  <a:solidFill>
                    <a:srgbClr val="5B6475"/>
                  </a:solidFill>
                  <a:latin typeface="+mn-lt"/>
                  <a:ea typeface="+mn-ea"/>
                  <a:cs typeface="+mn-cs"/>
                </a:rPr>
                <a:t>题目：正文文件由若干记录组成，每个记录是一个字符串。统计每个记录中空格字符的个数以及文件中空格的总数；每复</a:t>
              </a:r>
              <a:br/>
              <a:r>
                <a:rPr lang="zh-CN" sz="1580" dirty="0">
                  <a:solidFill>
                    <a:srgbClr val="5B6475"/>
                  </a:solidFill>
                  <a:latin typeface="+mn-lt"/>
                  <a:ea typeface="+mn-ea"/>
                  <a:cs typeface="+mn-cs"/>
                </a:rPr>
                <a:t>制一行输入字符串之后，另起一行印出这个字符串中的空格数，最后印出总数。</a:t>
              </a:r>
            </a:p>
          </p:txBody>
        </p:sp>
      </p:grpSp>
      <p:grpSp>
        <p:nvGrpSpPr>
          <p:cNvPr id="10" name="c1-text-1"/>
          <p:cNvGrpSpPr/>
          <p:nvPr/>
        </p:nvGrpSpPr>
        <p:grpSpPr>
          <a:xfrm>
            <a:off x="526923" y="2278856"/>
            <a:ext cx="1046836" cy="249364"/>
            <a:chOff x="526923" y="2278856"/>
            <a:chExt cx="1046836" cy="249364"/>
          </a:xfrm>
        </p:grpSpPr>
        <p:sp>
          <p:nvSpPr>
            <p:cNvPr id="9" name="TextBox 9"/>
            <p:cNvSpPr txBox="1"/>
            <p:nvPr/>
          </p:nvSpPr>
          <p:spPr>
            <a:xfrm>
              <a:off x="526923" y="2278856"/>
              <a:ext cx="1046836" cy="249364"/>
            </a:xfrm>
            <a:prstGeom prst="rect">
              <a:avLst/>
            </a:prstGeom>
            <a:noFill/>
            <a:ln>
              <a:noFill/>
            </a:ln>
          </p:spPr>
          <p:txBody>
            <a:bodyPr wrap="none" lIns="0" tIns="0" rIns="0" bIns="0" anchor="t" anchorCtr="0">
              <a:spAutoFit/>
            </a:bodyPr>
            <a:lstStyle/>
            <a:p>
              <a:pPr algn="l"/>
              <a:r>
                <a:rPr lang="zh-CN" sz="1280" b="1" dirty="0">
                  <a:solidFill>
                    <a:srgbClr val="334E68"/>
                  </a:solidFill>
                  <a:latin typeface="+mn-lt"/>
                  <a:ea typeface="+mn-ea"/>
                  <a:cs typeface="+mn-cs"/>
                </a:rPr>
                <a:t>输入数据结构</a:t>
              </a:r>
            </a:p>
          </p:txBody>
        </p:sp>
      </p:grpSp>
      <p:grpSp>
        <p:nvGrpSpPr>
          <p:cNvPr id="25" name="c1-tree-2"/>
          <p:cNvGrpSpPr/>
          <p:nvPr/>
        </p:nvGrpSpPr>
        <p:grpSpPr>
          <a:xfrm>
            <a:off x="1609725" y="2801302"/>
            <a:ext cx="3325177" cy="2473643"/>
            <a:chOff x="1609725" y="2801302"/>
            <a:chExt cx="3325177" cy="2473643"/>
          </a:xfrm>
        </p:grpSpPr>
        <p:sp>
          <p:nvSpPr>
            <p:cNvPr id="11" name="Freeform 11"/>
            <p:cNvSpPr/>
            <p:nvPr/>
          </p:nvSpPr>
          <p:spPr>
            <a:xfrm>
              <a:off x="1885950" y="4380548"/>
              <a:ext cx="1352550" cy="684847"/>
            </a:xfrm>
            <a:custGeom>
              <a:avLst/>
              <a:gdLst/>
              <a:ahLst/>
              <a:cxnLst/>
              <a:rect l="l" t="t" r="r" b="b"/>
              <a:pathLst>
                <a:path w="1352550" h="684847">
                  <a:moveTo>
                    <a:pt x="1352550" y="0"/>
                  </a:moveTo>
                  <a:lnTo>
                    <a:pt x="0" y="684847"/>
                  </a:lnTo>
                </a:path>
              </a:pathLst>
            </a:custGeom>
            <a:noFill/>
            <a:ln w="15240">
              <a:solidFill>
                <a:srgbClr val="5B6475"/>
              </a:solidFill>
            </a:ln>
          </p:spPr>
        </p:sp>
        <p:sp>
          <p:nvSpPr>
            <p:cNvPr id="12" name="Freeform 12"/>
            <p:cNvSpPr/>
            <p:nvPr/>
          </p:nvSpPr>
          <p:spPr>
            <a:xfrm>
              <a:off x="3238500" y="4380548"/>
              <a:ext cx="1352550" cy="684847"/>
            </a:xfrm>
            <a:custGeom>
              <a:avLst/>
              <a:gdLst/>
              <a:ahLst/>
              <a:cxnLst/>
              <a:rect l="l" t="t" r="r" b="b"/>
              <a:pathLst>
                <a:path w="1352550" h="684847">
                  <a:moveTo>
                    <a:pt x="0" y="0"/>
                  </a:moveTo>
                  <a:lnTo>
                    <a:pt x="1352550" y="684847"/>
                  </a:lnTo>
                </a:path>
              </a:pathLst>
            </a:custGeom>
            <a:noFill/>
            <a:ln w="15240">
              <a:solidFill>
                <a:srgbClr val="5B6475"/>
              </a:solidFill>
            </a:ln>
          </p:spPr>
        </p:sp>
        <p:sp>
          <p:nvSpPr>
            <p:cNvPr id="13" name="Freeform 13"/>
            <p:cNvSpPr/>
            <p:nvPr/>
          </p:nvSpPr>
          <p:spPr>
            <a:xfrm>
              <a:off x="3238500" y="3695700"/>
              <a:ext cx="9525" cy="684847"/>
            </a:xfrm>
            <a:custGeom>
              <a:avLst/>
              <a:gdLst/>
              <a:ahLst/>
              <a:cxnLst/>
              <a:rect l="l" t="t" r="r" b="b"/>
              <a:pathLst>
                <a:path w="9525" h="684847">
                  <a:moveTo>
                    <a:pt x="0" y="0"/>
                  </a:moveTo>
                  <a:lnTo>
                    <a:pt x="0" y="684847"/>
                  </a:lnTo>
                </a:path>
              </a:pathLst>
            </a:custGeom>
            <a:noFill/>
            <a:ln w="15240">
              <a:solidFill>
                <a:srgbClr val="5B6475"/>
              </a:solidFill>
            </a:ln>
          </p:spPr>
        </p:sp>
        <p:sp>
          <p:nvSpPr>
            <p:cNvPr id="14" name="Freeform 14"/>
            <p:cNvSpPr/>
            <p:nvPr/>
          </p:nvSpPr>
          <p:spPr>
            <a:xfrm>
              <a:off x="3238500" y="3010852"/>
              <a:ext cx="9525" cy="684847"/>
            </a:xfrm>
            <a:custGeom>
              <a:avLst/>
              <a:gdLst/>
              <a:ahLst/>
              <a:cxnLst/>
              <a:rect l="l" t="t" r="r" b="b"/>
              <a:pathLst>
                <a:path w="9525" h="684847">
                  <a:moveTo>
                    <a:pt x="0" y="0"/>
                  </a:moveTo>
                  <a:lnTo>
                    <a:pt x="0" y="684847"/>
                  </a:lnTo>
                </a:path>
              </a:pathLst>
            </a:custGeom>
            <a:noFill/>
            <a:ln w="15240">
              <a:solidFill>
                <a:srgbClr val="5B6475"/>
              </a:solidFill>
            </a:ln>
          </p:spPr>
        </p:sp>
        <p:sp>
          <p:nvSpPr>
            <p:cNvPr id="15" name="Rectangle 15"/>
            <p:cNvSpPr/>
            <p:nvPr/>
          </p:nvSpPr>
          <p:spPr>
            <a:xfrm>
              <a:off x="1609725" y="4855845"/>
              <a:ext cx="553402" cy="419100"/>
            </a:xfrm>
            <a:prstGeom prst="roundRect">
              <a:avLst>
                <a:gd name="adj" fmla="val 18182"/>
              </a:avLst>
            </a:prstGeom>
            <a:solidFill>
              <a:srgbClr val="FFFFFF"/>
            </a:solidFill>
            <a:ln w="17145">
              <a:solidFill>
                <a:srgbClr val="334E68"/>
              </a:solidFill>
            </a:ln>
          </p:spPr>
        </p:sp>
        <p:sp>
          <p:nvSpPr>
            <p:cNvPr id="16" name="Rectangle 16"/>
            <p:cNvSpPr/>
            <p:nvPr/>
          </p:nvSpPr>
          <p:spPr>
            <a:xfrm>
              <a:off x="4248150" y="4855845"/>
              <a:ext cx="686752" cy="419100"/>
            </a:xfrm>
            <a:prstGeom prst="roundRect">
              <a:avLst>
                <a:gd name="adj" fmla="val 18182"/>
              </a:avLst>
            </a:prstGeom>
            <a:solidFill>
              <a:srgbClr val="FFFFFF"/>
            </a:solidFill>
            <a:ln w="17145">
              <a:solidFill>
                <a:srgbClr val="334E68"/>
              </a:solidFill>
            </a:ln>
          </p:spPr>
        </p:sp>
        <p:sp>
          <p:nvSpPr>
            <p:cNvPr id="17" name="Rectangle 17"/>
            <p:cNvSpPr/>
            <p:nvPr/>
          </p:nvSpPr>
          <p:spPr>
            <a:xfrm>
              <a:off x="2962275" y="4170998"/>
              <a:ext cx="553402" cy="419100"/>
            </a:xfrm>
            <a:prstGeom prst="roundRect">
              <a:avLst>
                <a:gd name="adj" fmla="val 18182"/>
              </a:avLst>
            </a:prstGeom>
            <a:solidFill>
              <a:srgbClr val="FFFFFF"/>
            </a:solidFill>
            <a:ln w="17145">
              <a:solidFill>
                <a:srgbClr val="334E68"/>
              </a:solidFill>
            </a:ln>
          </p:spPr>
        </p:sp>
        <p:sp>
          <p:nvSpPr>
            <p:cNvPr id="18" name="Rectangle 18"/>
            <p:cNvSpPr/>
            <p:nvPr/>
          </p:nvSpPr>
          <p:spPr>
            <a:xfrm>
              <a:off x="2895600" y="3486150"/>
              <a:ext cx="686752" cy="419100"/>
            </a:xfrm>
            <a:prstGeom prst="roundRect">
              <a:avLst>
                <a:gd name="adj" fmla="val 18182"/>
              </a:avLst>
            </a:prstGeom>
            <a:solidFill>
              <a:srgbClr val="FFFFFF"/>
            </a:solidFill>
            <a:ln w="17145">
              <a:solidFill>
                <a:srgbClr val="334E68"/>
              </a:solidFill>
            </a:ln>
          </p:spPr>
        </p:sp>
        <p:sp>
          <p:nvSpPr>
            <p:cNvPr id="19" name="Rectangle 19"/>
            <p:cNvSpPr/>
            <p:nvPr/>
          </p:nvSpPr>
          <p:spPr>
            <a:xfrm>
              <a:off x="2867025" y="2801302"/>
              <a:ext cx="742950" cy="419100"/>
            </a:xfrm>
            <a:prstGeom prst="roundRect">
              <a:avLst>
                <a:gd name="adj" fmla="val 18182"/>
              </a:avLst>
            </a:prstGeom>
            <a:solidFill>
              <a:srgbClr val="FFFFFF"/>
            </a:solidFill>
            <a:ln w="17145">
              <a:solidFill>
                <a:srgbClr val="334E68"/>
              </a:solidFill>
            </a:ln>
          </p:spPr>
        </p:sp>
        <p:sp>
          <p:nvSpPr>
            <p:cNvPr id="20" name="TextBox 20"/>
            <p:cNvSpPr txBox="1"/>
            <p:nvPr/>
          </p:nvSpPr>
          <p:spPr>
            <a:xfrm>
              <a:off x="1698450" y="5000625"/>
              <a:ext cx="375000"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空格°</a:t>
              </a:r>
            </a:p>
          </p:txBody>
        </p:sp>
        <p:sp>
          <p:nvSpPr>
            <p:cNvPr id="21" name="TextBox 21"/>
            <p:cNvSpPr txBox="1"/>
            <p:nvPr/>
          </p:nvSpPr>
          <p:spPr>
            <a:xfrm>
              <a:off x="4332874" y="5000625"/>
              <a:ext cx="516351"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非空格°</a:t>
              </a:r>
            </a:p>
          </p:txBody>
        </p:sp>
        <p:sp>
          <p:nvSpPr>
            <p:cNvPr id="22" name="TextBox 22"/>
            <p:cNvSpPr txBox="1"/>
            <p:nvPr/>
          </p:nvSpPr>
          <p:spPr>
            <a:xfrm>
              <a:off x="3051000" y="4315778"/>
              <a:ext cx="375000"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字符*</a:t>
              </a:r>
            </a:p>
          </p:txBody>
        </p:sp>
        <p:sp>
          <p:nvSpPr>
            <p:cNvPr id="23" name="TextBox 23"/>
            <p:cNvSpPr txBox="1"/>
            <p:nvPr/>
          </p:nvSpPr>
          <p:spPr>
            <a:xfrm>
              <a:off x="2980324" y="3629978"/>
              <a:ext cx="516351"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字符串*</a:t>
              </a:r>
            </a:p>
          </p:txBody>
        </p:sp>
        <p:sp>
          <p:nvSpPr>
            <p:cNvPr id="24" name="TextBox 24"/>
            <p:cNvSpPr txBox="1"/>
            <p:nvPr/>
          </p:nvSpPr>
          <p:spPr>
            <a:xfrm>
              <a:off x="2950464" y="2945130"/>
              <a:ext cx="576072"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正文文件</a:t>
              </a:r>
            </a:p>
          </p:txBody>
        </p:sp>
      </p:grpSp>
      <p:grpSp>
        <p:nvGrpSpPr>
          <p:cNvPr id="27" name="c2-text-1"/>
          <p:cNvGrpSpPr/>
          <p:nvPr/>
        </p:nvGrpSpPr>
        <p:grpSpPr>
          <a:xfrm>
            <a:off x="6241923" y="2278856"/>
            <a:ext cx="1046836" cy="249364"/>
            <a:chOff x="6241923" y="2278856"/>
            <a:chExt cx="1046836" cy="249364"/>
          </a:xfrm>
        </p:grpSpPr>
        <p:sp>
          <p:nvSpPr>
            <p:cNvPr id="26" name="TextBox 26"/>
            <p:cNvSpPr txBox="1"/>
            <p:nvPr/>
          </p:nvSpPr>
          <p:spPr>
            <a:xfrm>
              <a:off x="6241923" y="2278856"/>
              <a:ext cx="1046836" cy="249364"/>
            </a:xfrm>
            <a:prstGeom prst="rect">
              <a:avLst/>
            </a:prstGeom>
            <a:noFill/>
            <a:ln>
              <a:noFill/>
            </a:ln>
          </p:spPr>
          <p:txBody>
            <a:bodyPr wrap="none" lIns="0" tIns="0" rIns="0" bIns="0" anchor="t" anchorCtr="0">
              <a:spAutoFit/>
            </a:bodyPr>
            <a:lstStyle/>
            <a:p>
              <a:pPr algn="l"/>
              <a:r>
                <a:rPr lang="zh-CN" sz="1280" b="1" dirty="0">
                  <a:solidFill>
                    <a:srgbClr val="334E68"/>
                  </a:solidFill>
                  <a:latin typeface="+mn-lt"/>
                  <a:ea typeface="+mn-ea"/>
                  <a:cs typeface="+mn-cs"/>
                </a:rPr>
                <a:t>输出数据结构</a:t>
              </a:r>
            </a:p>
          </p:txBody>
        </p:sp>
      </p:grpSp>
      <p:grpSp>
        <p:nvGrpSpPr>
          <p:cNvPr id="45" name="c2-tree-2"/>
          <p:cNvGrpSpPr/>
          <p:nvPr/>
        </p:nvGrpSpPr>
        <p:grpSpPr>
          <a:xfrm>
            <a:off x="6619875" y="2801302"/>
            <a:ext cx="4057650" cy="2473643"/>
            <a:chOff x="6619875" y="2801302"/>
            <a:chExt cx="4057650" cy="2473643"/>
          </a:xfrm>
        </p:grpSpPr>
        <p:sp>
          <p:nvSpPr>
            <p:cNvPr id="28" name="Freeform 28"/>
            <p:cNvSpPr/>
            <p:nvPr/>
          </p:nvSpPr>
          <p:spPr>
            <a:xfrm>
              <a:off x="6924675" y="4380548"/>
              <a:ext cx="676275" cy="684847"/>
            </a:xfrm>
            <a:custGeom>
              <a:avLst/>
              <a:gdLst/>
              <a:ahLst/>
              <a:cxnLst/>
              <a:rect l="l" t="t" r="r" b="b"/>
              <a:pathLst>
                <a:path w="676275" h="684847">
                  <a:moveTo>
                    <a:pt x="676275" y="0"/>
                  </a:moveTo>
                  <a:lnTo>
                    <a:pt x="0" y="684847"/>
                  </a:lnTo>
                </a:path>
              </a:pathLst>
            </a:custGeom>
            <a:noFill/>
            <a:ln w="15240">
              <a:solidFill>
                <a:srgbClr val="5B6475"/>
              </a:solidFill>
            </a:ln>
          </p:spPr>
        </p:sp>
        <p:sp>
          <p:nvSpPr>
            <p:cNvPr id="29" name="Freeform 29"/>
            <p:cNvSpPr/>
            <p:nvPr/>
          </p:nvSpPr>
          <p:spPr>
            <a:xfrm>
              <a:off x="7600950" y="4380548"/>
              <a:ext cx="676275" cy="684847"/>
            </a:xfrm>
            <a:custGeom>
              <a:avLst/>
              <a:gdLst/>
              <a:ahLst/>
              <a:cxnLst/>
              <a:rect l="l" t="t" r="r" b="b"/>
              <a:pathLst>
                <a:path w="676275" h="684847">
                  <a:moveTo>
                    <a:pt x="0" y="0"/>
                  </a:moveTo>
                  <a:lnTo>
                    <a:pt x="676275" y="684847"/>
                  </a:lnTo>
                </a:path>
              </a:pathLst>
            </a:custGeom>
            <a:noFill/>
            <a:ln w="15240">
              <a:solidFill>
                <a:srgbClr val="5B6475"/>
              </a:solidFill>
            </a:ln>
          </p:spPr>
        </p:sp>
        <p:sp>
          <p:nvSpPr>
            <p:cNvPr id="30" name="Freeform 30"/>
            <p:cNvSpPr/>
            <p:nvPr/>
          </p:nvSpPr>
          <p:spPr>
            <a:xfrm>
              <a:off x="7600950" y="3695700"/>
              <a:ext cx="9525" cy="684847"/>
            </a:xfrm>
            <a:custGeom>
              <a:avLst/>
              <a:gdLst/>
              <a:ahLst/>
              <a:cxnLst/>
              <a:rect l="l" t="t" r="r" b="b"/>
              <a:pathLst>
                <a:path w="9525" h="684847">
                  <a:moveTo>
                    <a:pt x="0" y="0"/>
                  </a:moveTo>
                  <a:lnTo>
                    <a:pt x="0" y="684847"/>
                  </a:lnTo>
                </a:path>
              </a:pathLst>
            </a:custGeom>
            <a:noFill/>
            <a:ln w="15240">
              <a:solidFill>
                <a:srgbClr val="5B6475"/>
              </a:solidFill>
            </a:ln>
          </p:spPr>
        </p:sp>
        <p:sp>
          <p:nvSpPr>
            <p:cNvPr id="31" name="Freeform 31"/>
            <p:cNvSpPr/>
            <p:nvPr/>
          </p:nvSpPr>
          <p:spPr>
            <a:xfrm>
              <a:off x="7600950" y="3010852"/>
              <a:ext cx="1352550" cy="684847"/>
            </a:xfrm>
            <a:custGeom>
              <a:avLst/>
              <a:gdLst/>
              <a:ahLst/>
              <a:cxnLst/>
              <a:rect l="l" t="t" r="r" b="b"/>
              <a:pathLst>
                <a:path w="1352550" h="684847">
                  <a:moveTo>
                    <a:pt x="1352550" y="0"/>
                  </a:moveTo>
                  <a:lnTo>
                    <a:pt x="0" y="684847"/>
                  </a:lnTo>
                </a:path>
              </a:pathLst>
            </a:custGeom>
            <a:noFill/>
            <a:ln w="15240">
              <a:solidFill>
                <a:srgbClr val="5B6475"/>
              </a:solidFill>
            </a:ln>
          </p:spPr>
        </p:sp>
        <p:sp>
          <p:nvSpPr>
            <p:cNvPr id="32" name="Freeform 32"/>
            <p:cNvSpPr/>
            <p:nvPr/>
          </p:nvSpPr>
          <p:spPr>
            <a:xfrm>
              <a:off x="8953500" y="3010852"/>
              <a:ext cx="1352550" cy="684847"/>
            </a:xfrm>
            <a:custGeom>
              <a:avLst/>
              <a:gdLst/>
              <a:ahLst/>
              <a:cxnLst/>
              <a:rect l="l" t="t" r="r" b="b"/>
              <a:pathLst>
                <a:path w="1352550" h="684847">
                  <a:moveTo>
                    <a:pt x="0" y="0"/>
                  </a:moveTo>
                  <a:lnTo>
                    <a:pt x="1352550" y="684847"/>
                  </a:lnTo>
                </a:path>
              </a:pathLst>
            </a:custGeom>
            <a:noFill/>
            <a:ln w="15240">
              <a:solidFill>
                <a:srgbClr val="5B6475"/>
              </a:solidFill>
            </a:ln>
          </p:spPr>
        </p:sp>
        <p:sp>
          <p:nvSpPr>
            <p:cNvPr id="33" name="Rectangle 33"/>
            <p:cNvSpPr/>
            <p:nvPr/>
          </p:nvSpPr>
          <p:spPr>
            <a:xfrm>
              <a:off x="6619875" y="4855845"/>
              <a:ext cx="609600" cy="419100"/>
            </a:xfrm>
            <a:prstGeom prst="roundRect">
              <a:avLst>
                <a:gd name="adj" fmla="val 18182"/>
              </a:avLst>
            </a:prstGeom>
            <a:solidFill>
              <a:srgbClr val="FFFFFF"/>
            </a:solidFill>
            <a:ln w="17145">
              <a:solidFill>
                <a:srgbClr val="334E68"/>
              </a:solidFill>
            </a:ln>
          </p:spPr>
        </p:sp>
        <p:sp>
          <p:nvSpPr>
            <p:cNvPr id="34" name="Rectangle 34"/>
            <p:cNvSpPr/>
            <p:nvPr/>
          </p:nvSpPr>
          <p:spPr>
            <a:xfrm>
              <a:off x="7972425" y="4855845"/>
              <a:ext cx="609600" cy="419100"/>
            </a:xfrm>
            <a:prstGeom prst="roundRect">
              <a:avLst>
                <a:gd name="adj" fmla="val 18182"/>
              </a:avLst>
            </a:prstGeom>
            <a:solidFill>
              <a:srgbClr val="FFFFFF"/>
            </a:solidFill>
            <a:ln w="17145">
              <a:solidFill>
                <a:srgbClr val="334E68"/>
              </a:solidFill>
            </a:ln>
          </p:spPr>
        </p:sp>
        <p:sp>
          <p:nvSpPr>
            <p:cNvPr id="35" name="Rectangle 35"/>
            <p:cNvSpPr/>
            <p:nvPr/>
          </p:nvSpPr>
          <p:spPr>
            <a:xfrm>
              <a:off x="7258050" y="4170998"/>
              <a:ext cx="686752" cy="419100"/>
            </a:xfrm>
            <a:prstGeom prst="roundRect">
              <a:avLst>
                <a:gd name="adj" fmla="val 18182"/>
              </a:avLst>
            </a:prstGeom>
            <a:solidFill>
              <a:srgbClr val="FFFFFF"/>
            </a:solidFill>
            <a:ln w="17145">
              <a:solidFill>
                <a:srgbClr val="334E68"/>
              </a:solidFill>
            </a:ln>
          </p:spPr>
        </p:sp>
        <p:sp>
          <p:nvSpPr>
            <p:cNvPr id="36" name="Rectangle 36"/>
            <p:cNvSpPr/>
            <p:nvPr/>
          </p:nvSpPr>
          <p:spPr>
            <a:xfrm>
              <a:off x="7296150" y="3486150"/>
              <a:ext cx="609600" cy="419100"/>
            </a:xfrm>
            <a:prstGeom prst="roundRect">
              <a:avLst>
                <a:gd name="adj" fmla="val 18182"/>
              </a:avLst>
            </a:prstGeom>
            <a:solidFill>
              <a:srgbClr val="FFFFFF"/>
            </a:solidFill>
            <a:ln w="17145">
              <a:solidFill>
                <a:srgbClr val="334E68"/>
              </a:solidFill>
            </a:ln>
          </p:spPr>
        </p:sp>
        <p:sp>
          <p:nvSpPr>
            <p:cNvPr id="37" name="Rectangle 37"/>
            <p:cNvSpPr/>
            <p:nvPr/>
          </p:nvSpPr>
          <p:spPr>
            <a:xfrm>
              <a:off x="9934575" y="3486150"/>
              <a:ext cx="742950" cy="419100"/>
            </a:xfrm>
            <a:prstGeom prst="roundRect">
              <a:avLst>
                <a:gd name="adj" fmla="val 18182"/>
              </a:avLst>
            </a:prstGeom>
            <a:solidFill>
              <a:srgbClr val="FFFFFF"/>
            </a:solidFill>
            <a:ln w="17145">
              <a:solidFill>
                <a:srgbClr val="334E68"/>
              </a:solidFill>
            </a:ln>
          </p:spPr>
        </p:sp>
        <p:sp>
          <p:nvSpPr>
            <p:cNvPr id="38" name="Rectangle 38"/>
            <p:cNvSpPr/>
            <p:nvPr/>
          </p:nvSpPr>
          <p:spPr>
            <a:xfrm>
              <a:off x="8582025" y="2801302"/>
              <a:ext cx="742950" cy="419100"/>
            </a:xfrm>
            <a:prstGeom prst="roundRect">
              <a:avLst>
                <a:gd name="adj" fmla="val 18182"/>
              </a:avLst>
            </a:prstGeom>
            <a:solidFill>
              <a:srgbClr val="FFFFFF"/>
            </a:solidFill>
            <a:ln w="17145">
              <a:solidFill>
                <a:srgbClr val="334E68"/>
              </a:solidFill>
            </a:ln>
          </p:spPr>
        </p:sp>
        <p:sp>
          <p:nvSpPr>
            <p:cNvPr id="39" name="TextBox 39"/>
            <p:cNvSpPr txBox="1"/>
            <p:nvPr/>
          </p:nvSpPr>
          <p:spPr>
            <a:xfrm>
              <a:off x="6707315" y="5000625"/>
              <a:ext cx="434721"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字符串</a:t>
              </a:r>
            </a:p>
          </p:txBody>
        </p:sp>
        <p:sp>
          <p:nvSpPr>
            <p:cNvPr id="40" name="TextBox 40"/>
            <p:cNvSpPr txBox="1"/>
            <p:nvPr/>
          </p:nvSpPr>
          <p:spPr>
            <a:xfrm>
              <a:off x="8059865" y="5000625"/>
              <a:ext cx="434721"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空格数</a:t>
              </a:r>
            </a:p>
          </p:txBody>
        </p:sp>
        <p:sp>
          <p:nvSpPr>
            <p:cNvPr id="41" name="TextBox 41"/>
            <p:cNvSpPr txBox="1"/>
            <p:nvPr/>
          </p:nvSpPr>
          <p:spPr>
            <a:xfrm>
              <a:off x="7342774" y="4315778"/>
              <a:ext cx="516351"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串信息*</a:t>
              </a:r>
            </a:p>
          </p:txBody>
        </p:sp>
        <p:sp>
          <p:nvSpPr>
            <p:cNvPr id="42" name="TextBox 42"/>
            <p:cNvSpPr txBox="1"/>
            <p:nvPr/>
          </p:nvSpPr>
          <p:spPr>
            <a:xfrm>
              <a:off x="7383590" y="3629978"/>
              <a:ext cx="434721"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表格体</a:t>
              </a:r>
            </a:p>
          </p:txBody>
        </p:sp>
        <p:sp>
          <p:nvSpPr>
            <p:cNvPr id="43" name="TextBox 43"/>
            <p:cNvSpPr txBox="1"/>
            <p:nvPr/>
          </p:nvSpPr>
          <p:spPr>
            <a:xfrm>
              <a:off x="10018014" y="3629978"/>
              <a:ext cx="576072"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空格总数</a:t>
              </a:r>
            </a:p>
          </p:txBody>
        </p:sp>
        <p:sp>
          <p:nvSpPr>
            <p:cNvPr id="44" name="TextBox 44"/>
            <p:cNvSpPr txBox="1"/>
            <p:nvPr/>
          </p:nvSpPr>
          <p:spPr>
            <a:xfrm>
              <a:off x="8665464" y="2945130"/>
              <a:ext cx="576072"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输出表格</a:t>
              </a:r>
            </a:p>
          </p:txBody>
        </p:sp>
      </p:grpSp>
      <p:grpSp>
        <p:nvGrpSpPr>
          <p:cNvPr id="51" name="takeaway"/>
          <p:cNvGrpSpPr/>
          <p:nvPr/>
        </p:nvGrpSpPr>
        <p:grpSpPr>
          <a:xfrm>
            <a:off x="533400" y="5579745"/>
            <a:ext cx="11125200" cy="782955"/>
            <a:chOff x="533400" y="5579745"/>
            <a:chExt cx="11125200" cy="782955"/>
          </a:xfrm>
        </p:grpSpPr>
        <p:sp>
          <p:nvSpPr>
            <p:cNvPr id="46" name="Rectangle 46"/>
            <p:cNvSpPr/>
            <p:nvPr/>
          </p:nvSpPr>
          <p:spPr>
            <a:xfrm>
              <a:off x="533400" y="5579745"/>
              <a:ext cx="11125200" cy="782955"/>
            </a:xfrm>
            <a:prstGeom prst="roundRect">
              <a:avLst>
                <a:gd name="adj" fmla="val 14599"/>
              </a:avLst>
            </a:prstGeom>
            <a:solidFill>
              <a:srgbClr val="334E68"/>
            </a:solidFill>
            <a:ln>
              <a:noFill/>
            </a:ln>
          </p:spPr>
        </p:sp>
        <p:grpSp>
          <p:nvGrpSpPr>
            <p:cNvPr id="49" name="Group 49"/>
            <p:cNvGrpSpPr/>
            <p:nvPr/>
          </p:nvGrpSpPr>
          <p:grpSpPr>
            <a:xfrm>
              <a:off x="738188" y="5871212"/>
              <a:ext cx="200023" cy="200023"/>
              <a:chOff x="738188" y="5871212"/>
              <a:chExt cx="200023" cy="200023"/>
            </a:xfrm>
          </p:grpSpPr>
          <p:sp>
            <p:nvSpPr>
              <p:cNvPr id="47" name="Freeform 47"/>
              <p:cNvSpPr/>
              <p:nvPr/>
            </p:nvSpPr>
            <p:spPr>
              <a:xfrm>
                <a:off x="738188" y="587121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8" name="Freeform 48"/>
              <p:cNvSpPr/>
              <p:nvPr/>
            </p:nvSpPr>
            <p:spPr>
              <a:xfrm>
                <a:off x="871538" y="593788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0" name="TextBox 50"/>
            <p:cNvSpPr txBox="1"/>
            <p:nvPr/>
          </p:nvSpPr>
          <p:spPr>
            <a:xfrm>
              <a:off x="1040130" y="5728335"/>
              <a:ext cx="99212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对应关系：正文文件对输出表格，字符串对串信息（每读一个字符串就印一条串信息，重复次数相同）。其余单元按第</a:t>
              </a:r>
              <a:br/>
              <a:r>
                <a:rPr lang="zh-CN" sz="1500" dirty="0">
                  <a:solidFill>
                    <a:srgbClr val="FFFFFF"/>
                  </a:solidFill>
                  <a:latin typeface="+mn-lt"/>
                  <a:ea typeface="+mn-ea"/>
                  <a:cs typeface="+mn-cs"/>
                </a:rPr>
                <a:t>3 步的后两条规则各画一个处理框。</a:t>
              </a:r>
            </a:p>
          </p:txBody>
        </p:sp>
      </p:grpSp>
      <p:grpSp>
        <p:nvGrpSpPr>
          <p:cNvPr id="54" name="footer"/>
          <p:cNvGrpSpPr/>
          <p:nvPr/>
        </p:nvGrpSpPr>
        <p:grpSpPr>
          <a:xfrm>
            <a:off x="528447" y="6581299"/>
            <a:ext cx="11135106" cy="190690"/>
            <a:chOff x="528447" y="6581299"/>
            <a:chExt cx="11135106" cy="190690"/>
          </a:xfrm>
        </p:grpSpPr>
        <p:sp>
          <p:nvSpPr>
            <p:cNvPr id="52" name="TextBox 52"/>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53" name="TextBox 5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38</a:t>
              </a:r>
            </a:p>
          </p:txBody>
        </p:sp>
      </p:grpSp>
    </p:spTree>
  </p:cSld>
  <p:clrMapOvr>
    <a:masterClrMapping/>
  </p:clrMapOvr>
  <p:transition xmlns:p14="http://schemas.microsoft.com/office/powerpoint/2010/main" p14:dur="400">
    <p:fade/>
  </p:transition>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面向数据结构的设计方法</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实例一：程序结构图与操作、条件的分配</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36" name="c1-flow-1"/>
          <p:cNvGrpSpPr/>
          <p:nvPr/>
        </p:nvGrpSpPr>
        <p:grpSpPr>
          <a:xfrm>
            <a:off x="666750" y="1631632"/>
            <a:ext cx="5359717" cy="3545206"/>
            <a:chOff x="666750" y="1631632"/>
            <a:chExt cx="5359717" cy="3545206"/>
          </a:xfrm>
        </p:grpSpPr>
        <p:sp>
          <p:nvSpPr>
            <p:cNvPr id="7" name="Freeform 7"/>
            <p:cNvSpPr/>
            <p:nvPr/>
          </p:nvSpPr>
          <p:spPr>
            <a:xfrm>
              <a:off x="3347085" y="2043112"/>
              <a:ext cx="9525" cy="215265"/>
            </a:xfrm>
            <a:custGeom>
              <a:avLst/>
              <a:gdLst/>
              <a:ahLst/>
              <a:cxnLst/>
              <a:rect l="l" t="t" r="r" b="b"/>
              <a:pathLst>
                <a:path w="9525" h="215265">
                  <a:moveTo>
                    <a:pt x="0" y="0"/>
                  </a:moveTo>
                  <a:lnTo>
                    <a:pt x="0" y="215265"/>
                  </a:lnTo>
                </a:path>
              </a:pathLst>
            </a:custGeom>
            <a:noFill/>
            <a:ln w="15240">
              <a:solidFill>
                <a:srgbClr val="5B6475"/>
              </a:solidFill>
            </a:ln>
          </p:spPr>
        </p:sp>
        <p:sp>
          <p:nvSpPr>
            <p:cNvPr id="8" name="Freeform 8"/>
            <p:cNvSpPr/>
            <p:nvPr/>
          </p:nvSpPr>
          <p:spPr>
            <a:xfrm>
              <a:off x="3347085" y="2043112"/>
              <a:ext cx="1875472" cy="215265"/>
            </a:xfrm>
            <a:custGeom>
              <a:avLst/>
              <a:gdLst/>
              <a:ahLst/>
              <a:cxnLst/>
              <a:rect l="l" t="t" r="r" b="b"/>
              <a:pathLst>
                <a:path w="1875472" h="215265">
                  <a:moveTo>
                    <a:pt x="0" y="0"/>
                  </a:moveTo>
                  <a:lnTo>
                    <a:pt x="0" y="107633"/>
                  </a:lnTo>
                  <a:lnTo>
                    <a:pt x="1875472" y="107633"/>
                  </a:lnTo>
                  <a:lnTo>
                    <a:pt x="1875472" y="215265"/>
                  </a:lnTo>
                </a:path>
              </a:pathLst>
            </a:custGeom>
            <a:noFill/>
            <a:ln w="15240">
              <a:solidFill>
                <a:srgbClr val="5B6475"/>
              </a:solidFill>
            </a:ln>
          </p:spPr>
        </p:sp>
        <p:sp>
          <p:nvSpPr>
            <p:cNvPr id="9" name="Freeform 9"/>
            <p:cNvSpPr/>
            <p:nvPr/>
          </p:nvSpPr>
          <p:spPr>
            <a:xfrm>
              <a:off x="3347085" y="2669858"/>
              <a:ext cx="9525" cy="215265"/>
            </a:xfrm>
            <a:custGeom>
              <a:avLst/>
              <a:gdLst/>
              <a:ahLst/>
              <a:cxnLst/>
              <a:rect l="l" t="t" r="r" b="b"/>
              <a:pathLst>
                <a:path w="9525" h="215265">
                  <a:moveTo>
                    <a:pt x="0" y="0"/>
                  </a:moveTo>
                  <a:lnTo>
                    <a:pt x="0" y="215265"/>
                  </a:lnTo>
                </a:path>
              </a:pathLst>
            </a:custGeom>
            <a:noFill/>
            <a:ln w="15240">
              <a:solidFill>
                <a:srgbClr val="5B6475"/>
              </a:solidFill>
            </a:ln>
          </p:spPr>
        </p:sp>
        <p:sp>
          <p:nvSpPr>
            <p:cNvPr id="10" name="Freeform 10"/>
            <p:cNvSpPr/>
            <p:nvPr/>
          </p:nvSpPr>
          <p:spPr>
            <a:xfrm>
              <a:off x="1471612" y="3296602"/>
              <a:ext cx="1875472" cy="215265"/>
            </a:xfrm>
            <a:custGeom>
              <a:avLst/>
              <a:gdLst/>
              <a:ahLst/>
              <a:cxnLst/>
              <a:rect l="l" t="t" r="r" b="b"/>
              <a:pathLst>
                <a:path w="1875472" h="215265">
                  <a:moveTo>
                    <a:pt x="1875472" y="0"/>
                  </a:moveTo>
                  <a:lnTo>
                    <a:pt x="1875472" y="107632"/>
                  </a:lnTo>
                  <a:lnTo>
                    <a:pt x="0" y="107632"/>
                  </a:lnTo>
                  <a:lnTo>
                    <a:pt x="0" y="215265"/>
                  </a:lnTo>
                </a:path>
              </a:pathLst>
            </a:custGeom>
            <a:noFill/>
            <a:ln w="15240">
              <a:solidFill>
                <a:srgbClr val="5B6475"/>
              </a:solidFill>
            </a:ln>
          </p:spPr>
        </p:sp>
        <p:sp>
          <p:nvSpPr>
            <p:cNvPr id="11" name="Freeform 11"/>
            <p:cNvSpPr/>
            <p:nvPr/>
          </p:nvSpPr>
          <p:spPr>
            <a:xfrm>
              <a:off x="3347085" y="3296602"/>
              <a:ext cx="9525" cy="215265"/>
            </a:xfrm>
            <a:custGeom>
              <a:avLst/>
              <a:gdLst/>
              <a:ahLst/>
              <a:cxnLst/>
              <a:rect l="l" t="t" r="r" b="b"/>
              <a:pathLst>
                <a:path w="9525" h="215265">
                  <a:moveTo>
                    <a:pt x="0" y="0"/>
                  </a:moveTo>
                  <a:lnTo>
                    <a:pt x="0" y="215265"/>
                  </a:lnTo>
                </a:path>
              </a:pathLst>
            </a:custGeom>
            <a:noFill/>
            <a:ln w="15240">
              <a:solidFill>
                <a:srgbClr val="5B6475"/>
              </a:solidFill>
            </a:ln>
          </p:spPr>
        </p:sp>
        <p:sp>
          <p:nvSpPr>
            <p:cNvPr id="12" name="Freeform 12"/>
            <p:cNvSpPr/>
            <p:nvPr/>
          </p:nvSpPr>
          <p:spPr>
            <a:xfrm>
              <a:off x="3347085" y="3296602"/>
              <a:ext cx="1875472" cy="215265"/>
            </a:xfrm>
            <a:custGeom>
              <a:avLst/>
              <a:gdLst/>
              <a:ahLst/>
              <a:cxnLst/>
              <a:rect l="l" t="t" r="r" b="b"/>
              <a:pathLst>
                <a:path w="1875472" h="215265">
                  <a:moveTo>
                    <a:pt x="0" y="0"/>
                  </a:moveTo>
                  <a:lnTo>
                    <a:pt x="0" y="107632"/>
                  </a:lnTo>
                  <a:lnTo>
                    <a:pt x="1875472" y="107632"/>
                  </a:lnTo>
                  <a:lnTo>
                    <a:pt x="1875472" y="215265"/>
                  </a:lnTo>
                </a:path>
              </a:pathLst>
            </a:custGeom>
            <a:noFill/>
            <a:ln w="15240">
              <a:solidFill>
                <a:srgbClr val="5B6475"/>
              </a:solidFill>
            </a:ln>
          </p:spPr>
        </p:sp>
        <p:sp>
          <p:nvSpPr>
            <p:cNvPr id="13" name="Freeform 13"/>
            <p:cNvSpPr/>
            <p:nvPr/>
          </p:nvSpPr>
          <p:spPr>
            <a:xfrm>
              <a:off x="3347085" y="3923348"/>
              <a:ext cx="9525" cy="215265"/>
            </a:xfrm>
            <a:custGeom>
              <a:avLst/>
              <a:gdLst/>
              <a:ahLst/>
              <a:cxnLst/>
              <a:rect l="l" t="t" r="r" b="b"/>
              <a:pathLst>
                <a:path w="9525" h="215265">
                  <a:moveTo>
                    <a:pt x="0" y="0"/>
                  </a:moveTo>
                  <a:lnTo>
                    <a:pt x="0" y="215265"/>
                  </a:lnTo>
                </a:path>
              </a:pathLst>
            </a:custGeom>
            <a:noFill/>
            <a:ln w="15240">
              <a:solidFill>
                <a:srgbClr val="5B6475"/>
              </a:solidFill>
            </a:ln>
          </p:spPr>
        </p:sp>
        <p:sp>
          <p:nvSpPr>
            <p:cNvPr id="14" name="Freeform 14"/>
            <p:cNvSpPr/>
            <p:nvPr/>
          </p:nvSpPr>
          <p:spPr>
            <a:xfrm>
              <a:off x="1471612" y="4550092"/>
              <a:ext cx="1875472" cy="215265"/>
            </a:xfrm>
            <a:custGeom>
              <a:avLst/>
              <a:gdLst/>
              <a:ahLst/>
              <a:cxnLst/>
              <a:rect l="l" t="t" r="r" b="b"/>
              <a:pathLst>
                <a:path w="1875472" h="215265">
                  <a:moveTo>
                    <a:pt x="1875472" y="0"/>
                  </a:moveTo>
                  <a:lnTo>
                    <a:pt x="1875472" y="107633"/>
                  </a:lnTo>
                  <a:lnTo>
                    <a:pt x="0" y="107633"/>
                  </a:lnTo>
                  <a:lnTo>
                    <a:pt x="0" y="215265"/>
                  </a:lnTo>
                </a:path>
              </a:pathLst>
            </a:custGeom>
            <a:noFill/>
            <a:ln w="15240">
              <a:solidFill>
                <a:srgbClr val="5B6475"/>
              </a:solidFill>
            </a:ln>
          </p:spPr>
        </p:sp>
        <p:sp>
          <p:nvSpPr>
            <p:cNvPr id="15" name="Freeform 15"/>
            <p:cNvSpPr/>
            <p:nvPr/>
          </p:nvSpPr>
          <p:spPr>
            <a:xfrm>
              <a:off x="3347085" y="4550092"/>
              <a:ext cx="1875472" cy="215265"/>
            </a:xfrm>
            <a:custGeom>
              <a:avLst/>
              <a:gdLst/>
              <a:ahLst/>
              <a:cxnLst/>
              <a:rect l="l" t="t" r="r" b="b"/>
              <a:pathLst>
                <a:path w="1875472" h="215265">
                  <a:moveTo>
                    <a:pt x="0" y="0"/>
                  </a:moveTo>
                  <a:lnTo>
                    <a:pt x="0" y="107633"/>
                  </a:lnTo>
                  <a:lnTo>
                    <a:pt x="1875472" y="107633"/>
                  </a:lnTo>
                  <a:lnTo>
                    <a:pt x="1875472" y="215265"/>
                  </a:lnTo>
                </a:path>
              </a:pathLst>
            </a:custGeom>
            <a:noFill/>
            <a:ln w="15240">
              <a:solidFill>
                <a:srgbClr val="5B6475"/>
              </a:solidFill>
            </a:ln>
          </p:spPr>
        </p:sp>
        <p:sp>
          <p:nvSpPr>
            <p:cNvPr id="16" name="Rectangle 16"/>
            <p:cNvSpPr/>
            <p:nvPr/>
          </p:nvSpPr>
          <p:spPr>
            <a:xfrm>
              <a:off x="2542222" y="1631632"/>
              <a:ext cx="1608772" cy="411480"/>
            </a:xfrm>
            <a:prstGeom prst="roundRect">
              <a:avLst>
                <a:gd name="adj" fmla="val 23148"/>
              </a:avLst>
            </a:prstGeom>
            <a:solidFill>
              <a:srgbClr val="E7EDF3"/>
            </a:solidFill>
            <a:ln w="19050">
              <a:solidFill>
                <a:srgbClr val="334E68"/>
              </a:solidFill>
            </a:ln>
          </p:spPr>
        </p:sp>
        <p:sp>
          <p:nvSpPr>
            <p:cNvPr id="17" name="Rectangle 17"/>
            <p:cNvSpPr/>
            <p:nvPr/>
          </p:nvSpPr>
          <p:spPr>
            <a:xfrm>
              <a:off x="2542222" y="2258378"/>
              <a:ext cx="1608772" cy="411480"/>
            </a:xfrm>
            <a:prstGeom prst="roundRect">
              <a:avLst>
                <a:gd name="adj" fmla="val 23148"/>
              </a:avLst>
            </a:prstGeom>
            <a:solidFill>
              <a:srgbClr val="FFFFFF"/>
            </a:solidFill>
            <a:ln w="15240">
              <a:solidFill>
                <a:srgbClr val="334E68"/>
              </a:solidFill>
            </a:ln>
          </p:spPr>
        </p:sp>
        <p:sp>
          <p:nvSpPr>
            <p:cNvPr id="18" name="Rectangle 18"/>
            <p:cNvSpPr/>
            <p:nvPr/>
          </p:nvSpPr>
          <p:spPr>
            <a:xfrm>
              <a:off x="4417695" y="2258378"/>
              <a:ext cx="1608772" cy="411480"/>
            </a:xfrm>
            <a:prstGeom prst="roundRect">
              <a:avLst>
                <a:gd name="adj" fmla="val 23148"/>
              </a:avLst>
            </a:prstGeom>
            <a:solidFill>
              <a:srgbClr val="FFFFFF"/>
            </a:solidFill>
            <a:ln w="15240">
              <a:solidFill>
                <a:srgbClr val="334E68"/>
              </a:solidFill>
            </a:ln>
          </p:spPr>
        </p:sp>
        <p:sp>
          <p:nvSpPr>
            <p:cNvPr id="19" name="Rectangle 19"/>
            <p:cNvSpPr/>
            <p:nvPr/>
          </p:nvSpPr>
          <p:spPr>
            <a:xfrm>
              <a:off x="2542222" y="2885122"/>
              <a:ext cx="1608772" cy="411480"/>
            </a:xfrm>
            <a:prstGeom prst="roundRect">
              <a:avLst>
                <a:gd name="adj" fmla="val 23148"/>
              </a:avLst>
            </a:prstGeom>
            <a:solidFill>
              <a:srgbClr val="FFFFFF"/>
            </a:solidFill>
            <a:ln w="15240">
              <a:solidFill>
                <a:srgbClr val="334E68"/>
              </a:solidFill>
            </a:ln>
          </p:spPr>
        </p:sp>
        <p:sp>
          <p:nvSpPr>
            <p:cNvPr id="20" name="Rectangle 20"/>
            <p:cNvSpPr/>
            <p:nvPr/>
          </p:nvSpPr>
          <p:spPr>
            <a:xfrm>
              <a:off x="666750" y="3511868"/>
              <a:ext cx="1608772" cy="411480"/>
            </a:xfrm>
            <a:prstGeom prst="roundRect">
              <a:avLst>
                <a:gd name="adj" fmla="val 23148"/>
              </a:avLst>
            </a:prstGeom>
            <a:solidFill>
              <a:srgbClr val="FFFFFF"/>
            </a:solidFill>
            <a:ln w="15240">
              <a:solidFill>
                <a:srgbClr val="334E68"/>
              </a:solidFill>
            </a:ln>
          </p:spPr>
        </p:sp>
        <p:sp>
          <p:nvSpPr>
            <p:cNvPr id="21" name="Rectangle 21"/>
            <p:cNvSpPr/>
            <p:nvPr/>
          </p:nvSpPr>
          <p:spPr>
            <a:xfrm>
              <a:off x="2542222" y="3511868"/>
              <a:ext cx="1608772" cy="411480"/>
            </a:xfrm>
            <a:prstGeom prst="roundRect">
              <a:avLst>
                <a:gd name="adj" fmla="val 23148"/>
              </a:avLst>
            </a:prstGeom>
            <a:solidFill>
              <a:srgbClr val="FFFFFF"/>
            </a:solidFill>
            <a:ln w="15240">
              <a:solidFill>
                <a:srgbClr val="334E68"/>
              </a:solidFill>
            </a:ln>
          </p:spPr>
        </p:sp>
        <p:sp>
          <p:nvSpPr>
            <p:cNvPr id="22" name="Rectangle 22"/>
            <p:cNvSpPr/>
            <p:nvPr/>
          </p:nvSpPr>
          <p:spPr>
            <a:xfrm>
              <a:off x="4417695" y="3511868"/>
              <a:ext cx="1608772" cy="411480"/>
            </a:xfrm>
            <a:prstGeom prst="roundRect">
              <a:avLst>
                <a:gd name="adj" fmla="val 23148"/>
              </a:avLst>
            </a:prstGeom>
            <a:solidFill>
              <a:srgbClr val="FFFFFF"/>
            </a:solidFill>
            <a:ln w="15240">
              <a:solidFill>
                <a:srgbClr val="334E68"/>
              </a:solidFill>
            </a:ln>
          </p:spPr>
        </p:sp>
        <p:sp>
          <p:nvSpPr>
            <p:cNvPr id="23" name="Rectangle 23"/>
            <p:cNvSpPr/>
            <p:nvPr/>
          </p:nvSpPr>
          <p:spPr>
            <a:xfrm>
              <a:off x="2542222" y="4138612"/>
              <a:ext cx="1608772" cy="411480"/>
            </a:xfrm>
            <a:prstGeom prst="roundRect">
              <a:avLst>
                <a:gd name="adj" fmla="val 23148"/>
              </a:avLst>
            </a:prstGeom>
            <a:solidFill>
              <a:srgbClr val="FFFFFF"/>
            </a:solidFill>
            <a:ln w="15240">
              <a:solidFill>
                <a:srgbClr val="334E68"/>
              </a:solidFill>
            </a:ln>
          </p:spPr>
        </p:sp>
        <p:sp>
          <p:nvSpPr>
            <p:cNvPr id="24" name="Rectangle 24"/>
            <p:cNvSpPr/>
            <p:nvPr/>
          </p:nvSpPr>
          <p:spPr>
            <a:xfrm>
              <a:off x="666750" y="4765358"/>
              <a:ext cx="1608772" cy="411480"/>
            </a:xfrm>
            <a:prstGeom prst="roundRect">
              <a:avLst>
                <a:gd name="adj" fmla="val 23148"/>
              </a:avLst>
            </a:prstGeom>
            <a:solidFill>
              <a:srgbClr val="FFFFFF"/>
            </a:solidFill>
            <a:ln w="15240">
              <a:solidFill>
                <a:srgbClr val="334E68"/>
              </a:solidFill>
            </a:ln>
          </p:spPr>
        </p:sp>
        <p:sp>
          <p:nvSpPr>
            <p:cNvPr id="25" name="Rectangle 25"/>
            <p:cNvSpPr/>
            <p:nvPr/>
          </p:nvSpPr>
          <p:spPr>
            <a:xfrm>
              <a:off x="4417695" y="4765358"/>
              <a:ext cx="1608772" cy="411480"/>
            </a:xfrm>
            <a:prstGeom prst="roundRect">
              <a:avLst>
                <a:gd name="adj" fmla="val 23148"/>
              </a:avLst>
            </a:prstGeom>
            <a:solidFill>
              <a:srgbClr val="FFFFFF"/>
            </a:solidFill>
            <a:ln w="15240">
              <a:solidFill>
                <a:srgbClr val="334E68"/>
              </a:solidFill>
            </a:ln>
          </p:spPr>
        </p:sp>
        <p:sp>
          <p:nvSpPr>
            <p:cNvPr id="26" name="TextBox 26"/>
            <p:cNvSpPr txBox="1"/>
            <p:nvPr/>
          </p:nvSpPr>
          <p:spPr>
            <a:xfrm>
              <a:off x="3017901" y="1753552"/>
              <a:ext cx="658368"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统计空格</a:t>
              </a:r>
            </a:p>
          </p:txBody>
        </p:sp>
        <p:sp>
          <p:nvSpPr>
            <p:cNvPr id="27" name="TextBox 27"/>
            <p:cNvSpPr txBox="1"/>
            <p:nvPr/>
          </p:nvSpPr>
          <p:spPr>
            <a:xfrm>
              <a:off x="3098673" y="2380298"/>
              <a:ext cx="496824"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程序体</a:t>
              </a:r>
            </a:p>
          </p:txBody>
        </p:sp>
        <p:sp>
          <p:nvSpPr>
            <p:cNvPr id="28" name="TextBox 28"/>
            <p:cNvSpPr txBox="1"/>
            <p:nvPr/>
          </p:nvSpPr>
          <p:spPr>
            <a:xfrm>
              <a:off x="4974145" y="2380298"/>
              <a:ext cx="496824"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印总数</a:t>
              </a:r>
            </a:p>
          </p:txBody>
        </p:sp>
        <p:sp>
          <p:nvSpPr>
            <p:cNvPr id="29" name="TextBox 29"/>
            <p:cNvSpPr txBox="1"/>
            <p:nvPr/>
          </p:nvSpPr>
          <p:spPr>
            <a:xfrm>
              <a:off x="2892704" y="3007042"/>
              <a:ext cx="908761"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处理字符串*</a:t>
              </a:r>
            </a:p>
          </p:txBody>
        </p:sp>
        <p:sp>
          <p:nvSpPr>
            <p:cNvPr id="30" name="TextBox 30"/>
            <p:cNvSpPr txBox="1"/>
            <p:nvPr/>
          </p:nvSpPr>
          <p:spPr>
            <a:xfrm>
              <a:off x="1142428" y="3633788"/>
              <a:ext cx="658368"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印字符串</a:t>
              </a:r>
            </a:p>
          </p:txBody>
        </p:sp>
        <p:sp>
          <p:nvSpPr>
            <p:cNvPr id="31" name="TextBox 31"/>
            <p:cNvSpPr txBox="1"/>
            <p:nvPr/>
          </p:nvSpPr>
          <p:spPr>
            <a:xfrm>
              <a:off x="2937129" y="3633788"/>
              <a:ext cx="819912"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分析字符串</a:t>
              </a:r>
            </a:p>
          </p:txBody>
        </p:sp>
        <p:sp>
          <p:nvSpPr>
            <p:cNvPr id="32" name="TextBox 32"/>
            <p:cNvSpPr txBox="1"/>
            <p:nvPr/>
          </p:nvSpPr>
          <p:spPr>
            <a:xfrm>
              <a:off x="4893374" y="3633788"/>
              <a:ext cx="658368"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印空格数</a:t>
              </a:r>
            </a:p>
          </p:txBody>
        </p:sp>
        <p:sp>
          <p:nvSpPr>
            <p:cNvPr id="33" name="TextBox 33"/>
            <p:cNvSpPr txBox="1"/>
            <p:nvPr/>
          </p:nvSpPr>
          <p:spPr>
            <a:xfrm>
              <a:off x="2973476" y="4260532"/>
              <a:ext cx="747217"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分析字符*</a:t>
              </a:r>
            </a:p>
          </p:txBody>
        </p:sp>
        <p:sp>
          <p:nvSpPr>
            <p:cNvPr id="34" name="TextBox 34"/>
            <p:cNvSpPr txBox="1"/>
            <p:nvPr/>
          </p:nvSpPr>
          <p:spPr>
            <a:xfrm>
              <a:off x="1098004" y="4887278"/>
              <a:ext cx="747217"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处理空格°</a:t>
              </a:r>
            </a:p>
          </p:txBody>
        </p:sp>
        <p:sp>
          <p:nvSpPr>
            <p:cNvPr id="35" name="TextBox 35"/>
            <p:cNvSpPr txBox="1"/>
            <p:nvPr/>
          </p:nvSpPr>
          <p:spPr>
            <a:xfrm>
              <a:off x="4768177" y="4887278"/>
              <a:ext cx="908761" cy="234696"/>
            </a:xfrm>
            <a:prstGeom prst="rect">
              <a:avLst/>
            </a:prstGeom>
            <a:noFill/>
            <a:ln>
              <a:noFill/>
            </a:ln>
          </p:spPr>
          <p:txBody>
            <a:bodyPr wrap="none" lIns="0" tIns="0" rIns="0" bIns="0" anchor="t" anchorCtr="0">
              <a:spAutoFit/>
            </a:bodyPr>
            <a:lstStyle/>
            <a:p>
              <a:pPr algn="ctr"/>
              <a:r>
                <a:rPr lang="zh-CN" sz="1200" dirty="0">
                  <a:solidFill>
                    <a:srgbClr val="1F2937"/>
                  </a:solidFill>
                  <a:latin typeface="+mn-lt"/>
                  <a:ea typeface="+mn-ea"/>
                  <a:cs typeface="+mn-cs"/>
                </a:rPr>
                <a:t>处理非空格°</a:t>
              </a:r>
            </a:p>
          </p:txBody>
        </p:sp>
      </p:grpSp>
      <p:grpSp>
        <p:nvGrpSpPr>
          <p:cNvPr id="65" name="c2-table-1"/>
          <p:cNvGrpSpPr/>
          <p:nvPr/>
        </p:nvGrpSpPr>
        <p:grpSpPr>
          <a:xfrm>
            <a:off x="6464618" y="1524000"/>
            <a:ext cx="5193982" cy="3822382"/>
            <a:chOff x="6464618" y="1524000"/>
            <a:chExt cx="5193982" cy="3822382"/>
          </a:xfrm>
        </p:grpSpPr>
        <p:sp>
          <p:nvSpPr>
            <p:cNvPr id="37" name="Rectangle 37"/>
            <p:cNvSpPr/>
            <p:nvPr/>
          </p:nvSpPr>
          <p:spPr>
            <a:xfrm>
              <a:off x="6464618" y="1524000"/>
              <a:ext cx="5193982" cy="424815"/>
            </a:xfrm>
            <a:prstGeom prst="rect">
              <a:avLst/>
            </a:prstGeom>
            <a:solidFill>
              <a:srgbClr val="334E68"/>
            </a:solidFill>
            <a:ln>
              <a:noFill/>
            </a:ln>
          </p:spPr>
        </p:sp>
        <p:sp>
          <p:nvSpPr>
            <p:cNvPr id="38" name="TextBox 38"/>
            <p:cNvSpPr txBox="1"/>
            <p:nvPr/>
          </p:nvSpPr>
          <p:spPr>
            <a:xfrm>
              <a:off x="6891528" y="1652588"/>
              <a:ext cx="496824"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处理框</a:t>
              </a:r>
            </a:p>
          </p:txBody>
        </p:sp>
        <p:sp>
          <p:nvSpPr>
            <p:cNvPr id="39" name="TextBox 39"/>
            <p:cNvSpPr txBox="1"/>
            <p:nvPr/>
          </p:nvSpPr>
          <p:spPr>
            <a:xfrm>
              <a:off x="9245727" y="1652588"/>
              <a:ext cx="981456" cy="234696"/>
            </a:xfrm>
            <a:prstGeom prst="rect">
              <a:avLst/>
            </a:prstGeom>
            <a:noFill/>
            <a:ln>
              <a:noFill/>
            </a:ln>
          </p:spPr>
          <p:txBody>
            <a:bodyPr wrap="none" lIns="0" tIns="0" rIns="0" bIns="0" anchor="t" anchorCtr="0">
              <a:spAutoFit/>
            </a:bodyPr>
            <a:lstStyle/>
            <a:p>
              <a:pPr algn="ctr"/>
              <a:r>
                <a:rPr lang="zh-CN" sz="1200" b="1" dirty="0">
                  <a:solidFill>
                    <a:srgbClr val="FFFFFF"/>
                  </a:solidFill>
                  <a:latin typeface="+mn-lt"/>
                  <a:ea typeface="+mn-ea"/>
                  <a:cs typeface="+mn-cs"/>
                </a:rPr>
                <a:t>分配到的操作</a:t>
              </a:r>
            </a:p>
          </p:txBody>
        </p:sp>
        <p:sp>
          <p:nvSpPr>
            <p:cNvPr id="40" name="TextBox 40"/>
            <p:cNvSpPr txBox="1"/>
            <p:nvPr/>
          </p:nvSpPr>
          <p:spPr>
            <a:xfrm>
              <a:off x="6567106" y="2183130"/>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统计空格</a:t>
              </a:r>
            </a:p>
          </p:txBody>
        </p:sp>
        <p:sp>
          <p:nvSpPr>
            <p:cNvPr id="41" name="TextBox 41"/>
            <p:cNvSpPr txBox="1"/>
            <p:nvPr/>
          </p:nvSpPr>
          <p:spPr>
            <a:xfrm>
              <a:off x="7917752" y="2076450"/>
              <a:ext cx="342595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② 打开文件　⑨ 读入字符串　⑪ totalsum:=0　③ 关</a:t>
              </a:r>
              <a:br/>
              <a:r>
                <a:rPr lang="zh-CN" sz="1200" dirty="0">
                  <a:solidFill>
                    <a:srgbClr val="1F2937"/>
                  </a:solidFill>
                  <a:latin typeface="+mn-lt"/>
                  <a:ea typeface="+mn-ea"/>
                  <a:cs typeface="+mn-cs"/>
                </a:rPr>
                <a:t>闭文件　① 停止</a:t>
              </a:r>
            </a:p>
          </p:txBody>
        </p:sp>
        <p:sp>
          <p:nvSpPr>
            <p:cNvPr id="42" name="Rectangle 42"/>
            <p:cNvSpPr/>
            <p:nvPr/>
          </p:nvSpPr>
          <p:spPr>
            <a:xfrm>
              <a:off x="6464618" y="2581275"/>
              <a:ext cx="5193982" cy="9525"/>
            </a:xfrm>
            <a:prstGeom prst="rect">
              <a:avLst/>
            </a:prstGeom>
            <a:solidFill>
              <a:srgbClr val="D9DFEA"/>
            </a:solidFill>
            <a:ln>
              <a:noFill/>
            </a:ln>
          </p:spPr>
        </p:sp>
        <p:sp>
          <p:nvSpPr>
            <p:cNvPr id="43" name="Rectangle 43"/>
            <p:cNvSpPr/>
            <p:nvPr/>
          </p:nvSpPr>
          <p:spPr>
            <a:xfrm>
              <a:off x="6464618" y="2586038"/>
              <a:ext cx="5193982" cy="424815"/>
            </a:xfrm>
            <a:prstGeom prst="rect">
              <a:avLst/>
            </a:prstGeom>
            <a:solidFill>
              <a:srgbClr val="F4F6FB"/>
            </a:solidFill>
            <a:ln>
              <a:noFill/>
            </a:ln>
          </p:spPr>
        </p:sp>
        <p:sp>
          <p:nvSpPr>
            <p:cNvPr id="44" name="TextBox 44"/>
            <p:cNvSpPr txBox="1"/>
            <p:nvPr/>
          </p:nvSpPr>
          <p:spPr>
            <a:xfrm>
              <a:off x="6567106" y="2714625"/>
              <a:ext cx="496824"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印总数</a:t>
              </a:r>
            </a:p>
          </p:txBody>
        </p:sp>
        <p:sp>
          <p:nvSpPr>
            <p:cNvPr id="45" name="TextBox 45"/>
            <p:cNvSpPr txBox="1"/>
            <p:nvPr/>
          </p:nvSpPr>
          <p:spPr>
            <a:xfrm>
              <a:off x="7917752" y="2714625"/>
              <a:ext cx="111876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⑥ 印出空格总数</a:t>
              </a:r>
            </a:p>
          </p:txBody>
        </p:sp>
        <p:sp>
          <p:nvSpPr>
            <p:cNvPr id="46" name="Rectangle 46"/>
            <p:cNvSpPr/>
            <p:nvPr/>
          </p:nvSpPr>
          <p:spPr>
            <a:xfrm>
              <a:off x="6464618" y="3006090"/>
              <a:ext cx="5193982" cy="9525"/>
            </a:xfrm>
            <a:prstGeom prst="rect">
              <a:avLst/>
            </a:prstGeom>
            <a:solidFill>
              <a:srgbClr val="D9DFEA"/>
            </a:solidFill>
            <a:ln>
              <a:noFill/>
            </a:ln>
          </p:spPr>
        </p:sp>
        <p:sp>
          <p:nvSpPr>
            <p:cNvPr id="47" name="TextBox 47"/>
            <p:cNvSpPr txBox="1"/>
            <p:nvPr/>
          </p:nvSpPr>
          <p:spPr>
            <a:xfrm>
              <a:off x="6567106" y="3246120"/>
              <a:ext cx="819912"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处理字符串</a:t>
              </a:r>
            </a:p>
          </p:txBody>
        </p:sp>
        <p:sp>
          <p:nvSpPr>
            <p:cNvPr id="48" name="TextBox 48"/>
            <p:cNvSpPr txBox="1"/>
            <p:nvPr/>
          </p:nvSpPr>
          <p:spPr>
            <a:xfrm>
              <a:off x="7917752" y="3139440"/>
              <a:ext cx="2915412" cy="448056"/>
            </a:xfrm>
            <a:prstGeom prst="rect">
              <a:avLst/>
            </a:prstGeom>
            <a:noFill/>
            <a:ln>
              <a:noFill/>
            </a:ln>
          </p:spPr>
          <p:txBody>
            <a:bodyPr wrap="none" lIns="0" tIns="0" rIns="0" bIns="0" anchor="t" anchorCtr="0">
              <a:spAutoFit/>
            </a:bodyPr>
            <a:lstStyle/>
            <a:p>
              <a:pPr algn="l">
                <a:lnSpc>
                  <a:spcPts val="1680"/>
                </a:lnSpc>
              </a:pPr>
              <a:r>
                <a:rPr lang="zh-CN" sz="1200" dirty="0">
                  <a:solidFill>
                    <a:srgbClr val="1F2937"/>
                  </a:solidFill>
                  <a:latin typeface="+mn-lt"/>
                  <a:ea typeface="+mn-ea"/>
                  <a:cs typeface="+mn-cs"/>
                </a:rPr>
                <a:t>⑩ sum:=0　⑫ pointer:=1　⑧</a:t>
              </a:r>
              <a:br/>
              <a:r>
                <a:rPr lang="zh-CN" sz="1200" dirty="0">
                  <a:solidFill>
                    <a:srgbClr val="1F2937"/>
                  </a:solidFill>
                  <a:latin typeface="+mn-lt"/>
                  <a:ea typeface="+mn-ea"/>
                  <a:cs typeface="+mn-cs"/>
                </a:rPr>
                <a:t>totalsum:=totalsum+sum　⑨ 读入字符串</a:t>
              </a:r>
            </a:p>
          </p:txBody>
        </p:sp>
        <p:sp>
          <p:nvSpPr>
            <p:cNvPr id="49" name="Rectangle 49"/>
            <p:cNvSpPr/>
            <p:nvPr/>
          </p:nvSpPr>
          <p:spPr>
            <a:xfrm>
              <a:off x="6464618" y="3643312"/>
              <a:ext cx="5193982" cy="9525"/>
            </a:xfrm>
            <a:prstGeom prst="rect">
              <a:avLst/>
            </a:prstGeom>
            <a:solidFill>
              <a:srgbClr val="D9DFEA"/>
            </a:solidFill>
            <a:ln>
              <a:noFill/>
            </a:ln>
          </p:spPr>
        </p:sp>
        <p:sp>
          <p:nvSpPr>
            <p:cNvPr id="50" name="Rectangle 50"/>
            <p:cNvSpPr/>
            <p:nvPr/>
          </p:nvSpPr>
          <p:spPr>
            <a:xfrm>
              <a:off x="6464618" y="3648075"/>
              <a:ext cx="5193982" cy="424815"/>
            </a:xfrm>
            <a:prstGeom prst="rect">
              <a:avLst/>
            </a:prstGeom>
            <a:solidFill>
              <a:srgbClr val="F4F6FB"/>
            </a:solidFill>
            <a:ln>
              <a:noFill/>
            </a:ln>
          </p:spPr>
        </p:sp>
        <p:sp>
          <p:nvSpPr>
            <p:cNvPr id="51" name="TextBox 51"/>
            <p:cNvSpPr txBox="1"/>
            <p:nvPr/>
          </p:nvSpPr>
          <p:spPr>
            <a:xfrm>
              <a:off x="6567106" y="3776662"/>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印字符串</a:t>
              </a:r>
            </a:p>
          </p:txBody>
        </p:sp>
        <p:sp>
          <p:nvSpPr>
            <p:cNvPr id="52" name="TextBox 52"/>
            <p:cNvSpPr txBox="1"/>
            <p:nvPr/>
          </p:nvSpPr>
          <p:spPr>
            <a:xfrm>
              <a:off x="7917752" y="3776662"/>
              <a:ext cx="95722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④ 印出字符串</a:t>
              </a:r>
            </a:p>
          </p:txBody>
        </p:sp>
        <p:sp>
          <p:nvSpPr>
            <p:cNvPr id="53" name="Rectangle 53"/>
            <p:cNvSpPr/>
            <p:nvPr/>
          </p:nvSpPr>
          <p:spPr>
            <a:xfrm>
              <a:off x="6464618" y="4068128"/>
              <a:ext cx="5193982" cy="9525"/>
            </a:xfrm>
            <a:prstGeom prst="rect">
              <a:avLst/>
            </a:prstGeom>
            <a:solidFill>
              <a:srgbClr val="D9DFEA"/>
            </a:solidFill>
            <a:ln>
              <a:noFill/>
            </a:ln>
          </p:spPr>
        </p:sp>
        <p:sp>
          <p:nvSpPr>
            <p:cNvPr id="54" name="TextBox 54"/>
            <p:cNvSpPr txBox="1"/>
            <p:nvPr/>
          </p:nvSpPr>
          <p:spPr>
            <a:xfrm>
              <a:off x="6567106" y="4201478"/>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印空格数</a:t>
              </a:r>
            </a:p>
          </p:txBody>
        </p:sp>
        <p:sp>
          <p:nvSpPr>
            <p:cNvPr id="55" name="TextBox 55"/>
            <p:cNvSpPr txBox="1"/>
            <p:nvPr/>
          </p:nvSpPr>
          <p:spPr>
            <a:xfrm>
              <a:off x="7917752" y="4201478"/>
              <a:ext cx="1118768"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⑤ 印出空格数目</a:t>
              </a:r>
            </a:p>
          </p:txBody>
        </p:sp>
        <p:sp>
          <p:nvSpPr>
            <p:cNvPr id="56" name="Rectangle 56"/>
            <p:cNvSpPr/>
            <p:nvPr/>
          </p:nvSpPr>
          <p:spPr>
            <a:xfrm>
              <a:off x="6464618" y="4492942"/>
              <a:ext cx="5193982" cy="9525"/>
            </a:xfrm>
            <a:prstGeom prst="rect">
              <a:avLst/>
            </a:prstGeom>
            <a:solidFill>
              <a:srgbClr val="D9DFEA"/>
            </a:solidFill>
            <a:ln>
              <a:noFill/>
            </a:ln>
          </p:spPr>
        </p:sp>
        <p:sp>
          <p:nvSpPr>
            <p:cNvPr id="57" name="Rectangle 57"/>
            <p:cNvSpPr/>
            <p:nvPr/>
          </p:nvSpPr>
          <p:spPr>
            <a:xfrm>
              <a:off x="6464618" y="4497705"/>
              <a:ext cx="5193982" cy="424815"/>
            </a:xfrm>
            <a:prstGeom prst="rect">
              <a:avLst/>
            </a:prstGeom>
            <a:solidFill>
              <a:srgbClr val="F4F6FB"/>
            </a:solidFill>
            <a:ln>
              <a:noFill/>
            </a:ln>
          </p:spPr>
        </p:sp>
        <p:sp>
          <p:nvSpPr>
            <p:cNvPr id="58" name="TextBox 58"/>
            <p:cNvSpPr txBox="1"/>
            <p:nvPr/>
          </p:nvSpPr>
          <p:spPr>
            <a:xfrm>
              <a:off x="6567106" y="4625340"/>
              <a:ext cx="658368"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处理空格</a:t>
              </a:r>
            </a:p>
          </p:txBody>
        </p:sp>
        <p:sp>
          <p:nvSpPr>
            <p:cNvPr id="59" name="TextBox 59"/>
            <p:cNvSpPr txBox="1"/>
            <p:nvPr/>
          </p:nvSpPr>
          <p:spPr>
            <a:xfrm>
              <a:off x="7917752" y="4625340"/>
              <a:ext cx="2919984" cy="234696"/>
            </a:xfrm>
            <a:prstGeom prst="rect">
              <a:avLst/>
            </a:prstGeom>
            <a:noFill/>
            <a:ln>
              <a:noFill/>
            </a:ln>
          </p:spPr>
          <p:txBody>
            <a:bodyPr wrap="none" lIns="0" tIns="0" rIns="0" bIns="0" anchor="t" anchorCtr="0">
              <a:spAutoFit/>
            </a:bodyPr>
            <a:lstStyle/>
            <a:p>
              <a:pPr algn="l"/>
              <a:r>
                <a:rPr lang="zh-CN" sz="1200" dirty="0">
                  <a:solidFill>
                    <a:srgbClr val="1F2937"/>
                  </a:solidFill>
                  <a:latin typeface="+mn-lt"/>
                  <a:ea typeface="+mn-ea"/>
                  <a:cs typeface="+mn-cs"/>
                </a:rPr>
                <a:t>⑦ sum:=sum+1　⑬ pointer:=pointer+1</a:t>
              </a:r>
            </a:p>
          </p:txBody>
        </p:sp>
        <p:sp>
          <p:nvSpPr>
            <p:cNvPr id="60" name="Rectangle 60"/>
            <p:cNvSpPr/>
            <p:nvPr/>
          </p:nvSpPr>
          <p:spPr>
            <a:xfrm>
              <a:off x="6464618" y="4916805"/>
              <a:ext cx="5193982" cy="9525"/>
            </a:xfrm>
            <a:prstGeom prst="rect">
              <a:avLst/>
            </a:prstGeom>
            <a:solidFill>
              <a:srgbClr val="D9DFEA"/>
            </a:solidFill>
            <a:ln>
              <a:noFill/>
            </a:ln>
          </p:spPr>
        </p:sp>
        <p:sp>
          <p:nvSpPr>
            <p:cNvPr id="61" name="TextBox 61"/>
            <p:cNvSpPr txBox="1"/>
            <p:nvPr/>
          </p:nvSpPr>
          <p:spPr>
            <a:xfrm>
              <a:off x="6567106" y="5050155"/>
              <a:ext cx="819912" cy="234696"/>
            </a:xfrm>
            <a:prstGeom prst="rect">
              <a:avLst/>
            </a:prstGeom>
            <a:noFill/>
            <a:ln>
              <a:noFill/>
            </a:ln>
          </p:spPr>
          <p:txBody>
            <a:bodyPr wrap="none" lIns="0" tIns="0" rIns="0" bIns="0" anchor="t" anchorCtr="0">
              <a:spAutoFit/>
            </a:bodyPr>
            <a:lstStyle/>
            <a:p>
              <a:pPr algn="l"/>
              <a:r>
                <a:rPr lang="zh-CN" sz="1200" b="1" dirty="0">
                  <a:solidFill>
                    <a:srgbClr val="1F2937"/>
                  </a:solidFill>
                  <a:latin typeface="+mn-lt"/>
                  <a:ea typeface="+mn-ea"/>
                  <a:cs typeface="+mn-cs"/>
                </a:rPr>
                <a:t>处理非空格</a:t>
              </a:r>
            </a:p>
          </p:txBody>
        </p:sp>
        <p:sp>
          <p:nvSpPr>
            <p:cNvPr id="62" name="TextBox 62"/>
            <p:cNvSpPr txBox="1"/>
            <p:nvPr/>
          </p:nvSpPr>
          <p:spPr>
            <a:xfrm>
              <a:off x="7917752" y="5050155"/>
              <a:ext cx="1668018" cy="234696"/>
            </a:xfrm>
            <a:prstGeom prst="rect">
              <a:avLst/>
            </a:prstGeom>
            <a:noFill/>
            <a:ln>
              <a:noFill/>
            </a:ln>
          </p:spPr>
          <p:txBody>
            <a:bodyPr wrap="none" lIns="0" tIns="0" rIns="0" bIns="0" anchor="t" anchorCtr="0">
              <a:spAutoFit/>
            </a:bodyPr>
            <a:lstStyle/>
            <a:p>
              <a:pPr algn="l"/>
              <a:r>
                <a:rPr lang="en-US" sz="1200" dirty="0">
                  <a:solidFill>
                    <a:srgbClr val="1F2937"/>
                  </a:solidFill>
                  <a:latin typeface="+mn-lt"/>
                  <a:ea typeface="+mn-ea"/>
                  <a:cs typeface="+mn-cs"/>
                </a:rPr>
                <a:t>⑬ pointer:=pointer+1</a:t>
              </a:r>
            </a:p>
          </p:txBody>
        </p:sp>
        <p:sp>
          <p:nvSpPr>
            <p:cNvPr id="63" name="Rectangle 63"/>
            <p:cNvSpPr/>
            <p:nvPr/>
          </p:nvSpPr>
          <p:spPr>
            <a:xfrm>
              <a:off x="6464618" y="1524000"/>
              <a:ext cx="5193982" cy="3822382"/>
            </a:xfrm>
            <a:prstGeom prst="rect">
              <a:avLst/>
            </a:prstGeom>
            <a:noFill/>
            <a:ln w="14288">
              <a:solidFill>
                <a:srgbClr val="D9DFEA"/>
              </a:solidFill>
            </a:ln>
          </p:spPr>
        </p:sp>
        <p:sp>
          <p:nvSpPr>
            <p:cNvPr id="64" name="Rectangle 64"/>
            <p:cNvSpPr/>
            <p:nvPr/>
          </p:nvSpPr>
          <p:spPr>
            <a:xfrm>
              <a:off x="7810500" y="1524000"/>
              <a:ext cx="9525" cy="3822382"/>
            </a:xfrm>
            <a:prstGeom prst="rect">
              <a:avLst/>
            </a:prstGeom>
            <a:solidFill>
              <a:srgbClr val="D9DFEA"/>
            </a:solidFill>
            <a:ln>
              <a:noFill/>
            </a:ln>
          </p:spPr>
        </p:sp>
      </p:grpSp>
      <p:grpSp>
        <p:nvGrpSpPr>
          <p:cNvPr id="72" name="takeaway"/>
          <p:cNvGrpSpPr/>
          <p:nvPr/>
        </p:nvGrpSpPr>
        <p:grpSpPr>
          <a:xfrm>
            <a:off x="533400" y="5606415"/>
            <a:ext cx="11125200" cy="756285"/>
            <a:chOff x="533400" y="5606415"/>
            <a:chExt cx="11125200" cy="756285"/>
          </a:xfrm>
        </p:grpSpPr>
        <p:sp>
          <p:nvSpPr>
            <p:cNvPr id="66" name="Rectangle 66"/>
            <p:cNvSpPr/>
            <p:nvPr/>
          </p:nvSpPr>
          <p:spPr>
            <a:xfrm>
              <a:off x="533400" y="5606415"/>
              <a:ext cx="11125200" cy="756285"/>
            </a:xfrm>
            <a:prstGeom prst="roundRect">
              <a:avLst>
                <a:gd name="adj" fmla="val 15113"/>
              </a:avLst>
            </a:prstGeom>
            <a:solidFill>
              <a:srgbClr val="F4F6FB"/>
            </a:solidFill>
            <a:ln>
              <a:noFill/>
            </a:ln>
          </p:spPr>
        </p:sp>
        <p:grpSp>
          <p:nvGrpSpPr>
            <p:cNvPr id="70" name="Group 70"/>
            <p:cNvGrpSpPr/>
            <p:nvPr/>
          </p:nvGrpSpPr>
          <p:grpSpPr>
            <a:xfrm>
              <a:off x="738188" y="5884545"/>
              <a:ext cx="200026" cy="200026"/>
              <a:chOff x="738188" y="5884545"/>
              <a:chExt cx="200026" cy="200026"/>
            </a:xfrm>
          </p:grpSpPr>
          <p:sp>
            <p:nvSpPr>
              <p:cNvPr id="67" name="Freeform 67"/>
              <p:cNvSpPr/>
              <p:nvPr/>
            </p:nvSpPr>
            <p:spPr>
              <a:xfrm>
                <a:off x="738188" y="588454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68" name="Freeform 68"/>
              <p:cNvSpPr/>
              <p:nvPr/>
            </p:nvSpPr>
            <p:spPr>
              <a:xfrm>
                <a:off x="838200" y="595122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69" name="Freeform 69"/>
              <p:cNvSpPr/>
              <p:nvPr/>
            </p:nvSpPr>
            <p:spPr>
              <a:xfrm>
                <a:off x="827088" y="598455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71" name="TextBox 71"/>
            <p:cNvSpPr txBox="1"/>
            <p:nvPr/>
          </p:nvSpPr>
          <p:spPr>
            <a:xfrm>
              <a:off x="1040511" y="5753576"/>
              <a:ext cx="9933178"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1F2937"/>
                  </a:solidFill>
                  <a:latin typeface="+mn-lt"/>
                  <a:ea typeface="+mn-ea"/>
                  <a:cs typeface="+mn-cs"/>
                </a:rPr>
                <a:t>三个条件：I(1) 文件结束（程序体的循环条件）、I(2) 字符串结束（分析字符串的循环条件）、S(3) 字符是空格（分析字符</a:t>
              </a:r>
              <a:br/>
              <a:r>
                <a:rPr lang="zh-CN" sz="1420" dirty="0">
                  <a:solidFill>
                    <a:srgbClr val="1F2937"/>
                  </a:solidFill>
                  <a:latin typeface="+mn-lt"/>
                  <a:ea typeface="+mn-ea"/>
                  <a:cs typeface="+mn-cs"/>
                </a:rPr>
                <a:t>的分支条件）。</a:t>
              </a:r>
            </a:p>
          </p:txBody>
        </p:sp>
      </p:grpSp>
      <p:grpSp>
        <p:nvGrpSpPr>
          <p:cNvPr id="75" name="footer"/>
          <p:cNvGrpSpPr/>
          <p:nvPr/>
        </p:nvGrpSpPr>
        <p:grpSpPr>
          <a:xfrm>
            <a:off x="528447" y="6581299"/>
            <a:ext cx="11135106" cy="190690"/>
            <a:chOff x="528447" y="6581299"/>
            <a:chExt cx="11135106" cy="190690"/>
          </a:xfrm>
        </p:grpSpPr>
        <p:sp>
          <p:nvSpPr>
            <p:cNvPr id="73" name="TextBox 73"/>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74" name="TextBox 7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39</a:t>
              </a:r>
            </a:p>
          </p:txBody>
        </p:sp>
      </p:grpSp>
    </p:spTree>
  </p:cSld>
  <p:clrMapOvr>
    <a:masterClrMapping/>
  </p:clrMapOvr>
  <p:transition xmlns:p14="http://schemas.microsoft.com/office/powerpoint/2010/main" p14:dur="400">
    <p:fade/>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732388" cy="909257"/>
            <a:chOff x="520446" y="342900"/>
            <a:chExt cx="4732388"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面向数据结构的设计方法</a:t>
              </a:r>
            </a:p>
          </p:txBody>
        </p:sp>
        <p:sp>
          <p:nvSpPr>
            <p:cNvPr id="4" name="TextBox 4"/>
            <p:cNvSpPr txBox="1"/>
            <p:nvPr/>
          </p:nvSpPr>
          <p:spPr>
            <a:xfrm>
              <a:off x="520446" y="753428"/>
              <a:ext cx="473238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实例一：写成 Jackson 伪代码</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0" name="c1-code-1"/>
          <p:cNvGrpSpPr/>
          <p:nvPr/>
        </p:nvGrpSpPr>
        <p:grpSpPr>
          <a:xfrm>
            <a:off x="533400" y="1524000"/>
            <a:ext cx="6708458" cy="4762500"/>
            <a:chOff x="533400" y="1524000"/>
            <a:chExt cx="6708458" cy="4762500"/>
          </a:xfrm>
        </p:grpSpPr>
        <p:sp>
          <p:nvSpPr>
            <p:cNvPr id="7" name="Rectangle 7"/>
            <p:cNvSpPr/>
            <p:nvPr/>
          </p:nvSpPr>
          <p:spPr>
            <a:xfrm>
              <a:off x="533400" y="1524000"/>
              <a:ext cx="6708458" cy="4762500"/>
            </a:xfrm>
            <a:prstGeom prst="roundRect">
              <a:avLst>
                <a:gd name="adj" fmla="val 2000"/>
              </a:avLst>
            </a:prstGeom>
            <a:solidFill>
              <a:srgbClr val="F6F8FA"/>
            </a:solidFill>
            <a:ln w="11430">
              <a:solidFill>
                <a:srgbClr val="D9DFEA"/>
              </a:solidFill>
            </a:ln>
          </p:spPr>
        </p:sp>
        <p:sp>
          <p:nvSpPr>
            <p:cNvPr id="8" name="TextBox 8"/>
            <p:cNvSpPr txBox="1"/>
            <p:nvPr/>
          </p:nvSpPr>
          <p:spPr>
            <a:xfrm>
              <a:off x="661797" y="1675924"/>
              <a:ext cx="1197254"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统计空格的完整伪码</a:t>
              </a:r>
            </a:p>
          </p:txBody>
        </p:sp>
        <p:sp>
          <p:nvSpPr>
            <p:cNvPr id="9" name="TextBox 9"/>
            <p:cNvSpPr txBox="1"/>
            <p:nvPr/>
          </p:nvSpPr>
          <p:spPr>
            <a:xfrm>
              <a:off x="661035" y="1937861"/>
              <a:ext cx="4726686" cy="4277678"/>
            </a:xfrm>
            <a:prstGeom prst="rect">
              <a:avLst/>
            </a:prstGeom>
            <a:noFill/>
            <a:ln>
              <a:noFill/>
            </a:ln>
          </p:spPr>
          <p:txBody>
            <a:bodyPr wrap="none" lIns="0" tIns="0" rIns="0" bIns="0" anchor="t" anchorCtr="0">
              <a:spAutoFit/>
            </a:bodyPr>
            <a:lstStyle/>
            <a:p>
              <a:pPr algn="l">
                <a:lnSpc>
                  <a:spcPts val="1598"/>
                </a:lnSpc>
              </a:pPr>
              <a:r>
                <a:rPr lang="zh-CN" sz="1120" dirty="0">
                  <a:solidFill>
                    <a:srgbClr val="1F2937"/>
                  </a:solidFill>
                  <a:latin typeface="Consolas"/>
                  <a:ea typeface="Microsoft YaHei"/>
                  <a:cs typeface="Consolas"/>
                </a:rPr>
                <a:t>统计空格  seq</a:t>
              </a:r>
              <a:br/>
              <a:r>
                <a:rPr lang="zh-CN" sz="1120" dirty="0">
                  <a:solidFill>
                    <a:srgbClr val="1F2937"/>
                  </a:solidFill>
                  <a:latin typeface="Consolas"/>
                  <a:ea typeface="Microsoft YaHei"/>
                  <a:cs typeface="Consolas"/>
                </a:rPr>
                <a:t xml:space="preserve">   打开文件;  读入字符串;  totalsum := 0</a:t>
              </a:r>
              <a:br/>
              <a:r>
                <a:rPr lang="zh-CN" sz="1120" dirty="0">
                  <a:solidFill>
                    <a:srgbClr val="1F2937"/>
                  </a:solidFill>
                  <a:latin typeface="Consolas"/>
                  <a:ea typeface="Microsoft YaHei"/>
                  <a:cs typeface="Consolas"/>
                </a:rPr>
                <a:t xml:space="preserve">   程序体  iter  until  文件结束</a:t>
              </a:r>
              <a:br/>
              <a:r>
                <a:rPr lang="zh-CN" sz="1120" dirty="0">
                  <a:solidFill>
                    <a:srgbClr val="1F2937"/>
                  </a:solidFill>
                  <a:latin typeface="Consolas"/>
                  <a:ea typeface="Microsoft YaHei"/>
                  <a:cs typeface="Consolas"/>
                </a:rPr>
                <a:t xml:space="preserve">      处理字符串  seq</a:t>
              </a:r>
              <a:br/>
              <a:r>
                <a:rPr lang="zh-CN" sz="1120" dirty="0">
                  <a:solidFill>
                    <a:srgbClr val="1F2937"/>
                  </a:solidFill>
                  <a:latin typeface="Consolas"/>
                  <a:ea typeface="Microsoft YaHei"/>
                  <a:cs typeface="Consolas"/>
                </a:rPr>
                <a:t xml:space="preserve">         印字符串 {印出字符串}</a:t>
              </a:r>
              <a:br/>
              <a:r>
                <a:rPr lang="en-US" sz="1120" dirty="0">
                  <a:solidFill>
                    <a:srgbClr val="1F2937"/>
                  </a:solidFill>
                  <a:latin typeface="Consolas"/>
                  <a:ea typeface="Consolas"/>
                  <a:cs typeface="Consolas"/>
                </a:rPr>
                <a:t xml:space="preserve">         sum := 0;  pointer := 1</a:t>
              </a:r>
              <a:br/>
              <a:r>
                <a:rPr lang="zh-CN" sz="1120" dirty="0">
                  <a:solidFill>
                    <a:srgbClr val="1F2937"/>
                  </a:solidFill>
                  <a:latin typeface="Consolas"/>
                  <a:ea typeface="Microsoft YaHei"/>
                  <a:cs typeface="Consolas"/>
                </a:rPr>
                <a:t xml:space="preserve">         分析字符串  iter  until  字符串结束</a:t>
              </a:r>
              <a:br/>
              <a:r>
                <a:rPr lang="zh-CN" sz="1120" dirty="0">
                  <a:solidFill>
                    <a:srgbClr val="1F2937"/>
                  </a:solidFill>
                  <a:latin typeface="Consolas"/>
                  <a:ea typeface="Microsoft YaHei"/>
                  <a:cs typeface="Consolas"/>
                </a:rPr>
                <a:t xml:space="preserve">            分析字符  select  字符是空格</a:t>
              </a:r>
              <a:br/>
              <a:r>
                <a:rPr lang="zh-CN" sz="1120" dirty="0">
                  <a:solidFill>
                    <a:srgbClr val="1F2937"/>
                  </a:solidFill>
                  <a:latin typeface="Consolas"/>
                  <a:ea typeface="Microsoft YaHei"/>
                  <a:cs typeface="Consolas"/>
                </a:rPr>
                <a:t xml:space="preserve">               处理空格 {sum := sum+1;  pointer := pointer+1}</a:t>
              </a:r>
              <a:br/>
              <a:r>
                <a:rPr lang="zh-CN" sz="1120" dirty="0">
                  <a:solidFill>
                    <a:srgbClr val="1F2937"/>
                  </a:solidFill>
                  <a:latin typeface="Consolas"/>
                  <a:ea typeface="Microsoft YaHei"/>
                  <a:cs typeface="Consolas"/>
                </a:rPr>
                <a:t xml:space="preserve">            分析字符  or  字符不是空格</a:t>
              </a:r>
              <a:br/>
              <a:r>
                <a:rPr lang="zh-CN" sz="1120" dirty="0">
                  <a:solidFill>
                    <a:srgbClr val="1F2937"/>
                  </a:solidFill>
                  <a:latin typeface="Consolas"/>
                  <a:ea typeface="Microsoft YaHei"/>
                  <a:cs typeface="Consolas"/>
                </a:rPr>
                <a:t xml:space="preserve">               处理非空格 {pointer := pointer+1}</a:t>
              </a:r>
              <a:br/>
              <a:r>
                <a:rPr lang="zh-CN" sz="1120" dirty="0">
                  <a:solidFill>
                    <a:srgbClr val="1F2937"/>
                  </a:solidFill>
                  <a:latin typeface="Consolas"/>
                  <a:ea typeface="Microsoft YaHei"/>
                  <a:cs typeface="Consolas"/>
                </a:rPr>
                <a:t xml:space="preserve">            end  分析字符</a:t>
              </a:r>
              <a:br/>
              <a:r>
                <a:rPr lang="zh-CN" sz="1120" dirty="0">
                  <a:solidFill>
                    <a:srgbClr val="1F2937"/>
                  </a:solidFill>
                  <a:latin typeface="Consolas"/>
                  <a:ea typeface="Microsoft YaHei"/>
                  <a:cs typeface="Consolas"/>
                </a:rPr>
                <a:t xml:space="preserve">         end  分析字符串</a:t>
              </a:r>
              <a:br/>
              <a:r>
                <a:rPr lang="zh-CN" sz="1120" dirty="0">
                  <a:solidFill>
                    <a:srgbClr val="1F2937"/>
                  </a:solidFill>
                  <a:latin typeface="Consolas"/>
                  <a:ea typeface="Microsoft YaHei"/>
                  <a:cs typeface="Consolas"/>
                </a:rPr>
                <a:t xml:space="preserve">         印空格数 {印出空格数目}</a:t>
              </a:r>
              <a:br/>
              <a:r>
                <a:rPr lang="en-US" sz="1120" dirty="0">
                  <a:solidFill>
                    <a:srgbClr val="1F2937"/>
                  </a:solidFill>
                  <a:latin typeface="Consolas"/>
                  <a:ea typeface="Consolas"/>
                  <a:cs typeface="Consolas"/>
                </a:rPr>
                <a:t xml:space="preserve">         totalsum := totalsum + sum</a:t>
              </a:r>
              <a:br/>
              <a:r>
                <a:rPr lang="zh-CN" sz="1120" dirty="0">
                  <a:solidFill>
                    <a:srgbClr val="1F2937"/>
                  </a:solidFill>
                  <a:latin typeface="Consolas"/>
                  <a:ea typeface="Microsoft YaHei"/>
                  <a:cs typeface="Consolas"/>
                </a:rPr>
                <a:t xml:space="preserve">         读入字符串</a:t>
              </a:r>
              <a:br/>
              <a:r>
                <a:rPr lang="zh-CN" sz="1120" dirty="0">
                  <a:solidFill>
                    <a:srgbClr val="1F2937"/>
                  </a:solidFill>
                  <a:latin typeface="Consolas"/>
                  <a:ea typeface="Microsoft YaHei"/>
                  <a:cs typeface="Consolas"/>
                </a:rPr>
                <a:t xml:space="preserve">      end  处理字符串</a:t>
              </a:r>
              <a:br/>
              <a:r>
                <a:rPr lang="zh-CN" sz="1120" dirty="0">
                  <a:solidFill>
                    <a:srgbClr val="1F2937"/>
                  </a:solidFill>
                  <a:latin typeface="Consolas"/>
                  <a:ea typeface="Microsoft YaHei"/>
                  <a:cs typeface="Consolas"/>
                </a:rPr>
                <a:t xml:space="preserve">   end  程序体</a:t>
              </a:r>
              <a:br/>
              <a:r>
                <a:rPr lang="zh-CN" sz="1120" dirty="0">
                  <a:solidFill>
                    <a:srgbClr val="1F2937"/>
                  </a:solidFill>
                  <a:latin typeface="Consolas"/>
                  <a:ea typeface="Microsoft YaHei"/>
                  <a:cs typeface="Consolas"/>
                </a:rPr>
                <a:t xml:space="preserve">   印总数 {印出空格总数}</a:t>
              </a:r>
              <a:br/>
              <a:r>
                <a:rPr lang="zh-CN" sz="1120" dirty="0">
                  <a:solidFill>
                    <a:srgbClr val="1F2937"/>
                  </a:solidFill>
                  <a:latin typeface="Consolas"/>
                  <a:ea typeface="Microsoft YaHei"/>
                  <a:cs typeface="Consolas"/>
                </a:rPr>
                <a:t xml:space="preserve">   关闭文件;  停止</a:t>
              </a:r>
              <a:br/>
              <a:r>
                <a:rPr lang="zh-CN" sz="1120" dirty="0">
                  <a:solidFill>
                    <a:srgbClr val="1F2937"/>
                  </a:solidFill>
                  <a:latin typeface="Consolas"/>
                  <a:ea typeface="Microsoft YaHei"/>
                  <a:cs typeface="Consolas"/>
                </a:rPr>
                <a:t>end  统计空格</a:t>
              </a:r>
            </a:p>
          </p:txBody>
        </p:sp>
      </p:grpSp>
      <p:grpSp>
        <p:nvGrpSpPr>
          <p:cNvPr id="22" name="c2-card-1"/>
          <p:cNvGrpSpPr/>
          <p:nvPr/>
        </p:nvGrpSpPr>
        <p:grpSpPr>
          <a:xfrm>
            <a:off x="7546658" y="1524000"/>
            <a:ext cx="4111942" cy="2322195"/>
            <a:chOff x="7546658" y="1524000"/>
            <a:chExt cx="4111942" cy="2322195"/>
          </a:xfrm>
        </p:grpSpPr>
        <p:sp>
          <p:nvSpPr>
            <p:cNvPr id="11" name="Rectangle 11"/>
            <p:cNvSpPr/>
            <p:nvPr/>
          </p:nvSpPr>
          <p:spPr>
            <a:xfrm>
              <a:off x="7546658" y="1524000"/>
              <a:ext cx="4111942" cy="2322195"/>
            </a:xfrm>
            <a:prstGeom prst="roundRect">
              <a:avLst>
                <a:gd name="adj" fmla="val 5742"/>
              </a:avLst>
            </a:prstGeom>
            <a:solidFill>
              <a:srgbClr val="334E68"/>
            </a:solidFill>
            <a:ln>
              <a:noFill/>
            </a:ln>
          </p:spPr>
        </p:sp>
        <p:sp>
          <p:nvSpPr>
            <p:cNvPr id="12" name="Rectangle 12"/>
            <p:cNvSpPr/>
            <p:nvPr/>
          </p:nvSpPr>
          <p:spPr>
            <a:xfrm>
              <a:off x="7756208" y="1733550"/>
              <a:ext cx="1774508" cy="257175"/>
            </a:xfrm>
            <a:prstGeom prst="roundRect">
              <a:avLst>
                <a:gd name="adj" fmla="val 50000"/>
              </a:avLst>
            </a:prstGeom>
            <a:solidFill>
              <a:srgbClr val="243B53"/>
            </a:solidFill>
            <a:ln>
              <a:noFill/>
            </a:ln>
          </p:spPr>
        </p:sp>
        <p:sp>
          <p:nvSpPr>
            <p:cNvPr id="13" name="TextBox 13"/>
            <p:cNvSpPr txBox="1"/>
            <p:nvPr/>
          </p:nvSpPr>
          <p:spPr>
            <a:xfrm>
              <a:off x="7808963" y="1769269"/>
              <a:ext cx="166994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伪码和程序结构图的对应</a:t>
              </a:r>
            </a:p>
          </p:txBody>
        </p:sp>
        <p:sp>
          <p:nvSpPr>
            <p:cNvPr id="14" name="Ellipse 14"/>
            <p:cNvSpPr/>
            <p:nvPr/>
          </p:nvSpPr>
          <p:spPr>
            <a:xfrm>
              <a:off x="7761922" y="2173605"/>
              <a:ext cx="64770" cy="64770"/>
            </a:xfrm>
            <a:prstGeom prst="ellipse">
              <a:avLst/>
            </a:prstGeom>
            <a:solidFill>
              <a:srgbClr val="FFFFFF"/>
            </a:solidFill>
            <a:ln>
              <a:noFill/>
            </a:ln>
          </p:spPr>
        </p:sp>
        <p:sp>
          <p:nvSpPr>
            <p:cNvPr id="15" name="TextBox 15"/>
            <p:cNvSpPr txBox="1"/>
            <p:nvPr/>
          </p:nvSpPr>
          <p:spPr>
            <a:xfrm>
              <a:off x="7920038" y="2110740"/>
              <a:ext cx="1984057"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 xml:space="preserve">顺序框写成 </a:t>
              </a:r>
              <a:r>
                <a:rPr lang="en-US" sz="1500" dirty="0">
                  <a:solidFill>
                    <a:srgbClr val="E7EDF3"/>
                  </a:solidFill>
                  <a:latin typeface="+mn-lt"/>
                  <a:ea typeface="+mn-ea"/>
                  <a:cs typeface="+mn-cs"/>
                </a:rPr>
                <a:t>seq … end</a:t>
              </a:r>
            </a:p>
          </p:txBody>
        </p:sp>
        <p:sp>
          <p:nvSpPr>
            <p:cNvPr id="16" name="Ellipse 16"/>
            <p:cNvSpPr/>
            <p:nvPr/>
          </p:nvSpPr>
          <p:spPr>
            <a:xfrm>
              <a:off x="7761922" y="2508885"/>
              <a:ext cx="64770" cy="64770"/>
            </a:xfrm>
            <a:prstGeom prst="ellipse">
              <a:avLst/>
            </a:prstGeom>
            <a:solidFill>
              <a:srgbClr val="FFFFFF"/>
            </a:solidFill>
            <a:ln>
              <a:noFill/>
            </a:ln>
          </p:spPr>
        </p:sp>
        <p:sp>
          <p:nvSpPr>
            <p:cNvPr id="17" name="TextBox 17"/>
            <p:cNvSpPr txBox="1"/>
            <p:nvPr/>
          </p:nvSpPr>
          <p:spPr>
            <a:xfrm>
              <a:off x="7920038" y="2446020"/>
              <a:ext cx="3023997"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 xml:space="preserve">重复框写成 </a:t>
              </a:r>
              <a:r>
                <a:rPr lang="zh-CN" sz="1500" dirty="0">
                  <a:solidFill>
                    <a:srgbClr val="E7EDF3"/>
                  </a:solidFill>
                  <a:latin typeface="+mn-lt"/>
                  <a:ea typeface="+mn-ea"/>
                  <a:cs typeface="+mn-cs"/>
                </a:rPr>
                <a:t>iter until 条件 … end</a:t>
              </a:r>
            </a:p>
          </p:txBody>
        </p:sp>
        <p:sp>
          <p:nvSpPr>
            <p:cNvPr id="18" name="Ellipse 18"/>
            <p:cNvSpPr/>
            <p:nvPr/>
          </p:nvSpPr>
          <p:spPr>
            <a:xfrm>
              <a:off x="7761922" y="2844165"/>
              <a:ext cx="64770" cy="64770"/>
            </a:xfrm>
            <a:prstGeom prst="ellipse">
              <a:avLst/>
            </a:prstGeom>
            <a:solidFill>
              <a:srgbClr val="FFFFFF"/>
            </a:solidFill>
            <a:ln>
              <a:noFill/>
            </a:ln>
          </p:spPr>
        </p:sp>
        <p:sp>
          <p:nvSpPr>
            <p:cNvPr id="19" name="TextBox 19"/>
            <p:cNvSpPr txBox="1"/>
            <p:nvPr/>
          </p:nvSpPr>
          <p:spPr>
            <a:xfrm>
              <a:off x="7920038" y="2781300"/>
              <a:ext cx="307276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 xml:space="preserve">选择框写成 </a:t>
              </a:r>
              <a:r>
                <a:rPr lang="zh-CN" sz="1500" dirty="0">
                  <a:solidFill>
                    <a:srgbClr val="E7EDF3"/>
                  </a:solidFill>
                  <a:latin typeface="+mn-lt"/>
                  <a:ea typeface="+mn-ea"/>
                  <a:cs typeface="+mn-cs"/>
                </a:rPr>
                <a:t>select 条件 … or 条件 …</a:t>
              </a:r>
              <a:br/>
              <a:r>
                <a:rPr lang="en-US" sz="1500" dirty="0">
                  <a:solidFill>
                    <a:srgbClr val="E7EDF3"/>
                  </a:solidFill>
                  <a:latin typeface="+mn-lt"/>
                  <a:ea typeface="+mn-ea"/>
                  <a:cs typeface="+mn-cs"/>
                </a:rPr>
                <a:t>end</a:t>
              </a:r>
            </a:p>
          </p:txBody>
        </p:sp>
        <p:sp>
          <p:nvSpPr>
            <p:cNvPr id="20" name="Ellipse 20"/>
            <p:cNvSpPr/>
            <p:nvPr/>
          </p:nvSpPr>
          <p:spPr>
            <a:xfrm>
              <a:off x="7761922" y="3465195"/>
              <a:ext cx="64770" cy="64770"/>
            </a:xfrm>
            <a:prstGeom prst="ellipse">
              <a:avLst/>
            </a:prstGeom>
            <a:solidFill>
              <a:srgbClr val="FFFFFF"/>
            </a:solidFill>
            <a:ln>
              <a:noFill/>
            </a:ln>
          </p:spPr>
        </p:sp>
        <p:sp>
          <p:nvSpPr>
            <p:cNvPr id="21" name="TextBox 21"/>
            <p:cNvSpPr txBox="1"/>
            <p:nvPr/>
          </p:nvSpPr>
          <p:spPr>
            <a:xfrm>
              <a:off x="7920038" y="3402330"/>
              <a:ext cx="324612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花括号里是分配给这个框的具体操作</a:t>
              </a:r>
            </a:p>
          </p:txBody>
        </p:sp>
      </p:grpSp>
      <p:grpSp>
        <p:nvGrpSpPr>
          <p:cNvPr id="29" name="c2-callout-2"/>
          <p:cNvGrpSpPr/>
          <p:nvPr/>
        </p:nvGrpSpPr>
        <p:grpSpPr>
          <a:xfrm>
            <a:off x="7546658" y="4036695"/>
            <a:ext cx="4111942" cy="2249805"/>
            <a:chOff x="7546658" y="4036695"/>
            <a:chExt cx="4111942" cy="2249805"/>
          </a:xfrm>
        </p:grpSpPr>
        <p:sp>
          <p:nvSpPr>
            <p:cNvPr id="23" name="Rectangle 23"/>
            <p:cNvSpPr/>
            <p:nvPr/>
          </p:nvSpPr>
          <p:spPr>
            <a:xfrm>
              <a:off x="7546658" y="4036695"/>
              <a:ext cx="4111942" cy="2249805"/>
            </a:xfrm>
            <a:prstGeom prst="roundRect">
              <a:avLst>
                <a:gd name="adj" fmla="val 5080"/>
              </a:avLst>
            </a:prstGeom>
            <a:solidFill>
              <a:srgbClr val="FDEEE7"/>
            </a:solidFill>
            <a:ln>
              <a:noFill/>
            </a:ln>
          </p:spPr>
        </p:sp>
        <p:grpSp>
          <p:nvGrpSpPr>
            <p:cNvPr id="27" name="Group 27"/>
            <p:cNvGrpSpPr/>
            <p:nvPr/>
          </p:nvGrpSpPr>
          <p:grpSpPr>
            <a:xfrm>
              <a:off x="7751445" y="5061585"/>
              <a:ext cx="200026" cy="200025"/>
              <a:chOff x="7751445" y="5061585"/>
              <a:chExt cx="200026" cy="200025"/>
            </a:xfrm>
          </p:grpSpPr>
          <p:sp>
            <p:nvSpPr>
              <p:cNvPr id="24" name="Freeform 24"/>
              <p:cNvSpPr/>
              <p:nvPr/>
            </p:nvSpPr>
            <p:spPr>
              <a:xfrm>
                <a:off x="7751445" y="506158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25" name="Freeform 25"/>
              <p:cNvSpPr/>
              <p:nvPr/>
            </p:nvSpPr>
            <p:spPr>
              <a:xfrm>
                <a:off x="7791184" y="510603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26" name="Freeform 26"/>
              <p:cNvSpPr/>
              <p:nvPr/>
            </p:nvSpPr>
            <p:spPr>
              <a:xfrm>
                <a:off x="7825899" y="521716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28" name="TextBox 28"/>
            <p:cNvSpPr txBox="1"/>
            <p:nvPr/>
          </p:nvSpPr>
          <p:spPr>
            <a:xfrm>
              <a:off x="8053388" y="4642485"/>
              <a:ext cx="3272790" cy="1122045"/>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读入字符串出现两次：一次在循环前</a:t>
              </a:r>
              <a:br/>
              <a:r>
                <a:rPr lang="zh-CN" sz="1500" dirty="0">
                  <a:solidFill>
                    <a:srgbClr val="C2410C"/>
                  </a:solidFill>
                  <a:latin typeface="+mn-lt"/>
                  <a:ea typeface="+mn-ea"/>
                  <a:cs typeface="+mn-cs"/>
                </a:rPr>
                <a:t>（读第一个），一次在循环体末尾（读</a:t>
              </a:r>
              <a:br/>
              <a:r>
                <a:rPr lang="zh-CN" sz="1500" dirty="0">
                  <a:solidFill>
                    <a:srgbClr val="C2410C"/>
                  </a:solidFill>
                  <a:latin typeface="+mn-lt"/>
                  <a:ea typeface="+mn-ea"/>
                  <a:cs typeface="+mn-cs"/>
                </a:rPr>
                <a:t>下一个），这是 iter until 型循环的常</a:t>
              </a:r>
              <a:br/>
              <a:r>
                <a:rPr lang="zh-CN" sz="1500" dirty="0">
                  <a:solidFill>
                    <a:srgbClr val="C2410C"/>
                  </a:solidFill>
                  <a:latin typeface="+mn-lt"/>
                  <a:ea typeface="+mn-ea"/>
                  <a:cs typeface="+mn-cs"/>
                </a:rPr>
                <a:t>见写法。</a:t>
              </a:r>
            </a:p>
          </p:txBody>
        </p:sp>
      </p:grpSp>
      <p:grpSp>
        <p:nvGrpSpPr>
          <p:cNvPr id="32" name="footer"/>
          <p:cNvGrpSpPr/>
          <p:nvPr/>
        </p:nvGrpSpPr>
        <p:grpSpPr>
          <a:xfrm>
            <a:off x="528447" y="6581299"/>
            <a:ext cx="11135106" cy="190690"/>
            <a:chOff x="528447" y="6581299"/>
            <a:chExt cx="11135106" cy="190690"/>
          </a:xfrm>
        </p:grpSpPr>
        <p:sp>
          <p:nvSpPr>
            <p:cNvPr id="30" name="TextBox 30"/>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31" name="TextBox 3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40</a:t>
              </a:r>
            </a:p>
          </p:txBody>
        </p:sp>
      </p:grpSp>
    </p:spTree>
  </p:cSld>
  <p:clrMapOvr>
    <a:masterClrMapping/>
  </p:clrMapOvr>
  <p:transition xmlns:p14="http://schemas.microsoft.com/office/powerpoint/2010/main" p14:dur="400">
    <p:fade/>
  </p:transition>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面向数据结构的设计方法</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实例二：信用卡购货的两种帐册</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542" y="1545907"/>
            <a:ext cx="10643616" cy="512636"/>
            <a:chOff x="526542" y="1545907"/>
            <a:chExt cx="10643616" cy="512636"/>
          </a:xfrm>
        </p:grpSpPr>
        <p:sp>
          <p:nvSpPr>
            <p:cNvPr id="7" name="TextBox 7"/>
            <p:cNvSpPr txBox="1"/>
            <p:nvPr/>
          </p:nvSpPr>
          <p:spPr>
            <a:xfrm>
              <a:off x="526542" y="1545907"/>
              <a:ext cx="1064361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5B6475"/>
                  </a:solidFill>
                  <a:latin typeface="+mn-lt"/>
                  <a:ea typeface="+mn-ea"/>
                  <a:cs typeface="+mn-cs"/>
                </a:rPr>
                <a:t>题目：商店开展「信用卡购货」业务，建立顾客总帐和付款帐两种帐册。付款帐记录每个顾客本季度每次付款的日期和金额；顾客总帐登记顾</a:t>
              </a:r>
              <a:br/>
              <a:r>
                <a:rPr lang="zh-CN" sz="1350" dirty="0">
                  <a:solidFill>
                    <a:srgbClr val="5B6475"/>
                  </a:solidFill>
                  <a:latin typeface="+mn-lt"/>
                  <a:ea typeface="+mn-ea"/>
                  <a:cs typeface="+mn-cs"/>
                </a:rPr>
                <a:t>客扣除本季度购货款后的余额，正值表示有积余，负值表示积欠。</a:t>
              </a:r>
            </a:p>
          </p:txBody>
        </p:sp>
      </p:grpSp>
      <p:grpSp>
        <p:nvGrpSpPr>
          <p:cNvPr id="32" name="c1-table-1"/>
          <p:cNvGrpSpPr/>
          <p:nvPr/>
        </p:nvGrpSpPr>
        <p:grpSpPr>
          <a:xfrm>
            <a:off x="528447" y="2177415"/>
            <a:ext cx="4982718" cy="2263806"/>
            <a:chOff x="528447" y="2177415"/>
            <a:chExt cx="4982718" cy="2263806"/>
          </a:xfrm>
        </p:grpSpPr>
        <p:sp>
          <p:nvSpPr>
            <p:cNvPr id="9" name="Rectangle 9"/>
            <p:cNvSpPr/>
            <p:nvPr/>
          </p:nvSpPr>
          <p:spPr>
            <a:xfrm>
              <a:off x="533400" y="2177415"/>
              <a:ext cx="4977765" cy="400050"/>
            </a:xfrm>
            <a:prstGeom prst="rect">
              <a:avLst/>
            </a:prstGeom>
            <a:solidFill>
              <a:srgbClr val="334E68"/>
            </a:solidFill>
            <a:ln>
              <a:noFill/>
            </a:ln>
          </p:spPr>
        </p:sp>
        <p:sp>
          <p:nvSpPr>
            <p:cNvPr id="10" name="TextBox 10"/>
            <p:cNvSpPr txBox="1"/>
            <p:nvPr/>
          </p:nvSpPr>
          <p:spPr>
            <a:xfrm>
              <a:off x="775158" y="2298859"/>
              <a:ext cx="1208124"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PAY-FILE 付款帐</a:t>
              </a:r>
            </a:p>
          </p:txBody>
        </p:sp>
        <p:sp>
          <p:nvSpPr>
            <p:cNvPr id="11" name="TextBox 11"/>
            <p:cNvSpPr txBox="1"/>
            <p:nvPr/>
          </p:nvSpPr>
          <p:spPr>
            <a:xfrm>
              <a:off x="1226144" y="2698909"/>
              <a:ext cx="306151"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CNO</a:t>
              </a:r>
            </a:p>
          </p:txBody>
        </p:sp>
        <p:sp>
          <p:nvSpPr>
            <p:cNvPr id="12" name="TextBox 12"/>
            <p:cNvSpPr txBox="1"/>
            <p:nvPr/>
          </p:nvSpPr>
          <p:spPr>
            <a:xfrm>
              <a:off x="2866093" y="2698909"/>
              <a:ext cx="361909"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DATE</a:t>
              </a:r>
            </a:p>
          </p:txBody>
        </p:sp>
        <p:sp>
          <p:nvSpPr>
            <p:cNvPr id="13" name="TextBox 13"/>
            <p:cNvSpPr txBox="1"/>
            <p:nvPr/>
          </p:nvSpPr>
          <p:spPr>
            <a:xfrm>
              <a:off x="4536082" y="2698909"/>
              <a:ext cx="306151"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PMT</a:t>
              </a:r>
            </a:p>
          </p:txBody>
        </p:sp>
        <p:sp>
          <p:nvSpPr>
            <p:cNvPr id="14" name="Rectangle 14"/>
            <p:cNvSpPr/>
            <p:nvPr/>
          </p:nvSpPr>
          <p:spPr>
            <a:xfrm>
              <a:off x="533400" y="2972752"/>
              <a:ext cx="4977765" cy="9525"/>
            </a:xfrm>
            <a:prstGeom prst="rect">
              <a:avLst/>
            </a:prstGeom>
            <a:solidFill>
              <a:srgbClr val="D9DFEA"/>
            </a:solidFill>
            <a:ln>
              <a:noFill/>
            </a:ln>
          </p:spPr>
        </p:sp>
        <p:sp>
          <p:nvSpPr>
            <p:cNvPr id="15" name="Rectangle 15"/>
            <p:cNvSpPr/>
            <p:nvPr/>
          </p:nvSpPr>
          <p:spPr>
            <a:xfrm>
              <a:off x="533400" y="2977515"/>
              <a:ext cx="4977765" cy="400050"/>
            </a:xfrm>
            <a:prstGeom prst="rect">
              <a:avLst/>
            </a:prstGeom>
            <a:solidFill>
              <a:srgbClr val="F4F6FB"/>
            </a:solidFill>
            <a:ln>
              <a:noFill/>
            </a:ln>
          </p:spPr>
        </p:sp>
        <p:sp>
          <p:nvSpPr>
            <p:cNvPr id="16" name="TextBox 16"/>
            <p:cNvSpPr txBox="1"/>
            <p:nvPr/>
          </p:nvSpPr>
          <p:spPr>
            <a:xfrm>
              <a:off x="1242075" y="3098959"/>
              <a:ext cx="27429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XXX</a:t>
              </a:r>
            </a:p>
          </p:txBody>
        </p:sp>
        <p:sp>
          <p:nvSpPr>
            <p:cNvPr id="17" name="TextBox 17"/>
            <p:cNvSpPr txBox="1"/>
            <p:nvPr/>
          </p:nvSpPr>
          <p:spPr>
            <a:xfrm>
              <a:off x="2999870" y="3098959"/>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8" name="TextBox 18"/>
            <p:cNvSpPr txBox="1"/>
            <p:nvPr/>
          </p:nvSpPr>
          <p:spPr>
            <a:xfrm>
              <a:off x="4641980" y="3098959"/>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19" name="Rectangle 19"/>
            <p:cNvSpPr/>
            <p:nvPr/>
          </p:nvSpPr>
          <p:spPr>
            <a:xfrm>
              <a:off x="533400" y="3372802"/>
              <a:ext cx="4977765" cy="9525"/>
            </a:xfrm>
            <a:prstGeom prst="rect">
              <a:avLst/>
            </a:prstGeom>
            <a:solidFill>
              <a:srgbClr val="D9DFEA"/>
            </a:solidFill>
            <a:ln>
              <a:noFill/>
            </a:ln>
          </p:spPr>
        </p:sp>
        <p:sp>
          <p:nvSpPr>
            <p:cNvPr id="20" name="TextBox 20"/>
            <p:cNvSpPr txBox="1"/>
            <p:nvPr/>
          </p:nvSpPr>
          <p:spPr>
            <a:xfrm>
              <a:off x="1242075" y="3499009"/>
              <a:ext cx="27429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XXX</a:t>
              </a:r>
            </a:p>
          </p:txBody>
        </p:sp>
        <p:sp>
          <p:nvSpPr>
            <p:cNvPr id="21" name="TextBox 21"/>
            <p:cNvSpPr txBox="1"/>
            <p:nvPr/>
          </p:nvSpPr>
          <p:spPr>
            <a:xfrm>
              <a:off x="2999870" y="3499009"/>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22" name="TextBox 22"/>
            <p:cNvSpPr txBox="1"/>
            <p:nvPr/>
          </p:nvSpPr>
          <p:spPr>
            <a:xfrm>
              <a:off x="4641980" y="3499009"/>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23" name="Rectangle 23"/>
            <p:cNvSpPr/>
            <p:nvPr/>
          </p:nvSpPr>
          <p:spPr>
            <a:xfrm>
              <a:off x="533400" y="3772852"/>
              <a:ext cx="4977765" cy="9525"/>
            </a:xfrm>
            <a:prstGeom prst="rect">
              <a:avLst/>
            </a:prstGeom>
            <a:solidFill>
              <a:srgbClr val="D9DFEA"/>
            </a:solidFill>
            <a:ln>
              <a:noFill/>
            </a:ln>
          </p:spPr>
        </p:sp>
        <p:sp>
          <p:nvSpPr>
            <p:cNvPr id="24" name="Rectangle 24"/>
            <p:cNvSpPr/>
            <p:nvPr/>
          </p:nvSpPr>
          <p:spPr>
            <a:xfrm>
              <a:off x="533400" y="3777615"/>
              <a:ext cx="4977765" cy="400050"/>
            </a:xfrm>
            <a:prstGeom prst="rect">
              <a:avLst/>
            </a:prstGeom>
            <a:solidFill>
              <a:srgbClr val="F4F6FB"/>
            </a:solidFill>
            <a:ln>
              <a:noFill/>
            </a:ln>
          </p:spPr>
        </p:sp>
        <p:sp>
          <p:nvSpPr>
            <p:cNvPr id="25" name="TextBox 25"/>
            <p:cNvSpPr txBox="1"/>
            <p:nvPr/>
          </p:nvSpPr>
          <p:spPr>
            <a:xfrm>
              <a:off x="1242075" y="3899059"/>
              <a:ext cx="27429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YYY</a:t>
              </a:r>
            </a:p>
          </p:txBody>
        </p:sp>
        <p:sp>
          <p:nvSpPr>
            <p:cNvPr id="26" name="TextBox 26"/>
            <p:cNvSpPr txBox="1"/>
            <p:nvPr/>
          </p:nvSpPr>
          <p:spPr>
            <a:xfrm>
              <a:off x="2999870" y="3899059"/>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27" name="TextBox 27"/>
            <p:cNvSpPr txBox="1"/>
            <p:nvPr/>
          </p:nvSpPr>
          <p:spPr>
            <a:xfrm>
              <a:off x="4641980" y="3899059"/>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28" name="Rectangle 28"/>
            <p:cNvSpPr/>
            <p:nvPr/>
          </p:nvSpPr>
          <p:spPr>
            <a:xfrm>
              <a:off x="533400" y="2177415"/>
              <a:ext cx="4977765" cy="2000250"/>
            </a:xfrm>
            <a:prstGeom prst="rect">
              <a:avLst/>
            </a:prstGeom>
            <a:noFill/>
            <a:ln w="14288">
              <a:solidFill>
                <a:srgbClr val="D9DFEA"/>
              </a:solidFill>
            </a:ln>
          </p:spPr>
        </p:sp>
        <p:sp>
          <p:nvSpPr>
            <p:cNvPr id="29" name="Rectangle 29"/>
            <p:cNvSpPr/>
            <p:nvPr/>
          </p:nvSpPr>
          <p:spPr>
            <a:xfrm>
              <a:off x="2221230" y="2177415"/>
              <a:ext cx="9525" cy="2000250"/>
            </a:xfrm>
            <a:prstGeom prst="rect">
              <a:avLst/>
            </a:prstGeom>
            <a:solidFill>
              <a:srgbClr val="D9DFEA"/>
            </a:solidFill>
            <a:ln>
              <a:noFill/>
            </a:ln>
          </p:spPr>
        </p:sp>
        <p:sp>
          <p:nvSpPr>
            <p:cNvPr id="30" name="Rectangle 30"/>
            <p:cNvSpPr/>
            <p:nvPr/>
          </p:nvSpPr>
          <p:spPr>
            <a:xfrm>
              <a:off x="3863340" y="2177415"/>
              <a:ext cx="9525" cy="2000250"/>
            </a:xfrm>
            <a:prstGeom prst="rect">
              <a:avLst/>
            </a:prstGeom>
            <a:solidFill>
              <a:srgbClr val="D9DFEA"/>
            </a:solidFill>
            <a:ln>
              <a:noFill/>
            </a:ln>
          </p:spPr>
        </p:sp>
        <p:sp>
          <p:nvSpPr>
            <p:cNvPr id="31" name="TextBox 31"/>
            <p:cNvSpPr txBox="1"/>
            <p:nvPr/>
          </p:nvSpPr>
          <p:spPr>
            <a:xfrm>
              <a:off x="528447" y="4250531"/>
              <a:ext cx="3822489"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同一个顾客号 CNO 的若干条记录连在一起，构成一个 CNO group</a:t>
              </a:r>
            </a:p>
          </p:txBody>
        </p:sp>
      </p:grpSp>
      <p:grpSp>
        <p:nvGrpSpPr>
          <p:cNvPr id="46" name="c1-table-2"/>
          <p:cNvGrpSpPr/>
          <p:nvPr/>
        </p:nvGrpSpPr>
        <p:grpSpPr>
          <a:xfrm>
            <a:off x="533400" y="4572952"/>
            <a:ext cx="4977765" cy="1600200"/>
            <a:chOff x="533400" y="4572952"/>
            <a:chExt cx="4977765" cy="1600200"/>
          </a:xfrm>
        </p:grpSpPr>
        <p:sp>
          <p:nvSpPr>
            <p:cNvPr id="33" name="Rectangle 33"/>
            <p:cNvSpPr/>
            <p:nvPr/>
          </p:nvSpPr>
          <p:spPr>
            <a:xfrm>
              <a:off x="533400" y="4572952"/>
              <a:ext cx="4977765" cy="400050"/>
            </a:xfrm>
            <a:prstGeom prst="rect">
              <a:avLst/>
            </a:prstGeom>
            <a:solidFill>
              <a:srgbClr val="334E68"/>
            </a:solidFill>
            <a:ln>
              <a:noFill/>
            </a:ln>
          </p:spPr>
        </p:sp>
        <p:sp>
          <p:nvSpPr>
            <p:cNvPr id="34" name="TextBox 34"/>
            <p:cNvSpPr txBox="1"/>
            <p:nvPr/>
          </p:nvSpPr>
          <p:spPr>
            <a:xfrm>
              <a:off x="1198281" y="4694396"/>
              <a:ext cx="115816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C-M-F 顾客总帐</a:t>
              </a:r>
            </a:p>
          </p:txBody>
        </p:sp>
        <p:sp>
          <p:nvSpPr>
            <p:cNvPr id="35" name="TextBox 35"/>
            <p:cNvSpPr txBox="1"/>
            <p:nvPr/>
          </p:nvSpPr>
          <p:spPr>
            <a:xfrm>
              <a:off x="1624289" y="5094446"/>
              <a:ext cx="306151"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CNO</a:t>
              </a:r>
            </a:p>
          </p:txBody>
        </p:sp>
        <p:sp>
          <p:nvSpPr>
            <p:cNvPr id="36" name="TextBox 36"/>
            <p:cNvSpPr txBox="1"/>
            <p:nvPr/>
          </p:nvSpPr>
          <p:spPr>
            <a:xfrm>
              <a:off x="3953863" y="5094446"/>
              <a:ext cx="624769"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BALANCE</a:t>
              </a:r>
            </a:p>
          </p:txBody>
        </p:sp>
        <p:sp>
          <p:nvSpPr>
            <p:cNvPr id="37" name="Rectangle 37"/>
            <p:cNvSpPr/>
            <p:nvPr/>
          </p:nvSpPr>
          <p:spPr>
            <a:xfrm>
              <a:off x="533400" y="5368290"/>
              <a:ext cx="4977765" cy="9525"/>
            </a:xfrm>
            <a:prstGeom prst="rect">
              <a:avLst/>
            </a:prstGeom>
            <a:solidFill>
              <a:srgbClr val="D9DFEA"/>
            </a:solidFill>
            <a:ln>
              <a:noFill/>
            </a:ln>
          </p:spPr>
        </p:sp>
        <p:sp>
          <p:nvSpPr>
            <p:cNvPr id="38" name="Rectangle 38"/>
            <p:cNvSpPr/>
            <p:nvPr/>
          </p:nvSpPr>
          <p:spPr>
            <a:xfrm>
              <a:off x="533400" y="5373052"/>
              <a:ext cx="4977765" cy="400050"/>
            </a:xfrm>
            <a:prstGeom prst="rect">
              <a:avLst/>
            </a:prstGeom>
            <a:solidFill>
              <a:srgbClr val="F4F6FB"/>
            </a:solidFill>
            <a:ln>
              <a:noFill/>
            </a:ln>
          </p:spPr>
        </p:sp>
        <p:sp>
          <p:nvSpPr>
            <p:cNvPr id="39" name="TextBox 39"/>
            <p:cNvSpPr txBox="1"/>
            <p:nvPr/>
          </p:nvSpPr>
          <p:spPr>
            <a:xfrm>
              <a:off x="1640220" y="5494496"/>
              <a:ext cx="27429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XXX</a:t>
              </a:r>
            </a:p>
          </p:txBody>
        </p:sp>
        <p:sp>
          <p:nvSpPr>
            <p:cNvPr id="40" name="TextBox 40"/>
            <p:cNvSpPr txBox="1"/>
            <p:nvPr/>
          </p:nvSpPr>
          <p:spPr>
            <a:xfrm>
              <a:off x="4219070" y="549449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41" name="Rectangle 41"/>
            <p:cNvSpPr/>
            <p:nvPr/>
          </p:nvSpPr>
          <p:spPr>
            <a:xfrm>
              <a:off x="533400" y="5768340"/>
              <a:ext cx="4977765" cy="9525"/>
            </a:xfrm>
            <a:prstGeom prst="rect">
              <a:avLst/>
            </a:prstGeom>
            <a:solidFill>
              <a:srgbClr val="D9DFEA"/>
            </a:solidFill>
            <a:ln>
              <a:noFill/>
            </a:ln>
          </p:spPr>
        </p:sp>
        <p:sp>
          <p:nvSpPr>
            <p:cNvPr id="42" name="TextBox 42"/>
            <p:cNvSpPr txBox="1"/>
            <p:nvPr/>
          </p:nvSpPr>
          <p:spPr>
            <a:xfrm>
              <a:off x="1640220" y="5894546"/>
              <a:ext cx="27429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YYY</a:t>
              </a:r>
            </a:p>
          </p:txBody>
        </p:sp>
        <p:sp>
          <p:nvSpPr>
            <p:cNvPr id="43" name="TextBox 43"/>
            <p:cNvSpPr txBox="1"/>
            <p:nvPr/>
          </p:nvSpPr>
          <p:spPr>
            <a:xfrm>
              <a:off x="4219070" y="5894546"/>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a:t>
              </a:r>
            </a:p>
          </p:txBody>
        </p:sp>
        <p:sp>
          <p:nvSpPr>
            <p:cNvPr id="44" name="Rectangle 44"/>
            <p:cNvSpPr/>
            <p:nvPr/>
          </p:nvSpPr>
          <p:spPr>
            <a:xfrm>
              <a:off x="533400" y="4572952"/>
              <a:ext cx="4977765" cy="1600200"/>
            </a:xfrm>
            <a:prstGeom prst="rect">
              <a:avLst/>
            </a:prstGeom>
            <a:noFill/>
            <a:ln w="14288">
              <a:solidFill>
                <a:srgbClr val="D9DFEA"/>
              </a:solidFill>
            </a:ln>
          </p:spPr>
        </p:sp>
        <p:sp>
          <p:nvSpPr>
            <p:cNvPr id="45" name="Rectangle 45"/>
            <p:cNvSpPr/>
            <p:nvPr/>
          </p:nvSpPr>
          <p:spPr>
            <a:xfrm>
              <a:off x="3017520" y="4572952"/>
              <a:ext cx="9525" cy="1600200"/>
            </a:xfrm>
            <a:prstGeom prst="rect">
              <a:avLst/>
            </a:prstGeom>
            <a:solidFill>
              <a:srgbClr val="D9DFEA"/>
            </a:solidFill>
            <a:ln>
              <a:noFill/>
            </a:ln>
          </p:spPr>
        </p:sp>
      </p:grpSp>
      <p:grpSp>
        <p:nvGrpSpPr>
          <p:cNvPr id="48" name="c2-text-1"/>
          <p:cNvGrpSpPr/>
          <p:nvPr/>
        </p:nvGrpSpPr>
        <p:grpSpPr>
          <a:xfrm>
            <a:off x="5810250" y="2195989"/>
            <a:ext cx="1927815" cy="220028"/>
            <a:chOff x="5810250" y="2195989"/>
            <a:chExt cx="1927815" cy="220028"/>
          </a:xfrm>
        </p:grpSpPr>
        <p:sp>
          <p:nvSpPr>
            <p:cNvPr id="47" name="TextBox 47"/>
            <p:cNvSpPr txBox="1"/>
            <p:nvPr/>
          </p:nvSpPr>
          <p:spPr>
            <a:xfrm>
              <a:off x="5810250" y="2195989"/>
              <a:ext cx="1927815" cy="220028"/>
            </a:xfrm>
            <a:prstGeom prst="rect">
              <a:avLst/>
            </a:prstGeom>
            <a:noFill/>
            <a:ln>
              <a:noFill/>
            </a:ln>
          </p:spPr>
          <p:txBody>
            <a:bodyPr wrap="none" lIns="0" tIns="0" rIns="0" bIns="0" anchor="t" anchorCtr="0">
              <a:spAutoFit/>
            </a:bodyPr>
            <a:lstStyle/>
            <a:p>
              <a:pPr algn="l"/>
              <a:r>
                <a:rPr lang="zh-CN" sz="1120" b="1" dirty="0">
                  <a:solidFill>
                    <a:srgbClr val="334E68"/>
                  </a:solidFill>
                  <a:latin typeface="+mn-lt"/>
                  <a:ea typeface="+mn-ea"/>
                  <a:cs typeface="+mn-cs"/>
                </a:rPr>
                <a:t>两个输入文件的 Jackson 图</a:t>
              </a:r>
            </a:p>
          </p:txBody>
        </p:sp>
      </p:grpSp>
      <p:grpSp>
        <p:nvGrpSpPr>
          <p:cNvPr id="57" name="c2-tree-2"/>
          <p:cNvGrpSpPr/>
          <p:nvPr/>
        </p:nvGrpSpPr>
        <p:grpSpPr>
          <a:xfrm>
            <a:off x="8193405" y="2678430"/>
            <a:ext cx="1086802" cy="1653540"/>
            <a:chOff x="8193405" y="2678430"/>
            <a:chExt cx="1086802" cy="1653540"/>
          </a:xfrm>
        </p:grpSpPr>
        <p:sp>
          <p:nvSpPr>
            <p:cNvPr id="49" name="Freeform 49"/>
            <p:cNvSpPr/>
            <p:nvPr/>
          </p:nvSpPr>
          <p:spPr>
            <a:xfrm>
              <a:off x="8737282" y="3505200"/>
              <a:ext cx="9525" cy="642938"/>
            </a:xfrm>
            <a:custGeom>
              <a:avLst/>
              <a:gdLst/>
              <a:ahLst/>
              <a:cxnLst/>
              <a:rect l="l" t="t" r="r" b="b"/>
              <a:pathLst>
                <a:path w="9525" h="642938">
                  <a:moveTo>
                    <a:pt x="0" y="0"/>
                  </a:moveTo>
                  <a:lnTo>
                    <a:pt x="0" y="642938"/>
                  </a:lnTo>
                </a:path>
              </a:pathLst>
            </a:custGeom>
            <a:noFill/>
            <a:ln w="15240">
              <a:solidFill>
                <a:srgbClr val="5B6475"/>
              </a:solidFill>
            </a:ln>
          </p:spPr>
        </p:sp>
        <p:sp>
          <p:nvSpPr>
            <p:cNvPr id="50" name="Freeform 50"/>
            <p:cNvSpPr/>
            <p:nvPr/>
          </p:nvSpPr>
          <p:spPr>
            <a:xfrm>
              <a:off x="8737282" y="2863215"/>
              <a:ext cx="9525" cy="641985"/>
            </a:xfrm>
            <a:custGeom>
              <a:avLst/>
              <a:gdLst/>
              <a:ahLst/>
              <a:cxnLst/>
              <a:rect l="l" t="t" r="r" b="b"/>
              <a:pathLst>
                <a:path w="9525" h="641985">
                  <a:moveTo>
                    <a:pt x="0" y="0"/>
                  </a:moveTo>
                  <a:lnTo>
                    <a:pt x="0" y="641985"/>
                  </a:lnTo>
                </a:path>
              </a:pathLst>
            </a:custGeom>
            <a:noFill/>
            <a:ln w="15240">
              <a:solidFill>
                <a:srgbClr val="5B6475"/>
              </a:solidFill>
            </a:ln>
          </p:spPr>
        </p:sp>
        <p:sp>
          <p:nvSpPr>
            <p:cNvPr id="51" name="Rectangle 51"/>
            <p:cNvSpPr/>
            <p:nvPr/>
          </p:nvSpPr>
          <p:spPr>
            <a:xfrm>
              <a:off x="8368665" y="3963352"/>
              <a:ext cx="737235" cy="368618"/>
            </a:xfrm>
            <a:prstGeom prst="roundRect">
              <a:avLst>
                <a:gd name="adj" fmla="val 20672"/>
              </a:avLst>
            </a:prstGeom>
            <a:solidFill>
              <a:srgbClr val="FFFFFF"/>
            </a:solidFill>
            <a:ln w="17145">
              <a:solidFill>
                <a:srgbClr val="334E68"/>
              </a:solidFill>
            </a:ln>
          </p:spPr>
        </p:sp>
        <p:sp>
          <p:nvSpPr>
            <p:cNvPr id="52" name="Rectangle 52"/>
            <p:cNvSpPr/>
            <p:nvPr/>
          </p:nvSpPr>
          <p:spPr>
            <a:xfrm>
              <a:off x="8278178" y="3321368"/>
              <a:ext cx="917258" cy="368618"/>
            </a:xfrm>
            <a:prstGeom prst="roundRect">
              <a:avLst>
                <a:gd name="adj" fmla="val 20672"/>
              </a:avLst>
            </a:prstGeom>
            <a:solidFill>
              <a:srgbClr val="FFFFFF"/>
            </a:solidFill>
            <a:ln w="17145">
              <a:solidFill>
                <a:srgbClr val="334E68"/>
              </a:solidFill>
            </a:ln>
          </p:spPr>
        </p:sp>
        <p:sp>
          <p:nvSpPr>
            <p:cNvPr id="53" name="Rectangle 53"/>
            <p:cNvSpPr/>
            <p:nvPr/>
          </p:nvSpPr>
          <p:spPr>
            <a:xfrm>
              <a:off x="8193405" y="2678430"/>
              <a:ext cx="1086802" cy="368618"/>
            </a:xfrm>
            <a:prstGeom prst="roundRect">
              <a:avLst>
                <a:gd name="adj" fmla="val 20672"/>
              </a:avLst>
            </a:prstGeom>
            <a:solidFill>
              <a:srgbClr val="FFFFFF"/>
            </a:solidFill>
            <a:ln w="17145">
              <a:solidFill>
                <a:srgbClr val="334E68"/>
              </a:solidFill>
            </a:ln>
          </p:spPr>
        </p:sp>
        <p:sp>
          <p:nvSpPr>
            <p:cNvPr id="54" name="TextBox 54"/>
            <p:cNvSpPr txBox="1"/>
            <p:nvPr/>
          </p:nvSpPr>
          <p:spPr>
            <a:xfrm>
              <a:off x="8436803" y="4091940"/>
              <a:ext cx="600959" cy="176212"/>
            </a:xfrm>
            <a:prstGeom prst="rect">
              <a:avLst/>
            </a:prstGeom>
            <a:noFill/>
            <a:ln>
              <a:noFill/>
            </a:ln>
          </p:spPr>
          <p:txBody>
            <a:bodyPr wrap="none" lIns="0" tIns="0" rIns="0" bIns="0" anchor="t" anchorCtr="0">
              <a:spAutoFit/>
            </a:bodyPr>
            <a:lstStyle/>
            <a:p>
              <a:pPr algn="ctr"/>
              <a:r>
                <a:rPr lang="en-US" sz="900" b="1" dirty="0">
                  <a:solidFill>
                    <a:srgbClr val="1F2937"/>
                  </a:solidFill>
                  <a:latin typeface="+mn-lt"/>
                  <a:ea typeface="+mn-ea"/>
                  <a:cs typeface="+mn-cs"/>
                </a:rPr>
                <a:t>PAY-REC*</a:t>
              </a:r>
            </a:p>
          </p:txBody>
        </p:sp>
        <p:sp>
          <p:nvSpPr>
            <p:cNvPr id="55" name="TextBox 55"/>
            <p:cNvSpPr txBox="1"/>
            <p:nvPr/>
          </p:nvSpPr>
          <p:spPr>
            <a:xfrm>
              <a:off x="8335990" y="3449002"/>
              <a:ext cx="802584" cy="176212"/>
            </a:xfrm>
            <a:prstGeom prst="rect">
              <a:avLst/>
            </a:prstGeom>
            <a:noFill/>
            <a:ln>
              <a:noFill/>
            </a:ln>
          </p:spPr>
          <p:txBody>
            <a:bodyPr wrap="none" lIns="0" tIns="0" rIns="0" bIns="0" anchor="t" anchorCtr="0">
              <a:spAutoFit/>
            </a:bodyPr>
            <a:lstStyle/>
            <a:p>
              <a:pPr algn="ctr"/>
              <a:r>
                <a:rPr lang="en-US" sz="900" b="1" dirty="0">
                  <a:solidFill>
                    <a:srgbClr val="1F2937"/>
                  </a:solidFill>
                  <a:latin typeface="+mn-lt"/>
                  <a:ea typeface="+mn-ea"/>
                  <a:cs typeface="+mn-cs"/>
                </a:rPr>
                <a:t>CNO-GROUP*</a:t>
              </a:r>
            </a:p>
          </p:txBody>
        </p:sp>
        <p:sp>
          <p:nvSpPr>
            <p:cNvPr id="56" name="TextBox 56"/>
            <p:cNvSpPr txBox="1"/>
            <p:nvPr/>
          </p:nvSpPr>
          <p:spPr>
            <a:xfrm>
              <a:off x="8251706" y="2807018"/>
              <a:ext cx="97115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PAY-FILE 付款帐</a:t>
              </a:r>
            </a:p>
          </p:txBody>
        </p:sp>
      </p:grpSp>
      <p:grpSp>
        <p:nvGrpSpPr>
          <p:cNvPr id="66" name="c2-tree-3"/>
          <p:cNvGrpSpPr/>
          <p:nvPr/>
        </p:nvGrpSpPr>
        <p:grpSpPr>
          <a:xfrm>
            <a:off x="8208645" y="4733925"/>
            <a:ext cx="1057275" cy="1486853"/>
            <a:chOff x="8208645" y="4733925"/>
            <a:chExt cx="1057275" cy="1486853"/>
          </a:xfrm>
        </p:grpSpPr>
        <p:sp>
          <p:nvSpPr>
            <p:cNvPr id="58" name="Freeform 58"/>
            <p:cNvSpPr/>
            <p:nvPr/>
          </p:nvSpPr>
          <p:spPr>
            <a:xfrm>
              <a:off x="8737282" y="5477828"/>
              <a:ext cx="9525" cy="558165"/>
            </a:xfrm>
            <a:custGeom>
              <a:avLst/>
              <a:gdLst/>
              <a:ahLst/>
              <a:cxnLst/>
              <a:rect l="l" t="t" r="r" b="b"/>
              <a:pathLst>
                <a:path w="9525" h="558165">
                  <a:moveTo>
                    <a:pt x="0" y="0"/>
                  </a:moveTo>
                  <a:lnTo>
                    <a:pt x="0" y="558165"/>
                  </a:lnTo>
                </a:path>
              </a:pathLst>
            </a:custGeom>
            <a:noFill/>
            <a:ln w="15240">
              <a:solidFill>
                <a:srgbClr val="5B6475"/>
              </a:solidFill>
            </a:ln>
          </p:spPr>
        </p:sp>
        <p:sp>
          <p:nvSpPr>
            <p:cNvPr id="59" name="Freeform 59"/>
            <p:cNvSpPr/>
            <p:nvPr/>
          </p:nvSpPr>
          <p:spPr>
            <a:xfrm>
              <a:off x="8737282" y="4918710"/>
              <a:ext cx="9525" cy="559118"/>
            </a:xfrm>
            <a:custGeom>
              <a:avLst/>
              <a:gdLst/>
              <a:ahLst/>
              <a:cxnLst/>
              <a:rect l="l" t="t" r="r" b="b"/>
              <a:pathLst>
                <a:path w="9525" h="559118">
                  <a:moveTo>
                    <a:pt x="0" y="0"/>
                  </a:moveTo>
                  <a:lnTo>
                    <a:pt x="0" y="559118"/>
                  </a:lnTo>
                </a:path>
              </a:pathLst>
            </a:custGeom>
            <a:noFill/>
            <a:ln w="15240">
              <a:solidFill>
                <a:srgbClr val="5B6475"/>
              </a:solidFill>
            </a:ln>
          </p:spPr>
        </p:sp>
        <p:sp>
          <p:nvSpPr>
            <p:cNvPr id="60" name="Rectangle 60"/>
            <p:cNvSpPr/>
            <p:nvPr/>
          </p:nvSpPr>
          <p:spPr>
            <a:xfrm>
              <a:off x="8401050" y="5852160"/>
              <a:ext cx="671512" cy="368618"/>
            </a:xfrm>
            <a:prstGeom prst="roundRect">
              <a:avLst>
                <a:gd name="adj" fmla="val 20672"/>
              </a:avLst>
            </a:prstGeom>
            <a:solidFill>
              <a:srgbClr val="FFFFFF"/>
            </a:solidFill>
            <a:ln w="17145">
              <a:solidFill>
                <a:srgbClr val="334E68"/>
              </a:solidFill>
            </a:ln>
          </p:spPr>
        </p:sp>
        <p:sp>
          <p:nvSpPr>
            <p:cNvPr id="61" name="Rectangle 61"/>
            <p:cNvSpPr/>
            <p:nvPr/>
          </p:nvSpPr>
          <p:spPr>
            <a:xfrm>
              <a:off x="8335328" y="5293042"/>
              <a:ext cx="803910" cy="368618"/>
            </a:xfrm>
            <a:prstGeom prst="roundRect">
              <a:avLst>
                <a:gd name="adj" fmla="val 20672"/>
              </a:avLst>
            </a:prstGeom>
            <a:solidFill>
              <a:srgbClr val="FFFFFF"/>
            </a:solidFill>
            <a:ln w="17145">
              <a:solidFill>
                <a:srgbClr val="334E68"/>
              </a:solidFill>
            </a:ln>
          </p:spPr>
        </p:sp>
        <p:sp>
          <p:nvSpPr>
            <p:cNvPr id="62" name="Rectangle 62"/>
            <p:cNvSpPr/>
            <p:nvPr/>
          </p:nvSpPr>
          <p:spPr>
            <a:xfrm>
              <a:off x="8208645" y="4733925"/>
              <a:ext cx="1057275" cy="368618"/>
            </a:xfrm>
            <a:prstGeom prst="roundRect">
              <a:avLst>
                <a:gd name="adj" fmla="val 20672"/>
              </a:avLst>
            </a:prstGeom>
            <a:solidFill>
              <a:srgbClr val="FFFFFF"/>
            </a:solidFill>
            <a:ln w="17145">
              <a:solidFill>
                <a:srgbClr val="334E68"/>
              </a:solidFill>
            </a:ln>
          </p:spPr>
        </p:sp>
        <p:sp>
          <p:nvSpPr>
            <p:cNvPr id="63" name="TextBox 63"/>
            <p:cNvSpPr txBox="1"/>
            <p:nvPr/>
          </p:nvSpPr>
          <p:spPr>
            <a:xfrm>
              <a:off x="8473768" y="5979795"/>
              <a:ext cx="527030" cy="176212"/>
            </a:xfrm>
            <a:prstGeom prst="rect">
              <a:avLst/>
            </a:prstGeom>
            <a:noFill/>
            <a:ln>
              <a:noFill/>
            </a:ln>
          </p:spPr>
          <p:txBody>
            <a:bodyPr wrap="none" lIns="0" tIns="0" rIns="0" bIns="0" anchor="t" anchorCtr="0">
              <a:spAutoFit/>
            </a:bodyPr>
            <a:lstStyle/>
            <a:p>
              <a:pPr algn="ctr"/>
              <a:r>
                <a:rPr lang="en-US" sz="900" b="1" dirty="0">
                  <a:solidFill>
                    <a:srgbClr val="1F2937"/>
                  </a:solidFill>
                  <a:latin typeface="+mn-lt"/>
                  <a:ea typeface="+mn-ea"/>
                  <a:cs typeface="+mn-cs"/>
                </a:rPr>
                <a:t>BALANCE</a:t>
              </a:r>
            </a:p>
          </p:txBody>
        </p:sp>
        <p:sp>
          <p:nvSpPr>
            <p:cNvPr id="64" name="TextBox 64"/>
            <p:cNvSpPr txBox="1"/>
            <p:nvPr/>
          </p:nvSpPr>
          <p:spPr>
            <a:xfrm>
              <a:off x="8399838" y="5421630"/>
              <a:ext cx="674888" cy="176212"/>
            </a:xfrm>
            <a:prstGeom prst="rect">
              <a:avLst/>
            </a:prstGeom>
            <a:noFill/>
            <a:ln>
              <a:noFill/>
            </a:ln>
          </p:spPr>
          <p:txBody>
            <a:bodyPr wrap="none" lIns="0" tIns="0" rIns="0" bIns="0" anchor="t" anchorCtr="0">
              <a:spAutoFit/>
            </a:bodyPr>
            <a:lstStyle/>
            <a:p>
              <a:pPr algn="ctr"/>
              <a:r>
                <a:rPr lang="en-US" sz="900" b="1" dirty="0">
                  <a:solidFill>
                    <a:srgbClr val="1F2937"/>
                  </a:solidFill>
                  <a:latin typeface="+mn-lt"/>
                  <a:ea typeface="+mn-ea"/>
                  <a:cs typeface="+mn-cs"/>
                </a:rPr>
                <a:t>CUST-REC*</a:t>
              </a:r>
            </a:p>
          </p:txBody>
        </p:sp>
        <p:sp>
          <p:nvSpPr>
            <p:cNvPr id="65" name="TextBox 65"/>
            <p:cNvSpPr txBox="1"/>
            <p:nvPr/>
          </p:nvSpPr>
          <p:spPr>
            <a:xfrm>
              <a:off x="8271777" y="4862513"/>
              <a:ext cx="931012"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C-M-F 顾客总帐</a:t>
              </a:r>
            </a:p>
          </p:txBody>
        </p:sp>
      </p:grpSp>
      <p:grpSp>
        <p:nvGrpSpPr>
          <p:cNvPr id="69" name="footer"/>
          <p:cNvGrpSpPr/>
          <p:nvPr/>
        </p:nvGrpSpPr>
        <p:grpSpPr>
          <a:xfrm>
            <a:off x="528447" y="6581299"/>
            <a:ext cx="11135106" cy="190690"/>
            <a:chOff x="528447" y="6581299"/>
            <a:chExt cx="11135106" cy="190690"/>
          </a:xfrm>
        </p:grpSpPr>
        <p:sp>
          <p:nvSpPr>
            <p:cNvPr id="67" name="TextBox 67"/>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68" name="TextBox 6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41</a:t>
              </a:r>
            </a:p>
          </p:txBody>
        </p:sp>
      </p:grpSp>
    </p:spTree>
  </p:cSld>
  <p:clrMapOvr>
    <a:masterClrMapping/>
  </p:clrMapOvr>
  <p:transition xmlns:p14="http://schemas.microsoft.com/office/powerpoint/2010/main" p14:dur="400">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面向数据结构的设计方法</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实例二：从输出结构导出程序结构</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c1-text-1"/>
          <p:cNvGrpSpPr/>
          <p:nvPr/>
        </p:nvGrpSpPr>
        <p:grpSpPr>
          <a:xfrm>
            <a:off x="527685" y="1542574"/>
            <a:ext cx="2956779" cy="220028"/>
            <a:chOff x="527685" y="1542574"/>
            <a:chExt cx="2956779" cy="220028"/>
          </a:xfrm>
        </p:grpSpPr>
        <p:sp>
          <p:nvSpPr>
            <p:cNvPr id="7" name="TextBox 7"/>
            <p:cNvSpPr txBox="1"/>
            <p:nvPr/>
          </p:nvSpPr>
          <p:spPr>
            <a:xfrm>
              <a:off x="527685" y="1542574"/>
              <a:ext cx="2956779" cy="220028"/>
            </a:xfrm>
            <a:prstGeom prst="rect">
              <a:avLst/>
            </a:prstGeom>
            <a:noFill/>
            <a:ln>
              <a:noFill/>
            </a:ln>
          </p:spPr>
          <p:txBody>
            <a:bodyPr wrap="none" lIns="0" tIns="0" rIns="0" bIns="0" anchor="t" anchorCtr="0">
              <a:spAutoFit/>
            </a:bodyPr>
            <a:lstStyle/>
            <a:p>
              <a:pPr algn="l"/>
              <a:r>
                <a:rPr lang="zh-CN" sz="1120" b="1" dirty="0">
                  <a:solidFill>
                    <a:srgbClr val="334E68"/>
                  </a:solidFill>
                  <a:latin typeface="+mn-lt"/>
                  <a:ea typeface="+mn-ea"/>
                  <a:cs typeface="+mn-cs"/>
                </a:rPr>
                <a:t>输出：ACCT-REPT 帐目报表的 Jackson 图</a:t>
              </a:r>
            </a:p>
          </p:txBody>
        </p:sp>
      </p:grpSp>
      <p:grpSp>
        <p:nvGrpSpPr>
          <p:cNvPr id="47" name="c1-tree-2"/>
          <p:cNvGrpSpPr/>
          <p:nvPr/>
        </p:nvGrpSpPr>
        <p:grpSpPr>
          <a:xfrm>
            <a:off x="533400" y="1987868"/>
            <a:ext cx="6492240" cy="3715702"/>
            <a:chOff x="533400" y="1987868"/>
            <a:chExt cx="6492240" cy="3715702"/>
          </a:xfrm>
        </p:grpSpPr>
        <p:sp>
          <p:nvSpPr>
            <p:cNvPr id="9" name="Freeform 9"/>
            <p:cNvSpPr/>
            <p:nvPr/>
          </p:nvSpPr>
          <p:spPr>
            <a:xfrm>
              <a:off x="5643562" y="2707005"/>
              <a:ext cx="419100" cy="9525"/>
            </a:xfrm>
            <a:custGeom>
              <a:avLst/>
              <a:gdLst/>
              <a:ahLst/>
              <a:cxnLst/>
              <a:rect l="l" t="t" r="r" b="b"/>
              <a:pathLst>
                <a:path w="419100" h="9525">
                  <a:moveTo>
                    <a:pt x="0" y="0"/>
                  </a:moveTo>
                  <a:lnTo>
                    <a:pt x="209550" y="0"/>
                  </a:lnTo>
                  <a:lnTo>
                    <a:pt x="209550" y="0"/>
                  </a:lnTo>
                  <a:lnTo>
                    <a:pt x="419100" y="0"/>
                  </a:lnTo>
                </a:path>
              </a:pathLst>
            </a:custGeom>
            <a:noFill/>
            <a:ln w="17145">
              <a:solidFill>
                <a:srgbClr val="D9DFEA"/>
              </a:solidFill>
            </a:ln>
          </p:spPr>
        </p:sp>
        <p:sp>
          <p:nvSpPr>
            <p:cNvPr id="10" name="Freeform 10"/>
            <p:cNvSpPr/>
            <p:nvPr/>
          </p:nvSpPr>
          <p:spPr>
            <a:xfrm>
              <a:off x="5643562" y="3799522"/>
              <a:ext cx="419100" cy="272415"/>
            </a:xfrm>
            <a:custGeom>
              <a:avLst/>
              <a:gdLst/>
              <a:ahLst/>
              <a:cxnLst/>
              <a:rect l="l" t="t" r="r" b="b"/>
              <a:pathLst>
                <a:path w="419100" h="272415">
                  <a:moveTo>
                    <a:pt x="0" y="272415"/>
                  </a:moveTo>
                  <a:lnTo>
                    <a:pt x="209550" y="272415"/>
                  </a:lnTo>
                  <a:lnTo>
                    <a:pt x="209550" y="0"/>
                  </a:lnTo>
                  <a:lnTo>
                    <a:pt x="419100" y="0"/>
                  </a:lnTo>
                </a:path>
              </a:pathLst>
            </a:custGeom>
            <a:noFill/>
            <a:ln w="17145">
              <a:solidFill>
                <a:srgbClr val="D9DFEA"/>
              </a:solidFill>
            </a:ln>
          </p:spPr>
        </p:sp>
        <p:sp>
          <p:nvSpPr>
            <p:cNvPr id="11" name="Freeform 11"/>
            <p:cNvSpPr/>
            <p:nvPr/>
          </p:nvSpPr>
          <p:spPr>
            <a:xfrm>
              <a:off x="5643562" y="4071938"/>
              <a:ext cx="419100" cy="273367"/>
            </a:xfrm>
            <a:custGeom>
              <a:avLst/>
              <a:gdLst/>
              <a:ahLst/>
              <a:cxnLst/>
              <a:rect l="l" t="t" r="r" b="b"/>
              <a:pathLst>
                <a:path w="419100" h="273367">
                  <a:moveTo>
                    <a:pt x="0" y="0"/>
                  </a:moveTo>
                  <a:lnTo>
                    <a:pt x="209550" y="0"/>
                  </a:lnTo>
                  <a:lnTo>
                    <a:pt x="209550" y="273367"/>
                  </a:lnTo>
                  <a:lnTo>
                    <a:pt x="419100" y="273367"/>
                  </a:lnTo>
                </a:path>
              </a:pathLst>
            </a:custGeom>
            <a:noFill/>
            <a:ln w="17145">
              <a:solidFill>
                <a:srgbClr val="D9DFEA"/>
              </a:solidFill>
            </a:ln>
          </p:spPr>
        </p:sp>
        <p:sp>
          <p:nvSpPr>
            <p:cNvPr id="12" name="Freeform 12"/>
            <p:cNvSpPr/>
            <p:nvPr/>
          </p:nvSpPr>
          <p:spPr>
            <a:xfrm>
              <a:off x="4261485" y="2161222"/>
              <a:ext cx="419100" cy="955357"/>
            </a:xfrm>
            <a:custGeom>
              <a:avLst/>
              <a:gdLst/>
              <a:ahLst/>
              <a:cxnLst/>
              <a:rect l="l" t="t" r="r" b="b"/>
              <a:pathLst>
                <a:path w="419100" h="955357">
                  <a:moveTo>
                    <a:pt x="0" y="955357"/>
                  </a:moveTo>
                  <a:lnTo>
                    <a:pt x="209550" y="955357"/>
                  </a:lnTo>
                  <a:lnTo>
                    <a:pt x="209550" y="0"/>
                  </a:lnTo>
                  <a:lnTo>
                    <a:pt x="419100" y="0"/>
                  </a:lnTo>
                </a:path>
              </a:pathLst>
            </a:custGeom>
            <a:noFill/>
            <a:ln w="17145">
              <a:solidFill>
                <a:srgbClr val="D9DFEA"/>
              </a:solidFill>
            </a:ln>
          </p:spPr>
        </p:sp>
        <p:sp>
          <p:nvSpPr>
            <p:cNvPr id="13" name="Freeform 13"/>
            <p:cNvSpPr/>
            <p:nvPr/>
          </p:nvSpPr>
          <p:spPr>
            <a:xfrm>
              <a:off x="4261485" y="2707005"/>
              <a:ext cx="419100" cy="409575"/>
            </a:xfrm>
            <a:custGeom>
              <a:avLst/>
              <a:gdLst/>
              <a:ahLst/>
              <a:cxnLst/>
              <a:rect l="l" t="t" r="r" b="b"/>
              <a:pathLst>
                <a:path w="419100" h="409575">
                  <a:moveTo>
                    <a:pt x="0" y="409575"/>
                  </a:moveTo>
                  <a:lnTo>
                    <a:pt x="209550" y="409575"/>
                  </a:lnTo>
                  <a:lnTo>
                    <a:pt x="209550" y="0"/>
                  </a:lnTo>
                  <a:lnTo>
                    <a:pt x="419100" y="0"/>
                  </a:lnTo>
                </a:path>
              </a:pathLst>
            </a:custGeom>
            <a:noFill/>
            <a:ln w="17145">
              <a:solidFill>
                <a:srgbClr val="D9DFEA"/>
              </a:solidFill>
            </a:ln>
          </p:spPr>
        </p:sp>
        <p:sp>
          <p:nvSpPr>
            <p:cNvPr id="14" name="Freeform 14"/>
            <p:cNvSpPr/>
            <p:nvPr/>
          </p:nvSpPr>
          <p:spPr>
            <a:xfrm>
              <a:off x="4261485" y="3116580"/>
              <a:ext cx="419100" cy="137160"/>
            </a:xfrm>
            <a:custGeom>
              <a:avLst/>
              <a:gdLst/>
              <a:ahLst/>
              <a:cxnLst/>
              <a:rect l="l" t="t" r="r" b="b"/>
              <a:pathLst>
                <a:path w="419100" h="137160">
                  <a:moveTo>
                    <a:pt x="0" y="0"/>
                  </a:moveTo>
                  <a:lnTo>
                    <a:pt x="209550" y="0"/>
                  </a:lnTo>
                  <a:lnTo>
                    <a:pt x="209550" y="137160"/>
                  </a:lnTo>
                  <a:lnTo>
                    <a:pt x="419100" y="137160"/>
                  </a:lnTo>
                </a:path>
              </a:pathLst>
            </a:custGeom>
            <a:noFill/>
            <a:ln w="17145">
              <a:solidFill>
                <a:srgbClr val="D9DFEA"/>
              </a:solidFill>
            </a:ln>
          </p:spPr>
        </p:sp>
        <p:sp>
          <p:nvSpPr>
            <p:cNvPr id="15" name="Freeform 15"/>
            <p:cNvSpPr/>
            <p:nvPr/>
          </p:nvSpPr>
          <p:spPr>
            <a:xfrm>
              <a:off x="4261485" y="3116580"/>
              <a:ext cx="419100" cy="955358"/>
            </a:xfrm>
            <a:custGeom>
              <a:avLst/>
              <a:gdLst/>
              <a:ahLst/>
              <a:cxnLst/>
              <a:rect l="l" t="t" r="r" b="b"/>
              <a:pathLst>
                <a:path w="419100" h="955358">
                  <a:moveTo>
                    <a:pt x="0" y="0"/>
                  </a:moveTo>
                  <a:lnTo>
                    <a:pt x="209550" y="0"/>
                  </a:lnTo>
                  <a:lnTo>
                    <a:pt x="209550" y="955358"/>
                  </a:lnTo>
                  <a:lnTo>
                    <a:pt x="419100" y="955358"/>
                  </a:lnTo>
                </a:path>
              </a:pathLst>
            </a:custGeom>
            <a:noFill/>
            <a:ln w="17145">
              <a:solidFill>
                <a:srgbClr val="D9DFEA"/>
              </a:solidFill>
            </a:ln>
          </p:spPr>
        </p:sp>
        <p:sp>
          <p:nvSpPr>
            <p:cNvPr id="16" name="Freeform 16"/>
            <p:cNvSpPr/>
            <p:nvPr/>
          </p:nvSpPr>
          <p:spPr>
            <a:xfrm>
              <a:off x="2878455" y="3116580"/>
              <a:ext cx="419100" cy="9525"/>
            </a:xfrm>
            <a:custGeom>
              <a:avLst/>
              <a:gdLst/>
              <a:ahLst/>
              <a:cxnLst/>
              <a:rect l="l" t="t" r="r" b="b"/>
              <a:pathLst>
                <a:path w="419100" h="9525">
                  <a:moveTo>
                    <a:pt x="0" y="0"/>
                  </a:moveTo>
                  <a:lnTo>
                    <a:pt x="209550" y="0"/>
                  </a:lnTo>
                  <a:lnTo>
                    <a:pt x="209550" y="0"/>
                  </a:lnTo>
                  <a:lnTo>
                    <a:pt x="419100" y="0"/>
                  </a:lnTo>
                </a:path>
              </a:pathLst>
            </a:custGeom>
            <a:noFill/>
            <a:ln w="17145">
              <a:solidFill>
                <a:srgbClr val="D9DFEA"/>
              </a:solidFill>
            </a:ln>
          </p:spPr>
        </p:sp>
        <p:sp>
          <p:nvSpPr>
            <p:cNvPr id="17" name="Freeform 17"/>
            <p:cNvSpPr/>
            <p:nvPr/>
          </p:nvSpPr>
          <p:spPr>
            <a:xfrm>
              <a:off x="2878455" y="4891088"/>
              <a:ext cx="419100" cy="273368"/>
            </a:xfrm>
            <a:custGeom>
              <a:avLst/>
              <a:gdLst/>
              <a:ahLst/>
              <a:cxnLst/>
              <a:rect l="l" t="t" r="r" b="b"/>
              <a:pathLst>
                <a:path w="419100" h="273368">
                  <a:moveTo>
                    <a:pt x="0" y="273368"/>
                  </a:moveTo>
                  <a:lnTo>
                    <a:pt x="209550" y="273368"/>
                  </a:lnTo>
                  <a:lnTo>
                    <a:pt x="209550" y="0"/>
                  </a:lnTo>
                  <a:lnTo>
                    <a:pt x="419100" y="0"/>
                  </a:lnTo>
                </a:path>
              </a:pathLst>
            </a:custGeom>
            <a:noFill/>
            <a:ln w="17145">
              <a:solidFill>
                <a:srgbClr val="D9DFEA"/>
              </a:solidFill>
            </a:ln>
          </p:spPr>
        </p:sp>
        <p:sp>
          <p:nvSpPr>
            <p:cNvPr id="18" name="Freeform 18"/>
            <p:cNvSpPr/>
            <p:nvPr/>
          </p:nvSpPr>
          <p:spPr>
            <a:xfrm>
              <a:off x="2878455" y="5164455"/>
              <a:ext cx="419100" cy="273367"/>
            </a:xfrm>
            <a:custGeom>
              <a:avLst/>
              <a:gdLst/>
              <a:ahLst/>
              <a:cxnLst/>
              <a:rect l="l" t="t" r="r" b="b"/>
              <a:pathLst>
                <a:path w="419100" h="273367">
                  <a:moveTo>
                    <a:pt x="0" y="0"/>
                  </a:moveTo>
                  <a:lnTo>
                    <a:pt x="209550" y="0"/>
                  </a:lnTo>
                  <a:lnTo>
                    <a:pt x="209550" y="273367"/>
                  </a:lnTo>
                  <a:lnTo>
                    <a:pt x="419100" y="273367"/>
                  </a:lnTo>
                </a:path>
              </a:pathLst>
            </a:custGeom>
            <a:noFill/>
            <a:ln w="17145">
              <a:solidFill>
                <a:srgbClr val="D9DFEA"/>
              </a:solidFill>
            </a:ln>
          </p:spPr>
        </p:sp>
        <p:sp>
          <p:nvSpPr>
            <p:cNvPr id="19" name="Freeform 19"/>
            <p:cNvSpPr/>
            <p:nvPr/>
          </p:nvSpPr>
          <p:spPr>
            <a:xfrm>
              <a:off x="1496378" y="3116580"/>
              <a:ext cx="419100" cy="1023938"/>
            </a:xfrm>
            <a:custGeom>
              <a:avLst/>
              <a:gdLst/>
              <a:ahLst/>
              <a:cxnLst/>
              <a:rect l="l" t="t" r="r" b="b"/>
              <a:pathLst>
                <a:path w="419100" h="1023938">
                  <a:moveTo>
                    <a:pt x="0" y="1023938"/>
                  </a:moveTo>
                  <a:lnTo>
                    <a:pt x="209550" y="1023938"/>
                  </a:lnTo>
                  <a:lnTo>
                    <a:pt x="209550" y="0"/>
                  </a:lnTo>
                  <a:lnTo>
                    <a:pt x="419100" y="0"/>
                  </a:lnTo>
                </a:path>
              </a:pathLst>
            </a:custGeom>
            <a:noFill/>
            <a:ln w="17145">
              <a:solidFill>
                <a:srgbClr val="D9DFEA"/>
              </a:solidFill>
            </a:ln>
          </p:spPr>
        </p:sp>
        <p:sp>
          <p:nvSpPr>
            <p:cNvPr id="20" name="Freeform 20"/>
            <p:cNvSpPr/>
            <p:nvPr/>
          </p:nvSpPr>
          <p:spPr>
            <a:xfrm>
              <a:off x="1496378" y="4140518"/>
              <a:ext cx="419100" cy="1023938"/>
            </a:xfrm>
            <a:custGeom>
              <a:avLst/>
              <a:gdLst/>
              <a:ahLst/>
              <a:cxnLst/>
              <a:rect l="l" t="t" r="r" b="b"/>
              <a:pathLst>
                <a:path w="419100" h="1023938">
                  <a:moveTo>
                    <a:pt x="0" y="0"/>
                  </a:moveTo>
                  <a:lnTo>
                    <a:pt x="209550" y="0"/>
                  </a:lnTo>
                  <a:lnTo>
                    <a:pt x="209550" y="1023938"/>
                  </a:lnTo>
                  <a:lnTo>
                    <a:pt x="419100" y="1023938"/>
                  </a:lnTo>
                </a:path>
              </a:pathLst>
            </a:custGeom>
            <a:noFill/>
            <a:ln w="17145">
              <a:solidFill>
                <a:srgbClr val="D9DFEA"/>
              </a:solidFill>
            </a:ln>
          </p:spPr>
        </p:sp>
        <p:sp>
          <p:nvSpPr>
            <p:cNvPr id="21" name="Rectangle 21"/>
            <p:cNvSpPr/>
            <p:nvPr/>
          </p:nvSpPr>
          <p:spPr>
            <a:xfrm>
              <a:off x="4680585" y="1987868"/>
              <a:ext cx="962978" cy="346710"/>
            </a:xfrm>
            <a:prstGeom prst="roundRect">
              <a:avLst>
                <a:gd name="adj" fmla="val 27473"/>
              </a:avLst>
            </a:prstGeom>
            <a:solidFill>
              <a:srgbClr val="FFFFFF"/>
            </a:solidFill>
            <a:ln w="13335">
              <a:solidFill>
                <a:srgbClr val="D9DFEA"/>
              </a:solidFill>
            </a:ln>
          </p:spPr>
        </p:sp>
        <p:sp>
          <p:nvSpPr>
            <p:cNvPr id="22" name="Rectangle 22"/>
            <p:cNvSpPr/>
            <p:nvPr/>
          </p:nvSpPr>
          <p:spPr>
            <a:xfrm>
              <a:off x="6062662" y="2441258"/>
              <a:ext cx="962978" cy="532448"/>
            </a:xfrm>
            <a:prstGeom prst="roundRect">
              <a:avLst>
                <a:gd name="adj" fmla="val 17889"/>
              </a:avLst>
            </a:prstGeom>
            <a:solidFill>
              <a:srgbClr val="FFFFFF"/>
            </a:solidFill>
            <a:ln w="13335">
              <a:solidFill>
                <a:srgbClr val="D9DFEA"/>
              </a:solidFill>
            </a:ln>
          </p:spPr>
        </p:sp>
        <p:sp>
          <p:nvSpPr>
            <p:cNvPr id="23" name="Rectangle 23"/>
            <p:cNvSpPr/>
            <p:nvPr/>
          </p:nvSpPr>
          <p:spPr>
            <a:xfrm>
              <a:off x="4680585" y="2441258"/>
              <a:ext cx="962978" cy="532448"/>
            </a:xfrm>
            <a:prstGeom prst="roundRect">
              <a:avLst>
                <a:gd name="adj" fmla="val 17889"/>
              </a:avLst>
            </a:prstGeom>
            <a:solidFill>
              <a:srgbClr val="E7EDF3"/>
            </a:solidFill>
            <a:ln>
              <a:noFill/>
            </a:ln>
          </p:spPr>
        </p:sp>
        <p:sp>
          <p:nvSpPr>
            <p:cNvPr id="24" name="Rectangle 24"/>
            <p:cNvSpPr/>
            <p:nvPr/>
          </p:nvSpPr>
          <p:spPr>
            <a:xfrm>
              <a:off x="4680585" y="2987040"/>
              <a:ext cx="962978" cy="532448"/>
            </a:xfrm>
            <a:prstGeom prst="roundRect">
              <a:avLst>
                <a:gd name="adj" fmla="val 17889"/>
              </a:avLst>
            </a:prstGeom>
            <a:solidFill>
              <a:srgbClr val="FFFFFF"/>
            </a:solidFill>
            <a:ln w="13335">
              <a:solidFill>
                <a:srgbClr val="D9DFEA"/>
              </a:solidFill>
            </a:ln>
          </p:spPr>
        </p:sp>
        <p:sp>
          <p:nvSpPr>
            <p:cNvPr id="25" name="Rectangle 25"/>
            <p:cNvSpPr/>
            <p:nvPr/>
          </p:nvSpPr>
          <p:spPr>
            <a:xfrm>
              <a:off x="6062662" y="3532822"/>
              <a:ext cx="962978" cy="532448"/>
            </a:xfrm>
            <a:prstGeom prst="roundRect">
              <a:avLst>
                <a:gd name="adj" fmla="val 17889"/>
              </a:avLst>
            </a:prstGeom>
            <a:solidFill>
              <a:srgbClr val="FFFFFF"/>
            </a:solidFill>
            <a:ln w="13335">
              <a:solidFill>
                <a:srgbClr val="D9DFEA"/>
              </a:solidFill>
            </a:ln>
          </p:spPr>
        </p:sp>
        <p:sp>
          <p:nvSpPr>
            <p:cNvPr id="26" name="Rectangle 26"/>
            <p:cNvSpPr/>
            <p:nvPr/>
          </p:nvSpPr>
          <p:spPr>
            <a:xfrm>
              <a:off x="6062662" y="4079558"/>
              <a:ext cx="962978" cy="532448"/>
            </a:xfrm>
            <a:prstGeom prst="roundRect">
              <a:avLst>
                <a:gd name="adj" fmla="val 17889"/>
              </a:avLst>
            </a:prstGeom>
            <a:solidFill>
              <a:srgbClr val="FFFFFF"/>
            </a:solidFill>
            <a:ln w="13335">
              <a:solidFill>
                <a:srgbClr val="D9DFEA"/>
              </a:solidFill>
            </a:ln>
          </p:spPr>
        </p:sp>
        <p:sp>
          <p:nvSpPr>
            <p:cNvPr id="27" name="Rectangle 27"/>
            <p:cNvSpPr/>
            <p:nvPr/>
          </p:nvSpPr>
          <p:spPr>
            <a:xfrm>
              <a:off x="4680585" y="3806190"/>
              <a:ext cx="962978" cy="532448"/>
            </a:xfrm>
            <a:prstGeom prst="roundRect">
              <a:avLst>
                <a:gd name="adj" fmla="val 17889"/>
              </a:avLst>
            </a:prstGeom>
            <a:solidFill>
              <a:srgbClr val="E7EDF3"/>
            </a:solidFill>
            <a:ln>
              <a:noFill/>
            </a:ln>
          </p:spPr>
        </p:sp>
        <p:sp>
          <p:nvSpPr>
            <p:cNvPr id="28" name="Rectangle 28"/>
            <p:cNvSpPr/>
            <p:nvPr/>
          </p:nvSpPr>
          <p:spPr>
            <a:xfrm>
              <a:off x="3297555" y="2850832"/>
              <a:ext cx="962978" cy="532448"/>
            </a:xfrm>
            <a:prstGeom prst="roundRect">
              <a:avLst>
                <a:gd name="adj" fmla="val 17889"/>
              </a:avLst>
            </a:prstGeom>
            <a:solidFill>
              <a:srgbClr val="E7EDF3"/>
            </a:solidFill>
            <a:ln>
              <a:noFill/>
            </a:ln>
          </p:spPr>
        </p:sp>
        <p:sp>
          <p:nvSpPr>
            <p:cNvPr id="29" name="Rectangle 29"/>
            <p:cNvSpPr/>
            <p:nvPr/>
          </p:nvSpPr>
          <p:spPr>
            <a:xfrm>
              <a:off x="1915478" y="2850832"/>
              <a:ext cx="962978" cy="532448"/>
            </a:xfrm>
            <a:prstGeom prst="roundRect">
              <a:avLst>
                <a:gd name="adj" fmla="val 17889"/>
              </a:avLst>
            </a:prstGeom>
            <a:solidFill>
              <a:srgbClr val="E7EDF3"/>
            </a:solidFill>
            <a:ln>
              <a:noFill/>
            </a:ln>
          </p:spPr>
        </p:sp>
        <p:sp>
          <p:nvSpPr>
            <p:cNvPr id="30" name="Rectangle 30"/>
            <p:cNvSpPr/>
            <p:nvPr/>
          </p:nvSpPr>
          <p:spPr>
            <a:xfrm>
              <a:off x="3297555" y="4625340"/>
              <a:ext cx="962978" cy="532448"/>
            </a:xfrm>
            <a:prstGeom prst="roundRect">
              <a:avLst>
                <a:gd name="adj" fmla="val 17889"/>
              </a:avLst>
            </a:prstGeom>
            <a:solidFill>
              <a:srgbClr val="FFFFFF"/>
            </a:solidFill>
            <a:ln w="13335">
              <a:solidFill>
                <a:srgbClr val="D9DFEA"/>
              </a:solidFill>
            </a:ln>
          </p:spPr>
        </p:sp>
        <p:sp>
          <p:nvSpPr>
            <p:cNvPr id="31" name="Rectangle 31"/>
            <p:cNvSpPr/>
            <p:nvPr/>
          </p:nvSpPr>
          <p:spPr>
            <a:xfrm>
              <a:off x="3297555" y="5171122"/>
              <a:ext cx="962978" cy="532448"/>
            </a:xfrm>
            <a:prstGeom prst="roundRect">
              <a:avLst>
                <a:gd name="adj" fmla="val 17889"/>
              </a:avLst>
            </a:prstGeom>
            <a:solidFill>
              <a:srgbClr val="FFFFFF"/>
            </a:solidFill>
            <a:ln w="13335">
              <a:solidFill>
                <a:srgbClr val="D9DFEA"/>
              </a:solidFill>
            </a:ln>
          </p:spPr>
        </p:sp>
        <p:sp>
          <p:nvSpPr>
            <p:cNvPr id="32" name="Rectangle 32"/>
            <p:cNvSpPr/>
            <p:nvPr/>
          </p:nvSpPr>
          <p:spPr>
            <a:xfrm>
              <a:off x="1915478" y="4897755"/>
              <a:ext cx="962978" cy="532448"/>
            </a:xfrm>
            <a:prstGeom prst="roundRect">
              <a:avLst>
                <a:gd name="adj" fmla="val 17889"/>
              </a:avLst>
            </a:prstGeom>
            <a:solidFill>
              <a:srgbClr val="E7EDF3"/>
            </a:solidFill>
            <a:ln>
              <a:noFill/>
            </a:ln>
          </p:spPr>
        </p:sp>
        <p:sp>
          <p:nvSpPr>
            <p:cNvPr id="33" name="Rectangle 33"/>
            <p:cNvSpPr/>
            <p:nvPr/>
          </p:nvSpPr>
          <p:spPr>
            <a:xfrm>
              <a:off x="533400" y="3874770"/>
              <a:ext cx="962978" cy="532448"/>
            </a:xfrm>
            <a:prstGeom prst="roundRect">
              <a:avLst>
                <a:gd name="adj" fmla="val 17889"/>
              </a:avLst>
            </a:prstGeom>
            <a:solidFill>
              <a:srgbClr val="334E68"/>
            </a:solidFill>
            <a:ln>
              <a:noFill/>
            </a:ln>
          </p:spPr>
        </p:sp>
        <p:sp>
          <p:nvSpPr>
            <p:cNvPr id="34" name="TextBox 34"/>
            <p:cNvSpPr txBox="1"/>
            <p:nvPr/>
          </p:nvSpPr>
          <p:spPr>
            <a:xfrm>
              <a:off x="4770120" y="2082641"/>
              <a:ext cx="306151"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CNO</a:t>
              </a:r>
            </a:p>
          </p:txBody>
        </p:sp>
        <p:sp>
          <p:nvSpPr>
            <p:cNvPr id="35" name="TextBox 35"/>
            <p:cNvSpPr txBox="1"/>
            <p:nvPr/>
          </p:nvSpPr>
          <p:spPr>
            <a:xfrm>
              <a:off x="6152198" y="2536031"/>
              <a:ext cx="402590" cy="405765"/>
            </a:xfrm>
            <a:prstGeom prst="rect">
              <a:avLst/>
            </a:prstGeom>
            <a:noFill/>
            <a:ln>
              <a:noFill/>
            </a:ln>
          </p:spPr>
          <p:txBody>
            <a:bodyPr wrap="none" lIns="0" tIns="0" rIns="0" bIns="0" anchor="t" anchorCtr="0">
              <a:spAutoFit/>
            </a:bodyPr>
            <a:lstStyle/>
            <a:p>
              <a:pPr algn="l">
                <a:lnSpc>
                  <a:spcPts val="1462"/>
                </a:lnSpc>
              </a:pPr>
              <a:r>
                <a:rPr lang="en-US" sz="1120" dirty="0">
                  <a:solidFill>
                    <a:srgbClr val="1F2937"/>
                  </a:solidFill>
                  <a:latin typeface="+mn-lt"/>
                  <a:ea typeface="+mn-ea"/>
                  <a:cs typeface="+mn-cs"/>
                </a:rPr>
                <a:t>REPT-</a:t>
              </a:r>
              <a:br/>
              <a:r>
                <a:rPr lang="en-US" sz="1120" dirty="0">
                  <a:solidFill>
                    <a:srgbClr val="1F2937"/>
                  </a:solidFill>
                  <a:latin typeface="+mn-lt"/>
                  <a:ea typeface="+mn-ea"/>
                  <a:cs typeface="+mn-cs"/>
                </a:rPr>
                <a:t>LINE*</a:t>
              </a:r>
            </a:p>
          </p:txBody>
        </p:sp>
        <p:sp>
          <p:nvSpPr>
            <p:cNvPr id="36" name="TextBox 36"/>
            <p:cNvSpPr txBox="1"/>
            <p:nvPr/>
          </p:nvSpPr>
          <p:spPr>
            <a:xfrm>
              <a:off x="4770120" y="2536031"/>
              <a:ext cx="340004" cy="405765"/>
            </a:xfrm>
            <a:prstGeom prst="rect">
              <a:avLst/>
            </a:prstGeom>
            <a:noFill/>
            <a:ln>
              <a:noFill/>
            </a:ln>
          </p:spPr>
          <p:txBody>
            <a:bodyPr wrap="none" lIns="0" tIns="0" rIns="0" bIns="0" anchor="t" anchorCtr="0">
              <a:spAutoFit/>
            </a:bodyPr>
            <a:lstStyle/>
            <a:p>
              <a:pPr algn="l">
                <a:lnSpc>
                  <a:spcPts val="1462"/>
                </a:lnSpc>
              </a:pPr>
              <a:r>
                <a:rPr lang="en-US" sz="1120" b="1" dirty="0">
                  <a:solidFill>
                    <a:srgbClr val="243B53"/>
                  </a:solidFill>
                  <a:latin typeface="+mn-lt"/>
                  <a:ea typeface="+mn-ea"/>
                  <a:cs typeface="+mn-cs"/>
                </a:rPr>
                <a:t>PAY-</a:t>
              </a:r>
              <a:br/>
              <a:r>
                <a:rPr lang="en-US" sz="1120" b="1" dirty="0">
                  <a:solidFill>
                    <a:srgbClr val="243B53"/>
                  </a:solidFill>
                  <a:latin typeface="+mn-lt"/>
                  <a:ea typeface="+mn-ea"/>
                  <a:cs typeface="+mn-cs"/>
                </a:rPr>
                <a:t>REC</a:t>
              </a:r>
            </a:p>
          </p:txBody>
        </p:sp>
        <p:sp>
          <p:nvSpPr>
            <p:cNvPr id="37" name="TextBox 37"/>
            <p:cNvSpPr txBox="1"/>
            <p:nvPr/>
          </p:nvSpPr>
          <p:spPr>
            <a:xfrm>
              <a:off x="4770120" y="3081814"/>
              <a:ext cx="431038" cy="405765"/>
            </a:xfrm>
            <a:prstGeom prst="rect">
              <a:avLst/>
            </a:prstGeom>
            <a:noFill/>
            <a:ln>
              <a:noFill/>
            </a:ln>
          </p:spPr>
          <p:txBody>
            <a:bodyPr wrap="none" lIns="0" tIns="0" rIns="0" bIns="0" anchor="t" anchorCtr="0">
              <a:spAutoFit/>
            </a:bodyPr>
            <a:lstStyle/>
            <a:p>
              <a:pPr algn="l">
                <a:lnSpc>
                  <a:spcPts val="1462"/>
                </a:lnSpc>
              </a:pPr>
              <a:r>
                <a:rPr lang="en-US" sz="1120" dirty="0">
                  <a:solidFill>
                    <a:srgbClr val="1F2937"/>
                  </a:solidFill>
                  <a:latin typeface="+mn-lt"/>
                  <a:ea typeface="+mn-ea"/>
                  <a:cs typeface="+mn-cs"/>
                </a:rPr>
                <a:t>CUST-</a:t>
              </a:r>
              <a:br/>
              <a:r>
                <a:rPr lang="en-US" sz="1120" dirty="0">
                  <a:solidFill>
                    <a:srgbClr val="1F2937"/>
                  </a:solidFill>
                  <a:latin typeface="+mn-lt"/>
                  <a:ea typeface="+mn-ea"/>
                  <a:cs typeface="+mn-cs"/>
                </a:rPr>
                <a:t>TOTAL</a:t>
              </a:r>
            </a:p>
          </p:txBody>
        </p:sp>
        <p:sp>
          <p:nvSpPr>
            <p:cNvPr id="38" name="TextBox 38"/>
            <p:cNvSpPr txBox="1"/>
            <p:nvPr/>
          </p:nvSpPr>
          <p:spPr>
            <a:xfrm>
              <a:off x="6152198" y="3627596"/>
              <a:ext cx="352806" cy="405765"/>
            </a:xfrm>
            <a:prstGeom prst="rect">
              <a:avLst/>
            </a:prstGeom>
            <a:noFill/>
            <a:ln>
              <a:noFill/>
            </a:ln>
          </p:spPr>
          <p:txBody>
            <a:bodyPr wrap="none" lIns="0" tIns="0" rIns="0" bIns="0" anchor="t" anchorCtr="0">
              <a:spAutoFit/>
            </a:bodyPr>
            <a:lstStyle/>
            <a:p>
              <a:pPr algn="l">
                <a:lnSpc>
                  <a:spcPts val="1462"/>
                </a:lnSpc>
              </a:pPr>
              <a:r>
                <a:rPr lang="en-US" sz="1120" dirty="0">
                  <a:solidFill>
                    <a:srgbClr val="1F2937"/>
                  </a:solidFill>
                  <a:latin typeface="+mn-lt"/>
                  <a:ea typeface="+mn-ea"/>
                  <a:cs typeface="+mn-cs"/>
                </a:rPr>
                <a:t>OLD-</a:t>
              </a:r>
              <a:br/>
              <a:r>
                <a:rPr lang="en-US" sz="1120" dirty="0">
                  <a:solidFill>
                    <a:srgbClr val="1F2937"/>
                  </a:solidFill>
                  <a:latin typeface="+mn-lt"/>
                  <a:ea typeface="+mn-ea"/>
                  <a:cs typeface="+mn-cs"/>
                </a:rPr>
                <a:t>BAL</a:t>
              </a:r>
            </a:p>
          </p:txBody>
        </p:sp>
        <p:sp>
          <p:nvSpPr>
            <p:cNvPr id="39" name="TextBox 39"/>
            <p:cNvSpPr txBox="1"/>
            <p:nvPr/>
          </p:nvSpPr>
          <p:spPr>
            <a:xfrm>
              <a:off x="6152198" y="4174331"/>
              <a:ext cx="352806" cy="405765"/>
            </a:xfrm>
            <a:prstGeom prst="rect">
              <a:avLst/>
            </a:prstGeom>
            <a:noFill/>
            <a:ln>
              <a:noFill/>
            </a:ln>
          </p:spPr>
          <p:txBody>
            <a:bodyPr wrap="none" lIns="0" tIns="0" rIns="0" bIns="0" anchor="t" anchorCtr="0">
              <a:spAutoFit/>
            </a:bodyPr>
            <a:lstStyle/>
            <a:p>
              <a:pPr algn="l">
                <a:lnSpc>
                  <a:spcPts val="1462"/>
                </a:lnSpc>
              </a:pPr>
              <a:r>
                <a:rPr lang="en-US" sz="1120" dirty="0">
                  <a:solidFill>
                    <a:srgbClr val="1F2937"/>
                  </a:solidFill>
                  <a:latin typeface="+mn-lt"/>
                  <a:ea typeface="+mn-ea"/>
                  <a:cs typeface="+mn-cs"/>
                </a:rPr>
                <a:t>NEW-</a:t>
              </a:r>
              <a:br/>
              <a:r>
                <a:rPr lang="en-US" sz="1120" dirty="0">
                  <a:solidFill>
                    <a:srgbClr val="1F2937"/>
                  </a:solidFill>
                  <a:latin typeface="+mn-lt"/>
                  <a:ea typeface="+mn-ea"/>
                  <a:cs typeface="+mn-cs"/>
                </a:rPr>
                <a:t>BAL</a:t>
              </a:r>
            </a:p>
          </p:txBody>
        </p:sp>
        <p:sp>
          <p:nvSpPr>
            <p:cNvPr id="40" name="TextBox 40"/>
            <p:cNvSpPr txBox="1"/>
            <p:nvPr/>
          </p:nvSpPr>
          <p:spPr>
            <a:xfrm>
              <a:off x="4770120" y="3900964"/>
              <a:ext cx="340004" cy="405765"/>
            </a:xfrm>
            <a:prstGeom prst="rect">
              <a:avLst/>
            </a:prstGeom>
            <a:noFill/>
            <a:ln>
              <a:noFill/>
            </a:ln>
          </p:spPr>
          <p:txBody>
            <a:bodyPr wrap="none" lIns="0" tIns="0" rIns="0" bIns="0" anchor="t" anchorCtr="0">
              <a:spAutoFit/>
            </a:bodyPr>
            <a:lstStyle/>
            <a:p>
              <a:pPr algn="l">
                <a:lnSpc>
                  <a:spcPts val="1462"/>
                </a:lnSpc>
              </a:pPr>
              <a:r>
                <a:rPr lang="en-US" sz="1120" b="1" dirty="0">
                  <a:solidFill>
                    <a:srgbClr val="243B53"/>
                  </a:solidFill>
                  <a:latin typeface="+mn-lt"/>
                  <a:ea typeface="+mn-ea"/>
                  <a:cs typeface="+mn-cs"/>
                </a:rPr>
                <a:t>BAL-</a:t>
              </a:r>
              <a:br/>
              <a:r>
                <a:rPr lang="en-US" sz="1120" b="1" dirty="0">
                  <a:solidFill>
                    <a:srgbClr val="243B53"/>
                  </a:solidFill>
                  <a:latin typeface="+mn-lt"/>
                  <a:ea typeface="+mn-ea"/>
                  <a:cs typeface="+mn-cs"/>
                </a:rPr>
                <a:t>DATA</a:t>
              </a:r>
            </a:p>
          </p:txBody>
        </p:sp>
        <p:sp>
          <p:nvSpPr>
            <p:cNvPr id="41" name="TextBox 41"/>
            <p:cNvSpPr txBox="1"/>
            <p:nvPr/>
          </p:nvSpPr>
          <p:spPr>
            <a:xfrm>
              <a:off x="3387090" y="2945606"/>
              <a:ext cx="534162" cy="405765"/>
            </a:xfrm>
            <a:prstGeom prst="rect">
              <a:avLst/>
            </a:prstGeom>
            <a:noFill/>
            <a:ln>
              <a:noFill/>
            </a:ln>
          </p:spPr>
          <p:txBody>
            <a:bodyPr wrap="none" lIns="0" tIns="0" rIns="0" bIns="0" anchor="t" anchorCtr="0">
              <a:spAutoFit/>
            </a:bodyPr>
            <a:lstStyle/>
            <a:p>
              <a:pPr algn="l">
                <a:lnSpc>
                  <a:spcPts val="1462"/>
                </a:lnSpc>
              </a:pPr>
              <a:r>
                <a:rPr lang="en-US" sz="1120" b="1" dirty="0">
                  <a:solidFill>
                    <a:srgbClr val="243B53"/>
                  </a:solidFill>
                  <a:latin typeface="+mn-lt"/>
                  <a:ea typeface="+mn-ea"/>
                  <a:cs typeface="+mn-cs"/>
                </a:rPr>
                <a:t>CNO-</a:t>
              </a:r>
              <a:br/>
              <a:r>
                <a:rPr lang="en-US" sz="1120" b="1" dirty="0">
                  <a:solidFill>
                    <a:srgbClr val="243B53"/>
                  </a:solidFill>
                  <a:latin typeface="+mn-lt"/>
                  <a:ea typeface="+mn-ea"/>
                  <a:cs typeface="+mn-cs"/>
                </a:rPr>
                <a:t>GROUP*</a:t>
              </a:r>
            </a:p>
          </p:txBody>
        </p:sp>
        <p:sp>
          <p:nvSpPr>
            <p:cNvPr id="42" name="TextBox 42"/>
            <p:cNvSpPr txBox="1"/>
            <p:nvPr/>
          </p:nvSpPr>
          <p:spPr>
            <a:xfrm>
              <a:off x="2005012" y="2945606"/>
              <a:ext cx="422148" cy="405765"/>
            </a:xfrm>
            <a:prstGeom prst="rect">
              <a:avLst/>
            </a:prstGeom>
            <a:noFill/>
            <a:ln>
              <a:noFill/>
            </a:ln>
          </p:spPr>
          <p:txBody>
            <a:bodyPr wrap="none" lIns="0" tIns="0" rIns="0" bIns="0" anchor="t" anchorCtr="0">
              <a:spAutoFit/>
            </a:bodyPr>
            <a:lstStyle/>
            <a:p>
              <a:pPr algn="l">
                <a:lnSpc>
                  <a:spcPts val="1462"/>
                </a:lnSpc>
              </a:pPr>
              <a:r>
                <a:rPr lang="en-US" sz="1120" b="1" dirty="0">
                  <a:solidFill>
                    <a:srgbClr val="243B53"/>
                  </a:solidFill>
                  <a:latin typeface="+mn-lt"/>
                  <a:ea typeface="+mn-ea"/>
                  <a:cs typeface="+mn-cs"/>
                </a:rPr>
                <a:t>CUST-</a:t>
              </a:r>
              <a:br/>
              <a:r>
                <a:rPr lang="en-US" sz="1120" b="1" dirty="0">
                  <a:solidFill>
                    <a:srgbClr val="243B53"/>
                  </a:solidFill>
                  <a:latin typeface="+mn-lt"/>
                  <a:ea typeface="+mn-ea"/>
                  <a:cs typeface="+mn-cs"/>
                </a:rPr>
                <a:t>DATA</a:t>
              </a:r>
            </a:p>
          </p:txBody>
        </p:sp>
        <p:sp>
          <p:nvSpPr>
            <p:cNvPr id="43" name="TextBox 43"/>
            <p:cNvSpPr txBox="1"/>
            <p:nvPr/>
          </p:nvSpPr>
          <p:spPr>
            <a:xfrm>
              <a:off x="3387090" y="4720114"/>
              <a:ext cx="509270" cy="405765"/>
            </a:xfrm>
            <a:prstGeom prst="rect">
              <a:avLst/>
            </a:prstGeom>
            <a:noFill/>
            <a:ln>
              <a:noFill/>
            </a:ln>
          </p:spPr>
          <p:txBody>
            <a:bodyPr wrap="none" lIns="0" tIns="0" rIns="0" bIns="0" anchor="t" anchorCtr="0">
              <a:spAutoFit/>
            </a:bodyPr>
            <a:lstStyle/>
            <a:p>
              <a:pPr algn="l">
                <a:lnSpc>
                  <a:spcPts val="1462"/>
                </a:lnSpc>
              </a:pPr>
              <a:r>
                <a:rPr lang="en-US" sz="1120" dirty="0">
                  <a:solidFill>
                    <a:srgbClr val="1F2937"/>
                  </a:solidFill>
                  <a:latin typeface="+mn-lt"/>
                  <a:ea typeface="+mn-ea"/>
                  <a:cs typeface="+mn-cs"/>
                </a:rPr>
                <a:t>TOTAL-</a:t>
              </a:r>
              <a:br/>
              <a:r>
                <a:rPr lang="en-US" sz="1120" dirty="0">
                  <a:solidFill>
                    <a:srgbClr val="1F2937"/>
                  </a:solidFill>
                  <a:latin typeface="+mn-lt"/>
                  <a:ea typeface="+mn-ea"/>
                  <a:cs typeface="+mn-cs"/>
                </a:rPr>
                <a:t>PMT</a:t>
              </a:r>
            </a:p>
          </p:txBody>
        </p:sp>
        <p:sp>
          <p:nvSpPr>
            <p:cNvPr id="44" name="TextBox 44"/>
            <p:cNvSpPr txBox="1"/>
            <p:nvPr/>
          </p:nvSpPr>
          <p:spPr>
            <a:xfrm>
              <a:off x="3387090" y="5265896"/>
              <a:ext cx="509270" cy="405765"/>
            </a:xfrm>
            <a:prstGeom prst="rect">
              <a:avLst/>
            </a:prstGeom>
            <a:noFill/>
            <a:ln>
              <a:noFill/>
            </a:ln>
          </p:spPr>
          <p:txBody>
            <a:bodyPr wrap="none" lIns="0" tIns="0" rIns="0" bIns="0" anchor="t" anchorCtr="0">
              <a:spAutoFit/>
            </a:bodyPr>
            <a:lstStyle/>
            <a:p>
              <a:pPr algn="l">
                <a:lnSpc>
                  <a:spcPts val="1462"/>
                </a:lnSpc>
              </a:pPr>
              <a:r>
                <a:rPr lang="en-US" sz="1120" dirty="0">
                  <a:solidFill>
                    <a:srgbClr val="1F2937"/>
                  </a:solidFill>
                  <a:latin typeface="+mn-lt"/>
                  <a:ea typeface="+mn-ea"/>
                  <a:cs typeface="+mn-cs"/>
                </a:rPr>
                <a:t>TOTAL-</a:t>
              </a:r>
              <a:br/>
              <a:r>
                <a:rPr lang="en-US" sz="1120" dirty="0">
                  <a:solidFill>
                    <a:srgbClr val="1F2937"/>
                  </a:solidFill>
                  <a:latin typeface="+mn-lt"/>
                  <a:ea typeface="+mn-ea"/>
                  <a:cs typeface="+mn-cs"/>
                </a:rPr>
                <a:t>BAL</a:t>
              </a:r>
            </a:p>
          </p:txBody>
        </p:sp>
        <p:sp>
          <p:nvSpPr>
            <p:cNvPr id="45" name="TextBox 45"/>
            <p:cNvSpPr txBox="1"/>
            <p:nvPr/>
          </p:nvSpPr>
          <p:spPr>
            <a:xfrm>
              <a:off x="2005012" y="4992529"/>
              <a:ext cx="616306" cy="405765"/>
            </a:xfrm>
            <a:prstGeom prst="rect">
              <a:avLst/>
            </a:prstGeom>
            <a:noFill/>
            <a:ln>
              <a:noFill/>
            </a:ln>
          </p:spPr>
          <p:txBody>
            <a:bodyPr wrap="none" lIns="0" tIns="0" rIns="0" bIns="0" anchor="t" anchorCtr="0">
              <a:spAutoFit/>
            </a:bodyPr>
            <a:lstStyle/>
            <a:p>
              <a:pPr algn="l">
                <a:lnSpc>
                  <a:spcPts val="1462"/>
                </a:lnSpc>
              </a:pPr>
              <a:r>
                <a:rPr lang="en-US" sz="1120" b="1" dirty="0">
                  <a:solidFill>
                    <a:srgbClr val="243B53"/>
                  </a:solidFill>
                  <a:latin typeface="+mn-lt"/>
                  <a:ea typeface="+mn-ea"/>
                  <a:cs typeface="+mn-cs"/>
                </a:rPr>
                <a:t>MASTER-</a:t>
              </a:r>
              <a:br/>
              <a:r>
                <a:rPr lang="en-US" sz="1120" b="1" dirty="0">
                  <a:solidFill>
                    <a:srgbClr val="243B53"/>
                  </a:solidFill>
                  <a:latin typeface="+mn-lt"/>
                  <a:ea typeface="+mn-ea"/>
                  <a:cs typeface="+mn-cs"/>
                </a:rPr>
                <a:t>TOTALS</a:t>
              </a:r>
            </a:p>
          </p:txBody>
        </p:sp>
        <p:sp>
          <p:nvSpPr>
            <p:cNvPr id="46" name="TextBox 46"/>
            <p:cNvSpPr txBox="1"/>
            <p:nvPr/>
          </p:nvSpPr>
          <p:spPr>
            <a:xfrm>
              <a:off x="622935" y="3969544"/>
              <a:ext cx="422148" cy="405765"/>
            </a:xfrm>
            <a:prstGeom prst="rect">
              <a:avLst/>
            </a:prstGeom>
            <a:noFill/>
            <a:ln>
              <a:noFill/>
            </a:ln>
          </p:spPr>
          <p:txBody>
            <a:bodyPr wrap="none" lIns="0" tIns="0" rIns="0" bIns="0" anchor="t" anchorCtr="0">
              <a:spAutoFit/>
            </a:bodyPr>
            <a:lstStyle/>
            <a:p>
              <a:pPr algn="l">
                <a:lnSpc>
                  <a:spcPts val="1462"/>
                </a:lnSpc>
              </a:pPr>
              <a:r>
                <a:rPr lang="en-US" sz="1120" b="1" dirty="0">
                  <a:solidFill>
                    <a:srgbClr val="FFFFFF"/>
                  </a:solidFill>
                  <a:latin typeface="+mn-lt"/>
                  <a:ea typeface="+mn-ea"/>
                  <a:cs typeface="+mn-cs"/>
                </a:rPr>
                <a:t>ACCT-</a:t>
              </a:r>
              <a:br/>
              <a:r>
                <a:rPr lang="en-US" sz="1120" b="1" dirty="0">
                  <a:solidFill>
                    <a:srgbClr val="FFFFFF"/>
                  </a:solidFill>
                  <a:latin typeface="+mn-lt"/>
                  <a:ea typeface="+mn-ea"/>
                  <a:cs typeface="+mn-cs"/>
                </a:rPr>
                <a:t>REPT</a:t>
              </a:r>
            </a:p>
          </p:txBody>
        </p:sp>
      </p:grpSp>
      <p:grpSp>
        <p:nvGrpSpPr>
          <p:cNvPr id="83" name="c2-table-1"/>
          <p:cNvGrpSpPr/>
          <p:nvPr/>
        </p:nvGrpSpPr>
        <p:grpSpPr>
          <a:xfrm>
            <a:off x="7330440" y="1524000"/>
            <a:ext cx="4328160" cy="4000500"/>
            <a:chOff x="7330440" y="1524000"/>
            <a:chExt cx="4328160" cy="4000500"/>
          </a:xfrm>
        </p:grpSpPr>
        <p:sp>
          <p:nvSpPr>
            <p:cNvPr id="48" name="Rectangle 48"/>
            <p:cNvSpPr/>
            <p:nvPr/>
          </p:nvSpPr>
          <p:spPr>
            <a:xfrm>
              <a:off x="7330440" y="1524000"/>
              <a:ext cx="4328160" cy="400050"/>
            </a:xfrm>
            <a:prstGeom prst="rect">
              <a:avLst/>
            </a:prstGeom>
            <a:solidFill>
              <a:srgbClr val="334E68"/>
            </a:solidFill>
            <a:ln>
              <a:noFill/>
            </a:ln>
          </p:spPr>
        </p:sp>
        <p:sp>
          <p:nvSpPr>
            <p:cNvPr id="49" name="TextBox 49"/>
            <p:cNvSpPr txBox="1"/>
            <p:nvPr/>
          </p:nvSpPr>
          <p:spPr>
            <a:xfrm>
              <a:off x="7705700" y="1645444"/>
              <a:ext cx="106685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程序结构中的框</a:t>
              </a:r>
            </a:p>
          </p:txBody>
        </p:sp>
        <p:sp>
          <p:nvSpPr>
            <p:cNvPr id="50" name="TextBox 50"/>
            <p:cNvSpPr txBox="1"/>
            <p:nvPr/>
          </p:nvSpPr>
          <p:spPr>
            <a:xfrm>
              <a:off x="9945167" y="1645444"/>
              <a:ext cx="916076"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这个框做什么</a:t>
              </a:r>
            </a:p>
          </p:txBody>
        </p:sp>
        <p:sp>
          <p:nvSpPr>
            <p:cNvPr id="51" name="TextBox 51"/>
            <p:cNvSpPr txBox="1"/>
            <p:nvPr/>
          </p:nvSpPr>
          <p:spPr>
            <a:xfrm>
              <a:off x="7427595" y="2045494"/>
              <a:ext cx="1230142"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PROC ACCT-REPT</a:t>
              </a:r>
            </a:p>
          </p:txBody>
        </p:sp>
        <p:sp>
          <p:nvSpPr>
            <p:cNvPr id="52" name="TextBox 52"/>
            <p:cNvSpPr txBox="1"/>
            <p:nvPr/>
          </p:nvSpPr>
          <p:spPr>
            <a:xfrm>
              <a:off x="9244965" y="2045494"/>
              <a:ext cx="91607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开关三个文件</a:t>
              </a:r>
            </a:p>
          </p:txBody>
        </p:sp>
        <p:sp>
          <p:nvSpPr>
            <p:cNvPr id="53" name="Rectangle 53"/>
            <p:cNvSpPr/>
            <p:nvPr/>
          </p:nvSpPr>
          <p:spPr>
            <a:xfrm>
              <a:off x="7330440" y="2319338"/>
              <a:ext cx="4328160" cy="9525"/>
            </a:xfrm>
            <a:prstGeom prst="rect">
              <a:avLst/>
            </a:prstGeom>
            <a:solidFill>
              <a:srgbClr val="D9DFEA"/>
            </a:solidFill>
            <a:ln>
              <a:noFill/>
            </a:ln>
          </p:spPr>
        </p:sp>
        <p:sp>
          <p:nvSpPr>
            <p:cNvPr id="54" name="Rectangle 54"/>
            <p:cNvSpPr/>
            <p:nvPr/>
          </p:nvSpPr>
          <p:spPr>
            <a:xfrm>
              <a:off x="7330440" y="2324100"/>
              <a:ext cx="4328160" cy="400050"/>
            </a:xfrm>
            <a:prstGeom prst="rect">
              <a:avLst/>
            </a:prstGeom>
            <a:solidFill>
              <a:srgbClr val="F4F6FB"/>
            </a:solidFill>
            <a:ln>
              <a:noFill/>
            </a:ln>
          </p:spPr>
        </p:sp>
        <p:sp>
          <p:nvSpPr>
            <p:cNvPr id="55" name="TextBox 55"/>
            <p:cNvSpPr txBox="1"/>
            <p:nvPr/>
          </p:nvSpPr>
          <p:spPr>
            <a:xfrm>
              <a:off x="7427595" y="2445544"/>
              <a:ext cx="1230142"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PROC CUST-DATA</a:t>
              </a:r>
            </a:p>
          </p:txBody>
        </p:sp>
        <p:sp>
          <p:nvSpPr>
            <p:cNvPr id="56" name="TextBox 56"/>
            <p:cNvSpPr txBox="1"/>
            <p:nvPr/>
          </p:nvSpPr>
          <p:spPr>
            <a:xfrm>
              <a:off x="9244965" y="2445544"/>
              <a:ext cx="136840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循环到付款文件读完</a:t>
              </a:r>
            </a:p>
          </p:txBody>
        </p:sp>
        <p:sp>
          <p:nvSpPr>
            <p:cNvPr id="57" name="Rectangle 57"/>
            <p:cNvSpPr/>
            <p:nvPr/>
          </p:nvSpPr>
          <p:spPr>
            <a:xfrm>
              <a:off x="7330440" y="2719388"/>
              <a:ext cx="4328160" cy="9525"/>
            </a:xfrm>
            <a:prstGeom prst="rect">
              <a:avLst/>
            </a:prstGeom>
            <a:solidFill>
              <a:srgbClr val="D9DFEA"/>
            </a:solidFill>
            <a:ln>
              <a:noFill/>
            </a:ln>
          </p:spPr>
        </p:sp>
        <p:sp>
          <p:nvSpPr>
            <p:cNvPr id="58" name="TextBox 58"/>
            <p:cNvSpPr txBox="1"/>
            <p:nvPr/>
          </p:nvSpPr>
          <p:spPr>
            <a:xfrm>
              <a:off x="7427595" y="2845594"/>
              <a:ext cx="1381486"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PROC CNO-GROUP*</a:t>
              </a:r>
            </a:p>
          </p:txBody>
        </p:sp>
        <p:sp>
          <p:nvSpPr>
            <p:cNvPr id="59" name="TextBox 59"/>
            <p:cNvSpPr txBox="1"/>
            <p:nvPr/>
          </p:nvSpPr>
          <p:spPr>
            <a:xfrm>
              <a:off x="9244965" y="2845594"/>
              <a:ext cx="1519174"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处理一个顾客的记录组</a:t>
              </a:r>
            </a:p>
          </p:txBody>
        </p:sp>
        <p:sp>
          <p:nvSpPr>
            <p:cNvPr id="60" name="Rectangle 60"/>
            <p:cNvSpPr/>
            <p:nvPr/>
          </p:nvSpPr>
          <p:spPr>
            <a:xfrm>
              <a:off x="7330440" y="3119438"/>
              <a:ext cx="4328160" cy="9525"/>
            </a:xfrm>
            <a:prstGeom prst="rect">
              <a:avLst/>
            </a:prstGeom>
            <a:solidFill>
              <a:srgbClr val="D9DFEA"/>
            </a:solidFill>
            <a:ln>
              <a:noFill/>
            </a:ln>
          </p:spPr>
        </p:sp>
        <p:sp>
          <p:nvSpPr>
            <p:cNvPr id="61" name="Rectangle 61"/>
            <p:cNvSpPr/>
            <p:nvPr/>
          </p:nvSpPr>
          <p:spPr>
            <a:xfrm>
              <a:off x="7330440" y="3124200"/>
              <a:ext cx="4328160" cy="400050"/>
            </a:xfrm>
            <a:prstGeom prst="rect">
              <a:avLst/>
            </a:prstGeom>
            <a:solidFill>
              <a:srgbClr val="F4F6FB"/>
            </a:solidFill>
            <a:ln>
              <a:noFill/>
            </a:ln>
          </p:spPr>
        </p:sp>
        <p:sp>
          <p:nvSpPr>
            <p:cNvPr id="62" name="TextBox 62"/>
            <p:cNvSpPr txBox="1"/>
            <p:nvPr/>
          </p:nvSpPr>
          <p:spPr>
            <a:xfrm>
              <a:off x="7427595" y="3245644"/>
              <a:ext cx="736285"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PROC CNO</a:t>
              </a:r>
            </a:p>
          </p:txBody>
        </p:sp>
        <p:sp>
          <p:nvSpPr>
            <p:cNvPr id="63" name="TextBox 63"/>
            <p:cNvSpPr txBox="1"/>
            <p:nvPr/>
          </p:nvSpPr>
          <p:spPr>
            <a:xfrm>
              <a:off x="9244965" y="3245644"/>
              <a:ext cx="136840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读记录并印顾客号行</a:t>
              </a:r>
            </a:p>
          </p:txBody>
        </p:sp>
        <p:sp>
          <p:nvSpPr>
            <p:cNvPr id="64" name="Rectangle 64"/>
            <p:cNvSpPr/>
            <p:nvPr/>
          </p:nvSpPr>
          <p:spPr>
            <a:xfrm>
              <a:off x="7330440" y="3519488"/>
              <a:ext cx="4328160" cy="9525"/>
            </a:xfrm>
            <a:prstGeom prst="rect">
              <a:avLst/>
            </a:prstGeom>
            <a:solidFill>
              <a:srgbClr val="D9DFEA"/>
            </a:solidFill>
            <a:ln>
              <a:noFill/>
            </a:ln>
          </p:spPr>
        </p:sp>
        <p:sp>
          <p:nvSpPr>
            <p:cNvPr id="65" name="TextBox 65"/>
            <p:cNvSpPr txBox="1"/>
            <p:nvPr/>
          </p:nvSpPr>
          <p:spPr>
            <a:xfrm>
              <a:off x="7427595" y="3645694"/>
              <a:ext cx="1054903"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PROC PAY-REC</a:t>
              </a:r>
            </a:p>
          </p:txBody>
        </p:sp>
        <p:sp>
          <p:nvSpPr>
            <p:cNvPr id="66" name="TextBox 66"/>
            <p:cNvSpPr txBox="1"/>
            <p:nvPr/>
          </p:nvSpPr>
          <p:spPr>
            <a:xfrm>
              <a:off x="9244965" y="3645694"/>
              <a:ext cx="136840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循环到本组记录读完</a:t>
              </a:r>
            </a:p>
          </p:txBody>
        </p:sp>
        <p:sp>
          <p:nvSpPr>
            <p:cNvPr id="67" name="Rectangle 67"/>
            <p:cNvSpPr/>
            <p:nvPr/>
          </p:nvSpPr>
          <p:spPr>
            <a:xfrm>
              <a:off x="7330440" y="3919538"/>
              <a:ext cx="4328160" cy="9525"/>
            </a:xfrm>
            <a:prstGeom prst="rect">
              <a:avLst/>
            </a:prstGeom>
            <a:solidFill>
              <a:srgbClr val="D9DFEA"/>
            </a:solidFill>
            <a:ln>
              <a:noFill/>
            </a:ln>
          </p:spPr>
        </p:sp>
        <p:sp>
          <p:nvSpPr>
            <p:cNvPr id="68" name="Rectangle 68"/>
            <p:cNvSpPr/>
            <p:nvPr/>
          </p:nvSpPr>
          <p:spPr>
            <a:xfrm>
              <a:off x="7330440" y="3924300"/>
              <a:ext cx="4328160" cy="400050"/>
            </a:xfrm>
            <a:prstGeom prst="rect">
              <a:avLst/>
            </a:prstGeom>
            <a:solidFill>
              <a:srgbClr val="F4F6FB"/>
            </a:solidFill>
            <a:ln>
              <a:noFill/>
            </a:ln>
          </p:spPr>
        </p:sp>
        <p:sp>
          <p:nvSpPr>
            <p:cNvPr id="69" name="TextBox 69"/>
            <p:cNvSpPr txBox="1"/>
            <p:nvPr/>
          </p:nvSpPr>
          <p:spPr>
            <a:xfrm>
              <a:off x="7427595" y="4045744"/>
              <a:ext cx="1277935"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PROC REPT-LINE*</a:t>
              </a:r>
            </a:p>
          </p:txBody>
        </p:sp>
        <p:sp>
          <p:nvSpPr>
            <p:cNvPr id="70" name="TextBox 70"/>
            <p:cNvSpPr txBox="1"/>
            <p:nvPr/>
          </p:nvSpPr>
          <p:spPr>
            <a:xfrm>
              <a:off x="9244965" y="4045744"/>
              <a:ext cx="136840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印报表行并累加付款</a:t>
              </a:r>
            </a:p>
          </p:txBody>
        </p:sp>
        <p:sp>
          <p:nvSpPr>
            <p:cNvPr id="71" name="Rectangle 71"/>
            <p:cNvSpPr/>
            <p:nvPr/>
          </p:nvSpPr>
          <p:spPr>
            <a:xfrm>
              <a:off x="7330440" y="4319588"/>
              <a:ext cx="4328160" cy="9525"/>
            </a:xfrm>
            <a:prstGeom prst="rect">
              <a:avLst/>
            </a:prstGeom>
            <a:solidFill>
              <a:srgbClr val="D9DFEA"/>
            </a:solidFill>
            <a:ln>
              <a:noFill/>
            </a:ln>
          </p:spPr>
        </p:sp>
        <p:sp>
          <p:nvSpPr>
            <p:cNvPr id="72" name="TextBox 72"/>
            <p:cNvSpPr txBox="1"/>
            <p:nvPr/>
          </p:nvSpPr>
          <p:spPr>
            <a:xfrm>
              <a:off x="7427595" y="4445794"/>
              <a:ext cx="1381486"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COMP CUST-TOTAL</a:t>
              </a:r>
            </a:p>
          </p:txBody>
        </p:sp>
        <p:sp>
          <p:nvSpPr>
            <p:cNvPr id="73" name="TextBox 73"/>
            <p:cNvSpPr txBox="1"/>
            <p:nvPr/>
          </p:nvSpPr>
          <p:spPr>
            <a:xfrm>
              <a:off x="9244965" y="4445794"/>
              <a:ext cx="121762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算本顾客付款合计</a:t>
              </a:r>
            </a:p>
          </p:txBody>
        </p:sp>
        <p:sp>
          <p:nvSpPr>
            <p:cNvPr id="74" name="Rectangle 74"/>
            <p:cNvSpPr/>
            <p:nvPr/>
          </p:nvSpPr>
          <p:spPr>
            <a:xfrm>
              <a:off x="7330440" y="4719638"/>
              <a:ext cx="4328160" cy="9525"/>
            </a:xfrm>
            <a:prstGeom prst="rect">
              <a:avLst/>
            </a:prstGeom>
            <a:solidFill>
              <a:srgbClr val="D9DFEA"/>
            </a:solidFill>
            <a:ln>
              <a:noFill/>
            </a:ln>
          </p:spPr>
        </p:sp>
        <p:sp>
          <p:nvSpPr>
            <p:cNvPr id="75" name="Rectangle 75"/>
            <p:cNvSpPr/>
            <p:nvPr/>
          </p:nvSpPr>
          <p:spPr>
            <a:xfrm>
              <a:off x="7330440" y="4724400"/>
              <a:ext cx="4328160" cy="400050"/>
            </a:xfrm>
            <a:prstGeom prst="rect">
              <a:avLst/>
            </a:prstGeom>
            <a:solidFill>
              <a:srgbClr val="F4F6FB"/>
            </a:solidFill>
            <a:ln>
              <a:noFill/>
            </a:ln>
          </p:spPr>
        </p:sp>
        <p:sp>
          <p:nvSpPr>
            <p:cNvPr id="76" name="TextBox 76"/>
            <p:cNvSpPr txBox="1"/>
            <p:nvPr/>
          </p:nvSpPr>
          <p:spPr>
            <a:xfrm>
              <a:off x="7427595" y="4845844"/>
              <a:ext cx="1174384"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COMP BAL-DATA</a:t>
              </a:r>
            </a:p>
          </p:txBody>
        </p:sp>
        <p:sp>
          <p:nvSpPr>
            <p:cNvPr id="77" name="TextBox 77"/>
            <p:cNvSpPr txBox="1"/>
            <p:nvPr/>
          </p:nvSpPr>
          <p:spPr>
            <a:xfrm>
              <a:off x="9244965" y="4845844"/>
              <a:ext cx="136840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取旧余额并算新余额</a:t>
              </a:r>
            </a:p>
          </p:txBody>
        </p:sp>
        <p:sp>
          <p:nvSpPr>
            <p:cNvPr id="78" name="Rectangle 78"/>
            <p:cNvSpPr/>
            <p:nvPr/>
          </p:nvSpPr>
          <p:spPr>
            <a:xfrm>
              <a:off x="7330440" y="5119688"/>
              <a:ext cx="4328160" cy="9525"/>
            </a:xfrm>
            <a:prstGeom prst="rect">
              <a:avLst/>
            </a:prstGeom>
            <a:solidFill>
              <a:srgbClr val="D9DFEA"/>
            </a:solidFill>
            <a:ln>
              <a:noFill/>
            </a:ln>
          </p:spPr>
        </p:sp>
        <p:sp>
          <p:nvSpPr>
            <p:cNvPr id="79" name="TextBox 79"/>
            <p:cNvSpPr txBox="1"/>
            <p:nvPr/>
          </p:nvSpPr>
          <p:spPr>
            <a:xfrm>
              <a:off x="7427595" y="5245894"/>
              <a:ext cx="1644345"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PROC MASTER-TOTALS</a:t>
              </a:r>
            </a:p>
          </p:txBody>
        </p:sp>
        <p:sp>
          <p:nvSpPr>
            <p:cNvPr id="80" name="TextBox 80"/>
            <p:cNvSpPr txBox="1"/>
            <p:nvPr/>
          </p:nvSpPr>
          <p:spPr>
            <a:xfrm>
              <a:off x="9244965" y="5245894"/>
              <a:ext cx="1368400"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算全表合计并印总计</a:t>
              </a:r>
            </a:p>
          </p:txBody>
        </p:sp>
        <p:sp>
          <p:nvSpPr>
            <p:cNvPr id="81" name="Rectangle 81"/>
            <p:cNvSpPr/>
            <p:nvPr/>
          </p:nvSpPr>
          <p:spPr>
            <a:xfrm>
              <a:off x="7330440" y="1524000"/>
              <a:ext cx="4328160" cy="4000500"/>
            </a:xfrm>
            <a:prstGeom prst="rect">
              <a:avLst/>
            </a:prstGeom>
            <a:noFill/>
            <a:ln w="14288">
              <a:solidFill>
                <a:srgbClr val="D9DFEA"/>
              </a:solidFill>
            </a:ln>
          </p:spPr>
        </p:sp>
        <p:sp>
          <p:nvSpPr>
            <p:cNvPr id="82" name="Rectangle 82"/>
            <p:cNvSpPr/>
            <p:nvPr/>
          </p:nvSpPr>
          <p:spPr>
            <a:xfrm>
              <a:off x="9143048" y="1524000"/>
              <a:ext cx="9525" cy="4000500"/>
            </a:xfrm>
            <a:prstGeom prst="rect">
              <a:avLst/>
            </a:prstGeom>
            <a:solidFill>
              <a:srgbClr val="D9DFEA"/>
            </a:solidFill>
            <a:ln>
              <a:noFill/>
            </a:ln>
          </p:spPr>
        </p:sp>
      </p:grpSp>
      <p:grpSp>
        <p:nvGrpSpPr>
          <p:cNvPr id="89" name="takeaway"/>
          <p:cNvGrpSpPr/>
          <p:nvPr/>
        </p:nvGrpSpPr>
        <p:grpSpPr>
          <a:xfrm>
            <a:off x="533400" y="5881688"/>
            <a:ext cx="11125200" cy="481012"/>
            <a:chOff x="533400" y="5881688"/>
            <a:chExt cx="11125200" cy="481012"/>
          </a:xfrm>
        </p:grpSpPr>
        <p:sp>
          <p:nvSpPr>
            <p:cNvPr id="84" name="Rectangle 84"/>
            <p:cNvSpPr/>
            <p:nvPr/>
          </p:nvSpPr>
          <p:spPr>
            <a:xfrm>
              <a:off x="533400" y="5881688"/>
              <a:ext cx="11125200" cy="481012"/>
            </a:xfrm>
            <a:prstGeom prst="roundRect">
              <a:avLst>
                <a:gd name="adj" fmla="val 23762"/>
              </a:avLst>
            </a:prstGeom>
            <a:solidFill>
              <a:srgbClr val="334E68"/>
            </a:solidFill>
            <a:ln>
              <a:noFill/>
            </a:ln>
          </p:spPr>
        </p:sp>
        <p:grpSp>
          <p:nvGrpSpPr>
            <p:cNvPr id="87" name="Group 87"/>
            <p:cNvGrpSpPr/>
            <p:nvPr/>
          </p:nvGrpSpPr>
          <p:grpSpPr>
            <a:xfrm>
              <a:off x="738188" y="6022660"/>
              <a:ext cx="200023" cy="200023"/>
              <a:chOff x="738188" y="6022660"/>
              <a:chExt cx="200023" cy="200023"/>
            </a:xfrm>
          </p:grpSpPr>
          <p:sp>
            <p:nvSpPr>
              <p:cNvPr id="85" name="Freeform 85"/>
              <p:cNvSpPr/>
              <p:nvPr/>
            </p:nvSpPr>
            <p:spPr>
              <a:xfrm>
                <a:off x="738188" y="602266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86" name="Freeform 86"/>
              <p:cNvSpPr/>
              <p:nvPr/>
            </p:nvSpPr>
            <p:spPr>
              <a:xfrm>
                <a:off x="871538" y="608933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88" name="TextBox 88"/>
            <p:cNvSpPr txBox="1"/>
            <p:nvPr/>
          </p:nvSpPr>
          <p:spPr>
            <a:xfrm>
              <a:off x="1040892" y="6028373"/>
              <a:ext cx="10103891"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框名＝数据单元名前加 PROC（处理）或 COMP（计算）；对应关系是 CNO-GROUP 对 CUST-REC、BAL-DATA 对 BALANCE。</a:t>
              </a:r>
            </a:p>
          </p:txBody>
        </p:sp>
      </p:grpSp>
      <p:grpSp>
        <p:nvGrpSpPr>
          <p:cNvPr id="92" name="footer"/>
          <p:cNvGrpSpPr/>
          <p:nvPr/>
        </p:nvGrpSpPr>
        <p:grpSpPr>
          <a:xfrm>
            <a:off x="528447" y="6581299"/>
            <a:ext cx="11135106" cy="190690"/>
            <a:chOff x="528447" y="6581299"/>
            <a:chExt cx="11135106" cy="190690"/>
          </a:xfrm>
        </p:grpSpPr>
        <p:sp>
          <p:nvSpPr>
            <p:cNvPr id="90" name="TextBox 90"/>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91" name="TextBox 9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42</a:t>
              </a:r>
            </a:p>
          </p:txBody>
        </p:sp>
      </p:grpSp>
    </p:spTree>
  </p:cSld>
  <p:clrMapOvr>
    <a:masterClrMapping/>
  </p:clrMapOvr>
  <p:transition xmlns:p14="http://schemas.microsoft.com/office/powerpoint/2010/main" p14:dur="400">
    <p:fade/>
  </p:transition>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936818" cy="909257"/>
            <a:chOff x="520446" y="342900"/>
            <a:chExt cx="3936818"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面向数据结构的设计方法</a:t>
              </a:r>
            </a:p>
          </p:txBody>
        </p:sp>
        <p:sp>
          <p:nvSpPr>
            <p:cNvPr id="4" name="TextBox 4"/>
            <p:cNvSpPr txBox="1"/>
            <p:nvPr/>
          </p:nvSpPr>
          <p:spPr>
            <a:xfrm>
              <a:off x="520446" y="753428"/>
              <a:ext cx="393681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实例二：Jackson 伪代码</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0" name="c1-code-1"/>
          <p:cNvGrpSpPr/>
          <p:nvPr/>
        </p:nvGrpSpPr>
        <p:grpSpPr>
          <a:xfrm>
            <a:off x="533400" y="1524000"/>
            <a:ext cx="6276022" cy="4670108"/>
            <a:chOff x="533400" y="1524000"/>
            <a:chExt cx="6276022" cy="4670108"/>
          </a:xfrm>
        </p:grpSpPr>
        <p:sp>
          <p:nvSpPr>
            <p:cNvPr id="7" name="Rectangle 7"/>
            <p:cNvSpPr/>
            <p:nvPr/>
          </p:nvSpPr>
          <p:spPr>
            <a:xfrm>
              <a:off x="533400" y="1524000"/>
              <a:ext cx="6276022" cy="4670108"/>
            </a:xfrm>
            <a:prstGeom prst="roundRect">
              <a:avLst>
                <a:gd name="adj" fmla="val 2040"/>
              </a:avLst>
            </a:prstGeom>
            <a:solidFill>
              <a:srgbClr val="F6F8FA"/>
            </a:solidFill>
            <a:ln w="11430">
              <a:solidFill>
                <a:srgbClr val="D9DFEA"/>
              </a:solidFill>
            </a:ln>
          </p:spPr>
        </p:sp>
        <p:sp>
          <p:nvSpPr>
            <p:cNvPr id="8" name="TextBox 8"/>
            <p:cNvSpPr txBox="1"/>
            <p:nvPr/>
          </p:nvSpPr>
          <p:spPr>
            <a:xfrm>
              <a:off x="661797" y="1675924"/>
              <a:ext cx="1869737"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PROC-ACCT-REPT 的过程表示</a:t>
              </a:r>
            </a:p>
          </p:txBody>
        </p:sp>
        <p:sp>
          <p:nvSpPr>
            <p:cNvPr id="9" name="TextBox 9"/>
            <p:cNvSpPr txBox="1"/>
            <p:nvPr/>
          </p:nvSpPr>
          <p:spPr>
            <a:xfrm>
              <a:off x="661416" y="1937385"/>
              <a:ext cx="4337876" cy="4185856"/>
            </a:xfrm>
            <a:prstGeom prst="rect">
              <a:avLst/>
            </a:prstGeom>
            <a:noFill/>
            <a:ln>
              <a:noFill/>
            </a:ln>
          </p:spPr>
          <p:txBody>
            <a:bodyPr wrap="none" lIns="0" tIns="0" rIns="0" bIns="0" anchor="t" anchorCtr="0">
              <a:spAutoFit/>
            </a:bodyPr>
            <a:lstStyle/>
            <a:p>
              <a:pPr algn="l">
                <a:lnSpc>
                  <a:spcPts val="1492"/>
                </a:lnSpc>
              </a:pPr>
              <a:r>
                <a:rPr lang="en-US" sz="1050" dirty="0">
                  <a:solidFill>
                    <a:srgbClr val="1F2937"/>
                  </a:solidFill>
                  <a:latin typeface="Consolas"/>
                  <a:ea typeface="Consolas"/>
                  <a:cs typeface="Consolas"/>
                </a:rPr>
                <a:t>PROC-ACCT-REPT  seq</a:t>
              </a:r>
              <a:br/>
              <a:r>
                <a:rPr lang="en-US" sz="1050" dirty="0">
                  <a:solidFill>
                    <a:srgbClr val="1F2937"/>
                  </a:solidFill>
                  <a:latin typeface="Consolas"/>
                  <a:ea typeface="Consolas"/>
                  <a:cs typeface="Consolas"/>
                </a:rPr>
                <a:t xml:space="preserve">   open ACCT-REPT-FILE;  open PAY-FILE;  open C-M-F</a:t>
              </a:r>
              <a:br/>
              <a:r>
                <a:rPr lang="en-US" sz="1050" dirty="0">
                  <a:solidFill>
                    <a:srgbClr val="1F2937"/>
                  </a:solidFill>
                  <a:latin typeface="Consolas"/>
                  <a:ea typeface="Consolas"/>
                  <a:cs typeface="Consolas"/>
                </a:rPr>
                <a:t xml:space="preserve">   PROC-CUST-DATA  iter until EOF-PAY-FILE</a:t>
              </a:r>
              <a:br/>
              <a:r>
                <a:rPr lang="en-US" sz="1050" dirty="0">
                  <a:solidFill>
                    <a:srgbClr val="1F2937"/>
                  </a:solidFill>
                  <a:latin typeface="Consolas"/>
                  <a:ea typeface="Consolas"/>
                  <a:cs typeface="Consolas"/>
                </a:rPr>
                <a:t xml:space="preserve">      PROC-CNO-GROUP  seq</a:t>
              </a:r>
              <a:br/>
              <a:r>
                <a:rPr lang="en-US" sz="1050" dirty="0">
                  <a:solidFill>
                    <a:srgbClr val="1F2937"/>
                  </a:solidFill>
                  <a:latin typeface="Consolas"/>
                  <a:ea typeface="Consolas"/>
                  <a:cs typeface="Consolas"/>
                </a:rPr>
                <a:t xml:space="preserve">         read PAY-FILE</a:t>
              </a:r>
              <a:br/>
              <a:r>
                <a:rPr lang="en-US" sz="1050" dirty="0">
                  <a:solidFill>
                    <a:srgbClr val="1F2937"/>
                  </a:solidFill>
                  <a:latin typeface="Consolas"/>
                  <a:ea typeface="Consolas"/>
                  <a:cs typeface="Consolas"/>
                </a:rPr>
                <a:t xml:space="preserve">         PROC-CNO;  {write CNO line}</a:t>
              </a:r>
              <a:br/>
              <a:r>
                <a:rPr lang="en-US" sz="1050" dirty="0">
                  <a:solidFill>
                    <a:srgbClr val="1F2937"/>
                  </a:solidFill>
                  <a:latin typeface="Consolas"/>
                  <a:ea typeface="Consolas"/>
                  <a:cs typeface="Consolas"/>
                </a:rPr>
                <a:t xml:space="preserve">         PROC-PAY-REC  iter until end of CNO GROUP</a:t>
              </a:r>
              <a:br/>
              <a:r>
                <a:rPr lang="en-US" sz="1050" dirty="0">
                  <a:solidFill>
                    <a:srgbClr val="1F2937"/>
                  </a:solidFill>
                  <a:latin typeface="Consolas"/>
                  <a:ea typeface="Consolas"/>
                  <a:cs typeface="Consolas"/>
                </a:rPr>
                <a:t xml:space="preserve">            write report line;  add payment;  read PAY-FILE</a:t>
              </a:r>
              <a:br/>
              <a:r>
                <a:rPr lang="en-US" sz="1050" dirty="0">
                  <a:solidFill>
                    <a:srgbClr val="1F2937"/>
                  </a:solidFill>
                  <a:latin typeface="Consolas"/>
                  <a:ea typeface="Consolas"/>
                  <a:cs typeface="Consolas"/>
                </a:rPr>
                <a:t xml:space="preserve">         end PROC-PAY-REC</a:t>
              </a:r>
              <a:br/>
              <a:r>
                <a:rPr lang="en-US" sz="1050" dirty="0">
                  <a:solidFill>
                    <a:srgbClr val="1F2937"/>
                  </a:solidFill>
                  <a:latin typeface="Consolas"/>
                  <a:ea typeface="Consolas"/>
                  <a:cs typeface="Consolas"/>
                </a:rPr>
                <a:t xml:space="preserve">         COMP-CUST-TOT</a:t>
              </a:r>
              <a:br/>
              <a:r>
                <a:rPr lang="en-US" sz="1050" dirty="0">
                  <a:solidFill>
                    <a:srgbClr val="1F2937"/>
                  </a:solidFill>
                  <a:latin typeface="Consolas"/>
                  <a:ea typeface="Consolas"/>
                  <a:cs typeface="Consolas"/>
                </a:rPr>
                <a:t xml:space="preserve">         COMP-BAL  seq</a:t>
              </a:r>
              <a:br/>
              <a:r>
                <a:rPr lang="en-US" sz="1050" dirty="0">
                  <a:solidFill>
                    <a:srgbClr val="1F2937"/>
                  </a:solidFill>
                  <a:latin typeface="Consolas"/>
                  <a:ea typeface="Consolas"/>
                  <a:cs typeface="Consolas"/>
                </a:rPr>
                <a:t xml:space="preserve">            PROC-OLD-BAL; {reads C-M-F, finds OLD-BAL}</a:t>
              </a:r>
              <a:br/>
              <a:r>
                <a:rPr lang="en-US" sz="1050" dirty="0">
                  <a:solidFill>
                    <a:srgbClr val="1F2937"/>
                  </a:solidFill>
                  <a:latin typeface="Consolas"/>
                  <a:ea typeface="Consolas"/>
                  <a:cs typeface="Consolas"/>
                </a:rPr>
                <a:t xml:space="preserve">            COMP-NEW-BAL;  write total line</a:t>
              </a:r>
              <a:br/>
              <a:r>
                <a:rPr lang="en-US" sz="1050" dirty="0">
                  <a:solidFill>
                    <a:srgbClr val="1F2937"/>
                  </a:solidFill>
                  <a:latin typeface="Consolas"/>
                  <a:ea typeface="Consolas"/>
                  <a:cs typeface="Consolas"/>
                </a:rPr>
                <a:t xml:space="preserve">         end COMP-BAL</a:t>
              </a:r>
              <a:br/>
              <a:r>
                <a:rPr lang="en-US" sz="1050" dirty="0">
                  <a:solidFill>
                    <a:srgbClr val="1F2937"/>
                  </a:solidFill>
                  <a:latin typeface="Consolas"/>
                  <a:ea typeface="Consolas"/>
                  <a:cs typeface="Consolas"/>
                </a:rPr>
                <a:t xml:space="preserve">      end PROC-CNO-GROUP</a:t>
              </a:r>
              <a:br/>
              <a:r>
                <a:rPr lang="en-US" sz="1050" dirty="0">
                  <a:solidFill>
                    <a:srgbClr val="1F2937"/>
                  </a:solidFill>
                  <a:latin typeface="Consolas"/>
                  <a:ea typeface="Consolas"/>
                  <a:cs typeface="Consolas"/>
                </a:rPr>
                <a:t xml:space="preserve">   end PROC-CUST-DATA</a:t>
              </a:r>
              <a:br/>
              <a:r>
                <a:rPr lang="en-US" sz="1050" dirty="0">
                  <a:solidFill>
                    <a:srgbClr val="1F2937"/>
                  </a:solidFill>
                  <a:latin typeface="Consolas"/>
                  <a:ea typeface="Consolas"/>
                  <a:cs typeface="Consolas"/>
                </a:rPr>
                <a:t xml:space="preserve">   PROC-MASTER-TOTS  seq</a:t>
              </a:r>
              <a:br/>
              <a:r>
                <a:rPr lang="en-US" sz="1050" dirty="0">
                  <a:solidFill>
                    <a:srgbClr val="1F2937"/>
                  </a:solidFill>
                  <a:latin typeface="Consolas"/>
                  <a:ea typeface="Consolas"/>
                  <a:cs typeface="Consolas"/>
                </a:rPr>
                <a:t xml:space="preserve">      compute grand payments;  compute grand balance</a:t>
              </a:r>
              <a:br/>
              <a:r>
                <a:rPr lang="en-US" sz="1050" dirty="0">
                  <a:solidFill>
                    <a:srgbClr val="1F2937"/>
                  </a:solidFill>
                  <a:latin typeface="Consolas"/>
                  <a:ea typeface="Consolas"/>
                  <a:cs typeface="Consolas"/>
                </a:rPr>
                <a:t xml:space="preserve">      write grand total line</a:t>
              </a:r>
              <a:br/>
              <a:r>
                <a:rPr lang="en-US" sz="1050" dirty="0">
                  <a:solidFill>
                    <a:srgbClr val="1F2937"/>
                  </a:solidFill>
                  <a:latin typeface="Consolas"/>
                  <a:ea typeface="Consolas"/>
                  <a:cs typeface="Consolas"/>
                </a:rPr>
                <a:t xml:space="preserve">   end PROC-MASTER-TOTS</a:t>
              </a:r>
              <a:br/>
              <a:r>
                <a:rPr lang="en-US" sz="1050" dirty="0">
                  <a:solidFill>
                    <a:srgbClr val="1F2937"/>
                  </a:solidFill>
                  <a:latin typeface="Consolas"/>
                  <a:ea typeface="Consolas"/>
                  <a:cs typeface="Consolas"/>
                </a:rPr>
                <a:t xml:space="preserve">   close PAY-FILE;  close C-M-F;  close ACCT-REPT-FILE</a:t>
              </a:r>
              <a:br/>
              <a:r>
                <a:rPr lang="en-US" sz="1050" dirty="0">
                  <a:solidFill>
                    <a:srgbClr val="1F2937"/>
                  </a:solidFill>
                  <a:latin typeface="Consolas"/>
                  <a:ea typeface="Consolas"/>
                  <a:cs typeface="Consolas"/>
                </a:rPr>
                <a:t>end PROC-ACCT-REPT</a:t>
              </a:r>
            </a:p>
          </p:txBody>
        </p:sp>
      </p:grpSp>
      <p:grpSp>
        <p:nvGrpSpPr>
          <p:cNvPr id="19" name="c2-card-1"/>
          <p:cNvGrpSpPr/>
          <p:nvPr/>
        </p:nvGrpSpPr>
        <p:grpSpPr>
          <a:xfrm>
            <a:off x="7114222" y="1524000"/>
            <a:ext cx="4544378" cy="2340292"/>
            <a:chOff x="7114222" y="1524000"/>
            <a:chExt cx="4544378" cy="2340292"/>
          </a:xfrm>
        </p:grpSpPr>
        <p:sp>
          <p:nvSpPr>
            <p:cNvPr id="11" name="Rectangle 11"/>
            <p:cNvSpPr/>
            <p:nvPr/>
          </p:nvSpPr>
          <p:spPr>
            <a:xfrm>
              <a:off x="7114222" y="1524000"/>
              <a:ext cx="4544378" cy="2340292"/>
            </a:xfrm>
            <a:prstGeom prst="roundRect">
              <a:avLst>
                <a:gd name="adj" fmla="val 5698"/>
              </a:avLst>
            </a:prstGeom>
            <a:solidFill>
              <a:srgbClr val="334E68"/>
            </a:solidFill>
            <a:ln>
              <a:noFill/>
            </a:ln>
          </p:spPr>
        </p:sp>
        <p:sp>
          <p:nvSpPr>
            <p:cNvPr id="12" name="Rectangle 12"/>
            <p:cNvSpPr/>
            <p:nvPr/>
          </p:nvSpPr>
          <p:spPr>
            <a:xfrm>
              <a:off x="7312342" y="1722120"/>
              <a:ext cx="1276350" cy="247650"/>
            </a:xfrm>
            <a:prstGeom prst="roundRect">
              <a:avLst>
                <a:gd name="adj" fmla="val 50000"/>
              </a:avLst>
            </a:prstGeom>
            <a:solidFill>
              <a:srgbClr val="243B53"/>
            </a:solidFill>
            <a:ln>
              <a:noFill/>
            </a:ln>
          </p:spPr>
        </p:sp>
        <p:sp>
          <p:nvSpPr>
            <p:cNvPr id="13" name="TextBox 13"/>
            <p:cNvSpPr txBox="1"/>
            <p:nvPr/>
          </p:nvSpPr>
          <p:spPr>
            <a:xfrm>
              <a:off x="7379780" y="1756410"/>
              <a:ext cx="1141476"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两层循环在读什么</a:t>
              </a:r>
            </a:p>
          </p:txBody>
        </p:sp>
        <p:sp>
          <p:nvSpPr>
            <p:cNvPr id="14" name="Ellipse 14"/>
            <p:cNvSpPr/>
            <p:nvPr/>
          </p:nvSpPr>
          <p:spPr>
            <a:xfrm>
              <a:off x="7319962" y="2143125"/>
              <a:ext cx="60960" cy="60960"/>
            </a:xfrm>
            <a:prstGeom prst="ellipse">
              <a:avLst/>
            </a:prstGeom>
            <a:solidFill>
              <a:srgbClr val="FFFFFF"/>
            </a:solidFill>
            <a:ln>
              <a:noFill/>
            </a:ln>
          </p:spPr>
        </p:sp>
        <p:sp>
          <p:nvSpPr>
            <p:cNvPr id="15" name="TextBox 15"/>
            <p:cNvSpPr txBox="1"/>
            <p:nvPr/>
          </p:nvSpPr>
          <p:spPr>
            <a:xfrm>
              <a:off x="7476554" y="2082641"/>
              <a:ext cx="3558159"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FFFFFF"/>
                  </a:solidFill>
                  <a:latin typeface="+mn-lt"/>
                  <a:ea typeface="+mn-ea"/>
                  <a:cs typeface="+mn-cs"/>
                </a:rPr>
                <a:t xml:space="preserve">外层 </a:t>
              </a:r>
              <a:r>
                <a:rPr lang="en-US" sz="1420" dirty="0">
                  <a:solidFill>
                    <a:srgbClr val="E7EDF3"/>
                  </a:solidFill>
                  <a:latin typeface="+mn-lt"/>
                  <a:ea typeface="+mn-ea"/>
                  <a:cs typeface="+mn-cs"/>
                </a:rPr>
                <a:t>iter until EOF-PAY-FILE</a:t>
              </a:r>
              <a:r>
                <a:rPr lang="zh-CN" sz="1420" dirty="0">
                  <a:solidFill>
                    <a:srgbClr val="FFFFFF"/>
                  </a:solidFill>
                  <a:latin typeface="+mn-lt"/>
                  <a:ea typeface="+mn-ea"/>
                  <a:cs typeface="+mn-cs"/>
                </a:rPr>
                <a:t>：一个顾客一</a:t>
              </a:r>
              <a:br/>
              <a:r>
                <a:rPr lang="zh-CN" sz="1420" dirty="0">
                  <a:solidFill>
                    <a:srgbClr val="FFFFFF"/>
                  </a:solidFill>
                  <a:latin typeface="+mn-lt"/>
                  <a:ea typeface="+mn-ea"/>
                  <a:cs typeface="+mn-cs"/>
                </a:rPr>
                <a:t>组，读完整个付款文件</a:t>
              </a:r>
            </a:p>
          </p:txBody>
        </p:sp>
        <p:sp>
          <p:nvSpPr>
            <p:cNvPr id="16" name="Ellipse 16"/>
            <p:cNvSpPr/>
            <p:nvPr/>
          </p:nvSpPr>
          <p:spPr>
            <a:xfrm>
              <a:off x="7319962" y="2731770"/>
              <a:ext cx="60960" cy="60960"/>
            </a:xfrm>
            <a:prstGeom prst="ellipse">
              <a:avLst/>
            </a:prstGeom>
            <a:solidFill>
              <a:srgbClr val="FFFFFF"/>
            </a:solidFill>
            <a:ln>
              <a:noFill/>
            </a:ln>
          </p:spPr>
        </p:sp>
        <p:sp>
          <p:nvSpPr>
            <p:cNvPr id="17" name="TextBox 17"/>
            <p:cNvSpPr txBox="1"/>
            <p:nvPr/>
          </p:nvSpPr>
          <p:spPr>
            <a:xfrm>
              <a:off x="7476554" y="2672239"/>
              <a:ext cx="3720465"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FFFFFF"/>
                  </a:solidFill>
                  <a:latin typeface="+mn-lt"/>
                  <a:ea typeface="+mn-ea"/>
                  <a:cs typeface="+mn-cs"/>
                </a:rPr>
                <a:t xml:space="preserve">内层 </a:t>
              </a:r>
              <a:r>
                <a:rPr lang="en-US" sz="1420" dirty="0">
                  <a:solidFill>
                    <a:srgbClr val="E7EDF3"/>
                  </a:solidFill>
                  <a:latin typeface="+mn-lt"/>
                  <a:ea typeface="+mn-ea"/>
                  <a:cs typeface="+mn-cs"/>
                </a:rPr>
                <a:t>iter until end of CNO GROUP</a:t>
              </a:r>
              <a:r>
                <a:rPr lang="zh-CN" sz="1420" dirty="0">
                  <a:solidFill>
                    <a:srgbClr val="FFFFFF"/>
                  </a:solidFill>
                  <a:latin typeface="+mn-lt"/>
                  <a:ea typeface="+mn-ea"/>
                  <a:cs typeface="+mn-cs"/>
                </a:rPr>
                <a:t>：同一顾客</a:t>
              </a:r>
              <a:br/>
              <a:r>
                <a:rPr lang="zh-CN" sz="1420" dirty="0">
                  <a:solidFill>
                    <a:srgbClr val="FFFFFF"/>
                  </a:solidFill>
                  <a:latin typeface="+mn-lt"/>
                  <a:ea typeface="+mn-ea"/>
                  <a:cs typeface="+mn-cs"/>
                </a:rPr>
                <a:t>的每条付款记录</a:t>
              </a:r>
            </a:p>
          </p:txBody>
        </p:sp>
        <p:sp>
          <p:nvSpPr>
            <p:cNvPr id="18" name="TextBox 18"/>
            <p:cNvSpPr txBox="1"/>
            <p:nvPr/>
          </p:nvSpPr>
          <p:spPr>
            <a:xfrm>
              <a:off x="7306247" y="3257550"/>
              <a:ext cx="397459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FFFFFF"/>
                  </a:solidFill>
                  <a:latin typeface="+mn-lt"/>
                  <a:ea typeface="+mn-ea"/>
                  <a:cs typeface="+mn-cs"/>
                </a:rPr>
                <a:t>读记录的语句同样出现两次：进入内层循环前读一条，循环</a:t>
              </a:r>
              <a:br/>
              <a:r>
                <a:rPr lang="zh-CN" sz="1200" dirty="0">
                  <a:solidFill>
                    <a:srgbClr val="FFFFFF"/>
                  </a:solidFill>
                  <a:latin typeface="+mn-lt"/>
                  <a:ea typeface="+mn-ea"/>
                  <a:cs typeface="+mn-cs"/>
                </a:rPr>
                <a:t>体末尾再读下一条。</a:t>
              </a:r>
            </a:p>
          </p:txBody>
        </p:sp>
      </p:grpSp>
      <p:grpSp>
        <p:nvGrpSpPr>
          <p:cNvPr id="25" name="c2-card-2"/>
          <p:cNvGrpSpPr/>
          <p:nvPr/>
        </p:nvGrpSpPr>
        <p:grpSpPr>
          <a:xfrm>
            <a:off x="7114222" y="4044315"/>
            <a:ext cx="4544378" cy="2149792"/>
            <a:chOff x="7114222" y="4044315"/>
            <a:chExt cx="4544378" cy="2149792"/>
          </a:xfrm>
        </p:grpSpPr>
        <p:sp>
          <p:nvSpPr>
            <p:cNvPr id="20" name="Rectangle 20"/>
            <p:cNvSpPr/>
            <p:nvPr/>
          </p:nvSpPr>
          <p:spPr>
            <a:xfrm>
              <a:off x="7114222" y="4044315"/>
              <a:ext cx="4544378" cy="2149792"/>
            </a:xfrm>
            <a:prstGeom prst="roundRect">
              <a:avLst>
                <a:gd name="adj" fmla="val 6203"/>
              </a:avLst>
            </a:prstGeom>
            <a:solidFill>
              <a:srgbClr val="FFFFFF"/>
            </a:solidFill>
            <a:ln w="14288">
              <a:solidFill>
                <a:srgbClr val="D9DFEA"/>
              </a:solidFill>
            </a:ln>
          </p:spPr>
        </p:sp>
        <p:sp>
          <p:nvSpPr>
            <p:cNvPr id="21" name="Rectangle 21"/>
            <p:cNvSpPr/>
            <p:nvPr/>
          </p:nvSpPr>
          <p:spPr>
            <a:xfrm>
              <a:off x="7123748" y="4177665"/>
              <a:ext cx="47625" cy="1883092"/>
            </a:xfrm>
            <a:prstGeom prst="roundRect">
              <a:avLst>
                <a:gd name="adj" fmla="val 50000"/>
              </a:avLst>
            </a:prstGeom>
            <a:solidFill>
              <a:srgbClr val="5B6475"/>
            </a:solidFill>
            <a:ln>
              <a:noFill/>
            </a:ln>
          </p:spPr>
        </p:sp>
        <p:sp>
          <p:nvSpPr>
            <p:cNvPr id="22" name="Rectangle 22"/>
            <p:cNvSpPr/>
            <p:nvPr/>
          </p:nvSpPr>
          <p:spPr>
            <a:xfrm>
              <a:off x="7350442" y="4242435"/>
              <a:ext cx="1247775" cy="247650"/>
            </a:xfrm>
            <a:prstGeom prst="roundRect">
              <a:avLst>
                <a:gd name="adj" fmla="val 50000"/>
              </a:avLst>
            </a:prstGeom>
            <a:solidFill>
              <a:srgbClr val="F4F6FB"/>
            </a:solidFill>
            <a:ln>
              <a:noFill/>
            </a:ln>
          </p:spPr>
        </p:sp>
        <p:sp>
          <p:nvSpPr>
            <p:cNvPr id="23" name="TextBox 23"/>
            <p:cNvSpPr txBox="1"/>
            <p:nvPr/>
          </p:nvSpPr>
          <p:spPr>
            <a:xfrm>
              <a:off x="7411646" y="4276725"/>
              <a:ext cx="1125367"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与 SD 方法的区别</a:t>
              </a:r>
            </a:p>
          </p:txBody>
        </p:sp>
        <p:sp>
          <p:nvSpPr>
            <p:cNvPr id="24" name="TextBox 24"/>
            <p:cNvSpPr txBox="1"/>
            <p:nvPr/>
          </p:nvSpPr>
          <p:spPr>
            <a:xfrm>
              <a:off x="7343204" y="4602956"/>
              <a:ext cx="3828669" cy="1093089"/>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SD（面向数据流）方法从数据流图出发，得到的</a:t>
              </a:r>
              <a:br/>
              <a:r>
                <a:rPr lang="zh-CN" sz="1420" dirty="0">
                  <a:solidFill>
                    <a:srgbClr val="1F2937"/>
                  </a:solidFill>
                  <a:latin typeface="+mn-lt"/>
                  <a:ea typeface="+mn-ea"/>
                  <a:cs typeface="+mn-cs"/>
                </a:rPr>
                <a:t>是软件结构，属总体设计；Jackson 方法从输入</a:t>
              </a:r>
              <a:br/>
              <a:r>
                <a:rPr lang="zh-CN" sz="1420" dirty="0">
                  <a:solidFill>
                    <a:srgbClr val="1F2937"/>
                  </a:solidFill>
                  <a:latin typeface="+mn-lt"/>
                  <a:ea typeface="+mn-ea"/>
                  <a:cs typeface="+mn-cs"/>
                </a:rPr>
                <a:t>输出数据结构出发，得到的是程序结构和伪码，</a:t>
              </a:r>
              <a:br/>
              <a:r>
                <a:rPr lang="zh-CN" sz="1420" dirty="0">
                  <a:solidFill>
                    <a:srgbClr val="1F2937"/>
                  </a:solidFill>
                  <a:latin typeface="+mn-lt"/>
                  <a:ea typeface="+mn-ea"/>
                  <a:cs typeface="+mn-cs"/>
                </a:rPr>
                <a:t>属详细设计。</a:t>
              </a:r>
            </a:p>
          </p:txBody>
        </p:sp>
      </p:grpSp>
      <p:grpSp>
        <p:nvGrpSpPr>
          <p:cNvPr id="28" name="footer"/>
          <p:cNvGrpSpPr/>
          <p:nvPr/>
        </p:nvGrpSpPr>
        <p:grpSpPr>
          <a:xfrm>
            <a:off x="528447" y="6581299"/>
            <a:ext cx="11135106" cy="190690"/>
            <a:chOff x="528447" y="6581299"/>
            <a:chExt cx="11135106" cy="190690"/>
          </a:xfrm>
        </p:grpSpPr>
        <p:sp>
          <p:nvSpPr>
            <p:cNvPr id="26" name="TextBox 26"/>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27" name="TextBox 2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43</a:t>
              </a:r>
            </a:p>
          </p:txBody>
        </p:sp>
      </p:grpSp>
    </p:spTree>
  </p:cSld>
  <p:clrMapOvr>
    <a:masterClrMapping/>
  </p:clrMapOvr>
  <p:transition xmlns:p14="http://schemas.microsoft.com/office/powerpoint/2010/main" p14:dur="400">
    <p:fade/>
  </p:transition>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334E68"/>
          </a:solidFill>
          <a:ln>
            <a:noFill/>
          </a:ln>
        </p:spPr>
      </p:sp>
      <p:sp>
        <p:nvSpPr>
          <p:cNvPr id="3" name="section-ring"/>
          <p:cNvSpPr/>
          <p:nvPr/>
        </p:nvSpPr>
        <p:spPr>
          <a:xfrm>
            <a:off x="7334250" y="190500"/>
            <a:ext cx="6477000" cy="6477000"/>
          </a:xfrm>
          <a:prstGeom prst="ellipse">
            <a:avLst/>
          </a:prstGeom>
          <a:noFill/>
          <a:ln w="133350">
            <a:solidFill>
              <a:srgbClr val="E7EDF3"/>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05</a:t>
              </a:r>
            </a:p>
          </p:txBody>
        </p:sp>
      </p:grpSp>
      <p:grpSp>
        <p:nvGrpSpPr>
          <p:cNvPr id="16" name="section-title"/>
          <p:cNvGrpSpPr/>
          <p:nvPr/>
        </p:nvGrpSpPr>
        <p:grpSpPr>
          <a:xfrm>
            <a:off x="667512" y="1835468"/>
            <a:ext cx="5367528" cy="2997517"/>
            <a:chOff x="667512" y="1835468"/>
            <a:chExt cx="5367528" cy="299751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第五部分</a:t>
              </a:r>
            </a:p>
          </p:txBody>
        </p:sp>
        <p:sp>
          <p:nvSpPr>
            <p:cNvPr id="7" name="TextBox 7"/>
            <p:cNvSpPr txBox="1"/>
            <p:nvPr/>
          </p:nvSpPr>
          <p:spPr>
            <a:xfrm>
              <a:off x="667512" y="2240280"/>
              <a:ext cx="5367528"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程序复杂程度的定量度量</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4037190"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给"这段程序有多复杂"一个可以计算的数</a:t>
              </a:r>
            </a:p>
          </p:txBody>
        </p:sp>
        <p:sp>
          <p:nvSpPr>
            <p:cNvPr id="10" name="Ellipse 10"/>
            <p:cNvSpPr/>
            <p:nvPr/>
          </p:nvSpPr>
          <p:spPr>
            <a:xfrm>
              <a:off x="723900" y="3888105"/>
              <a:ext cx="76200" cy="76200"/>
            </a:xfrm>
            <a:prstGeom prst="ellipse">
              <a:avLst/>
            </a:prstGeom>
            <a:solidFill>
              <a:srgbClr val="334E68"/>
            </a:solidFill>
            <a:ln>
              <a:noFill/>
            </a:ln>
          </p:spPr>
        </p:sp>
        <p:sp>
          <p:nvSpPr>
            <p:cNvPr id="11" name="TextBox 11"/>
            <p:cNvSpPr txBox="1"/>
            <p:nvPr/>
          </p:nvSpPr>
          <p:spPr>
            <a:xfrm>
              <a:off x="906780" y="3830955"/>
              <a:ext cx="180670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McCabe 环形复杂度</a:t>
              </a:r>
            </a:p>
          </p:txBody>
        </p:sp>
        <p:sp>
          <p:nvSpPr>
            <p:cNvPr id="12" name="Ellipse 12"/>
            <p:cNvSpPr/>
            <p:nvPr/>
          </p:nvSpPr>
          <p:spPr>
            <a:xfrm>
              <a:off x="723900" y="4242435"/>
              <a:ext cx="76200" cy="76200"/>
            </a:xfrm>
            <a:prstGeom prst="ellipse">
              <a:avLst/>
            </a:prstGeom>
            <a:solidFill>
              <a:srgbClr val="334E68"/>
            </a:solidFill>
            <a:ln>
              <a:noFill/>
            </a:ln>
          </p:spPr>
        </p:sp>
        <p:sp>
          <p:nvSpPr>
            <p:cNvPr id="13" name="TextBox 13"/>
            <p:cNvSpPr txBox="1"/>
            <p:nvPr/>
          </p:nvSpPr>
          <p:spPr>
            <a:xfrm>
              <a:off x="906780" y="4185285"/>
              <a:ext cx="2131766"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Halstead 长度与程序量</a:t>
              </a:r>
            </a:p>
          </p:txBody>
        </p:sp>
        <p:sp>
          <p:nvSpPr>
            <p:cNvPr id="14" name="Ellipse 14"/>
            <p:cNvSpPr/>
            <p:nvPr/>
          </p:nvSpPr>
          <p:spPr>
            <a:xfrm>
              <a:off x="723900" y="4596765"/>
              <a:ext cx="76200" cy="76200"/>
            </a:xfrm>
            <a:prstGeom prst="ellipse">
              <a:avLst/>
            </a:prstGeom>
            <a:solidFill>
              <a:srgbClr val="334E68"/>
            </a:solidFill>
            <a:ln>
              <a:noFill/>
            </a:ln>
          </p:spPr>
        </p:sp>
        <p:sp>
          <p:nvSpPr>
            <p:cNvPr id="15" name="TextBox 15"/>
            <p:cNvSpPr txBox="1"/>
            <p:nvPr/>
          </p:nvSpPr>
          <p:spPr>
            <a:xfrm>
              <a:off x="906780" y="4539615"/>
              <a:ext cx="10248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交点复杂度</a:t>
              </a:r>
            </a:p>
          </p:txBody>
        </p:sp>
      </p:grpSp>
      <p:grpSp>
        <p:nvGrpSpPr>
          <p:cNvPr id="19" name="footer"/>
          <p:cNvGrpSpPr/>
          <p:nvPr/>
        </p:nvGrpSpPr>
        <p:grpSpPr>
          <a:xfrm>
            <a:off x="528447" y="6581299"/>
            <a:ext cx="11135106" cy="190690"/>
            <a:chOff x="528447" y="6581299"/>
            <a:chExt cx="11135106" cy="190690"/>
          </a:xfrm>
        </p:grpSpPr>
        <p:sp>
          <p:nvSpPr>
            <p:cNvPr id="17" name="TextBox 17"/>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18" name="TextBox 1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44</a:t>
              </a:r>
            </a:p>
          </p:txBody>
        </p:sp>
      </p:grpSp>
    </p:spTree>
  </p:cSld>
  <p:clrMapOvr>
    <a:masterClrMapping/>
  </p:clrMapOvr>
  <p:transition xmlns:p14="http://schemas.microsoft.com/office/powerpoint/2010/main" p14:dur="400">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程序复杂程度的定量度量</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先说清度量有什么用，再说怎么算</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7" name="c1-bullets-1"/>
          <p:cNvGrpSpPr/>
          <p:nvPr/>
        </p:nvGrpSpPr>
        <p:grpSpPr>
          <a:xfrm>
            <a:off x="525780" y="1548765"/>
            <a:ext cx="4705350" cy="1623060"/>
            <a:chOff x="525780" y="1548765"/>
            <a:chExt cx="4705350" cy="1623060"/>
          </a:xfrm>
        </p:grpSpPr>
        <p:sp>
          <p:nvSpPr>
            <p:cNvPr id="7" name="TextBox 7"/>
            <p:cNvSpPr txBox="1"/>
            <p:nvPr/>
          </p:nvSpPr>
          <p:spPr>
            <a:xfrm>
              <a:off x="525780" y="1548765"/>
              <a:ext cx="264033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定量度量程序复杂程度的用途</a:t>
              </a:r>
            </a:p>
          </p:txBody>
        </p:sp>
        <p:sp>
          <p:nvSpPr>
            <p:cNvPr id="8" name="Ellipse 8"/>
            <p:cNvSpPr/>
            <p:nvPr/>
          </p:nvSpPr>
          <p:spPr>
            <a:xfrm>
              <a:off x="533400" y="1889760"/>
              <a:ext cx="213360" cy="213360"/>
            </a:xfrm>
            <a:prstGeom prst="ellipse">
              <a:avLst/>
            </a:prstGeom>
            <a:solidFill>
              <a:srgbClr val="334E68"/>
            </a:solidFill>
            <a:ln>
              <a:noFill/>
            </a:ln>
          </p:spPr>
        </p:sp>
        <p:sp>
          <p:nvSpPr>
            <p:cNvPr id="9" name="TextBox 9"/>
            <p:cNvSpPr txBox="1"/>
            <p:nvPr/>
          </p:nvSpPr>
          <p:spPr>
            <a:xfrm>
              <a:off x="595249" y="193205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1</a:t>
              </a:r>
            </a:p>
          </p:txBody>
        </p:sp>
        <p:sp>
          <p:nvSpPr>
            <p:cNvPr id="10" name="TextBox 10"/>
            <p:cNvSpPr txBox="1"/>
            <p:nvPr/>
          </p:nvSpPr>
          <p:spPr>
            <a:xfrm>
              <a:off x="834390" y="1903095"/>
              <a:ext cx="4396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把程序的复杂程度乘以适当常数，即可估算出软件中</a:t>
              </a:r>
              <a:br/>
              <a:r>
                <a:rPr lang="zh-CN" sz="1500" dirty="0">
                  <a:solidFill>
                    <a:srgbClr val="1F2937"/>
                  </a:solidFill>
                  <a:latin typeface="+mn-lt"/>
                  <a:ea typeface="+mn-ea"/>
                  <a:cs typeface="+mn-cs"/>
                </a:rPr>
                <a:t>错误的数量以及软件开发需要用的工作量</a:t>
              </a:r>
            </a:p>
          </p:txBody>
        </p:sp>
        <p:sp>
          <p:nvSpPr>
            <p:cNvPr id="11" name="Ellipse 11"/>
            <p:cNvSpPr/>
            <p:nvPr/>
          </p:nvSpPr>
          <p:spPr>
            <a:xfrm>
              <a:off x="533400" y="2520315"/>
              <a:ext cx="213360" cy="213360"/>
            </a:xfrm>
            <a:prstGeom prst="ellipse">
              <a:avLst/>
            </a:prstGeom>
            <a:solidFill>
              <a:srgbClr val="334E68"/>
            </a:solidFill>
            <a:ln>
              <a:noFill/>
            </a:ln>
          </p:spPr>
        </p:sp>
        <p:sp>
          <p:nvSpPr>
            <p:cNvPr id="12" name="TextBox 12"/>
            <p:cNvSpPr txBox="1"/>
            <p:nvPr/>
          </p:nvSpPr>
          <p:spPr>
            <a:xfrm>
              <a:off x="595249" y="256260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2</a:t>
              </a:r>
            </a:p>
          </p:txBody>
        </p:sp>
        <p:sp>
          <p:nvSpPr>
            <p:cNvPr id="13" name="TextBox 13"/>
            <p:cNvSpPr txBox="1"/>
            <p:nvPr/>
          </p:nvSpPr>
          <p:spPr>
            <a:xfrm>
              <a:off x="834390" y="2533650"/>
              <a:ext cx="42557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用来比较两个不同的设计或两个不同算法的优劣</a:t>
              </a:r>
            </a:p>
          </p:txBody>
        </p:sp>
        <p:sp>
          <p:nvSpPr>
            <p:cNvPr id="14" name="Ellipse 14"/>
            <p:cNvSpPr/>
            <p:nvPr/>
          </p:nvSpPr>
          <p:spPr>
            <a:xfrm>
              <a:off x="533400" y="2865120"/>
              <a:ext cx="213360" cy="213360"/>
            </a:xfrm>
            <a:prstGeom prst="ellipse">
              <a:avLst/>
            </a:prstGeom>
            <a:solidFill>
              <a:srgbClr val="334E68"/>
            </a:solidFill>
            <a:ln>
              <a:noFill/>
            </a:ln>
          </p:spPr>
        </p:sp>
        <p:sp>
          <p:nvSpPr>
            <p:cNvPr id="15" name="TextBox 15"/>
            <p:cNvSpPr txBox="1"/>
            <p:nvPr/>
          </p:nvSpPr>
          <p:spPr>
            <a:xfrm>
              <a:off x="595249" y="2907411"/>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3</a:t>
              </a:r>
            </a:p>
          </p:txBody>
        </p:sp>
        <p:sp>
          <p:nvSpPr>
            <p:cNvPr id="16" name="TextBox 16"/>
            <p:cNvSpPr txBox="1"/>
            <p:nvPr/>
          </p:nvSpPr>
          <p:spPr>
            <a:xfrm>
              <a:off x="834390" y="287845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作为模块规模的精确限度</a:t>
              </a:r>
            </a:p>
          </p:txBody>
        </p:sp>
      </p:grpSp>
      <p:grpSp>
        <p:nvGrpSpPr>
          <p:cNvPr id="24" name="c1-card-2"/>
          <p:cNvGrpSpPr/>
          <p:nvPr/>
        </p:nvGrpSpPr>
        <p:grpSpPr>
          <a:xfrm>
            <a:off x="533400" y="3303270"/>
            <a:ext cx="4977765" cy="2426970"/>
            <a:chOff x="533400" y="3303270"/>
            <a:chExt cx="4977765" cy="2426970"/>
          </a:xfrm>
        </p:grpSpPr>
        <p:sp>
          <p:nvSpPr>
            <p:cNvPr id="18" name="Rectangle 18"/>
            <p:cNvSpPr/>
            <p:nvPr/>
          </p:nvSpPr>
          <p:spPr>
            <a:xfrm>
              <a:off x="533400" y="3303270"/>
              <a:ext cx="4977765" cy="2426970"/>
            </a:xfrm>
            <a:prstGeom prst="roundRect">
              <a:avLst>
                <a:gd name="adj" fmla="val 5495"/>
              </a:avLst>
            </a:prstGeom>
            <a:solidFill>
              <a:srgbClr val="FFFFFF"/>
            </a:solidFill>
            <a:ln w="14288">
              <a:solidFill>
                <a:srgbClr val="D9DFEA"/>
              </a:solidFill>
            </a:ln>
          </p:spPr>
        </p:sp>
        <p:sp>
          <p:nvSpPr>
            <p:cNvPr id="19" name="Rectangle 19"/>
            <p:cNvSpPr/>
            <p:nvPr/>
          </p:nvSpPr>
          <p:spPr>
            <a:xfrm>
              <a:off x="542925" y="3436620"/>
              <a:ext cx="47625" cy="2160270"/>
            </a:xfrm>
            <a:prstGeom prst="roundRect">
              <a:avLst>
                <a:gd name="adj" fmla="val 50000"/>
              </a:avLst>
            </a:prstGeom>
            <a:solidFill>
              <a:srgbClr val="334E68"/>
            </a:solidFill>
            <a:ln>
              <a:noFill/>
            </a:ln>
          </p:spPr>
        </p:sp>
        <p:sp>
          <p:nvSpPr>
            <p:cNvPr id="20" name="Rectangle 20"/>
            <p:cNvSpPr/>
            <p:nvPr/>
          </p:nvSpPr>
          <p:spPr>
            <a:xfrm>
              <a:off x="781050" y="3512820"/>
              <a:ext cx="494348" cy="257175"/>
            </a:xfrm>
            <a:prstGeom prst="roundRect">
              <a:avLst>
                <a:gd name="adj" fmla="val 50000"/>
              </a:avLst>
            </a:prstGeom>
            <a:solidFill>
              <a:srgbClr val="E7EDF3"/>
            </a:solidFill>
            <a:ln>
              <a:noFill/>
            </a:ln>
          </p:spPr>
        </p:sp>
        <p:sp>
          <p:nvSpPr>
            <p:cNvPr id="21" name="TextBox 21"/>
            <p:cNvSpPr txBox="1"/>
            <p:nvPr/>
          </p:nvSpPr>
          <p:spPr>
            <a:xfrm>
              <a:off x="871258" y="3548539"/>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定义</a:t>
              </a:r>
            </a:p>
          </p:txBody>
        </p:sp>
        <p:sp>
          <p:nvSpPr>
            <p:cNvPr id="22" name="TextBox 22"/>
            <p:cNvSpPr txBox="1"/>
            <p:nvPr/>
          </p:nvSpPr>
          <p:spPr>
            <a:xfrm>
              <a:off x="1382078" y="3548062"/>
              <a:ext cx="102489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环形复杂度</a:t>
              </a:r>
            </a:p>
          </p:txBody>
        </p:sp>
        <p:sp>
          <p:nvSpPr>
            <p:cNvPr id="23" name="TextBox 23"/>
            <p:cNvSpPr txBox="1"/>
            <p:nvPr/>
          </p:nvSpPr>
          <p:spPr>
            <a:xfrm>
              <a:off x="773430" y="3909060"/>
              <a:ext cx="4206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McCabe 方法根据</a:t>
              </a:r>
              <a:r>
                <a:rPr lang="zh-CN" sz="1500" b="1" dirty="0">
                  <a:solidFill>
                    <a:srgbClr val="C2410C"/>
                  </a:solidFill>
                  <a:latin typeface="+mn-lt"/>
                  <a:ea typeface="+mn-ea"/>
                  <a:cs typeface="+mn-cs"/>
                </a:rPr>
                <a:t>程序控制流</a:t>
              </a:r>
              <a:r>
                <a:rPr lang="zh-CN" sz="1500" dirty="0">
                  <a:solidFill>
                    <a:srgbClr val="1F2937"/>
                  </a:solidFill>
                  <a:latin typeface="+mn-lt"/>
                  <a:ea typeface="+mn-ea"/>
                  <a:cs typeface="+mn-cs"/>
                </a:rPr>
                <a:t>的复杂程度定量度量</a:t>
              </a:r>
              <a:br/>
              <a:r>
                <a:rPr lang="zh-CN" sz="1500" dirty="0">
                  <a:solidFill>
                    <a:srgbClr val="1F2937"/>
                  </a:solidFill>
                  <a:latin typeface="+mn-lt"/>
                  <a:ea typeface="+mn-ea"/>
                  <a:cs typeface="+mn-cs"/>
                </a:rPr>
                <a:t>程序的复杂程度，度量出的结果称为程序的环形复</a:t>
              </a:r>
              <a:br/>
              <a:r>
                <a:rPr lang="zh-CN" sz="1500" dirty="0">
                  <a:solidFill>
                    <a:srgbClr val="1F2937"/>
                  </a:solidFill>
                  <a:latin typeface="+mn-lt"/>
                  <a:ea typeface="+mn-ea"/>
                  <a:cs typeface="+mn-cs"/>
                </a:rPr>
                <a:t>杂度。</a:t>
              </a:r>
            </a:p>
          </p:txBody>
        </p:sp>
      </p:grpSp>
      <p:grpSp>
        <p:nvGrpSpPr>
          <p:cNvPr id="31" name="c2-card-1"/>
          <p:cNvGrpSpPr/>
          <p:nvPr/>
        </p:nvGrpSpPr>
        <p:grpSpPr>
          <a:xfrm>
            <a:off x="5815965" y="1524000"/>
            <a:ext cx="5842635" cy="1621155"/>
            <a:chOff x="5815965" y="1524000"/>
            <a:chExt cx="5842635" cy="1621155"/>
          </a:xfrm>
        </p:grpSpPr>
        <p:sp>
          <p:nvSpPr>
            <p:cNvPr id="25" name="Rectangle 25"/>
            <p:cNvSpPr/>
            <p:nvPr/>
          </p:nvSpPr>
          <p:spPr>
            <a:xfrm>
              <a:off x="5815965" y="1524000"/>
              <a:ext cx="5842635" cy="1621155"/>
            </a:xfrm>
            <a:prstGeom prst="roundRect">
              <a:avLst>
                <a:gd name="adj" fmla="val 8226"/>
              </a:avLst>
            </a:prstGeom>
            <a:solidFill>
              <a:srgbClr val="FFFFFF"/>
            </a:solidFill>
            <a:ln w="14288">
              <a:solidFill>
                <a:srgbClr val="D9DFEA"/>
              </a:solidFill>
            </a:ln>
          </p:spPr>
        </p:sp>
        <p:sp>
          <p:nvSpPr>
            <p:cNvPr id="26" name="Rectangle 26"/>
            <p:cNvSpPr/>
            <p:nvPr/>
          </p:nvSpPr>
          <p:spPr>
            <a:xfrm>
              <a:off x="5825490" y="1657350"/>
              <a:ext cx="47625" cy="1354455"/>
            </a:xfrm>
            <a:prstGeom prst="roundRect">
              <a:avLst>
                <a:gd name="adj" fmla="val 50000"/>
              </a:avLst>
            </a:prstGeom>
            <a:solidFill>
              <a:srgbClr val="334E68"/>
            </a:solidFill>
            <a:ln>
              <a:noFill/>
            </a:ln>
          </p:spPr>
        </p:sp>
        <p:sp>
          <p:nvSpPr>
            <p:cNvPr id="27" name="Rectangle 27"/>
            <p:cNvSpPr/>
            <p:nvPr/>
          </p:nvSpPr>
          <p:spPr>
            <a:xfrm>
              <a:off x="6063615" y="1733550"/>
              <a:ext cx="494348" cy="257175"/>
            </a:xfrm>
            <a:prstGeom prst="roundRect">
              <a:avLst>
                <a:gd name="adj" fmla="val 50000"/>
              </a:avLst>
            </a:prstGeom>
            <a:solidFill>
              <a:srgbClr val="E7EDF3"/>
            </a:solidFill>
            <a:ln>
              <a:noFill/>
            </a:ln>
          </p:spPr>
        </p:sp>
        <p:sp>
          <p:nvSpPr>
            <p:cNvPr id="28" name="TextBox 28"/>
            <p:cNvSpPr txBox="1"/>
            <p:nvPr/>
          </p:nvSpPr>
          <p:spPr>
            <a:xfrm>
              <a:off x="6153823" y="1769269"/>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定义</a:t>
              </a:r>
            </a:p>
          </p:txBody>
        </p:sp>
        <p:sp>
          <p:nvSpPr>
            <p:cNvPr id="29" name="TextBox 29"/>
            <p:cNvSpPr txBox="1"/>
            <p:nvPr/>
          </p:nvSpPr>
          <p:spPr>
            <a:xfrm>
              <a:off x="6663690" y="1768792"/>
              <a:ext cx="183261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流图（也称程序图）</a:t>
              </a:r>
            </a:p>
          </p:txBody>
        </p:sp>
        <p:sp>
          <p:nvSpPr>
            <p:cNvPr id="30" name="TextBox 30"/>
            <p:cNvSpPr txBox="1"/>
            <p:nvPr/>
          </p:nvSpPr>
          <p:spPr>
            <a:xfrm>
              <a:off x="6055995" y="2129790"/>
              <a:ext cx="498729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实质上是"退化了的"程序流程图，它仅仅描绘程序的控制流</a:t>
              </a:r>
              <a:br/>
              <a:r>
                <a:rPr lang="zh-CN" sz="1500" dirty="0">
                  <a:solidFill>
                    <a:srgbClr val="1F2937"/>
                  </a:solidFill>
                  <a:latin typeface="+mn-lt"/>
                  <a:ea typeface="+mn-ea"/>
                  <a:cs typeface="+mn-cs"/>
                </a:rPr>
                <a:t>程，完全不表现对数据的具体操作以及分支或循环的具体条</a:t>
              </a:r>
              <a:br/>
              <a:r>
                <a:rPr lang="zh-CN" sz="1500" dirty="0">
                  <a:solidFill>
                    <a:srgbClr val="1F2937"/>
                  </a:solidFill>
                  <a:latin typeface="+mn-lt"/>
                  <a:ea typeface="+mn-ea"/>
                  <a:cs typeface="+mn-cs"/>
                </a:rPr>
                <a:t>件。</a:t>
              </a:r>
            </a:p>
          </p:txBody>
        </p:sp>
      </p:grpSp>
      <p:grpSp>
        <p:nvGrpSpPr>
          <p:cNvPr id="40" name="c2-kv-2"/>
          <p:cNvGrpSpPr/>
          <p:nvPr/>
        </p:nvGrpSpPr>
        <p:grpSpPr>
          <a:xfrm>
            <a:off x="5808345" y="3360420"/>
            <a:ext cx="5850255" cy="1455420"/>
            <a:chOff x="5808345" y="3360420"/>
            <a:chExt cx="5850255" cy="1455420"/>
          </a:xfrm>
        </p:grpSpPr>
        <p:sp>
          <p:nvSpPr>
            <p:cNvPr id="32" name="TextBox 32"/>
            <p:cNvSpPr txBox="1"/>
            <p:nvPr/>
          </p:nvSpPr>
          <p:spPr>
            <a:xfrm>
              <a:off x="5808345" y="3360420"/>
              <a:ext cx="41910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结点</a:t>
              </a:r>
            </a:p>
          </p:txBody>
        </p:sp>
        <p:sp>
          <p:nvSpPr>
            <p:cNvPr id="33" name="TextBox 33"/>
            <p:cNvSpPr txBox="1"/>
            <p:nvPr/>
          </p:nvSpPr>
          <p:spPr>
            <a:xfrm>
              <a:off x="6452235" y="3360420"/>
              <a:ext cx="28422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用圆表示，代表一条或多条语句</a:t>
              </a:r>
            </a:p>
          </p:txBody>
        </p:sp>
        <p:sp>
          <p:nvSpPr>
            <p:cNvPr id="34" name="Rectangle 34"/>
            <p:cNvSpPr/>
            <p:nvPr/>
          </p:nvSpPr>
          <p:spPr>
            <a:xfrm>
              <a:off x="5815965" y="3680460"/>
              <a:ext cx="5842635" cy="9525"/>
            </a:xfrm>
            <a:prstGeom prst="rect">
              <a:avLst/>
            </a:prstGeom>
            <a:solidFill>
              <a:srgbClr val="D9DFEA"/>
            </a:solidFill>
            <a:ln>
              <a:noFill/>
            </a:ln>
          </p:spPr>
        </p:sp>
        <p:sp>
          <p:nvSpPr>
            <p:cNvPr id="35" name="TextBox 35"/>
            <p:cNvSpPr txBox="1"/>
            <p:nvPr/>
          </p:nvSpPr>
          <p:spPr>
            <a:xfrm>
              <a:off x="5808345" y="3800475"/>
              <a:ext cx="21717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边</a:t>
              </a:r>
            </a:p>
          </p:txBody>
        </p:sp>
        <p:sp>
          <p:nvSpPr>
            <p:cNvPr id="36" name="TextBox 36"/>
            <p:cNvSpPr txBox="1"/>
            <p:nvPr/>
          </p:nvSpPr>
          <p:spPr>
            <a:xfrm>
              <a:off x="6452235" y="3800475"/>
              <a:ext cx="36499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用箭头表示，一条边必须终止于一个结点</a:t>
              </a:r>
            </a:p>
          </p:txBody>
        </p:sp>
        <p:sp>
          <p:nvSpPr>
            <p:cNvPr id="37" name="Rectangle 37"/>
            <p:cNvSpPr/>
            <p:nvPr/>
          </p:nvSpPr>
          <p:spPr>
            <a:xfrm>
              <a:off x="5815965" y="4120515"/>
              <a:ext cx="5842635" cy="9525"/>
            </a:xfrm>
            <a:prstGeom prst="rect">
              <a:avLst/>
            </a:prstGeom>
            <a:solidFill>
              <a:srgbClr val="D9DFEA"/>
            </a:solidFill>
            <a:ln>
              <a:noFill/>
            </a:ln>
          </p:spPr>
        </p:sp>
        <p:sp>
          <p:nvSpPr>
            <p:cNvPr id="38" name="TextBox 38"/>
            <p:cNvSpPr txBox="1"/>
            <p:nvPr/>
          </p:nvSpPr>
          <p:spPr>
            <a:xfrm>
              <a:off x="5808345" y="4240530"/>
              <a:ext cx="419100" cy="293370"/>
            </a:xfrm>
            <a:prstGeom prst="rect">
              <a:avLst/>
            </a:prstGeom>
            <a:noFill/>
            <a:ln>
              <a:noFill/>
            </a:ln>
          </p:spPr>
          <p:txBody>
            <a:bodyPr wrap="none" lIns="0" tIns="0" rIns="0" bIns="0" anchor="t" anchorCtr="0">
              <a:spAutoFit/>
            </a:bodyPr>
            <a:lstStyle/>
            <a:p>
              <a:pPr algn="l"/>
              <a:r>
                <a:rPr lang="zh-CN" sz="1500" b="1" dirty="0">
                  <a:solidFill>
                    <a:srgbClr val="334E68"/>
                  </a:solidFill>
                  <a:latin typeface="+mn-lt"/>
                  <a:ea typeface="+mn-ea"/>
                  <a:cs typeface="+mn-cs"/>
                </a:rPr>
                <a:t>区域</a:t>
              </a:r>
            </a:p>
          </p:txBody>
        </p:sp>
        <p:sp>
          <p:nvSpPr>
            <p:cNvPr id="39" name="TextBox 39"/>
            <p:cNvSpPr txBox="1"/>
            <p:nvPr/>
          </p:nvSpPr>
          <p:spPr>
            <a:xfrm>
              <a:off x="6452235" y="4240530"/>
              <a:ext cx="4968240" cy="57531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由边和结点围成的面积，数区域时图外那块无界区域也要算</a:t>
              </a:r>
              <a:br/>
              <a:r>
                <a:rPr lang="zh-CN" sz="1500" dirty="0">
                  <a:solidFill>
                    <a:srgbClr val="1F2937"/>
                  </a:solidFill>
                  <a:latin typeface="+mn-lt"/>
                  <a:ea typeface="+mn-ea"/>
                  <a:cs typeface="+mn-cs"/>
                </a:rPr>
                <a:t>上</a:t>
              </a:r>
            </a:p>
          </p:txBody>
        </p:sp>
      </p:grpSp>
      <p:grpSp>
        <p:nvGrpSpPr>
          <p:cNvPr id="47" name="c2-callout-3"/>
          <p:cNvGrpSpPr/>
          <p:nvPr/>
        </p:nvGrpSpPr>
        <p:grpSpPr>
          <a:xfrm>
            <a:off x="5815965" y="4947285"/>
            <a:ext cx="5842635" cy="782955"/>
            <a:chOff x="5815965" y="4947285"/>
            <a:chExt cx="5842635" cy="782955"/>
          </a:xfrm>
        </p:grpSpPr>
        <p:sp>
          <p:nvSpPr>
            <p:cNvPr id="41" name="Rectangle 41"/>
            <p:cNvSpPr/>
            <p:nvPr/>
          </p:nvSpPr>
          <p:spPr>
            <a:xfrm>
              <a:off x="5815965" y="4947285"/>
              <a:ext cx="5842635" cy="782955"/>
            </a:xfrm>
            <a:prstGeom prst="roundRect">
              <a:avLst>
                <a:gd name="adj" fmla="val 14599"/>
              </a:avLst>
            </a:prstGeom>
            <a:solidFill>
              <a:srgbClr val="FDEEE7"/>
            </a:solidFill>
            <a:ln>
              <a:noFill/>
            </a:ln>
          </p:spPr>
        </p:sp>
        <p:grpSp>
          <p:nvGrpSpPr>
            <p:cNvPr id="45" name="Group 45"/>
            <p:cNvGrpSpPr/>
            <p:nvPr/>
          </p:nvGrpSpPr>
          <p:grpSpPr>
            <a:xfrm>
              <a:off x="6020753" y="5238750"/>
              <a:ext cx="200026" cy="200025"/>
              <a:chOff x="6020753" y="5238750"/>
              <a:chExt cx="200026" cy="200025"/>
            </a:xfrm>
          </p:grpSpPr>
          <p:sp>
            <p:nvSpPr>
              <p:cNvPr id="42" name="Freeform 42"/>
              <p:cNvSpPr/>
              <p:nvPr/>
            </p:nvSpPr>
            <p:spPr>
              <a:xfrm>
                <a:off x="6020753" y="523875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3" name="Freeform 43"/>
              <p:cNvSpPr/>
              <p:nvPr/>
            </p:nvSpPr>
            <p:spPr>
              <a:xfrm>
                <a:off x="6060491" y="528320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4" name="Freeform 44"/>
              <p:cNvSpPr/>
              <p:nvPr/>
            </p:nvSpPr>
            <p:spPr>
              <a:xfrm>
                <a:off x="6095207" y="539432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46" name="TextBox 46"/>
            <p:cNvSpPr txBox="1"/>
            <p:nvPr/>
          </p:nvSpPr>
          <p:spPr>
            <a:xfrm>
              <a:off x="6322695" y="5095875"/>
              <a:ext cx="45872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判断条件写的是什么、处理框里做了什么，流图一概不</a:t>
              </a:r>
              <a:br/>
              <a:r>
                <a:rPr lang="zh-CN" sz="1500" dirty="0">
                  <a:solidFill>
                    <a:srgbClr val="C2410C"/>
                  </a:solidFill>
                  <a:latin typeface="+mn-lt"/>
                  <a:ea typeface="+mn-ea"/>
                  <a:cs typeface="+mn-cs"/>
                </a:rPr>
                <a:t>画，只留下"有几条路"。</a:t>
              </a:r>
            </a:p>
          </p:txBody>
        </p:sp>
      </p:grpSp>
      <p:grpSp>
        <p:nvGrpSpPr>
          <p:cNvPr id="50" name="footer"/>
          <p:cNvGrpSpPr/>
          <p:nvPr/>
        </p:nvGrpSpPr>
        <p:grpSpPr>
          <a:xfrm>
            <a:off x="528447" y="6581299"/>
            <a:ext cx="11135106" cy="190690"/>
            <a:chOff x="528447" y="6581299"/>
            <a:chExt cx="11135106" cy="190690"/>
          </a:xfrm>
        </p:grpSpPr>
        <p:sp>
          <p:nvSpPr>
            <p:cNvPr id="48" name="TextBox 48"/>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49" name="TextBox 4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45</a:t>
              </a:r>
            </a:p>
          </p:txBody>
        </p:sp>
      </p:grpSp>
    </p:spTree>
  </p:cSld>
  <p:clrMapOvr>
    <a:masterClrMapping/>
  </p:clrMapOvr>
  <p:transition xmlns:p14="http://schemas.microsoft.com/office/powerpoint/2010/main" p14:dur="400">
    <p:fade/>
  </p:transition>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程序复杂程度的定量度量</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五种基本结构的边数、结点数与环形复杂度</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45" name="c1-table-1"/>
          <p:cNvGrpSpPr/>
          <p:nvPr/>
        </p:nvGrpSpPr>
        <p:grpSpPr>
          <a:xfrm>
            <a:off x="533400" y="1524000"/>
            <a:ext cx="4760595" cy="2919412"/>
            <a:chOff x="533400" y="1524000"/>
            <a:chExt cx="4760595" cy="2919412"/>
          </a:xfrm>
        </p:grpSpPr>
        <p:sp>
          <p:nvSpPr>
            <p:cNvPr id="7" name="Rectangle 7"/>
            <p:cNvSpPr/>
            <p:nvPr/>
          </p:nvSpPr>
          <p:spPr>
            <a:xfrm>
              <a:off x="533400" y="1524000"/>
              <a:ext cx="4760595" cy="448628"/>
            </a:xfrm>
            <a:prstGeom prst="rect">
              <a:avLst/>
            </a:prstGeom>
            <a:solidFill>
              <a:srgbClr val="334E68"/>
            </a:solidFill>
            <a:ln>
              <a:noFill/>
            </a:ln>
          </p:spPr>
        </p:sp>
        <p:sp>
          <p:nvSpPr>
            <p:cNvPr id="8" name="TextBox 8"/>
            <p:cNvSpPr txBox="1"/>
            <p:nvPr/>
          </p:nvSpPr>
          <p:spPr>
            <a:xfrm>
              <a:off x="1449984"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结构</a:t>
              </a:r>
            </a:p>
          </p:txBody>
        </p:sp>
        <p:sp>
          <p:nvSpPr>
            <p:cNvPr id="9" name="TextBox 9"/>
            <p:cNvSpPr txBox="1"/>
            <p:nvPr/>
          </p:nvSpPr>
          <p:spPr>
            <a:xfrm>
              <a:off x="3092774" y="1659731"/>
              <a:ext cx="118098"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E</a:t>
              </a:r>
            </a:p>
          </p:txBody>
        </p:sp>
        <p:sp>
          <p:nvSpPr>
            <p:cNvPr id="10" name="TextBox 10"/>
            <p:cNvSpPr txBox="1"/>
            <p:nvPr/>
          </p:nvSpPr>
          <p:spPr>
            <a:xfrm>
              <a:off x="3950024" y="1659731"/>
              <a:ext cx="118098"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N</a:t>
              </a:r>
            </a:p>
          </p:txBody>
        </p:sp>
        <p:sp>
          <p:nvSpPr>
            <p:cNvPr id="11" name="TextBox 11"/>
            <p:cNvSpPr txBox="1"/>
            <p:nvPr/>
          </p:nvSpPr>
          <p:spPr>
            <a:xfrm>
              <a:off x="4649558" y="1659731"/>
              <a:ext cx="433529" cy="249364"/>
            </a:xfrm>
            <a:prstGeom prst="rect">
              <a:avLst/>
            </a:prstGeom>
            <a:noFill/>
            <a:ln>
              <a:noFill/>
            </a:ln>
          </p:spPr>
          <p:txBody>
            <a:bodyPr wrap="none" lIns="0" tIns="0" rIns="0" bIns="0" anchor="t" anchorCtr="0">
              <a:spAutoFit/>
            </a:bodyPr>
            <a:lstStyle/>
            <a:p>
              <a:pPr algn="ctr"/>
              <a:r>
                <a:rPr lang="en-US" sz="1280" b="1" dirty="0">
                  <a:solidFill>
                    <a:srgbClr val="FFFFFF"/>
                  </a:solidFill>
                  <a:latin typeface="+mn-lt"/>
                  <a:ea typeface="+mn-ea"/>
                  <a:cs typeface="+mn-cs"/>
                </a:rPr>
                <a:t>V(G)</a:t>
              </a:r>
            </a:p>
          </p:txBody>
        </p:sp>
        <p:sp>
          <p:nvSpPr>
            <p:cNvPr id="12" name="TextBox 12"/>
            <p:cNvSpPr txBox="1"/>
            <p:nvPr/>
          </p:nvSpPr>
          <p:spPr>
            <a:xfrm>
              <a:off x="641223" y="2108359"/>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顺序型</a:t>
              </a:r>
            </a:p>
          </p:txBody>
        </p:sp>
        <p:sp>
          <p:nvSpPr>
            <p:cNvPr id="13" name="TextBox 13"/>
            <p:cNvSpPr txBox="1"/>
            <p:nvPr/>
          </p:nvSpPr>
          <p:spPr>
            <a:xfrm>
              <a:off x="3097959" y="2108359"/>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1</a:t>
              </a:r>
            </a:p>
          </p:txBody>
        </p:sp>
        <p:sp>
          <p:nvSpPr>
            <p:cNvPr id="14" name="TextBox 14"/>
            <p:cNvSpPr txBox="1"/>
            <p:nvPr/>
          </p:nvSpPr>
          <p:spPr>
            <a:xfrm>
              <a:off x="3955209" y="2108359"/>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2</a:t>
              </a:r>
            </a:p>
          </p:txBody>
        </p:sp>
        <p:sp>
          <p:nvSpPr>
            <p:cNvPr id="15" name="TextBox 15"/>
            <p:cNvSpPr txBox="1"/>
            <p:nvPr/>
          </p:nvSpPr>
          <p:spPr>
            <a:xfrm>
              <a:off x="4812459" y="2108359"/>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1</a:t>
              </a:r>
            </a:p>
          </p:txBody>
        </p:sp>
        <p:sp>
          <p:nvSpPr>
            <p:cNvPr id="16" name="Rectangle 16"/>
            <p:cNvSpPr/>
            <p:nvPr/>
          </p:nvSpPr>
          <p:spPr>
            <a:xfrm>
              <a:off x="533400" y="2416492"/>
              <a:ext cx="4760595" cy="9525"/>
            </a:xfrm>
            <a:prstGeom prst="rect">
              <a:avLst/>
            </a:prstGeom>
            <a:solidFill>
              <a:srgbClr val="D9DFEA"/>
            </a:solidFill>
            <a:ln>
              <a:noFill/>
            </a:ln>
          </p:spPr>
        </p:sp>
        <p:sp>
          <p:nvSpPr>
            <p:cNvPr id="17" name="Rectangle 17"/>
            <p:cNvSpPr/>
            <p:nvPr/>
          </p:nvSpPr>
          <p:spPr>
            <a:xfrm>
              <a:off x="533400" y="2421255"/>
              <a:ext cx="4760595" cy="448628"/>
            </a:xfrm>
            <a:prstGeom prst="rect">
              <a:avLst/>
            </a:prstGeom>
            <a:solidFill>
              <a:srgbClr val="F4F6FB"/>
            </a:solidFill>
            <a:ln>
              <a:noFill/>
            </a:ln>
          </p:spPr>
        </p:sp>
        <p:sp>
          <p:nvSpPr>
            <p:cNvPr id="18" name="TextBox 18"/>
            <p:cNvSpPr txBox="1"/>
            <p:nvPr/>
          </p:nvSpPr>
          <p:spPr>
            <a:xfrm>
              <a:off x="641223" y="2556986"/>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选择型</a:t>
              </a:r>
            </a:p>
          </p:txBody>
        </p:sp>
        <p:sp>
          <p:nvSpPr>
            <p:cNvPr id="19" name="TextBox 19"/>
            <p:cNvSpPr txBox="1"/>
            <p:nvPr/>
          </p:nvSpPr>
          <p:spPr>
            <a:xfrm>
              <a:off x="3097959" y="2556986"/>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4</a:t>
              </a:r>
            </a:p>
          </p:txBody>
        </p:sp>
        <p:sp>
          <p:nvSpPr>
            <p:cNvPr id="20" name="TextBox 20"/>
            <p:cNvSpPr txBox="1"/>
            <p:nvPr/>
          </p:nvSpPr>
          <p:spPr>
            <a:xfrm>
              <a:off x="3955209" y="2556986"/>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4</a:t>
              </a:r>
            </a:p>
          </p:txBody>
        </p:sp>
        <p:sp>
          <p:nvSpPr>
            <p:cNvPr id="21" name="Rectangle 21"/>
            <p:cNvSpPr/>
            <p:nvPr/>
          </p:nvSpPr>
          <p:spPr>
            <a:xfrm>
              <a:off x="4447222" y="2430780"/>
              <a:ext cx="838200" cy="429578"/>
            </a:xfrm>
            <a:prstGeom prst="rect">
              <a:avLst/>
            </a:prstGeom>
            <a:solidFill>
              <a:srgbClr val="FDEEE7"/>
            </a:solidFill>
            <a:ln>
              <a:noFill/>
            </a:ln>
          </p:spPr>
        </p:sp>
        <p:sp>
          <p:nvSpPr>
            <p:cNvPr id="22" name="TextBox 22"/>
            <p:cNvSpPr txBox="1"/>
            <p:nvPr/>
          </p:nvSpPr>
          <p:spPr>
            <a:xfrm>
              <a:off x="4812459" y="2556986"/>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2</a:t>
              </a:r>
            </a:p>
          </p:txBody>
        </p:sp>
        <p:sp>
          <p:nvSpPr>
            <p:cNvPr id="23" name="Rectangle 23"/>
            <p:cNvSpPr/>
            <p:nvPr/>
          </p:nvSpPr>
          <p:spPr>
            <a:xfrm>
              <a:off x="533400" y="2866072"/>
              <a:ext cx="4760595" cy="9525"/>
            </a:xfrm>
            <a:prstGeom prst="rect">
              <a:avLst/>
            </a:prstGeom>
            <a:solidFill>
              <a:srgbClr val="D9DFEA"/>
            </a:solidFill>
            <a:ln>
              <a:noFill/>
            </a:ln>
          </p:spPr>
        </p:sp>
        <p:sp>
          <p:nvSpPr>
            <p:cNvPr id="24" name="TextBox 24"/>
            <p:cNvSpPr txBox="1"/>
            <p:nvPr/>
          </p:nvSpPr>
          <p:spPr>
            <a:xfrm>
              <a:off x="641223" y="3005614"/>
              <a:ext cx="931093"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WHILE 循环</a:t>
              </a:r>
            </a:p>
          </p:txBody>
        </p:sp>
        <p:sp>
          <p:nvSpPr>
            <p:cNvPr id="25" name="TextBox 25"/>
            <p:cNvSpPr txBox="1"/>
            <p:nvPr/>
          </p:nvSpPr>
          <p:spPr>
            <a:xfrm>
              <a:off x="3097959" y="3005614"/>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3</a:t>
              </a:r>
            </a:p>
          </p:txBody>
        </p:sp>
        <p:sp>
          <p:nvSpPr>
            <p:cNvPr id="26" name="TextBox 26"/>
            <p:cNvSpPr txBox="1"/>
            <p:nvPr/>
          </p:nvSpPr>
          <p:spPr>
            <a:xfrm>
              <a:off x="3955209" y="3005614"/>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3</a:t>
              </a:r>
            </a:p>
          </p:txBody>
        </p:sp>
        <p:sp>
          <p:nvSpPr>
            <p:cNvPr id="27" name="Rectangle 27"/>
            <p:cNvSpPr/>
            <p:nvPr/>
          </p:nvSpPr>
          <p:spPr>
            <a:xfrm>
              <a:off x="4447222" y="2880360"/>
              <a:ext cx="838200" cy="429578"/>
            </a:xfrm>
            <a:prstGeom prst="rect">
              <a:avLst/>
            </a:prstGeom>
            <a:solidFill>
              <a:srgbClr val="FDEEE7"/>
            </a:solidFill>
            <a:ln>
              <a:noFill/>
            </a:ln>
          </p:spPr>
        </p:sp>
        <p:sp>
          <p:nvSpPr>
            <p:cNvPr id="28" name="TextBox 28"/>
            <p:cNvSpPr txBox="1"/>
            <p:nvPr/>
          </p:nvSpPr>
          <p:spPr>
            <a:xfrm>
              <a:off x="4812459" y="3005614"/>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2</a:t>
              </a:r>
            </a:p>
          </p:txBody>
        </p:sp>
        <p:sp>
          <p:nvSpPr>
            <p:cNvPr id="29" name="Rectangle 29"/>
            <p:cNvSpPr/>
            <p:nvPr/>
          </p:nvSpPr>
          <p:spPr>
            <a:xfrm>
              <a:off x="533400" y="3314700"/>
              <a:ext cx="4760595" cy="9525"/>
            </a:xfrm>
            <a:prstGeom prst="rect">
              <a:avLst/>
            </a:prstGeom>
            <a:solidFill>
              <a:srgbClr val="D9DFEA"/>
            </a:solidFill>
            <a:ln>
              <a:noFill/>
            </a:ln>
          </p:spPr>
        </p:sp>
        <p:sp>
          <p:nvSpPr>
            <p:cNvPr id="30" name="Rectangle 30"/>
            <p:cNvSpPr/>
            <p:nvPr/>
          </p:nvSpPr>
          <p:spPr>
            <a:xfrm>
              <a:off x="533400" y="3319462"/>
              <a:ext cx="4760595" cy="448628"/>
            </a:xfrm>
            <a:prstGeom prst="rect">
              <a:avLst/>
            </a:prstGeom>
            <a:solidFill>
              <a:srgbClr val="F4F6FB"/>
            </a:solidFill>
            <a:ln>
              <a:noFill/>
            </a:ln>
          </p:spPr>
        </p:sp>
        <p:sp>
          <p:nvSpPr>
            <p:cNvPr id="31" name="TextBox 31"/>
            <p:cNvSpPr txBox="1"/>
            <p:nvPr/>
          </p:nvSpPr>
          <p:spPr>
            <a:xfrm>
              <a:off x="641223" y="3454241"/>
              <a:ext cx="892859"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UNTIL 循环</a:t>
              </a:r>
            </a:p>
          </p:txBody>
        </p:sp>
        <p:sp>
          <p:nvSpPr>
            <p:cNvPr id="32" name="TextBox 32"/>
            <p:cNvSpPr txBox="1"/>
            <p:nvPr/>
          </p:nvSpPr>
          <p:spPr>
            <a:xfrm>
              <a:off x="3097959" y="3454241"/>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3</a:t>
              </a:r>
            </a:p>
          </p:txBody>
        </p:sp>
        <p:sp>
          <p:nvSpPr>
            <p:cNvPr id="33" name="TextBox 33"/>
            <p:cNvSpPr txBox="1"/>
            <p:nvPr/>
          </p:nvSpPr>
          <p:spPr>
            <a:xfrm>
              <a:off x="3955209" y="3454241"/>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3</a:t>
              </a:r>
            </a:p>
          </p:txBody>
        </p:sp>
        <p:sp>
          <p:nvSpPr>
            <p:cNvPr id="34" name="Rectangle 34"/>
            <p:cNvSpPr/>
            <p:nvPr/>
          </p:nvSpPr>
          <p:spPr>
            <a:xfrm>
              <a:off x="4447222" y="3328988"/>
              <a:ext cx="838200" cy="429578"/>
            </a:xfrm>
            <a:prstGeom prst="rect">
              <a:avLst/>
            </a:prstGeom>
            <a:solidFill>
              <a:srgbClr val="FDEEE7"/>
            </a:solidFill>
            <a:ln>
              <a:noFill/>
            </a:ln>
          </p:spPr>
        </p:sp>
        <p:sp>
          <p:nvSpPr>
            <p:cNvPr id="35" name="TextBox 35"/>
            <p:cNvSpPr txBox="1"/>
            <p:nvPr/>
          </p:nvSpPr>
          <p:spPr>
            <a:xfrm>
              <a:off x="4812459" y="3454241"/>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2</a:t>
              </a:r>
            </a:p>
          </p:txBody>
        </p:sp>
        <p:sp>
          <p:nvSpPr>
            <p:cNvPr id="36" name="Rectangle 36"/>
            <p:cNvSpPr/>
            <p:nvPr/>
          </p:nvSpPr>
          <p:spPr>
            <a:xfrm>
              <a:off x="533400" y="3763328"/>
              <a:ext cx="4760595" cy="9525"/>
            </a:xfrm>
            <a:prstGeom prst="rect">
              <a:avLst/>
            </a:prstGeom>
            <a:solidFill>
              <a:srgbClr val="D9DFEA"/>
            </a:solidFill>
            <a:ln>
              <a:noFill/>
            </a:ln>
          </p:spPr>
        </p:sp>
        <p:sp>
          <p:nvSpPr>
            <p:cNvPr id="37" name="TextBox 37"/>
            <p:cNvSpPr txBox="1"/>
            <p:nvPr/>
          </p:nvSpPr>
          <p:spPr>
            <a:xfrm>
              <a:off x="641223" y="3903821"/>
              <a:ext cx="1801114" cy="476059"/>
            </a:xfrm>
            <a:prstGeom prst="rect">
              <a:avLst/>
            </a:prstGeom>
            <a:noFill/>
            <a:ln>
              <a:noFill/>
            </a:ln>
          </p:spPr>
          <p:txBody>
            <a:bodyPr wrap="none" lIns="0" tIns="0" rIns="0" bIns="0" anchor="t" anchorCtr="0">
              <a:spAutoFit/>
            </a:bodyPr>
            <a:lstStyle/>
            <a:p>
              <a:pPr algn="l">
                <a:lnSpc>
                  <a:spcPts val="1785"/>
                </a:lnSpc>
              </a:pPr>
              <a:r>
                <a:rPr lang="zh-CN" sz="1280" b="1" dirty="0">
                  <a:solidFill>
                    <a:srgbClr val="1F2937"/>
                  </a:solidFill>
                  <a:latin typeface="+mn-lt"/>
                  <a:ea typeface="+mn-ea"/>
                  <a:cs typeface="+mn-cs"/>
                </a:rPr>
                <a:t>示例（选择里再套一层选</a:t>
              </a:r>
              <a:br/>
              <a:r>
                <a:rPr lang="zh-CN" sz="1280" b="1" dirty="0">
                  <a:solidFill>
                    <a:srgbClr val="1F2937"/>
                  </a:solidFill>
                  <a:latin typeface="+mn-lt"/>
                  <a:ea typeface="+mn-ea"/>
                  <a:cs typeface="+mn-cs"/>
                </a:rPr>
                <a:t>择）</a:t>
              </a:r>
            </a:p>
          </p:txBody>
        </p:sp>
        <p:sp>
          <p:nvSpPr>
            <p:cNvPr id="38" name="TextBox 38"/>
            <p:cNvSpPr txBox="1"/>
            <p:nvPr/>
          </p:nvSpPr>
          <p:spPr>
            <a:xfrm>
              <a:off x="3097959" y="4017169"/>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7</a:t>
              </a:r>
            </a:p>
          </p:txBody>
        </p:sp>
        <p:sp>
          <p:nvSpPr>
            <p:cNvPr id="39" name="TextBox 39"/>
            <p:cNvSpPr txBox="1"/>
            <p:nvPr/>
          </p:nvSpPr>
          <p:spPr>
            <a:xfrm>
              <a:off x="3955209" y="4017169"/>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6</a:t>
              </a:r>
            </a:p>
          </p:txBody>
        </p:sp>
        <p:sp>
          <p:nvSpPr>
            <p:cNvPr id="40" name="TextBox 40"/>
            <p:cNvSpPr txBox="1"/>
            <p:nvPr/>
          </p:nvSpPr>
          <p:spPr>
            <a:xfrm>
              <a:off x="4812459" y="4017169"/>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3</a:t>
              </a:r>
            </a:p>
          </p:txBody>
        </p:sp>
        <p:sp>
          <p:nvSpPr>
            <p:cNvPr id="41" name="Rectangle 41"/>
            <p:cNvSpPr/>
            <p:nvPr/>
          </p:nvSpPr>
          <p:spPr>
            <a:xfrm>
              <a:off x="533400" y="1524000"/>
              <a:ext cx="4760595" cy="2919412"/>
            </a:xfrm>
            <a:prstGeom prst="rect">
              <a:avLst/>
            </a:prstGeom>
            <a:noFill/>
            <a:ln w="14288">
              <a:solidFill>
                <a:srgbClr val="D9DFEA"/>
              </a:solidFill>
            </a:ln>
          </p:spPr>
        </p:sp>
        <p:sp>
          <p:nvSpPr>
            <p:cNvPr id="42" name="Rectangle 42"/>
            <p:cNvSpPr/>
            <p:nvPr/>
          </p:nvSpPr>
          <p:spPr>
            <a:xfrm>
              <a:off x="2718435" y="1524000"/>
              <a:ext cx="9525" cy="2919412"/>
            </a:xfrm>
            <a:prstGeom prst="rect">
              <a:avLst/>
            </a:prstGeom>
            <a:solidFill>
              <a:srgbClr val="D9DFEA"/>
            </a:solidFill>
            <a:ln>
              <a:noFill/>
            </a:ln>
          </p:spPr>
        </p:sp>
        <p:sp>
          <p:nvSpPr>
            <p:cNvPr id="43" name="Rectangle 43"/>
            <p:cNvSpPr/>
            <p:nvPr/>
          </p:nvSpPr>
          <p:spPr>
            <a:xfrm>
              <a:off x="3575685" y="1524000"/>
              <a:ext cx="9525" cy="2919412"/>
            </a:xfrm>
            <a:prstGeom prst="rect">
              <a:avLst/>
            </a:prstGeom>
            <a:solidFill>
              <a:srgbClr val="D9DFEA"/>
            </a:solidFill>
            <a:ln>
              <a:noFill/>
            </a:ln>
          </p:spPr>
        </p:sp>
        <p:sp>
          <p:nvSpPr>
            <p:cNvPr id="44" name="Rectangle 44"/>
            <p:cNvSpPr/>
            <p:nvPr/>
          </p:nvSpPr>
          <p:spPr>
            <a:xfrm>
              <a:off x="4432935" y="1524000"/>
              <a:ext cx="9525" cy="2919412"/>
            </a:xfrm>
            <a:prstGeom prst="rect">
              <a:avLst/>
            </a:prstGeom>
            <a:solidFill>
              <a:srgbClr val="D9DFEA"/>
            </a:solidFill>
            <a:ln>
              <a:noFill/>
            </a:ln>
          </p:spPr>
        </p:sp>
      </p:grpSp>
      <mc:AlternateContent xmlns:mc="http://schemas.openxmlformats.org/markup-compatibility/2006">
        <mc:Choice xmlns:a14="http://schemas.microsoft.com/office/drawing/2010/main" Requires="a14">
          <p:sp>
            <p:nvSpPr>
              <p:cNvPr id="46" name="formula3"/>
              <p:cNvSpPr txBox="1">
                <a:spLocks noGrp="1"/>
              </p:cNvSpPr>
              <p:nvPr/>
            </p:nvSpPr>
            <p:spPr>
              <a:xfrm>
                <a:off x="533400" y="4633912"/>
                <a:ext cx="4760595" cy="4953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950" dirty="0">
                          <a:solidFill>
                            <a:srgbClr val="1F2937"/>
                          </a:solidFill>
                          <a:latin typeface="Cambria Math"/>
                          <a:ea typeface="Cambria Math"/>
                          <a:cs typeface="Cambria Math"/>
                        </a:rPr>
                        <m:t>V</m:t>
                      </m:r>
                      <m:d>
                        <m:dPr>
                          <m:begChr m:val="("/>
                          <m:sepChr m:val=""/>
                          <m:endChr m:val=")"/>
                          <m:grow m:val="on"/>
                          <m:ctrlPr>
                            <a:rPr lang="zh-CN" sz="1950" dirty="0">
                              <a:solidFill>
                                <a:srgbClr val="1F2937"/>
                              </a:solidFill>
                              <a:latin typeface="Cambria Math"/>
                              <a:ea typeface="Cambria Math"/>
                              <a:cs typeface="Cambria Math"/>
                            </a:rPr>
                          </m:ctrlPr>
                        </m:dPr>
                        <m:e>
                          <m:r>
                            <a:rPr lang="zh-CN" sz="1950" dirty="0">
                              <a:solidFill>
                                <a:srgbClr val="1F2937"/>
                              </a:solidFill>
                              <a:latin typeface="Cambria Math"/>
                              <a:ea typeface="Cambria Math"/>
                              <a:cs typeface="Cambria Math"/>
                            </a:rPr>
                            <m:t>G</m:t>
                          </m:r>
                        </m:e>
                      </m:d>
                      <m:r>
                        <m:rPr>
                          <m:sty m:val="p"/>
                        </m:rPr>
                        <a:rPr lang="zh-CN" sz="1950" dirty="0">
                          <a:solidFill>
                            <a:srgbClr val="1F2937"/>
                          </a:solidFill>
                          <a:latin typeface="Cambria Math"/>
                          <a:ea typeface="Cambria Math"/>
                          <a:cs typeface="Cambria Math"/>
                        </a:rPr>
                        <m:t>=</m:t>
                      </m:r>
                      <m:r>
                        <a:rPr lang="zh-CN" sz="1950" dirty="0">
                          <a:solidFill>
                            <a:srgbClr val="1F2937"/>
                          </a:solidFill>
                          <a:latin typeface="Cambria Math"/>
                          <a:ea typeface="Cambria Math"/>
                          <a:cs typeface="Cambria Math"/>
                        </a:rPr>
                        <m:t>E</m:t>
                      </m:r>
                      <m:r>
                        <m:rPr>
                          <m:sty m:val="p"/>
                        </m:rPr>
                        <a:rPr lang="zh-CN" sz="1950" dirty="0">
                          <a:solidFill>
                            <a:srgbClr val="1F2937"/>
                          </a:solidFill>
                          <a:latin typeface="Cambria Math"/>
                          <a:ea typeface="Cambria Math"/>
                          <a:cs typeface="Cambria Math"/>
                        </a:rPr>
                        <m:t>−</m:t>
                      </m:r>
                      <m:r>
                        <a:rPr lang="zh-CN" sz="1950" dirty="0">
                          <a:solidFill>
                            <a:srgbClr val="1F2937"/>
                          </a:solidFill>
                          <a:latin typeface="Cambria Math"/>
                          <a:ea typeface="Cambria Math"/>
                          <a:cs typeface="Cambria Math"/>
                        </a:rPr>
                        <m:t>N</m:t>
                      </m:r>
                      <m:r>
                        <m:rPr>
                          <m:sty m:val="p"/>
                        </m:rPr>
                        <a:rPr lang="zh-CN" sz="1950" dirty="0">
                          <a:solidFill>
                            <a:srgbClr val="1F2937"/>
                          </a:solidFill>
                          <a:latin typeface="Cambria Math"/>
                          <a:ea typeface="Cambria Math"/>
                          <a:cs typeface="Cambria Math"/>
                        </a:rPr>
                        <m:t>+</m:t>
                      </m:r>
                      <m:r>
                        <a:rPr lang="zh-CN" sz="1950" dirty="0">
                          <a:solidFill>
                            <a:srgbClr val="1F2937"/>
                          </a:solidFill>
                          <a:latin typeface="Cambria Math"/>
                          <a:ea typeface="Cambria Math"/>
                          <a:cs typeface="Cambria Math"/>
                        </a:rPr>
                        <m:t>2</m:t>
                      </m:r>
                    </m:oMath>
                  </m:oMathPara>
                </a14:m>
              </a:p>
            </p:txBody>
          </p:sp>
        </mc:Choice>
      </mc:AlternateContent>
      <p:grpSp>
        <p:nvGrpSpPr>
          <p:cNvPr id="52" name="c1-callout-3"/>
          <p:cNvGrpSpPr/>
          <p:nvPr/>
        </p:nvGrpSpPr>
        <p:grpSpPr>
          <a:xfrm>
            <a:off x="533400" y="5319712"/>
            <a:ext cx="4760595" cy="782955"/>
            <a:chOff x="533400" y="5319712"/>
            <a:chExt cx="4760595" cy="782955"/>
          </a:xfrm>
        </p:grpSpPr>
        <p:sp>
          <p:nvSpPr>
            <p:cNvPr id="47" name="Rectangle 47"/>
            <p:cNvSpPr/>
            <p:nvPr/>
          </p:nvSpPr>
          <p:spPr>
            <a:xfrm>
              <a:off x="533400" y="5319712"/>
              <a:ext cx="4760595" cy="782955"/>
            </a:xfrm>
            <a:prstGeom prst="roundRect">
              <a:avLst>
                <a:gd name="adj" fmla="val 14599"/>
              </a:avLst>
            </a:prstGeom>
            <a:solidFill>
              <a:srgbClr val="334E68"/>
            </a:solidFill>
            <a:ln>
              <a:noFill/>
            </a:ln>
          </p:spPr>
        </p:sp>
        <p:grpSp>
          <p:nvGrpSpPr>
            <p:cNvPr id="50" name="Group 50"/>
            <p:cNvGrpSpPr/>
            <p:nvPr/>
          </p:nvGrpSpPr>
          <p:grpSpPr>
            <a:xfrm>
              <a:off x="738188" y="5611180"/>
              <a:ext cx="200023" cy="200023"/>
              <a:chOff x="738188" y="5611180"/>
              <a:chExt cx="200023" cy="200023"/>
            </a:xfrm>
          </p:grpSpPr>
          <p:sp>
            <p:nvSpPr>
              <p:cNvPr id="48" name="Freeform 48"/>
              <p:cNvSpPr/>
              <p:nvPr/>
            </p:nvSpPr>
            <p:spPr>
              <a:xfrm>
                <a:off x="738188" y="561118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9" name="Freeform 49"/>
              <p:cNvSpPr/>
              <p:nvPr/>
            </p:nvSpPr>
            <p:spPr>
              <a:xfrm>
                <a:off x="871538" y="567785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1" name="TextBox 51"/>
            <p:cNvSpPr txBox="1"/>
            <p:nvPr/>
          </p:nvSpPr>
          <p:spPr>
            <a:xfrm>
              <a:off x="1040130" y="5468302"/>
              <a:ext cx="38252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顺序结构不增加复杂度，一个判断或一个循环</a:t>
              </a:r>
              <a:br/>
              <a:r>
                <a:rPr lang="zh-CN" sz="1500" dirty="0">
                  <a:solidFill>
                    <a:srgbClr val="FFFFFF"/>
                  </a:solidFill>
                  <a:latin typeface="+mn-lt"/>
                  <a:ea typeface="+mn-ea"/>
                  <a:cs typeface="+mn-cs"/>
                </a:rPr>
                <a:t>各增加 1。</a:t>
              </a:r>
            </a:p>
          </p:txBody>
        </p:sp>
      </p:grpSp>
      <p:grpSp>
        <p:nvGrpSpPr>
          <p:cNvPr id="107" name="c2-graph-1"/>
          <p:cNvGrpSpPr/>
          <p:nvPr/>
        </p:nvGrpSpPr>
        <p:grpSpPr>
          <a:xfrm>
            <a:off x="5966498" y="1952625"/>
            <a:ext cx="5673370" cy="3714749"/>
            <a:chOff x="5966498" y="1952625"/>
            <a:chExt cx="5673370" cy="3714749"/>
          </a:xfrm>
        </p:grpSpPr>
        <p:sp>
          <p:nvSpPr>
            <p:cNvPr id="53" name="Freeform 53"/>
            <p:cNvSpPr/>
            <p:nvPr/>
          </p:nvSpPr>
          <p:spPr>
            <a:xfrm>
              <a:off x="6326505" y="2460308"/>
              <a:ext cx="9525" cy="935355"/>
            </a:xfrm>
            <a:custGeom>
              <a:avLst/>
              <a:gdLst/>
              <a:ahLst/>
              <a:cxnLst/>
              <a:rect l="l" t="t" r="r" b="b"/>
              <a:pathLst>
                <a:path w="9525" h="935355">
                  <a:moveTo>
                    <a:pt x="0" y="0"/>
                  </a:moveTo>
                  <a:lnTo>
                    <a:pt x="0" y="935355"/>
                  </a:lnTo>
                </a:path>
              </a:pathLst>
            </a:custGeom>
            <a:noFill/>
            <a:ln w="17145">
              <a:solidFill>
                <a:srgbClr val="1F2937"/>
              </a:solidFill>
            </a:ln>
          </p:spPr>
        </p:sp>
        <p:sp>
          <p:nvSpPr>
            <p:cNvPr id="54" name="Freeform 54"/>
            <p:cNvSpPr/>
            <p:nvPr/>
          </p:nvSpPr>
          <p:spPr>
            <a:xfrm>
              <a:off x="6278880" y="3395662"/>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55" name="Freeform 55"/>
            <p:cNvSpPr/>
            <p:nvPr/>
          </p:nvSpPr>
          <p:spPr>
            <a:xfrm>
              <a:off x="7553325" y="2242185"/>
              <a:ext cx="383857" cy="612457"/>
            </a:xfrm>
            <a:custGeom>
              <a:avLst/>
              <a:gdLst/>
              <a:ahLst/>
              <a:cxnLst/>
              <a:rect l="l" t="t" r="r" b="b"/>
              <a:pathLst>
                <a:path w="383857" h="612457">
                  <a:moveTo>
                    <a:pt x="383857" y="0"/>
                  </a:moveTo>
                  <a:lnTo>
                    <a:pt x="0" y="612457"/>
                  </a:lnTo>
                </a:path>
              </a:pathLst>
            </a:custGeom>
            <a:noFill/>
            <a:ln w="17145">
              <a:solidFill>
                <a:srgbClr val="1F2937"/>
              </a:solidFill>
            </a:ln>
          </p:spPr>
        </p:sp>
        <p:sp>
          <p:nvSpPr>
            <p:cNvPr id="56" name="Freeform 56"/>
            <p:cNvSpPr/>
            <p:nvPr/>
          </p:nvSpPr>
          <p:spPr>
            <a:xfrm>
              <a:off x="7502842" y="2828925"/>
              <a:ext cx="91440" cy="106680"/>
            </a:xfrm>
            <a:custGeom>
              <a:avLst/>
              <a:gdLst/>
              <a:ahLst/>
              <a:cxnLst/>
              <a:rect l="l" t="t" r="r" b="b"/>
              <a:pathLst>
                <a:path w="91440" h="106680">
                  <a:moveTo>
                    <a:pt x="0" y="106680"/>
                  </a:moveTo>
                  <a:lnTo>
                    <a:pt x="10477" y="0"/>
                  </a:lnTo>
                  <a:lnTo>
                    <a:pt x="91440" y="50483"/>
                  </a:lnTo>
                  <a:close/>
                </a:path>
              </a:pathLst>
            </a:custGeom>
            <a:solidFill>
              <a:srgbClr val="1F2937"/>
            </a:solidFill>
            <a:ln>
              <a:noFill/>
            </a:ln>
          </p:spPr>
        </p:sp>
        <p:sp>
          <p:nvSpPr>
            <p:cNvPr id="57" name="Freeform 57"/>
            <p:cNvSpPr/>
            <p:nvPr/>
          </p:nvSpPr>
          <p:spPr>
            <a:xfrm>
              <a:off x="8108632" y="2242185"/>
              <a:ext cx="383858" cy="612457"/>
            </a:xfrm>
            <a:custGeom>
              <a:avLst/>
              <a:gdLst/>
              <a:ahLst/>
              <a:cxnLst/>
              <a:rect l="l" t="t" r="r" b="b"/>
              <a:pathLst>
                <a:path w="383858" h="612457">
                  <a:moveTo>
                    <a:pt x="0" y="0"/>
                  </a:moveTo>
                  <a:lnTo>
                    <a:pt x="383858" y="612457"/>
                  </a:lnTo>
                </a:path>
              </a:pathLst>
            </a:custGeom>
            <a:noFill/>
            <a:ln w="17145">
              <a:solidFill>
                <a:srgbClr val="1F2937"/>
              </a:solidFill>
            </a:ln>
          </p:spPr>
        </p:sp>
        <p:sp>
          <p:nvSpPr>
            <p:cNvPr id="58" name="Freeform 58"/>
            <p:cNvSpPr/>
            <p:nvPr/>
          </p:nvSpPr>
          <p:spPr>
            <a:xfrm>
              <a:off x="8452485" y="2828925"/>
              <a:ext cx="90488" cy="106680"/>
            </a:xfrm>
            <a:custGeom>
              <a:avLst/>
              <a:gdLst/>
              <a:ahLst/>
              <a:cxnLst/>
              <a:rect l="l" t="t" r="r" b="b"/>
              <a:pathLst>
                <a:path w="90488" h="106680">
                  <a:moveTo>
                    <a:pt x="90488" y="106680"/>
                  </a:moveTo>
                  <a:lnTo>
                    <a:pt x="0" y="50483"/>
                  </a:lnTo>
                  <a:lnTo>
                    <a:pt x="80010" y="0"/>
                  </a:lnTo>
                  <a:close/>
                </a:path>
              </a:pathLst>
            </a:custGeom>
            <a:solidFill>
              <a:srgbClr val="1F2937"/>
            </a:solidFill>
            <a:ln>
              <a:noFill/>
            </a:ln>
          </p:spPr>
        </p:sp>
        <p:sp>
          <p:nvSpPr>
            <p:cNvPr id="59" name="Freeform 59"/>
            <p:cNvSpPr/>
            <p:nvPr/>
          </p:nvSpPr>
          <p:spPr>
            <a:xfrm>
              <a:off x="7502842" y="3209925"/>
              <a:ext cx="383857" cy="612458"/>
            </a:xfrm>
            <a:custGeom>
              <a:avLst/>
              <a:gdLst/>
              <a:ahLst/>
              <a:cxnLst/>
              <a:rect l="l" t="t" r="r" b="b"/>
              <a:pathLst>
                <a:path w="383857" h="612458">
                  <a:moveTo>
                    <a:pt x="0" y="0"/>
                  </a:moveTo>
                  <a:lnTo>
                    <a:pt x="383857" y="612458"/>
                  </a:lnTo>
                </a:path>
              </a:pathLst>
            </a:custGeom>
            <a:noFill/>
            <a:ln w="17145">
              <a:solidFill>
                <a:srgbClr val="1F2937"/>
              </a:solidFill>
            </a:ln>
          </p:spPr>
        </p:sp>
        <p:sp>
          <p:nvSpPr>
            <p:cNvPr id="60" name="Freeform 60"/>
            <p:cNvSpPr/>
            <p:nvPr/>
          </p:nvSpPr>
          <p:spPr>
            <a:xfrm>
              <a:off x="7845742" y="3796665"/>
              <a:ext cx="91440" cy="106680"/>
            </a:xfrm>
            <a:custGeom>
              <a:avLst/>
              <a:gdLst/>
              <a:ahLst/>
              <a:cxnLst/>
              <a:rect l="l" t="t" r="r" b="b"/>
              <a:pathLst>
                <a:path w="91440" h="106680">
                  <a:moveTo>
                    <a:pt x="91440" y="106680"/>
                  </a:moveTo>
                  <a:lnTo>
                    <a:pt x="0" y="50482"/>
                  </a:lnTo>
                  <a:lnTo>
                    <a:pt x="80962" y="0"/>
                  </a:lnTo>
                  <a:close/>
                </a:path>
              </a:pathLst>
            </a:custGeom>
            <a:solidFill>
              <a:srgbClr val="1F2937"/>
            </a:solidFill>
            <a:ln>
              <a:noFill/>
            </a:ln>
          </p:spPr>
        </p:sp>
        <p:sp>
          <p:nvSpPr>
            <p:cNvPr id="61" name="Freeform 61"/>
            <p:cNvSpPr/>
            <p:nvPr/>
          </p:nvSpPr>
          <p:spPr>
            <a:xfrm>
              <a:off x="8159115" y="3209925"/>
              <a:ext cx="383857" cy="612458"/>
            </a:xfrm>
            <a:custGeom>
              <a:avLst/>
              <a:gdLst/>
              <a:ahLst/>
              <a:cxnLst/>
              <a:rect l="l" t="t" r="r" b="b"/>
              <a:pathLst>
                <a:path w="383857" h="612458">
                  <a:moveTo>
                    <a:pt x="383857" y="0"/>
                  </a:moveTo>
                  <a:lnTo>
                    <a:pt x="0" y="612458"/>
                  </a:lnTo>
                </a:path>
              </a:pathLst>
            </a:custGeom>
            <a:noFill/>
            <a:ln w="17145">
              <a:solidFill>
                <a:srgbClr val="1F2937"/>
              </a:solidFill>
            </a:ln>
          </p:spPr>
        </p:sp>
        <p:sp>
          <p:nvSpPr>
            <p:cNvPr id="62" name="Freeform 62"/>
            <p:cNvSpPr/>
            <p:nvPr/>
          </p:nvSpPr>
          <p:spPr>
            <a:xfrm>
              <a:off x="8108632" y="3796665"/>
              <a:ext cx="91440" cy="106680"/>
            </a:xfrm>
            <a:custGeom>
              <a:avLst/>
              <a:gdLst/>
              <a:ahLst/>
              <a:cxnLst/>
              <a:rect l="l" t="t" r="r" b="b"/>
              <a:pathLst>
                <a:path w="91440" h="106680">
                  <a:moveTo>
                    <a:pt x="0" y="106680"/>
                  </a:moveTo>
                  <a:lnTo>
                    <a:pt x="10478" y="0"/>
                  </a:lnTo>
                  <a:lnTo>
                    <a:pt x="91440" y="50482"/>
                  </a:lnTo>
                  <a:close/>
                </a:path>
              </a:pathLst>
            </a:custGeom>
            <a:solidFill>
              <a:srgbClr val="1F2937"/>
            </a:solidFill>
            <a:ln>
              <a:noFill/>
            </a:ln>
          </p:spPr>
        </p:sp>
        <p:sp>
          <p:nvSpPr>
            <p:cNvPr id="63" name="Freeform 63"/>
            <p:cNvSpPr/>
            <p:nvPr/>
          </p:nvSpPr>
          <p:spPr>
            <a:xfrm>
              <a:off x="9841230" y="2266950"/>
              <a:ext cx="9525" cy="741997"/>
            </a:xfrm>
            <a:custGeom>
              <a:avLst/>
              <a:gdLst/>
              <a:ahLst/>
              <a:cxnLst/>
              <a:rect l="l" t="t" r="r" b="b"/>
              <a:pathLst>
                <a:path w="9525" h="741997">
                  <a:moveTo>
                    <a:pt x="0" y="0"/>
                  </a:moveTo>
                  <a:lnTo>
                    <a:pt x="0" y="741997"/>
                  </a:lnTo>
                </a:path>
              </a:pathLst>
            </a:custGeom>
            <a:noFill/>
            <a:ln w="17145">
              <a:solidFill>
                <a:srgbClr val="1F2937"/>
              </a:solidFill>
            </a:ln>
          </p:spPr>
        </p:sp>
        <p:sp>
          <p:nvSpPr>
            <p:cNvPr id="64" name="Freeform 64"/>
            <p:cNvSpPr/>
            <p:nvPr/>
          </p:nvSpPr>
          <p:spPr>
            <a:xfrm>
              <a:off x="9793605" y="3008948"/>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65" name="Freeform 65"/>
            <p:cNvSpPr/>
            <p:nvPr/>
          </p:nvSpPr>
          <p:spPr>
            <a:xfrm>
              <a:off x="9948862" y="2295525"/>
              <a:ext cx="297498" cy="849630"/>
            </a:xfrm>
            <a:custGeom>
              <a:avLst/>
              <a:gdLst/>
              <a:ahLst/>
              <a:cxnLst/>
              <a:rect l="l" t="t" r="r" b="b"/>
              <a:pathLst>
                <a:path w="297498" h="849630">
                  <a:moveTo>
                    <a:pt x="0" y="849630"/>
                  </a:moveTo>
                  <a:cubicBezTo>
                    <a:pt x="276225" y="542925"/>
                    <a:pt x="297498" y="259715"/>
                    <a:pt x="63818" y="0"/>
                  </a:cubicBezTo>
                </a:path>
              </a:pathLst>
            </a:custGeom>
            <a:noFill/>
            <a:ln w="17145">
              <a:solidFill>
                <a:srgbClr val="1F2937"/>
              </a:solidFill>
            </a:ln>
          </p:spPr>
        </p:sp>
        <p:sp>
          <p:nvSpPr>
            <p:cNvPr id="66" name="Freeform 66"/>
            <p:cNvSpPr/>
            <p:nvPr/>
          </p:nvSpPr>
          <p:spPr>
            <a:xfrm>
              <a:off x="9948862" y="2225040"/>
              <a:ext cx="99060" cy="102870"/>
            </a:xfrm>
            <a:custGeom>
              <a:avLst/>
              <a:gdLst/>
              <a:ahLst/>
              <a:cxnLst/>
              <a:rect l="l" t="t" r="r" b="b"/>
              <a:pathLst>
                <a:path w="99060" h="102870">
                  <a:moveTo>
                    <a:pt x="0" y="0"/>
                  </a:moveTo>
                  <a:lnTo>
                    <a:pt x="99060" y="39052"/>
                  </a:lnTo>
                  <a:lnTo>
                    <a:pt x="28575" y="102870"/>
                  </a:lnTo>
                  <a:close/>
                </a:path>
              </a:pathLst>
            </a:custGeom>
            <a:solidFill>
              <a:srgbClr val="1F2937"/>
            </a:solidFill>
            <a:ln>
              <a:noFill/>
            </a:ln>
          </p:spPr>
        </p:sp>
        <p:sp>
          <p:nvSpPr>
            <p:cNvPr id="67" name="Freeform 67"/>
            <p:cNvSpPr/>
            <p:nvPr/>
          </p:nvSpPr>
          <p:spPr>
            <a:xfrm>
              <a:off x="9915525" y="2247900"/>
              <a:ext cx="531495" cy="1859280"/>
            </a:xfrm>
            <a:custGeom>
              <a:avLst/>
              <a:gdLst/>
              <a:ahLst/>
              <a:cxnLst/>
              <a:rect l="l" t="t" r="r" b="b"/>
              <a:pathLst>
                <a:path w="531495" h="1859280">
                  <a:moveTo>
                    <a:pt x="0" y="0"/>
                  </a:moveTo>
                  <a:lnTo>
                    <a:pt x="531495" y="1018222"/>
                  </a:lnTo>
                  <a:lnTo>
                    <a:pt x="52388" y="1859280"/>
                  </a:lnTo>
                </a:path>
              </a:pathLst>
            </a:custGeom>
            <a:noFill/>
            <a:ln w="17145">
              <a:solidFill>
                <a:srgbClr val="1F2937"/>
              </a:solidFill>
            </a:ln>
          </p:spPr>
        </p:sp>
        <p:sp>
          <p:nvSpPr>
            <p:cNvPr id="68" name="Freeform 68"/>
            <p:cNvSpPr/>
            <p:nvPr/>
          </p:nvSpPr>
          <p:spPr>
            <a:xfrm>
              <a:off x="9921240" y="4083368"/>
              <a:ext cx="88583" cy="106680"/>
            </a:xfrm>
            <a:custGeom>
              <a:avLst/>
              <a:gdLst/>
              <a:ahLst/>
              <a:cxnLst/>
              <a:rect l="l" t="t" r="r" b="b"/>
              <a:pathLst>
                <a:path w="88583" h="106680">
                  <a:moveTo>
                    <a:pt x="0" y="106680"/>
                  </a:moveTo>
                  <a:lnTo>
                    <a:pt x="5715" y="0"/>
                  </a:lnTo>
                  <a:lnTo>
                    <a:pt x="88583" y="46673"/>
                  </a:lnTo>
                  <a:close/>
                </a:path>
              </a:pathLst>
            </a:custGeom>
            <a:solidFill>
              <a:srgbClr val="1F2937"/>
            </a:solidFill>
            <a:ln>
              <a:noFill/>
            </a:ln>
          </p:spPr>
        </p:sp>
        <p:sp>
          <p:nvSpPr>
            <p:cNvPr id="69" name="Freeform 69"/>
            <p:cNvSpPr/>
            <p:nvPr/>
          </p:nvSpPr>
          <p:spPr>
            <a:xfrm>
              <a:off x="11234738" y="2266950"/>
              <a:ext cx="9525" cy="741997"/>
            </a:xfrm>
            <a:custGeom>
              <a:avLst/>
              <a:gdLst/>
              <a:ahLst/>
              <a:cxnLst/>
              <a:rect l="l" t="t" r="r" b="b"/>
              <a:pathLst>
                <a:path w="9525" h="741997">
                  <a:moveTo>
                    <a:pt x="0" y="0"/>
                  </a:moveTo>
                  <a:lnTo>
                    <a:pt x="0" y="741997"/>
                  </a:lnTo>
                </a:path>
              </a:pathLst>
            </a:custGeom>
            <a:noFill/>
            <a:ln w="17145">
              <a:solidFill>
                <a:srgbClr val="1F2937"/>
              </a:solidFill>
            </a:ln>
          </p:spPr>
        </p:sp>
        <p:sp>
          <p:nvSpPr>
            <p:cNvPr id="70" name="Freeform 70"/>
            <p:cNvSpPr/>
            <p:nvPr/>
          </p:nvSpPr>
          <p:spPr>
            <a:xfrm>
              <a:off x="11187112" y="3008948"/>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71" name="Freeform 71"/>
            <p:cNvSpPr/>
            <p:nvPr/>
          </p:nvSpPr>
          <p:spPr>
            <a:xfrm>
              <a:off x="11342370" y="2295525"/>
              <a:ext cx="297498" cy="849630"/>
            </a:xfrm>
            <a:custGeom>
              <a:avLst/>
              <a:gdLst/>
              <a:ahLst/>
              <a:cxnLst/>
              <a:rect l="l" t="t" r="r" b="b"/>
              <a:pathLst>
                <a:path w="297498" h="849630">
                  <a:moveTo>
                    <a:pt x="0" y="849630"/>
                  </a:moveTo>
                  <a:cubicBezTo>
                    <a:pt x="276225" y="542925"/>
                    <a:pt x="297498" y="259715"/>
                    <a:pt x="63818" y="0"/>
                  </a:cubicBezTo>
                </a:path>
              </a:pathLst>
            </a:custGeom>
            <a:noFill/>
            <a:ln w="17145">
              <a:solidFill>
                <a:srgbClr val="1F2937"/>
              </a:solidFill>
            </a:ln>
          </p:spPr>
        </p:sp>
        <p:sp>
          <p:nvSpPr>
            <p:cNvPr id="72" name="Freeform 72"/>
            <p:cNvSpPr/>
            <p:nvPr/>
          </p:nvSpPr>
          <p:spPr>
            <a:xfrm>
              <a:off x="11342370" y="2225040"/>
              <a:ext cx="99060" cy="102870"/>
            </a:xfrm>
            <a:custGeom>
              <a:avLst/>
              <a:gdLst/>
              <a:ahLst/>
              <a:cxnLst/>
              <a:rect l="l" t="t" r="r" b="b"/>
              <a:pathLst>
                <a:path w="99060" h="102870">
                  <a:moveTo>
                    <a:pt x="0" y="0"/>
                  </a:moveTo>
                  <a:lnTo>
                    <a:pt x="99060" y="39052"/>
                  </a:lnTo>
                  <a:lnTo>
                    <a:pt x="28575" y="102870"/>
                  </a:lnTo>
                  <a:close/>
                </a:path>
              </a:pathLst>
            </a:custGeom>
            <a:solidFill>
              <a:srgbClr val="1F2937"/>
            </a:solidFill>
            <a:ln>
              <a:noFill/>
            </a:ln>
          </p:spPr>
        </p:sp>
        <p:sp>
          <p:nvSpPr>
            <p:cNvPr id="73" name="Freeform 73"/>
            <p:cNvSpPr/>
            <p:nvPr/>
          </p:nvSpPr>
          <p:spPr>
            <a:xfrm>
              <a:off x="11234738" y="3428048"/>
              <a:ext cx="9525" cy="644843"/>
            </a:xfrm>
            <a:custGeom>
              <a:avLst/>
              <a:gdLst/>
              <a:ahLst/>
              <a:cxnLst/>
              <a:rect l="l" t="t" r="r" b="b"/>
              <a:pathLst>
                <a:path w="9525" h="644843">
                  <a:moveTo>
                    <a:pt x="0" y="0"/>
                  </a:moveTo>
                  <a:lnTo>
                    <a:pt x="0" y="644843"/>
                  </a:lnTo>
                </a:path>
              </a:pathLst>
            </a:custGeom>
            <a:noFill/>
            <a:ln w="17145">
              <a:solidFill>
                <a:srgbClr val="1F2937"/>
              </a:solidFill>
            </a:ln>
          </p:spPr>
        </p:sp>
        <p:sp>
          <p:nvSpPr>
            <p:cNvPr id="74" name="Freeform 74"/>
            <p:cNvSpPr/>
            <p:nvPr/>
          </p:nvSpPr>
          <p:spPr>
            <a:xfrm>
              <a:off x="11187112" y="4072890"/>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75" name="Ellipse 75"/>
            <p:cNvSpPr/>
            <p:nvPr/>
          </p:nvSpPr>
          <p:spPr>
            <a:xfrm>
              <a:off x="6174105" y="2145982"/>
              <a:ext cx="304800" cy="304800"/>
            </a:xfrm>
            <a:prstGeom prst="ellipse">
              <a:avLst/>
            </a:prstGeom>
            <a:solidFill>
              <a:srgbClr val="FFFFFF"/>
            </a:solidFill>
            <a:ln w="17145">
              <a:solidFill>
                <a:srgbClr val="334E68"/>
              </a:solidFill>
            </a:ln>
          </p:spPr>
        </p:sp>
        <p:sp>
          <p:nvSpPr>
            <p:cNvPr id="76" name="Ellipse 76"/>
            <p:cNvSpPr/>
            <p:nvPr/>
          </p:nvSpPr>
          <p:spPr>
            <a:xfrm>
              <a:off x="6174105" y="3500438"/>
              <a:ext cx="304800" cy="304800"/>
            </a:xfrm>
            <a:prstGeom prst="ellipse">
              <a:avLst/>
            </a:prstGeom>
            <a:solidFill>
              <a:srgbClr val="FFFFFF"/>
            </a:solidFill>
            <a:ln w="17145">
              <a:solidFill>
                <a:srgbClr val="334E68"/>
              </a:solidFill>
            </a:ln>
          </p:spPr>
        </p:sp>
        <p:sp>
          <p:nvSpPr>
            <p:cNvPr id="77" name="Ellipse 77"/>
            <p:cNvSpPr/>
            <p:nvPr/>
          </p:nvSpPr>
          <p:spPr>
            <a:xfrm>
              <a:off x="7870508" y="1952625"/>
              <a:ext cx="304800" cy="304800"/>
            </a:xfrm>
            <a:prstGeom prst="ellipse">
              <a:avLst/>
            </a:prstGeom>
            <a:solidFill>
              <a:srgbClr val="FFFFFF"/>
            </a:solidFill>
            <a:ln w="17145">
              <a:solidFill>
                <a:srgbClr val="334E68"/>
              </a:solidFill>
            </a:ln>
          </p:spPr>
        </p:sp>
        <p:sp>
          <p:nvSpPr>
            <p:cNvPr id="78" name="Ellipse 78"/>
            <p:cNvSpPr/>
            <p:nvPr/>
          </p:nvSpPr>
          <p:spPr>
            <a:xfrm>
              <a:off x="7264718" y="2920365"/>
              <a:ext cx="304800" cy="304800"/>
            </a:xfrm>
            <a:prstGeom prst="ellipse">
              <a:avLst/>
            </a:prstGeom>
            <a:solidFill>
              <a:srgbClr val="FFFFFF"/>
            </a:solidFill>
            <a:ln w="17145">
              <a:solidFill>
                <a:srgbClr val="334E68"/>
              </a:solidFill>
            </a:ln>
          </p:spPr>
        </p:sp>
        <p:sp>
          <p:nvSpPr>
            <p:cNvPr id="79" name="Ellipse 79"/>
            <p:cNvSpPr/>
            <p:nvPr/>
          </p:nvSpPr>
          <p:spPr>
            <a:xfrm>
              <a:off x="8476298" y="2920365"/>
              <a:ext cx="304800" cy="304800"/>
            </a:xfrm>
            <a:prstGeom prst="ellipse">
              <a:avLst/>
            </a:prstGeom>
            <a:solidFill>
              <a:srgbClr val="FFFFFF"/>
            </a:solidFill>
            <a:ln w="17145">
              <a:solidFill>
                <a:srgbClr val="334E68"/>
              </a:solidFill>
            </a:ln>
          </p:spPr>
        </p:sp>
        <p:sp>
          <p:nvSpPr>
            <p:cNvPr id="80" name="Ellipse 80"/>
            <p:cNvSpPr/>
            <p:nvPr/>
          </p:nvSpPr>
          <p:spPr>
            <a:xfrm>
              <a:off x="7870508" y="3888105"/>
              <a:ext cx="304800" cy="304800"/>
            </a:xfrm>
            <a:prstGeom prst="ellipse">
              <a:avLst/>
            </a:prstGeom>
            <a:solidFill>
              <a:srgbClr val="FFFFFF"/>
            </a:solidFill>
            <a:ln w="17145">
              <a:solidFill>
                <a:srgbClr val="334E68"/>
              </a:solidFill>
            </a:ln>
          </p:spPr>
        </p:sp>
        <p:sp>
          <p:nvSpPr>
            <p:cNvPr id="81" name="Ellipse 81"/>
            <p:cNvSpPr/>
            <p:nvPr/>
          </p:nvSpPr>
          <p:spPr>
            <a:xfrm>
              <a:off x="9688830" y="1952625"/>
              <a:ext cx="304800" cy="304800"/>
            </a:xfrm>
            <a:prstGeom prst="ellipse">
              <a:avLst/>
            </a:prstGeom>
            <a:solidFill>
              <a:srgbClr val="FFFFFF"/>
            </a:solidFill>
            <a:ln w="17145">
              <a:solidFill>
                <a:srgbClr val="334E68"/>
              </a:solidFill>
            </a:ln>
          </p:spPr>
        </p:sp>
        <p:sp>
          <p:nvSpPr>
            <p:cNvPr id="82" name="Ellipse 82"/>
            <p:cNvSpPr/>
            <p:nvPr/>
          </p:nvSpPr>
          <p:spPr>
            <a:xfrm>
              <a:off x="9688830" y="3113722"/>
              <a:ext cx="304800" cy="304800"/>
            </a:xfrm>
            <a:prstGeom prst="ellipse">
              <a:avLst/>
            </a:prstGeom>
            <a:solidFill>
              <a:srgbClr val="FFFFFF"/>
            </a:solidFill>
            <a:ln w="17145">
              <a:solidFill>
                <a:srgbClr val="334E68"/>
              </a:solidFill>
            </a:ln>
          </p:spPr>
        </p:sp>
        <p:sp>
          <p:nvSpPr>
            <p:cNvPr id="83" name="Ellipse 83"/>
            <p:cNvSpPr/>
            <p:nvPr/>
          </p:nvSpPr>
          <p:spPr>
            <a:xfrm>
              <a:off x="9688830" y="4177665"/>
              <a:ext cx="304800" cy="304800"/>
            </a:xfrm>
            <a:prstGeom prst="ellipse">
              <a:avLst/>
            </a:prstGeom>
            <a:solidFill>
              <a:srgbClr val="FFFFFF"/>
            </a:solidFill>
            <a:ln w="17145">
              <a:solidFill>
                <a:srgbClr val="334E68"/>
              </a:solidFill>
            </a:ln>
          </p:spPr>
        </p:sp>
        <p:sp>
          <p:nvSpPr>
            <p:cNvPr id="84" name="Ellipse 84"/>
            <p:cNvSpPr/>
            <p:nvPr/>
          </p:nvSpPr>
          <p:spPr>
            <a:xfrm>
              <a:off x="11082338" y="1952625"/>
              <a:ext cx="304800" cy="304800"/>
            </a:xfrm>
            <a:prstGeom prst="ellipse">
              <a:avLst/>
            </a:prstGeom>
            <a:solidFill>
              <a:srgbClr val="FFFFFF"/>
            </a:solidFill>
            <a:ln w="17145">
              <a:solidFill>
                <a:srgbClr val="334E68"/>
              </a:solidFill>
            </a:ln>
          </p:spPr>
        </p:sp>
        <p:sp>
          <p:nvSpPr>
            <p:cNvPr id="85" name="Ellipse 85"/>
            <p:cNvSpPr/>
            <p:nvPr/>
          </p:nvSpPr>
          <p:spPr>
            <a:xfrm>
              <a:off x="11082338" y="3113722"/>
              <a:ext cx="304800" cy="304800"/>
            </a:xfrm>
            <a:prstGeom prst="ellipse">
              <a:avLst/>
            </a:prstGeom>
            <a:solidFill>
              <a:srgbClr val="FFFFFF"/>
            </a:solidFill>
            <a:ln w="17145">
              <a:solidFill>
                <a:srgbClr val="334E68"/>
              </a:solidFill>
            </a:ln>
          </p:spPr>
        </p:sp>
        <p:sp>
          <p:nvSpPr>
            <p:cNvPr id="86" name="Ellipse 86"/>
            <p:cNvSpPr/>
            <p:nvPr/>
          </p:nvSpPr>
          <p:spPr>
            <a:xfrm>
              <a:off x="11082338" y="4177665"/>
              <a:ext cx="304800" cy="304800"/>
            </a:xfrm>
            <a:prstGeom prst="ellipse">
              <a:avLst/>
            </a:prstGeom>
            <a:solidFill>
              <a:srgbClr val="FFFFFF"/>
            </a:solidFill>
            <a:ln w="17145">
              <a:solidFill>
                <a:srgbClr val="334E68"/>
              </a:solidFill>
            </a:ln>
          </p:spPr>
        </p:sp>
        <p:sp>
          <p:nvSpPr>
            <p:cNvPr id="87" name="TextBox 87"/>
            <p:cNvSpPr txBox="1"/>
            <p:nvPr/>
          </p:nvSpPr>
          <p:spPr>
            <a:xfrm>
              <a:off x="6283458" y="2237899"/>
              <a:ext cx="8609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1</a:t>
              </a:r>
            </a:p>
          </p:txBody>
        </p:sp>
        <p:sp>
          <p:nvSpPr>
            <p:cNvPr id="88" name="TextBox 88"/>
            <p:cNvSpPr txBox="1"/>
            <p:nvPr/>
          </p:nvSpPr>
          <p:spPr>
            <a:xfrm>
              <a:off x="6283458" y="3592354"/>
              <a:ext cx="8609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2</a:t>
              </a:r>
            </a:p>
          </p:txBody>
        </p:sp>
        <p:sp>
          <p:nvSpPr>
            <p:cNvPr id="89" name="TextBox 89"/>
            <p:cNvSpPr txBox="1"/>
            <p:nvPr/>
          </p:nvSpPr>
          <p:spPr>
            <a:xfrm>
              <a:off x="7979860" y="2043589"/>
              <a:ext cx="8609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1</a:t>
              </a:r>
            </a:p>
          </p:txBody>
        </p:sp>
        <p:sp>
          <p:nvSpPr>
            <p:cNvPr id="90" name="TextBox 90"/>
            <p:cNvSpPr txBox="1"/>
            <p:nvPr/>
          </p:nvSpPr>
          <p:spPr>
            <a:xfrm>
              <a:off x="7374070" y="3011329"/>
              <a:ext cx="8609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2</a:t>
              </a:r>
            </a:p>
          </p:txBody>
        </p:sp>
        <p:sp>
          <p:nvSpPr>
            <p:cNvPr id="91" name="TextBox 91"/>
            <p:cNvSpPr txBox="1"/>
            <p:nvPr/>
          </p:nvSpPr>
          <p:spPr>
            <a:xfrm>
              <a:off x="8585650" y="3011329"/>
              <a:ext cx="8609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3</a:t>
              </a:r>
            </a:p>
          </p:txBody>
        </p:sp>
        <p:sp>
          <p:nvSpPr>
            <p:cNvPr id="92" name="TextBox 92"/>
            <p:cNvSpPr txBox="1"/>
            <p:nvPr/>
          </p:nvSpPr>
          <p:spPr>
            <a:xfrm>
              <a:off x="7979860" y="3979069"/>
              <a:ext cx="8609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4</a:t>
              </a:r>
            </a:p>
          </p:txBody>
        </p:sp>
        <p:sp>
          <p:nvSpPr>
            <p:cNvPr id="93" name="TextBox 93"/>
            <p:cNvSpPr txBox="1"/>
            <p:nvPr/>
          </p:nvSpPr>
          <p:spPr>
            <a:xfrm>
              <a:off x="9798183" y="2043589"/>
              <a:ext cx="8609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1</a:t>
              </a:r>
            </a:p>
          </p:txBody>
        </p:sp>
        <p:sp>
          <p:nvSpPr>
            <p:cNvPr id="94" name="TextBox 94"/>
            <p:cNvSpPr txBox="1"/>
            <p:nvPr/>
          </p:nvSpPr>
          <p:spPr>
            <a:xfrm>
              <a:off x="9798183" y="3205639"/>
              <a:ext cx="8609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2</a:t>
              </a:r>
            </a:p>
          </p:txBody>
        </p:sp>
        <p:sp>
          <p:nvSpPr>
            <p:cNvPr id="95" name="TextBox 95"/>
            <p:cNvSpPr txBox="1"/>
            <p:nvPr/>
          </p:nvSpPr>
          <p:spPr>
            <a:xfrm>
              <a:off x="9798183" y="4269581"/>
              <a:ext cx="8609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3</a:t>
              </a:r>
            </a:p>
          </p:txBody>
        </p:sp>
        <p:sp>
          <p:nvSpPr>
            <p:cNvPr id="96" name="TextBox 96"/>
            <p:cNvSpPr txBox="1"/>
            <p:nvPr/>
          </p:nvSpPr>
          <p:spPr>
            <a:xfrm>
              <a:off x="11191690" y="2043589"/>
              <a:ext cx="8609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1</a:t>
              </a:r>
            </a:p>
          </p:txBody>
        </p:sp>
        <p:sp>
          <p:nvSpPr>
            <p:cNvPr id="97" name="TextBox 97"/>
            <p:cNvSpPr txBox="1"/>
            <p:nvPr/>
          </p:nvSpPr>
          <p:spPr>
            <a:xfrm>
              <a:off x="11191690" y="3205639"/>
              <a:ext cx="8609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2</a:t>
              </a:r>
            </a:p>
          </p:txBody>
        </p:sp>
        <p:sp>
          <p:nvSpPr>
            <p:cNvPr id="98" name="TextBox 98"/>
            <p:cNvSpPr txBox="1"/>
            <p:nvPr/>
          </p:nvSpPr>
          <p:spPr>
            <a:xfrm>
              <a:off x="11191690" y="4269581"/>
              <a:ext cx="8609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3</a:t>
              </a:r>
            </a:p>
          </p:txBody>
        </p:sp>
        <p:sp>
          <p:nvSpPr>
            <p:cNvPr id="99" name="TextBox 99"/>
            <p:cNvSpPr txBox="1"/>
            <p:nvPr/>
          </p:nvSpPr>
          <p:spPr>
            <a:xfrm>
              <a:off x="6123661" y="4902994"/>
              <a:ext cx="405689"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顺序型</a:t>
              </a:r>
            </a:p>
          </p:txBody>
        </p:sp>
        <p:sp>
          <p:nvSpPr>
            <p:cNvPr id="100" name="TextBox 100"/>
            <p:cNvSpPr txBox="1"/>
            <p:nvPr/>
          </p:nvSpPr>
          <p:spPr>
            <a:xfrm>
              <a:off x="7820063" y="4902994"/>
              <a:ext cx="405689"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选择型</a:t>
              </a:r>
            </a:p>
          </p:txBody>
        </p:sp>
        <p:sp>
          <p:nvSpPr>
            <p:cNvPr id="101" name="TextBox 101"/>
            <p:cNvSpPr txBox="1"/>
            <p:nvPr/>
          </p:nvSpPr>
          <p:spPr>
            <a:xfrm>
              <a:off x="9638684" y="4902994"/>
              <a:ext cx="405091" cy="190690"/>
            </a:xfrm>
            <a:prstGeom prst="rect">
              <a:avLst/>
            </a:prstGeom>
            <a:noFill/>
            <a:ln>
              <a:noFill/>
            </a:ln>
          </p:spPr>
          <p:txBody>
            <a:bodyPr wrap="none" lIns="0" tIns="0" rIns="0" bIns="0" anchor="t" anchorCtr="0">
              <a:spAutoFit/>
            </a:bodyPr>
            <a:lstStyle/>
            <a:p>
              <a:pPr algn="ctr"/>
              <a:r>
                <a:rPr lang="en-US" sz="980" b="1" dirty="0">
                  <a:solidFill>
                    <a:srgbClr val="5B6475"/>
                  </a:solidFill>
                  <a:latin typeface="+mn-lt"/>
                  <a:ea typeface="+mn-ea"/>
                  <a:cs typeface="+mn-cs"/>
                </a:rPr>
                <a:t>WHILE</a:t>
              </a:r>
            </a:p>
          </p:txBody>
        </p:sp>
        <p:sp>
          <p:nvSpPr>
            <p:cNvPr id="102" name="TextBox 102"/>
            <p:cNvSpPr txBox="1"/>
            <p:nvPr/>
          </p:nvSpPr>
          <p:spPr>
            <a:xfrm>
              <a:off x="11046828" y="4902994"/>
              <a:ext cx="375818" cy="190690"/>
            </a:xfrm>
            <a:prstGeom prst="rect">
              <a:avLst/>
            </a:prstGeom>
            <a:noFill/>
            <a:ln>
              <a:noFill/>
            </a:ln>
          </p:spPr>
          <p:txBody>
            <a:bodyPr wrap="none" lIns="0" tIns="0" rIns="0" bIns="0" anchor="t" anchorCtr="0">
              <a:spAutoFit/>
            </a:bodyPr>
            <a:lstStyle/>
            <a:p>
              <a:pPr algn="ctr"/>
              <a:r>
                <a:rPr lang="en-US" sz="980" b="1" dirty="0">
                  <a:solidFill>
                    <a:srgbClr val="5B6475"/>
                  </a:solidFill>
                  <a:latin typeface="+mn-lt"/>
                  <a:ea typeface="+mn-ea"/>
                  <a:cs typeface="+mn-cs"/>
                </a:rPr>
                <a:t>UNTIL</a:t>
              </a:r>
            </a:p>
          </p:txBody>
        </p:sp>
        <p:sp>
          <p:nvSpPr>
            <p:cNvPr id="103" name="TextBox 103"/>
            <p:cNvSpPr txBox="1"/>
            <p:nvPr/>
          </p:nvSpPr>
          <p:spPr>
            <a:xfrm>
              <a:off x="5966498" y="5491162"/>
              <a:ext cx="720014" cy="176212"/>
            </a:xfrm>
            <a:prstGeom prst="rect">
              <a:avLst/>
            </a:prstGeom>
            <a:noFill/>
            <a:ln>
              <a:noFill/>
            </a:ln>
          </p:spPr>
          <p:txBody>
            <a:bodyPr wrap="none" lIns="0" tIns="0" rIns="0" bIns="0" anchor="t" anchorCtr="0">
              <a:spAutoFit/>
            </a:bodyPr>
            <a:lstStyle/>
            <a:p>
              <a:pPr algn="ctr"/>
              <a:r>
                <a:rPr lang="en-US" sz="900" dirty="0">
                  <a:solidFill>
                    <a:srgbClr val="5B6475"/>
                  </a:solidFill>
                  <a:latin typeface="+mn-lt"/>
                  <a:ea typeface="+mn-ea"/>
                  <a:cs typeface="+mn-cs"/>
                </a:rPr>
                <a:t>E=1 N=2 V=1</a:t>
              </a:r>
            </a:p>
          </p:txBody>
        </p:sp>
        <p:sp>
          <p:nvSpPr>
            <p:cNvPr id="104" name="TextBox 104"/>
            <p:cNvSpPr txBox="1"/>
            <p:nvPr/>
          </p:nvSpPr>
          <p:spPr>
            <a:xfrm>
              <a:off x="7662901" y="5491162"/>
              <a:ext cx="720014" cy="176212"/>
            </a:xfrm>
            <a:prstGeom prst="rect">
              <a:avLst/>
            </a:prstGeom>
            <a:noFill/>
            <a:ln>
              <a:noFill/>
            </a:ln>
          </p:spPr>
          <p:txBody>
            <a:bodyPr wrap="none" lIns="0" tIns="0" rIns="0" bIns="0" anchor="t" anchorCtr="0">
              <a:spAutoFit/>
            </a:bodyPr>
            <a:lstStyle/>
            <a:p>
              <a:pPr algn="ctr"/>
              <a:r>
                <a:rPr lang="en-US" sz="900" dirty="0">
                  <a:solidFill>
                    <a:srgbClr val="5B6475"/>
                  </a:solidFill>
                  <a:latin typeface="+mn-lt"/>
                  <a:ea typeface="+mn-ea"/>
                  <a:cs typeface="+mn-cs"/>
                </a:rPr>
                <a:t>E=4 N=4 V=2</a:t>
              </a:r>
            </a:p>
          </p:txBody>
        </p:sp>
        <p:sp>
          <p:nvSpPr>
            <p:cNvPr id="105" name="TextBox 105"/>
            <p:cNvSpPr txBox="1"/>
            <p:nvPr/>
          </p:nvSpPr>
          <p:spPr>
            <a:xfrm>
              <a:off x="9481223" y="5491162"/>
              <a:ext cx="720014" cy="176212"/>
            </a:xfrm>
            <a:prstGeom prst="rect">
              <a:avLst/>
            </a:prstGeom>
            <a:noFill/>
            <a:ln>
              <a:noFill/>
            </a:ln>
          </p:spPr>
          <p:txBody>
            <a:bodyPr wrap="none" lIns="0" tIns="0" rIns="0" bIns="0" anchor="t" anchorCtr="0">
              <a:spAutoFit/>
            </a:bodyPr>
            <a:lstStyle/>
            <a:p>
              <a:pPr algn="ctr"/>
              <a:r>
                <a:rPr lang="en-US" sz="900" dirty="0">
                  <a:solidFill>
                    <a:srgbClr val="5B6475"/>
                  </a:solidFill>
                  <a:latin typeface="+mn-lt"/>
                  <a:ea typeface="+mn-ea"/>
                  <a:cs typeface="+mn-cs"/>
                </a:rPr>
                <a:t>E=3 N=3 V=2</a:t>
              </a:r>
            </a:p>
          </p:txBody>
        </p:sp>
        <p:sp>
          <p:nvSpPr>
            <p:cNvPr id="106" name="TextBox 106"/>
            <p:cNvSpPr txBox="1"/>
            <p:nvPr/>
          </p:nvSpPr>
          <p:spPr>
            <a:xfrm>
              <a:off x="10874731" y="5491162"/>
              <a:ext cx="720014" cy="176212"/>
            </a:xfrm>
            <a:prstGeom prst="rect">
              <a:avLst/>
            </a:prstGeom>
            <a:noFill/>
            <a:ln>
              <a:noFill/>
            </a:ln>
          </p:spPr>
          <p:txBody>
            <a:bodyPr wrap="none" lIns="0" tIns="0" rIns="0" bIns="0" anchor="t" anchorCtr="0">
              <a:spAutoFit/>
            </a:bodyPr>
            <a:lstStyle/>
            <a:p>
              <a:pPr algn="ctr"/>
              <a:r>
                <a:rPr lang="en-US" sz="900" dirty="0">
                  <a:solidFill>
                    <a:srgbClr val="5B6475"/>
                  </a:solidFill>
                  <a:latin typeface="+mn-lt"/>
                  <a:ea typeface="+mn-ea"/>
                  <a:cs typeface="+mn-cs"/>
                </a:rPr>
                <a:t>E=3 N=3 V=2</a:t>
              </a:r>
            </a:p>
          </p:txBody>
        </p:sp>
      </p:grpSp>
      <p:grpSp>
        <p:nvGrpSpPr>
          <p:cNvPr id="110" name="footer"/>
          <p:cNvGrpSpPr/>
          <p:nvPr/>
        </p:nvGrpSpPr>
        <p:grpSpPr>
          <a:xfrm>
            <a:off x="528447" y="6581299"/>
            <a:ext cx="11135106" cy="190690"/>
            <a:chOff x="528447" y="6581299"/>
            <a:chExt cx="11135106" cy="190690"/>
          </a:xfrm>
        </p:grpSpPr>
        <p:sp>
          <p:nvSpPr>
            <p:cNvPr id="108" name="TextBox 108"/>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109" name="TextBox 10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46</a:t>
              </a:r>
            </a:p>
          </p:txBody>
        </p:sp>
      </p:grpSp>
    </p:spTree>
  </p:cSld>
  <p:clrMapOvr>
    <a:masterClrMapping/>
  </p:clrMapOvr>
  <p:transition xmlns:p14="http://schemas.microsoft.com/office/powerpoint/2010/main" p14:dur="400">
    <p:fade/>
  </p:transition>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程序复杂程度的定量度量</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把程序流程图映射成流图</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4" name="c1-steps-1"/>
          <p:cNvGrpSpPr/>
          <p:nvPr/>
        </p:nvGrpSpPr>
        <p:grpSpPr>
          <a:xfrm>
            <a:off x="533400" y="1533525"/>
            <a:ext cx="4302633" cy="2763489"/>
            <a:chOff x="533400" y="1533525"/>
            <a:chExt cx="4302633" cy="2763489"/>
          </a:xfrm>
        </p:grpSpPr>
        <p:sp>
          <p:nvSpPr>
            <p:cNvPr id="7" name="Rectangle 7"/>
            <p:cNvSpPr/>
            <p:nvPr/>
          </p:nvSpPr>
          <p:spPr>
            <a:xfrm>
              <a:off x="666750" y="1676400"/>
              <a:ext cx="19050" cy="1952625"/>
            </a:xfrm>
            <a:prstGeom prst="rect">
              <a:avLst/>
            </a:prstGeom>
            <a:solidFill>
              <a:srgbClr val="D9DFEA"/>
            </a:solidFill>
            <a:ln>
              <a:noFill/>
            </a:ln>
          </p:spPr>
        </p:sp>
        <p:sp>
          <p:nvSpPr>
            <p:cNvPr id="8" name="Ellipse 8"/>
            <p:cNvSpPr/>
            <p:nvPr/>
          </p:nvSpPr>
          <p:spPr>
            <a:xfrm>
              <a:off x="533400" y="1533525"/>
              <a:ext cx="285750" cy="285750"/>
            </a:xfrm>
            <a:prstGeom prst="ellipse">
              <a:avLst/>
            </a:prstGeom>
            <a:solidFill>
              <a:srgbClr val="334E68"/>
            </a:solidFill>
            <a:ln>
              <a:noFill/>
            </a:ln>
          </p:spPr>
        </p:sp>
        <p:sp>
          <p:nvSpPr>
            <p:cNvPr id="9" name="TextBox 9"/>
            <p:cNvSpPr txBox="1"/>
            <p:nvPr/>
          </p:nvSpPr>
          <p:spPr>
            <a:xfrm>
              <a:off x="627024" y="1607344"/>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0" name="Ellipse 10"/>
            <p:cNvSpPr/>
            <p:nvPr/>
          </p:nvSpPr>
          <p:spPr>
            <a:xfrm>
              <a:off x="533400" y="2184082"/>
              <a:ext cx="285750" cy="285750"/>
            </a:xfrm>
            <a:prstGeom prst="ellipse">
              <a:avLst/>
            </a:prstGeom>
            <a:solidFill>
              <a:srgbClr val="334E68"/>
            </a:solidFill>
            <a:ln>
              <a:noFill/>
            </a:ln>
          </p:spPr>
        </p:sp>
        <p:sp>
          <p:nvSpPr>
            <p:cNvPr id="11" name="TextBox 11"/>
            <p:cNvSpPr txBox="1"/>
            <p:nvPr/>
          </p:nvSpPr>
          <p:spPr>
            <a:xfrm>
              <a:off x="627024" y="225790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2" name="Ellipse 12"/>
            <p:cNvSpPr/>
            <p:nvPr/>
          </p:nvSpPr>
          <p:spPr>
            <a:xfrm>
              <a:off x="533400" y="2834640"/>
              <a:ext cx="285750" cy="285750"/>
            </a:xfrm>
            <a:prstGeom prst="ellipse">
              <a:avLst/>
            </a:prstGeom>
            <a:solidFill>
              <a:srgbClr val="334E68"/>
            </a:solidFill>
            <a:ln>
              <a:noFill/>
            </a:ln>
          </p:spPr>
        </p:sp>
        <p:sp>
          <p:nvSpPr>
            <p:cNvPr id="13" name="TextBox 13"/>
            <p:cNvSpPr txBox="1"/>
            <p:nvPr/>
          </p:nvSpPr>
          <p:spPr>
            <a:xfrm>
              <a:off x="627024" y="290845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4" name="Ellipse 14"/>
            <p:cNvSpPr/>
            <p:nvPr/>
          </p:nvSpPr>
          <p:spPr>
            <a:xfrm>
              <a:off x="533400" y="3486150"/>
              <a:ext cx="285750" cy="285750"/>
            </a:xfrm>
            <a:prstGeom prst="ellipse">
              <a:avLst/>
            </a:prstGeom>
            <a:solidFill>
              <a:srgbClr val="334E68"/>
            </a:solidFill>
            <a:ln>
              <a:noFill/>
            </a:ln>
          </p:spPr>
        </p:sp>
        <p:sp>
          <p:nvSpPr>
            <p:cNvPr id="15" name="TextBox 15"/>
            <p:cNvSpPr txBox="1"/>
            <p:nvPr/>
          </p:nvSpPr>
          <p:spPr>
            <a:xfrm>
              <a:off x="627024" y="355996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16" name="TextBox 16"/>
            <p:cNvSpPr txBox="1"/>
            <p:nvPr/>
          </p:nvSpPr>
          <p:spPr>
            <a:xfrm>
              <a:off x="944880" y="1567815"/>
              <a:ext cx="142875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处理框和判断框</a:t>
              </a:r>
            </a:p>
          </p:txBody>
        </p:sp>
        <p:sp>
          <p:nvSpPr>
            <p:cNvPr id="17" name="TextBox 17"/>
            <p:cNvSpPr txBox="1"/>
            <p:nvPr/>
          </p:nvSpPr>
          <p:spPr>
            <a:xfrm>
              <a:off x="946023" y="1861661"/>
              <a:ext cx="259765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各画一个结点；判断框是判定结点</a:t>
              </a:r>
            </a:p>
          </p:txBody>
        </p:sp>
        <p:sp>
          <p:nvSpPr>
            <p:cNvPr id="18" name="TextBox 18"/>
            <p:cNvSpPr txBox="1"/>
            <p:nvPr/>
          </p:nvSpPr>
          <p:spPr>
            <a:xfrm>
              <a:off x="944880" y="2218372"/>
              <a:ext cx="62103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汇合点</a:t>
              </a:r>
            </a:p>
          </p:txBody>
        </p:sp>
        <p:sp>
          <p:nvSpPr>
            <p:cNvPr id="19" name="TextBox 19"/>
            <p:cNvSpPr txBox="1"/>
            <p:nvPr/>
          </p:nvSpPr>
          <p:spPr>
            <a:xfrm>
              <a:off x="946023" y="2512219"/>
              <a:ext cx="225303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分支汇合的地方也画一个结点</a:t>
              </a:r>
            </a:p>
          </p:txBody>
        </p:sp>
        <p:sp>
          <p:nvSpPr>
            <p:cNvPr id="20" name="TextBox 20"/>
            <p:cNvSpPr txBox="1"/>
            <p:nvPr/>
          </p:nvSpPr>
          <p:spPr>
            <a:xfrm>
              <a:off x="944880" y="2868930"/>
              <a:ext cx="41910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箭头</a:t>
              </a:r>
            </a:p>
          </p:txBody>
        </p:sp>
        <p:sp>
          <p:nvSpPr>
            <p:cNvPr id="21" name="TextBox 21"/>
            <p:cNvSpPr txBox="1"/>
            <p:nvPr/>
          </p:nvSpPr>
          <p:spPr>
            <a:xfrm>
              <a:off x="946023" y="3162776"/>
              <a:ext cx="345922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每条控制流画一条边，边必须终止于某个结点</a:t>
              </a:r>
            </a:p>
          </p:txBody>
        </p:sp>
        <p:sp>
          <p:nvSpPr>
            <p:cNvPr id="22" name="TextBox 22"/>
            <p:cNvSpPr txBox="1"/>
            <p:nvPr/>
          </p:nvSpPr>
          <p:spPr>
            <a:xfrm>
              <a:off x="944880" y="3520440"/>
              <a:ext cx="41910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合并</a:t>
              </a:r>
            </a:p>
          </p:txBody>
        </p:sp>
        <p:sp>
          <p:nvSpPr>
            <p:cNvPr id="23" name="TextBox 23"/>
            <p:cNvSpPr txBox="1"/>
            <p:nvPr/>
          </p:nvSpPr>
          <p:spPr>
            <a:xfrm>
              <a:off x="946023" y="3813334"/>
              <a:ext cx="3890010"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连续执行的顺序结点可以合并成一个（结点少 1，边也</a:t>
              </a:r>
              <a:br/>
              <a:r>
                <a:rPr lang="zh-CN" sz="1280" dirty="0">
                  <a:solidFill>
                    <a:srgbClr val="1F2937"/>
                  </a:solidFill>
                  <a:latin typeface="+mn-lt"/>
                  <a:ea typeface="+mn-ea"/>
                  <a:cs typeface="+mn-cs"/>
                </a:rPr>
                <a:t>少 1）</a:t>
              </a:r>
            </a:p>
          </p:txBody>
        </p:sp>
      </p:grpSp>
      <p:grpSp>
        <p:nvGrpSpPr>
          <p:cNvPr id="30" name="c1-callout-2"/>
          <p:cNvGrpSpPr/>
          <p:nvPr/>
        </p:nvGrpSpPr>
        <p:grpSpPr>
          <a:xfrm>
            <a:off x="533400" y="4475798"/>
            <a:ext cx="4544378" cy="858202"/>
            <a:chOff x="533400" y="4475798"/>
            <a:chExt cx="4544378" cy="858202"/>
          </a:xfrm>
        </p:grpSpPr>
        <p:sp>
          <p:nvSpPr>
            <p:cNvPr id="25" name="Rectangle 25"/>
            <p:cNvSpPr/>
            <p:nvPr/>
          </p:nvSpPr>
          <p:spPr>
            <a:xfrm>
              <a:off x="533400" y="4475798"/>
              <a:ext cx="4544378" cy="858202"/>
            </a:xfrm>
            <a:prstGeom prst="roundRect">
              <a:avLst>
                <a:gd name="adj" fmla="val 13319"/>
              </a:avLst>
            </a:prstGeom>
            <a:solidFill>
              <a:srgbClr val="334E68"/>
            </a:solidFill>
            <a:ln>
              <a:noFill/>
            </a:ln>
          </p:spPr>
        </p:sp>
        <p:grpSp>
          <p:nvGrpSpPr>
            <p:cNvPr id="28" name="Group 28"/>
            <p:cNvGrpSpPr/>
            <p:nvPr/>
          </p:nvGrpSpPr>
          <p:grpSpPr>
            <a:xfrm>
              <a:off x="738188" y="4805365"/>
              <a:ext cx="200023" cy="200023"/>
              <a:chOff x="738188" y="4805365"/>
              <a:chExt cx="200023" cy="200023"/>
            </a:xfrm>
          </p:grpSpPr>
          <p:sp>
            <p:nvSpPr>
              <p:cNvPr id="26" name="Freeform 26"/>
              <p:cNvSpPr/>
              <p:nvPr/>
            </p:nvSpPr>
            <p:spPr>
              <a:xfrm>
                <a:off x="738188" y="480536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7" name="Freeform 27"/>
              <p:cNvSpPr/>
              <p:nvPr/>
            </p:nvSpPr>
            <p:spPr>
              <a:xfrm>
                <a:off x="871538" y="487203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29" name="TextBox 29"/>
            <p:cNvSpPr txBox="1"/>
            <p:nvPr/>
          </p:nvSpPr>
          <p:spPr>
            <a:xfrm>
              <a:off x="1040130" y="4662488"/>
              <a:ext cx="35966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合并不影响结果：E 和 N 同时减 1，E−N 不</a:t>
              </a:r>
              <a:br/>
              <a:r>
                <a:rPr lang="zh-CN" sz="1500" dirty="0">
                  <a:solidFill>
                    <a:srgbClr val="FFFFFF"/>
                  </a:solidFill>
                  <a:latin typeface="+mn-lt"/>
                  <a:ea typeface="+mn-ea"/>
                  <a:cs typeface="+mn-cs"/>
                </a:rPr>
                <a:t>变，V(G) 也不变。</a:t>
              </a:r>
            </a:p>
          </p:txBody>
        </p:sp>
      </p:grpSp>
      <p:grpSp>
        <p:nvGrpSpPr>
          <p:cNvPr id="75" name="c2-graph-1"/>
          <p:cNvGrpSpPr/>
          <p:nvPr/>
        </p:nvGrpSpPr>
        <p:grpSpPr>
          <a:xfrm>
            <a:off x="5571172" y="1638300"/>
            <a:ext cx="5774055" cy="3601403"/>
            <a:chOff x="5571172" y="1638300"/>
            <a:chExt cx="5774055" cy="3601403"/>
          </a:xfrm>
        </p:grpSpPr>
        <p:sp>
          <p:nvSpPr>
            <p:cNvPr id="31" name="Freeform 31"/>
            <p:cNvSpPr/>
            <p:nvPr/>
          </p:nvSpPr>
          <p:spPr>
            <a:xfrm>
              <a:off x="8521065" y="1952625"/>
              <a:ext cx="9525" cy="190500"/>
            </a:xfrm>
            <a:custGeom>
              <a:avLst/>
              <a:gdLst/>
              <a:ahLst/>
              <a:cxnLst/>
              <a:rect l="l" t="t" r="r" b="b"/>
              <a:pathLst>
                <a:path w="9525" h="190500">
                  <a:moveTo>
                    <a:pt x="0" y="0"/>
                  </a:moveTo>
                  <a:lnTo>
                    <a:pt x="0" y="190500"/>
                  </a:lnTo>
                </a:path>
              </a:pathLst>
            </a:custGeom>
            <a:noFill/>
            <a:ln w="17145">
              <a:solidFill>
                <a:srgbClr val="1F2937"/>
              </a:solidFill>
            </a:ln>
          </p:spPr>
        </p:sp>
        <p:sp>
          <p:nvSpPr>
            <p:cNvPr id="32" name="Freeform 32"/>
            <p:cNvSpPr/>
            <p:nvPr/>
          </p:nvSpPr>
          <p:spPr>
            <a:xfrm>
              <a:off x="8473440" y="2143125"/>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33" name="Freeform 33"/>
            <p:cNvSpPr/>
            <p:nvPr/>
          </p:nvSpPr>
          <p:spPr>
            <a:xfrm>
              <a:off x="7494270" y="2529840"/>
              <a:ext cx="848678" cy="438150"/>
            </a:xfrm>
            <a:custGeom>
              <a:avLst/>
              <a:gdLst/>
              <a:ahLst/>
              <a:cxnLst/>
              <a:rect l="l" t="t" r="r" b="b"/>
              <a:pathLst>
                <a:path w="848678" h="438150">
                  <a:moveTo>
                    <a:pt x="848678" y="0"/>
                  </a:moveTo>
                  <a:lnTo>
                    <a:pt x="0" y="438150"/>
                  </a:lnTo>
                </a:path>
              </a:pathLst>
            </a:custGeom>
            <a:noFill/>
            <a:ln w="17145">
              <a:solidFill>
                <a:srgbClr val="1F2937"/>
              </a:solidFill>
            </a:ln>
          </p:spPr>
        </p:sp>
        <p:sp>
          <p:nvSpPr>
            <p:cNvPr id="34" name="Freeform 34"/>
            <p:cNvSpPr/>
            <p:nvPr/>
          </p:nvSpPr>
          <p:spPr>
            <a:xfrm>
              <a:off x="7409498" y="2926080"/>
              <a:ext cx="106680" cy="85725"/>
            </a:xfrm>
            <a:custGeom>
              <a:avLst/>
              <a:gdLst/>
              <a:ahLst/>
              <a:cxnLst/>
              <a:rect l="l" t="t" r="r" b="b"/>
              <a:pathLst>
                <a:path w="106680" h="85725">
                  <a:moveTo>
                    <a:pt x="0" y="85725"/>
                  </a:moveTo>
                  <a:lnTo>
                    <a:pt x="62865" y="0"/>
                  </a:lnTo>
                  <a:lnTo>
                    <a:pt x="106680" y="84773"/>
                  </a:lnTo>
                  <a:close/>
                </a:path>
              </a:pathLst>
            </a:custGeom>
            <a:solidFill>
              <a:srgbClr val="1F2937"/>
            </a:solidFill>
            <a:ln>
              <a:noFill/>
            </a:ln>
          </p:spPr>
        </p:sp>
        <p:sp>
          <p:nvSpPr>
            <p:cNvPr id="35" name="Freeform 35"/>
            <p:cNvSpPr/>
            <p:nvPr/>
          </p:nvSpPr>
          <p:spPr>
            <a:xfrm>
              <a:off x="8704898" y="2517458"/>
              <a:ext cx="1050608" cy="452438"/>
            </a:xfrm>
            <a:custGeom>
              <a:avLst/>
              <a:gdLst/>
              <a:ahLst/>
              <a:cxnLst/>
              <a:rect l="l" t="t" r="r" b="b"/>
              <a:pathLst>
                <a:path w="1050608" h="452438">
                  <a:moveTo>
                    <a:pt x="0" y="0"/>
                  </a:moveTo>
                  <a:lnTo>
                    <a:pt x="1050608" y="452438"/>
                  </a:lnTo>
                </a:path>
              </a:pathLst>
            </a:custGeom>
            <a:noFill/>
            <a:ln w="17145">
              <a:solidFill>
                <a:srgbClr val="1F2937"/>
              </a:solidFill>
            </a:ln>
          </p:spPr>
        </p:sp>
        <p:sp>
          <p:nvSpPr>
            <p:cNvPr id="36" name="Freeform 36"/>
            <p:cNvSpPr/>
            <p:nvPr/>
          </p:nvSpPr>
          <p:spPr>
            <a:xfrm>
              <a:off x="9736455" y="2926080"/>
              <a:ext cx="106680" cy="86678"/>
            </a:xfrm>
            <a:custGeom>
              <a:avLst/>
              <a:gdLst/>
              <a:ahLst/>
              <a:cxnLst/>
              <a:rect l="l" t="t" r="r" b="b"/>
              <a:pathLst>
                <a:path w="106680" h="86678">
                  <a:moveTo>
                    <a:pt x="106680" y="80962"/>
                  </a:moveTo>
                  <a:lnTo>
                    <a:pt x="0" y="86678"/>
                  </a:lnTo>
                  <a:lnTo>
                    <a:pt x="38100" y="0"/>
                  </a:lnTo>
                  <a:close/>
                </a:path>
              </a:pathLst>
            </a:custGeom>
            <a:solidFill>
              <a:srgbClr val="1F2937"/>
            </a:solidFill>
            <a:ln>
              <a:noFill/>
            </a:ln>
          </p:spPr>
        </p:sp>
        <p:sp>
          <p:nvSpPr>
            <p:cNvPr id="37" name="Freeform 37"/>
            <p:cNvSpPr/>
            <p:nvPr/>
          </p:nvSpPr>
          <p:spPr>
            <a:xfrm>
              <a:off x="6477952" y="3173730"/>
              <a:ext cx="651510" cy="421005"/>
            </a:xfrm>
            <a:custGeom>
              <a:avLst/>
              <a:gdLst/>
              <a:ahLst/>
              <a:cxnLst/>
              <a:rect l="l" t="t" r="r" b="b"/>
              <a:pathLst>
                <a:path w="651510" h="421005">
                  <a:moveTo>
                    <a:pt x="651510" y="0"/>
                  </a:moveTo>
                  <a:lnTo>
                    <a:pt x="0" y="421005"/>
                  </a:lnTo>
                </a:path>
              </a:pathLst>
            </a:custGeom>
            <a:noFill/>
            <a:ln w="17145">
              <a:solidFill>
                <a:srgbClr val="1F2937"/>
              </a:solidFill>
            </a:ln>
          </p:spPr>
        </p:sp>
        <p:sp>
          <p:nvSpPr>
            <p:cNvPr id="38" name="Freeform 38"/>
            <p:cNvSpPr/>
            <p:nvPr/>
          </p:nvSpPr>
          <p:spPr>
            <a:xfrm>
              <a:off x="6396990" y="3554730"/>
              <a:ext cx="106680" cy="91440"/>
            </a:xfrm>
            <a:custGeom>
              <a:avLst/>
              <a:gdLst/>
              <a:ahLst/>
              <a:cxnLst/>
              <a:rect l="l" t="t" r="r" b="b"/>
              <a:pathLst>
                <a:path w="106680" h="91440">
                  <a:moveTo>
                    <a:pt x="0" y="91440"/>
                  </a:moveTo>
                  <a:lnTo>
                    <a:pt x="54292" y="0"/>
                  </a:lnTo>
                  <a:lnTo>
                    <a:pt x="106680" y="80010"/>
                  </a:lnTo>
                  <a:close/>
                </a:path>
              </a:pathLst>
            </a:custGeom>
            <a:solidFill>
              <a:srgbClr val="1F2937"/>
            </a:solidFill>
            <a:ln>
              <a:noFill/>
            </a:ln>
          </p:spPr>
        </p:sp>
        <p:sp>
          <p:nvSpPr>
            <p:cNvPr id="39" name="Freeform 39"/>
            <p:cNvSpPr/>
            <p:nvPr/>
          </p:nvSpPr>
          <p:spPr>
            <a:xfrm>
              <a:off x="7388542" y="3191828"/>
              <a:ext cx="435292" cy="374332"/>
            </a:xfrm>
            <a:custGeom>
              <a:avLst/>
              <a:gdLst/>
              <a:ahLst/>
              <a:cxnLst/>
              <a:rect l="l" t="t" r="r" b="b"/>
              <a:pathLst>
                <a:path w="435292" h="374332">
                  <a:moveTo>
                    <a:pt x="0" y="0"/>
                  </a:moveTo>
                  <a:lnTo>
                    <a:pt x="435292" y="374332"/>
                  </a:lnTo>
                </a:path>
              </a:pathLst>
            </a:custGeom>
            <a:noFill/>
            <a:ln w="17145">
              <a:solidFill>
                <a:srgbClr val="1F2937"/>
              </a:solidFill>
            </a:ln>
          </p:spPr>
        </p:sp>
        <p:sp>
          <p:nvSpPr>
            <p:cNvPr id="40" name="Freeform 40"/>
            <p:cNvSpPr/>
            <p:nvPr/>
          </p:nvSpPr>
          <p:spPr>
            <a:xfrm>
              <a:off x="7792402" y="3529965"/>
              <a:ext cx="103822" cy="98107"/>
            </a:xfrm>
            <a:custGeom>
              <a:avLst/>
              <a:gdLst/>
              <a:ahLst/>
              <a:cxnLst/>
              <a:rect l="l" t="t" r="r" b="b"/>
              <a:pathLst>
                <a:path w="103822" h="98107">
                  <a:moveTo>
                    <a:pt x="103822" y="98107"/>
                  </a:moveTo>
                  <a:lnTo>
                    <a:pt x="0" y="72390"/>
                  </a:lnTo>
                  <a:lnTo>
                    <a:pt x="61912" y="0"/>
                  </a:lnTo>
                  <a:close/>
                </a:path>
              </a:pathLst>
            </a:custGeom>
            <a:solidFill>
              <a:srgbClr val="1F2937"/>
            </a:solidFill>
            <a:ln>
              <a:noFill/>
            </a:ln>
          </p:spPr>
        </p:sp>
        <p:sp>
          <p:nvSpPr>
            <p:cNvPr id="41" name="Freeform 41"/>
            <p:cNvSpPr/>
            <p:nvPr/>
          </p:nvSpPr>
          <p:spPr>
            <a:xfrm>
              <a:off x="6391275" y="3830002"/>
              <a:ext cx="541972" cy="399097"/>
            </a:xfrm>
            <a:custGeom>
              <a:avLst/>
              <a:gdLst/>
              <a:ahLst/>
              <a:cxnLst/>
              <a:rect l="l" t="t" r="r" b="b"/>
              <a:pathLst>
                <a:path w="541972" h="399097">
                  <a:moveTo>
                    <a:pt x="0" y="0"/>
                  </a:moveTo>
                  <a:lnTo>
                    <a:pt x="541972" y="399097"/>
                  </a:lnTo>
                </a:path>
              </a:pathLst>
            </a:custGeom>
            <a:noFill/>
            <a:ln w="17145">
              <a:solidFill>
                <a:srgbClr val="1F2937"/>
              </a:solidFill>
            </a:ln>
          </p:spPr>
        </p:sp>
        <p:sp>
          <p:nvSpPr>
            <p:cNvPr id="42" name="Freeform 42"/>
            <p:cNvSpPr/>
            <p:nvPr/>
          </p:nvSpPr>
          <p:spPr>
            <a:xfrm>
              <a:off x="6904672" y="4191000"/>
              <a:ext cx="104775" cy="94297"/>
            </a:xfrm>
            <a:custGeom>
              <a:avLst/>
              <a:gdLst/>
              <a:ahLst/>
              <a:cxnLst/>
              <a:rect l="l" t="t" r="r" b="b"/>
              <a:pathLst>
                <a:path w="104775" h="94297">
                  <a:moveTo>
                    <a:pt x="104775" y="94297"/>
                  </a:moveTo>
                  <a:lnTo>
                    <a:pt x="0" y="76200"/>
                  </a:lnTo>
                  <a:lnTo>
                    <a:pt x="56197" y="0"/>
                  </a:lnTo>
                  <a:close/>
                </a:path>
              </a:pathLst>
            </a:custGeom>
            <a:solidFill>
              <a:srgbClr val="1F2937"/>
            </a:solidFill>
            <a:ln>
              <a:noFill/>
            </a:ln>
          </p:spPr>
        </p:sp>
        <p:sp>
          <p:nvSpPr>
            <p:cNvPr id="43" name="Freeform 43"/>
            <p:cNvSpPr/>
            <p:nvPr/>
          </p:nvSpPr>
          <p:spPr>
            <a:xfrm>
              <a:off x="7346632" y="3830002"/>
              <a:ext cx="541973" cy="399097"/>
            </a:xfrm>
            <a:custGeom>
              <a:avLst/>
              <a:gdLst/>
              <a:ahLst/>
              <a:cxnLst/>
              <a:rect l="l" t="t" r="r" b="b"/>
              <a:pathLst>
                <a:path w="541973" h="399097">
                  <a:moveTo>
                    <a:pt x="541973" y="0"/>
                  </a:moveTo>
                  <a:lnTo>
                    <a:pt x="0" y="399097"/>
                  </a:lnTo>
                </a:path>
              </a:pathLst>
            </a:custGeom>
            <a:noFill/>
            <a:ln w="17145">
              <a:solidFill>
                <a:srgbClr val="1F2937"/>
              </a:solidFill>
            </a:ln>
          </p:spPr>
        </p:sp>
        <p:sp>
          <p:nvSpPr>
            <p:cNvPr id="44" name="Freeform 44"/>
            <p:cNvSpPr/>
            <p:nvPr/>
          </p:nvSpPr>
          <p:spPr>
            <a:xfrm>
              <a:off x="7270432" y="4191000"/>
              <a:ext cx="104775" cy="94297"/>
            </a:xfrm>
            <a:custGeom>
              <a:avLst/>
              <a:gdLst/>
              <a:ahLst/>
              <a:cxnLst/>
              <a:rect l="l" t="t" r="r" b="b"/>
              <a:pathLst>
                <a:path w="104775" h="94297">
                  <a:moveTo>
                    <a:pt x="0" y="94297"/>
                  </a:moveTo>
                  <a:lnTo>
                    <a:pt x="48578" y="0"/>
                  </a:lnTo>
                  <a:lnTo>
                    <a:pt x="104775" y="76200"/>
                  </a:lnTo>
                  <a:close/>
                </a:path>
              </a:pathLst>
            </a:custGeom>
            <a:solidFill>
              <a:srgbClr val="1F2937"/>
            </a:solidFill>
            <a:ln>
              <a:noFill/>
            </a:ln>
          </p:spPr>
        </p:sp>
        <p:sp>
          <p:nvSpPr>
            <p:cNvPr id="45" name="Freeform 45"/>
            <p:cNvSpPr/>
            <p:nvPr/>
          </p:nvSpPr>
          <p:spPr>
            <a:xfrm>
              <a:off x="7301865" y="4381500"/>
              <a:ext cx="1318260" cy="9525"/>
            </a:xfrm>
            <a:custGeom>
              <a:avLst/>
              <a:gdLst/>
              <a:ahLst/>
              <a:cxnLst/>
              <a:rect l="l" t="t" r="r" b="b"/>
              <a:pathLst>
                <a:path w="1318260" h="9525">
                  <a:moveTo>
                    <a:pt x="0" y="0"/>
                  </a:moveTo>
                  <a:lnTo>
                    <a:pt x="1318260" y="0"/>
                  </a:lnTo>
                </a:path>
              </a:pathLst>
            </a:custGeom>
            <a:noFill/>
            <a:ln w="17145">
              <a:solidFill>
                <a:srgbClr val="1F2937"/>
              </a:solidFill>
            </a:ln>
          </p:spPr>
        </p:sp>
        <p:sp>
          <p:nvSpPr>
            <p:cNvPr id="46" name="Freeform 46"/>
            <p:cNvSpPr/>
            <p:nvPr/>
          </p:nvSpPr>
          <p:spPr>
            <a:xfrm>
              <a:off x="8620125" y="433387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47" name="Freeform 47"/>
            <p:cNvSpPr/>
            <p:nvPr/>
          </p:nvSpPr>
          <p:spPr>
            <a:xfrm>
              <a:off x="9079230" y="3236595"/>
              <a:ext cx="816293" cy="936308"/>
            </a:xfrm>
            <a:custGeom>
              <a:avLst/>
              <a:gdLst/>
              <a:ahLst/>
              <a:cxnLst/>
              <a:rect l="l" t="t" r="r" b="b"/>
              <a:pathLst>
                <a:path w="816293" h="936308">
                  <a:moveTo>
                    <a:pt x="816293" y="0"/>
                  </a:moveTo>
                  <a:lnTo>
                    <a:pt x="0" y="936308"/>
                  </a:lnTo>
                </a:path>
              </a:pathLst>
            </a:custGeom>
            <a:noFill/>
            <a:ln w="17145">
              <a:solidFill>
                <a:srgbClr val="1F2937"/>
              </a:solidFill>
            </a:ln>
          </p:spPr>
        </p:sp>
        <p:sp>
          <p:nvSpPr>
            <p:cNvPr id="48" name="Freeform 48"/>
            <p:cNvSpPr/>
            <p:nvPr/>
          </p:nvSpPr>
          <p:spPr>
            <a:xfrm>
              <a:off x="9016365" y="4141470"/>
              <a:ext cx="99060" cy="102870"/>
            </a:xfrm>
            <a:custGeom>
              <a:avLst/>
              <a:gdLst/>
              <a:ahLst/>
              <a:cxnLst/>
              <a:rect l="l" t="t" r="r" b="b"/>
              <a:pathLst>
                <a:path w="99060" h="102870">
                  <a:moveTo>
                    <a:pt x="0" y="102870"/>
                  </a:moveTo>
                  <a:lnTo>
                    <a:pt x="26670" y="0"/>
                  </a:lnTo>
                  <a:lnTo>
                    <a:pt x="99060" y="62865"/>
                  </a:lnTo>
                  <a:close/>
                </a:path>
              </a:pathLst>
            </a:custGeom>
            <a:solidFill>
              <a:srgbClr val="1F2937"/>
            </a:solidFill>
            <a:ln>
              <a:noFill/>
            </a:ln>
          </p:spPr>
        </p:sp>
        <p:sp>
          <p:nvSpPr>
            <p:cNvPr id="49" name="Freeform 49"/>
            <p:cNvSpPr/>
            <p:nvPr/>
          </p:nvSpPr>
          <p:spPr>
            <a:xfrm>
              <a:off x="5571172" y="1790700"/>
              <a:ext cx="3144202" cy="2590800"/>
            </a:xfrm>
            <a:custGeom>
              <a:avLst/>
              <a:gdLst/>
              <a:ahLst/>
              <a:cxnLst/>
              <a:rect l="l" t="t" r="r" b="b"/>
              <a:pathLst>
                <a:path w="3144202" h="2590800">
                  <a:moveTo>
                    <a:pt x="3144202" y="2590800"/>
                  </a:moveTo>
                  <a:lnTo>
                    <a:pt x="0" y="2590800"/>
                  </a:lnTo>
                  <a:lnTo>
                    <a:pt x="0" y="0"/>
                  </a:lnTo>
                  <a:lnTo>
                    <a:pt x="2692718" y="0"/>
                  </a:lnTo>
                </a:path>
              </a:pathLst>
            </a:custGeom>
            <a:noFill/>
            <a:ln w="17145">
              <a:solidFill>
                <a:srgbClr val="1F2937"/>
              </a:solidFill>
            </a:ln>
          </p:spPr>
        </p:sp>
        <p:sp>
          <p:nvSpPr>
            <p:cNvPr id="50" name="Freeform 50"/>
            <p:cNvSpPr/>
            <p:nvPr/>
          </p:nvSpPr>
          <p:spPr>
            <a:xfrm>
              <a:off x="8263890" y="1743075"/>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51" name="Freeform 51"/>
            <p:cNvSpPr/>
            <p:nvPr/>
          </p:nvSpPr>
          <p:spPr>
            <a:xfrm>
              <a:off x="8682990" y="1790700"/>
              <a:ext cx="2662237" cy="3276600"/>
            </a:xfrm>
            <a:custGeom>
              <a:avLst/>
              <a:gdLst/>
              <a:ahLst/>
              <a:cxnLst/>
              <a:rect l="l" t="t" r="r" b="b"/>
              <a:pathLst>
                <a:path w="2662237" h="3276600">
                  <a:moveTo>
                    <a:pt x="0" y="0"/>
                  </a:moveTo>
                  <a:lnTo>
                    <a:pt x="2662237" y="0"/>
                  </a:lnTo>
                  <a:lnTo>
                    <a:pt x="2662237" y="3276600"/>
                  </a:lnTo>
                  <a:lnTo>
                    <a:pt x="114300" y="3276600"/>
                  </a:lnTo>
                </a:path>
              </a:pathLst>
            </a:custGeom>
            <a:noFill/>
            <a:ln w="17145">
              <a:solidFill>
                <a:srgbClr val="1F2937"/>
              </a:solidFill>
            </a:ln>
          </p:spPr>
        </p:sp>
        <p:sp>
          <p:nvSpPr>
            <p:cNvPr id="52" name="Freeform 52"/>
            <p:cNvSpPr/>
            <p:nvPr/>
          </p:nvSpPr>
          <p:spPr>
            <a:xfrm>
              <a:off x="8702040" y="5019675"/>
              <a:ext cx="95250" cy="95250"/>
            </a:xfrm>
            <a:custGeom>
              <a:avLst/>
              <a:gdLst/>
              <a:ahLst/>
              <a:cxnLst/>
              <a:rect l="l" t="t" r="r" b="b"/>
              <a:pathLst>
                <a:path w="95250" h="95250">
                  <a:moveTo>
                    <a:pt x="0" y="47625"/>
                  </a:moveTo>
                  <a:lnTo>
                    <a:pt x="95250" y="0"/>
                  </a:lnTo>
                  <a:lnTo>
                    <a:pt x="95250" y="95250"/>
                  </a:lnTo>
                  <a:close/>
                </a:path>
              </a:pathLst>
            </a:custGeom>
            <a:solidFill>
              <a:srgbClr val="1F2937"/>
            </a:solidFill>
            <a:ln>
              <a:noFill/>
            </a:ln>
          </p:spPr>
        </p:sp>
        <p:sp>
          <p:nvSpPr>
            <p:cNvPr id="53" name="Ellipse 53"/>
            <p:cNvSpPr/>
            <p:nvPr/>
          </p:nvSpPr>
          <p:spPr>
            <a:xfrm>
              <a:off x="8368665" y="1638300"/>
              <a:ext cx="304800" cy="304800"/>
            </a:xfrm>
            <a:prstGeom prst="ellipse">
              <a:avLst/>
            </a:prstGeom>
            <a:solidFill>
              <a:srgbClr val="FFFFFF"/>
            </a:solidFill>
            <a:ln w="17145">
              <a:solidFill>
                <a:srgbClr val="334E68"/>
              </a:solidFill>
            </a:ln>
          </p:spPr>
        </p:sp>
        <p:sp>
          <p:nvSpPr>
            <p:cNvPr id="54" name="Ellipse 54"/>
            <p:cNvSpPr/>
            <p:nvPr/>
          </p:nvSpPr>
          <p:spPr>
            <a:xfrm>
              <a:off x="8330565" y="2247900"/>
              <a:ext cx="381000" cy="381000"/>
            </a:xfrm>
            <a:prstGeom prst="ellipse">
              <a:avLst/>
            </a:prstGeom>
            <a:solidFill>
              <a:srgbClr val="FFFFFF"/>
            </a:solidFill>
            <a:ln w="17145">
              <a:solidFill>
                <a:srgbClr val="334E68"/>
              </a:solidFill>
            </a:ln>
          </p:spPr>
        </p:sp>
        <p:sp>
          <p:nvSpPr>
            <p:cNvPr id="55" name="Ellipse 55"/>
            <p:cNvSpPr/>
            <p:nvPr/>
          </p:nvSpPr>
          <p:spPr>
            <a:xfrm>
              <a:off x="7113270" y="2933700"/>
              <a:ext cx="304800" cy="304800"/>
            </a:xfrm>
            <a:prstGeom prst="ellipse">
              <a:avLst/>
            </a:prstGeom>
            <a:solidFill>
              <a:srgbClr val="FFFFFF"/>
            </a:solidFill>
            <a:ln w="17145">
              <a:solidFill>
                <a:srgbClr val="334E68"/>
              </a:solidFill>
            </a:ln>
          </p:spPr>
        </p:sp>
        <p:sp>
          <p:nvSpPr>
            <p:cNvPr id="56" name="Ellipse 56"/>
            <p:cNvSpPr/>
            <p:nvPr/>
          </p:nvSpPr>
          <p:spPr>
            <a:xfrm>
              <a:off x="9836468" y="2895600"/>
              <a:ext cx="381000" cy="381000"/>
            </a:xfrm>
            <a:prstGeom prst="ellipse">
              <a:avLst/>
            </a:prstGeom>
            <a:solidFill>
              <a:srgbClr val="FFFFFF"/>
            </a:solidFill>
            <a:ln w="17145">
              <a:solidFill>
                <a:srgbClr val="334E68"/>
              </a:solidFill>
            </a:ln>
          </p:spPr>
        </p:sp>
        <p:sp>
          <p:nvSpPr>
            <p:cNvPr id="57" name="Ellipse 57"/>
            <p:cNvSpPr/>
            <p:nvPr/>
          </p:nvSpPr>
          <p:spPr>
            <a:xfrm>
              <a:off x="6109335" y="3581400"/>
              <a:ext cx="304800" cy="304800"/>
            </a:xfrm>
            <a:prstGeom prst="ellipse">
              <a:avLst/>
            </a:prstGeom>
            <a:solidFill>
              <a:srgbClr val="FFFFFF"/>
            </a:solidFill>
            <a:ln w="17145">
              <a:solidFill>
                <a:srgbClr val="334E68"/>
              </a:solidFill>
            </a:ln>
          </p:spPr>
        </p:sp>
        <p:sp>
          <p:nvSpPr>
            <p:cNvPr id="58" name="Ellipse 58"/>
            <p:cNvSpPr/>
            <p:nvPr/>
          </p:nvSpPr>
          <p:spPr>
            <a:xfrm>
              <a:off x="7865745" y="3581400"/>
              <a:ext cx="304800" cy="304800"/>
            </a:xfrm>
            <a:prstGeom prst="ellipse">
              <a:avLst/>
            </a:prstGeom>
            <a:solidFill>
              <a:srgbClr val="FFFFFF"/>
            </a:solidFill>
            <a:ln w="17145">
              <a:solidFill>
                <a:srgbClr val="334E68"/>
              </a:solidFill>
            </a:ln>
          </p:spPr>
        </p:sp>
        <p:sp>
          <p:nvSpPr>
            <p:cNvPr id="59" name="Ellipse 59"/>
            <p:cNvSpPr/>
            <p:nvPr/>
          </p:nvSpPr>
          <p:spPr>
            <a:xfrm>
              <a:off x="6987540" y="4229100"/>
              <a:ext cx="304800" cy="304800"/>
            </a:xfrm>
            <a:prstGeom prst="ellipse">
              <a:avLst/>
            </a:prstGeom>
            <a:solidFill>
              <a:srgbClr val="FFFFFF"/>
            </a:solidFill>
            <a:ln w="17145">
              <a:solidFill>
                <a:srgbClr val="334E68"/>
              </a:solidFill>
            </a:ln>
          </p:spPr>
        </p:sp>
        <p:sp>
          <p:nvSpPr>
            <p:cNvPr id="60" name="Ellipse 60"/>
            <p:cNvSpPr/>
            <p:nvPr/>
          </p:nvSpPr>
          <p:spPr>
            <a:xfrm>
              <a:off x="8724900" y="4209098"/>
              <a:ext cx="344805" cy="344805"/>
            </a:xfrm>
            <a:prstGeom prst="ellipse">
              <a:avLst/>
            </a:prstGeom>
            <a:solidFill>
              <a:srgbClr val="FFFFFF"/>
            </a:solidFill>
            <a:ln w="17145">
              <a:solidFill>
                <a:srgbClr val="334E68"/>
              </a:solidFill>
            </a:ln>
          </p:spPr>
        </p:sp>
        <p:sp>
          <p:nvSpPr>
            <p:cNvPr id="61" name="Ellipse 61"/>
            <p:cNvSpPr/>
            <p:nvPr/>
          </p:nvSpPr>
          <p:spPr>
            <a:xfrm>
              <a:off x="8348662" y="4894898"/>
              <a:ext cx="344805" cy="344805"/>
            </a:xfrm>
            <a:prstGeom prst="ellipse">
              <a:avLst/>
            </a:prstGeom>
            <a:solidFill>
              <a:srgbClr val="FFFFFF"/>
            </a:solidFill>
            <a:ln w="17145">
              <a:solidFill>
                <a:srgbClr val="334E68"/>
              </a:solidFill>
            </a:ln>
          </p:spPr>
        </p:sp>
        <p:sp>
          <p:nvSpPr>
            <p:cNvPr id="62" name="TextBox 62"/>
            <p:cNvSpPr txBox="1"/>
            <p:nvPr/>
          </p:nvSpPr>
          <p:spPr>
            <a:xfrm>
              <a:off x="8474916" y="1724978"/>
              <a:ext cx="92298"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1</a:t>
              </a:r>
            </a:p>
          </p:txBody>
        </p:sp>
        <p:sp>
          <p:nvSpPr>
            <p:cNvPr id="63" name="TextBox 63"/>
            <p:cNvSpPr txBox="1"/>
            <p:nvPr/>
          </p:nvSpPr>
          <p:spPr>
            <a:xfrm>
              <a:off x="8393286" y="2372678"/>
              <a:ext cx="255559"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2,3</a:t>
              </a:r>
            </a:p>
          </p:txBody>
        </p:sp>
        <p:sp>
          <p:nvSpPr>
            <p:cNvPr id="64" name="TextBox 64"/>
            <p:cNvSpPr txBox="1"/>
            <p:nvPr/>
          </p:nvSpPr>
          <p:spPr>
            <a:xfrm>
              <a:off x="7219521" y="3020378"/>
              <a:ext cx="92298"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6</a:t>
              </a:r>
            </a:p>
          </p:txBody>
        </p:sp>
        <p:sp>
          <p:nvSpPr>
            <p:cNvPr id="65" name="TextBox 65"/>
            <p:cNvSpPr txBox="1"/>
            <p:nvPr/>
          </p:nvSpPr>
          <p:spPr>
            <a:xfrm>
              <a:off x="9899188" y="3020378"/>
              <a:ext cx="255559"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4,5</a:t>
              </a:r>
            </a:p>
          </p:txBody>
        </p:sp>
        <p:sp>
          <p:nvSpPr>
            <p:cNvPr id="66" name="TextBox 66"/>
            <p:cNvSpPr txBox="1"/>
            <p:nvPr/>
          </p:nvSpPr>
          <p:spPr>
            <a:xfrm>
              <a:off x="6215586" y="3668078"/>
              <a:ext cx="92298"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7</a:t>
              </a:r>
            </a:p>
          </p:txBody>
        </p:sp>
        <p:sp>
          <p:nvSpPr>
            <p:cNvPr id="67" name="TextBox 67"/>
            <p:cNvSpPr txBox="1"/>
            <p:nvPr/>
          </p:nvSpPr>
          <p:spPr>
            <a:xfrm>
              <a:off x="7971996" y="3668078"/>
              <a:ext cx="92298"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8</a:t>
              </a:r>
            </a:p>
          </p:txBody>
        </p:sp>
        <p:sp>
          <p:nvSpPr>
            <p:cNvPr id="68" name="TextBox 68"/>
            <p:cNvSpPr txBox="1"/>
            <p:nvPr/>
          </p:nvSpPr>
          <p:spPr>
            <a:xfrm>
              <a:off x="7093791" y="4315778"/>
              <a:ext cx="92298"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9</a:t>
              </a:r>
            </a:p>
          </p:txBody>
        </p:sp>
        <p:sp>
          <p:nvSpPr>
            <p:cNvPr id="69" name="TextBox 69"/>
            <p:cNvSpPr txBox="1"/>
            <p:nvPr/>
          </p:nvSpPr>
          <p:spPr>
            <a:xfrm>
              <a:off x="8810338" y="4315778"/>
              <a:ext cx="173928"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10</a:t>
              </a:r>
            </a:p>
          </p:txBody>
        </p:sp>
        <p:sp>
          <p:nvSpPr>
            <p:cNvPr id="70" name="TextBox 70"/>
            <p:cNvSpPr txBox="1"/>
            <p:nvPr/>
          </p:nvSpPr>
          <p:spPr>
            <a:xfrm>
              <a:off x="8434101" y="5001578"/>
              <a:ext cx="173928" cy="205359"/>
            </a:xfrm>
            <a:prstGeom prst="rect">
              <a:avLst/>
            </a:prstGeom>
            <a:noFill/>
            <a:ln>
              <a:noFill/>
            </a:ln>
          </p:spPr>
          <p:txBody>
            <a:bodyPr wrap="none" lIns="0" tIns="0" rIns="0" bIns="0" anchor="t" anchorCtr="0">
              <a:spAutoFit/>
            </a:bodyPr>
            <a:lstStyle/>
            <a:p>
              <a:pPr algn="ctr"/>
              <a:r>
                <a:rPr lang="zh-CN" sz="1050" b="1" dirty="0">
                  <a:solidFill>
                    <a:srgbClr val="1F2937"/>
                  </a:solidFill>
                  <a:latin typeface="+mn-lt"/>
                  <a:ea typeface="+mn-ea"/>
                  <a:cs typeface="+mn-cs"/>
                </a:rPr>
                <a:t>11</a:t>
              </a:r>
            </a:p>
          </p:txBody>
        </p:sp>
        <p:sp>
          <p:nvSpPr>
            <p:cNvPr id="71" name="TextBox 71"/>
            <p:cNvSpPr txBox="1"/>
            <p:nvPr/>
          </p:nvSpPr>
          <p:spPr>
            <a:xfrm>
              <a:off x="9191920" y="3590449"/>
              <a:ext cx="163241"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R1</a:t>
              </a:r>
            </a:p>
          </p:txBody>
        </p:sp>
        <p:sp>
          <p:nvSpPr>
            <p:cNvPr id="72" name="TextBox 72"/>
            <p:cNvSpPr txBox="1"/>
            <p:nvPr/>
          </p:nvSpPr>
          <p:spPr>
            <a:xfrm>
              <a:off x="8250850" y="2904649"/>
              <a:ext cx="163241"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R2</a:t>
              </a:r>
            </a:p>
          </p:txBody>
        </p:sp>
        <p:sp>
          <p:nvSpPr>
            <p:cNvPr id="73" name="TextBox 73"/>
            <p:cNvSpPr txBox="1"/>
            <p:nvPr/>
          </p:nvSpPr>
          <p:spPr>
            <a:xfrm>
              <a:off x="7058320" y="3590449"/>
              <a:ext cx="163241"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R3</a:t>
              </a:r>
            </a:p>
          </p:txBody>
        </p:sp>
        <p:sp>
          <p:nvSpPr>
            <p:cNvPr id="74" name="TextBox 74"/>
            <p:cNvSpPr txBox="1"/>
            <p:nvPr/>
          </p:nvSpPr>
          <p:spPr>
            <a:xfrm>
              <a:off x="10573045" y="4276249"/>
              <a:ext cx="163241" cy="190690"/>
            </a:xfrm>
            <a:prstGeom prst="rect">
              <a:avLst/>
            </a:prstGeom>
            <a:noFill/>
            <a:ln>
              <a:noFill/>
            </a:ln>
          </p:spPr>
          <p:txBody>
            <a:bodyPr wrap="none" lIns="0" tIns="0" rIns="0" bIns="0" anchor="t" anchorCtr="0">
              <a:spAutoFit/>
            </a:bodyPr>
            <a:lstStyle/>
            <a:p>
              <a:pPr algn="ctr"/>
              <a:r>
                <a:rPr lang="en-US" sz="980" dirty="0">
                  <a:solidFill>
                    <a:srgbClr val="5B6475"/>
                  </a:solidFill>
                  <a:latin typeface="+mn-lt"/>
                  <a:ea typeface="+mn-ea"/>
                  <a:cs typeface="+mn-cs"/>
                </a:rPr>
                <a:t>R4</a:t>
              </a:r>
            </a:p>
          </p:txBody>
        </p:sp>
      </p:grpSp>
      <p:grpSp>
        <p:nvGrpSpPr>
          <p:cNvPr id="81" name="takeaway"/>
          <p:cNvGrpSpPr/>
          <p:nvPr/>
        </p:nvGrpSpPr>
        <p:grpSpPr>
          <a:xfrm>
            <a:off x="533400" y="5829300"/>
            <a:ext cx="11125200" cy="533400"/>
            <a:chOff x="533400" y="5829300"/>
            <a:chExt cx="11125200" cy="533400"/>
          </a:xfrm>
        </p:grpSpPr>
        <p:sp>
          <p:nvSpPr>
            <p:cNvPr id="76" name="Rectangle 76"/>
            <p:cNvSpPr/>
            <p:nvPr/>
          </p:nvSpPr>
          <p:spPr>
            <a:xfrm>
              <a:off x="533400" y="5829300"/>
              <a:ext cx="11125200" cy="533400"/>
            </a:xfrm>
            <a:prstGeom prst="roundRect">
              <a:avLst>
                <a:gd name="adj" fmla="val 21429"/>
              </a:avLst>
            </a:prstGeom>
            <a:solidFill>
              <a:srgbClr val="334E68"/>
            </a:solidFill>
            <a:ln>
              <a:noFill/>
            </a:ln>
          </p:spPr>
        </p:sp>
        <p:grpSp>
          <p:nvGrpSpPr>
            <p:cNvPr id="79" name="Group 79"/>
            <p:cNvGrpSpPr/>
            <p:nvPr/>
          </p:nvGrpSpPr>
          <p:grpSpPr>
            <a:xfrm>
              <a:off x="738188" y="5995990"/>
              <a:ext cx="200023" cy="200023"/>
              <a:chOff x="738188" y="5995990"/>
              <a:chExt cx="200023" cy="200023"/>
            </a:xfrm>
          </p:grpSpPr>
          <p:sp>
            <p:nvSpPr>
              <p:cNvPr id="77" name="Freeform 77"/>
              <p:cNvSpPr/>
              <p:nvPr/>
            </p:nvSpPr>
            <p:spPr>
              <a:xfrm>
                <a:off x="738188" y="599599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78" name="Freeform 78"/>
              <p:cNvSpPr/>
              <p:nvPr/>
            </p:nvSpPr>
            <p:spPr>
              <a:xfrm>
                <a:off x="871538" y="606266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80" name="TextBox 80"/>
            <p:cNvSpPr txBox="1"/>
            <p:nvPr/>
          </p:nvSpPr>
          <p:spPr>
            <a:xfrm>
              <a:off x="1040130" y="5991225"/>
              <a:ext cx="10159936"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这张流图 E=11、N=9、判定结点 3 个（1、2·3、6），围成的区域连图外那块共 4 个，三种算法都给出 V(G)=4。</a:t>
              </a:r>
            </a:p>
          </p:txBody>
        </p:sp>
      </p:grpSp>
      <p:grpSp>
        <p:nvGrpSpPr>
          <p:cNvPr id="84" name="footer"/>
          <p:cNvGrpSpPr/>
          <p:nvPr/>
        </p:nvGrpSpPr>
        <p:grpSpPr>
          <a:xfrm>
            <a:off x="528447" y="6581299"/>
            <a:ext cx="11135106" cy="190690"/>
            <a:chOff x="528447" y="6581299"/>
            <a:chExt cx="11135106" cy="190690"/>
          </a:xfrm>
        </p:grpSpPr>
        <p:sp>
          <p:nvSpPr>
            <p:cNvPr id="82" name="TextBox 82"/>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83" name="TextBox 8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47</a:t>
              </a:r>
            </a:p>
          </p:txBody>
        </p:sp>
      </p:grpSp>
    </p:spTree>
  </p:cSld>
  <p:clrMapOvr>
    <a:masterClrMapping/>
  </p:clrMapOvr>
  <p:transition xmlns:p14="http://schemas.microsoft.com/office/powerpoint/2010/main" p14:dur="400">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488561" cy="909257"/>
            <a:chOff x="520446" y="342900"/>
            <a:chExt cx="4488561"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程序复杂程度的定量度量</a:t>
              </a:r>
            </a:p>
          </p:txBody>
        </p:sp>
        <p:sp>
          <p:nvSpPr>
            <p:cNvPr id="4" name="TextBox 4"/>
            <p:cNvSpPr txBox="1"/>
            <p:nvPr/>
          </p:nvSpPr>
          <p:spPr>
            <a:xfrm>
              <a:off x="520446" y="753428"/>
              <a:ext cx="44885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三种算法算同一个环形复杂度</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20" name="c1-card-1"/>
          <p:cNvGrpSpPr/>
          <p:nvPr/>
        </p:nvGrpSpPr>
        <p:grpSpPr>
          <a:xfrm>
            <a:off x="533400" y="1524000"/>
            <a:ext cx="5842635" cy="1701165"/>
            <a:chOff x="533400" y="1524000"/>
            <a:chExt cx="5842635" cy="1701165"/>
          </a:xfrm>
        </p:grpSpPr>
        <p:sp>
          <p:nvSpPr>
            <p:cNvPr id="7" name="Rectangle 7"/>
            <p:cNvSpPr/>
            <p:nvPr/>
          </p:nvSpPr>
          <p:spPr>
            <a:xfrm>
              <a:off x="533400" y="1524000"/>
              <a:ext cx="5842635" cy="1701165"/>
            </a:xfrm>
            <a:prstGeom prst="roundRect">
              <a:avLst>
                <a:gd name="adj" fmla="val 7839"/>
              </a:avLst>
            </a:prstGeom>
            <a:solidFill>
              <a:srgbClr val="FFFFFF"/>
            </a:solidFill>
            <a:ln w="14288">
              <a:solidFill>
                <a:srgbClr val="D9DFEA"/>
              </a:solidFill>
            </a:ln>
          </p:spPr>
        </p:sp>
        <p:sp>
          <p:nvSpPr>
            <p:cNvPr id="8" name="Rectangle 8"/>
            <p:cNvSpPr/>
            <p:nvPr/>
          </p:nvSpPr>
          <p:spPr>
            <a:xfrm>
              <a:off x="542925" y="1657350"/>
              <a:ext cx="47625" cy="1434465"/>
            </a:xfrm>
            <a:prstGeom prst="roundRect">
              <a:avLst>
                <a:gd name="adj" fmla="val 50000"/>
              </a:avLst>
            </a:prstGeom>
            <a:solidFill>
              <a:srgbClr val="F26B3A"/>
            </a:solidFill>
            <a:ln>
              <a:noFill/>
            </a:ln>
          </p:spPr>
        </p:sp>
        <p:sp>
          <p:nvSpPr>
            <p:cNvPr id="9" name="Rectangle 9"/>
            <p:cNvSpPr/>
            <p:nvPr/>
          </p:nvSpPr>
          <p:spPr>
            <a:xfrm>
              <a:off x="781050" y="1733550"/>
              <a:ext cx="1062990" cy="257175"/>
            </a:xfrm>
            <a:prstGeom prst="roundRect">
              <a:avLst>
                <a:gd name="adj" fmla="val 50000"/>
              </a:avLst>
            </a:prstGeom>
            <a:solidFill>
              <a:srgbClr val="FDEEE7"/>
            </a:solidFill>
            <a:ln>
              <a:noFill/>
            </a:ln>
          </p:spPr>
        </p:sp>
        <p:sp>
          <p:nvSpPr>
            <p:cNvPr id="10" name="TextBox 10"/>
            <p:cNvSpPr txBox="1"/>
            <p:nvPr/>
          </p:nvSpPr>
          <p:spPr>
            <a:xfrm>
              <a:off x="854507" y="1769269"/>
              <a:ext cx="916076" cy="220028"/>
            </a:xfrm>
            <a:prstGeom prst="rect">
              <a:avLst/>
            </a:prstGeom>
            <a:noFill/>
            <a:ln>
              <a:noFill/>
            </a:ln>
          </p:spPr>
          <p:txBody>
            <a:bodyPr wrap="none" lIns="0" tIns="0" rIns="0" bIns="0" anchor="t" anchorCtr="0">
              <a:spAutoFit/>
            </a:bodyPr>
            <a:lstStyle/>
            <a:p>
              <a:pPr algn="ctr"/>
              <a:r>
                <a:rPr lang="zh-CN" sz="1120" b="1" dirty="0">
                  <a:solidFill>
                    <a:srgbClr val="C2410C"/>
                  </a:solidFill>
                  <a:latin typeface="+mn-lt"/>
                  <a:ea typeface="+mn-ea"/>
                  <a:cs typeface="+mn-cs"/>
                </a:rPr>
                <a:t>三种等价算法</a:t>
              </a:r>
            </a:p>
          </p:txBody>
        </p:sp>
        <p:sp>
          <p:nvSpPr>
            <p:cNvPr id="11" name="Ellipse 11"/>
            <p:cNvSpPr/>
            <p:nvPr/>
          </p:nvSpPr>
          <p:spPr>
            <a:xfrm>
              <a:off x="781050" y="2097405"/>
              <a:ext cx="213360" cy="213360"/>
            </a:xfrm>
            <a:prstGeom prst="ellipse">
              <a:avLst/>
            </a:prstGeom>
            <a:solidFill>
              <a:srgbClr val="334E68"/>
            </a:solidFill>
            <a:ln>
              <a:noFill/>
            </a:ln>
          </p:spPr>
        </p:sp>
        <p:sp>
          <p:nvSpPr>
            <p:cNvPr id="12" name="TextBox 12"/>
            <p:cNvSpPr txBox="1"/>
            <p:nvPr/>
          </p:nvSpPr>
          <p:spPr>
            <a:xfrm>
              <a:off x="842899" y="213969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1</a:t>
              </a:r>
            </a:p>
          </p:txBody>
        </p:sp>
        <p:sp>
          <p:nvSpPr>
            <p:cNvPr id="13" name="TextBox 13"/>
            <p:cNvSpPr txBox="1"/>
            <p:nvPr/>
          </p:nvSpPr>
          <p:spPr>
            <a:xfrm>
              <a:off x="1082040" y="2110740"/>
              <a:ext cx="48615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流图中的</a:t>
              </a:r>
              <a:r>
                <a:rPr lang="zh-CN" sz="1500" b="1" dirty="0">
                  <a:solidFill>
                    <a:srgbClr val="C2410C"/>
                  </a:solidFill>
                  <a:latin typeface="+mn-lt"/>
                  <a:ea typeface="+mn-ea"/>
                  <a:cs typeface="+mn-cs"/>
                </a:rPr>
                <a:t>区域数</a:t>
              </a:r>
              <a:r>
                <a:rPr lang="zh-CN" sz="1500" dirty="0">
                  <a:solidFill>
                    <a:srgbClr val="1F2937"/>
                  </a:solidFill>
                  <a:latin typeface="+mn-lt"/>
                  <a:ea typeface="+mn-ea"/>
                  <a:cs typeface="+mn-cs"/>
                </a:rPr>
                <a:t>等于环形复杂度（含图外的无界区域）</a:t>
              </a:r>
            </a:p>
          </p:txBody>
        </p:sp>
        <p:sp>
          <p:nvSpPr>
            <p:cNvPr id="14" name="Ellipse 14"/>
            <p:cNvSpPr/>
            <p:nvPr/>
          </p:nvSpPr>
          <p:spPr>
            <a:xfrm>
              <a:off x="781050" y="2432685"/>
              <a:ext cx="213360" cy="213360"/>
            </a:xfrm>
            <a:prstGeom prst="ellipse">
              <a:avLst/>
            </a:prstGeom>
            <a:solidFill>
              <a:srgbClr val="334E68"/>
            </a:solidFill>
            <a:ln>
              <a:noFill/>
            </a:ln>
          </p:spPr>
        </p:sp>
        <p:sp>
          <p:nvSpPr>
            <p:cNvPr id="15" name="TextBox 15"/>
            <p:cNvSpPr txBox="1"/>
            <p:nvPr/>
          </p:nvSpPr>
          <p:spPr>
            <a:xfrm>
              <a:off x="842899" y="247497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2</a:t>
              </a:r>
            </a:p>
          </p:txBody>
        </p:sp>
        <p:sp>
          <p:nvSpPr>
            <p:cNvPr id="16" name="TextBox 16"/>
            <p:cNvSpPr txBox="1"/>
            <p:nvPr/>
          </p:nvSpPr>
          <p:spPr>
            <a:xfrm>
              <a:off x="1082040" y="2446020"/>
              <a:ext cx="37528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V(G) = E − N + 2，E 是边数，N 是结点数</a:t>
              </a:r>
            </a:p>
          </p:txBody>
        </p:sp>
        <p:sp>
          <p:nvSpPr>
            <p:cNvPr id="17" name="Ellipse 17"/>
            <p:cNvSpPr/>
            <p:nvPr/>
          </p:nvSpPr>
          <p:spPr>
            <a:xfrm>
              <a:off x="781050" y="2767965"/>
              <a:ext cx="213360" cy="213360"/>
            </a:xfrm>
            <a:prstGeom prst="ellipse">
              <a:avLst/>
            </a:prstGeom>
            <a:solidFill>
              <a:srgbClr val="334E68"/>
            </a:solidFill>
            <a:ln>
              <a:noFill/>
            </a:ln>
          </p:spPr>
        </p:sp>
        <p:sp>
          <p:nvSpPr>
            <p:cNvPr id="18" name="TextBox 18"/>
            <p:cNvSpPr txBox="1"/>
            <p:nvPr/>
          </p:nvSpPr>
          <p:spPr>
            <a:xfrm>
              <a:off x="842899" y="2810256"/>
              <a:ext cx="89661" cy="199492"/>
            </a:xfrm>
            <a:prstGeom prst="rect">
              <a:avLst/>
            </a:prstGeom>
            <a:noFill/>
            <a:ln>
              <a:noFill/>
            </a:ln>
          </p:spPr>
          <p:txBody>
            <a:bodyPr wrap="none" lIns="0" tIns="0" rIns="0" bIns="0" anchor="t" anchorCtr="0">
              <a:spAutoFit/>
            </a:bodyPr>
            <a:lstStyle/>
            <a:p>
              <a:pPr algn="ctr"/>
              <a:r>
                <a:rPr lang="zh-CN" sz="1020" b="1" dirty="0">
                  <a:solidFill>
                    <a:srgbClr val="FFFFFF"/>
                  </a:solidFill>
                  <a:latin typeface="+mn-lt"/>
                  <a:ea typeface="+mn-ea"/>
                  <a:cs typeface="+mn-cs"/>
                </a:rPr>
                <a:t>3</a:t>
              </a:r>
            </a:p>
          </p:txBody>
        </p:sp>
        <p:sp>
          <p:nvSpPr>
            <p:cNvPr id="19" name="TextBox 19"/>
            <p:cNvSpPr txBox="1"/>
            <p:nvPr/>
          </p:nvSpPr>
          <p:spPr>
            <a:xfrm>
              <a:off x="1082040" y="2781300"/>
              <a:ext cx="3814572"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V(G) = P + 1，P 是流图中</a:t>
              </a:r>
              <a:r>
                <a:rPr lang="zh-CN" sz="1500" b="1" dirty="0">
                  <a:solidFill>
                    <a:srgbClr val="C2410C"/>
                  </a:solidFill>
                  <a:latin typeface="+mn-lt"/>
                  <a:ea typeface="+mn-ea"/>
                  <a:cs typeface="+mn-cs"/>
                </a:rPr>
                <a:t>判定结点</a:t>
              </a:r>
              <a:r>
                <a:rPr lang="zh-CN" sz="1500" dirty="0">
                  <a:solidFill>
                    <a:srgbClr val="1F2937"/>
                  </a:solidFill>
                  <a:latin typeface="+mn-lt"/>
                  <a:ea typeface="+mn-ea"/>
                  <a:cs typeface="+mn-cs"/>
                </a:rPr>
                <a:t>的数目</a:t>
              </a:r>
            </a:p>
          </p:txBody>
        </p:sp>
      </p:grpSp>
      <p:grpSp>
        <p:nvGrpSpPr>
          <p:cNvPr id="40" name="c1-table-2"/>
          <p:cNvGrpSpPr/>
          <p:nvPr/>
        </p:nvGrpSpPr>
        <p:grpSpPr>
          <a:xfrm>
            <a:off x="533400" y="3415665"/>
            <a:ext cx="5842635" cy="1795462"/>
            <a:chOff x="533400" y="3415665"/>
            <a:chExt cx="5842635" cy="1795462"/>
          </a:xfrm>
        </p:grpSpPr>
        <p:sp>
          <p:nvSpPr>
            <p:cNvPr id="21" name="Rectangle 21"/>
            <p:cNvSpPr/>
            <p:nvPr/>
          </p:nvSpPr>
          <p:spPr>
            <a:xfrm>
              <a:off x="533400" y="3415665"/>
              <a:ext cx="5842635" cy="448628"/>
            </a:xfrm>
            <a:prstGeom prst="rect">
              <a:avLst/>
            </a:prstGeom>
            <a:solidFill>
              <a:srgbClr val="334E68"/>
            </a:solidFill>
            <a:ln>
              <a:noFill/>
            </a:ln>
          </p:spPr>
        </p:sp>
        <p:sp>
          <p:nvSpPr>
            <p:cNvPr id="22" name="TextBox 22"/>
            <p:cNvSpPr txBox="1"/>
            <p:nvPr/>
          </p:nvSpPr>
          <p:spPr>
            <a:xfrm>
              <a:off x="997547" y="3551396"/>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算法</a:t>
              </a:r>
            </a:p>
          </p:txBody>
        </p:sp>
        <p:sp>
          <p:nvSpPr>
            <p:cNvPr id="23" name="TextBox 23"/>
            <p:cNvSpPr txBox="1"/>
            <p:nvPr/>
          </p:nvSpPr>
          <p:spPr>
            <a:xfrm>
              <a:off x="2642781" y="3551396"/>
              <a:ext cx="1391463"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上一页流图的计算</a:t>
              </a:r>
            </a:p>
          </p:txBody>
        </p:sp>
        <p:sp>
          <p:nvSpPr>
            <p:cNvPr id="24" name="TextBox 24"/>
            <p:cNvSpPr txBox="1"/>
            <p:nvPr/>
          </p:nvSpPr>
          <p:spPr>
            <a:xfrm>
              <a:off x="5438102" y="3551396"/>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结果</a:t>
              </a:r>
            </a:p>
          </p:txBody>
        </p:sp>
        <p:sp>
          <p:nvSpPr>
            <p:cNvPr id="25" name="TextBox 25"/>
            <p:cNvSpPr txBox="1"/>
            <p:nvPr/>
          </p:nvSpPr>
          <p:spPr>
            <a:xfrm>
              <a:off x="641223" y="4000024"/>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区域数</a:t>
              </a:r>
            </a:p>
          </p:txBody>
        </p:sp>
        <p:sp>
          <p:nvSpPr>
            <p:cNvPr id="26" name="TextBox 26"/>
            <p:cNvSpPr txBox="1"/>
            <p:nvPr/>
          </p:nvSpPr>
          <p:spPr>
            <a:xfrm>
              <a:off x="1927098" y="4000024"/>
              <a:ext cx="212948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R1、R2、R3 加上图外的 R4</a:t>
              </a:r>
            </a:p>
          </p:txBody>
        </p:sp>
        <p:sp>
          <p:nvSpPr>
            <p:cNvPr id="27" name="TextBox 27"/>
            <p:cNvSpPr txBox="1"/>
            <p:nvPr/>
          </p:nvSpPr>
          <p:spPr>
            <a:xfrm>
              <a:off x="5563029" y="4000024"/>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4</a:t>
              </a:r>
            </a:p>
          </p:txBody>
        </p:sp>
        <p:sp>
          <p:nvSpPr>
            <p:cNvPr id="28" name="Rectangle 28"/>
            <p:cNvSpPr/>
            <p:nvPr/>
          </p:nvSpPr>
          <p:spPr>
            <a:xfrm>
              <a:off x="533400" y="4308158"/>
              <a:ext cx="5842635" cy="9525"/>
            </a:xfrm>
            <a:prstGeom prst="rect">
              <a:avLst/>
            </a:prstGeom>
            <a:solidFill>
              <a:srgbClr val="D9DFEA"/>
            </a:solidFill>
            <a:ln>
              <a:noFill/>
            </a:ln>
          </p:spPr>
        </p:sp>
        <p:sp>
          <p:nvSpPr>
            <p:cNvPr id="29" name="Rectangle 29"/>
            <p:cNvSpPr/>
            <p:nvPr/>
          </p:nvSpPr>
          <p:spPr>
            <a:xfrm>
              <a:off x="533400" y="4312920"/>
              <a:ext cx="5842635" cy="448628"/>
            </a:xfrm>
            <a:prstGeom prst="rect">
              <a:avLst/>
            </a:prstGeom>
            <a:solidFill>
              <a:srgbClr val="F4F6FB"/>
            </a:solidFill>
            <a:ln>
              <a:noFill/>
            </a:ln>
          </p:spPr>
        </p:sp>
        <p:sp>
          <p:nvSpPr>
            <p:cNvPr id="30" name="TextBox 30"/>
            <p:cNvSpPr txBox="1"/>
            <p:nvPr/>
          </p:nvSpPr>
          <p:spPr>
            <a:xfrm>
              <a:off x="641223" y="4448651"/>
              <a:ext cx="538673"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E−N+2</a:t>
              </a:r>
            </a:p>
          </p:txBody>
        </p:sp>
        <p:sp>
          <p:nvSpPr>
            <p:cNvPr id="31" name="TextBox 31"/>
            <p:cNvSpPr txBox="1"/>
            <p:nvPr/>
          </p:nvSpPr>
          <p:spPr>
            <a:xfrm>
              <a:off x="1927098" y="4448651"/>
              <a:ext cx="788365"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11 − 9 + 2</a:t>
              </a:r>
            </a:p>
          </p:txBody>
        </p:sp>
        <p:sp>
          <p:nvSpPr>
            <p:cNvPr id="32" name="TextBox 32"/>
            <p:cNvSpPr txBox="1"/>
            <p:nvPr/>
          </p:nvSpPr>
          <p:spPr>
            <a:xfrm>
              <a:off x="5563029" y="4448651"/>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4</a:t>
              </a:r>
            </a:p>
          </p:txBody>
        </p:sp>
        <p:sp>
          <p:nvSpPr>
            <p:cNvPr id="33" name="Rectangle 33"/>
            <p:cNvSpPr/>
            <p:nvPr/>
          </p:nvSpPr>
          <p:spPr>
            <a:xfrm>
              <a:off x="533400" y="4757738"/>
              <a:ext cx="5842635" cy="9525"/>
            </a:xfrm>
            <a:prstGeom prst="rect">
              <a:avLst/>
            </a:prstGeom>
            <a:solidFill>
              <a:srgbClr val="D9DFEA"/>
            </a:solidFill>
            <a:ln>
              <a:noFill/>
            </a:ln>
          </p:spPr>
        </p:sp>
        <p:sp>
          <p:nvSpPr>
            <p:cNvPr id="34" name="TextBox 34"/>
            <p:cNvSpPr txBox="1"/>
            <p:nvPr/>
          </p:nvSpPr>
          <p:spPr>
            <a:xfrm>
              <a:off x="641223" y="4897279"/>
              <a:ext cx="328385" cy="249364"/>
            </a:xfrm>
            <a:prstGeom prst="rect">
              <a:avLst/>
            </a:prstGeom>
            <a:noFill/>
            <a:ln>
              <a:noFill/>
            </a:ln>
          </p:spPr>
          <p:txBody>
            <a:bodyPr wrap="none" lIns="0" tIns="0" rIns="0" bIns="0" anchor="t" anchorCtr="0">
              <a:spAutoFit/>
            </a:bodyPr>
            <a:lstStyle/>
            <a:p>
              <a:pPr algn="l"/>
              <a:r>
                <a:rPr lang="en-US" sz="1280" b="1" dirty="0">
                  <a:solidFill>
                    <a:srgbClr val="1F2937"/>
                  </a:solidFill>
                  <a:latin typeface="+mn-lt"/>
                  <a:ea typeface="+mn-ea"/>
                  <a:cs typeface="+mn-cs"/>
                </a:rPr>
                <a:t>P+1</a:t>
              </a:r>
            </a:p>
          </p:txBody>
        </p:sp>
        <p:sp>
          <p:nvSpPr>
            <p:cNvPr id="35" name="TextBox 35"/>
            <p:cNvSpPr txBox="1"/>
            <p:nvPr/>
          </p:nvSpPr>
          <p:spPr>
            <a:xfrm>
              <a:off x="1927098" y="4897279"/>
              <a:ext cx="272689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判定结点 1、2·3、6 共 3 个，3 + 1</a:t>
              </a:r>
            </a:p>
          </p:txBody>
        </p:sp>
        <p:sp>
          <p:nvSpPr>
            <p:cNvPr id="36" name="TextBox 36"/>
            <p:cNvSpPr txBox="1"/>
            <p:nvPr/>
          </p:nvSpPr>
          <p:spPr>
            <a:xfrm>
              <a:off x="5563029" y="4897279"/>
              <a:ext cx="107726"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4</a:t>
              </a:r>
            </a:p>
          </p:txBody>
        </p:sp>
        <p:sp>
          <p:nvSpPr>
            <p:cNvPr id="37" name="Rectangle 37"/>
            <p:cNvSpPr/>
            <p:nvPr/>
          </p:nvSpPr>
          <p:spPr>
            <a:xfrm>
              <a:off x="533400" y="3415665"/>
              <a:ext cx="5842635" cy="1795462"/>
            </a:xfrm>
            <a:prstGeom prst="rect">
              <a:avLst/>
            </a:prstGeom>
            <a:noFill/>
            <a:ln w="14288">
              <a:solidFill>
                <a:srgbClr val="D9DFEA"/>
              </a:solidFill>
            </a:ln>
          </p:spPr>
        </p:sp>
        <p:sp>
          <p:nvSpPr>
            <p:cNvPr id="38" name="Rectangle 38"/>
            <p:cNvSpPr/>
            <p:nvPr/>
          </p:nvSpPr>
          <p:spPr>
            <a:xfrm>
              <a:off x="1814512" y="3415665"/>
              <a:ext cx="9525" cy="1795462"/>
            </a:xfrm>
            <a:prstGeom prst="rect">
              <a:avLst/>
            </a:prstGeom>
            <a:solidFill>
              <a:srgbClr val="D9DFEA"/>
            </a:solidFill>
            <a:ln>
              <a:noFill/>
            </a:ln>
          </p:spPr>
        </p:sp>
        <p:sp>
          <p:nvSpPr>
            <p:cNvPr id="39" name="Rectangle 39"/>
            <p:cNvSpPr/>
            <p:nvPr/>
          </p:nvSpPr>
          <p:spPr>
            <a:xfrm>
              <a:off x="4852035" y="3415665"/>
              <a:ext cx="9525" cy="1795462"/>
            </a:xfrm>
            <a:prstGeom prst="rect">
              <a:avLst/>
            </a:prstGeom>
            <a:solidFill>
              <a:srgbClr val="D9DFEA"/>
            </a:solidFill>
            <a:ln>
              <a:noFill/>
            </a:ln>
          </p:spPr>
        </p:sp>
      </p:grpSp>
      <p:grpSp>
        <p:nvGrpSpPr>
          <p:cNvPr id="47" name="c1-callout-3"/>
          <p:cNvGrpSpPr/>
          <p:nvPr/>
        </p:nvGrpSpPr>
        <p:grpSpPr>
          <a:xfrm>
            <a:off x="533400" y="5401628"/>
            <a:ext cx="5842635" cy="782955"/>
            <a:chOff x="533400" y="5401628"/>
            <a:chExt cx="5842635" cy="782955"/>
          </a:xfrm>
        </p:grpSpPr>
        <p:sp>
          <p:nvSpPr>
            <p:cNvPr id="41" name="Rectangle 41"/>
            <p:cNvSpPr/>
            <p:nvPr/>
          </p:nvSpPr>
          <p:spPr>
            <a:xfrm>
              <a:off x="533400" y="5401628"/>
              <a:ext cx="5842635" cy="782955"/>
            </a:xfrm>
            <a:prstGeom prst="roundRect">
              <a:avLst>
                <a:gd name="adj" fmla="val 14599"/>
              </a:avLst>
            </a:prstGeom>
            <a:solidFill>
              <a:srgbClr val="FDECEA"/>
            </a:solidFill>
            <a:ln>
              <a:noFill/>
            </a:ln>
          </p:spPr>
        </p:sp>
        <p:grpSp>
          <p:nvGrpSpPr>
            <p:cNvPr id="45" name="Group 45"/>
            <p:cNvGrpSpPr/>
            <p:nvPr/>
          </p:nvGrpSpPr>
          <p:grpSpPr>
            <a:xfrm>
              <a:off x="726129" y="5689401"/>
              <a:ext cx="224134" cy="192560"/>
              <a:chOff x="726129" y="5689401"/>
              <a:chExt cx="224134" cy="192560"/>
            </a:xfrm>
          </p:grpSpPr>
          <p:sp>
            <p:nvSpPr>
              <p:cNvPr id="42" name="Freeform 42"/>
              <p:cNvSpPr/>
              <p:nvPr/>
            </p:nvSpPr>
            <p:spPr>
              <a:xfrm>
                <a:off x="838200" y="5759768"/>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43" name="Freeform 43"/>
              <p:cNvSpPr/>
              <p:nvPr/>
            </p:nvSpPr>
            <p:spPr>
              <a:xfrm>
                <a:off x="726129" y="5689401"/>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44" name="Freeform 44"/>
              <p:cNvSpPr/>
              <p:nvPr/>
            </p:nvSpPr>
            <p:spPr>
              <a:xfrm>
                <a:off x="838200" y="5837556"/>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46" name="TextBox 46"/>
            <p:cNvSpPr txBox="1"/>
            <p:nvPr/>
          </p:nvSpPr>
          <p:spPr>
            <a:xfrm>
              <a:off x="1040130" y="5550218"/>
              <a:ext cx="492061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B42318"/>
                  </a:solidFill>
                  <a:latin typeface="+mn-lt"/>
                  <a:ea typeface="+mn-ea"/>
                  <a:cs typeface="+mn-cs"/>
                </a:rPr>
                <a:t>公式是加 2，不是加 1；E−N+1 是最常见的干扰项。考试时</a:t>
              </a:r>
              <a:br/>
              <a:r>
                <a:rPr lang="zh-CN" sz="1500" dirty="0">
                  <a:solidFill>
                    <a:srgbClr val="B42318"/>
                  </a:solidFill>
                  <a:latin typeface="+mn-lt"/>
                  <a:ea typeface="+mn-ea"/>
                  <a:cs typeface="+mn-cs"/>
                </a:rPr>
                <a:t>用两种算法互相验算。</a:t>
              </a:r>
            </a:p>
          </p:txBody>
        </p:sp>
      </p:grpSp>
      <p:grpSp>
        <p:nvGrpSpPr>
          <p:cNvPr id="50" name="c2-image-1"/>
          <p:cNvGrpSpPr/>
          <p:nvPr/>
        </p:nvGrpSpPr>
        <p:grpSpPr>
          <a:xfrm>
            <a:off x="6680835" y="1524000"/>
            <a:ext cx="4977765" cy="3071337"/>
            <a:chOff x="6680835" y="1524000"/>
            <a:chExt cx="4977765" cy="3071337"/>
          </a:xfrm>
        </p:grpSpPr>
        <p:pic>
          <p:nvPicPr>
            <p:cNvPr id="48" name="Image 48"/>
            <p:cNvPicPr>
              <a:picLocks noChangeAspect="1"/>
            </p:cNvPicPr>
            <p:nvPr/>
          </p:nvPicPr>
          <p:blipFill>
            <a:blip r:embed="rId2"/>
            <a:srcRect l="0" t="13082" r="0" b="13082"/>
            <a:stretch>
              <a:fillRect/>
            </a:stretch>
          </p:blipFill>
          <p:spPr>
            <a:xfrm>
              <a:off x="6680835" y="1524000"/>
              <a:ext cx="4977765" cy="2756535"/>
            </a:xfrm>
            <a:prstGeom prst="roundRect">
              <a:avLst>
                <a:gd name="adj" fmla="val 4837"/>
              </a:avLst>
            </a:prstGeom>
          </p:spPr>
        </p:pic>
        <p:sp>
          <p:nvSpPr>
            <p:cNvPr id="49" name="TextBox 49"/>
            <p:cNvSpPr txBox="1"/>
            <p:nvPr/>
          </p:nvSpPr>
          <p:spPr>
            <a:xfrm>
              <a:off x="7505484" y="4375309"/>
              <a:ext cx="3328467" cy="220028"/>
            </a:xfrm>
            <a:prstGeom prst="rect">
              <a:avLst/>
            </a:prstGeom>
            <a:noFill/>
            <a:ln>
              <a:noFill/>
            </a:ln>
          </p:spPr>
          <p:txBody>
            <a:bodyPr wrap="none" lIns="0" tIns="0" rIns="0" bIns="0" anchor="t" anchorCtr="0">
              <a:spAutoFit/>
            </a:bodyPr>
            <a:lstStyle/>
            <a:p>
              <a:pPr algn="ctr"/>
              <a:r>
                <a:rPr lang="zh-CN" sz="1120" dirty="0">
                  <a:solidFill>
                    <a:srgbClr val="5B6475"/>
                  </a:solidFill>
                  <a:latin typeface="+mn-lt"/>
                  <a:ea typeface="+mn-ea"/>
                  <a:cs typeface="+mn-cs"/>
                </a:rPr>
                <a:t>环形复杂度就是从入口到出口相互独立的路径条数</a:t>
              </a:r>
            </a:p>
          </p:txBody>
        </p:sp>
      </p:grpSp>
      <p:grpSp>
        <p:nvGrpSpPr>
          <p:cNvPr id="56" name="c2-card-2"/>
          <p:cNvGrpSpPr/>
          <p:nvPr/>
        </p:nvGrpSpPr>
        <p:grpSpPr>
          <a:xfrm>
            <a:off x="6680835" y="4760595"/>
            <a:ext cx="4977765" cy="1602105"/>
            <a:chOff x="6680835" y="4760595"/>
            <a:chExt cx="4977765" cy="1602105"/>
          </a:xfrm>
        </p:grpSpPr>
        <p:sp>
          <p:nvSpPr>
            <p:cNvPr id="51" name="Rectangle 51"/>
            <p:cNvSpPr/>
            <p:nvPr/>
          </p:nvSpPr>
          <p:spPr>
            <a:xfrm>
              <a:off x="6680835" y="4760595"/>
              <a:ext cx="4977765" cy="1602105"/>
            </a:xfrm>
            <a:prstGeom prst="roundRect">
              <a:avLst>
                <a:gd name="adj" fmla="val 8323"/>
              </a:avLst>
            </a:prstGeom>
            <a:solidFill>
              <a:srgbClr val="FFFFFF"/>
            </a:solidFill>
            <a:ln w="14288">
              <a:solidFill>
                <a:srgbClr val="D9DFEA"/>
              </a:solidFill>
            </a:ln>
          </p:spPr>
        </p:sp>
        <p:sp>
          <p:nvSpPr>
            <p:cNvPr id="52" name="Rectangle 52"/>
            <p:cNvSpPr/>
            <p:nvPr/>
          </p:nvSpPr>
          <p:spPr>
            <a:xfrm>
              <a:off x="6690360" y="4893945"/>
              <a:ext cx="47625" cy="1335405"/>
            </a:xfrm>
            <a:prstGeom prst="roundRect">
              <a:avLst>
                <a:gd name="adj" fmla="val 50000"/>
              </a:avLst>
            </a:prstGeom>
            <a:solidFill>
              <a:srgbClr val="5B6475"/>
            </a:solidFill>
            <a:ln>
              <a:noFill/>
            </a:ln>
          </p:spPr>
        </p:sp>
        <p:sp>
          <p:nvSpPr>
            <p:cNvPr id="53" name="Rectangle 53"/>
            <p:cNvSpPr/>
            <p:nvPr/>
          </p:nvSpPr>
          <p:spPr>
            <a:xfrm>
              <a:off x="6928485" y="4970145"/>
              <a:ext cx="1631632" cy="257175"/>
            </a:xfrm>
            <a:prstGeom prst="roundRect">
              <a:avLst>
                <a:gd name="adj" fmla="val 50000"/>
              </a:avLst>
            </a:prstGeom>
            <a:solidFill>
              <a:srgbClr val="F4F6FB"/>
            </a:solidFill>
            <a:ln>
              <a:noFill/>
            </a:ln>
          </p:spPr>
        </p:sp>
        <p:sp>
          <p:nvSpPr>
            <p:cNvPr id="54" name="TextBox 54"/>
            <p:cNvSpPr txBox="1"/>
            <p:nvPr/>
          </p:nvSpPr>
          <p:spPr>
            <a:xfrm>
              <a:off x="6985190" y="5005864"/>
              <a:ext cx="1519174"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与基本路径测试的关系</a:t>
              </a:r>
            </a:p>
          </p:txBody>
        </p:sp>
        <p:sp>
          <p:nvSpPr>
            <p:cNvPr id="55" name="TextBox 55"/>
            <p:cNvSpPr txBox="1"/>
            <p:nvPr/>
          </p:nvSpPr>
          <p:spPr>
            <a:xfrm>
              <a:off x="6920865" y="5347335"/>
              <a:ext cx="430149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V(G) 等于程序基本路径集合中独立路径的条数，也</a:t>
              </a:r>
              <a:br/>
              <a:r>
                <a:rPr lang="zh-CN" sz="1500" dirty="0">
                  <a:solidFill>
                    <a:srgbClr val="1F2937"/>
                  </a:solidFill>
                  <a:latin typeface="+mn-lt"/>
                  <a:ea typeface="+mn-ea"/>
                  <a:cs typeface="+mn-cs"/>
                </a:rPr>
                <a:t>就是至少需要多少个测试用例才能把每条语句和每</a:t>
              </a:r>
              <a:br/>
              <a:r>
                <a:rPr lang="zh-CN" sz="1500" dirty="0">
                  <a:solidFill>
                    <a:srgbClr val="1F2937"/>
                  </a:solidFill>
                  <a:latin typeface="+mn-lt"/>
                  <a:ea typeface="+mn-ea"/>
                  <a:cs typeface="+mn-cs"/>
                </a:rPr>
                <a:t>个分支都走一遍。</a:t>
              </a:r>
            </a:p>
          </p:txBody>
        </p:sp>
      </p:grpSp>
      <p:grpSp>
        <p:nvGrpSpPr>
          <p:cNvPr id="59" name="footer"/>
          <p:cNvGrpSpPr/>
          <p:nvPr/>
        </p:nvGrpSpPr>
        <p:grpSpPr>
          <a:xfrm>
            <a:off x="528447" y="6581299"/>
            <a:ext cx="11135106" cy="190690"/>
            <a:chOff x="528447" y="6581299"/>
            <a:chExt cx="11135106" cy="190690"/>
          </a:xfrm>
        </p:grpSpPr>
        <p:sp>
          <p:nvSpPr>
            <p:cNvPr id="57" name="TextBox 57"/>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58" name="TextBox 5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48</a:t>
              </a:r>
            </a:p>
          </p:txBody>
        </p:sp>
      </p:grpSp>
    </p:spTree>
  </p:cSld>
  <p:clrMapOvr>
    <a:masterClrMapping/>
  </p:clrMapOvr>
  <p:transition xmlns:p14="http://schemas.microsoft.com/office/powerpoint/2010/main" p14:dur="400">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315625" cy="909257"/>
            <a:chOff x="520446" y="342900"/>
            <a:chExt cx="4315625"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程序复杂程度的定量度量</a:t>
              </a:r>
            </a:p>
          </p:txBody>
        </p:sp>
        <p:sp>
          <p:nvSpPr>
            <p:cNvPr id="4" name="TextBox 4"/>
            <p:cNvSpPr txBox="1"/>
            <p:nvPr/>
          </p:nvSpPr>
          <p:spPr>
            <a:xfrm>
              <a:off x="520446" y="753428"/>
              <a:ext cx="431562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由 PDL 也能直接翻译成流图</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0" name="c1-code-1"/>
          <p:cNvGrpSpPr/>
          <p:nvPr/>
        </p:nvGrpSpPr>
        <p:grpSpPr>
          <a:xfrm>
            <a:off x="533400" y="1524000"/>
            <a:ext cx="4977765" cy="3342322"/>
            <a:chOff x="533400" y="1524000"/>
            <a:chExt cx="4977765" cy="3342322"/>
          </a:xfrm>
        </p:grpSpPr>
        <p:sp>
          <p:nvSpPr>
            <p:cNvPr id="7" name="Rectangle 7"/>
            <p:cNvSpPr/>
            <p:nvPr/>
          </p:nvSpPr>
          <p:spPr>
            <a:xfrm>
              <a:off x="533400" y="1524000"/>
              <a:ext cx="4977765" cy="3342322"/>
            </a:xfrm>
            <a:prstGeom prst="roundRect">
              <a:avLst>
                <a:gd name="adj" fmla="val 2850"/>
              </a:avLst>
            </a:prstGeom>
            <a:solidFill>
              <a:srgbClr val="F6F8FA"/>
            </a:solidFill>
            <a:ln w="11430">
              <a:solidFill>
                <a:srgbClr val="D9DFEA"/>
              </a:solidFill>
            </a:ln>
          </p:spPr>
        </p:sp>
        <p:sp>
          <p:nvSpPr>
            <p:cNvPr id="8" name="TextBox 8"/>
            <p:cNvSpPr txBox="1"/>
            <p:nvPr/>
          </p:nvSpPr>
          <p:spPr>
            <a:xfrm>
              <a:off x="661797" y="1675924"/>
              <a:ext cx="1122923" cy="190690"/>
            </a:xfrm>
            <a:prstGeom prst="rect">
              <a:avLst/>
            </a:prstGeom>
            <a:noFill/>
            <a:ln>
              <a:noFill/>
            </a:ln>
          </p:spPr>
          <p:txBody>
            <a:bodyPr wrap="none" lIns="0" tIns="0" rIns="0" bIns="0" anchor="t" anchorCtr="0">
              <a:spAutoFit/>
            </a:bodyPr>
            <a:lstStyle/>
            <a:p>
              <a:pPr algn="l"/>
              <a:r>
                <a:rPr lang="en-US" sz="980" b="1" dirty="0">
                  <a:solidFill>
                    <a:srgbClr val="5B6475"/>
                  </a:solidFill>
                  <a:latin typeface="+mn-lt"/>
                  <a:ea typeface="+mn-ea"/>
                  <a:cs typeface="+mn-cs"/>
                </a:rPr>
                <a:t>Procedure: sort</a:t>
              </a:r>
            </a:p>
          </p:txBody>
        </p:sp>
        <p:sp>
          <p:nvSpPr>
            <p:cNvPr id="9" name="TextBox 9"/>
            <p:cNvSpPr txBox="1"/>
            <p:nvPr/>
          </p:nvSpPr>
          <p:spPr>
            <a:xfrm>
              <a:off x="661035" y="1937861"/>
              <a:ext cx="2749550" cy="2857500"/>
            </a:xfrm>
            <a:prstGeom prst="rect">
              <a:avLst/>
            </a:prstGeom>
            <a:noFill/>
            <a:ln>
              <a:noFill/>
            </a:ln>
          </p:spPr>
          <p:txBody>
            <a:bodyPr wrap="none" lIns="0" tIns="0" rIns="0" bIns="0" anchor="t" anchorCtr="0">
              <a:spAutoFit/>
            </a:bodyPr>
            <a:lstStyle/>
            <a:p>
              <a:pPr algn="l">
                <a:lnSpc>
                  <a:spcPts val="1598"/>
                </a:lnSpc>
              </a:pPr>
              <a:r>
                <a:rPr lang="en-US" sz="1120" dirty="0">
                  <a:solidFill>
                    <a:srgbClr val="1F2937"/>
                  </a:solidFill>
                  <a:latin typeface="Consolas"/>
                  <a:ea typeface="Consolas"/>
                  <a:cs typeface="Consolas"/>
                </a:rPr>
                <a:t>1:  do while records remain</a:t>
              </a:r>
              <a:br/>
              <a:r>
                <a:rPr lang="en-US" sz="1120" dirty="0">
                  <a:solidFill>
                    <a:srgbClr val="1F2937"/>
                  </a:solidFill>
                  <a:latin typeface="Consolas"/>
                  <a:ea typeface="Consolas"/>
                  <a:cs typeface="Consolas"/>
                </a:rPr>
                <a:t>2:     read record;</a:t>
              </a:r>
              <a:br/>
              <a:r>
                <a:rPr lang="en-US" sz="1120" dirty="0">
                  <a:solidFill>
                    <a:srgbClr val="1F2937"/>
                  </a:solidFill>
                  <a:latin typeface="Consolas"/>
                  <a:ea typeface="Consolas"/>
                  <a:cs typeface="Consolas"/>
                </a:rPr>
                <a:t xml:space="preserve">       if record field 1 = 0</a:t>
              </a:r>
              <a:br/>
              <a:r>
                <a:rPr lang="en-US" sz="1120" dirty="0">
                  <a:solidFill>
                    <a:srgbClr val="1F2937"/>
                  </a:solidFill>
                  <a:latin typeface="Consolas"/>
                  <a:ea typeface="Consolas"/>
                  <a:cs typeface="Consolas"/>
                </a:rPr>
                <a:t>3:        then process record;</a:t>
              </a:r>
              <a:br/>
              <a:r>
                <a:rPr lang="en-US" sz="1120" dirty="0">
                  <a:solidFill>
                    <a:srgbClr val="1F2937"/>
                  </a:solidFill>
                  <a:latin typeface="Consolas"/>
                  <a:ea typeface="Consolas"/>
                  <a:cs typeface="Consolas"/>
                </a:rPr>
                <a:t xml:space="preserve">               store in buffer;</a:t>
              </a:r>
              <a:br/>
              <a:r>
                <a:rPr lang="en-US" sz="1120" dirty="0">
                  <a:solidFill>
                    <a:srgbClr val="1F2937"/>
                  </a:solidFill>
                  <a:latin typeface="Consolas"/>
                  <a:ea typeface="Consolas"/>
                  <a:cs typeface="Consolas"/>
                </a:rPr>
                <a:t xml:space="preserve">               increment counter;</a:t>
              </a:r>
              <a:br/>
              <a:r>
                <a:rPr lang="en-US" sz="1120" dirty="0">
                  <a:solidFill>
                    <a:srgbClr val="1F2937"/>
                  </a:solidFill>
                  <a:latin typeface="Consolas"/>
                  <a:ea typeface="Consolas"/>
                  <a:cs typeface="Consolas"/>
                </a:rPr>
                <a:t>4:        elseif record field 2 = 0</a:t>
              </a:r>
              <a:br/>
              <a:r>
                <a:rPr lang="en-US" sz="1120" dirty="0">
                  <a:solidFill>
                    <a:srgbClr val="1F2937"/>
                  </a:solidFill>
                  <a:latin typeface="Consolas"/>
                  <a:ea typeface="Consolas"/>
                  <a:cs typeface="Consolas"/>
                </a:rPr>
                <a:t>5:           then reset counter;</a:t>
              </a:r>
              <a:br/>
              <a:r>
                <a:rPr lang="en-US" sz="1120" dirty="0">
                  <a:solidFill>
                    <a:srgbClr val="1F2937"/>
                  </a:solidFill>
                  <a:latin typeface="Consolas"/>
                  <a:ea typeface="Consolas"/>
                  <a:cs typeface="Consolas"/>
                </a:rPr>
                <a:t>6:           else process record;</a:t>
              </a:r>
              <a:br/>
              <a:r>
                <a:rPr lang="en-US" sz="1120" dirty="0">
                  <a:solidFill>
                    <a:srgbClr val="1F2937"/>
                  </a:solidFill>
                  <a:latin typeface="Consolas"/>
                  <a:ea typeface="Consolas"/>
                  <a:cs typeface="Consolas"/>
                </a:rPr>
                <a:t xml:space="preserve">                  store in file;</a:t>
              </a:r>
              <a:br/>
              <a:r>
                <a:rPr lang="en-US" sz="1120" dirty="0">
                  <a:solidFill>
                    <a:srgbClr val="1F2937"/>
                  </a:solidFill>
                  <a:latin typeface="Consolas"/>
                  <a:ea typeface="Consolas"/>
                  <a:cs typeface="Consolas"/>
                </a:rPr>
                <a:t>7a:       endif</a:t>
              </a:r>
              <a:br/>
              <a:r>
                <a:rPr lang="en-US" sz="1120" dirty="0">
                  <a:solidFill>
                    <a:srgbClr val="1F2937"/>
                  </a:solidFill>
                  <a:latin typeface="Consolas"/>
                  <a:ea typeface="Consolas"/>
                  <a:cs typeface="Consolas"/>
                </a:rPr>
                <a:t xml:space="preserve">       endif</a:t>
              </a:r>
              <a:br/>
              <a:r>
                <a:rPr lang="en-US" sz="1120" dirty="0">
                  <a:solidFill>
                    <a:srgbClr val="1F2937"/>
                  </a:solidFill>
                  <a:latin typeface="Consolas"/>
                  <a:ea typeface="Consolas"/>
                  <a:cs typeface="Consolas"/>
                </a:rPr>
                <a:t>7b: enddo</a:t>
              </a:r>
              <a:br/>
              <a:r>
                <a:rPr lang="en-US" sz="1120" dirty="0">
                  <a:solidFill>
                    <a:srgbClr val="1F2937"/>
                  </a:solidFill>
                  <a:latin typeface="Consolas"/>
                  <a:ea typeface="Consolas"/>
                  <a:cs typeface="Consolas"/>
                </a:rPr>
                <a:t>8:  end</a:t>
              </a:r>
            </a:p>
          </p:txBody>
        </p:sp>
      </p:grpSp>
      <p:grpSp>
        <p:nvGrpSpPr>
          <p:cNvPr id="51" name="c2-graph-1"/>
          <p:cNvGrpSpPr/>
          <p:nvPr/>
        </p:nvGrpSpPr>
        <p:grpSpPr>
          <a:xfrm>
            <a:off x="6049328" y="1631632"/>
            <a:ext cx="4592954" cy="3499486"/>
            <a:chOff x="6049328" y="1631632"/>
            <a:chExt cx="4592954" cy="3499486"/>
          </a:xfrm>
        </p:grpSpPr>
        <p:sp>
          <p:nvSpPr>
            <p:cNvPr id="11" name="Freeform 11"/>
            <p:cNvSpPr/>
            <p:nvPr/>
          </p:nvSpPr>
          <p:spPr>
            <a:xfrm>
              <a:off x="8502968" y="1945958"/>
              <a:ext cx="9525" cy="212407"/>
            </a:xfrm>
            <a:custGeom>
              <a:avLst/>
              <a:gdLst/>
              <a:ahLst/>
              <a:cxnLst/>
              <a:rect l="l" t="t" r="r" b="b"/>
              <a:pathLst>
                <a:path w="9525" h="212407">
                  <a:moveTo>
                    <a:pt x="0" y="0"/>
                  </a:moveTo>
                  <a:lnTo>
                    <a:pt x="0" y="212407"/>
                  </a:lnTo>
                </a:path>
              </a:pathLst>
            </a:custGeom>
            <a:noFill/>
            <a:ln w="17145">
              <a:solidFill>
                <a:srgbClr val="1F2937"/>
              </a:solidFill>
            </a:ln>
          </p:spPr>
        </p:sp>
        <p:sp>
          <p:nvSpPr>
            <p:cNvPr id="12" name="Freeform 12"/>
            <p:cNvSpPr/>
            <p:nvPr/>
          </p:nvSpPr>
          <p:spPr>
            <a:xfrm>
              <a:off x="8455342" y="2158365"/>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13" name="Freeform 13"/>
            <p:cNvSpPr/>
            <p:nvPr/>
          </p:nvSpPr>
          <p:spPr>
            <a:xfrm>
              <a:off x="7335202" y="2482215"/>
              <a:ext cx="1020128" cy="459105"/>
            </a:xfrm>
            <a:custGeom>
              <a:avLst/>
              <a:gdLst/>
              <a:ahLst/>
              <a:cxnLst/>
              <a:rect l="l" t="t" r="r" b="b"/>
              <a:pathLst>
                <a:path w="1020128" h="459105">
                  <a:moveTo>
                    <a:pt x="1020128" y="0"/>
                  </a:moveTo>
                  <a:lnTo>
                    <a:pt x="0" y="459105"/>
                  </a:lnTo>
                </a:path>
              </a:pathLst>
            </a:custGeom>
            <a:noFill/>
            <a:ln w="17145">
              <a:solidFill>
                <a:srgbClr val="1F2937"/>
              </a:solidFill>
            </a:ln>
          </p:spPr>
        </p:sp>
        <p:sp>
          <p:nvSpPr>
            <p:cNvPr id="14" name="Freeform 14"/>
            <p:cNvSpPr/>
            <p:nvPr/>
          </p:nvSpPr>
          <p:spPr>
            <a:xfrm>
              <a:off x="7248525" y="2898458"/>
              <a:ext cx="106680" cy="86677"/>
            </a:xfrm>
            <a:custGeom>
              <a:avLst/>
              <a:gdLst/>
              <a:ahLst/>
              <a:cxnLst/>
              <a:rect l="l" t="t" r="r" b="b"/>
              <a:pathLst>
                <a:path w="106680" h="86677">
                  <a:moveTo>
                    <a:pt x="0" y="81915"/>
                  </a:moveTo>
                  <a:lnTo>
                    <a:pt x="67628" y="0"/>
                  </a:lnTo>
                  <a:lnTo>
                    <a:pt x="106680" y="86677"/>
                  </a:lnTo>
                  <a:close/>
                </a:path>
              </a:pathLst>
            </a:custGeom>
            <a:solidFill>
              <a:srgbClr val="1F2937"/>
            </a:solidFill>
            <a:ln>
              <a:noFill/>
            </a:ln>
          </p:spPr>
        </p:sp>
        <p:sp>
          <p:nvSpPr>
            <p:cNvPr id="15" name="Freeform 15"/>
            <p:cNvSpPr/>
            <p:nvPr/>
          </p:nvSpPr>
          <p:spPr>
            <a:xfrm>
              <a:off x="8637270" y="2506028"/>
              <a:ext cx="587693" cy="397192"/>
            </a:xfrm>
            <a:custGeom>
              <a:avLst/>
              <a:gdLst/>
              <a:ahLst/>
              <a:cxnLst/>
              <a:rect l="l" t="t" r="r" b="b"/>
              <a:pathLst>
                <a:path w="587693" h="397192">
                  <a:moveTo>
                    <a:pt x="0" y="0"/>
                  </a:moveTo>
                  <a:lnTo>
                    <a:pt x="587693" y="397192"/>
                  </a:lnTo>
                </a:path>
              </a:pathLst>
            </a:custGeom>
            <a:noFill/>
            <a:ln w="17145">
              <a:solidFill>
                <a:srgbClr val="1F2937"/>
              </a:solidFill>
            </a:ln>
          </p:spPr>
        </p:sp>
        <p:sp>
          <p:nvSpPr>
            <p:cNvPr id="16" name="Freeform 16"/>
            <p:cNvSpPr/>
            <p:nvPr/>
          </p:nvSpPr>
          <p:spPr>
            <a:xfrm>
              <a:off x="9198292" y="2863215"/>
              <a:ext cx="105727" cy="93345"/>
            </a:xfrm>
            <a:custGeom>
              <a:avLst/>
              <a:gdLst/>
              <a:ahLst/>
              <a:cxnLst/>
              <a:rect l="l" t="t" r="r" b="b"/>
              <a:pathLst>
                <a:path w="105727" h="93345">
                  <a:moveTo>
                    <a:pt x="105727" y="93345"/>
                  </a:moveTo>
                  <a:lnTo>
                    <a:pt x="0" y="79057"/>
                  </a:lnTo>
                  <a:lnTo>
                    <a:pt x="53340" y="0"/>
                  </a:lnTo>
                  <a:close/>
                </a:path>
              </a:pathLst>
            </a:custGeom>
            <a:solidFill>
              <a:srgbClr val="1F2937"/>
            </a:solidFill>
            <a:ln>
              <a:noFill/>
            </a:ln>
          </p:spPr>
        </p:sp>
        <p:sp>
          <p:nvSpPr>
            <p:cNvPr id="17" name="Freeform 17"/>
            <p:cNvSpPr/>
            <p:nvPr/>
          </p:nvSpPr>
          <p:spPr>
            <a:xfrm>
              <a:off x="7233285" y="3139440"/>
              <a:ext cx="1386840" cy="969645"/>
            </a:xfrm>
            <a:custGeom>
              <a:avLst/>
              <a:gdLst/>
              <a:ahLst/>
              <a:cxnLst/>
              <a:rect l="l" t="t" r="r" b="b"/>
              <a:pathLst>
                <a:path w="1386840" h="969645">
                  <a:moveTo>
                    <a:pt x="0" y="0"/>
                  </a:moveTo>
                  <a:lnTo>
                    <a:pt x="1386840" y="969645"/>
                  </a:lnTo>
                </a:path>
              </a:pathLst>
            </a:custGeom>
            <a:noFill/>
            <a:ln w="17145">
              <a:solidFill>
                <a:srgbClr val="1F2937"/>
              </a:solidFill>
            </a:ln>
          </p:spPr>
        </p:sp>
        <p:sp>
          <p:nvSpPr>
            <p:cNvPr id="18" name="Freeform 18"/>
            <p:cNvSpPr/>
            <p:nvPr/>
          </p:nvSpPr>
          <p:spPr>
            <a:xfrm>
              <a:off x="8592502" y="4070032"/>
              <a:ext cx="105728" cy="93345"/>
            </a:xfrm>
            <a:custGeom>
              <a:avLst/>
              <a:gdLst/>
              <a:ahLst/>
              <a:cxnLst/>
              <a:rect l="l" t="t" r="r" b="b"/>
              <a:pathLst>
                <a:path w="105728" h="93345">
                  <a:moveTo>
                    <a:pt x="105728" y="93345"/>
                  </a:moveTo>
                  <a:lnTo>
                    <a:pt x="0" y="78105"/>
                  </a:lnTo>
                  <a:lnTo>
                    <a:pt x="54292" y="0"/>
                  </a:lnTo>
                  <a:close/>
                </a:path>
              </a:pathLst>
            </a:custGeom>
            <a:solidFill>
              <a:srgbClr val="1F2937"/>
            </a:solidFill>
            <a:ln>
              <a:noFill/>
            </a:ln>
          </p:spPr>
        </p:sp>
        <p:sp>
          <p:nvSpPr>
            <p:cNvPr id="19" name="Freeform 19"/>
            <p:cNvSpPr/>
            <p:nvPr/>
          </p:nvSpPr>
          <p:spPr>
            <a:xfrm>
              <a:off x="8927782" y="3155632"/>
              <a:ext cx="390525" cy="350520"/>
            </a:xfrm>
            <a:custGeom>
              <a:avLst/>
              <a:gdLst/>
              <a:ahLst/>
              <a:cxnLst/>
              <a:rect l="l" t="t" r="r" b="b"/>
              <a:pathLst>
                <a:path w="390525" h="350520">
                  <a:moveTo>
                    <a:pt x="390525" y="0"/>
                  </a:moveTo>
                  <a:lnTo>
                    <a:pt x="0" y="350520"/>
                  </a:lnTo>
                </a:path>
              </a:pathLst>
            </a:custGeom>
            <a:noFill/>
            <a:ln w="17145">
              <a:solidFill>
                <a:srgbClr val="1F2937"/>
              </a:solidFill>
            </a:ln>
          </p:spPr>
        </p:sp>
        <p:sp>
          <p:nvSpPr>
            <p:cNvPr id="20" name="Freeform 20"/>
            <p:cNvSpPr/>
            <p:nvPr/>
          </p:nvSpPr>
          <p:spPr>
            <a:xfrm>
              <a:off x="8857298" y="3470910"/>
              <a:ext cx="102870" cy="99060"/>
            </a:xfrm>
            <a:custGeom>
              <a:avLst/>
              <a:gdLst/>
              <a:ahLst/>
              <a:cxnLst/>
              <a:rect l="l" t="t" r="r" b="b"/>
              <a:pathLst>
                <a:path w="102870" h="99060">
                  <a:moveTo>
                    <a:pt x="0" y="99060"/>
                  </a:moveTo>
                  <a:lnTo>
                    <a:pt x="39053" y="0"/>
                  </a:lnTo>
                  <a:lnTo>
                    <a:pt x="102870" y="70485"/>
                  </a:lnTo>
                  <a:close/>
                </a:path>
              </a:pathLst>
            </a:custGeom>
            <a:solidFill>
              <a:srgbClr val="1F2937"/>
            </a:solidFill>
            <a:ln>
              <a:noFill/>
            </a:ln>
          </p:spPr>
        </p:sp>
        <p:sp>
          <p:nvSpPr>
            <p:cNvPr id="21" name="Freeform 21"/>
            <p:cNvSpPr/>
            <p:nvPr/>
          </p:nvSpPr>
          <p:spPr>
            <a:xfrm>
              <a:off x="9577388" y="3130868"/>
              <a:ext cx="692468" cy="415290"/>
            </a:xfrm>
            <a:custGeom>
              <a:avLst/>
              <a:gdLst/>
              <a:ahLst/>
              <a:cxnLst/>
              <a:rect l="l" t="t" r="r" b="b"/>
              <a:pathLst>
                <a:path w="692468" h="415290">
                  <a:moveTo>
                    <a:pt x="0" y="0"/>
                  </a:moveTo>
                  <a:lnTo>
                    <a:pt x="692468" y="415290"/>
                  </a:lnTo>
                </a:path>
              </a:pathLst>
            </a:custGeom>
            <a:noFill/>
            <a:ln w="17145">
              <a:solidFill>
                <a:srgbClr val="1F2937"/>
              </a:solidFill>
            </a:ln>
          </p:spPr>
        </p:sp>
        <p:sp>
          <p:nvSpPr>
            <p:cNvPr id="22" name="Freeform 22"/>
            <p:cNvSpPr/>
            <p:nvPr/>
          </p:nvSpPr>
          <p:spPr>
            <a:xfrm>
              <a:off x="10245090" y="3505200"/>
              <a:ext cx="105728" cy="89535"/>
            </a:xfrm>
            <a:custGeom>
              <a:avLst/>
              <a:gdLst/>
              <a:ahLst/>
              <a:cxnLst/>
              <a:rect l="l" t="t" r="r" b="b"/>
              <a:pathLst>
                <a:path w="105728" h="89535">
                  <a:moveTo>
                    <a:pt x="105728" y="89535"/>
                  </a:moveTo>
                  <a:lnTo>
                    <a:pt x="0" y="81915"/>
                  </a:lnTo>
                  <a:lnTo>
                    <a:pt x="48578" y="0"/>
                  </a:lnTo>
                  <a:close/>
                </a:path>
              </a:pathLst>
            </a:custGeom>
            <a:solidFill>
              <a:srgbClr val="1F2937"/>
            </a:solidFill>
            <a:ln>
              <a:noFill/>
            </a:ln>
          </p:spPr>
        </p:sp>
        <p:sp>
          <p:nvSpPr>
            <p:cNvPr id="23" name="Freeform 23"/>
            <p:cNvSpPr/>
            <p:nvPr/>
          </p:nvSpPr>
          <p:spPr>
            <a:xfrm>
              <a:off x="8768715" y="3837622"/>
              <a:ext cx="30480" cy="155258"/>
            </a:xfrm>
            <a:custGeom>
              <a:avLst/>
              <a:gdLst/>
              <a:ahLst/>
              <a:cxnLst/>
              <a:rect l="l" t="t" r="r" b="b"/>
              <a:pathLst>
                <a:path w="30480" h="155258">
                  <a:moveTo>
                    <a:pt x="0" y="0"/>
                  </a:moveTo>
                  <a:lnTo>
                    <a:pt x="30480" y="155258"/>
                  </a:lnTo>
                </a:path>
              </a:pathLst>
            </a:custGeom>
            <a:noFill/>
            <a:ln w="17145">
              <a:solidFill>
                <a:srgbClr val="1F2937"/>
              </a:solidFill>
            </a:ln>
          </p:spPr>
        </p:sp>
        <p:sp>
          <p:nvSpPr>
            <p:cNvPr id="24" name="Freeform 24"/>
            <p:cNvSpPr/>
            <p:nvPr/>
          </p:nvSpPr>
          <p:spPr>
            <a:xfrm>
              <a:off x="8752522" y="3983355"/>
              <a:ext cx="93345" cy="102870"/>
            </a:xfrm>
            <a:custGeom>
              <a:avLst/>
              <a:gdLst/>
              <a:ahLst/>
              <a:cxnLst/>
              <a:rect l="l" t="t" r="r" b="b"/>
              <a:pathLst>
                <a:path w="93345" h="102870">
                  <a:moveTo>
                    <a:pt x="64770" y="102870"/>
                  </a:moveTo>
                  <a:lnTo>
                    <a:pt x="0" y="18098"/>
                  </a:lnTo>
                  <a:lnTo>
                    <a:pt x="93345" y="0"/>
                  </a:lnTo>
                  <a:close/>
                </a:path>
              </a:pathLst>
            </a:custGeom>
            <a:solidFill>
              <a:srgbClr val="1F2937"/>
            </a:solidFill>
            <a:ln>
              <a:noFill/>
            </a:ln>
          </p:spPr>
        </p:sp>
        <p:sp>
          <p:nvSpPr>
            <p:cNvPr id="25" name="Freeform 25"/>
            <p:cNvSpPr/>
            <p:nvPr/>
          </p:nvSpPr>
          <p:spPr>
            <a:xfrm>
              <a:off x="9122092" y="3733800"/>
              <a:ext cx="1215390" cy="441960"/>
            </a:xfrm>
            <a:custGeom>
              <a:avLst/>
              <a:gdLst/>
              <a:ahLst/>
              <a:cxnLst/>
              <a:rect l="l" t="t" r="r" b="b"/>
              <a:pathLst>
                <a:path w="1215390" h="441960">
                  <a:moveTo>
                    <a:pt x="1215390" y="0"/>
                  </a:moveTo>
                  <a:lnTo>
                    <a:pt x="0" y="441960"/>
                  </a:lnTo>
                </a:path>
              </a:pathLst>
            </a:custGeom>
            <a:noFill/>
            <a:ln w="17145">
              <a:solidFill>
                <a:srgbClr val="1F2937"/>
              </a:solidFill>
            </a:ln>
          </p:spPr>
        </p:sp>
        <p:sp>
          <p:nvSpPr>
            <p:cNvPr id="26" name="Freeform 26"/>
            <p:cNvSpPr/>
            <p:nvPr/>
          </p:nvSpPr>
          <p:spPr>
            <a:xfrm>
              <a:off x="9032558" y="4130992"/>
              <a:ext cx="106680" cy="89535"/>
            </a:xfrm>
            <a:custGeom>
              <a:avLst/>
              <a:gdLst/>
              <a:ahLst/>
              <a:cxnLst/>
              <a:rect l="l" t="t" r="r" b="b"/>
              <a:pathLst>
                <a:path w="106680" h="89535">
                  <a:moveTo>
                    <a:pt x="0" y="77153"/>
                  </a:moveTo>
                  <a:lnTo>
                    <a:pt x="73343" y="0"/>
                  </a:lnTo>
                  <a:lnTo>
                    <a:pt x="106680" y="89535"/>
                  </a:lnTo>
                  <a:close/>
                </a:path>
              </a:pathLst>
            </a:custGeom>
            <a:solidFill>
              <a:srgbClr val="1F2937"/>
            </a:solidFill>
            <a:ln>
              <a:noFill/>
            </a:ln>
          </p:spPr>
        </p:sp>
        <p:sp>
          <p:nvSpPr>
            <p:cNvPr id="27" name="Freeform 27"/>
            <p:cNvSpPr/>
            <p:nvPr/>
          </p:nvSpPr>
          <p:spPr>
            <a:xfrm>
              <a:off x="8382000" y="4386262"/>
              <a:ext cx="319088" cy="236220"/>
            </a:xfrm>
            <a:custGeom>
              <a:avLst/>
              <a:gdLst/>
              <a:ahLst/>
              <a:cxnLst/>
              <a:rect l="l" t="t" r="r" b="b"/>
              <a:pathLst>
                <a:path w="319088" h="236220">
                  <a:moveTo>
                    <a:pt x="319088" y="0"/>
                  </a:moveTo>
                  <a:lnTo>
                    <a:pt x="0" y="236220"/>
                  </a:lnTo>
                </a:path>
              </a:pathLst>
            </a:custGeom>
            <a:noFill/>
            <a:ln w="17145">
              <a:solidFill>
                <a:srgbClr val="1F2937"/>
              </a:solidFill>
            </a:ln>
          </p:spPr>
        </p:sp>
        <p:sp>
          <p:nvSpPr>
            <p:cNvPr id="28" name="Freeform 28"/>
            <p:cNvSpPr/>
            <p:nvPr/>
          </p:nvSpPr>
          <p:spPr>
            <a:xfrm>
              <a:off x="8305800" y="4584382"/>
              <a:ext cx="104775" cy="95250"/>
            </a:xfrm>
            <a:custGeom>
              <a:avLst/>
              <a:gdLst/>
              <a:ahLst/>
              <a:cxnLst/>
              <a:rect l="l" t="t" r="r" b="b"/>
              <a:pathLst>
                <a:path w="104775" h="95250">
                  <a:moveTo>
                    <a:pt x="0" y="95250"/>
                  </a:moveTo>
                  <a:lnTo>
                    <a:pt x="48578" y="0"/>
                  </a:lnTo>
                  <a:lnTo>
                    <a:pt x="104775" y="76200"/>
                  </a:lnTo>
                  <a:close/>
                </a:path>
              </a:pathLst>
            </a:custGeom>
            <a:solidFill>
              <a:srgbClr val="1F2937"/>
            </a:solidFill>
            <a:ln>
              <a:noFill/>
            </a:ln>
          </p:spPr>
        </p:sp>
        <p:sp>
          <p:nvSpPr>
            <p:cNvPr id="29" name="Freeform 29"/>
            <p:cNvSpPr/>
            <p:nvPr/>
          </p:nvSpPr>
          <p:spPr>
            <a:xfrm>
              <a:off x="6049328" y="1784032"/>
              <a:ext cx="2196465" cy="3008948"/>
            </a:xfrm>
            <a:custGeom>
              <a:avLst/>
              <a:gdLst/>
              <a:ahLst/>
              <a:cxnLst/>
              <a:rect l="l" t="t" r="r" b="b"/>
              <a:pathLst>
                <a:path w="2196465" h="3008948">
                  <a:moveTo>
                    <a:pt x="1912620" y="3008948"/>
                  </a:moveTo>
                  <a:lnTo>
                    <a:pt x="0" y="3008948"/>
                  </a:lnTo>
                  <a:lnTo>
                    <a:pt x="0" y="0"/>
                  </a:lnTo>
                  <a:lnTo>
                    <a:pt x="2196465" y="0"/>
                  </a:lnTo>
                </a:path>
              </a:pathLst>
            </a:custGeom>
            <a:noFill/>
            <a:ln w="17145">
              <a:solidFill>
                <a:srgbClr val="1F2937"/>
              </a:solidFill>
            </a:ln>
          </p:spPr>
        </p:sp>
        <p:sp>
          <p:nvSpPr>
            <p:cNvPr id="30" name="Freeform 30"/>
            <p:cNvSpPr/>
            <p:nvPr/>
          </p:nvSpPr>
          <p:spPr>
            <a:xfrm>
              <a:off x="8245792" y="1736408"/>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31" name="Freeform 31"/>
            <p:cNvSpPr/>
            <p:nvPr/>
          </p:nvSpPr>
          <p:spPr>
            <a:xfrm>
              <a:off x="6517005" y="1784032"/>
              <a:ext cx="1824038" cy="2937510"/>
            </a:xfrm>
            <a:custGeom>
              <a:avLst/>
              <a:gdLst/>
              <a:ahLst/>
              <a:cxnLst/>
              <a:rect l="l" t="t" r="r" b="b"/>
              <a:pathLst>
                <a:path w="1824038" h="2937510">
                  <a:moveTo>
                    <a:pt x="1824038" y="0"/>
                  </a:moveTo>
                  <a:lnTo>
                    <a:pt x="0" y="0"/>
                  </a:lnTo>
                  <a:lnTo>
                    <a:pt x="0" y="2937510"/>
                  </a:lnTo>
                </a:path>
              </a:pathLst>
            </a:custGeom>
            <a:noFill/>
            <a:ln w="17145">
              <a:solidFill>
                <a:srgbClr val="1F2937"/>
              </a:solidFill>
            </a:ln>
          </p:spPr>
        </p:sp>
        <p:sp>
          <p:nvSpPr>
            <p:cNvPr id="32" name="Freeform 32"/>
            <p:cNvSpPr/>
            <p:nvPr/>
          </p:nvSpPr>
          <p:spPr>
            <a:xfrm>
              <a:off x="6469380" y="4721542"/>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33" name="Ellipse 33"/>
            <p:cNvSpPr/>
            <p:nvPr/>
          </p:nvSpPr>
          <p:spPr>
            <a:xfrm>
              <a:off x="8350568" y="1631632"/>
              <a:ext cx="304800" cy="304800"/>
            </a:xfrm>
            <a:prstGeom prst="ellipse">
              <a:avLst/>
            </a:prstGeom>
            <a:solidFill>
              <a:srgbClr val="FFFFFF"/>
            </a:solidFill>
            <a:ln w="17145">
              <a:solidFill>
                <a:srgbClr val="334E68"/>
              </a:solidFill>
            </a:ln>
          </p:spPr>
        </p:sp>
        <p:sp>
          <p:nvSpPr>
            <p:cNvPr id="34" name="Ellipse 34"/>
            <p:cNvSpPr/>
            <p:nvPr/>
          </p:nvSpPr>
          <p:spPr>
            <a:xfrm>
              <a:off x="8350568" y="2263140"/>
              <a:ext cx="304800" cy="304800"/>
            </a:xfrm>
            <a:prstGeom prst="ellipse">
              <a:avLst/>
            </a:prstGeom>
            <a:solidFill>
              <a:srgbClr val="FFFFFF"/>
            </a:solidFill>
            <a:ln w="17145">
              <a:solidFill>
                <a:srgbClr val="334E68"/>
              </a:solidFill>
            </a:ln>
          </p:spPr>
        </p:sp>
        <p:sp>
          <p:nvSpPr>
            <p:cNvPr id="35" name="Ellipse 35"/>
            <p:cNvSpPr/>
            <p:nvPr/>
          </p:nvSpPr>
          <p:spPr>
            <a:xfrm>
              <a:off x="6948488" y="2894648"/>
              <a:ext cx="304800" cy="304800"/>
            </a:xfrm>
            <a:prstGeom prst="ellipse">
              <a:avLst/>
            </a:prstGeom>
            <a:solidFill>
              <a:srgbClr val="FFFFFF"/>
            </a:solidFill>
            <a:ln w="17145">
              <a:solidFill>
                <a:srgbClr val="334E68"/>
              </a:solidFill>
            </a:ln>
          </p:spPr>
        </p:sp>
        <p:sp>
          <p:nvSpPr>
            <p:cNvPr id="36" name="Ellipse 36"/>
            <p:cNvSpPr/>
            <p:nvPr/>
          </p:nvSpPr>
          <p:spPr>
            <a:xfrm>
              <a:off x="9285922" y="2894648"/>
              <a:ext cx="304800" cy="304800"/>
            </a:xfrm>
            <a:prstGeom prst="ellipse">
              <a:avLst/>
            </a:prstGeom>
            <a:solidFill>
              <a:srgbClr val="FFFFFF"/>
            </a:solidFill>
            <a:ln w="17145">
              <a:solidFill>
                <a:srgbClr val="334E68"/>
              </a:solidFill>
            </a:ln>
          </p:spPr>
        </p:sp>
        <p:sp>
          <p:nvSpPr>
            <p:cNvPr id="37" name="Ellipse 37"/>
            <p:cNvSpPr/>
            <p:nvPr/>
          </p:nvSpPr>
          <p:spPr>
            <a:xfrm>
              <a:off x="8584882" y="3526155"/>
              <a:ext cx="304800" cy="304800"/>
            </a:xfrm>
            <a:prstGeom prst="ellipse">
              <a:avLst/>
            </a:prstGeom>
            <a:solidFill>
              <a:srgbClr val="FFFFFF"/>
            </a:solidFill>
            <a:ln w="17145">
              <a:solidFill>
                <a:srgbClr val="334E68"/>
              </a:solidFill>
            </a:ln>
          </p:spPr>
        </p:sp>
        <p:sp>
          <p:nvSpPr>
            <p:cNvPr id="38" name="Ellipse 38"/>
            <p:cNvSpPr/>
            <p:nvPr/>
          </p:nvSpPr>
          <p:spPr>
            <a:xfrm>
              <a:off x="10337482" y="3526155"/>
              <a:ext cx="304800" cy="304800"/>
            </a:xfrm>
            <a:prstGeom prst="ellipse">
              <a:avLst/>
            </a:prstGeom>
            <a:solidFill>
              <a:srgbClr val="FFFFFF"/>
            </a:solidFill>
            <a:ln w="17145">
              <a:solidFill>
                <a:srgbClr val="334E68"/>
              </a:solidFill>
            </a:ln>
          </p:spPr>
        </p:sp>
        <p:sp>
          <p:nvSpPr>
            <p:cNvPr id="39" name="Ellipse 39"/>
            <p:cNvSpPr/>
            <p:nvPr/>
          </p:nvSpPr>
          <p:spPr>
            <a:xfrm>
              <a:off x="8672512" y="4091940"/>
              <a:ext cx="361950" cy="361950"/>
            </a:xfrm>
            <a:prstGeom prst="ellipse">
              <a:avLst/>
            </a:prstGeom>
            <a:solidFill>
              <a:srgbClr val="FFFFFF"/>
            </a:solidFill>
            <a:ln w="17145">
              <a:solidFill>
                <a:srgbClr val="334E68"/>
              </a:solidFill>
            </a:ln>
          </p:spPr>
        </p:sp>
        <p:sp>
          <p:nvSpPr>
            <p:cNvPr id="40" name="Ellipse 40"/>
            <p:cNvSpPr/>
            <p:nvPr/>
          </p:nvSpPr>
          <p:spPr>
            <a:xfrm>
              <a:off x="7971472" y="4612005"/>
              <a:ext cx="361950" cy="361950"/>
            </a:xfrm>
            <a:prstGeom prst="ellipse">
              <a:avLst/>
            </a:prstGeom>
            <a:solidFill>
              <a:srgbClr val="FFFFFF"/>
            </a:solidFill>
            <a:ln w="17145">
              <a:solidFill>
                <a:srgbClr val="334E68"/>
              </a:solidFill>
            </a:ln>
          </p:spPr>
        </p:sp>
        <p:sp>
          <p:nvSpPr>
            <p:cNvPr id="41" name="Ellipse 41"/>
            <p:cNvSpPr/>
            <p:nvPr/>
          </p:nvSpPr>
          <p:spPr>
            <a:xfrm>
              <a:off x="6364605" y="4826318"/>
              <a:ext cx="304800" cy="304800"/>
            </a:xfrm>
            <a:prstGeom prst="ellipse">
              <a:avLst/>
            </a:prstGeom>
            <a:solidFill>
              <a:srgbClr val="FFFFFF"/>
            </a:solidFill>
            <a:ln w="17145">
              <a:solidFill>
                <a:srgbClr val="334E68"/>
              </a:solidFill>
            </a:ln>
          </p:spPr>
        </p:sp>
        <p:sp>
          <p:nvSpPr>
            <p:cNvPr id="42" name="TextBox 42"/>
            <p:cNvSpPr txBox="1"/>
            <p:nvPr/>
          </p:nvSpPr>
          <p:spPr>
            <a:xfrm>
              <a:off x="8459920" y="1723549"/>
              <a:ext cx="8609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1</a:t>
              </a:r>
            </a:p>
          </p:txBody>
        </p:sp>
        <p:sp>
          <p:nvSpPr>
            <p:cNvPr id="43" name="TextBox 43"/>
            <p:cNvSpPr txBox="1"/>
            <p:nvPr/>
          </p:nvSpPr>
          <p:spPr>
            <a:xfrm>
              <a:off x="8459920" y="2355056"/>
              <a:ext cx="8609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2</a:t>
              </a:r>
            </a:p>
          </p:txBody>
        </p:sp>
        <p:sp>
          <p:nvSpPr>
            <p:cNvPr id="44" name="TextBox 44"/>
            <p:cNvSpPr txBox="1"/>
            <p:nvPr/>
          </p:nvSpPr>
          <p:spPr>
            <a:xfrm>
              <a:off x="7057840" y="2986564"/>
              <a:ext cx="8609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3</a:t>
              </a:r>
            </a:p>
          </p:txBody>
        </p:sp>
        <p:sp>
          <p:nvSpPr>
            <p:cNvPr id="45" name="TextBox 45"/>
            <p:cNvSpPr txBox="1"/>
            <p:nvPr/>
          </p:nvSpPr>
          <p:spPr>
            <a:xfrm>
              <a:off x="9395275" y="2986564"/>
              <a:ext cx="8609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4</a:t>
              </a:r>
            </a:p>
          </p:txBody>
        </p:sp>
        <p:sp>
          <p:nvSpPr>
            <p:cNvPr id="46" name="TextBox 46"/>
            <p:cNvSpPr txBox="1"/>
            <p:nvPr/>
          </p:nvSpPr>
          <p:spPr>
            <a:xfrm>
              <a:off x="8694235" y="3618071"/>
              <a:ext cx="8609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5</a:t>
              </a:r>
            </a:p>
          </p:txBody>
        </p:sp>
        <p:sp>
          <p:nvSpPr>
            <p:cNvPr id="47" name="TextBox 47"/>
            <p:cNvSpPr txBox="1"/>
            <p:nvPr/>
          </p:nvSpPr>
          <p:spPr>
            <a:xfrm>
              <a:off x="10446835" y="3618071"/>
              <a:ext cx="8609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6</a:t>
              </a:r>
            </a:p>
          </p:txBody>
        </p:sp>
        <p:sp>
          <p:nvSpPr>
            <p:cNvPr id="48" name="TextBox 48"/>
            <p:cNvSpPr txBox="1"/>
            <p:nvPr/>
          </p:nvSpPr>
          <p:spPr>
            <a:xfrm>
              <a:off x="8772346" y="4212431"/>
              <a:ext cx="162282" cy="190690"/>
            </a:xfrm>
            <a:prstGeom prst="rect">
              <a:avLst/>
            </a:prstGeom>
            <a:noFill/>
            <a:ln>
              <a:noFill/>
            </a:ln>
          </p:spPr>
          <p:txBody>
            <a:bodyPr wrap="none" lIns="0" tIns="0" rIns="0" bIns="0" anchor="t" anchorCtr="0">
              <a:spAutoFit/>
            </a:bodyPr>
            <a:lstStyle/>
            <a:p>
              <a:pPr algn="ctr"/>
              <a:r>
                <a:rPr lang="en-US" sz="980" b="1" dirty="0">
                  <a:solidFill>
                    <a:srgbClr val="1F2937"/>
                  </a:solidFill>
                  <a:latin typeface="+mn-lt"/>
                  <a:ea typeface="+mn-ea"/>
                  <a:cs typeface="+mn-cs"/>
                </a:rPr>
                <a:t>7a</a:t>
              </a:r>
            </a:p>
          </p:txBody>
        </p:sp>
        <p:sp>
          <p:nvSpPr>
            <p:cNvPr id="49" name="TextBox 49"/>
            <p:cNvSpPr txBox="1"/>
            <p:nvPr/>
          </p:nvSpPr>
          <p:spPr>
            <a:xfrm>
              <a:off x="8071306" y="4732496"/>
              <a:ext cx="162282" cy="190690"/>
            </a:xfrm>
            <a:prstGeom prst="rect">
              <a:avLst/>
            </a:prstGeom>
            <a:noFill/>
            <a:ln>
              <a:noFill/>
            </a:ln>
          </p:spPr>
          <p:txBody>
            <a:bodyPr wrap="none" lIns="0" tIns="0" rIns="0" bIns="0" anchor="t" anchorCtr="0">
              <a:spAutoFit/>
            </a:bodyPr>
            <a:lstStyle/>
            <a:p>
              <a:pPr algn="ctr"/>
              <a:r>
                <a:rPr lang="en-US" sz="980" b="1" dirty="0">
                  <a:solidFill>
                    <a:srgbClr val="1F2937"/>
                  </a:solidFill>
                  <a:latin typeface="+mn-lt"/>
                  <a:ea typeface="+mn-ea"/>
                  <a:cs typeface="+mn-cs"/>
                </a:rPr>
                <a:t>7b</a:t>
              </a:r>
            </a:p>
          </p:txBody>
        </p:sp>
        <p:sp>
          <p:nvSpPr>
            <p:cNvPr id="50" name="TextBox 50"/>
            <p:cNvSpPr txBox="1"/>
            <p:nvPr/>
          </p:nvSpPr>
          <p:spPr>
            <a:xfrm>
              <a:off x="6473958" y="4918234"/>
              <a:ext cx="86094" cy="190690"/>
            </a:xfrm>
            <a:prstGeom prst="rect">
              <a:avLst/>
            </a:prstGeom>
            <a:noFill/>
            <a:ln>
              <a:noFill/>
            </a:ln>
          </p:spPr>
          <p:txBody>
            <a:bodyPr wrap="none" lIns="0" tIns="0" rIns="0" bIns="0" anchor="t" anchorCtr="0">
              <a:spAutoFit/>
            </a:bodyPr>
            <a:lstStyle/>
            <a:p>
              <a:pPr algn="ctr"/>
              <a:r>
                <a:rPr lang="zh-CN" sz="980" b="1" dirty="0">
                  <a:solidFill>
                    <a:srgbClr val="1F2937"/>
                  </a:solidFill>
                  <a:latin typeface="+mn-lt"/>
                  <a:ea typeface="+mn-ea"/>
                  <a:cs typeface="+mn-cs"/>
                </a:rPr>
                <a:t>8</a:t>
              </a:r>
            </a:p>
          </p:txBody>
        </p:sp>
      </p:grpSp>
      <p:grpSp>
        <p:nvGrpSpPr>
          <p:cNvPr id="57" name="takeaway"/>
          <p:cNvGrpSpPr/>
          <p:nvPr/>
        </p:nvGrpSpPr>
        <p:grpSpPr>
          <a:xfrm>
            <a:off x="533400" y="5579745"/>
            <a:ext cx="11125200" cy="782955"/>
            <a:chOff x="533400" y="5579745"/>
            <a:chExt cx="11125200" cy="782955"/>
          </a:xfrm>
        </p:grpSpPr>
        <p:sp>
          <p:nvSpPr>
            <p:cNvPr id="52" name="Rectangle 52"/>
            <p:cNvSpPr/>
            <p:nvPr/>
          </p:nvSpPr>
          <p:spPr>
            <a:xfrm>
              <a:off x="533400" y="5579745"/>
              <a:ext cx="11125200" cy="782955"/>
            </a:xfrm>
            <a:prstGeom prst="roundRect">
              <a:avLst>
                <a:gd name="adj" fmla="val 14599"/>
              </a:avLst>
            </a:prstGeom>
            <a:solidFill>
              <a:srgbClr val="334E68"/>
            </a:solidFill>
            <a:ln>
              <a:noFill/>
            </a:ln>
          </p:spPr>
        </p:sp>
        <p:grpSp>
          <p:nvGrpSpPr>
            <p:cNvPr id="55" name="Group 55"/>
            <p:cNvGrpSpPr/>
            <p:nvPr/>
          </p:nvGrpSpPr>
          <p:grpSpPr>
            <a:xfrm>
              <a:off x="738188" y="5871212"/>
              <a:ext cx="200023" cy="200023"/>
              <a:chOff x="738188" y="5871212"/>
              <a:chExt cx="200023" cy="200023"/>
            </a:xfrm>
          </p:grpSpPr>
          <p:sp>
            <p:nvSpPr>
              <p:cNvPr id="53" name="Freeform 53"/>
              <p:cNvSpPr/>
              <p:nvPr/>
            </p:nvSpPr>
            <p:spPr>
              <a:xfrm>
                <a:off x="738188" y="587121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4" name="Freeform 54"/>
              <p:cNvSpPr/>
              <p:nvPr/>
            </p:nvSpPr>
            <p:spPr>
              <a:xfrm>
                <a:off x="871538" y="593788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6" name="TextBox 56"/>
            <p:cNvSpPr txBox="1"/>
            <p:nvPr/>
          </p:nvSpPr>
          <p:spPr>
            <a:xfrm>
              <a:off x="1040130" y="5728335"/>
              <a:ext cx="99974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行号就是结点号：判断语句的每个简单条件单独成结点，endif／enddo 这类汇合点也要画结点。E=11、N=9、判定结点</a:t>
              </a:r>
              <a:br/>
              <a:r>
                <a:rPr lang="zh-CN" sz="1500" dirty="0">
                  <a:solidFill>
                    <a:srgbClr val="FFFFFF"/>
                  </a:solidFill>
                  <a:latin typeface="+mn-lt"/>
                  <a:ea typeface="+mn-ea"/>
                  <a:cs typeface="+mn-cs"/>
                </a:rPr>
                <a:t>3 个（1、2、4），V(G)=4。</a:t>
              </a:r>
            </a:p>
          </p:txBody>
        </p:sp>
      </p:grpSp>
      <p:grpSp>
        <p:nvGrpSpPr>
          <p:cNvPr id="60" name="footer"/>
          <p:cNvGrpSpPr/>
          <p:nvPr/>
        </p:nvGrpSpPr>
        <p:grpSpPr>
          <a:xfrm>
            <a:off x="528447" y="6581299"/>
            <a:ext cx="11135106" cy="190690"/>
            <a:chOff x="528447" y="6581299"/>
            <a:chExt cx="11135106" cy="190690"/>
          </a:xfrm>
        </p:grpSpPr>
        <p:sp>
          <p:nvSpPr>
            <p:cNvPr id="58" name="TextBox 58"/>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59" name="TextBox 5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49</a:t>
              </a:r>
            </a:p>
          </p:txBody>
        </p:sp>
      </p:grpSp>
    </p:spTree>
  </p:cSld>
  <p:clrMapOvr>
    <a:masterClrMapping/>
  </p:clrMapOvr>
  <p:transition xmlns:p14="http://schemas.microsoft.com/office/powerpoint/2010/main" p14:dur="400">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程序复杂程度的定量度量</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复合条件必须拆成多个判定结点</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5399" y="1550194"/>
            <a:ext cx="7010408" cy="308039"/>
            <a:chOff x="525399" y="1550194"/>
            <a:chExt cx="7010408" cy="308039"/>
          </a:xfrm>
        </p:grpSpPr>
        <p:sp>
          <p:nvSpPr>
            <p:cNvPr id="7" name="TextBox 7"/>
            <p:cNvSpPr txBox="1"/>
            <p:nvPr/>
          </p:nvSpPr>
          <p:spPr>
            <a:xfrm>
              <a:off x="525399" y="1550194"/>
              <a:ext cx="7010408"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一个 IF 里写了 a OR b，流图上要画成两个判定结点，否则 V(G) 会少算。</a:t>
              </a:r>
            </a:p>
          </p:txBody>
        </p:sp>
      </p:grpSp>
      <p:grpSp>
        <p:nvGrpSpPr>
          <p:cNvPr id="10" name="c1-text-1"/>
          <p:cNvGrpSpPr/>
          <p:nvPr/>
        </p:nvGrpSpPr>
        <p:grpSpPr>
          <a:xfrm>
            <a:off x="526923" y="1988344"/>
            <a:ext cx="2595805" cy="249364"/>
            <a:chOff x="526923" y="1988344"/>
            <a:chExt cx="2595805" cy="249364"/>
          </a:xfrm>
        </p:grpSpPr>
        <p:sp>
          <p:nvSpPr>
            <p:cNvPr id="9" name="TextBox 9"/>
            <p:cNvSpPr txBox="1"/>
            <p:nvPr/>
          </p:nvSpPr>
          <p:spPr>
            <a:xfrm>
              <a:off x="526923" y="1988344"/>
              <a:ext cx="2595805" cy="249364"/>
            </a:xfrm>
            <a:prstGeom prst="rect">
              <a:avLst/>
            </a:prstGeom>
            <a:noFill/>
            <a:ln>
              <a:noFill/>
            </a:ln>
          </p:spPr>
          <p:txBody>
            <a:bodyPr wrap="none" lIns="0" tIns="0" rIns="0" bIns="0" anchor="t" anchorCtr="0">
              <a:spAutoFit/>
            </a:bodyPr>
            <a:lstStyle/>
            <a:p>
              <a:pPr algn="l"/>
              <a:r>
                <a:rPr lang="en-US" sz="1280" b="1" dirty="0">
                  <a:solidFill>
                    <a:srgbClr val="334E68"/>
                  </a:solidFill>
                  <a:latin typeface="+mn-lt"/>
                  <a:ea typeface="+mn-ea"/>
                  <a:cs typeface="+mn-cs"/>
                </a:rPr>
                <a:t>IF a OR b THEN x ELSE y ENDIF</a:t>
              </a:r>
            </a:p>
          </p:txBody>
        </p:sp>
      </p:grpSp>
      <p:grpSp>
        <p:nvGrpSpPr>
          <p:cNvPr id="40" name="c1-graph-2"/>
          <p:cNvGrpSpPr/>
          <p:nvPr/>
        </p:nvGrpSpPr>
        <p:grpSpPr>
          <a:xfrm>
            <a:off x="1354455" y="2559368"/>
            <a:ext cx="4053840" cy="1447800"/>
            <a:chOff x="1354455" y="2559368"/>
            <a:chExt cx="4053840" cy="1447800"/>
          </a:xfrm>
        </p:grpSpPr>
        <p:sp>
          <p:nvSpPr>
            <p:cNvPr id="11" name="Freeform 11"/>
            <p:cNvSpPr/>
            <p:nvPr/>
          </p:nvSpPr>
          <p:spPr>
            <a:xfrm>
              <a:off x="1668780" y="2711768"/>
              <a:ext cx="1962150" cy="9525"/>
            </a:xfrm>
            <a:custGeom>
              <a:avLst/>
              <a:gdLst/>
              <a:ahLst/>
              <a:cxnLst/>
              <a:rect l="l" t="t" r="r" b="b"/>
              <a:pathLst>
                <a:path w="1962150" h="9525">
                  <a:moveTo>
                    <a:pt x="0" y="0"/>
                  </a:moveTo>
                  <a:lnTo>
                    <a:pt x="1962150" y="0"/>
                  </a:lnTo>
                </a:path>
              </a:pathLst>
            </a:custGeom>
            <a:noFill/>
            <a:ln w="17145">
              <a:solidFill>
                <a:srgbClr val="1F2937"/>
              </a:solidFill>
            </a:ln>
          </p:spPr>
        </p:sp>
        <p:sp>
          <p:nvSpPr>
            <p:cNvPr id="12" name="Freeform 12"/>
            <p:cNvSpPr/>
            <p:nvPr/>
          </p:nvSpPr>
          <p:spPr>
            <a:xfrm>
              <a:off x="3630930" y="2664142"/>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13" name="Freeform 13"/>
            <p:cNvSpPr/>
            <p:nvPr/>
          </p:nvSpPr>
          <p:spPr>
            <a:xfrm>
              <a:off x="1506855" y="2873692"/>
              <a:ext cx="9525" cy="485775"/>
            </a:xfrm>
            <a:custGeom>
              <a:avLst/>
              <a:gdLst/>
              <a:ahLst/>
              <a:cxnLst/>
              <a:rect l="l" t="t" r="r" b="b"/>
              <a:pathLst>
                <a:path w="9525" h="485775">
                  <a:moveTo>
                    <a:pt x="0" y="0"/>
                  </a:moveTo>
                  <a:lnTo>
                    <a:pt x="0" y="485775"/>
                  </a:lnTo>
                </a:path>
              </a:pathLst>
            </a:custGeom>
            <a:noFill/>
            <a:ln w="17145">
              <a:solidFill>
                <a:srgbClr val="1F2937"/>
              </a:solidFill>
            </a:ln>
          </p:spPr>
        </p:sp>
        <p:sp>
          <p:nvSpPr>
            <p:cNvPr id="14" name="Freeform 14"/>
            <p:cNvSpPr/>
            <p:nvPr/>
          </p:nvSpPr>
          <p:spPr>
            <a:xfrm>
              <a:off x="1459230" y="3359468"/>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15" name="Freeform 15"/>
            <p:cNvSpPr/>
            <p:nvPr/>
          </p:nvSpPr>
          <p:spPr>
            <a:xfrm>
              <a:off x="1658302" y="2803208"/>
              <a:ext cx="1988820" cy="755333"/>
            </a:xfrm>
            <a:custGeom>
              <a:avLst/>
              <a:gdLst/>
              <a:ahLst/>
              <a:cxnLst/>
              <a:rect l="l" t="t" r="r" b="b"/>
              <a:pathLst>
                <a:path w="1988820" h="755333">
                  <a:moveTo>
                    <a:pt x="0" y="755333"/>
                  </a:moveTo>
                  <a:lnTo>
                    <a:pt x="1988820" y="0"/>
                  </a:lnTo>
                </a:path>
              </a:pathLst>
            </a:custGeom>
            <a:noFill/>
            <a:ln w="17145">
              <a:solidFill>
                <a:srgbClr val="1F2937"/>
              </a:solidFill>
            </a:ln>
          </p:spPr>
        </p:sp>
        <p:sp>
          <p:nvSpPr>
            <p:cNvPr id="16" name="Freeform 16"/>
            <p:cNvSpPr/>
            <p:nvPr/>
          </p:nvSpPr>
          <p:spPr>
            <a:xfrm>
              <a:off x="3629978" y="2758440"/>
              <a:ext cx="106680" cy="88582"/>
            </a:xfrm>
            <a:custGeom>
              <a:avLst/>
              <a:gdLst/>
              <a:ahLst/>
              <a:cxnLst/>
              <a:rect l="l" t="t" r="r" b="b"/>
              <a:pathLst>
                <a:path w="106680" h="88582">
                  <a:moveTo>
                    <a:pt x="106680" y="10477"/>
                  </a:moveTo>
                  <a:lnTo>
                    <a:pt x="34290" y="88582"/>
                  </a:lnTo>
                  <a:lnTo>
                    <a:pt x="0" y="0"/>
                  </a:lnTo>
                  <a:close/>
                </a:path>
              </a:pathLst>
            </a:custGeom>
            <a:solidFill>
              <a:srgbClr val="1F2937"/>
            </a:solidFill>
            <a:ln>
              <a:noFill/>
            </a:ln>
          </p:spPr>
        </p:sp>
        <p:sp>
          <p:nvSpPr>
            <p:cNvPr id="17" name="Freeform 17"/>
            <p:cNvSpPr/>
            <p:nvPr/>
          </p:nvSpPr>
          <p:spPr>
            <a:xfrm>
              <a:off x="1668780" y="3632835"/>
              <a:ext cx="1963103" cy="196215"/>
            </a:xfrm>
            <a:custGeom>
              <a:avLst/>
              <a:gdLst/>
              <a:ahLst/>
              <a:cxnLst/>
              <a:rect l="l" t="t" r="r" b="b"/>
              <a:pathLst>
                <a:path w="1963103" h="196215">
                  <a:moveTo>
                    <a:pt x="0" y="0"/>
                  </a:moveTo>
                  <a:lnTo>
                    <a:pt x="1963103" y="196215"/>
                  </a:lnTo>
                </a:path>
              </a:pathLst>
            </a:custGeom>
            <a:noFill/>
            <a:ln w="17145">
              <a:solidFill>
                <a:srgbClr val="1F2937"/>
              </a:solidFill>
            </a:ln>
          </p:spPr>
        </p:sp>
        <p:sp>
          <p:nvSpPr>
            <p:cNvPr id="18" name="Freeform 18"/>
            <p:cNvSpPr/>
            <p:nvPr/>
          </p:nvSpPr>
          <p:spPr>
            <a:xfrm>
              <a:off x="3627120" y="3781425"/>
              <a:ext cx="99060" cy="95250"/>
            </a:xfrm>
            <a:custGeom>
              <a:avLst/>
              <a:gdLst/>
              <a:ahLst/>
              <a:cxnLst/>
              <a:rect l="l" t="t" r="r" b="b"/>
              <a:pathLst>
                <a:path w="99060" h="95250">
                  <a:moveTo>
                    <a:pt x="99060" y="57150"/>
                  </a:moveTo>
                  <a:lnTo>
                    <a:pt x="0" y="95250"/>
                  </a:lnTo>
                  <a:lnTo>
                    <a:pt x="9525" y="0"/>
                  </a:lnTo>
                  <a:close/>
                </a:path>
              </a:pathLst>
            </a:custGeom>
            <a:solidFill>
              <a:srgbClr val="1F2937"/>
            </a:solidFill>
            <a:ln>
              <a:noFill/>
            </a:ln>
          </p:spPr>
        </p:sp>
        <p:sp>
          <p:nvSpPr>
            <p:cNvPr id="19" name="Freeform 19"/>
            <p:cNvSpPr/>
            <p:nvPr/>
          </p:nvSpPr>
          <p:spPr>
            <a:xfrm>
              <a:off x="4037648" y="2772728"/>
              <a:ext cx="1053465" cy="427672"/>
            </a:xfrm>
            <a:custGeom>
              <a:avLst/>
              <a:gdLst/>
              <a:ahLst/>
              <a:cxnLst/>
              <a:rect l="l" t="t" r="r" b="b"/>
              <a:pathLst>
                <a:path w="1053465" h="427672">
                  <a:moveTo>
                    <a:pt x="0" y="0"/>
                  </a:moveTo>
                  <a:lnTo>
                    <a:pt x="1053465" y="427672"/>
                  </a:lnTo>
                </a:path>
              </a:pathLst>
            </a:custGeom>
            <a:noFill/>
            <a:ln w="17145">
              <a:solidFill>
                <a:srgbClr val="1F2937"/>
              </a:solidFill>
            </a:ln>
          </p:spPr>
        </p:sp>
        <p:sp>
          <p:nvSpPr>
            <p:cNvPr id="20" name="Freeform 20"/>
            <p:cNvSpPr/>
            <p:nvPr/>
          </p:nvSpPr>
          <p:spPr>
            <a:xfrm>
              <a:off x="5073015" y="3156585"/>
              <a:ext cx="106680" cy="88583"/>
            </a:xfrm>
            <a:custGeom>
              <a:avLst/>
              <a:gdLst/>
              <a:ahLst/>
              <a:cxnLst/>
              <a:rect l="l" t="t" r="r" b="b"/>
              <a:pathLst>
                <a:path w="106680" h="88583">
                  <a:moveTo>
                    <a:pt x="106680" y="80010"/>
                  </a:moveTo>
                  <a:lnTo>
                    <a:pt x="0" y="88583"/>
                  </a:lnTo>
                  <a:lnTo>
                    <a:pt x="36195" y="0"/>
                  </a:lnTo>
                  <a:close/>
                </a:path>
              </a:pathLst>
            </a:custGeom>
            <a:solidFill>
              <a:srgbClr val="1F2937"/>
            </a:solidFill>
            <a:ln>
              <a:noFill/>
            </a:ln>
          </p:spPr>
        </p:sp>
        <p:sp>
          <p:nvSpPr>
            <p:cNvPr id="21" name="Freeform 21"/>
            <p:cNvSpPr/>
            <p:nvPr/>
          </p:nvSpPr>
          <p:spPr>
            <a:xfrm>
              <a:off x="4037648" y="3365182"/>
              <a:ext cx="1053465" cy="428625"/>
            </a:xfrm>
            <a:custGeom>
              <a:avLst/>
              <a:gdLst/>
              <a:ahLst/>
              <a:cxnLst/>
              <a:rect l="l" t="t" r="r" b="b"/>
              <a:pathLst>
                <a:path w="1053465" h="428625">
                  <a:moveTo>
                    <a:pt x="0" y="428625"/>
                  </a:moveTo>
                  <a:lnTo>
                    <a:pt x="1053465" y="0"/>
                  </a:lnTo>
                </a:path>
              </a:pathLst>
            </a:custGeom>
            <a:noFill/>
            <a:ln w="17145">
              <a:solidFill>
                <a:srgbClr val="1F2937"/>
              </a:solidFill>
            </a:ln>
          </p:spPr>
        </p:sp>
        <p:sp>
          <p:nvSpPr>
            <p:cNvPr id="22" name="Freeform 22"/>
            <p:cNvSpPr/>
            <p:nvPr/>
          </p:nvSpPr>
          <p:spPr>
            <a:xfrm>
              <a:off x="5073015" y="3321368"/>
              <a:ext cx="106680" cy="88583"/>
            </a:xfrm>
            <a:custGeom>
              <a:avLst/>
              <a:gdLst/>
              <a:ahLst/>
              <a:cxnLst/>
              <a:rect l="l" t="t" r="r" b="b"/>
              <a:pathLst>
                <a:path w="106680" h="88583">
                  <a:moveTo>
                    <a:pt x="106680" y="8573"/>
                  </a:moveTo>
                  <a:lnTo>
                    <a:pt x="36195" y="88583"/>
                  </a:lnTo>
                  <a:lnTo>
                    <a:pt x="0" y="0"/>
                  </a:lnTo>
                  <a:close/>
                </a:path>
              </a:pathLst>
            </a:custGeom>
            <a:solidFill>
              <a:srgbClr val="1F2937"/>
            </a:solidFill>
            <a:ln>
              <a:noFill/>
            </a:ln>
          </p:spPr>
        </p:sp>
        <p:sp>
          <p:nvSpPr>
            <p:cNvPr id="23" name="Ellipse 23"/>
            <p:cNvSpPr/>
            <p:nvPr/>
          </p:nvSpPr>
          <p:spPr>
            <a:xfrm>
              <a:off x="1354455" y="2559368"/>
              <a:ext cx="304800" cy="304800"/>
            </a:xfrm>
            <a:prstGeom prst="ellipse">
              <a:avLst/>
            </a:prstGeom>
            <a:solidFill>
              <a:srgbClr val="FFFFFF"/>
            </a:solidFill>
            <a:ln w="17145">
              <a:solidFill>
                <a:srgbClr val="334E68"/>
              </a:solidFill>
            </a:ln>
          </p:spPr>
        </p:sp>
        <p:sp>
          <p:nvSpPr>
            <p:cNvPr id="24" name="Ellipse 24"/>
            <p:cNvSpPr/>
            <p:nvPr/>
          </p:nvSpPr>
          <p:spPr>
            <a:xfrm>
              <a:off x="1354455" y="3464242"/>
              <a:ext cx="304800" cy="304800"/>
            </a:xfrm>
            <a:prstGeom prst="ellipse">
              <a:avLst/>
            </a:prstGeom>
            <a:solidFill>
              <a:srgbClr val="FFFFFF"/>
            </a:solidFill>
            <a:ln w="17145">
              <a:solidFill>
                <a:srgbClr val="334E68"/>
              </a:solidFill>
            </a:ln>
          </p:spPr>
        </p:sp>
        <p:sp>
          <p:nvSpPr>
            <p:cNvPr id="25" name="Ellipse 25"/>
            <p:cNvSpPr/>
            <p:nvPr/>
          </p:nvSpPr>
          <p:spPr>
            <a:xfrm>
              <a:off x="3735705" y="2559368"/>
              <a:ext cx="304800" cy="304800"/>
            </a:xfrm>
            <a:prstGeom prst="ellipse">
              <a:avLst/>
            </a:prstGeom>
            <a:solidFill>
              <a:srgbClr val="FFFFFF"/>
            </a:solidFill>
            <a:ln w="17145">
              <a:solidFill>
                <a:srgbClr val="334E68"/>
              </a:solidFill>
            </a:ln>
          </p:spPr>
        </p:sp>
        <p:sp>
          <p:nvSpPr>
            <p:cNvPr id="26" name="Ellipse 26"/>
            <p:cNvSpPr/>
            <p:nvPr/>
          </p:nvSpPr>
          <p:spPr>
            <a:xfrm>
              <a:off x="3735705" y="3702368"/>
              <a:ext cx="304800" cy="304800"/>
            </a:xfrm>
            <a:prstGeom prst="ellipse">
              <a:avLst/>
            </a:prstGeom>
            <a:solidFill>
              <a:srgbClr val="FFFFFF"/>
            </a:solidFill>
            <a:ln w="17145">
              <a:solidFill>
                <a:srgbClr val="334E68"/>
              </a:solidFill>
            </a:ln>
          </p:spPr>
        </p:sp>
        <p:sp>
          <p:nvSpPr>
            <p:cNvPr id="27" name="Ellipse 27"/>
            <p:cNvSpPr/>
            <p:nvPr/>
          </p:nvSpPr>
          <p:spPr>
            <a:xfrm>
              <a:off x="5179695" y="3168968"/>
              <a:ext cx="228600" cy="228600"/>
            </a:xfrm>
            <a:prstGeom prst="ellipse">
              <a:avLst/>
            </a:prstGeom>
            <a:solidFill>
              <a:srgbClr val="FFFFFF"/>
            </a:solidFill>
            <a:ln w="17145">
              <a:solidFill>
                <a:srgbClr val="334E68"/>
              </a:solidFill>
            </a:ln>
          </p:spPr>
        </p:sp>
        <p:sp>
          <p:nvSpPr>
            <p:cNvPr id="28" name="TextBox 28"/>
            <p:cNvSpPr txBox="1"/>
            <p:nvPr/>
          </p:nvSpPr>
          <p:spPr>
            <a:xfrm>
              <a:off x="1460706" y="2646045"/>
              <a:ext cx="92298"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a</a:t>
              </a:r>
            </a:p>
          </p:txBody>
        </p:sp>
        <p:sp>
          <p:nvSpPr>
            <p:cNvPr id="29" name="TextBox 29"/>
            <p:cNvSpPr txBox="1"/>
            <p:nvPr/>
          </p:nvSpPr>
          <p:spPr>
            <a:xfrm>
              <a:off x="1460706" y="3550920"/>
              <a:ext cx="92298"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b</a:t>
              </a:r>
            </a:p>
          </p:txBody>
        </p:sp>
        <p:sp>
          <p:nvSpPr>
            <p:cNvPr id="30" name="TextBox 30"/>
            <p:cNvSpPr txBox="1"/>
            <p:nvPr/>
          </p:nvSpPr>
          <p:spPr>
            <a:xfrm>
              <a:off x="3841956" y="2646045"/>
              <a:ext cx="92298"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x</a:t>
              </a:r>
            </a:p>
          </p:txBody>
        </p:sp>
        <p:sp>
          <p:nvSpPr>
            <p:cNvPr id="31" name="TextBox 31"/>
            <p:cNvSpPr txBox="1"/>
            <p:nvPr/>
          </p:nvSpPr>
          <p:spPr>
            <a:xfrm>
              <a:off x="3841956" y="3789045"/>
              <a:ext cx="92298"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y</a:t>
              </a:r>
            </a:p>
          </p:txBody>
        </p:sp>
        <p:sp>
          <p:nvSpPr>
            <p:cNvPr id="32" name="Rectangle 32"/>
            <p:cNvSpPr/>
            <p:nvPr/>
          </p:nvSpPr>
          <p:spPr>
            <a:xfrm>
              <a:off x="2630805" y="2632710"/>
              <a:ext cx="133350" cy="146685"/>
            </a:xfrm>
            <a:prstGeom prst="roundRect">
              <a:avLst>
                <a:gd name="adj" fmla="val 28571"/>
              </a:avLst>
            </a:prstGeom>
            <a:solidFill>
              <a:srgbClr val="FFFFFF"/>
            </a:solidFill>
            <a:ln>
              <a:noFill/>
            </a:ln>
          </p:spPr>
        </p:sp>
        <p:sp>
          <p:nvSpPr>
            <p:cNvPr id="33" name="TextBox 33"/>
            <p:cNvSpPr txBox="1"/>
            <p:nvPr/>
          </p:nvSpPr>
          <p:spPr>
            <a:xfrm>
              <a:off x="2660642" y="2662714"/>
              <a:ext cx="73675" cy="161925"/>
            </a:xfrm>
            <a:prstGeom prst="rect">
              <a:avLst/>
            </a:prstGeom>
            <a:noFill/>
            <a:ln>
              <a:noFill/>
            </a:ln>
          </p:spPr>
          <p:txBody>
            <a:bodyPr wrap="none" lIns="0" tIns="0" rIns="0" bIns="0" anchor="t" anchorCtr="0">
              <a:spAutoFit/>
            </a:bodyPr>
            <a:lstStyle/>
            <a:p>
              <a:pPr algn="ctr"/>
              <a:r>
                <a:rPr lang="en-US" sz="820" dirty="0">
                  <a:solidFill>
                    <a:srgbClr val="C2410C"/>
                  </a:solidFill>
                  <a:latin typeface="+mn-lt"/>
                  <a:ea typeface="+mn-ea"/>
                  <a:cs typeface="+mn-cs"/>
                </a:rPr>
                <a:t>T</a:t>
              </a:r>
            </a:p>
          </p:txBody>
        </p:sp>
        <p:sp>
          <p:nvSpPr>
            <p:cNvPr id="34" name="Rectangle 34"/>
            <p:cNvSpPr/>
            <p:nvPr/>
          </p:nvSpPr>
          <p:spPr>
            <a:xfrm>
              <a:off x="1440180" y="3085148"/>
              <a:ext cx="133350" cy="146685"/>
            </a:xfrm>
            <a:prstGeom prst="roundRect">
              <a:avLst>
                <a:gd name="adj" fmla="val 28571"/>
              </a:avLst>
            </a:prstGeom>
            <a:solidFill>
              <a:srgbClr val="FFFFFF"/>
            </a:solidFill>
            <a:ln>
              <a:noFill/>
            </a:ln>
          </p:spPr>
        </p:sp>
        <p:sp>
          <p:nvSpPr>
            <p:cNvPr id="35" name="TextBox 35"/>
            <p:cNvSpPr txBox="1"/>
            <p:nvPr/>
          </p:nvSpPr>
          <p:spPr>
            <a:xfrm>
              <a:off x="1470017" y="3115151"/>
              <a:ext cx="73675" cy="161925"/>
            </a:xfrm>
            <a:prstGeom prst="rect">
              <a:avLst/>
            </a:prstGeom>
            <a:noFill/>
            <a:ln>
              <a:noFill/>
            </a:ln>
          </p:spPr>
          <p:txBody>
            <a:bodyPr wrap="none" lIns="0" tIns="0" rIns="0" bIns="0" anchor="t" anchorCtr="0">
              <a:spAutoFit/>
            </a:bodyPr>
            <a:lstStyle/>
            <a:p>
              <a:pPr algn="ctr"/>
              <a:r>
                <a:rPr lang="en-US" sz="820" dirty="0">
                  <a:solidFill>
                    <a:srgbClr val="C2410C"/>
                  </a:solidFill>
                  <a:latin typeface="+mn-lt"/>
                  <a:ea typeface="+mn-ea"/>
                  <a:cs typeface="+mn-cs"/>
                </a:rPr>
                <a:t>F</a:t>
              </a:r>
            </a:p>
          </p:txBody>
        </p:sp>
        <p:sp>
          <p:nvSpPr>
            <p:cNvPr id="36" name="Rectangle 36"/>
            <p:cNvSpPr/>
            <p:nvPr/>
          </p:nvSpPr>
          <p:spPr>
            <a:xfrm>
              <a:off x="2630805" y="3085148"/>
              <a:ext cx="133350" cy="146685"/>
            </a:xfrm>
            <a:prstGeom prst="roundRect">
              <a:avLst>
                <a:gd name="adj" fmla="val 28571"/>
              </a:avLst>
            </a:prstGeom>
            <a:solidFill>
              <a:srgbClr val="FFFFFF"/>
            </a:solidFill>
            <a:ln>
              <a:noFill/>
            </a:ln>
          </p:spPr>
        </p:sp>
        <p:sp>
          <p:nvSpPr>
            <p:cNvPr id="37" name="TextBox 37"/>
            <p:cNvSpPr txBox="1"/>
            <p:nvPr/>
          </p:nvSpPr>
          <p:spPr>
            <a:xfrm>
              <a:off x="2660642" y="3115151"/>
              <a:ext cx="73675" cy="161925"/>
            </a:xfrm>
            <a:prstGeom prst="rect">
              <a:avLst/>
            </a:prstGeom>
            <a:noFill/>
            <a:ln>
              <a:noFill/>
            </a:ln>
          </p:spPr>
          <p:txBody>
            <a:bodyPr wrap="none" lIns="0" tIns="0" rIns="0" bIns="0" anchor="t" anchorCtr="0">
              <a:spAutoFit/>
            </a:bodyPr>
            <a:lstStyle/>
            <a:p>
              <a:pPr algn="ctr"/>
              <a:r>
                <a:rPr lang="en-US" sz="820" dirty="0">
                  <a:solidFill>
                    <a:srgbClr val="C2410C"/>
                  </a:solidFill>
                  <a:latin typeface="+mn-lt"/>
                  <a:ea typeface="+mn-ea"/>
                  <a:cs typeface="+mn-cs"/>
                </a:rPr>
                <a:t>T</a:t>
              </a:r>
            </a:p>
          </p:txBody>
        </p:sp>
        <p:sp>
          <p:nvSpPr>
            <p:cNvPr id="38" name="Rectangle 38"/>
            <p:cNvSpPr/>
            <p:nvPr/>
          </p:nvSpPr>
          <p:spPr>
            <a:xfrm>
              <a:off x="2630805" y="3656648"/>
              <a:ext cx="133350" cy="146685"/>
            </a:xfrm>
            <a:prstGeom prst="roundRect">
              <a:avLst>
                <a:gd name="adj" fmla="val 28571"/>
              </a:avLst>
            </a:prstGeom>
            <a:solidFill>
              <a:srgbClr val="FFFFFF"/>
            </a:solidFill>
            <a:ln>
              <a:noFill/>
            </a:ln>
          </p:spPr>
        </p:sp>
        <p:sp>
          <p:nvSpPr>
            <p:cNvPr id="39" name="TextBox 39"/>
            <p:cNvSpPr txBox="1"/>
            <p:nvPr/>
          </p:nvSpPr>
          <p:spPr>
            <a:xfrm>
              <a:off x="2660642" y="3686651"/>
              <a:ext cx="73675" cy="161925"/>
            </a:xfrm>
            <a:prstGeom prst="rect">
              <a:avLst/>
            </a:prstGeom>
            <a:noFill/>
            <a:ln>
              <a:noFill/>
            </a:ln>
          </p:spPr>
          <p:txBody>
            <a:bodyPr wrap="none" lIns="0" tIns="0" rIns="0" bIns="0" anchor="t" anchorCtr="0">
              <a:spAutoFit/>
            </a:bodyPr>
            <a:lstStyle/>
            <a:p>
              <a:pPr algn="ctr"/>
              <a:r>
                <a:rPr lang="en-US" sz="820" dirty="0">
                  <a:solidFill>
                    <a:srgbClr val="C2410C"/>
                  </a:solidFill>
                  <a:latin typeface="+mn-lt"/>
                  <a:ea typeface="+mn-ea"/>
                  <a:cs typeface="+mn-cs"/>
                </a:rPr>
                <a:t>F</a:t>
              </a:r>
            </a:p>
          </p:txBody>
        </p:sp>
      </p:grpSp>
      <p:grpSp>
        <p:nvGrpSpPr>
          <p:cNvPr id="42" name="c1-text-3"/>
          <p:cNvGrpSpPr/>
          <p:nvPr/>
        </p:nvGrpSpPr>
        <p:grpSpPr>
          <a:xfrm>
            <a:off x="526923" y="4970621"/>
            <a:ext cx="2791267" cy="249364"/>
            <a:chOff x="526923" y="4970621"/>
            <a:chExt cx="2791267" cy="249364"/>
          </a:xfrm>
        </p:grpSpPr>
        <p:sp>
          <p:nvSpPr>
            <p:cNvPr id="41" name="TextBox 41"/>
            <p:cNvSpPr txBox="1"/>
            <p:nvPr/>
          </p:nvSpPr>
          <p:spPr>
            <a:xfrm>
              <a:off x="526923" y="4970621"/>
              <a:ext cx="279126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N=5，E=6，判定结点 2 个，V(G)=3</a:t>
              </a:r>
            </a:p>
          </p:txBody>
        </p:sp>
      </p:grpSp>
      <p:grpSp>
        <p:nvGrpSpPr>
          <p:cNvPr id="44" name="c2-text-1"/>
          <p:cNvGrpSpPr/>
          <p:nvPr/>
        </p:nvGrpSpPr>
        <p:grpSpPr>
          <a:xfrm>
            <a:off x="6241923" y="1988344"/>
            <a:ext cx="2663273" cy="249364"/>
            <a:chOff x="6241923" y="1988344"/>
            <a:chExt cx="2663273" cy="249364"/>
          </a:xfrm>
        </p:grpSpPr>
        <p:sp>
          <p:nvSpPr>
            <p:cNvPr id="43" name="TextBox 43"/>
            <p:cNvSpPr txBox="1"/>
            <p:nvPr/>
          </p:nvSpPr>
          <p:spPr>
            <a:xfrm>
              <a:off x="6241923" y="1988344"/>
              <a:ext cx="2663273" cy="249364"/>
            </a:xfrm>
            <a:prstGeom prst="rect">
              <a:avLst/>
            </a:prstGeom>
            <a:noFill/>
            <a:ln>
              <a:noFill/>
            </a:ln>
          </p:spPr>
          <p:txBody>
            <a:bodyPr wrap="none" lIns="0" tIns="0" rIns="0" bIns="0" anchor="t" anchorCtr="0">
              <a:spAutoFit/>
            </a:bodyPr>
            <a:lstStyle/>
            <a:p>
              <a:pPr algn="l"/>
              <a:r>
                <a:rPr lang="en-US" sz="1280" b="1" dirty="0">
                  <a:solidFill>
                    <a:srgbClr val="334E68"/>
                  </a:solidFill>
                  <a:latin typeface="+mn-lt"/>
                  <a:ea typeface="+mn-ea"/>
                  <a:cs typeface="+mn-cs"/>
                </a:rPr>
                <a:t>IF a AND b THEN x ELSE y ENDIF</a:t>
              </a:r>
            </a:p>
          </p:txBody>
        </p:sp>
      </p:grpSp>
      <p:grpSp>
        <p:nvGrpSpPr>
          <p:cNvPr id="74" name="c2-graph-2"/>
          <p:cNvGrpSpPr/>
          <p:nvPr/>
        </p:nvGrpSpPr>
        <p:grpSpPr>
          <a:xfrm>
            <a:off x="6518910" y="2559368"/>
            <a:ext cx="4604385" cy="1685924"/>
            <a:chOff x="6518910" y="2559368"/>
            <a:chExt cx="4604385" cy="1685924"/>
          </a:xfrm>
        </p:grpSpPr>
        <p:sp>
          <p:nvSpPr>
            <p:cNvPr id="45" name="Freeform 45"/>
            <p:cNvSpPr/>
            <p:nvPr/>
          </p:nvSpPr>
          <p:spPr>
            <a:xfrm>
              <a:off x="7370445" y="2776538"/>
              <a:ext cx="914400" cy="402908"/>
            </a:xfrm>
            <a:custGeom>
              <a:avLst/>
              <a:gdLst/>
              <a:ahLst/>
              <a:cxnLst/>
              <a:rect l="l" t="t" r="r" b="b"/>
              <a:pathLst>
                <a:path w="914400" h="402908">
                  <a:moveTo>
                    <a:pt x="0" y="0"/>
                  </a:moveTo>
                  <a:lnTo>
                    <a:pt x="914400" y="402908"/>
                  </a:lnTo>
                </a:path>
              </a:pathLst>
            </a:custGeom>
            <a:noFill/>
            <a:ln w="17145">
              <a:solidFill>
                <a:srgbClr val="1F2937"/>
              </a:solidFill>
            </a:ln>
          </p:spPr>
        </p:sp>
        <p:sp>
          <p:nvSpPr>
            <p:cNvPr id="46" name="Freeform 46"/>
            <p:cNvSpPr/>
            <p:nvPr/>
          </p:nvSpPr>
          <p:spPr>
            <a:xfrm>
              <a:off x="8265795" y="3135630"/>
              <a:ext cx="106680" cy="87630"/>
            </a:xfrm>
            <a:custGeom>
              <a:avLst/>
              <a:gdLst/>
              <a:ahLst/>
              <a:cxnLst/>
              <a:rect l="l" t="t" r="r" b="b"/>
              <a:pathLst>
                <a:path w="106680" h="87630">
                  <a:moveTo>
                    <a:pt x="106680" y="81915"/>
                  </a:moveTo>
                  <a:lnTo>
                    <a:pt x="0" y="87630"/>
                  </a:lnTo>
                  <a:lnTo>
                    <a:pt x="39053" y="0"/>
                  </a:lnTo>
                  <a:close/>
                </a:path>
              </a:pathLst>
            </a:custGeom>
            <a:solidFill>
              <a:srgbClr val="1F2937"/>
            </a:solidFill>
            <a:ln>
              <a:noFill/>
            </a:ln>
          </p:spPr>
        </p:sp>
        <p:sp>
          <p:nvSpPr>
            <p:cNvPr id="47" name="Freeform 47"/>
            <p:cNvSpPr/>
            <p:nvPr/>
          </p:nvSpPr>
          <p:spPr>
            <a:xfrm>
              <a:off x="6518910" y="2711768"/>
              <a:ext cx="2177415" cy="1381125"/>
            </a:xfrm>
            <a:custGeom>
              <a:avLst/>
              <a:gdLst/>
              <a:ahLst/>
              <a:cxnLst/>
              <a:rect l="l" t="t" r="r" b="b"/>
              <a:pathLst>
                <a:path w="2177415" h="1381125">
                  <a:moveTo>
                    <a:pt x="541020" y="0"/>
                  </a:moveTo>
                  <a:lnTo>
                    <a:pt x="0" y="1381125"/>
                  </a:lnTo>
                  <a:lnTo>
                    <a:pt x="2177415" y="1381125"/>
                  </a:lnTo>
                </a:path>
              </a:pathLst>
            </a:custGeom>
            <a:noFill/>
            <a:ln w="17145">
              <a:solidFill>
                <a:srgbClr val="1F2937"/>
              </a:solidFill>
            </a:ln>
          </p:spPr>
        </p:sp>
        <p:sp>
          <p:nvSpPr>
            <p:cNvPr id="48" name="Freeform 48"/>
            <p:cNvSpPr/>
            <p:nvPr/>
          </p:nvSpPr>
          <p:spPr>
            <a:xfrm>
              <a:off x="8696325" y="4045268"/>
              <a:ext cx="95250" cy="95250"/>
            </a:xfrm>
            <a:custGeom>
              <a:avLst/>
              <a:gdLst/>
              <a:ahLst/>
              <a:cxnLst/>
              <a:rect l="l" t="t" r="r" b="b"/>
              <a:pathLst>
                <a:path w="95250" h="95250">
                  <a:moveTo>
                    <a:pt x="95250" y="47625"/>
                  </a:moveTo>
                  <a:lnTo>
                    <a:pt x="0" y="95250"/>
                  </a:lnTo>
                  <a:lnTo>
                    <a:pt x="0" y="0"/>
                  </a:lnTo>
                  <a:close/>
                </a:path>
              </a:pathLst>
            </a:custGeom>
            <a:solidFill>
              <a:srgbClr val="1F2937"/>
            </a:solidFill>
            <a:ln>
              <a:noFill/>
            </a:ln>
          </p:spPr>
        </p:sp>
        <p:sp>
          <p:nvSpPr>
            <p:cNvPr id="49" name="Freeform 49"/>
            <p:cNvSpPr/>
            <p:nvPr/>
          </p:nvSpPr>
          <p:spPr>
            <a:xfrm>
              <a:off x="8668702" y="2815590"/>
              <a:ext cx="915353" cy="401955"/>
            </a:xfrm>
            <a:custGeom>
              <a:avLst/>
              <a:gdLst/>
              <a:ahLst/>
              <a:cxnLst/>
              <a:rect l="l" t="t" r="r" b="b"/>
              <a:pathLst>
                <a:path w="915353" h="401955">
                  <a:moveTo>
                    <a:pt x="0" y="401955"/>
                  </a:moveTo>
                  <a:lnTo>
                    <a:pt x="915353" y="0"/>
                  </a:lnTo>
                </a:path>
              </a:pathLst>
            </a:custGeom>
            <a:noFill/>
            <a:ln w="17145">
              <a:solidFill>
                <a:srgbClr val="1F2937"/>
              </a:solidFill>
            </a:ln>
          </p:spPr>
        </p:sp>
        <p:sp>
          <p:nvSpPr>
            <p:cNvPr id="50" name="Freeform 50"/>
            <p:cNvSpPr/>
            <p:nvPr/>
          </p:nvSpPr>
          <p:spPr>
            <a:xfrm>
              <a:off x="9565005" y="2771775"/>
              <a:ext cx="105727" cy="86678"/>
            </a:xfrm>
            <a:custGeom>
              <a:avLst/>
              <a:gdLst/>
              <a:ahLst/>
              <a:cxnLst/>
              <a:rect l="l" t="t" r="r" b="b"/>
              <a:pathLst>
                <a:path w="105727" h="86678">
                  <a:moveTo>
                    <a:pt x="105727" y="4762"/>
                  </a:moveTo>
                  <a:lnTo>
                    <a:pt x="38100" y="86678"/>
                  </a:lnTo>
                  <a:lnTo>
                    <a:pt x="0" y="0"/>
                  </a:lnTo>
                  <a:close/>
                </a:path>
              </a:pathLst>
            </a:custGeom>
            <a:solidFill>
              <a:srgbClr val="1F2937"/>
            </a:solidFill>
            <a:ln>
              <a:noFill/>
            </a:ln>
          </p:spPr>
        </p:sp>
        <p:sp>
          <p:nvSpPr>
            <p:cNvPr id="51" name="Freeform 51"/>
            <p:cNvSpPr/>
            <p:nvPr/>
          </p:nvSpPr>
          <p:spPr>
            <a:xfrm>
              <a:off x="8597265" y="3426142"/>
              <a:ext cx="235267" cy="440055"/>
            </a:xfrm>
            <a:custGeom>
              <a:avLst/>
              <a:gdLst/>
              <a:ahLst/>
              <a:cxnLst/>
              <a:rect l="l" t="t" r="r" b="b"/>
              <a:pathLst>
                <a:path w="235267" h="440055">
                  <a:moveTo>
                    <a:pt x="0" y="0"/>
                  </a:moveTo>
                  <a:lnTo>
                    <a:pt x="235267" y="440055"/>
                  </a:lnTo>
                </a:path>
              </a:pathLst>
            </a:custGeom>
            <a:noFill/>
            <a:ln w="17145">
              <a:solidFill>
                <a:srgbClr val="1F2937"/>
              </a:solidFill>
            </a:ln>
          </p:spPr>
        </p:sp>
        <p:sp>
          <p:nvSpPr>
            <p:cNvPr id="52" name="Freeform 52"/>
            <p:cNvSpPr/>
            <p:nvPr/>
          </p:nvSpPr>
          <p:spPr>
            <a:xfrm>
              <a:off x="8790622" y="3843338"/>
              <a:ext cx="86678" cy="106680"/>
            </a:xfrm>
            <a:custGeom>
              <a:avLst/>
              <a:gdLst/>
              <a:ahLst/>
              <a:cxnLst/>
              <a:rect l="l" t="t" r="r" b="b"/>
              <a:pathLst>
                <a:path w="86678" h="106680">
                  <a:moveTo>
                    <a:pt x="86678" y="106680"/>
                  </a:moveTo>
                  <a:lnTo>
                    <a:pt x="0" y="44767"/>
                  </a:lnTo>
                  <a:lnTo>
                    <a:pt x="83820" y="0"/>
                  </a:lnTo>
                  <a:close/>
                </a:path>
              </a:pathLst>
            </a:custGeom>
            <a:solidFill>
              <a:srgbClr val="1F2937"/>
            </a:solidFill>
            <a:ln>
              <a:noFill/>
            </a:ln>
          </p:spPr>
        </p:sp>
        <p:sp>
          <p:nvSpPr>
            <p:cNvPr id="53" name="Freeform 53"/>
            <p:cNvSpPr/>
            <p:nvPr/>
          </p:nvSpPr>
          <p:spPr>
            <a:xfrm>
              <a:off x="9960292" y="2790825"/>
              <a:ext cx="858202" cy="480060"/>
            </a:xfrm>
            <a:custGeom>
              <a:avLst/>
              <a:gdLst/>
              <a:ahLst/>
              <a:cxnLst/>
              <a:rect l="l" t="t" r="r" b="b"/>
              <a:pathLst>
                <a:path w="858202" h="480060">
                  <a:moveTo>
                    <a:pt x="0" y="0"/>
                  </a:moveTo>
                  <a:lnTo>
                    <a:pt x="858202" y="480060"/>
                  </a:lnTo>
                </a:path>
              </a:pathLst>
            </a:custGeom>
            <a:noFill/>
            <a:ln w="17145">
              <a:solidFill>
                <a:srgbClr val="1F2937"/>
              </a:solidFill>
            </a:ln>
          </p:spPr>
        </p:sp>
        <p:sp>
          <p:nvSpPr>
            <p:cNvPr id="54" name="Freeform 54"/>
            <p:cNvSpPr/>
            <p:nvPr/>
          </p:nvSpPr>
          <p:spPr>
            <a:xfrm>
              <a:off x="10794682" y="3229928"/>
              <a:ext cx="106680" cy="87630"/>
            </a:xfrm>
            <a:custGeom>
              <a:avLst/>
              <a:gdLst/>
              <a:ahLst/>
              <a:cxnLst/>
              <a:rect l="l" t="t" r="r" b="b"/>
              <a:pathLst>
                <a:path w="106680" h="87630">
                  <a:moveTo>
                    <a:pt x="106680" y="87630"/>
                  </a:moveTo>
                  <a:lnTo>
                    <a:pt x="0" y="82867"/>
                  </a:lnTo>
                  <a:lnTo>
                    <a:pt x="46673" y="0"/>
                  </a:lnTo>
                  <a:close/>
                </a:path>
              </a:pathLst>
            </a:custGeom>
            <a:solidFill>
              <a:srgbClr val="1F2937"/>
            </a:solidFill>
            <a:ln>
              <a:noFill/>
            </a:ln>
          </p:spPr>
        </p:sp>
        <p:sp>
          <p:nvSpPr>
            <p:cNvPr id="55" name="Freeform 55"/>
            <p:cNvSpPr/>
            <p:nvPr/>
          </p:nvSpPr>
          <p:spPr>
            <a:xfrm>
              <a:off x="9106852" y="3449955"/>
              <a:ext cx="1695450" cy="589598"/>
            </a:xfrm>
            <a:custGeom>
              <a:avLst/>
              <a:gdLst/>
              <a:ahLst/>
              <a:cxnLst/>
              <a:rect l="l" t="t" r="r" b="b"/>
              <a:pathLst>
                <a:path w="1695450" h="589598">
                  <a:moveTo>
                    <a:pt x="0" y="589598"/>
                  </a:moveTo>
                  <a:lnTo>
                    <a:pt x="1695450" y="0"/>
                  </a:lnTo>
                </a:path>
              </a:pathLst>
            </a:custGeom>
            <a:noFill/>
            <a:ln w="17145">
              <a:solidFill>
                <a:srgbClr val="1F2937"/>
              </a:solidFill>
            </a:ln>
          </p:spPr>
        </p:sp>
        <p:sp>
          <p:nvSpPr>
            <p:cNvPr id="56" name="Freeform 56"/>
            <p:cNvSpPr/>
            <p:nvPr/>
          </p:nvSpPr>
          <p:spPr>
            <a:xfrm>
              <a:off x="10787062" y="3405188"/>
              <a:ext cx="105727" cy="90488"/>
            </a:xfrm>
            <a:custGeom>
              <a:avLst/>
              <a:gdLst/>
              <a:ahLst/>
              <a:cxnLst/>
              <a:rect l="l" t="t" r="r" b="b"/>
              <a:pathLst>
                <a:path w="105727" h="90488">
                  <a:moveTo>
                    <a:pt x="105727" y="13335"/>
                  </a:moveTo>
                  <a:lnTo>
                    <a:pt x="31432" y="90488"/>
                  </a:lnTo>
                  <a:lnTo>
                    <a:pt x="0" y="0"/>
                  </a:lnTo>
                  <a:close/>
                </a:path>
              </a:pathLst>
            </a:custGeom>
            <a:solidFill>
              <a:srgbClr val="1F2937"/>
            </a:solidFill>
            <a:ln>
              <a:noFill/>
            </a:ln>
          </p:spPr>
        </p:sp>
        <p:sp>
          <p:nvSpPr>
            <p:cNvPr id="57" name="Ellipse 57"/>
            <p:cNvSpPr/>
            <p:nvPr/>
          </p:nvSpPr>
          <p:spPr>
            <a:xfrm>
              <a:off x="7069455" y="2559368"/>
              <a:ext cx="304800" cy="304800"/>
            </a:xfrm>
            <a:prstGeom prst="ellipse">
              <a:avLst/>
            </a:prstGeom>
            <a:solidFill>
              <a:srgbClr val="FFFFFF"/>
            </a:solidFill>
            <a:ln w="17145">
              <a:solidFill>
                <a:srgbClr val="334E68"/>
              </a:solidFill>
            </a:ln>
          </p:spPr>
        </p:sp>
        <p:sp>
          <p:nvSpPr>
            <p:cNvPr id="58" name="Ellipse 58"/>
            <p:cNvSpPr/>
            <p:nvPr/>
          </p:nvSpPr>
          <p:spPr>
            <a:xfrm>
              <a:off x="8368665" y="3130868"/>
              <a:ext cx="304800" cy="304800"/>
            </a:xfrm>
            <a:prstGeom prst="ellipse">
              <a:avLst/>
            </a:prstGeom>
            <a:solidFill>
              <a:srgbClr val="FFFFFF"/>
            </a:solidFill>
            <a:ln w="17145">
              <a:solidFill>
                <a:srgbClr val="334E68"/>
              </a:solidFill>
            </a:ln>
          </p:spPr>
        </p:sp>
        <p:sp>
          <p:nvSpPr>
            <p:cNvPr id="59" name="Ellipse 59"/>
            <p:cNvSpPr/>
            <p:nvPr/>
          </p:nvSpPr>
          <p:spPr>
            <a:xfrm>
              <a:off x="9666922" y="2559368"/>
              <a:ext cx="304800" cy="304800"/>
            </a:xfrm>
            <a:prstGeom prst="ellipse">
              <a:avLst/>
            </a:prstGeom>
            <a:solidFill>
              <a:srgbClr val="FFFFFF"/>
            </a:solidFill>
            <a:ln w="17145">
              <a:solidFill>
                <a:srgbClr val="334E68"/>
              </a:solidFill>
            </a:ln>
          </p:spPr>
        </p:sp>
        <p:sp>
          <p:nvSpPr>
            <p:cNvPr id="60" name="Ellipse 60"/>
            <p:cNvSpPr/>
            <p:nvPr/>
          </p:nvSpPr>
          <p:spPr>
            <a:xfrm>
              <a:off x="8801100" y="3940492"/>
              <a:ext cx="304800" cy="304800"/>
            </a:xfrm>
            <a:prstGeom prst="ellipse">
              <a:avLst/>
            </a:prstGeom>
            <a:solidFill>
              <a:srgbClr val="FFFFFF"/>
            </a:solidFill>
            <a:ln w="17145">
              <a:solidFill>
                <a:srgbClr val="334E68"/>
              </a:solidFill>
            </a:ln>
          </p:spPr>
        </p:sp>
        <p:sp>
          <p:nvSpPr>
            <p:cNvPr id="61" name="Ellipse 61"/>
            <p:cNvSpPr/>
            <p:nvPr/>
          </p:nvSpPr>
          <p:spPr>
            <a:xfrm>
              <a:off x="10894695" y="3264218"/>
              <a:ext cx="228600" cy="228600"/>
            </a:xfrm>
            <a:prstGeom prst="ellipse">
              <a:avLst/>
            </a:prstGeom>
            <a:solidFill>
              <a:srgbClr val="FFFFFF"/>
            </a:solidFill>
            <a:ln w="17145">
              <a:solidFill>
                <a:srgbClr val="334E68"/>
              </a:solidFill>
            </a:ln>
          </p:spPr>
        </p:sp>
        <p:sp>
          <p:nvSpPr>
            <p:cNvPr id="62" name="TextBox 62"/>
            <p:cNvSpPr txBox="1"/>
            <p:nvPr/>
          </p:nvSpPr>
          <p:spPr>
            <a:xfrm>
              <a:off x="7175706" y="2646045"/>
              <a:ext cx="92298"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a</a:t>
              </a:r>
            </a:p>
          </p:txBody>
        </p:sp>
        <p:sp>
          <p:nvSpPr>
            <p:cNvPr id="63" name="TextBox 63"/>
            <p:cNvSpPr txBox="1"/>
            <p:nvPr/>
          </p:nvSpPr>
          <p:spPr>
            <a:xfrm>
              <a:off x="8474916" y="3217545"/>
              <a:ext cx="92298"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b</a:t>
              </a:r>
            </a:p>
          </p:txBody>
        </p:sp>
        <p:sp>
          <p:nvSpPr>
            <p:cNvPr id="64" name="TextBox 64"/>
            <p:cNvSpPr txBox="1"/>
            <p:nvPr/>
          </p:nvSpPr>
          <p:spPr>
            <a:xfrm>
              <a:off x="9773173" y="2646045"/>
              <a:ext cx="92298"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x</a:t>
              </a:r>
            </a:p>
          </p:txBody>
        </p:sp>
        <p:sp>
          <p:nvSpPr>
            <p:cNvPr id="65" name="TextBox 65"/>
            <p:cNvSpPr txBox="1"/>
            <p:nvPr/>
          </p:nvSpPr>
          <p:spPr>
            <a:xfrm>
              <a:off x="8907351" y="4027170"/>
              <a:ext cx="92298" cy="205359"/>
            </a:xfrm>
            <a:prstGeom prst="rect">
              <a:avLst/>
            </a:prstGeom>
            <a:noFill/>
            <a:ln>
              <a:noFill/>
            </a:ln>
          </p:spPr>
          <p:txBody>
            <a:bodyPr wrap="none" lIns="0" tIns="0" rIns="0" bIns="0" anchor="t" anchorCtr="0">
              <a:spAutoFit/>
            </a:bodyPr>
            <a:lstStyle/>
            <a:p>
              <a:pPr algn="ctr"/>
              <a:r>
                <a:rPr lang="en-US" sz="1050" b="1" dirty="0">
                  <a:solidFill>
                    <a:srgbClr val="1F2937"/>
                  </a:solidFill>
                  <a:latin typeface="+mn-lt"/>
                  <a:ea typeface="+mn-ea"/>
                  <a:cs typeface="+mn-cs"/>
                </a:rPr>
                <a:t>y</a:t>
              </a:r>
            </a:p>
          </p:txBody>
        </p:sp>
        <p:sp>
          <p:nvSpPr>
            <p:cNvPr id="66" name="Rectangle 66"/>
            <p:cNvSpPr/>
            <p:nvPr/>
          </p:nvSpPr>
          <p:spPr>
            <a:xfrm>
              <a:off x="7804785" y="2918460"/>
              <a:ext cx="133350" cy="146685"/>
            </a:xfrm>
            <a:prstGeom prst="roundRect">
              <a:avLst>
                <a:gd name="adj" fmla="val 28571"/>
              </a:avLst>
            </a:prstGeom>
            <a:solidFill>
              <a:srgbClr val="FFFFFF"/>
            </a:solidFill>
            <a:ln>
              <a:noFill/>
            </a:ln>
          </p:spPr>
        </p:sp>
        <p:sp>
          <p:nvSpPr>
            <p:cNvPr id="67" name="TextBox 67"/>
            <p:cNvSpPr txBox="1"/>
            <p:nvPr/>
          </p:nvSpPr>
          <p:spPr>
            <a:xfrm>
              <a:off x="7834622" y="2948464"/>
              <a:ext cx="73675" cy="161925"/>
            </a:xfrm>
            <a:prstGeom prst="rect">
              <a:avLst/>
            </a:prstGeom>
            <a:noFill/>
            <a:ln>
              <a:noFill/>
            </a:ln>
          </p:spPr>
          <p:txBody>
            <a:bodyPr wrap="none" lIns="0" tIns="0" rIns="0" bIns="0" anchor="t" anchorCtr="0">
              <a:spAutoFit/>
            </a:bodyPr>
            <a:lstStyle/>
            <a:p>
              <a:pPr algn="ctr"/>
              <a:r>
                <a:rPr lang="en-US" sz="820" dirty="0">
                  <a:solidFill>
                    <a:srgbClr val="C2410C"/>
                  </a:solidFill>
                  <a:latin typeface="+mn-lt"/>
                  <a:ea typeface="+mn-ea"/>
                  <a:cs typeface="+mn-cs"/>
                </a:rPr>
                <a:t>T</a:t>
              </a:r>
            </a:p>
          </p:txBody>
        </p:sp>
        <p:sp>
          <p:nvSpPr>
            <p:cNvPr id="68" name="Rectangle 68"/>
            <p:cNvSpPr/>
            <p:nvPr/>
          </p:nvSpPr>
          <p:spPr>
            <a:xfrm>
              <a:off x="7588568" y="4013835"/>
              <a:ext cx="133350" cy="146685"/>
            </a:xfrm>
            <a:prstGeom prst="roundRect">
              <a:avLst>
                <a:gd name="adj" fmla="val 28571"/>
              </a:avLst>
            </a:prstGeom>
            <a:solidFill>
              <a:srgbClr val="FFFFFF"/>
            </a:solidFill>
            <a:ln>
              <a:noFill/>
            </a:ln>
          </p:spPr>
        </p:sp>
        <p:sp>
          <p:nvSpPr>
            <p:cNvPr id="69" name="TextBox 69"/>
            <p:cNvSpPr txBox="1"/>
            <p:nvPr/>
          </p:nvSpPr>
          <p:spPr>
            <a:xfrm>
              <a:off x="7618405" y="4043839"/>
              <a:ext cx="73675" cy="161925"/>
            </a:xfrm>
            <a:prstGeom prst="rect">
              <a:avLst/>
            </a:prstGeom>
            <a:noFill/>
            <a:ln>
              <a:noFill/>
            </a:ln>
          </p:spPr>
          <p:txBody>
            <a:bodyPr wrap="none" lIns="0" tIns="0" rIns="0" bIns="0" anchor="t" anchorCtr="0">
              <a:spAutoFit/>
            </a:bodyPr>
            <a:lstStyle/>
            <a:p>
              <a:pPr algn="ctr"/>
              <a:r>
                <a:rPr lang="en-US" sz="820" dirty="0">
                  <a:solidFill>
                    <a:srgbClr val="C2410C"/>
                  </a:solidFill>
                  <a:latin typeface="+mn-lt"/>
                  <a:ea typeface="+mn-ea"/>
                  <a:cs typeface="+mn-cs"/>
                </a:rPr>
                <a:t>F</a:t>
              </a:r>
            </a:p>
          </p:txBody>
        </p:sp>
        <p:sp>
          <p:nvSpPr>
            <p:cNvPr id="70" name="Rectangle 70"/>
            <p:cNvSpPr/>
            <p:nvPr/>
          </p:nvSpPr>
          <p:spPr>
            <a:xfrm>
              <a:off x="9103042" y="2918460"/>
              <a:ext cx="133350" cy="146685"/>
            </a:xfrm>
            <a:prstGeom prst="roundRect">
              <a:avLst>
                <a:gd name="adj" fmla="val 28571"/>
              </a:avLst>
            </a:prstGeom>
            <a:solidFill>
              <a:srgbClr val="FFFFFF"/>
            </a:solidFill>
            <a:ln>
              <a:noFill/>
            </a:ln>
          </p:spPr>
        </p:sp>
        <p:sp>
          <p:nvSpPr>
            <p:cNvPr id="71" name="TextBox 71"/>
            <p:cNvSpPr txBox="1"/>
            <p:nvPr/>
          </p:nvSpPr>
          <p:spPr>
            <a:xfrm>
              <a:off x="9132880" y="2948464"/>
              <a:ext cx="73675" cy="161925"/>
            </a:xfrm>
            <a:prstGeom prst="rect">
              <a:avLst/>
            </a:prstGeom>
            <a:noFill/>
            <a:ln>
              <a:noFill/>
            </a:ln>
          </p:spPr>
          <p:txBody>
            <a:bodyPr wrap="none" lIns="0" tIns="0" rIns="0" bIns="0" anchor="t" anchorCtr="0">
              <a:spAutoFit/>
            </a:bodyPr>
            <a:lstStyle/>
            <a:p>
              <a:pPr algn="ctr"/>
              <a:r>
                <a:rPr lang="en-US" sz="820" dirty="0">
                  <a:solidFill>
                    <a:srgbClr val="C2410C"/>
                  </a:solidFill>
                  <a:latin typeface="+mn-lt"/>
                  <a:ea typeface="+mn-ea"/>
                  <a:cs typeface="+mn-cs"/>
                </a:rPr>
                <a:t>T</a:t>
              </a:r>
            </a:p>
          </p:txBody>
        </p:sp>
        <p:sp>
          <p:nvSpPr>
            <p:cNvPr id="72" name="Rectangle 72"/>
            <p:cNvSpPr/>
            <p:nvPr/>
          </p:nvSpPr>
          <p:spPr>
            <a:xfrm>
              <a:off x="8670608" y="3609022"/>
              <a:ext cx="133350" cy="146685"/>
            </a:xfrm>
            <a:prstGeom prst="roundRect">
              <a:avLst>
                <a:gd name="adj" fmla="val 28571"/>
              </a:avLst>
            </a:prstGeom>
            <a:solidFill>
              <a:srgbClr val="FFFFFF"/>
            </a:solidFill>
            <a:ln>
              <a:noFill/>
            </a:ln>
          </p:spPr>
        </p:sp>
        <p:sp>
          <p:nvSpPr>
            <p:cNvPr id="73" name="TextBox 73"/>
            <p:cNvSpPr txBox="1"/>
            <p:nvPr/>
          </p:nvSpPr>
          <p:spPr>
            <a:xfrm>
              <a:off x="8700445" y="3639026"/>
              <a:ext cx="73675" cy="161925"/>
            </a:xfrm>
            <a:prstGeom prst="rect">
              <a:avLst/>
            </a:prstGeom>
            <a:noFill/>
            <a:ln>
              <a:noFill/>
            </a:ln>
          </p:spPr>
          <p:txBody>
            <a:bodyPr wrap="none" lIns="0" tIns="0" rIns="0" bIns="0" anchor="t" anchorCtr="0">
              <a:spAutoFit/>
            </a:bodyPr>
            <a:lstStyle/>
            <a:p>
              <a:pPr algn="ctr"/>
              <a:r>
                <a:rPr lang="en-US" sz="820" dirty="0">
                  <a:solidFill>
                    <a:srgbClr val="C2410C"/>
                  </a:solidFill>
                  <a:latin typeface="+mn-lt"/>
                  <a:ea typeface="+mn-ea"/>
                  <a:cs typeface="+mn-cs"/>
                </a:rPr>
                <a:t>F</a:t>
              </a:r>
            </a:p>
          </p:txBody>
        </p:sp>
      </p:grpSp>
      <p:grpSp>
        <p:nvGrpSpPr>
          <p:cNvPr id="76" name="c2-text-3"/>
          <p:cNvGrpSpPr/>
          <p:nvPr/>
        </p:nvGrpSpPr>
        <p:grpSpPr>
          <a:xfrm>
            <a:off x="6241923" y="4970621"/>
            <a:ext cx="1958472" cy="249364"/>
            <a:chOff x="6241923" y="4970621"/>
            <a:chExt cx="1958472" cy="249364"/>
          </a:xfrm>
        </p:grpSpPr>
        <p:sp>
          <p:nvSpPr>
            <p:cNvPr id="75" name="TextBox 75"/>
            <p:cNvSpPr txBox="1"/>
            <p:nvPr/>
          </p:nvSpPr>
          <p:spPr>
            <a:xfrm>
              <a:off x="6241923" y="4970621"/>
              <a:ext cx="195847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同样 N=5，E=6，V(G)=3</a:t>
              </a:r>
            </a:p>
          </p:txBody>
        </p:sp>
      </p:grpSp>
      <p:grpSp>
        <p:nvGrpSpPr>
          <p:cNvPr id="83" name="takeaway"/>
          <p:cNvGrpSpPr/>
          <p:nvPr/>
        </p:nvGrpSpPr>
        <p:grpSpPr>
          <a:xfrm>
            <a:off x="533400" y="5829300"/>
            <a:ext cx="11125200" cy="533400"/>
            <a:chOff x="533400" y="5829300"/>
            <a:chExt cx="11125200" cy="533400"/>
          </a:xfrm>
        </p:grpSpPr>
        <p:sp>
          <p:nvSpPr>
            <p:cNvPr id="77" name="Rectangle 77"/>
            <p:cNvSpPr/>
            <p:nvPr/>
          </p:nvSpPr>
          <p:spPr>
            <a:xfrm>
              <a:off x="533400" y="5829300"/>
              <a:ext cx="11125200" cy="533400"/>
            </a:xfrm>
            <a:prstGeom prst="roundRect">
              <a:avLst>
                <a:gd name="adj" fmla="val 21429"/>
              </a:avLst>
            </a:prstGeom>
            <a:solidFill>
              <a:srgbClr val="FDECEA"/>
            </a:solidFill>
            <a:ln>
              <a:noFill/>
            </a:ln>
          </p:spPr>
        </p:sp>
        <p:grpSp>
          <p:nvGrpSpPr>
            <p:cNvPr id="81" name="Group 81"/>
            <p:cNvGrpSpPr/>
            <p:nvPr/>
          </p:nvGrpSpPr>
          <p:grpSpPr>
            <a:xfrm>
              <a:off x="726129" y="5992296"/>
              <a:ext cx="224134" cy="192560"/>
              <a:chOff x="726129" y="5992296"/>
              <a:chExt cx="224134" cy="192560"/>
            </a:xfrm>
          </p:grpSpPr>
          <p:sp>
            <p:nvSpPr>
              <p:cNvPr id="78" name="Freeform 78"/>
              <p:cNvSpPr/>
              <p:nvPr/>
            </p:nvSpPr>
            <p:spPr>
              <a:xfrm>
                <a:off x="838200" y="606266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79" name="Freeform 79"/>
              <p:cNvSpPr/>
              <p:nvPr/>
            </p:nvSpPr>
            <p:spPr>
              <a:xfrm>
                <a:off x="726129" y="599229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80" name="Freeform 80"/>
              <p:cNvSpPr/>
              <p:nvPr/>
            </p:nvSpPr>
            <p:spPr>
              <a:xfrm>
                <a:off x="838200" y="614045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82" name="TextBox 82"/>
            <p:cNvSpPr txBox="1"/>
            <p:nvPr/>
          </p:nvSpPr>
          <p:spPr>
            <a:xfrm>
              <a:off x="1040130" y="5991225"/>
              <a:ext cx="7490460" cy="293370"/>
            </a:xfrm>
            <a:prstGeom prst="rect">
              <a:avLst/>
            </a:prstGeom>
            <a:noFill/>
            <a:ln>
              <a:noFill/>
            </a:ln>
          </p:spPr>
          <p:txBody>
            <a:bodyPr wrap="none" lIns="0" tIns="0" rIns="0" bIns="0" anchor="t" anchorCtr="0">
              <a:spAutoFit/>
            </a:bodyPr>
            <a:lstStyle/>
            <a:p>
              <a:pPr algn="l"/>
              <a:r>
                <a:rPr lang="zh-CN" sz="1500" dirty="0">
                  <a:solidFill>
                    <a:srgbClr val="B42318"/>
                  </a:solidFill>
                  <a:latin typeface="+mn-lt"/>
                  <a:ea typeface="+mn-ea"/>
                  <a:cs typeface="+mn-cs"/>
                </a:rPr>
                <a:t>不拆复合条件会把这两张图都算成 V(G)=2。判定结点数 P 数的是简单条件的个数。</a:t>
              </a:r>
            </a:p>
          </p:txBody>
        </p:sp>
      </p:grpSp>
      <p:grpSp>
        <p:nvGrpSpPr>
          <p:cNvPr id="86" name="footer"/>
          <p:cNvGrpSpPr/>
          <p:nvPr/>
        </p:nvGrpSpPr>
        <p:grpSpPr>
          <a:xfrm>
            <a:off x="528447" y="6581299"/>
            <a:ext cx="11135106" cy="190690"/>
            <a:chOff x="528447" y="6581299"/>
            <a:chExt cx="11135106" cy="190690"/>
          </a:xfrm>
        </p:grpSpPr>
        <p:sp>
          <p:nvSpPr>
            <p:cNvPr id="84" name="TextBox 84"/>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85" name="TextBox 8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50</a:t>
              </a:r>
            </a:p>
          </p:txBody>
        </p:sp>
      </p:grpSp>
    </p:spTree>
  </p:cSld>
  <p:clrMapOvr>
    <a:masterClrMapping/>
  </p:clrMapOvr>
  <p:transition xmlns:p14="http://schemas.microsoft.com/office/powerpoint/2010/main" p14:dur="400">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程序复杂程度的定量度量</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环形复杂度的用途、说明与缺点</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6" name="c1-bullets-1"/>
          <p:cNvGrpSpPr/>
          <p:nvPr/>
        </p:nvGrpSpPr>
        <p:grpSpPr>
          <a:xfrm>
            <a:off x="526161" y="1547336"/>
            <a:ext cx="5696877" cy="2409444"/>
            <a:chOff x="526161" y="1547336"/>
            <a:chExt cx="5696877" cy="2409444"/>
          </a:xfrm>
        </p:grpSpPr>
        <p:sp>
          <p:nvSpPr>
            <p:cNvPr id="7" name="TextBox 7"/>
            <p:cNvSpPr txBox="1"/>
            <p:nvPr/>
          </p:nvSpPr>
          <p:spPr>
            <a:xfrm>
              <a:off x="526161" y="1547336"/>
              <a:ext cx="1352601"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用途与几点说明</a:t>
              </a:r>
            </a:p>
          </p:txBody>
        </p:sp>
        <p:sp>
          <p:nvSpPr>
            <p:cNvPr id="8" name="Freeform 8"/>
            <p:cNvSpPr/>
            <p:nvPr/>
          </p:nvSpPr>
          <p:spPr>
            <a:xfrm>
              <a:off x="533400" y="1913572"/>
              <a:ext cx="137160" cy="110490"/>
            </a:xfrm>
            <a:custGeom>
              <a:avLst/>
              <a:gdLst/>
              <a:ahLst/>
              <a:cxnLst/>
              <a:rect l="l" t="t" r="r" b="b"/>
              <a:pathLst>
                <a:path w="137160" h="110490">
                  <a:moveTo>
                    <a:pt x="0" y="58102"/>
                  </a:moveTo>
                  <a:lnTo>
                    <a:pt x="52388" y="110490"/>
                  </a:lnTo>
                  <a:lnTo>
                    <a:pt x="137160" y="0"/>
                  </a:lnTo>
                </a:path>
              </a:pathLst>
            </a:custGeom>
            <a:noFill/>
            <a:ln w="24765" cap="rnd">
              <a:solidFill>
                <a:srgbClr val="14A38B"/>
              </a:solidFill>
              <a:round/>
            </a:ln>
          </p:spPr>
        </p:sp>
        <p:sp>
          <p:nvSpPr>
            <p:cNvPr id="9" name="TextBox 9"/>
            <p:cNvSpPr txBox="1"/>
            <p:nvPr/>
          </p:nvSpPr>
          <p:spPr>
            <a:xfrm>
              <a:off x="777621" y="1883569"/>
              <a:ext cx="506399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取决于程序控制流的复杂程度，也就是程序结构的复杂程度；分</a:t>
              </a:r>
              <a:br/>
              <a:r>
                <a:rPr lang="zh-CN" sz="1420" dirty="0">
                  <a:solidFill>
                    <a:srgbClr val="1F2937"/>
                  </a:solidFill>
                  <a:latin typeface="+mn-lt"/>
                  <a:ea typeface="+mn-ea"/>
                  <a:cs typeface="+mn-cs"/>
                </a:rPr>
                <a:t>支数或循环个数增加时它随之增加</a:t>
              </a:r>
            </a:p>
          </p:txBody>
        </p:sp>
        <p:sp>
          <p:nvSpPr>
            <p:cNvPr id="10" name="Freeform 10"/>
            <p:cNvSpPr/>
            <p:nvPr/>
          </p:nvSpPr>
          <p:spPr>
            <a:xfrm>
              <a:off x="533400" y="2511742"/>
              <a:ext cx="137160" cy="110490"/>
            </a:xfrm>
            <a:custGeom>
              <a:avLst/>
              <a:gdLst/>
              <a:ahLst/>
              <a:cxnLst/>
              <a:rect l="l" t="t" r="r" b="b"/>
              <a:pathLst>
                <a:path w="137160" h="110490">
                  <a:moveTo>
                    <a:pt x="0" y="58103"/>
                  </a:moveTo>
                  <a:lnTo>
                    <a:pt x="52388" y="110490"/>
                  </a:lnTo>
                  <a:lnTo>
                    <a:pt x="137160" y="0"/>
                  </a:lnTo>
                </a:path>
              </a:pathLst>
            </a:custGeom>
            <a:noFill/>
            <a:ln w="24765" cap="rnd">
              <a:solidFill>
                <a:srgbClr val="14A38B"/>
              </a:solidFill>
              <a:round/>
            </a:ln>
          </p:spPr>
        </p:sp>
        <p:sp>
          <p:nvSpPr>
            <p:cNvPr id="11" name="TextBox 11"/>
            <p:cNvSpPr txBox="1"/>
            <p:nvPr/>
          </p:nvSpPr>
          <p:spPr>
            <a:xfrm>
              <a:off x="777621" y="2481739"/>
              <a:ext cx="506399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是对</a:t>
              </a:r>
              <a:r>
                <a:rPr lang="zh-CN" sz="1420" b="1" dirty="0">
                  <a:solidFill>
                    <a:srgbClr val="C2410C"/>
                  </a:solidFill>
                  <a:latin typeface="+mn-lt"/>
                  <a:ea typeface="+mn-ea"/>
                  <a:cs typeface="+mn-cs"/>
                </a:rPr>
                <a:t>测试难度</a:t>
              </a:r>
              <a:r>
                <a:rPr lang="zh-CN" sz="1420" dirty="0">
                  <a:solidFill>
                    <a:srgbClr val="1F2937"/>
                  </a:solidFill>
                  <a:latin typeface="+mn-lt"/>
                  <a:ea typeface="+mn-ea"/>
                  <a:cs typeface="+mn-cs"/>
                </a:rPr>
                <a:t>的一种定量度量，也能对软件最终的可靠性给出某</a:t>
              </a:r>
              <a:br/>
              <a:r>
                <a:rPr lang="zh-CN" sz="1420" dirty="0">
                  <a:solidFill>
                    <a:srgbClr val="1F2937"/>
                  </a:solidFill>
                  <a:latin typeface="+mn-lt"/>
                  <a:ea typeface="+mn-ea"/>
                  <a:cs typeface="+mn-cs"/>
                </a:rPr>
                <a:t>种预测</a:t>
              </a:r>
            </a:p>
          </p:txBody>
        </p:sp>
        <p:sp>
          <p:nvSpPr>
            <p:cNvPr id="12" name="Freeform 12"/>
            <p:cNvSpPr/>
            <p:nvPr/>
          </p:nvSpPr>
          <p:spPr>
            <a:xfrm>
              <a:off x="533400" y="3109912"/>
              <a:ext cx="137160" cy="110490"/>
            </a:xfrm>
            <a:custGeom>
              <a:avLst/>
              <a:gdLst/>
              <a:ahLst/>
              <a:cxnLst/>
              <a:rect l="l" t="t" r="r" b="b"/>
              <a:pathLst>
                <a:path w="137160" h="110490">
                  <a:moveTo>
                    <a:pt x="0" y="58103"/>
                  </a:moveTo>
                  <a:lnTo>
                    <a:pt x="52388" y="110490"/>
                  </a:lnTo>
                  <a:lnTo>
                    <a:pt x="137160" y="0"/>
                  </a:lnTo>
                </a:path>
              </a:pathLst>
            </a:custGeom>
            <a:noFill/>
            <a:ln w="24765" cap="rnd">
              <a:solidFill>
                <a:srgbClr val="14A38B"/>
              </a:solidFill>
              <a:round/>
            </a:ln>
          </p:spPr>
        </p:sp>
        <p:sp>
          <p:nvSpPr>
            <p:cNvPr id="13" name="TextBox 13"/>
            <p:cNvSpPr txBox="1"/>
            <p:nvPr/>
          </p:nvSpPr>
          <p:spPr>
            <a:xfrm>
              <a:off x="777621" y="3079909"/>
              <a:ext cx="5445417" cy="278702"/>
            </a:xfrm>
            <a:prstGeom prst="rect">
              <a:avLst/>
            </a:prstGeom>
            <a:noFill/>
            <a:ln>
              <a:noFill/>
            </a:ln>
          </p:spPr>
          <p:txBody>
            <a:bodyPr wrap="none" lIns="0" tIns="0" rIns="0" bIns="0" anchor="t" anchorCtr="0">
              <a:spAutoFit/>
            </a:bodyPr>
            <a:lstStyle/>
            <a:p>
              <a:pPr algn="l"/>
              <a:r>
                <a:rPr lang="zh-CN" sz="1420" b="1" dirty="0">
                  <a:solidFill>
                    <a:srgbClr val="C2410C"/>
                  </a:solidFill>
                  <a:latin typeface="+mn-lt"/>
                  <a:ea typeface="+mn-ea"/>
                  <a:cs typeface="+mn-cs"/>
                </a:rPr>
                <a:t>可加</a:t>
              </a:r>
              <a:r>
                <a:rPr lang="zh-CN" sz="1420" dirty="0">
                  <a:solidFill>
                    <a:srgbClr val="1F2937"/>
                  </a:solidFill>
                  <a:latin typeface="+mn-lt"/>
                  <a:ea typeface="+mn-ea"/>
                  <a:cs typeface="+mn-cs"/>
                </a:rPr>
                <a:t>：模块 A 的复杂度为 3、模块 B 为 4，则 A 与 B 合起来是 7</a:t>
              </a:r>
            </a:p>
          </p:txBody>
        </p:sp>
        <p:sp>
          <p:nvSpPr>
            <p:cNvPr id="14" name="Freeform 14"/>
            <p:cNvSpPr/>
            <p:nvPr/>
          </p:nvSpPr>
          <p:spPr>
            <a:xfrm>
              <a:off x="533400" y="3436620"/>
              <a:ext cx="137160" cy="110490"/>
            </a:xfrm>
            <a:custGeom>
              <a:avLst/>
              <a:gdLst/>
              <a:ahLst/>
              <a:cxnLst/>
              <a:rect l="l" t="t" r="r" b="b"/>
              <a:pathLst>
                <a:path w="137160" h="110490">
                  <a:moveTo>
                    <a:pt x="0" y="58102"/>
                  </a:moveTo>
                  <a:lnTo>
                    <a:pt x="52388" y="110490"/>
                  </a:lnTo>
                  <a:lnTo>
                    <a:pt x="137160" y="0"/>
                  </a:lnTo>
                </a:path>
              </a:pathLst>
            </a:custGeom>
            <a:noFill/>
            <a:ln w="24765" cap="rnd">
              <a:solidFill>
                <a:srgbClr val="14A38B"/>
              </a:solidFill>
              <a:round/>
            </a:ln>
          </p:spPr>
        </p:sp>
        <p:sp>
          <p:nvSpPr>
            <p:cNvPr id="15" name="TextBox 15"/>
            <p:cNvSpPr txBox="1"/>
            <p:nvPr/>
          </p:nvSpPr>
          <p:spPr>
            <a:xfrm>
              <a:off x="777621" y="3406616"/>
              <a:ext cx="5063998"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与程序中覆盖的路径条数有关，等于基本路径集合中独立路径的</a:t>
              </a:r>
              <a:br/>
              <a:r>
                <a:rPr lang="zh-CN" sz="1420" dirty="0">
                  <a:solidFill>
                    <a:srgbClr val="1F2937"/>
                  </a:solidFill>
                  <a:latin typeface="+mn-lt"/>
                  <a:ea typeface="+mn-ea"/>
                  <a:cs typeface="+mn-cs"/>
                </a:rPr>
                <a:t>条数</a:t>
              </a:r>
            </a:p>
          </p:txBody>
        </p:sp>
      </p:grpSp>
      <p:grpSp>
        <p:nvGrpSpPr>
          <p:cNvPr id="22" name="c1-card-2"/>
          <p:cNvGrpSpPr/>
          <p:nvPr/>
        </p:nvGrpSpPr>
        <p:grpSpPr>
          <a:xfrm>
            <a:off x="533400" y="4080510"/>
            <a:ext cx="5626418" cy="2022158"/>
            <a:chOff x="533400" y="4080510"/>
            <a:chExt cx="5626418" cy="2022158"/>
          </a:xfrm>
        </p:grpSpPr>
        <p:sp>
          <p:nvSpPr>
            <p:cNvPr id="17" name="Rectangle 17"/>
            <p:cNvSpPr/>
            <p:nvPr/>
          </p:nvSpPr>
          <p:spPr>
            <a:xfrm>
              <a:off x="533400" y="4080510"/>
              <a:ext cx="5626418" cy="2022158"/>
            </a:xfrm>
            <a:prstGeom prst="roundRect">
              <a:avLst>
                <a:gd name="adj" fmla="val 6594"/>
              </a:avLst>
            </a:prstGeom>
            <a:solidFill>
              <a:srgbClr val="334E68"/>
            </a:solidFill>
            <a:ln>
              <a:noFill/>
            </a:ln>
          </p:spPr>
        </p:sp>
        <p:sp>
          <p:nvSpPr>
            <p:cNvPr id="18" name="Rectangle 18"/>
            <p:cNvSpPr/>
            <p:nvPr/>
          </p:nvSpPr>
          <p:spPr>
            <a:xfrm>
              <a:off x="731520" y="4278630"/>
              <a:ext cx="1276350" cy="247650"/>
            </a:xfrm>
            <a:prstGeom prst="roundRect">
              <a:avLst>
                <a:gd name="adj" fmla="val 50000"/>
              </a:avLst>
            </a:prstGeom>
            <a:solidFill>
              <a:srgbClr val="243B53"/>
            </a:solidFill>
            <a:ln>
              <a:noFill/>
            </a:ln>
          </p:spPr>
        </p:sp>
        <p:sp>
          <p:nvSpPr>
            <p:cNvPr id="19" name="TextBox 19"/>
            <p:cNvSpPr txBox="1"/>
            <p:nvPr/>
          </p:nvSpPr>
          <p:spPr>
            <a:xfrm>
              <a:off x="798957" y="4312920"/>
              <a:ext cx="1141476"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用来限制模块规模</a:t>
              </a:r>
            </a:p>
          </p:txBody>
        </p:sp>
        <p:sp>
          <p:nvSpPr>
            <p:cNvPr id="20" name="TextBox 20"/>
            <p:cNvSpPr txBox="1"/>
            <p:nvPr/>
          </p:nvSpPr>
          <p:spPr>
            <a:xfrm>
              <a:off x="724281" y="4639151"/>
              <a:ext cx="5009896"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FFFFFF"/>
                  </a:solidFill>
                  <a:latin typeface="+mn-lt"/>
                  <a:ea typeface="+mn-ea"/>
                  <a:cs typeface="+mn-cs"/>
                </a:rPr>
                <a:t xml:space="preserve">McCabe 从大量调查中发现，当 V(G) </a:t>
              </a:r>
              <a:r>
                <a:rPr lang="zh-CN" sz="1420" b="1" dirty="0">
                  <a:solidFill>
                    <a:srgbClr val="FFD58A"/>
                  </a:solidFill>
                  <a:latin typeface="+mn-lt"/>
                  <a:ea typeface="+mn-ea"/>
                  <a:cs typeface="+mn-cs"/>
                </a:rPr>
                <a:t>等于或大于 10</a:t>
              </a:r>
              <a:r>
                <a:rPr lang="zh-CN" sz="1420" dirty="0">
                  <a:solidFill>
                    <a:srgbClr val="FFFFFF"/>
                  </a:solidFill>
                  <a:latin typeface="+mn-lt"/>
                  <a:ea typeface="+mn-ea"/>
                  <a:cs typeface="+mn-cs"/>
                </a:rPr>
                <a:t xml:space="preserve"> 时，对模</a:t>
              </a:r>
              <a:br/>
              <a:r>
                <a:rPr lang="zh-CN" sz="1420" dirty="0">
                  <a:solidFill>
                    <a:srgbClr val="FFFFFF"/>
                  </a:solidFill>
                  <a:latin typeface="+mn-lt"/>
                  <a:ea typeface="+mn-ea"/>
                  <a:cs typeface="+mn-cs"/>
                </a:rPr>
                <a:t>块进行充分的测试将变得非常困难。他主张把 10 作为上限，以</a:t>
              </a:r>
              <a:br/>
              <a:r>
                <a:rPr lang="zh-CN" sz="1420" dirty="0">
                  <a:solidFill>
                    <a:srgbClr val="FFFFFF"/>
                  </a:solidFill>
                  <a:latin typeface="+mn-lt"/>
                  <a:ea typeface="+mn-ea"/>
                  <a:cs typeface="+mn-cs"/>
                </a:rPr>
                <a:t>此限制模块的最大规模。</a:t>
              </a:r>
            </a:p>
          </p:txBody>
        </p:sp>
        <p:sp>
          <p:nvSpPr>
            <p:cNvPr id="21" name="TextBox 21"/>
            <p:cNvSpPr txBox="1"/>
            <p:nvPr/>
          </p:nvSpPr>
          <p:spPr>
            <a:xfrm>
              <a:off x="725424" y="5495925"/>
              <a:ext cx="501091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FFFFFF"/>
                  </a:solidFill>
                  <a:latin typeface="+mn-lt"/>
                  <a:ea typeface="+mn-ea"/>
                  <a:cs typeface="+mn-cs"/>
                </a:rPr>
                <a:t>Walsh 用实例证实了这个建议：在 McCabe 复杂度为 10 的附近，出错率存</a:t>
              </a:r>
              <a:br/>
              <a:r>
                <a:rPr lang="zh-CN" sz="1200" dirty="0">
                  <a:solidFill>
                    <a:srgbClr val="FFFFFF"/>
                  </a:solidFill>
                  <a:latin typeface="+mn-lt"/>
                  <a:ea typeface="+mn-ea"/>
                  <a:cs typeface="+mn-cs"/>
                </a:rPr>
                <a:t>在间断的跃变。</a:t>
              </a:r>
            </a:p>
          </p:txBody>
        </p:sp>
      </p:grpSp>
      <p:grpSp>
        <p:nvGrpSpPr>
          <p:cNvPr id="34" name="c2-bullets-1"/>
          <p:cNvGrpSpPr/>
          <p:nvPr/>
        </p:nvGrpSpPr>
        <p:grpSpPr>
          <a:xfrm>
            <a:off x="6457379" y="1547336"/>
            <a:ext cx="4997191" cy="1921765"/>
            <a:chOff x="6457379" y="1547336"/>
            <a:chExt cx="4997191" cy="1921765"/>
          </a:xfrm>
        </p:grpSpPr>
        <p:sp>
          <p:nvSpPr>
            <p:cNvPr id="23" name="TextBox 23"/>
            <p:cNvSpPr txBox="1"/>
            <p:nvPr/>
          </p:nvSpPr>
          <p:spPr>
            <a:xfrm>
              <a:off x="6457379" y="1547336"/>
              <a:ext cx="1352601" cy="278702"/>
            </a:xfrm>
            <a:prstGeom prst="rect">
              <a:avLst/>
            </a:prstGeom>
            <a:noFill/>
            <a:ln>
              <a:noFill/>
            </a:ln>
          </p:spPr>
          <p:txBody>
            <a:bodyPr wrap="none" lIns="0" tIns="0" rIns="0" bIns="0" anchor="t" anchorCtr="0">
              <a:spAutoFit/>
            </a:bodyPr>
            <a:lstStyle/>
            <a:p>
              <a:pPr algn="l"/>
              <a:r>
                <a:rPr lang="zh-CN" sz="1420" b="1" dirty="0">
                  <a:solidFill>
                    <a:srgbClr val="334E68"/>
                  </a:solidFill>
                  <a:latin typeface="+mn-lt"/>
                  <a:ea typeface="+mn-ea"/>
                  <a:cs typeface="+mn-cs"/>
                </a:rPr>
                <a:t>这种度量的缺点</a:t>
              </a:r>
            </a:p>
          </p:txBody>
        </p:sp>
        <p:sp>
          <p:nvSpPr>
            <p:cNvPr id="24" name="Freeform 24"/>
            <p:cNvSpPr/>
            <p:nvPr/>
          </p:nvSpPr>
          <p:spPr>
            <a:xfrm>
              <a:off x="6464618" y="1917382"/>
              <a:ext cx="108585" cy="108585"/>
            </a:xfrm>
            <a:custGeom>
              <a:avLst/>
              <a:gdLst/>
              <a:ahLst/>
              <a:cxnLst/>
              <a:rect l="l" t="t" r="r" b="b"/>
              <a:pathLst>
                <a:path w="108585" h="108585">
                  <a:moveTo>
                    <a:pt x="0" y="0"/>
                  </a:moveTo>
                  <a:lnTo>
                    <a:pt x="108585" y="108585"/>
                  </a:lnTo>
                  <a:moveTo>
                    <a:pt x="108585" y="0"/>
                  </a:moveTo>
                  <a:lnTo>
                    <a:pt x="0" y="108585"/>
                  </a:lnTo>
                </a:path>
              </a:pathLst>
            </a:custGeom>
            <a:noFill/>
            <a:ln w="24765" cap="rnd">
              <a:solidFill>
                <a:srgbClr val="B42318"/>
              </a:solidFill>
            </a:ln>
          </p:spPr>
        </p:sp>
        <p:sp>
          <p:nvSpPr>
            <p:cNvPr id="25" name="TextBox 25"/>
            <p:cNvSpPr txBox="1"/>
            <p:nvPr/>
          </p:nvSpPr>
          <p:spPr>
            <a:xfrm>
              <a:off x="6699314" y="1883569"/>
              <a:ext cx="345536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对于不同种类的控制流的复杂性不能区分</a:t>
              </a:r>
            </a:p>
          </p:txBody>
        </p:sp>
        <p:sp>
          <p:nvSpPr>
            <p:cNvPr id="26" name="Freeform 26"/>
            <p:cNvSpPr/>
            <p:nvPr/>
          </p:nvSpPr>
          <p:spPr>
            <a:xfrm>
              <a:off x="6464618" y="2244090"/>
              <a:ext cx="108585" cy="108585"/>
            </a:xfrm>
            <a:custGeom>
              <a:avLst/>
              <a:gdLst/>
              <a:ahLst/>
              <a:cxnLst/>
              <a:rect l="l" t="t" r="r" b="b"/>
              <a:pathLst>
                <a:path w="108585" h="108585">
                  <a:moveTo>
                    <a:pt x="0" y="0"/>
                  </a:moveTo>
                  <a:lnTo>
                    <a:pt x="108585" y="108585"/>
                  </a:lnTo>
                  <a:moveTo>
                    <a:pt x="108585" y="0"/>
                  </a:moveTo>
                  <a:lnTo>
                    <a:pt x="0" y="108585"/>
                  </a:lnTo>
                </a:path>
              </a:pathLst>
            </a:custGeom>
            <a:noFill/>
            <a:ln w="24765" cap="rnd">
              <a:solidFill>
                <a:srgbClr val="B42318"/>
              </a:solidFill>
            </a:ln>
          </p:spPr>
        </p:sp>
        <p:sp>
          <p:nvSpPr>
            <p:cNvPr id="27" name="TextBox 27"/>
            <p:cNvSpPr txBox="1"/>
            <p:nvPr/>
          </p:nvSpPr>
          <p:spPr>
            <a:xfrm>
              <a:off x="6699314" y="2210276"/>
              <a:ext cx="3557077"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简单 IF 语句与循环语句的复杂性同等看待</a:t>
              </a:r>
            </a:p>
          </p:txBody>
        </p:sp>
        <p:sp>
          <p:nvSpPr>
            <p:cNvPr id="28" name="Freeform 28"/>
            <p:cNvSpPr/>
            <p:nvPr/>
          </p:nvSpPr>
          <p:spPr>
            <a:xfrm>
              <a:off x="6464618" y="2570798"/>
              <a:ext cx="108585" cy="108585"/>
            </a:xfrm>
            <a:custGeom>
              <a:avLst/>
              <a:gdLst/>
              <a:ahLst/>
              <a:cxnLst/>
              <a:rect l="l" t="t" r="r" b="b"/>
              <a:pathLst>
                <a:path w="108585" h="108585">
                  <a:moveTo>
                    <a:pt x="0" y="0"/>
                  </a:moveTo>
                  <a:lnTo>
                    <a:pt x="108585" y="108585"/>
                  </a:lnTo>
                  <a:moveTo>
                    <a:pt x="108585" y="0"/>
                  </a:moveTo>
                  <a:lnTo>
                    <a:pt x="0" y="108585"/>
                  </a:lnTo>
                </a:path>
              </a:pathLst>
            </a:custGeom>
            <a:noFill/>
            <a:ln w="24765" cap="rnd">
              <a:solidFill>
                <a:srgbClr val="B42318"/>
              </a:solidFill>
            </a:ln>
          </p:spPr>
        </p:sp>
        <p:sp>
          <p:nvSpPr>
            <p:cNvPr id="29" name="TextBox 29"/>
            <p:cNvSpPr txBox="1"/>
            <p:nvPr/>
          </p:nvSpPr>
          <p:spPr>
            <a:xfrm>
              <a:off x="6699314" y="2536984"/>
              <a:ext cx="412262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嵌套 IF 语句与简单 CASE 语句的复杂性是一样的</a:t>
              </a:r>
            </a:p>
          </p:txBody>
        </p:sp>
        <p:sp>
          <p:nvSpPr>
            <p:cNvPr id="30" name="Freeform 30"/>
            <p:cNvSpPr/>
            <p:nvPr/>
          </p:nvSpPr>
          <p:spPr>
            <a:xfrm>
              <a:off x="6464618" y="2897505"/>
              <a:ext cx="108585" cy="108585"/>
            </a:xfrm>
            <a:custGeom>
              <a:avLst/>
              <a:gdLst/>
              <a:ahLst/>
              <a:cxnLst/>
              <a:rect l="l" t="t" r="r" b="b"/>
              <a:pathLst>
                <a:path w="108585" h="108585">
                  <a:moveTo>
                    <a:pt x="0" y="0"/>
                  </a:moveTo>
                  <a:lnTo>
                    <a:pt x="108585" y="108585"/>
                  </a:lnTo>
                  <a:moveTo>
                    <a:pt x="108585" y="0"/>
                  </a:moveTo>
                  <a:lnTo>
                    <a:pt x="0" y="108585"/>
                  </a:lnTo>
                </a:path>
              </a:pathLst>
            </a:custGeom>
            <a:noFill/>
            <a:ln w="24765" cap="rnd">
              <a:solidFill>
                <a:srgbClr val="B42318"/>
              </a:solidFill>
            </a:ln>
          </p:spPr>
        </p:sp>
        <p:sp>
          <p:nvSpPr>
            <p:cNvPr id="31" name="TextBox 31"/>
            <p:cNvSpPr txBox="1"/>
            <p:nvPr/>
          </p:nvSpPr>
          <p:spPr>
            <a:xfrm>
              <a:off x="6699314" y="2863691"/>
              <a:ext cx="326420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模块间接口当成一个简单分支一样处理</a:t>
              </a:r>
            </a:p>
          </p:txBody>
        </p:sp>
        <p:sp>
          <p:nvSpPr>
            <p:cNvPr id="32" name="Freeform 32"/>
            <p:cNvSpPr/>
            <p:nvPr/>
          </p:nvSpPr>
          <p:spPr>
            <a:xfrm>
              <a:off x="6464618" y="3224212"/>
              <a:ext cx="108585" cy="108585"/>
            </a:xfrm>
            <a:custGeom>
              <a:avLst/>
              <a:gdLst/>
              <a:ahLst/>
              <a:cxnLst/>
              <a:rect l="l" t="t" r="r" b="b"/>
              <a:pathLst>
                <a:path w="108585" h="108585">
                  <a:moveTo>
                    <a:pt x="0" y="0"/>
                  </a:moveTo>
                  <a:lnTo>
                    <a:pt x="108585" y="108585"/>
                  </a:lnTo>
                  <a:moveTo>
                    <a:pt x="108585" y="0"/>
                  </a:moveTo>
                  <a:lnTo>
                    <a:pt x="0" y="108585"/>
                  </a:lnTo>
                </a:path>
              </a:pathLst>
            </a:custGeom>
            <a:noFill/>
            <a:ln w="24765" cap="rnd">
              <a:solidFill>
                <a:srgbClr val="B42318"/>
              </a:solidFill>
            </a:ln>
          </p:spPr>
        </p:sp>
        <p:sp>
          <p:nvSpPr>
            <p:cNvPr id="33" name="TextBox 33"/>
            <p:cNvSpPr txBox="1"/>
            <p:nvPr/>
          </p:nvSpPr>
          <p:spPr>
            <a:xfrm>
              <a:off x="6699314" y="3190399"/>
              <a:ext cx="4755256"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一个具有 1000 行的顺序程序，与一行语句的复杂性相同</a:t>
              </a:r>
            </a:p>
          </p:txBody>
        </p:sp>
      </p:grpSp>
      <p:grpSp>
        <p:nvGrpSpPr>
          <p:cNvPr id="41" name="c2-callout-2"/>
          <p:cNvGrpSpPr/>
          <p:nvPr/>
        </p:nvGrpSpPr>
        <p:grpSpPr>
          <a:xfrm>
            <a:off x="6464618" y="3592830"/>
            <a:ext cx="5193982" cy="756285"/>
            <a:chOff x="6464618" y="3592830"/>
            <a:chExt cx="5193982" cy="756285"/>
          </a:xfrm>
        </p:grpSpPr>
        <p:sp>
          <p:nvSpPr>
            <p:cNvPr id="35" name="Rectangle 35"/>
            <p:cNvSpPr/>
            <p:nvPr/>
          </p:nvSpPr>
          <p:spPr>
            <a:xfrm>
              <a:off x="6464618" y="3592830"/>
              <a:ext cx="5193982" cy="756285"/>
            </a:xfrm>
            <a:prstGeom prst="roundRect">
              <a:avLst>
                <a:gd name="adj" fmla="val 15113"/>
              </a:avLst>
            </a:prstGeom>
            <a:solidFill>
              <a:srgbClr val="F4F6FB"/>
            </a:solidFill>
            <a:ln>
              <a:noFill/>
            </a:ln>
          </p:spPr>
        </p:sp>
        <p:grpSp>
          <p:nvGrpSpPr>
            <p:cNvPr id="39" name="Group 39"/>
            <p:cNvGrpSpPr/>
            <p:nvPr/>
          </p:nvGrpSpPr>
          <p:grpSpPr>
            <a:xfrm>
              <a:off x="6669405" y="3870960"/>
              <a:ext cx="200026" cy="200026"/>
              <a:chOff x="6669405" y="3870960"/>
              <a:chExt cx="200026" cy="200026"/>
            </a:xfrm>
          </p:grpSpPr>
          <p:sp>
            <p:nvSpPr>
              <p:cNvPr id="36" name="Freeform 36"/>
              <p:cNvSpPr/>
              <p:nvPr/>
            </p:nvSpPr>
            <p:spPr>
              <a:xfrm>
                <a:off x="6669405" y="3870960"/>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37" name="Freeform 37"/>
              <p:cNvSpPr/>
              <p:nvPr/>
            </p:nvSpPr>
            <p:spPr>
              <a:xfrm>
                <a:off x="6769418" y="3937635"/>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38" name="Freeform 38"/>
              <p:cNvSpPr/>
              <p:nvPr/>
            </p:nvSpPr>
            <p:spPr>
              <a:xfrm>
                <a:off x="6758305" y="3970973"/>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40" name="TextBox 40"/>
            <p:cNvSpPr txBox="1"/>
            <p:nvPr/>
          </p:nvSpPr>
          <p:spPr>
            <a:xfrm>
              <a:off x="6971729" y="3739991"/>
              <a:ext cx="4162298"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1F2937"/>
                  </a:solidFill>
                  <a:latin typeface="+mn-lt"/>
                  <a:ea typeface="+mn-ea"/>
                  <a:cs typeface="+mn-cs"/>
                </a:rPr>
                <a:t>一句话概括这五条：它只看控制结构的复杂度，不看</a:t>
              </a:r>
              <a:br/>
              <a:r>
                <a:rPr lang="zh-CN" sz="1420" dirty="0">
                  <a:solidFill>
                    <a:srgbClr val="1F2937"/>
                  </a:solidFill>
                  <a:latin typeface="+mn-lt"/>
                  <a:ea typeface="+mn-ea"/>
                  <a:cs typeface="+mn-cs"/>
                </a:rPr>
                <a:t>语句本身的复杂度。</a:t>
              </a:r>
            </a:p>
          </p:txBody>
        </p:sp>
      </p:grpSp>
      <p:grpSp>
        <p:nvGrpSpPr>
          <p:cNvPr id="50" name="c2-card-3"/>
          <p:cNvGrpSpPr/>
          <p:nvPr/>
        </p:nvGrpSpPr>
        <p:grpSpPr>
          <a:xfrm>
            <a:off x="6464618" y="4529138"/>
            <a:ext cx="5193982" cy="1573530"/>
            <a:chOff x="6464618" y="4529138"/>
            <a:chExt cx="5193982" cy="1573530"/>
          </a:xfrm>
        </p:grpSpPr>
        <p:sp>
          <p:nvSpPr>
            <p:cNvPr id="42" name="Rectangle 42"/>
            <p:cNvSpPr/>
            <p:nvPr/>
          </p:nvSpPr>
          <p:spPr>
            <a:xfrm>
              <a:off x="6464618" y="4529138"/>
              <a:ext cx="5193982" cy="1573530"/>
            </a:xfrm>
            <a:prstGeom prst="roundRect">
              <a:avLst>
                <a:gd name="adj" fmla="val 8475"/>
              </a:avLst>
            </a:prstGeom>
            <a:solidFill>
              <a:srgbClr val="FFFFFF"/>
            </a:solidFill>
            <a:ln w="14288">
              <a:solidFill>
                <a:srgbClr val="D9DFEA"/>
              </a:solidFill>
            </a:ln>
          </p:spPr>
        </p:sp>
        <p:sp>
          <p:nvSpPr>
            <p:cNvPr id="43" name="Rectangle 43"/>
            <p:cNvSpPr/>
            <p:nvPr/>
          </p:nvSpPr>
          <p:spPr>
            <a:xfrm>
              <a:off x="6474142" y="4662488"/>
              <a:ext cx="47625" cy="1306830"/>
            </a:xfrm>
            <a:prstGeom prst="roundRect">
              <a:avLst>
                <a:gd name="adj" fmla="val 50000"/>
              </a:avLst>
            </a:prstGeom>
            <a:solidFill>
              <a:srgbClr val="5B6475"/>
            </a:solidFill>
            <a:ln>
              <a:noFill/>
            </a:ln>
          </p:spPr>
        </p:sp>
        <p:sp>
          <p:nvSpPr>
            <p:cNvPr id="44" name="Rectangle 44"/>
            <p:cNvSpPr/>
            <p:nvPr/>
          </p:nvSpPr>
          <p:spPr>
            <a:xfrm>
              <a:off x="6700838" y="4727258"/>
              <a:ext cx="1409700" cy="247650"/>
            </a:xfrm>
            <a:prstGeom prst="roundRect">
              <a:avLst>
                <a:gd name="adj" fmla="val 50000"/>
              </a:avLst>
            </a:prstGeom>
            <a:solidFill>
              <a:srgbClr val="F4F6FB"/>
            </a:solidFill>
            <a:ln>
              <a:noFill/>
            </a:ln>
          </p:spPr>
        </p:sp>
        <p:sp>
          <p:nvSpPr>
            <p:cNvPr id="45" name="TextBox 45"/>
            <p:cNvSpPr txBox="1"/>
            <p:nvPr/>
          </p:nvSpPr>
          <p:spPr>
            <a:xfrm>
              <a:off x="6764274" y="4761548"/>
              <a:ext cx="1282827"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缺点用别的度量来补</a:t>
              </a:r>
            </a:p>
          </p:txBody>
        </p:sp>
        <p:sp>
          <p:nvSpPr>
            <p:cNvPr id="46" name="Ellipse 46"/>
            <p:cNvSpPr/>
            <p:nvPr/>
          </p:nvSpPr>
          <p:spPr>
            <a:xfrm>
              <a:off x="6708458" y="5148262"/>
              <a:ext cx="60960" cy="60960"/>
            </a:xfrm>
            <a:prstGeom prst="ellipse">
              <a:avLst/>
            </a:prstGeom>
            <a:solidFill>
              <a:srgbClr val="334E68"/>
            </a:solidFill>
            <a:ln>
              <a:noFill/>
            </a:ln>
          </p:spPr>
        </p:sp>
        <p:sp>
          <p:nvSpPr>
            <p:cNvPr id="47" name="TextBox 47"/>
            <p:cNvSpPr txBox="1"/>
            <p:nvPr/>
          </p:nvSpPr>
          <p:spPr>
            <a:xfrm>
              <a:off x="6865048" y="5087779"/>
              <a:ext cx="359024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语句本身的规模和词汇量：</a:t>
              </a:r>
              <a:r>
                <a:rPr lang="zh-CN" sz="1420" b="1" dirty="0">
                  <a:solidFill>
                    <a:srgbClr val="1F2937"/>
                  </a:solidFill>
                  <a:latin typeface="+mn-lt"/>
                  <a:ea typeface="+mn-ea"/>
                  <a:cs typeface="+mn-cs"/>
                </a:rPr>
                <a:t>Halstead 方法</a:t>
              </a:r>
            </a:p>
          </p:txBody>
        </p:sp>
        <p:sp>
          <p:nvSpPr>
            <p:cNvPr id="48" name="Ellipse 48"/>
            <p:cNvSpPr/>
            <p:nvPr/>
          </p:nvSpPr>
          <p:spPr>
            <a:xfrm>
              <a:off x="6708458" y="5465445"/>
              <a:ext cx="60960" cy="60960"/>
            </a:xfrm>
            <a:prstGeom prst="ellipse">
              <a:avLst/>
            </a:prstGeom>
            <a:solidFill>
              <a:srgbClr val="334E68"/>
            </a:solidFill>
            <a:ln>
              <a:noFill/>
            </a:ln>
          </p:spPr>
        </p:sp>
        <p:sp>
          <p:nvSpPr>
            <p:cNvPr id="49" name="TextBox 49"/>
            <p:cNvSpPr txBox="1"/>
            <p:nvPr/>
          </p:nvSpPr>
          <p:spPr>
            <a:xfrm>
              <a:off x="6865048" y="5405914"/>
              <a:ext cx="269072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控制转移有多混乱：</a:t>
              </a:r>
              <a:r>
                <a:rPr lang="zh-CN" sz="1420" b="1" dirty="0">
                  <a:solidFill>
                    <a:srgbClr val="1F2937"/>
                  </a:solidFill>
                  <a:latin typeface="+mn-lt"/>
                  <a:ea typeface="+mn-ea"/>
                  <a:cs typeface="+mn-cs"/>
                </a:rPr>
                <a:t>交点复杂度</a:t>
              </a:r>
            </a:p>
          </p:txBody>
        </p:sp>
      </p:grpSp>
      <p:grpSp>
        <p:nvGrpSpPr>
          <p:cNvPr id="53" name="footer"/>
          <p:cNvGrpSpPr/>
          <p:nvPr/>
        </p:nvGrpSpPr>
        <p:grpSpPr>
          <a:xfrm>
            <a:off x="528447" y="6581299"/>
            <a:ext cx="11135106" cy="190690"/>
            <a:chOff x="528447" y="6581299"/>
            <a:chExt cx="11135106" cy="190690"/>
          </a:xfrm>
        </p:grpSpPr>
        <p:sp>
          <p:nvSpPr>
            <p:cNvPr id="51" name="TextBox 51"/>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52" name="TextBox 5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51</a:t>
              </a:r>
            </a:p>
          </p:txBody>
        </p:sp>
      </p:grpSp>
    </p:spTree>
  </p:cSld>
  <p:clrMapOvr>
    <a:masterClrMapping/>
  </p:clrMapOvr>
  <p:transition xmlns:p14="http://schemas.microsoft.com/office/powerpoint/2010/main" p14:dur="400">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097399" cy="909257"/>
            <a:chOff x="520446" y="342900"/>
            <a:chExt cx="5097399"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程序复杂程度的定量度量</a:t>
              </a:r>
            </a:p>
          </p:txBody>
        </p:sp>
        <p:sp>
          <p:nvSpPr>
            <p:cNvPr id="4" name="TextBox 4"/>
            <p:cNvSpPr txBox="1"/>
            <p:nvPr/>
          </p:nvSpPr>
          <p:spPr>
            <a:xfrm>
              <a:off x="520446" y="753428"/>
              <a:ext cx="50973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课堂练习二：画出流图并算 V(G)</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c1-text-1"/>
          <p:cNvGrpSpPr/>
          <p:nvPr/>
        </p:nvGrpSpPr>
        <p:grpSpPr>
          <a:xfrm>
            <a:off x="527685" y="1542574"/>
            <a:ext cx="1519174" cy="220028"/>
            <a:chOff x="527685" y="1542574"/>
            <a:chExt cx="1519174" cy="220028"/>
          </a:xfrm>
        </p:grpSpPr>
        <p:sp>
          <p:nvSpPr>
            <p:cNvPr id="7" name="TextBox 7"/>
            <p:cNvSpPr txBox="1"/>
            <p:nvPr/>
          </p:nvSpPr>
          <p:spPr>
            <a:xfrm>
              <a:off x="527685" y="1542574"/>
              <a:ext cx="1519174" cy="220028"/>
            </a:xfrm>
            <a:prstGeom prst="rect">
              <a:avLst/>
            </a:prstGeom>
            <a:noFill/>
            <a:ln>
              <a:noFill/>
            </a:ln>
          </p:spPr>
          <p:txBody>
            <a:bodyPr wrap="none" lIns="0" tIns="0" rIns="0" bIns="0" anchor="t" anchorCtr="0">
              <a:spAutoFit/>
            </a:bodyPr>
            <a:lstStyle/>
            <a:p>
              <a:pPr algn="l"/>
              <a:r>
                <a:rPr lang="zh-CN" sz="1120" b="1" dirty="0">
                  <a:solidFill>
                    <a:srgbClr val="334E68"/>
                  </a:solidFill>
                  <a:latin typeface="+mn-lt"/>
                  <a:ea typeface="+mn-ea"/>
                  <a:cs typeface="+mn-cs"/>
                </a:rPr>
                <a:t>题：下面的程序流程图</a:t>
              </a:r>
            </a:p>
          </p:txBody>
        </p:sp>
      </p:grpSp>
      <p:grpSp>
        <p:nvGrpSpPr>
          <p:cNvPr id="53" name="c1-flow-2"/>
          <p:cNvGrpSpPr/>
          <p:nvPr/>
        </p:nvGrpSpPr>
        <p:grpSpPr>
          <a:xfrm>
            <a:off x="666750" y="2067878"/>
            <a:ext cx="5359718" cy="4114799"/>
            <a:chOff x="666750" y="2067878"/>
            <a:chExt cx="5359718" cy="4114799"/>
          </a:xfrm>
        </p:grpSpPr>
        <p:sp>
          <p:nvSpPr>
            <p:cNvPr id="9" name="Freeform 9"/>
            <p:cNvSpPr/>
            <p:nvPr/>
          </p:nvSpPr>
          <p:spPr>
            <a:xfrm>
              <a:off x="2643188" y="2453640"/>
              <a:ext cx="9525" cy="160972"/>
            </a:xfrm>
            <a:custGeom>
              <a:avLst/>
              <a:gdLst/>
              <a:ahLst/>
              <a:cxnLst/>
              <a:rect l="l" t="t" r="r" b="b"/>
              <a:pathLst>
                <a:path w="9525" h="160972">
                  <a:moveTo>
                    <a:pt x="0" y="0"/>
                  </a:moveTo>
                  <a:lnTo>
                    <a:pt x="0" y="160972"/>
                  </a:lnTo>
                </a:path>
              </a:pathLst>
            </a:custGeom>
            <a:noFill/>
            <a:ln w="15240">
              <a:solidFill>
                <a:srgbClr val="5B6475"/>
              </a:solidFill>
            </a:ln>
          </p:spPr>
        </p:sp>
        <p:sp>
          <p:nvSpPr>
            <p:cNvPr id="10" name="Freeform 10"/>
            <p:cNvSpPr/>
            <p:nvPr/>
          </p:nvSpPr>
          <p:spPr>
            <a:xfrm>
              <a:off x="2590800" y="261461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1" name="Freeform 11"/>
            <p:cNvSpPr/>
            <p:nvPr/>
          </p:nvSpPr>
          <p:spPr>
            <a:xfrm>
              <a:off x="2643188" y="3294698"/>
              <a:ext cx="1406842" cy="84773"/>
            </a:xfrm>
            <a:custGeom>
              <a:avLst/>
              <a:gdLst/>
              <a:ahLst/>
              <a:cxnLst/>
              <a:rect l="l" t="t" r="r" b="b"/>
              <a:pathLst>
                <a:path w="1406842" h="84773">
                  <a:moveTo>
                    <a:pt x="0" y="0"/>
                  </a:moveTo>
                  <a:lnTo>
                    <a:pt x="0" y="84773"/>
                  </a:lnTo>
                  <a:lnTo>
                    <a:pt x="1406842" y="84773"/>
                  </a:lnTo>
                  <a:lnTo>
                    <a:pt x="1406842" y="65723"/>
                  </a:lnTo>
                </a:path>
              </a:pathLst>
            </a:custGeom>
            <a:noFill/>
            <a:ln w="15240">
              <a:solidFill>
                <a:srgbClr val="5B6475"/>
              </a:solidFill>
            </a:ln>
          </p:spPr>
        </p:sp>
        <p:sp>
          <p:nvSpPr>
            <p:cNvPr id="12" name="Freeform 12"/>
            <p:cNvSpPr/>
            <p:nvPr/>
          </p:nvSpPr>
          <p:spPr>
            <a:xfrm>
              <a:off x="3997642" y="336042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3" name="Freeform 13"/>
            <p:cNvSpPr/>
            <p:nvPr/>
          </p:nvSpPr>
          <p:spPr>
            <a:xfrm>
              <a:off x="1236345" y="3007042"/>
              <a:ext cx="837247" cy="2685098"/>
            </a:xfrm>
            <a:custGeom>
              <a:avLst/>
              <a:gdLst/>
              <a:ahLst/>
              <a:cxnLst/>
              <a:rect l="l" t="t" r="r" b="b"/>
              <a:pathLst>
                <a:path w="837247" h="2685098">
                  <a:moveTo>
                    <a:pt x="837247" y="0"/>
                  </a:moveTo>
                  <a:lnTo>
                    <a:pt x="627697" y="0"/>
                  </a:lnTo>
                  <a:lnTo>
                    <a:pt x="0" y="0"/>
                  </a:lnTo>
                  <a:lnTo>
                    <a:pt x="0" y="2580323"/>
                  </a:lnTo>
                  <a:lnTo>
                    <a:pt x="0" y="2685098"/>
                  </a:lnTo>
                </a:path>
              </a:pathLst>
            </a:custGeom>
            <a:noFill/>
            <a:ln w="15240">
              <a:solidFill>
                <a:srgbClr val="5B6475"/>
              </a:solidFill>
            </a:ln>
          </p:spPr>
        </p:sp>
        <p:sp>
          <p:nvSpPr>
            <p:cNvPr id="14" name="Freeform 14"/>
            <p:cNvSpPr/>
            <p:nvPr/>
          </p:nvSpPr>
          <p:spPr>
            <a:xfrm>
              <a:off x="1183958" y="569214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5" name="Freeform 15"/>
            <p:cNvSpPr/>
            <p:nvPr/>
          </p:nvSpPr>
          <p:spPr>
            <a:xfrm>
              <a:off x="2643188" y="4040505"/>
              <a:ext cx="1406842" cy="905827"/>
            </a:xfrm>
            <a:custGeom>
              <a:avLst/>
              <a:gdLst/>
              <a:ahLst/>
              <a:cxnLst/>
              <a:rect l="l" t="t" r="r" b="b"/>
              <a:pathLst>
                <a:path w="1406842" h="905827">
                  <a:moveTo>
                    <a:pt x="1406842" y="0"/>
                  </a:moveTo>
                  <a:lnTo>
                    <a:pt x="1406842" y="504825"/>
                  </a:lnTo>
                  <a:lnTo>
                    <a:pt x="0" y="504825"/>
                  </a:lnTo>
                  <a:lnTo>
                    <a:pt x="0" y="905827"/>
                  </a:lnTo>
                </a:path>
              </a:pathLst>
            </a:custGeom>
            <a:noFill/>
            <a:ln w="15240">
              <a:solidFill>
                <a:srgbClr val="5B6475"/>
              </a:solidFill>
            </a:ln>
          </p:spPr>
        </p:sp>
        <p:sp>
          <p:nvSpPr>
            <p:cNvPr id="16" name="Freeform 16"/>
            <p:cNvSpPr/>
            <p:nvPr/>
          </p:nvSpPr>
          <p:spPr>
            <a:xfrm>
              <a:off x="2590800" y="494633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7" name="Freeform 17"/>
            <p:cNvSpPr/>
            <p:nvPr/>
          </p:nvSpPr>
          <p:spPr>
            <a:xfrm>
              <a:off x="4050030" y="4040505"/>
              <a:ext cx="1406842" cy="84773"/>
            </a:xfrm>
            <a:custGeom>
              <a:avLst/>
              <a:gdLst/>
              <a:ahLst/>
              <a:cxnLst/>
              <a:rect l="l" t="t" r="r" b="b"/>
              <a:pathLst>
                <a:path w="1406842" h="84773">
                  <a:moveTo>
                    <a:pt x="0" y="0"/>
                  </a:moveTo>
                  <a:lnTo>
                    <a:pt x="0" y="84773"/>
                  </a:lnTo>
                  <a:lnTo>
                    <a:pt x="1406842" y="84773"/>
                  </a:lnTo>
                  <a:lnTo>
                    <a:pt x="1406842" y="65723"/>
                  </a:lnTo>
                </a:path>
              </a:pathLst>
            </a:custGeom>
            <a:noFill/>
            <a:ln w="15240">
              <a:solidFill>
                <a:srgbClr val="5B6475"/>
              </a:solidFill>
            </a:ln>
          </p:spPr>
        </p:sp>
        <p:sp>
          <p:nvSpPr>
            <p:cNvPr id="18" name="Freeform 18"/>
            <p:cNvSpPr/>
            <p:nvPr/>
          </p:nvSpPr>
          <p:spPr>
            <a:xfrm>
              <a:off x="5404485" y="4106228"/>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9" name="Freeform 19"/>
            <p:cNvSpPr/>
            <p:nvPr/>
          </p:nvSpPr>
          <p:spPr>
            <a:xfrm>
              <a:off x="4050030" y="4786312"/>
              <a:ext cx="1406842" cy="160020"/>
            </a:xfrm>
            <a:custGeom>
              <a:avLst/>
              <a:gdLst/>
              <a:ahLst/>
              <a:cxnLst/>
              <a:rect l="l" t="t" r="r" b="b"/>
              <a:pathLst>
                <a:path w="1406842" h="160020">
                  <a:moveTo>
                    <a:pt x="1406842" y="0"/>
                  </a:moveTo>
                  <a:lnTo>
                    <a:pt x="1406842" y="132397"/>
                  </a:lnTo>
                  <a:lnTo>
                    <a:pt x="0" y="132397"/>
                  </a:lnTo>
                  <a:lnTo>
                    <a:pt x="0" y="160020"/>
                  </a:lnTo>
                </a:path>
              </a:pathLst>
            </a:custGeom>
            <a:noFill/>
            <a:ln w="15240">
              <a:solidFill>
                <a:srgbClr val="5B6475"/>
              </a:solidFill>
            </a:ln>
          </p:spPr>
        </p:sp>
        <p:sp>
          <p:nvSpPr>
            <p:cNvPr id="20" name="Freeform 20"/>
            <p:cNvSpPr/>
            <p:nvPr/>
          </p:nvSpPr>
          <p:spPr>
            <a:xfrm>
              <a:off x="3997642" y="494633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1" name="Freeform 21"/>
            <p:cNvSpPr/>
            <p:nvPr/>
          </p:nvSpPr>
          <p:spPr>
            <a:xfrm>
              <a:off x="5456872" y="4786312"/>
              <a:ext cx="9525" cy="160020"/>
            </a:xfrm>
            <a:custGeom>
              <a:avLst/>
              <a:gdLst/>
              <a:ahLst/>
              <a:cxnLst/>
              <a:rect l="l" t="t" r="r" b="b"/>
              <a:pathLst>
                <a:path w="9525" h="160020">
                  <a:moveTo>
                    <a:pt x="0" y="0"/>
                  </a:moveTo>
                  <a:lnTo>
                    <a:pt x="0" y="160020"/>
                  </a:lnTo>
                </a:path>
              </a:pathLst>
            </a:custGeom>
            <a:noFill/>
            <a:ln w="15240">
              <a:solidFill>
                <a:srgbClr val="5B6475"/>
              </a:solidFill>
            </a:ln>
          </p:spPr>
        </p:sp>
        <p:sp>
          <p:nvSpPr>
            <p:cNvPr id="22" name="Freeform 22"/>
            <p:cNvSpPr/>
            <p:nvPr/>
          </p:nvSpPr>
          <p:spPr>
            <a:xfrm>
              <a:off x="5404485" y="494633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3" name="Freeform 23"/>
            <p:cNvSpPr/>
            <p:nvPr/>
          </p:nvSpPr>
          <p:spPr>
            <a:xfrm>
              <a:off x="2643188" y="5436870"/>
              <a:ext cx="1406842" cy="255270"/>
            </a:xfrm>
            <a:custGeom>
              <a:avLst/>
              <a:gdLst/>
              <a:ahLst/>
              <a:cxnLst/>
              <a:rect l="l" t="t" r="r" b="b"/>
              <a:pathLst>
                <a:path w="1406842" h="255270">
                  <a:moveTo>
                    <a:pt x="0" y="0"/>
                  </a:moveTo>
                  <a:lnTo>
                    <a:pt x="0" y="180023"/>
                  </a:lnTo>
                  <a:lnTo>
                    <a:pt x="1406842" y="180023"/>
                  </a:lnTo>
                  <a:lnTo>
                    <a:pt x="1406842" y="255270"/>
                  </a:lnTo>
                </a:path>
              </a:pathLst>
            </a:custGeom>
            <a:noFill/>
            <a:ln w="15240">
              <a:solidFill>
                <a:srgbClr val="5B6475"/>
              </a:solidFill>
            </a:ln>
          </p:spPr>
        </p:sp>
        <p:sp>
          <p:nvSpPr>
            <p:cNvPr id="24" name="Freeform 24"/>
            <p:cNvSpPr/>
            <p:nvPr/>
          </p:nvSpPr>
          <p:spPr>
            <a:xfrm>
              <a:off x="3997642" y="569214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5" name="Freeform 25"/>
            <p:cNvSpPr/>
            <p:nvPr/>
          </p:nvSpPr>
          <p:spPr>
            <a:xfrm>
              <a:off x="4050030" y="5436870"/>
              <a:ext cx="9525" cy="255270"/>
            </a:xfrm>
            <a:custGeom>
              <a:avLst/>
              <a:gdLst/>
              <a:ahLst/>
              <a:cxnLst/>
              <a:rect l="l" t="t" r="r" b="b"/>
              <a:pathLst>
                <a:path w="9525" h="255270">
                  <a:moveTo>
                    <a:pt x="0" y="0"/>
                  </a:moveTo>
                  <a:lnTo>
                    <a:pt x="0" y="255270"/>
                  </a:lnTo>
                </a:path>
              </a:pathLst>
            </a:custGeom>
            <a:noFill/>
            <a:ln w="15240">
              <a:solidFill>
                <a:srgbClr val="5B6475"/>
              </a:solidFill>
            </a:ln>
          </p:spPr>
        </p:sp>
        <p:sp>
          <p:nvSpPr>
            <p:cNvPr id="26" name="Freeform 26"/>
            <p:cNvSpPr/>
            <p:nvPr/>
          </p:nvSpPr>
          <p:spPr>
            <a:xfrm>
              <a:off x="3997642" y="569214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7" name="Freeform 27"/>
            <p:cNvSpPr/>
            <p:nvPr/>
          </p:nvSpPr>
          <p:spPr>
            <a:xfrm>
              <a:off x="4050030" y="5436870"/>
              <a:ext cx="1406842" cy="255270"/>
            </a:xfrm>
            <a:custGeom>
              <a:avLst/>
              <a:gdLst/>
              <a:ahLst/>
              <a:cxnLst/>
              <a:rect l="l" t="t" r="r" b="b"/>
              <a:pathLst>
                <a:path w="1406842" h="255270">
                  <a:moveTo>
                    <a:pt x="1406842" y="0"/>
                  </a:moveTo>
                  <a:lnTo>
                    <a:pt x="1406842" y="180023"/>
                  </a:lnTo>
                  <a:lnTo>
                    <a:pt x="0" y="180023"/>
                  </a:lnTo>
                  <a:lnTo>
                    <a:pt x="0" y="255270"/>
                  </a:lnTo>
                </a:path>
              </a:pathLst>
            </a:custGeom>
            <a:noFill/>
            <a:ln w="15240">
              <a:solidFill>
                <a:srgbClr val="5B6475"/>
              </a:solidFill>
            </a:ln>
          </p:spPr>
        </p:sp>
        <p:sp>
          <p:nvSpPr>
            <p:cNvPr id="28" name="Freeform 28"/>
            <p:cNvSpPr/>
            <p:nvPr/>
          </p:nvSpPr>
          <p:spPr>
            <a:xfrm>
              <a:off x="3997642" y="5692140"/>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29" name="Freeform 29"/>
            <p:cNvSpPr/>
            <p:nvPr/>
          </p:nvSpPr>
          <p:spPr>
            <a:xfrm>
              <a:off x="3318510" y="3007042"/>
              <a:ext cx="2672715" cy="2983230"/>
            </a:xfrm>
            <a:custGeom>
              <a:avLst/>
              <a:gdLst/>
              <a:ahLst/>
              <a:cxnLst/>
              <a:rect l="l" t="t" r="r" b="b"/>
              <a:pathLst>
                <a:path w="2672715" h="2983230">
                  <a:moveTo>
                    <a:pt x="1301115" y="2983230"/>
                  </a:moveTo>
                  <a:lnTo>
                    <a:pt x="1510665" y="2983230"/>
                  </a:lnTo>
                  <a:lnTo>
                    <a:pt x="2672715" y="2983230"/>
                  </a:lnTo>
                  <a:lnTo>
                    <a:pt x="2672715" y="1118235"/>
                  </a:lnTo>
                  <a:lnTo>
                    <a:pt x="2672715" y="0"/>
                  </a:lnTo>
                  <a:lnTo>
                    <a:pt x="104775" y="0"/>
                  </a:lnTo>
                  <a:lnTo>
                    <a:pt x="0" y="0"/>
                  </a:lnTo>
                </a:path>
              </a:pathLst>
            </a:custGeom>
            <a:noFill/>
            <a:ln w="15240">
              <a:solidFill>
                <a:srgbClr val="5B6475"/>
              </a:solidFill>
            </a:ln>
          </p:spPr>
        </p:sp>
        <p:sp>
          <p:nvSpPr>
            <p:cNvPr id="30" name="Freeform 30"/>
            <p:cNvSpPr/>
            <p:nvPr/>
          </p:nvSpPr>
          <p:spPr>
            <a:xfrm>
              <a:off x="3213735" y="2954655"/>
              <a:ext cx="104775" cy="104775"/>
            </a:xfrm>
            <a:custGeom>
              <a:avLst/>
              <a:gdLst/>
              <a:ahLst/>
              <a:cxnLst/>
              <a:rect l="l" t="t" r="r" b="b"/>
              <a:pathLst>
                <a:path w="104775" h="104775">
                  <a:moveTo>
                    <a:pt x="0" y="52388"/>
                  </a:moveTo>
                  <a:lnTo>
                    <a:pt x="104775" y="0"/>
                  </a:lnTo>
                  <a:lnTo>
                    <a:pt x="104775" y="104775"/>
                  </a:lnTo>
                  <a:close/>
                </a:path>
              </a:pathLst>
            </a:custGeom>
            <a:solidFill>
              <a:srgbClr val="5B6475"/>
            </a:solidFill>
            <a:ln>
              <a:noFill/>
            </a:ln>
          </p:spPr>
        </p:sp>
        <p:sp>
          <p:nvSpPr>
            <p:cNvPr id="31" name="Freeform 31"/>
            <p:cNvSpPr/>
            <p:nvPr/>
          </p:nvSpPr>
          <p:spPr>
            <a:xfrm>
              <a:off x="1806892" y="5990272"/>
              <a:ext cx="161925" cy="9525"/>
            </a:xfrm>
            <a:custGeom>
              <a:avLst/>
              <a:gdLst/>
              <a:ahLst/>
              <a:cxnLst/>
              <a:rect l="l" t="t" r="r" b="b"/>
              <a:pathLst>
                <a:path w="161925" h="9525">
                  <a:moveTo>
                    <a:pt x="0" y="0"/>
                  </a:moveTo>
                  <a:lnTo>
                    <a:pt x="161925" y="0"/>
                  </a:lnTo>
                </a:path>
              </a:pathLst>
            </a:custGeom>
            <a:noFill/>
            <a:ln w="15240">
              <a:solidFill>
                <a:srgbClr val="5B6475"/>
              </a:solidFill>
            </a:ln>
          </p:spPr>
        </p:sp>
        <p:sp>
          <p:nvSpPr>
            <p:cNvPr id="32" name="Freeform 32"/>
            <p:cNvSpPr/>
            <p:nvPr/>
          </p:nvSpPr>
          <p:spPr>
            <a:xfrm>
              <a:off x="1968818" y="5937885"/>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33" name="Rectangle 33"/>
            <p:cNvSpPr/>
            <p:nvPr/>
          </p:nvSpPr>
          <p:spPr>
            <a:xfrm>
              <a:off x="2073592" y="2067878"/>
              <a:ext cx="1140142" cy="385762"/>
            </a:xfrm>
            <a:prstGeom prst="roundRect">
              <a:avLst>
                <a:gd name="adj" fmla="val 49877"/>
              </a:avLst>
            </a:prstGeom>
            <a:solidFill>
              <a:srgbClr val="334E68"/>
            </a:solidFill>
            <a:ln>
              <a:noFill/>
            </a:ln>
          </p:spPr>
        </p:sp>
        <p:sp>
          <p:nvSpPr>
            <p:cNvPr id="34" name="Freeform 34"/>
            <p:cNvSpPr/>
            <p:nvPr/>
          </p:nvSpPr>
          <p:spPr>
            <a:xfrm>
              <a:off x="2073592" y="2719388"/>
              <a:ext cx="1140142" cy="575310"/>
            </a:xfrm>
            <a:custGeom>
              <a:avLst/>
              <a:gdLst/>
              <a:ahLst/>
              <a:cxnLst/>
              <a:rect l="l" t="t" r="r" b="b"/>
              <a:pathLst>
                <a:path w="1140142" h="575310">
                  <a:moveTo>
                    <a:pt x="569595" y="0"/>
                  </a:moveTo>
                  <a:lnTo>
                    <a:pt x="1140142" y="287655"/>
                  </a:lnTo>
                  <a:lnTo>
                    <a:pt x="569595" y="575310"/>
                  </a:lnTo>
                  <a:lnTo>
                    <a:pt x="0" y="287655"/>
                  </a:lnTo>
                  <a:close/>
                </a:path>
              </a:pathLst>
            </a:custGeom>
            <a:solidFill>
              <a:srgbClr val="FDEEE7"/>
            </a:solidFill>
            <a:ln w="15240">
              <a:solidFill>
                <a:srgbClr val="F26B3A"/>
              </a:solidFill>
            </a:ln>
          </p:spPr>
        </p:sp>
        <p:sp>
          <p:nvSpPr>
            <p:cNvPr id="35" name="Freeform 35"/>
            <p:cNvSpPr/>
            <p:nvPr/>
          </p:nvSpPr>
          <p:spPr>
            <a:xfrm>
              <a:off x="3480435" y="3465195"/>
              <a:ext cx="1139190" cy="575310"/>
            </a:xfrm>
            <a:custGeom>
              <a:avLst/>
              <a:gdLst/>
              <a:ahLst/>
              <a:cxnLst/>
              <a:rect l="l" t="t" r="r" b="b"/>
              <a:pathLst>
                <a:path w="1139190" h="575310">
                  <a:moveTo>
                    <a:pt x="569595" y="0"/>
                  </a:moveTo>
                  <a:lnTo>
                    <a:pt x="1139190" y="287655"/>
                  </a:lnTo>
                  <a:lnTo>
                    <a:pt x="569595" y="575310"/>
                  </a:lnTo>
                  <a:lnTo>
                    <a:pt x="0" y="287655"/>
                  </a:lnTo>
                  <a:close/>
                </a:path>
              </a:pathLst>
            </a:custGeom>
            <a:solidFill>
              <a:srgbClr val="FDEEE7"/>
            </a:solidFill>
            <a:ln w="15240">
              <a:solidFill>
                <a:srgbClr val="F26B3A"/>
              </a:solidFill>
            </a:ln>
          </p:spPr>
        </p:sp>
        <p:sp>
          <p:nvSpPr>
            <p:cNvPr id="36" name="Freeform 36"/>
            <p:cNvSpPr/>
            <p:nvPr/>
          </p:nvSpPr>
          <p:spPr>
            <a:xfrm>
              <a:off x="4886325" y="4211002"/>
              <a:ext cx="1140143" cy="575310"/>
            </a:xfrm>
            <a:custGeom>
              <a:avLst/>
              <a:gdLst/>
              <a:ahLst/>
              <a:cxnLst/>
              <a:rect l="l" t="t" r="r" b="b"/>
              <a:pathLst>
                <a:path w="1140143" h="575310">
                  <a:moveTo>
                    <a:pt x="570547" y="0"/>
                  </a:moveTo>
                  <a:lnTo>
                    <a:pt x="1140143" y="287655"/>
                  </a:lnTo>
                  <a:lnTo>
                    <a:pt x="570547" y="575310"/>
                  </a:lnTo>
                  <a:lnTo>
                    <a:pt x="0" y="287655"/>
                  </a:lnTo>
                  <a:close/>
                </a:path>
              </a:pathLst>
            </a:custGeom>
            <a:solidFill>
              <a:srgbClr val="FDEEE7"/>
            </a:solidFill>
            <a:ln w="15240">
              <a:solidFill>
                <a:srgbClr val="F26B3A"/>
              </a:solidFill>
            </a:ln>
          </p:spPr>
        </p:sp>
        <p:sp>
          <p:nvSpPr>
            <p:cNvPr id="37" name="Rectangle 37"/>
            <p:cNvSpPr/>
            <p:nvPr/>
          </p:nvSpPr>
          <p:spPr>
            <a:xfrm>
              <a:off x="2073592" y="5051108"/>
              <a:ext cx="1140142" cy="385762"/>
            </a:xfrm>
            <a:prstGeom prst="roundRect">
              <a:avLst>
                <a:gd name="adj" fmla="val 24691"/>
              </a:avLst>
            </a:prstGeom>
            <a:solidFill>
              <a:srgbClr val="FFFFFF"/>
            </a:solidFill>
            <a:ln w="15240">
              <a:solidFill>
                <a:srgbClr val="334E68"/>
              </a:solidFill>
            </a:ln>
          </p:spPr>
        </p:sp>
        <p:sp>
          <p:nvSpPr>
            <p:cNvPr id="38" name="Rectangle 38"/>
            <p:cNvSpPr/>
            <p:nvPr/>
          </p:nvSpPr>
          <p:spPr>
            <a:xfrm>
              <a:off x="3480435" y="5051108"/>
              <a:ext cx="1140142" cy="385762"/>
            </a:xfrm>
            <a:prstGeom prst="roundRect">
              <a:avLst>
                <a:gd name="adj" fmla="val 24691"/>
              </a:avLst>
            </a:prstGeom>
            <a:solidFill>
              <a:srgbClr val="FFFFFF"/>
            </a:solidFill>
            <a:ln w="15240">
              <a:solidFill>
                <a:srgbClr val="334E68"/>
              </a:solidFill>
            </a:ln>
          </p:spPr>
        </p:sp>
        <p:sp>
          <p:nvSpPr>
            <p:cNvPr id="39" name="Rectangle 39"/>
            <p:cNvSpPr/>
            <p:nvPr/>
          </p:nvSpPr>
          <p:spPr>
            <a:xfrm>
              <a:off x="4886325" y="5051108"/>
              <a:ext cx="1140142" cy="385762"/>
            </a:xfrm>
            <a:prstGeom prst="roundRect">
              <a:avLst>
                <a:gd name="adj" fmla="val 24691"/>
              </a:avLst>
            </a:prstGeom>
            <a:solidFill>
              <a:srgbClr val="FFFFFF"/>
            </a:solidFill>
            <a:ln w="15240">
              <a:solidFill>
                <a:srgbClr val="334E68"/>
              </a:solidFill>
            </a:ln>
          </p:spPr>
        </p:sp>
        <p:sp>
          <p:nvSpPr>
            <p:cNvPr id="40" name="Rectangle 40"/>
            <p:cNvSpPr/>
            <p:nvPr/>
          </p:nvSpPr>
          <p:spPr>
            <a:xfrm>
              <a:off x="666750" y="5796915"/>
              <a:ext cx="1140142" cy="385762"/>
            </a:xfrm>
            <a:prstGeom prst="roundRect">
              <a:avLst>
                <a:gd name="adj" fmla="val 24691"/>
              </a:avLst>
            </a:prstGeom>
            <a:solidFill>
              <a:srgbClr val="FFFFFF"/>
            </a:solidFill>
            <a:ln w="15240">
              <a:solidFill>
                <a:srgbClr val="334E68"/>
              </a:solidFill>
            </a:ln>
          </p:spPr>
        </p:sp>
        <p:sp>
          <p:nvSpPr>
            <p:cNvPr id="41" name="Rectangle 41"/>
            <p:cNvSpPr/>
            <p:nvPr/>
          </p:nvSpPr>
          <p:spPr>
            <a:xfrm>
              <a:off x="2073592" y="5796915"/>
              <a:ext cx="1140142" cy="385762"/>
            </a:xfrm>
            <a:prstGeom prst="roundRect">
              <a:avLst>
                <a:gd name="adj" fmla="val 49877"/>
              </a:avLst>
            </a:prstGeom>
            <a:solidFill>
              <a:srgbClr val="334E68"/>
            </a:solidFill>
            <a:ln>
              <a:noFill/>
            </a:ln>
          </p:spPr>
        </p:sp>
        <p:sp>
          <p:nvSpPr>
            <p:cNvPr id="42" name="Rectangle 42"/>
            <p:cNvSpPr/>
            <p:nvPr/>
          </p:nvSpPr>
          <p:spPr>
            <a:xfrm>
              <a:off x="3480435" y="5796915"/>
              <a:ext cx="1140142" cy="385762"/>
            </a:xfrm>
            <a:prstGeom prst="roundRect">
              <a:avLst>
                <a:gd name="adj" fmla="val 24691"/>
              </a:avLst>
            </a:prstGeom>
            <a:solidFill>
              <a:srgbClr val="FFFFFF"/>
            </a:solidFill>
            <a:ln w="15240">
              <a:solidFill>
                <a:srgbClr val="334E68"/>
              </a:solidFill>
            </a:ln>
          </p:spPr>
        </p:sp>
        <p:sp>
          <p:nvSpPr>
            <p:cNvPr id="43" name="TextBox 43"/>
            <p:cNvSpPr txBox="1"/>
            <p:nvPr/>
          </p:nvSpPr>
          <p:spPr>
            <a:xfrm>
              <a:off x="2417328" y="2182654"/>
              <a:ext cx="451720"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Start</a:t>
              </a:r>
            </a:p>
          </p:txBody>
        </p:sp>
        <p:sp>
          <p:nvSpPr>
            <p:cNvPr id="44" name="TextBox 44"/>
            <p:cNvSpPr txBox="1"/>
            <p:nvPr/>
          </p:nvSpPr>
          <p:spPr>
            <a:xfrm>
              <a:off x="2294959" y="2928461"/>
              <a:ext cx="696458"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DO WHILE</a:t>
              </a:r>
            </a:p>
          </p:txBody>
        </p:sp>
        <p:sp>
          <p:nvSpPr>
            <p:cNvPr id="45" name="TextBox 45"/>
            <p:cNvSpPr txBox="1"/>
            <p:nvPr/>
          </p:nvSpPr>
          <p:spPr>
            <a:xfrm>
              <a:off x="3956695" y="3674269"/>
              <a:ext cx="18667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C1</a:t>
              </a:r>
            </a:p>
          </p:txBody>
        </p:sp>
        <p:sp>
          <p:nvSpPr>
            <p:cNvPr id="46" name="TextBox 46"/>
            <p:cNvSpPr txBox="1"/>
            <p:nvPr/>
          </p:nvSpPr>
          <p:spPr>
            <a:xfrm>
              <a:off x="5363538" y="4420076"/>
              <a:ext cx="18667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C2</a:t>
              </a:r>
            </a:p>
          </p:txBody>
        </p:sp>
        <p:sp>
          <p:nvSpPr>
            <p:cNvPr id="47" name="TextBox 47"/>
            <p:cNvSpPr txBox="1"/>
            <p:nvPr/>
          </p:nvSpPr>
          <p:spPr>
            <a:xfrm>
              <a:off x="2593663" y="516588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A</a:t>
              </a:r>
            </a:p>
          </p:txBody>
        </p:sp>
        <p:sp>
          <p:nvSpPr>
            <p:cNvPr id="48" name="TextBox 48"/>
            <p:cNvSpPr txBox="1"/>
            <p:nvPr/>
          </p:nvSpPr>
          <p:spPr>
            <a:xfrm>
              <a:off x="4000505" y="516588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B</a:t>
              </a:r>
            </a:p>
          </p:txBody>
        </p:sp>
        <p:sp>
          <p:nvSpPr>
            <p:cNvPr id="49" name="TextBox 49"/>
            <p:cNvSpPr txBox="1"/>
            <p:nvPr/>
          </p:nvSpPr>
          <p:spPr>
            <a:xfrm>
              <a:off x="5407348" y="5165884"/>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C</a:t>
              </a:r>
            </a:p>
          </p:txBody>
        </p:sp>
        <p:sp>
          <p:nvSpPr>
            <p:cNvPr id="50" name="TextBox 50"/>
            <p:cNvSpPr txBox="1"/>
            <p:nvPr/>
          </p:nvSpPr>
          <p:spPr>
            <a:xfrm>
              <a:off x="1186820" y="5911691"/>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E</a:t>
              </a:r>
            </a:p>
          </p:txBody>
        </p:sp>
        <p:sp>
          <p:nvSpPr>
            <p:cNvPr id="51" name="TextBox 51"/>
            <p:cNvSpPr txBox="1"/>
            <p:nvPr/>
          </p:nvSpPr>
          <p:spPr>
            <a:xfrm>
              <a:off x="2504400" y="5911691"/>
              <a:ext cx="277575" cy="220028"/>
            </a:xfrm>
            <a:prstGeom prst="rect">
              <a:avLst/>
            </a:prstGeom>
            <a:noFill/>
            <a:ln>
              <a:noFill/>
            </a:ln>
          </p:spPr>
          <p:txBody>
            <a:bodyPr wrap="none" lIns="0" tIns="0" rIns="0" bIns="0" anchor="t" anchorCtr="0">
              <a:spAutoFit/>
            </a:bodyPr>
            <a:lstStyle/>
            <a:p>
              <a:pPr algn="ctr"/>
              <a:r>
                <a:rPr lang="en-US" sz="1120" b="1" dirty="0">
                  <a:solidFill>
                    <a:srgbClr val="FFFFFF"/>
                  </a:solidFill>
                  <a:latin typeface="+mn-lt"/>
                  <a:ea typeface="+mn-ea"/>
                  <a:cs typeface="+mn-cs"/>
                </a:rPr>
                <a:t>End</a:t>
              </a:r>
            </a:p>
          </p:txBody>
        </p:sp>
        <p:sp>
          <p:nvSpPr>
            <p:cNvPr id="52" name="TextBox 52"/>
            <p:cNvSpPr txBox="1"/>
            <p:nvPr/>
          </p:nvSpPr>
          <p:spPr>
            <a:xfrm>
              <a:off x="4000505" y="5911691"/>
              <a:ext cx="99050" cy="220028"/>
            </a:xfrm>
            <a:prstGeom prst="rect">
              <a:avLst/>
            </a:prstGeom>
            <a:noFill/>
            <a:ln>
              <a:noFill/>
            </a:ln>
          </p:spPr>
          <p:txBody>
            <a:bodyPr wrap="none" lIns="0" tIns="0" rIns="0" bIns="0" anchor="t" anchorCtr="0">
              <a:spAutoFit/>
            </a:bodyPr>
            <a:lstStyle/>
            <a:p>
              <a:pPr algn="ctr"/>
              <a:r>
                <a:rPr lang="en-US" sz="1120" dirty="0">
                  <a:solidFill>
                    <a:srgbClr val="1F2937"/>
                  </a:solidFill>
                  <a:latin typeface="+mn-lt"/>
                  <a:ea typeface="+mn-ea"/>
                  <a:cs typeface="+mn-cs"/>
                </a:rPr>
                <a:t>D</a:t>
              </a:r>
            </a:p>
          </p:txBody>
        </p:sp>
      </p:grpSp>
      <p:grpSp>
        <p:nvGrpSpPr>
          <p:cNvPr id="55" name="c2-text-1"/>
          <p:cNvGrpSpPr/>
          <p:nvPr/>
        </p:nvGrpSpPr>
        <p:grpSpPr>
          <a:xfrm>
            <a:off x="6458902" y="1542574"/>
            <a:ext cx="1066851" cy="220028"/>
            <a:chOff x="6458902" y="1542574"/>
            <a:chExt cx="1066851" cy="220028"/>
          </a:xfrm>
        </p:grpSpPr>
        <p:sp>
          <p:nvSpPr>
            <p:cNvPr id="54" name="TextBox 54"/>
            <p:cNvSpPr txBox="1"/>
            <p:nvPr/>
          </p:nvSpPr>
          <p:spPr>
            <a:xfrm>
              <a:off x="6458902" y="1542574"/>
              <a:ext cx="1066851" cy="220028"/>
            </a:xfrm>
            <a:prstGeom prst="rect">
              <a:avLst/>
            </a:prstGeom>
            <a:noFill/>
            <a:ln>
              <a:noFill/>
            </a:ln>
          </p:spPr>
          <p:txBody>
            <a:bodyPr wrap="none" lIns="0" tIns="0" rIns="0" bIns="0" anchor="t" anchorCtr="0">
              <a:spAutoFit/>
            </a:bodyPr>
            <a:lstStyle/>
            <a:p>
              <a:pPr algn="l"/>
              <a:r>
                <a:rPr lang="zh-CN" sz="1120" b="1" dirty="0">
                  <a:solidFill>
                    <a:srgbClr val="334E68"/>
                  </a:solidFill>
                  <a:latin typeface="+mn-lt"/>
                  <a:ea typeface="+mn-ea"/>
                  <a:cs typeface="+mn-cs"/>
                </a:rPr>
                <a:t>答：对应的流图</a:t>
              </a:r>
            </a:p>
          </p:txBody>
        </p:sp>
      </p:grpSp>
      <p:grpSp>
        <p:nvGrpSpPr>
          <p:cNvPr id="95" name="c2-graph-2"/>
          <p:cNvGrpSpPr/>
          <p:nvPr/>
        </p:nvGrpSpPr>
        <p:grpSpPr>
          <a:xfrm>
            <a:off x="6831330" y="2004060"/>
            <a:ext cx="4619625" cy="2289810"/>
            <a:chOff x="6831330" y="2004060"/>
            <a:chExt cx="4619625" cy="2289810"/>
          </a:xfrm>
        </p:grpSpPr>
        <p:sp>
          <p:nvSpPr>
            <p:cNvPr id="56" name="Freeform 56"/>
            <p:cNvSpPr/>
            <p:nvPr/>
          </p:nvSpPr>
          <p:spPr>
            <a:xfrm>
              <a:off x="8853488" y="2318385"/>
              <a:ext cx="9525" cy="117157"/>
            </a:xfrm>
            <a:custGeom>
              <a:avLst/>
              <a:gdLst/>
              <a:ahLst/>
              <a:cxnLst/>
              <a:rect l="l" t="t" r="r" b="b"/>
              <a:pathLst>
                <a:path w="9525" h="117157">
                  <a:moveTo>
                    <a:pt x="0" y="0"/>
                  </a:moveTo>
                  <a:lnTo>
                    <a:pt x="0" y="117157"/>
                  </a:lnTo>
                </a:path>
              </a:pathLst>
            </a:custGeom>
            <a:noFill/>
            <a:ln w="17145">
              <a:solidFill>
                <a:srgbClr val="1F2937"/>
              </a:solidFill>
            </a:ln>
          </p:spPr>
        </p:sp>
        <p:sp>
          <p:nvSpPr>
            <p:cNvPr id="57" name="Freeform 57"/>
            <p:cNvSpPr/>
            <p:nvPr/>
          </p:nvSpPr>
          <p:spPr>
            <a:xfrm>
              <a:off x="8805862" y="2435542"/>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58" name="Freeform 58"/>
            <p:cNvSpPr/>
            <p:nvPr/>
          </p:nvSpPr>
          <p:spPr>
            <a:xfrm>
              <a:off x="7231380" y="2201228"/>
              <a:ext cx="1466850" cy="421005"/>
            </a:xfrm>
            <a:custGeom>
              <a:avLst/>
              <a:gdLst/>
              <a:ahLst/>
              <a:cxnLst/>
              <a:rect l="l" t="t" r="r" b="b"/>
              <a:pathLst>
                <a:path w="1466850" h="421005">
                  <a:moveTo>
                    <a:pt x="1466850" y="0"/>
                  </a:moveTo>
                  <a:lnTo>
                    <a:pt x="0" y="421005"/>
                  </a:lnTo>
                </a:path>
              </a:pathLst>
            </a:custGeom>
            <a:noFill/>
            <a:ln w="17145">
              <a:solidFill>
                <a:srgbClr val="1F2937"/>
              </a:solidFill>
            </a:ln>
          </p:spPr>
        </p:sp>
        <p:sp>
          <p:nvSpPr>
            <p:cNvPr id="59" name="Freeform 59"/>
            <p:cNvSpPr/>
            <p:nvPr/>
          </p:nvSpPr>
          <p:spPr>
            <a:xfrm>
              <a:off x="7139940" y="2576512"/>
              <a:ext cx="104775" cy="91440"/>
            </a:xfrm>
            <a:custGeom>
              <a:avLst/>
              <a:gdLst/>
              <a:ahLst/>
              <a:cxnLst/>
              <a:rect l="l" t="t" r="r" b="b"/>
              <a:pathLst>
                <a:path w="104775" h="91440">
                  <a:moveTo>
                    <a:pt x="0" y="71438"/>
                  </a:moveTo>
                  <a:lnTo>
                    <a:pt x="78105" y="0"/>
                  </a:lnTo>
                  <a:lnTo>
                    <a:pt x="104775" y="91440"/>
                  </a:lnTo>
                  <a:close/>
                </a:path>
              </a:pathLst>
            </a:custGeom>
            <a:solidFill>
              <a:srgbClr val="1F2937"/>
            </a:solidFill>
            <a:ln>
              <a:noFill/>
            </a:ln>
          </p:spPr>
        </p:sp>
        <p:sp>
          <p:nvSpPr>
            <p:cNvPr id="60" name="Freeform 60"/>
            <p:cNvSpPr/>
            <p:nvPr/>
          </p:nvSpPr>
          <p:spPr>
            <a:xfrm>
              <a:off x="7940040" y="2767012"/>
              <a:ext cx="769620" cy="398145"/>
            </a:xfrm>
            <a:custGeom>
              <a:avLst/>
              <a:gdLst/>
              <a:ahLst/>
              <a:cxnLst/>
              <a:rect l="l" t="t" r="r" b="b"/>
              <a:pathLst>
                <a:path w="769620" h="398145">
                  <a:moveTo>
                    <a:pt x="769620" y="0"/>
                  </a:moveTo>
                  <a:lnTo>
                    <a:pt x="0" y="398145"/>
                  </a:lnTo>
                </a:path>
              </a:pathLst>
            </a:custGeom>
            <a:noFill/>
            <a:ln w="17145">
              <a:solidFill>
                <a:srgbClr val="1F2937"/>
              </a:solidFill>
            </a:ln>
          </p:spPr>
        </p:sp>
        <p:sp>
          <p:nvSpPr>
            <p:cNvPr id="61" name="Freeform 61"/>
            <p:cNvSpPr/>
            <p:nvPr/>
          </p:nvSpPr>
          <p:spPr>
            <a:xfrm>
              <a:off x="7855268" y="3122295"/>
              <a:ext cx="106680" cy="86677"/>
            </a:xfrm>
            <a:custGeom>
              <a:avLst/>
              <a:gdLst/>
              <a:ahLst/>
              <a:cxnLst/>
              <a:rect l="l" t="t" r="r" b="b"/>
              <a:pathLst>
                <a:path w="106680" h="86677">
                  <a:moveTo>
                    <a:pt x="0" y="86677"/>
                  </a:moveTo>
                  <a:lnTo>
                    <a:pt x="62865" y="0"/>
                  </a:lnTo>
                  <a:lnTo>
                    <a:pt x="106680" y="84772"/>
                  </a:lnTo>
                  <a:close/>
                </a:path>
              </a:pathLst>
            </a:custGeom>
            <a:solidFill>
              <a:srgbClr val="1F2937"/>
            </a:solidFill>
            <a:ln>
              <a:noFill/>
            </a:ln>
          </p:spPr>
        </p:sp>
        <p:sp>
          <p:nvSpPr>
            <p:cNvPr id="62" name="Freeform 62"/>
            <p:cNvSpPr/>
            <p:nvPr/>
          </p:nvSpPr>
          <p:spPr>
            <a:xfrm>
              <a:off x="9003030" y="2755582"/>
              <a:ext cx="756285" cy="320040"/>
            </a:xfrm>
            <a:custGeom>
              <a:avLst/>
              <a:gdLst/>
              <a:ahLst/>
              <a:cxnLst/>
              <a:rect l="l" t="t" r="r" b="b"/>
              <a:pathLst>
                <a:path w="756285" h="320040">
                  <a:moveTo>
                    <a:pt x="0" y="0"/>
                  </a:moveTo>
                  <a:lnTo>
                    <a:pt x="756285" y="320040"/>
                  </a:lnTo>
                </a:path>
              </a:pathLst>
            </a:custGeom>
            <a:noFill/>
            <a:ln w="17145">
              <a:solidFill>
                <a:srgbClr val="1F2937"/>
              </a:solidFill>
            </a:ln>
          </p:spPr>
        </p:sp>
        <p:sp>
          <p:nvSpPr>
            <p:cNvPr id="63" name="Freeform 63"/>
            <p:cNvSpPr/>
            <p:nvPr/>
          </p:nvSpPr>
          <p:spPr>
            <a:xfrm>
              <a:off x="9741218" y="3031808"/>
              <a:ext cx="106680" cy="87630"/>
            </a:xfrm>
            <a:custGeom>
              <a:avLst/>
              <a:gdLst/>
              <a:ahLst/>
              <a:cxnLst/>
              <a:rect l="l" t="t" r="r" b="b"/>
              <a:pathLst>
                <a:path w="106680" h="87630">
                  <a:moveTo>
                    <a:pt x="106680" y="80962"/>
                  </a:moveTo>
                  <a:lnTo>
                    <a:pt x="0" y="87630"/>
                  </a:lnTo>
                  <a:lnTo>
                    <a:pt x="37147" y="0"/>
                  </a:lnTo>
                  <a:close/>
                </a:path>
              </a:pathLst>
            </a:custGeom>
            <a:solidFill>
              <a:srgbClr val="1F2937"/>
            </a:solidFill>
            <a:ln>
              <a:noFill/>
            </a:ln>
          </p:spPr>
        </p:sp>
        <p:sp>
          <p:nvSpPr>
            <p:cNvPr id="64" name="Freeform 64"/>
            <p:cNvSpPr/>
            <p:nvPr/>
          </p:nvSpPr>
          <p:spPr>
            <a:xfrm>
              <a:off x="9567862" y="3281362"/>
              <a:ext cx="305752" cy="262890"/>
            </a:xfrm>
            <a:custGeom>
              <a:avLst/>
              <a:gdLst/>
              <a:ahLst/>
              <a:cxnLst/>
              <a:rect l="l" t="t" r="r" b="b"/>
              <a:pathLst>
                <a:path w="305752" h="262890">
                  <a:moveTo>
                    <a:pt x="305752" y="0"/>
                  </a:moveTo>
                  <a:lnTo>
                    <a:pt x="0" y="262890"/>
                  </a:lnTo>
                </a:path>
              </a:pathLst>
            </a:custGeom>
            <a:noFill/>
            <a:ln w="17145">
              <a:solidFill>
                <a:srgbClr val="1F2937"/>
              </a:solidFill>
            </a:ln>
          </p:spPr>
        </p:sp>
        <p:sp>
          <p:nvSpPr>
            <p:cNvPr id="65" name="Freeform 65"/>
            <p:cNvSpPr/>
            <p:nvPr/>
          </p:nvSpPr>
          <p:spPr>
            <a:xfrm>
              <a:off x="9496425" y="3508058"/>
              <a:ext cx="102870" cy="98108"/>
            </a:xfrm>
            <a:custGeom>
              <a:avLst/>
              <a:gdLst/>
              <a:ahLst/>
              <a:cxnLst/>
              <a:rect l="l" t="t" r="r" b="b"/>
              <a:pathLst>
                <a:path w="102870" h="98108">
                  <a:moveTo>
                    <a:pt x="0" y="98108"/>
                  </a:moveTo>
                  <a:lnTo>
                    <a:pt x="40957" y="0"/>
                  </a:lnTo>
                  <a:lnTo>
                    <a:pt x="102870" y="72390"/>
                  </a:lnTo>
                  <a:close/>
                </a:path>
              </a:pathLst>
            </a:custGeom>
            <a:solidFill>
              <a:srgbClr val="1F2937"/>
            </a:solidFill>
            <a:ln>
              <a:noFill/>
            </a:ln>
          </p:spPr>
        </p:sp>
        <p:sp>
          <p:nvSpPr>
            <p:cNvPr id="66" name="Freeform 66"/>
            <p:cNvSpPr/>
            <p:nvPr/>
          </p:nvSpPr>
          <p:spPr>
            <a:xfrm>
              <a:off x="10132695" y="3263265"/>
              <a:ext cx="479107" cy="309562"/>
            </a:xfrm>
            <a:custGeom>
              <a:avLst/>
              <a:gdLst/>
              <a:ahLst/>
              <a:cxnLst/>
              <a:rect l="l" t="t" r="r" b="b"/>
              <a:pathLst>
                <a:path w="479107" h="309562">
                  <a:moveTo>
                    <a:pt x="0" y="0"/>
                  </a:moveTo>
                  <a:lnTo>
                    <a:pt x="479107" y="309562"/>
                  </a:lnTo>
                </a:path>
              </a:pathLst>
            </a:custGeom>
            <a:noFill/>
            <a:ln w="17145">
              <a:solidFill>
                <a:srgbClr val="1F2937"/>
              </a:solidFill>
            </a:ln>
          </p:spPr>
        </p:sp>
        <p:sp>
          <p:nvSpPr>
            <p:cNvPr id="67" name="Freeform 67"/>
            <p:cNvSpPr/>
            <p:nvPr/>
          </p:nvSpPr>
          <p:spPr>
            <a:xfrm>
              <a:off x="10586085" y="3532822"/>
              <a:ext cx="105727" cy="91440"/>
            </a:xfrm>
            <a:custGeom>
              <a:avLst/>
              <a:gdLst/>
              <a:ahLst/>
              <a:cxnLst/>
              <a:rect l="l" t="t" r="r" b="b"/>
              <a:pathLst>
                <a:path w="105727" h="91440">
                  <a:moveTo>
                    <a:pt x="105727" y="91440"/>
                  </a:moveTo>
                  <a:lnTo>
                    <a:pt x="0" y="80010"/>
                  </a:lnTo>
                  <a:lnTo>
                    <a:pt x="51435" y="0"/>
                  </a:lnTo>
                  <a:close/>
                </a:path>
              </a:pathLst>
            </a:custGeom>
            <a:solidFill>
              <a:srgbClr val="1F2937"/>
            </a:solidFill>
            <a:ln>
              <a:noFill/>
            </a:ln>
          </p:spPr>
        </p:sp>
        <p:sp>
          <p:nvSpPr>
            <p:cNvPr id="68" name="Freeform 68"/>
            <p:cNvSpPr/>
            <p:nvPr/>
          </p:nvSpPr>
          <p:spPr>
            <a:xfrm>
              <a:off x="7840980" y="3380422"/>
              <a:ext cx="807720" cy="606743"/>
            </a:xfrm>
            <a:custGeom>
              <a:avLst/>
              <a:gdLst/>
              <a:ahLst/>
              <a:cxnLst/>
              <a:rect l="l" t="t" r="r" b="b"/>
              <a:pathLst>
                <a:path w="807720" h="606743">
                  <a:moveTo>
                    <a:pt x="0" y="0"/>
                  </a:moveTo>
                  <a:lnTo>
                    <a:pt x="807720" y="606743"/>
                  </a:lnTo>
                </a:path>
              </a:pathLst>
            </a:custGeom>
            <a:noFill/>
            <a:ln w="17145">
              <a:solidFill>
                <a:srgbClr val="1F2937"/>
              </a:solidFill>
            </a:ln>
          </p:spPr>
        </p:sp>
        <p:sp>
          <p:nvSpPr>
            <p:cNvPr id="69" name="Freeform 69"/>
            <p:cNvSpPr/>
            <p:nvPr/>
          </p:nvSpPr>
          <p:spPr>
            <a:xfrm>
              <a:off x="8620125" y="3949065"/>
              <a:ext cx="104775" cy="95250"/>
            </a:xfrm>
            <a:custGeom>
              <a:avLst/>
              <a:gdLst/>
              <a:ahLst/>
              <a:cxnLst/>
              <a:rect l="l" t="t" r="r" b="b"/>
              <a:pathLst>
                <a:path w="104775" h="95250">
                  <a:moveTo>
                    <a:pt x="104775" y="95250"/>
                  </a:moveTo>
                  <a:lnTo>
                    <a:pt x="0" y="76200"/>
                  </a:lnTo>
                  <a:lnTo>
                    <a:pt x="57150" y="0"/>
                  </a:lnTo>
                  <a:close/>
                </a:path>
              </a:pathLst>
            </a:custGeom>
            <a:solidFill>
              <a:srgbClr val="1F2937"/>
            </a:solidFill>
            <a:ln>
              <a:noFill/>
            </a:ln>
          </p:spPr>
        </p:sp>
        <p:sp>
          <p:nvSpPr>
            <p:cNvPr id="70" name="Freeform 70"/>
            <p:cNvSpPr/>
            <p:nvPr/>
          </p:nvSpPr>
          <p:spPr>
            <a:xfrm>
              <a:off x="9052560" y="3815715"/>
              <a:ext cx="196215" cy="161925"/>
            </a:xfrm>
            <a:custGeom>
              <a:avLst/>
              <a:gdLst/>
              <a:ahLst/>
              <a:cxnLst/>
              <a:rect l="l" t="t" r="r" b="b"/>
              <a:pathLst>
                <a:path w="196215" h="161925">
                  <a:moveTo>
                    <a:pt x="196215" y="0"/>
                  </a:moveTo>
                  <a:lnTo>
                    <a:pt x="0" y="161925"/>
                  </a:lnTo>
                </a:path>
              </a:pathLst>
            </a:custGeom>
            <a:noFill/>
            <a:ln w="17145">
              <a:solidFill>
                <a:srgbClr val="1F2937"/>
              </a:solidFill>
            </a:ln>
          </p:spPr>
        </p:sp>
        <p:sp>
          <p:nvSpPr>
            <p:cNvPr id="71" name="Freeform 71"/>
            <p:cNvSpPr/>
            <p:nvPr/>
          </p:nvSpPr>
          <p:spPr>
            <a:xfrm>
              <a:off x="8979218" y="3940492"/>
              <a:ext cx="102870" cy="98108"/>
            </a:xfrm>
            <a:custGeom>
              <a:avLst/>
              <a:gdLst/>
              <a:ahLst/>
              <a:cxnLst/>
              <a:rect l="l" t="t" r="r" b="b"/>
              <a:pathLst>
                <a:path w="102870" h="98108">
                  <a:moveTo>
                    <a:pt x="0" y="98108"/>
                  </a:moveTo>
                  <a:lnTo>
                    <a:pt x="42862" y="0"/>
                  </a:lnTo>
                  <a:lnTo>
                    <a:pt x="102870" y="73342"/>
                  </a:lnTo>
                  <a:close/>
                </a:path>
              </a:pathLst>
            </a:custGeom>
            <a:solidFill>
              <a:srgbClr val="1F2937"/>
            </a:solidFill>
            <a:ln>
              <a:noFill/>
            </a:ln>
          </p:spPr>
        </p:sp>
        <p:sp>
          <p:nvSpPr>
            <p:cNvPr id="72" name="Freeform 72"/>
            <p:cNvSpPr/>
            <p:nvPr/>
          </p:nvSpPr>
          <p:spPr>
            <a:xfrm>
              <a:off x="9104948" y="3746182"/>
              <a:ext cx="1564005" cy="340042"/>
            </a:xfrm>
            <a:custGeom>
              <a:avLst/>
              <a:gdLst/>
              <a:ahLst/>
              <a:cxnLst/>
              <a:rect l="l" t="t" r="r" b="b"/>
              <a:pathLst>
                <a:path w="1564005" h="340042">
                  <a:moveTo>
                    <a:pt x="1564005" y="0"/>
                  </a:moveTo>
                  <a:lnTo>
                    <a:pt x="0" y="340042"/>
                  </a:lnTo>
                </a:path>
              </a:pathLst>
            </a:custGeom>
            <a:noFill/>
            <a:ln w="17145">
              <a:solidFill>
                <a:srgbClr val="1F2937"/>
              </a:solidFill>
            </a:ln>
          </p:spPr>
        </p:sp>
        <p:sp>
          <p:nvSpPr>
            <p:cNvPr id="73" name="Freeform 73"/>
            <p:cNvSpPr/>
            <p:nvPr/>
          </p:nvSpPr>
          <p:spPr>
            <a:xfrm>
              <a:off x="9012555" y="4040505"/>
              <a:ext cx="102870" cy="92392"/>
            </a:xfrm>
            <a:custGeom>
              <a:avLst/>
              <a:gdLst/>
              <a:ahLst/>
              <a:cxnLst/>
              <a:rect l="l" t="t" r="r" b="b"/>
              <a:pathLst>
                <a:path w="102870" h="92392">
                  <a:moveTo>
                    <a:pt x="0" y="66675"/>
                  </a:moveTo>
                  <a:lnTo>
                    <a:pt x="82867" y="0"/>
                  </a:lnTo>
                  <a:lnTo>
                    <a:pt x="102870" y="92392"/>
                  </a:lnTo>
                  <a:close/>
                </a:path>
              </a:pathLst>
            </a:custGeom>
            <a:solidFill>
              <a:srgbClr val="1F2937"/>
            </a:solidFill>
            <a:ln>
              <a:noFill/>
            </a:ln>
          </p:spPr>
        </p:sp>
        <p:sp>
          <p:nvSpPr>
            <p:cNvPr id="74" name="Freeform 74"/>
            <p:cNvSpPr/>
            <p:nvPr/>
          </p:nvSpPr>
          <p:spPr>
            <a:xfrm>
              <a:off x="9015412" y="2156460"/>
              <a:ext cx="2435543" cy="1985010"/>
            </a:xfrm>
            <a:custGeom>
              <a:avLst/>
              <a:gdLst/>
              <a:ahLst/>
              <a:cxnLst/>
              <a:rect l="l" t="t" r="r" b="b"/>
              <a:pathLst>
                <a:path w="2435543" h="1985010">
                  <a:moveTo>
                    <a:pt x="0" y="1985010"/>
                  </a:moveTo>
                  <a:lnTo>
                    <a:pt x="2435543" y="1985010"/>
                  </a:lnTo>
                  <a:lnTo>
                    <a:pt x="2435543" y="0"/>
                  </a:lnTo>
                  <a:lnTo>
                    <a:pt x="95250" y="0"/>
                  </a:lnTo>
                </a:path>
              </a:pathLst>
            </a:custGeom>
            <a:noFill/>
            <a:ln w="17145">
              <a:solidFill>
                <a:srgbClr val="1F2937"/>
              </a:solidFill>
            </a:ln>
          </p:spPr>
        </p:sp>
        <p:sp>
          <p:nvSpPr>
            <p:cNvPr id="75" name="Freeform 75"/>
            <p:cNvSpPr/>
            <p:nvPr/>
          </p:nvSpPr>
          <p:spPr>
            <a:xfrm>
              <a:off x="9015412" y="2108835"/>
              <a:ext cx="95250" cy="95250"/>
            </a:xfrm>
            <a:custGeom>
              <a:avLst/>
              <a:gdLst/>
              <a:ahLst/>
              <a:cxnLst/>
              <a:rect l="l" t="t" r="r" b="b"/>
              <a:pathLst>
                <a:path w="95250" h="95250">
                  <a:moveTo>
                    <a:pt x="0" y="47625"/>
                  </a:moveTo>
                  <a:lnTo>
                    <a:pt x="95250" y="0"/>
                  </a:lnTo>
                  <a:lnTo>
                    <a:pt x="95250" y="95250"/>
                  </a:lnTo>
                  <a:close/>
                </a:path>
              </a:pathLst>
            </a:custGeom>
            <a:solidFill>
              <a:srgbClr val="1F2937"/>
            </a:solidFill>
            <a:ln>
              <a:noFill/>
            </a:ln>
          </p:spPr>
        </p:sp>
        <p:sp>
          <p:nvSpPr>
            <p:cNvPr id="76" name="Freeform 76"/>
            <p:cNvSpPr/>
            <p:nvPr/>
          </p:nvSpPr>
          <p:spPr>
            <a:xfrm>
              <a:off x="6983730" y="2854642"/>
              <a:ext cx="9525" cy="477203"/>
            </a:xfrm>
            <a:custGeom>
              <a:avLst/>
              <a:gdLst/>
              <a:ahLst/>
              <a:cxnLst/>
              <a:rect l="l" t="t" r="r" b="b"/>
              <a:pathLst>
                <a:path w="9525" h="477203">
                  <a:moveTo>
                    <a:pt x="0" y="0"/>
                  </a:moveTo>
                  <a:lnTo>
                    <a:pt x="0" y="477203"/>
                  </a:lnTo>
                </a:path>
              </a:pathLst>
            </a:custGeom>
            <a:noFill/>
            <a:ln w="17145">
              <a:solidFill>
                <a:srgbClr val="1F2937"/>
              </a:solidFill>
            </a:ln>
          </p:spPr>
        </p:sp>
        <p:sp>
          <p:nvSpPr>
            <p:cNvPr id="77" name="Freeform 77"/>
            <p:cNvSpPr/>
            <p:nvPr/>
          </p:nvSpPr>
          <p:spPr>
            <a:xfrm>
              <a:off x="6936105" y="3331845"/>
              <a:ext cx="95250" cy="95250"/>
            </a:xfrm>
            <a:custGeom>
              <a:avLst/>
              <a:gdLst/>
              <a:ahLst/>
              <a:cxnLst/>
              <a:rect l="l" t="t" r="r" b="b"/>
              <a:pathLst>
                <a:path w="95250" h="95250">
                  <a:moveTo>
                    <a:pt x="47625" y="95250"/>
                  </a:moveTo>
                  <a:lnTo>
                    <a:pt x="0" y="0"/>
                  </a:lnTo>
                  <a:lnTo>
                    <a:pt x="95250" y="0"/>
                  </a:lnTo>
                  <a:close/>
                </a:path>
              </a:pathLst>
            </a:custGeom>
            <a:solidFill>
              <a:srgbClr val="1F2937"/>
            </a:solidFill>
            <a:ln>
              <a:noFill/>
            </a:ln>
          </p:spPr>
        </p:sp>
        <p:sp>
          <p:nvSpPr>
            <p:cNvPr id="78" name="Ellipse 78"/>
            <p:cNvSpPr/>
            <p:nvPr/>
          </p:nvSpPr>
          <p:spPr>
            <a:xfrm>
              <a:off x="8701088" y="2004060"/>
              <a:ext cx="304800" cy="304800"/>
            </a:xfrm>
            <a:prstGeom prst="ellipse">
              <a:avLst/>
            </a:prstGeom>
            <a:solidFill>
              <a:srgbClr val="FFFFFF"/>
            </a:solidFill>
            <a:ln w="17145">
              <a:solidFill>
                <a:srgbClr val="334E68"/>
              </a:solidFill>
            </a:ln>
          </p:spPr>
        </p:sp>
        <p:sp>
          <p:nvSpPr>
            <p:cNvPr id="79" name="Ellipse 79"/>
            <p:cNvSpPr/>
            <p:nvPr/>
          </p:nvSpPr>
          <p:spPr>
            <a:xfrm>
              <a:off x="8701088" y="2540318"/>
              <a:ext cx="304800" cy="304800"/>
            </a:xfrm>
            <a:prstGeom prst="ellipse">
              <a:avLst/>
            </a:prstGeom>
            <a:solidFill>
              <a:srgbClr val="FFFFFF"/>
            </a:solidFill>
            <a:ln w="17145">
              <a:solidFill>
                <a:srgbClr val="334E68"/>
              </a:solidFill>
            </a:ln>
          </p:spPr>
        </p:sp>
        <p:sp>
          <p:nvSpPr>
            <p:cNvPr id="80" name="Ellipse 80"/>
            <p:cNvSpPr/>
            <p:nvPr/>
          </p:nvSpPr>
          <p:spPr>
            <a:xfrm>
              <a:off x="9844088" y="3023235"/>
              <a:ext cx="304800" cy="304800"/>
            </a:xfrm>
            <a:prstGeom prst="ellipse">
              <a:avLst/>
            </a:prstGeom>
            <a:solidFill>
              <a:srgbClr val="FFFFFF"/>
            </a:solidFill>
            <a:ln w="17145">
              <a:solidFill>
                <a:srgbClr val="334E68"/>
              </a:solidFill>
            </a:ln>
          </p:spPr>
        </p:sp>
        <p:sp>
          <p:nvSpPr>
            <p:cNvPr id="81" name="Ellipse 81"/>
            <p:cNvSpPr/>
            <p:nvPr/>
          </p:nvSpPr>
          <p:spPr>
            <a:xfrm>
              <a:off x="7559040" y="3130868"/>
              <a:ext cx="304800" cy="304800"/>
            </a:xfrm>
            <a:prstGeom prst="ellipse">
              <a:avLst/>
            </a:prstGeom>
            <a:solidFill>
              <a:srgbClr val="FFFFFF"/>
            </a:solidFill>
            <a:ln w="17145">
              <a:solidFill>
                <a:srgbClr val="334E68"/>
              </a:solidFill>
            </a:ln>
          </p:spPr>
        </p:sp>
        <p:sp>
          <p:nvSpPr>
            <p:cNvPr id="82" name="Ellipse 82"/>
            <p:cNvSpPr/>
            <p:nvPr/>
          </p:nvSpPr>
          <p:spPr>
            <a:xfrm>
              <a:off x="9221152" y="3559492"/>
              <a:ext cx="304800" cy="304800"/>
            </a:xfrm>
            <a:prstGeom prst="ellipse">
              <a:avLst/>
            </a:prstGeom>
            <a:solidFill>
              <a:srgbClr val="FFFFFF"/>
            </a:solidFill>
            <a:ln w="17145">
              <a:solidFill>
                <a:srgbClr val="334E68"/>
              </a:solidFill>
            </a:ln>
          </p:spPr>
        </p:sp>
        <p:sp>
          <p:nvSpPr>
            <p:cNvPr id="83" name="Ellipse 83"/>
            <p:cNvSpPr/>
            <p:nvPr/>
          </p:nvSpPr>
          <p:spPr>
            <a:xfrm>
              <a:off x="10675620" y="3559492"/>
              <a:ext cx="304800" cy="304800"/>
            </a:xfrm>
            <a:prstGeom prst="ellipse">
              <a:avLst/>
            </a:prstGeom>
            <a:solidFill>
              <a:srgbClr val="FFFFFF"/>
            </a:solidFill>
            <a:ln w="17145">
              <a:solidFill>
                <a:srgbClr val="334E68"/>
              </a:solidFill>
            </a:ln>
          </p:spPr>
        </p:sp>
        <p:sp>
          <p:nvSpPr>
            <p:cNvPr id="84" name="Ellipse 84"/>
            <p:cNvSpPr/>
            <p:nvPr/>
          </p:nvSpPr>
          <p:spPr>
            <a:xfrm>
              <a:off x="8701088" y="3989070"/>
              <a:ext cx="304800" cy="304800"/>
            </a:xfrm>
            <a:prstGeom prst="ellipse">
              <a:avLst/>
            </a:prstGeom>
            <a:solidFill>
              <a:srgbClr val="FFFFFF"/>
            </a:solidFill>
            <a:ln w="17145">
              <a:solidFill>
                <a:srgbClr val="334E68"/>
              </a:solidFill>
            </a:ln>
          </p:spPr>
        </p:sp>
        <p:sp>
          <p:nvSpPr>
            <p:cNvPr id="85" name="Ellipse 85"/>
            <p:cNvSpPr/>
            <p:nvPr/>
          </p:nvSpPr>
          <p:spPr>
            <a:xfrm>
              <a:off x="6831330" y="2540318"/>
              <a:ext cx="304800" cy="304800"/>
            </a:xfrm>
            <a:prstGeom prst="ellipse">
              <a:avLst/>
            </a:prstGeom>
            <a:solidFill>
              <a:srgbClr val="FFFFFF"/>
            </a:solidFill>
            <a:ln w="17145">
              <a:solidFill>
                <a:srgbClr val="334E68"/>
              </a:solidFill>
            </a:ln>
          </p:spPr>
        </p:sp>
        <p:sp>
          <p:nvSpPr>
            <p:cNvPr id="86" name="Ellipse 86"/>
            <p:cNvSpPr/>
            <p:nvPr/>
          </p:nvSpPr>
          <p:spPr>
            <a:xfrm>
              <a:off x="6869430" y="3436620"/>
              <a:ext cx="228600" cy="228600"/>
            </a:xfrm>
            <a:prstGeom prst="ellipse">
              <a:avLst/>
            </a:prstGeom>
            <a:solidFill>
              <a:srgbClr val="FFFFFF"/>
            </a:solidFill>
            <a:ln w="17145">
              <a:solidFill>
                <a:srgbClr val="334E68"/>
              </a:solidFill>
            </a:ln>
          </p:spPr>
        </p:sp>
        <p:sp>
          <p:nvSpPr>
            <p:cNvPr id="87" name="TextBox 87"/>
            <p:cNvSpPr txBox="1"/>
            <p:nvPr/>
          </p:nvSpPr>
          <p:spPr>
            <a:xfrm>
              <a:off x="8813741" y="2100262"/>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1</a:t>
              </a:r>
            </a:p>
          </p:txBody>
        </p:sp>
        <p:sp>
          <p:nvSpPr>
            <p:cNvPr id="88" name="TextBox 88"/>
            <p:cNvSpPr txBox="1"/>
            <p:nvPr/>
          </p:nvSpPr>
          <p:spPr>
            <a:xfrm>
              <a:off x="8813741" y="2636520"/>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2</a:t>
              </a:r>
            </a:p>
          </p:txBody>
        </p:sp>
        <p:sp>
          <p:nvSpPr>
            <p:cNvPr id="89" name="TextBox 89"/>
            <p:cNvSpPr txBox="1"/>
            <p:nvPr/>
          </p:nvSpPr>
          <p:spPr>
            <a:xfrm>
              <a:off x="9956741" y="3119438"/>
              <a:ext cx="79494" cy="176212"/>
            </a:xfrm>
            <a:prstGeom prst="rect">
              <a:avLst/>
            </a:prstGeom>
            <a:noFill/>
            <a:ln>
              <a:noFill/>
            </a:ln>
          </p:spPr>
          <p:txBody>
            <a:bodyPr wrap="none" lIns="0" tIns="0" rIns="0" bIns="0" anchor="t" anchorCtr="0">
              <a:spAutoFit/>
            </a:bodyPr>
            <a:lstStyle/>
            <a:p>
              <a:pPr algn="ctr"/>
              <a:r>
                <a:rPr lang="zh-CN" sz="900" b="1" dirty="0">
                  <a:solidFill>
                    <a:srgbClr val="1F2937"/>
                  </a:solidFill>
                  <a:latin typeface="+mn-lt"/>
                  <a:ea typeface="+mn-ea"/>
                  <a:cs typeface="+mn-cs"/>
                </a:rPr>
                <a:t>3</a:t>
              </a:r>
            </a:p>
          </p:txBody>
        </p:sp>
        <p:sp>
          <p:nvSpPr>
            <p:cNvPr id="90" name="TextBox 90"/>
            <p:cNvSpPr txBox="1"/>
            <p:nvPr/>
          </p:nvSpPr>
          <p:spPr>
            <a:xfrm>
              <a:off x="7669713" y="3227070"/>
              <a:ext cx="83454" cy="176212"/>
            </a:xfrm>
            <a:prstGeom prst="rect">
              <a:avLst/>
            </a:prstGeom>
            <a:noFill/>
            <a:ln>
              <a:noFill/>
            </a:ln>
          </p:spPr>
          <p:txBody>
            <a:bodyPr wrap="none" lIns="0" tIns="0" rIns="0" bIns="0" anchor="t" anchorCtr="0">
              <a:spAutoFit/>
            </a:bodyPr>
            <a:lstStyle/>
            <a:p>
              <a:pPr algn="ctr"/>
              <a:r>
                <a:rPr lang="en-US" sz="900" b="1" dirty="0">
                  <a:solidFill>
                    <a:srgbClr val="1F2937"/>
                  </a:solidFill>
                  <a:latin typeface="+mn-lt"/>
                  <a:ea typeface="+mn-ea"/>
                  <a:cs typeface="+mn-cs"/>
                </a:rPr>
                <a:t>A</a:t>
              </a:r>
            </a:p>
          </p:txBody>
        </p:sp>
        <p:sp>
          <p:nvSpPr>
            <p:cNvPr id="91" name="TextBox 91"/>
            <p:cNvSpPr txBox="1"/>
            <p:nvPr/>
          </p:nvSpPr>
          <p:spPr>
            <a:xfrm>
              <a:off x="9331825" y="3655695"/>
              <a:ext cx="83454" cy="176212"/>
            </a:xfrm>
            <a:prstGeom prst="rect">
              <a:avLst/>
            </a:prstGeom>
            <a:noFill/>
            <a:ln>
              <a:noFill/>
            </a:ln>
          </p:spPr>
          <p:txBody>
            <a:bodyPr wrap="none" lIns="0" tIns="0" rIns="0" bIns="0" anchor="t" anchorCtr="0">
              <a:spAutoFit/>
            </a:bodyPr>
            <a:lstStyle/>
            <a:p>
              <a:pPr algn="ctr"/>
              <a:r>
                <a:rPr lang="en-US" sz="900" b="1" dirty="0">
                  <a:solidFill>
                    <a:srgbClr val="1F2937"/>
                  </a:solidFill>
                  <a:latin typeface="+mn-lt"/>
                  <a:ea typeface="+mn-ea"/>
                  <a:cs typeface="+mn-cs"/>
                </a:rPr>
                <a:t>B</a:t>
              </a:r>
            </a:p>
          </p:txBody>
        </p:sp>
        <p:sp>
          <p:nvSpPr>
            <p:cNvPr id="92" name="TextBox 92"/>
            <p:cNvSpPr txBox="1"/>
            <p:nvPr/>
          </p:nvSpPr>
          <p:spPr>
            <a:xfrm>
              <a:off x="10786293" y="3655695"/>
              <a:ext cx="83454" cy="176212"/>
            </a:xfrm>
            <a:prstGeom prst="rect">
              <a:avLst/>
            </a:prstGeom>
            <a:noFill/>
            <a:ln>
              <a:noFill/>
            </a:ln>
          </p:spPr>
          <p:txBody>
            <a:bodyPr wrap="none" lIns="0" tIns="0" rIns="0" bIns="0" anchor="t" anchorCtr="0">
              <a:spAutoFit/>
            </a:bodyPr>
            <a:lstStyle/>
            <a:p>
              <a:pPr algn="ctr"/>
              <a:r>
                <a:rPr lang="en-US" sz="900" b="1" dirty="0">
                  <a:solidFill>
                    <a:srgbClr val="1F2937"/>
                  </a:solidFill>
                  <a:latin typeface="+mn-lt"/>
                  <a:ea typeface="+mn-ea"/>
                  <a:cs typeface="+mn-cs"/>
                </a:rPr>
                <a:t>C</a:t>
              </a:r>
            </a:p>
          </p:txBody>
        </p:sp>
        <p:sp>
          <p:nvSpPr>
            <p:cNvPr id="93" name="TextBox 93"/>
            <p:cNvSpPr txBox="1"/>
            <p:nvPr/>
          </p:nvSpPr>
          <p:spPr>
            <a:xfrm>
              <a:off x="8811760" y="4085273"/>
              <a:ext cx="83454" cy="176212"/>
            </a:xfrm>
            <a:prstGeom prst="rect">
              <a:avLst/>
            </a:prstGeom>
            <a:noFill/>
            <a:ln>
              <a:noFill/>
            </a:ln>
          </p:spPr>
          <p:txBody>
            <a:bodyPr wrap="none" lIns="0" tIns="0" rIns="0" bIns="0" anchor="t" anchorCtr="0">
              <a:spAutoFit/>
            </a:bodyPr>
            <a:lstStyle/>
            <a:p>
              <a:pPr algn="ctr"/>
              <a:r>
                <a:rPr lang="en-US" sz="900" b="1" dirty="0">
                  <a:solidFill>
                    <a:srgbClr val="1F2937"/>
                  </a:solidFill>
                  <a:latin typeface="+mn-lt"/>
                  <a:ea typeface="+mn-ea"/>
                  <a:cs typeface="+mn-cs"/>
                </a:rPr>
                <a:t>D</a:t>
              </a:r>
            </a:p>
          </p:txBody>
        </p:sp>
        <p:sp>
          <p:nvSpPr>
            <p:cNvPr id="94" name="TextBox 94"/>
            <p:cNvSpPr txBox="1"/>
            <p:nvPr/>
          </p:nvSpPr>
          <p:spPr>
            <a:xfrm>
              <a:off x="6942003" y="2636520"/>
              <a:ext cx="83454" cy="176212"/>
            </a:xfrm>
            <a:prstGeom prst="rect">
              <a:avLst/>
            </a:prstGeom>
            <a:noFill/>
            <a:ln>
              <a:noFill/>
            </a:ln>
          </p:spPr>
          <p:txBody>
            <a:bodyPr wrap="none" lIns="0" tIns="0" rIns="0" bIns="0" anchor="t" anchorCtr="0">
              <a:spAutoFit/>
            </a:bodyPr>
            <a:lstStyle/>
            <a:p>
              <a:pPr algn="ctr"/>
              <a:r>
                <a:rPr lang="en-US" sz="900" b="1" dirty="0">
                  <a:solidFill>
                    <a:srgbClr val="1F2937"/>
                  </a:solidFill>
                  <a:latin typeface="+mn-lt"/>
                  <a:ea typeface="+mn-ea"/>
                  <a:cs typeface="+mn-cs"/>
                </a:rPr>
                <a:t>E</a:t>
              </a:r>
            </a:p>
          </p:txBody>
        </p:sp>
      </p:grpSp>
      <p:grpSp>
        <p:nvGrpSpPr>
          <p:cNvPr id="106" name="c2-card-3"/>
          <p:cNvGrpSpPr/>
          <p:nvPr/>
        </p:nvGrpSpPr>
        <p:grpSpPr>
          <a:xfrm>
            <a:off x="6464618" y="4740592"/>
            <a:ext cx="5193982" cy="1528762"/>
            <a:chOff x="6464618" y="4740592"/>
            <a:chExt cx="5193982" cy="1528762"/>
          </a:xfrm>
        </p:grpSpPr>
        <p:sp>
          <p:nvSpPr>
            <p:cNvPr id="96" name="Rectangle 96"/>
            <p:cNvSpPr/>
            <p:nvPr/>
          </p:nvSpPr>
          <p:spPr>
            <a:xfrm>
              <a:off x="6464618" y="4740592"/>
              <a:ext cx="5193982" cy="1528762"/>
            </a:xfrm>
            <a:prstGeom prst="roundRect">
              <a:avLst>
                <a:gd name="adj" fmla="val 8723"/>
              </a:avLst>
            </a:prstGeom>
            <a:solidFill>
              <a:srgbClr val="FFFFFF"/>
            </a:solidFill>
            <a:ln w="14288">
              <a:solidFill>
                <a:srgbClr val="D9DFEA"/>
              </a:solidFill>
            </a:ln>
          </p:spPr>
        </p:sp>
        <p:sp>
          <p:nvSpPr>
            <p:cNvPr id="97" name="Rectangle 97"/>
            <p:cNvSpPr/>
            <p:nvPr/>
          </p:nvSpPr>
          <p:spPr>
            <a:xfrm>
              <a:off x="6474142" y="4873942"/>
              <a:ext cx="47625" cy="1262062"/>
            </a:xfrm>
            <a:prstGeom prst="roundRect">
              <a:avLst>
                <a:gd name="adj" fmla="val 50000"/>
              </a:avLst>
            </a:prstGeom>
            <a:solidFill>
              <a:srgbClr val="14A38B"/>
            </a:solidFill>
            <a:ln>
              <a:noFill/>
            </a:ln>
          </p:spPr>
        </p:sp>
        <p:sp>
          <p:nvSpPr>
            <p:cNvPr id="98" name="Rectangle 98"/>
            <p:cNvSpPr/>
            <p:nvPr/>
          </p:nvSpPr>
          <p:spPr>
            <a:xfrm>
              <a:off x="6689408" y="4927282"/>
              <a:ext cx="458152" cy="238125"/>
            </a:xfrm>
            <a:prstGeom prst="roundRect">
              <a:avLst>
                <a:gd name="adj" fmla="val 50000"/>
              </a:avLst>
            </a:prstGeom>
            <a:solidFill>
              <a:srgbClr val="E3F5F1"/>
            </a:solidFill>
            <a:ln>
              <a:noFill/>
            </a:ln>
          </p:spPr>
        </p:sp>
        <p:sp>
          <p:nvSpPr>
            <p:cNvPr id="99" name="TextBox 99"/>
            <p:cNvSpPr txBox="1"/>
            <p:nvPr/>
          </p:nvSpPr>
          <p:spPr>
            <a:xfrm>
              <a:off x="6782079" y="4960144"/>
              <a:ext cx="273761"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计算</a:t>
              </a:r>
            </a:p>
          </p:txBody>
        </p:sp>
        <p:sp>
          <p:nvSpPr>
            <p:cNvPr id="100" name="Ellipse 100"/>
            <p:cNvSpPr/>
            <p:nvPr/>
          </p:nvSpPr>
          <p:spPr>
            <a:xfrm>
              <a:off x="6697980" y="5327332"/>
              <a:ext cx="59055" cy="59055"/>
            </a:xfrm>
            <a:prstGeom prst="ellipse">
              <a:avLst/>
            </a:prstGeom>
            <a:solidFill>
              <a:srgbClr val="334E68"/>
            </a:solidFill>
            <a:ln>
              <a:noFill/>
            </a:ln>
          </p:spPr>
        </p:sp>
        <p:sp>
          <p:nvSpPr>
            <p:cNvPr id="101" name="TextBox 101"/>
            <p:cNvSpPr txBox="1"/>
            <p:nvPr/>
          </p:nvSpPr>
          <p:spPr>
            <a:xfrm>
              <a:off x="6853999" y="5271135"/>
              <a:ext cx="440283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N = 9（DO WHILE、C1、C2、A、B、C、D、E、出口）</a:t>
              </a:r>
            </a:p>
          </p:txBody>
        </p:sp>
        <p:sp>
          <p:nvSpPr>
            <p:cNvPr id="102" name="Ellipse 102"/>
            <p:cNvSpPr/>
            <p:nvPr/>
          </p:nvSpPr>
          <p:spPr>
            <a:xfrm>
              <a:off x="6697980" y="5627370"/>
              <a:ext cx="59055" cy="59055"/>
            </a:xfrm>
            <a:prstGeom prst="ellipse">
              <a:avLst/>
            </a:prstGeom>
            <a:solidFill>
              <a:srgbClr val="334E68"/>
            </a:solidFill>
            <a:ln>
              <a:noFill/>
            </a:ln>
          </p:spPr>
        </p:sp>
        <p:sp>
          <p:nvSpPr>
            <p:cNvPr id="103" name="TextBox 103"/>
            <p:cNvSpPr txBox="1"/>
            <p:nvPr/>
          </p:nvSpPr>
          <p:spPr>
            <a:xfrm>
              <a:off x="6853999" y="5571173"/>
              <a:ext cx="551383"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E = 11</a:t>
              </a:r>
            </a:p>
          </p:txBody>
        </p:sp>
        <p:sp>
          <p:nvSpPr>
            <p:cNvPr id="104" name="Ellipse 104"/>
            <p:cNvSpPr/>
            <p:nvPr/>
          </p:nvSpPr>
          <p:spPr>
            <a:xfrm>
              <a:off x="6697980" y="5928360"/>
              <a:ext cx="59055" cy="59055"/>
            </a:xfrm>
            <a:prstGeom prst="ellipse">
              <a:avLst/>
            </a:prstGeom>
            <a:solidFill>
              <a:srgbClr val="334E68"/>
            </a:solidFill>
            <a:ln>
              <a:noFill/>
            </a:ln>
          </p:spPr>
        </p:sp>
        <p:sp>
          <p:nvSpPr>
            <p:cNvPr id="105" name="TextBox 105"/>
            <p:cNvSpPr txBox="1"/>
            <p:nvPr/>
          </p:nvSpPr>
          <p:spPr>
            <a:xfrm>
              <a:off x="6853999" y="5872162"/>
              <a:ext cx="4085876"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 xml:space="preserve">V(G) = 11 − 9 + 2 = </a:t>
              </a:r>
              <a:r>
                <a:rPr lang="zh-CN" sz="1350" b="1" dirty="0">
                  <a:solidFill>
                    <a:srgbClr val="0F7A68"/>
                  </a:solidFill>
                  <a:latin typeface="+mn-lt"/>
                  <a:ea typeface="+mn-ea"/>
                  <a:cs typeface="+mn-cs"/>
                </a:rPr>
                <a:t>4</a:t>
              </a:r>
              <a:r>
                <a:rPr lang="zh-CN" sz="1350" dirty="0">
                  <a:solidFill>
                    <a:srgbClr val="1F2937"/>
                  </a:solidFill>
                  <a:latin typeface="+mn-lt"/>
                  <a:ea typeface="+mn-ea"/>
                  <a:cs typeface="+mn-cs"/>
                </a:rPr>
                <a:t xml:space="preserve">；判定结点 3 个，P + 1 = </a:t>
              </a:r>
              <a:r>
                <a:rPr lang="zh-CN" sz="1350" b="1" dirty="0">
                  <a:solidFill>
                    <a:srgbClr val="0F7A68"/>
                  </a:solidFill>
                  <a:latin typeface="+mn-lt"/>
                  <a:ea typeface="+mn-ea"/>
                  <a:cs typeface="+mn-cs"/>
                </a:rPr>
                <a:t>4</a:t>
              </a:r>
            </a:p>
          </p:txBody>
        </p:sp>
      </p:grpSp>
      <p:grpSp>
        <p:nvGrpSpPr>
          <p:cNvPr id="109" name="footer"/>
          <p:cNvGrpSpPr/>
          <p:nvPr/>
        </p:nvGrpSpPr>
        <p:grpSpPr>
          <a:xfrm>
            <a:off x="528447" y="6581299"/>
            <a:ext cx="11135106" cy="190690"/>
            <a:chOff x="528447" y="6581299"/>
            <a:chExt cx="11135106" cy="190690"/>
          </a:xfrm>
        </p:grpSpPr>
        <p:sp>
          <p:nvSpPr>
            <p:cNvPr id="107" name="TextBox 107"/>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108" name="TextBox 10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52</a:t>
              </a:r>
            </a:p>
          </p:txBody>
        </p:sp>
      </p:grpSp>
    </p:spTree>
  </p:cSld>
  <p:clrMapOvr>
    <a:masterClrMapping/>
  </p:clrMapOvr>
  <p:transition xmlns:p14="http://schemas.microsoft.com/office/powerpoint/2010/main" p14:dur="400">
    <p:fade/>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7133733" cy="909257"/>
            <a:chOff x="520446" y="342900"/>
            <a:chExt cx="7133733"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程序复杂程度的定量度量</a:t>
              </a:r>
            </a:p>
          </p:txBody>
        </p:sp>
        <p:sp>
          <p:nvSpPr>
            <p:cNvPr id="4" name="TextBox 4"/>
            <p:cNvSpPr txBox="1"/>
            <p:nvPr/>
          </p:nvSpPr>
          <p:spPr>
            <a:xfrm>
              <a:off x="520446" y="753428"/>
              <a:ext cx="713373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Halstead 方法：先把运算符和运算对象数清楚</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3" name="c1-card-1"/>
          <p:cNvGrpSpPr/>
          <p:nvPr/>
        </p:nvGrpSpPr>
        <p:grpSpPr>
          <a:xfrm>
            <a:off x="533400" y="1524000"/>
            <a:ext cx="5626418" cy="997268"/>
            <a:chOff x="533400" y="1524000"/>
            <a:chExt cx="5626418" cy="997268"/>
          </a:xfrm>
        </p:grpSpPr>
        <p:sp>
          <p:nvSpPr>
            <p:cNvPr id="7" name="Rectangle 7"/>
            <p:cNvSpPr/>
            <p:nvPr/>
          </p:nvSpPr>
          <p:spPr>
            <a:xfrm>
              <a:off x="533400" y="1524000"/>
              <a:ext cx="5626418" cy="997268"/>
            </a:xfrm>
            <a:prstGeom prst="roundRect">
              <a:avLst>
                <a:gd name="adj" fmla="val 13372"/>
              </a:avLst>
            </a:prstGeom>
            <a:solidFill>
              <a:srgbClr val="FFFFFF"/>
            </a:solidFill>
            <a:ln w="14288">
              <a:solidFill>
                <a:srgbClr val="D9DFEA"/>
              </a:solidFill>
            </a:ln>
          </p:spPr>
        </p:sp>
        <p:sp>
          <p:nvSpPr>
            <p:cNvPr id="8" name="Rectangle 8"/>
            <p:cNvSpPr/>
            <p:nvPr/>
          </p:nvSpPr>
          <p:spPr>
            <a:xfrm>
              <a:off x="542925" y="1657350"/>
              <a:ext cx="47625" cy="730568"/>
            </a:xfrm>
            <a:prstGeom prst="roundRect">
              <a:avLst>
                <a:gd name="adj" fmla="val 50000"/>
              </a:avLst>
            </a:prstGeom>
            <a:solidFill>
              <a:srgbClr val="334E68"/>
            </a:solidFill>
            <a:ln>
              <a:noFill/>
            </a:ln>
          </p:spPr>
        </p:sp>
        <p:sp>
          <p:nvSpPr>
            <p:cNvPr id="9" name="Rectangle 9"/>
            <p:cNvSpPr/>
            <p:nvPr/>
          </p:nvSpPr>
          <p:spPr>
            <a:xfrm>
              <a:off x="769620" y="1722120"/>
              <a:ext cx="476250" cy="247650"/>
            </a:xfrm>
            <a:prstGeom prst="roundRect">
              <a:avLst>
                <a:gd name="adj" fmla="val 50000"/>
              </a:avLst>
            </a:prstGeom>
            <a:solidFill>
              <a:srgbClr val="E7EDF3"/>
            </a:solidFill>
            <a:ln>
              <a:noFill/>
            </a:ln>
          </p:spPr>
        </p:sp>
        <p:sp>
          <p:nvSpPr>
            <p:cNvPr id="10" name="TextBox 10"/>
            <p:cNvSpPr txBox="1"/>
            <p:nvPr/>
          </p:nvSpPr>
          <p:spPr>
            <a:xfrm>
              <a:off x="861060" y="1756410"/>
              <a:ext cx="293370" cy="205359"/>
            </a:xfrm>
            <a:prstGeom prst="rect">
              <a:avLst/>
            </a:prstGeom>
            <a:noFill/>
            <a:ln>
              <a:noFill/>
            </a:ln>
          </p:spPr>
          <p:txBody>
            <a:bodyPr wrap="none" lIns="0" tIns="0" rIns="0" bIns="0" anchor="t" anchorCtr="0">
              <a:spAutoFit/>
            </a:bodyPr>
            <a:lstStyle/>
            <a:p>
              <a:pPr algn="ctr"/>
              <a:r>
                <a:rPr lang="zh-CN" sz="1050" b="1" dirty="0">
                  <a:solidFill>
                    <a:srgbClr val="334E68"/>
                  </a:solidFill>
                  <a:latin typeface="+mn-lt"/>
                  <a:ea typeface="+mn-ea"/>
                  <a:cs typeface="+mn-cs"/>
                </a:rPr>
                <a:t>定义</a:t>
              </a:r>
            </a:p>
          </p:txBody>
        </p:sp>
        <p:sp>
          <p:nvSpPr>
            <p:cNvPr id="11" name="TextBox 11"/>
            <p:cNvSpPr txBox="1"/>
            <p:nvPr/>
          </p:nvSpPr>
          <p:spPr>
            <a:xfrm>
              <a:off x="1352931" y="1756886"/>
              <a:ext cx="1296316"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Halstead 方法</a:t>
              </a:r>
            </a:p>
          </p:txBody>
        </p:sp>
        <p:sp>
          <p:nvSpPr>
            <p:cNvPr id="12" name="TextBox 12"/>
            <p:cNvSpPr txBox="1"/>
            <p:nvPr/>
          </p:nvSpPr>
          <p:spPr>
            <a:xfrm>
              <a:off x="762381" y="2100739"/>
              <a:ext cx="5175809"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根据程序中</a:t>
              </a:r>
              <a:r>
                <a:rPr lang="zh-CN" sz="1420" b="1" dirty="0">
                  <a:solidFill>
                    <a:srgbClr val="C2410C"/>
                  </a:solidFill>
                  <a:latin typeface="+mn-lt"/>
                  <a:ea typeface="+mn-ea"/>
                  <a:cs typeface="+mn-cs"/>
                </a:rPr>
                <a:t>运算符</a:t>
              </a:r>
              <a:r>
                <a:rPr lang="zh-CN" sz="1420" dirty="0">
                  <a:solidFill>
                    <a:srgbClr val="1F2937"/>
                  </a:solidFill>
                  <a:latin typeface="+mn-lt"/>
                  <a:ea typeface="+mn-ea"/>
                  <a:cs typeface="+mn-cs"/>
                </a:rPr>
                <a:t>和</a:t>
              </a:r>
              <a:r>
                <a:rPr lang="zh-CN" sz="1420" b="1" dirty="0">
                  <a:solidFill>
                    <a:srgbClr val="C2410C"/>
                  </a:solidFill>
                  <a:latin typeface="+mn-lt"/>
                  <a:ea typeface="+mn-ea"/>
                  <a:cs typeface="+mn-cs"/>
                </a:rPr>
                <a:t>运算对象</a:t>
              </a:r>
              <a:r>
                <a:rPr lang="zh-CN" sz="1420" dirty="0">
                  <a:solidFill>
                    <a:srgbClr val="1F2937"/>
                  </a:solidFill>
                  <a:latin typeface="+mn-lt"/>
                  <a:ea typeface="+mn-ea"/>
                  <a:cs typeface="+mn-cs"/>
                </a:rPr>
                <a:t>的总数来度量程序的复杂程度。</a:t>
              </a:r>
            </a:p>
          </p:txBody>
        </p:sp>
      </p:grpSp>
      <p:grpSp>
        <p:nvGrpSpPr>
          <p:cNvPr id="19" name="c1-card-2"/>
          <p:cNvGrpSpPr/>
          <p:nvPr/>
        </p:nvGrpSpPr>
        <p:grpSpPr>
          <a:xfrm>
            <a:off x="533400" y="2701290"/>
            <a:ext cx="5626418" cy="2022158"/>
            <a:chOff x="533400" y="2701290"/>
            <a:chExt cx="5626418" cy="2022158"/>
          </a:xfrm>
        </p:grpSpPr>
        <p:sp>
          <p:nvSpPr>
            <p:cNvPr id="14" name="Rectangle 14"/>
            <p:cNvSpPr/>
            <p:nvPr/>
          </p:nvSpPr>
          <p:spPr>
            <a:xfrm>
              <a:off x="533400" y="2701290"/>
              <a:ext cx="5626418" cy="2022158"/>
            </a:xfrm>
            <a:prstGeom prst="roundRect">
              <a:avLst>
                <a:gd name="adj" fmla="val 6594"/>
              </a:avLst>
            </a:prstGeom>
            <a:solidFill>
              <a:srgbClr val="334E68"/>
            </a:solidFill>
            <a:ln>
              <a:noFill/>
            </a:ln>
          </p:spPr>
        </p:sp>
        <p:sp>
          <p:nvSpPr>
            <p:cNvPr id="15" name="Rectangle 15"/>
            <p:cNvSpPr/>
            <p:nvPr/>
          </p:nvSpPr>
          <p:spPr>
            <a:xfrm>
              <a:off x="731520" y="2899410"/>
              <a:ext cx="1009650" cy="247650"/>
            </a:xfrm>
            <a:prstGeom prst="roundRect">
              <a:avLst>
                <a:gd name="adj" fmla="val 50000"/>
              </a:avLst>
            </a:prstGeom>
            <a:solidFill>
              <a:srgbClr val="243B53"/>
            </a:solidFill>
            <a:ln>
              <a:noFill/>
            </a:ln>
          </p:spPr>
        </p:sp>
        <p:sp>
          <p:nvSpPr>
            <p:cNvPr id="16" name="TextBox 16"/>
            <p:cNvSpPr txBox="1"/>
            <p:nvPr/>
          </p:nvSpPr>
          <p:spPr>
            <a:xfrm>
              <a:off x="806958" y="2933700"/>
              <a:ext cx="858774"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什么算运算符</a:t>
              </a:r>
            </a:p>
          </p:txBody>
        </p:sp>
        <p:sp>
          <p:nvSpPr>
            <p:cNvPr id="17" name="TextBox 17"/>
            <p:cNvSpPr txBox="1"/>
            <p:nvPr/>
          </p:nvSpPr>
          <p:spPr>
            <a:xfrm>
              <a:off x="724281" y="3260884"/>
              <a:ext cx="4928743"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FFFFFF"/>
                  </a:solidFill>
                  <a:latin typeface="+mn-lt"/>
                  <a:ea typeface="+mn-ea"/>
                  <a:cs typeface="+mn-cs"/>
                </a:rPr>
                <a:t>算术运算符、赋值符（= 或 :=）、数组操作符、逻辑运算符、</a:t>
              </a:r>
              <a:br/>
              <a:r>
                <a:rPr lang="zh-CN" sz="1420" dirty="0">
                  <a:solidFill>
                    <a:srgbClr val="FFFFFF"/>
                  </a:solidFill>
                  <a:latin typeface="+mn-lt"/>
                  <a:ea typeface="+mn-ea"/>
                  <a:cs typeface="+mn-cs"/>
                </a:rPr>
                <a:t>分界符（逗号、分号、冒号）、子程序调用符、关系运算符、</a:t>
              </a:r>
              <a:br/>
              <a:r>
                <a:rPr lang="zh-CN" sz="1420" dirty="0">
                  <a:solidFill>
                    <a:srgbClr val="FFFFFF"/>
                  </a:solidFill>
                  <a:latin typeface="+mn-lt"/>
                  <a:ea typeface="+mn-ea"/>
                  <a:cs typeface="+mn-cs"/>
                </a:rPr>
                <a:t>括号运算符、循环操作符等。</a:t>
              </a:r>
            </a:p>
          </p:txBody>
        </p:sp>
        <p:sp>
          <p:nvSpPr>
            <p:cNvPr id="18" name="TextBox 18"/>
            <p:cNvSpPr txBox="1"/>
            <p:nvPr/>
          </p:nvSpPr>
          <p:spPr>
            <a:xfrm>
              <a:off x="725424" y="4117657"/>
              <a:ext cx="493471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FFFFFF"/>
                  </a:solidFill>
                  <a:latin typeface="+mn-lt"/>
                  <a:ea typeface="+mn-ea"/>
                  <a:cs typeface="+mn-cs"/>
                </a:rPr>
                <a:t xml:space="preserve">成对出现的运算符，例如 </a:t>
              </a:r>
              <a:r>
                <a:rPr lang="en-US" sz="1200" dirty="0">
                  <a:solidFill>
                    <a:srgbClr val="E7EDF3"/>
                  </a:solidFill>
                  <a:latin typeface="+mn-lt"/>
                  <a:ea typeface="+mn-ea"/>
                  <a:cs typeface="+mn-cs"/>
                </a:rPr>
                <a:t>BEGIN…END</a:t>
              </a:r>
              <a:r>
                <a:rPr lang="zh-CN" sz="1200" dirty="0">
                  <a:solidFill>
                    <a:srgbClr val="FFFFFF"/>
                  </a:solidFill>
                  <a:latin typeface="+mn-lt"/>
                  <a:ea typeface="+mn-ea"/>
                  <a:cs typeface="+mn-cs"/>
                </a:rPr>
                <a:t>、</a:t>
              </a:r>
              <a:r>
                <a:rPr lang="en-US" sz="1200" dirty="0">
                  <a:solidFill>
                    <a:srgbClr val="E7EDF3"/>
                  </a:solidFill>
                  <a:latin typeface="+mn-lt"/>
                  <a:ea typeface="+mn-ea"/>
                  <a:cs typeface="+mn-cs"/>
                </a:rPr>
                <a:t>FOR…TO</a:t>
              </a:r>
              <a:r>
                <a:rPr lang="zh-CN" sz="1200" dirty="0">
                  <a:solidFill>
                    <a:srgbClr val="FFFFFF"/>
                  </a:solidFill>
                  <a:latin typeface="+mn-lt"/>
                  <a:ea typeface="+mn-ea"/>
                  <a:cs typeface="+mn-cs"/>
                </a:rPr>
                <a:t>、</a:t>
              </a:r>
              <a:r>
                <a:rPr lang="en-US" sz="1200" dirty="0">
                  <a:solidFill>
                    <a:srgbClr val="E7EDF3"/>
                  </a:solidFill>
                  <a:latin typeface="+mn-lt"/>
                  <a:ea typeface="+mn-ea"/>
                  <a:cs typeface="+mn-cs"/>
                </a:rPr>
                <a:t>REPEAT…UNTIL</a:t>
              </a:r>
              <a:r>
                <a:rPr lang="zh-CN" sz="1200" dirty="0">
                  <a:solidFill>
                    <a:srgbClr val="FFFFFF"/>
                  </a:solidFill>
                  <a:latin typeface="+mn-lt"/>
                  <a:ea typeface="+mn-ea"/>
                  <a:cs typeface="+mn-cs"/>
                </a:rPr>
                <a:t>、</a:t>
              </a:r>
              <a:r>
                <a:rPr lang="en-US" sz="1200" dirty="0">
                  <a:solidFill>
                    <a:srgbClr val="E7EDF3"/>
                  </a:solidFill>
                  <a:latin typeface="+mn-lt"/>
                  <a:ea typeface="+mn-ea"/>
                  <a:cs typeface="+mn-cs"/>
                </a:rPr>
                <a:t>WHILE…</a:t>
              </a:r>
              <a:br/>
              <a:r>
                <a:rPr lang="en-US" sz="1200" dirty="0">
                  <a:solidFill>
                    <a:srgbClr val="E7EDF3"/>
                  </a:solidFill>
                  <a:latin typeface="+mn-lt"/>
                  <a:ea typeface="+mn-ea"/>
                  <a:cs typeface="+mn-cs"/>
                </a:rPr>
                <a:t>DO</a:t>
              </a:r>
              <a:r>
                <a:rPr lang="zh-CN" sz="1200" dirty="0">
                  <a:solidFill>
                    <a:srgbClr val="FFFFFF"/>
                  </a:solidFill>
                  <a:latin typeface="+mn-lt"/>
                  <a:ea typeface="+mn-ea"/>
                  <a:cs typeface="+mn-cs"/>
                </a:rPr>
                <a:t>、</a:t>
              </a:r>
              <a:r>
                <a:rPr lang="en-US" sz="1200" dirty="0">
                  <a:solidFill>
                    <a:srgbClr val="E7EDF3"/>
                  </a:solidFill>
                  <a:latin typeface="+mn-lt"/>
                  <a:ea typeface="+mn-ea"/>
                  <a:cs typeface="+mn-cs"/>
                </a:rPr>
                <a:t>IF…THEN…ELSE</a:t>
              </a:r>
              <a:r>
                <a:rPr lang="zh-CN" sz="1200" dirty="0">
                  <a:solidFill>
                    <a:srgbClr val="FFFFFF"/>
                  </a:solidFill>
                  <a:latin typeface="+mn-lt"/>
                  <a:ea typeface="+mn-ea"/>
                  <a:cs typeface="+mn-cs"/>
                </a:rPr>
                <a:t>、</a:t>
              </a:r>
              <a:r>
                <a:rPr lang="zh-CN" sz="1200" dirty="0">
                  <a:solidFill>
                    <a:srgbClr val="E7EDF3"/>
                  </a:solidFill>
                  <a:latin typeface="+mn-lt"/>
                  <a:ea typeface="+mn-ea"/>
                  <a:cs typeface="+mn-cs"/>
                </a:rPr>
                <a:t>(…)</a:t>
              </a:r>
              <a:r>
                <a:rPr lang="zh-CN" sz="1200" dirty="0">
                  <a:solidFill>
                    <a:srgbClr val="FFFFFF"/>
                  </a:solidFill>
                  <a:latin typeface="+mn-lt"/>
                  <a:ea typeface="+mn-ea"/>
                  <a:cs typeface="+mn-cs"/>
                </a:rPr>
                <a:t>，都当做</a:t>
              </a:r>
              <a:r>
                <a:rPr lang="zh-CN" sz="1200" b="1" dirty="0">
                  <a:solidFill>
                    <a:srgbClr val="FFD58A"/>
                  </a:solidFill>
                  <a:latin typeface="+mn-lt"/>
                  <a:ea typeface="+mn-ea"/>
                  <a:cs typeface="+mn-cs"/>
                </a:rPr>
                <a:t>单一运算符</a:t>
              </a:r>
              <a:r>
                <a:rPr lang="zh-CN" sz="1200" dirty="0">
                  <a:solidFill>
                    <a:srgbClr val="FFFFFF"/>
                  </a:solidFill>
                  <a:latin typeface="+mn-lt"/>
                  <a:ea typeface="+mn-ea"/>
                  <a:cs typeface="+mn-cs"/>
                </a:rPr>
                <a:t>。</a:t>
              </a:r>
            </a:p>
          </p:txBody>
        </p:sp>
      </p:grpSp>
      <p:grpSp>
        <p:nvGrpSpPr>
          <p:cNvPr id="26" name="c1-callout-3"/>
          <p:cNvGrpSpPr/>
          <p:nvPr/>
        </p:nvGrpSpPr>
        <p:grpSpPr>
          <a:xfrm>
            <a:off x="533400" y="4904422"/>
            <a:ext cx="5626418" cy="1274445"/>
            <a:chOff x="533400" y="4904422"/>
            <a:chExt cx="5626418" cy="1274445"/>
          </a:xfrm>
        </p:grpSpPr>
        <p:sp>
          <p:nvSpPr>
            <p:cNvPr id="20" name="Rectangle 20"/>
            <p:cNvSpPr/>
            <p:nvPr/>
          </p:nvSpPr>
          <p:spPr>
            <a:xfrm>
              <a:off x="533400" y="4904422"/>
              <a:ext cx="5626418" cy="1274445"/>
            </a:xfrm>
            <a:prstGeom prst="roundRect">
              <a:avLst>
                <a:gd name="adj" fmla="val 8969"/>
              </a:avLst>
            </a:prstGeom>
            <a:solidFill>
              <a:srgbClr val="FDEEE7"/>
            </a:solidFill>
            <a:ln>
              <a:noFill/>
            </a:ln>
          </p:spPr>
        </p:sp>
        <p:grpSp>
          <p:nvGrpSpPr>
            <p:cNvPr id="24" name="Group 24"/>
            <p:cNvGrpSpPr/>
            <p:nvPr/>
          </p:nvGrpSpPr>
          <p:grpSpPr>
            <a:xfrm>
              <a:off x="738188" y="5441633"/>
              <a:ext cx="200026" cy="200025"/>
              <a:chOff x="738188" y="5441633"/>
              <a:chExt cx="200026" cy="200025"/>
            </a:xfrm>
          </p:grpSpPr>
          <p:sp>
            <p:nvSpPr>
              <p:cNvPr id="21" name="Freeform 21"/>
              <p:cNvSpPr/>
              <p:nvPr/>
            </p:nvSpPr>
            <p:spPr>
              <a:xfrm>
                <a:off x="738188" y="544163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22" name="Freeform 22"/>
              <p:cNvSpPr/>
              <p:nvPr/>
            </p:nvSpPr>
            <p:spPr>
              <a:xfrm>
                <a:off x="777926" y="548608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23" name="Freeform 23"/>
              <p:cNvSpPr/>
              <p:nvPr/>
            </p:nvSpPr>
            <p:spPr>
              <a:xfrm>
                <a:off x="812642" y="559720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25" name="TextBox 25"/>
            <p:cNvSpPr txBox="1"/>
            <p:nvPr/>
          </p:nvSpPr>
          <p:spPr>
            <a:xfrm>
              <a:off x="1040511" y="5442109"/>
              <a:ext cx="2499563" cy="278702"/>
            </a:xfrm>
            <a:prstGeom prst="rect">
              <a:avLst/>
            </a:prstGeom>
            <a:noFill/>
            <a:ln>
              <a:noFill/>
            </a:ln>
          </p:spPr>
          <p:txBody>
            <a:bodyPr wrap="none" lIns="0" tIns="0" rIns="0" bIns="0" anchor="t" anchorCtr="0">
              <a:spAutoFit/>
            </a:bodyPr>
            <a:lstStyle/>
            <a:p>
              <a:pPr algn="l"/>
              <a:r>
                <a:rPr lang="zh-CN" sz="1420" dirty="0">
                  <a:solidFill>
                    <a:srgbClr val="C2410C"/>
                  </a:solidFill>
                  <a:latin typeface="+mn-lt"/>
                  <a:ea typeface="+mn-ea"/>
                  <a:cs typeface="+mn-cs"/>
                </a:rPr>
                <a:t>运算对象包括变量名和常数。</a:t>
              </a:r>
            </a:p>
          </p:txBody>
        </p:sp>
      </p:grpSp>
      <p:grpSp>
        <p:nvGrpSpPr>
          <p:cNvPr id="38" name="c2-kv-1"/>
          <p:cNvGrpSpPr/>
          <p:nvPr/>
        </p:nvGrpSpPr>
        <p:grpSpPr>
          <a:xfrm>
            <a:off x="6457379" y="1547336"/>
            <a:ext cx="5201221" cy="1527430"/>
            <a:chOff x="6457379" y="1547336"/>
            <a:chExt cx="5201221" cy="1527430"/>
          </a:xfrm>
        </p:grpSpPr>
        <p:sp>
          <p:nvSpPr>
            <p:cNvPr id="27" name="TextBox 27"/>
            <p:cNvSpPr txBox="1"/>
            <p:nvPr/>
          </p:nvSpPr>
          <p:spPr>
            <a:xfrm>
              <a:off x="6457379" y="1547336"/>
              <a:ext cx="235268" cy="278702"/>
            </a:xfrm>
            <a:prstGeom prst="rect">
              <a:avLst/>
            </a:prstGeom>
            <a:noFill/>
            <a:ln>
              <a:noFill/>
            </a:ln>
          </p:spPr>
          <p:txBody>
            <a:bodyPr wrap="none" lIns="0" tIns="0" rIns="0" bIns="0" anchor="t" anchorCtr="0">
              <a:spAutoFit/>
            </a:bodyPr>
            <a:lstStyle/>
            <a:p>
              <a:pPr algn="l"/>
              <a:r>
                <a:rPr lang="en-US" sz="1420" b="1" dirty="0">
                  <a:solidFill>
                    <a:srgbClr val="334E68"/>
                  </a:solidFill>
                  <a:latin typeface="+mn-lt"/>
                  <a:ea typeface="+mn-ea"/>
                  <a:cs typeface="+mn-cs"/>
                </a:rPr>
                <a:t>n₁</a:t>
              </a:r>
            </a:p>
          </p:txBody>
        </p:sp>
        <p:sp>
          <p:nvSpPr>
            <p:cNvPr id="28" name="TextBox 28"/>
            <p:cNvSpPr txBox="1"/>
            <p:nvPr/>
          </p:nvSpPr>
          <p:spPr>
            <a:xfrm>
              <a:off x="6922198" y="1547336"/>
              <a:ext cx="345536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程序中不同运算符（包括保留字）的个数</a:t>
              </a:r>
            </a:p>
          </p:txBody>
        </p:sp>
        <p:sp>
          <p:nvSpPr>
            <p:cNvPr id="29" name="Rectangle 29"/>
            <p:cNvSpPr/>
            <p:nvPr/>
          </p:nvSpPr>
          <p:spPr>
            <a:xfrm>
              <a:off x="6464618" y="1850708"/>
              <a:ext cx="5193982" cy="9525"/>
            </a:xfrm>
            <a:prstGeom prst="rect">
              <a:avLst/>
            </a:prstGeom>
            <a:solidFill>
              <a:srgbClr val="D9DFEA"/>
            </a:solidFill>
            <a:ln>
              <a:noFill/>
            </a:ln>
          </p:spPr>
        </p:sp>
        <p:sp>
          <p:nvSpPr>
            <p:cNvPr id="30" name="TextBox 30"/>
            <p:cNvSpPr txBox="1"/>
            <p:nvPr/>
          </p:nvSpPr>
          <p:spPr>
            <a:xfrm>
              <a:off x="6457379" y="1963579"/>
              <a:ext cx="235268" cy="278702"/>
            </a:xfrm>
            <a:prstGeom prst="rect">
              <a:avLst/>
            </a:prstGeom>
            <a:noFill/>
            <a:ln>
              <a:noFill/>
            </a:ln>
          </p:spPr>
          <p:txBody>
            <a:bodyPr wrap="none" lIns="0" tIns="0" rIns="0" bIns="0" anchor="t" anchorCtr="0">
              <a:spAutoFit/>
            </a:bodyPr>
            <a:lstStyle/>
            <a:p>
              <a:pPr algn="l"/>
              <a:r>
                <a:rPr lang="en-US" sz="1420" b="1" dirty="0">
                  <a:solidFill>
                    <a:srgbClr val="334E68"/>
                  </a:solidFill>
                  <a:latin typeface="+mn-lt"/>
                  <a:ea typeface="+mn-ea"/>
                  <a:cs typeface="+mn-cs"/>
                </a:rPr>
                <a:t>n₂</a:t>
              </a:r>
            </a:p>
          </p:txBody>
        </p:sp>
        <p:sp>
          <p:nvSpPr>
            <p:cNvPr id="31" name="TextBox 31"/>
            <p:cNvSpPr txBox="1"/>
            <p:nvPr/>
          </p:nvSpPr>
          <p:spPr>
            <a:xfrm>
              <a:off x="6922198" y="1963579"/>
              <a:ext cx="2308403"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程序中不同运算对象的个数</a:t>
              </a:r>
            </a:p>
          </p:txBody>
        </p:sp>
        <p:sp>
          <p:nvSpPr>
            <p:cNvPr id="32" name="Rectangle 32"/>
            <p:cNvSpPr/>
            <p:nvPr/>
          </p:nvSpPr>
          <p:spPr>
            <a:xfrm>
              <a:off x="6464618" y="2266950"/>
              <a:ext cx="5193982" cy="9525"/>
            </a:xfrm>
            <a:prstGeom prst="rect">
              <a:avLst/>
            </a:prstGeom>
            <a:solidFill>
              <a:srgbClr val="D9DFEA"/>
            </a:solidFill>
            <a:ln>
              <a:noFill/>
            </a:ln>
          </p:spPr>
        </p:sp>
        <p:sp>
          <p:nvSpPr>
            <p:cNvPr id="33" name="TextBox 33"/>
            <p:cNvSpPr txBox="1"/>
            <p:nvPr/>
          </p:nvSpPr>
          <p:spPr>
            <a:xfrm>
              <a:off x="6457379" y="2379821"/>
              <a:ext cx="247766" cy="278702"/>
            </a:xfrm>
            <a:prstGeom prst="rect">
              <a:avLst/>
            </a:prstGeom>
            <a:noFill/>
            <a:ln>
              <a:noFill/>
            </a:ln>
          </p:spPr>
          <p:txBody>
            <a:bodyPr wrap="none" lIns="0" tIns="0" rIns="0" bIns="0" anchor="t" anchorCtr="0">
              <a:spAutoFit/>
            </a:bodyPr>
            <a:lstStyle/>
            <a:p>
              <a:pPr algn="l"/>
              <a:r>
                <a:rPr lang="en-US" sz="1420" b="1" dirty="0">
                  <a:solidFill>
                    <a:srgbClr val="334E68"/>
                  </a:solidFill>
                  <a:latin typeface="+mn-lt"/>
                  <a:ea typeface="+mn-ea"/>
                  <a:cs typeface="+mn-cs"/>
                </a:rPr>
                <a:t>N₁</a:t>
              </a:r>
            </a:p>
          </p:txBody>
        </p:sp>
        <p:sp>
          <p:nvSpPr>
            <p:cNvPr id="34" name="TextBox 34"/>
            <p:cNvSpPr txBox="1"/>
            <p:nvPr/>
          </p:nvSpPr>
          <p:spPr>
            <a:xfrm>
              <a:off x="6922198" y="2379821"/>
              <a:ext cx="269072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程序中实际出现的运算符总个数</a:t>
              </a:r>
            </a:p>
          </p:txBody>
        </p:sp>
        <p:sp>
          <p:nvSpPr>
            <p:cNvPr id="35" name="Rectangle 35"/>
            <p:cNvSpPr/>
            <p:nvPr/>
          </p:nvSpPr>
          <p:spPr>
            <a:xfrm>
              <a:off x="6464618" y="2683192"/>
              <a:ext cx="5193982" cy="9525"/>
            </a:xfrm>
            <a:prstGeom prst="rect">
              <a:avLst/>
            </a:prstGeom>
            <a:solidFill>
              <a:srgbClr val="D9DFEA"/>
            </a:solidFill>
            <a:ln>
              <a:noFill/>
            </a:ln>
          </p:spPr>
        </p:sp>
        <p:sp>
          <p:nvSpPr>
            <p:cNvPr id="36" name="TextBox 36"/>
            <p:cNvSpPr txBox="1"/>
            <p:nvPr/>
          </p:nvSpPr>
          <p:spPr>
            <a:xfrm>
              <a:off x="6457379" y="2796064"/>
              <a:ext cx="247766" cy="278702"/>
            </a:xfrm>
            <a:prstGeom prst="rect">
              <a:avLst/>
            </a:prstGeom>
            <a:noFill/>
            <a:ln>
              <a:noFill/>
            </a:ln>
          </p:spPr>
          <p:txBody>
            <a:bodyPr wrap="none" lIns="0" tIns="0" rIns="0" bIns="0" anchor="t" anchorCtr="0">
              <a:spAutoFit/>
            </a:bodyPr>
            <a:lstStyle/>
            <a:p>
              <a:pPr algn="l"/>
              <a:r>
                <a:rPr lang="en-US" sz="1420" b="1" dirty="0">
                  <a:solidFill>
                    <a:srgbClr val="334E68"/>
                  </a:solidFill>
                  <a:latin typeface="+mn-lt"/>
                  <a:ea typeface="+mn-ea"/>
                  <a:cs typeface="+mn-cs"/>
                </a:rPr>
                <a:t>N₂</a:t>
              </a:r>
            </a:p>
          </p:txBody>
        </p:sp>
        <p:sp>
          <p:nvSpPr>
            <p:cNvPr id="37" name="TextBox 37"/>
            <p:cNvSpPr txBox="1"/>
            <p:nvPr/>
          </p:nvSpPr>
          <p:spPr>
            <a:xfrm>
              <a:off x="6922198" y="2796064"/>
              <a:ext cx="288188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程序中实际出现的运算对象总个数</a:t>
              </a:r>
            </a:p>
          </p:txBody>
        </p:sp>
      </p:grpSp>
      <p:grpSp>
        <p:nvGrpSpPr>
          <p:cNvPr id="48" name="c2-card-2"/>
          <p:cNvGrpSpPr/>
          <p:nvPr/>
        </p:nvGrpSpPr>
        <p:grpSpPr>
          <a:xfrm>
            <a:off x="6464618" y="3199448"/>
            <a:ext cx="5193982" cy="2980372"/>
            <a:chOff x="6464618" y="3199448"/>
            <a:chExt cx="5193982" cy="2980372"/>
          </a:xfrm>
        </p:grpSpPr>
        <p:sp>
          <p:nvSpPr>
            <p:cNvPr id="39" name="Rectangle 39"/>
            <p:cNvSpPr/>
            <p:nvPr/>
          </p:nvSpPr>
          <p:spPr>
            <a:xfrm>
              <a:off x="6464618" y="3199448"/>
              <a:ext cx="5193982" cy="2980372"/>
            </a:xfrm>
            <a:prstGeom prst="roundRect">
              <a:avLst>
                <a:gd name="adj" fmla="val 4474"/>
              </a:avLst>
            </a:prstGeom>
            <a:solidFill>
              <a:srgbClr val="FFFFFF"/>
            </a:solidFill>
            <a:ln w="14288">
              <a:solidFill>
                <a:srgbClr val="D9DFEA"/>
              </a:solidFill>
            </a:ln>
          </p:spPr>
        </p:sp>
        <p:sp>
          <p:nvSpPr>
            <p:cNvPr id="40" name="Rectangle 40"/>
            <p:cNvSpPr/>
            <p:nvPr/>
          </p:nvSpPr>
          <p:spPr>
            <a:xfrm>
              <a:off x="6474142" y="3332798"/>
              <a:ext cx="47625" cy="2713672"/>
            </a:xfrm>
            <a:prstGeom prst="roundRect">
              <a:avLst>
                <a:gd name="adj" fmla="val 50000"/>
              </a:avLst>
            </a:prstGeom>
            <a:solidFill>
              <a:srgbClr val="F26B3A"/>
            </a:solidFill>
            <a:ln>
              <a:noFill/>
            </a:ln>
          </p:spPr>
        </p:sp>
        <p:sp>
          <p:nvSpPr>
            <p:cNvPr id="41" name="Rectangle 41"/>
            <p:cNvSpPr/>
            <p:nvPr/>
          </p:nvSpPr>
          <p:spPr>
            <a:xfrm>
              <a:off x="6700838" y="3397568"/>
              <a:ext cx="609600" cy="247650"/>
            </a:xfrm>
            <a:prstGeom prst="roundRect">
              <a:avLst>
                <a:gd name="adj" fmla="val 50000"/>
              </a:avLst>
            </a:prstGeom>
            <a:solidFill>
              <a:srgbClr val="FDEEE7"/>
            </a:solidFill>
            <a:ln>
              <a:noFill/>
            </a:ln>
          </p:spPr>
        </p:sp>
        <p:sp>
          <p:nvSpPr>
            <p:cNvPr id="42" name="TextBox 42"/>
            <p:cNvSpPr txBox="1"/>
            <p:nvPr/>
          </p:nvSpPr>
          <p:spPr>
            <a:xfrm>
              <a:off x="6788277" y="3431858"/>
              <a:ext cx="434721" cy="205359"/>
            </a:xfrm>
            <a:prstGeom prst="rect">
              <a:avLst/>
            </a:prstGeom>
            <a:noFill/>
            <a:ln>
              <a:noFill/>
            </a:ln>
          </p:spPr>
          <p:txBody>
            <a:bodyPr wrap="none" lIns="0" tIns="0" rIns="0" bIns="0" anchor="t" anchorCtr="0">
              <a:spAutoFit/>
            </a:bodyPr>
            <a:lstStyle/>
            <a:p>
              <a:pPr algn="ctr"/>
              <a:r>
                <a:rPr lang="zh-CN" sz="1050" b="1" dirty="0">
                  <a:solidFill>
                    <a:srgbClr val="C2410C"/>
                  </a:solidFill>
                  <a:latin typeface="+mn-lt"/>
                  <a:ea typeface="+mn-ea"/>
                  <a:cs typeface="+mn-cs"/>
                </a:rPr>
                <a:t>四个量</a:t>
              </a:r>
            </a:p>
          </p:txBody>
        </p:sp>
        <p:sp>
          <p:nvSpPr>
            <p:cNvPr id="43" name="TextBox 43"/>
            <p:cNvSpPr txBox="1"/>
            <p:nvPr/>
          </p:nvSpPr>
          <p:spPr>
            <a:xfrm>
              <a:off x="6693598" y="3758089"/>
              <a:ext cx="3194165"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① 程序长度（预测的 Halstead 长度）</a:t>
              </a:r>
            </a:p>
          </p:txBody>
        </p:sp>
        <mc:AlternateContent xmlns:mc="http://schemas.openxmlformats.org/markup-compatibility/2006">
          <mc:Choice xmlns:a14="http://schemas.microsoft.com/office/drawing/2010/main" Requires="a14">
            <p:sp>
              <p:nvSpPr>
                <p:cNvPr id="44" name="formula9"/>
                <p:cNvSpPr txBox="1">
                  <a:spLocks noGrp="1"/>
                </p:cNvSpPr>
                <p:nvPr/>
              </p:nvSpPr>
              <p:spPr>
                <a:xfrm>
                  <a:off x="6700838" y="4051935"/>
                  <a:ext cx="4759642" cy="4572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800" dirty="0">
                            <a:solidFill>
                              <a:srgbClr val="1F2937"/>
                            </a:solidFill>
                            <a:latin typeface="Cambria Math"/>
                            <a:ea typeface="Cambria Math"/>
                            <a:cs typeface="Cambria Math"/>
                          </a:rPr>
                          <m:t>H</m:t>
                        </m:r>
                        <m:r>
                          <m:rPr>
                            <m:sty m:val="p"/>
                          </m:rPr>
                          <a:rPr lang="zh-CN" sz="1800" dirty="0">
                            <a:solidFill>
                              <a:srgbClr val="1F2937"/>
                            </a:solidFill>
                            <a:latin typeface="Cambria Math"/>
                            <a:ea typeface="Cambria Math"/>
                            <a:cs typeface="Cambria Math"/>
                          </a:rPr>
                          <m:t>=</m:t>
                        </m:r>
                        <m:sSub>
                          <m:e>
                            <m:r>
                              <a:rPr lang="zh-CN" sz="1800" dirty="0">
                                <a:solidFill>
                                  <a:srgbClr val="1F2937"/>
                                </a:solidFill>
                                <a:latin typeface="Cambria Math"/>
                                <a:ea typeface="Cambria Math"/>
                                <a:cs typeface="Cambria Math"/>
                              </a:rPr>
                              <m:t>n</m:t>
                            </m:r>
                          </m:e>
                          <m:sub>
                            <m:r>
                              <a:rPr lang="zh-CN" sz="1800" dirty="0">
                                <a:solidFill>
                                  <a:srgbClr val="1F2937"/>
                                </a:solidFill>
                                <a:latin typeface="Cambria Math"/>
                                <a:ea typeface="Cambria Math"/>
                                <a:cs typeface="Cambria Math"/>
                              </a:rPr>
                              <m:t>1</m:t>
                            </m:r>
                          </m:sub>
                        </m:sSub>
                        <m:func>
                          <m:funcPr/>
                          <m:fName>
                            <m:sSub>
                              <m:e>
                                <m:r>
                                  <m:rPr>
                                    <m:sty m:val="p"/>
                                  </m:rPr>
                                  <a:rPr lang="zh-CN" sz="1800" dirty="0">
                                    <a:solidFill>
                                      <a:srgbClr val="1F2937"/>
                                    </a:solidFill>
                                    <a:latin typeface="Cambria Math"/>
                                    <a:ea typeface="Cambria Math"/>
                                    <a:cs typeface="Cambria Math"/>
                                  </a:rPr>
                                  <m:t>log</m:t>
                                </m:r>
                              </m:e>
                              <m:sub>
                                <m:r>
                                  <a:rPr lang="zh-CN" sz="1800" dirty="0">
                                    <a:solidFill>
                                      <a:srgbClr val="1F2937"/>
                                    </a:solidFill>
                                    <a:latin typeface="Cambria Math"/>
                                    <a:ea typeface="Cambria Math"/>
                                    <a:cs typeface="Cambria Math"/>
                                  </a:rPr>
                                  <m:t>2</m:t>
                                </m:r>
                              </m:sub>
                            </m:sSub>
                          </m:fName>
                          <m:e>
                            <m:sSub>
                              <m:e>
                                <m:r>
                                  <a:rPr lang="zh-CN" sz="1800" dirty="0">
                                    <a:solidFill>
                                      <a:srgbClr val="1F2937"/>
                                    </a:solidFill>
                                    <a:latin typeface="Cambria Math"/>
                                    <a:ea typeface="Cambria Math"/>
                                    <a:cs typeface="Cambria Math"/>
                                  </a:rPr>
                                  <m:t>n</m:t>
                                </m:r>
                              </m:e>
                              <m:sub>
                                <m:r>
                                  <a:rPr lang="zh-CN" sz="1800" dirty="0">
                                    <a:solidFill>
                                      <a:srgbClr val="1F2937"/>
                                    </a:solidFill>
                                    <a:latin typeface="Cambria Math"/>
                                    <a:ea typeface="Cambria Math"/>
                                    <a:cs typeface="Cambria Math"/>
                                  </a:rPr>
                                  <m:t>1</m:t>
                                </m:r>
                              </m:sub>
                            </m:sSub>
                          </m:e>
                        </m:func>
                        <m:r>
                          <m:rPr>
                            <m:sty m:val="p"/>
                          </m:rPr>
                          <a:rPr lang="zh-CN" sz="1800" dirty="0">
                            <a:solidFill>
                              <a:srgbClr val="1F2937"/>
                            </a:solidFill>
                            <a:latin typeface="Cambria Math"/>
                            <a:ea typeface="Cambria Math"/>
                            <a:cs typeface="Cambria Math"/>
                          </a:rPr>
                          <m:t>+</m:t>
                        </m:r>
                        <m:sSub>
                          <m:e>
                            <m:r>
                              <a:rPr lang="zh-CN" sz="1800" dirty="0">
                                <a:solidFill>
                                  <a:srgbClr val="1F2937"/>
                                </a:solidFill>
                                <a:latin typeface="Cambria Math"/>
                                <a:ea typeface="Cambria Math"/>
                                <a:cs typeface="Cambria Math"/>
                              </a:rPr>
                              <m:t>n</m:t>
                            </m:r>
                          </m:e>
                          <m:sub>
                            <m:r>
                              <a:rPr lang="zh-CN" sz="1800" dirty="0">
                                <a:solidFill>
                                  <a:srgbClr val="1F2937"/>
                                </a:solidFill>
                                <a:latin typeface="Cambria Math"/>
                                <a:ea typeface="Cambria Math"/>
                                <a:cs typeface="Cambria Math"/>
                              </a:rPr>
                              <m:t>2</m:t>
                            </m:r>
                          </m:sub>
                        </m:sSub>
                        <m:func>
                          <m:funcPr/>
                          <m:fName>
                            <m:sSub>
                              <m:e>
                                <m:r>
                                  <m:rPr>
                                    <m:sty m:val="p"/>
                                  </m:rPr>
                                  <a:rPr lang="zh-CN" sz="1800" dirty="0">
                                    <a:solidFill>
                                      <a:srgbClr val="1F2937"/>
                                    </a:solidFill>
                                    <a:latin typeface="Cambria Math"/>
                                    <a:ea typeface="Cambria Math"/>
                                    <a:cs typeface="Cambria Math"/>
                                  </a:rPr>
                                  <m:t>log</m:t>
                                </m:r>
                              </m:e>
                              <m:sub>
                                <m:r>
                                  <a:rPr lang="zh-CN" sz="1800" dirty="0">
                                    <a:solidFill>
                                      <a:srgbClr val="1F2937"/>
                                    </a:solidFill>
                                    <a:latin typeface="Cambria Math"/>
                                    <a:ea typeface="Cambria Math"/>
                                    <a:cs typeface="Cambria Math"/>
                                  </a:rPr>
                                  <m:t>2</m:t>
                                </m:r>
                              </m:sub>
                            </m:sSub>
                          </m:fName>
                          <m:e>
                            <m:sSub>
                              <m:e>
                                <m:r>
                                  <a:rPr lang="zh-CN" sz="1800" dirty="0">
                                    <a:solidFill>
                                      <a:srgbClr val="1F2937"/>
                                    </a:solidFill>
                                    <a:latin typeface="Cambria Math"/>
                                    <a:ea typeface="Cambria Math"/>
                                    <a:cs typeface="Cambria Math"/>
                                  </a:rPr>
                                  <m:t>n</m:t>
                                </m:r>
                              </m:e>
                              <m:sub>
                                <m:r>
                                  <a:rPr lang="zh-CN" sz="1800" dirty="0">
                                    <a:solidFill>
                                      <a:srgbClr val="1F2937"/>
                                    </a:solidFill>
                                    <a:latin typeface="Cambria Math"/>
                                    <a:ea typeface="Cambria Math"/>
                                    <a:cs typeface="Cambria Math"/>
                                  </a:rPr>
                                  <m:t>2</m:t>
                                </m:r>
                              </m:sub>
                            </m:sSub>
                          </m:e>
                        </m:func>
                      </m:oMath>
                    </m:oMathPara>
                  </a14:m>
                </a:p>
              </p:txBody>
            </p:sp>
          </mc:Choice>
        </mc:AlternateContent>
        <p:sp>
          <p:nvSpPr>
            <p:cNvPr id="45" name="TextBox 45"/>
            <p:cNvSpPr txBox="1"/>
            <p:nvPr/>
          </p:nvSpPr>
          <p:spPr>
            <a:xfrm>
              <a:off x="6693598" y="4622006"/>
              <a:ext cx="4477893" cy="550164"/>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② 实际的 Halstead 长度 N = N₁ + N₂　③ 词汇表 n = n₁ +</a:t>
              </a:r>
              <a:br/>
              <a:r>
                <a:rPr lang="en-US" sz="1420" dirty="0">
                  <a:solidFill>
                    <a:srgbClr val="1F2937"/>
                  </a:solidFill>
                  <a:latin typeface="+mn-lt"/>
                  <a:ea typeface="+mn-ea"/>
                  <a:cs typeface="+mn-cs"/>
                </a:rPr>
                <a:t>n₂</a:t>
              </a:r>
            </a:p>
          </p:txBody>
        </p:sp>
        <p:sp>
          <p:nvSpPr>
            <p:cNvPr id="46" name="TextBox 46"/>
            <p:cNvSpPr txBox="1"/>
            <p:nvPr/>
          </p:nvSpPr>
          <p:spPr>
            <a:xfrm>
              <a:off x="6693598" y="5211604"/>
              <a:ext cx="922129"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④ 程序量 V</a:t>
              </a:r>
            </a:p>
          </p:txBody>
        </p:sp>
        <mc:AlternateContent xmlns:mc="http://schemas.openxmlformats.org/markup-compatibility/2006">
          <mc:Choice xmlns:a14="http://schemas.microsoft.com/office/drawing/2010/main" Requires="a14">
            <p:sp>
              <p:nvSpPr>
                <p:cNvPr id="47" name="formula10"/>
                <p:cNvSpPr txBox="1">
                  <a:spLocks noGrp="1"/>
                </p:cNvSpPr>
                <p:nvPr/>
              </p:nvSpPr>
              <p:spPr>
                <a:xfrm>
                  <a:off x="6700838" y="5505450"/>
                  <a:ext cx="4759642" cy="457200"/>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800" dirty="0">
                            <a:solidFill>
                              <a:srgbClr val="1F2937"/>
                            </a:solidFill>
                            <a:latin typeface="Cambria Math"/>
                            <a:ea typeface="Cambria Math"/>
                            <a:cs typeface="Cambria Math"/>
                          </a:rPr>
                          <m:t>V</m:t>
                        </m:r>
                        <m:r>
                          <m:rPr>
                            <m:sty m:val="p"/>
                          </m:rPr>
                          <a:rPr lang="zh-CN" sz="1800" dirty="0">
                            <a:solidFill>
                              <a:srgbClr val="1F2937"/>
                            </a:solidFill>
                            <a:latin typeface="Cambria Math"/>
                            <a:ea typeface="Cambria Math"/>
                            <a:cs typeface="Cambria Math"/>
                          </a:rPr>
                          <m:t>=</m:t>
                        </m:r>
                        <m:d>
                          <m:dPr>
                            <m:begChr m:val="("/>
                            <m:sepChr m:val=""/>
                            <m:endChr m:val=")"/>
                            <m:grow m:val="on"/>
                            <m:ctrlPr>
                              <a:rPr lang="zh-CN" sz="1800" dirty="0">
                                <a:solidFill>
                                  <a:srgbClr val="1F2937"/>
                                </a:solidFill>
                                <a:latin typeface="Cambria Math"/>
                                <a:ea typeface="Cambria Math"/>
                                <a:cs typeface="Cambria Math"/>
                              </a:rPr>
                            </m:ctrlPr>
                          </m:dPr>
                          <m:e>
                            <m:sSub>
                              <m:e>
                                <m:r>
                                  <a:rPr lang="zh-CN" sz="1800" dirty="0">
                                    <a:solidFill>
                                      <a:srgbClr val="1F2937"/>
                                    </a:solidFill>
                                    <a:latin typeface="Cambria Math"/>
                                    <a:ea typeface="Cambria Math"/>
                                    <a:cs typeface="Cambria Math"/>
                                  </a:rPr>
                                  <m:t>N</m:t>
                                </m:r>
                              </m:e>
                              <m:sub>
                                <m:r>
                                  <a:rPr lang="zh-CN" sz="1800" dirty="0">
                                    <a:solidFill>
                                      <a:srgbClr val="1F2937"/>
                                    </a:solidFill>
                                    <a:latin typeface="Cambria Math"/>
                                    <a:ea typeface="Cambria Math"/>
                                    <a:cs typeface="Cambria Math"/>
                                  </a:rPr>
                                  <m:t>1</m:t>
                                </m:r>
                              </m:sub>
                            </m:sSub>
                            <m:r>
                              <m:rPr>
                                <m:sty m:val="p"/>
                              </m:rPr>
                              <a:rPr lang="zh-CN" sz="1800" dirty="0">
                                <a:solidFill>
                                  <a:srgbClr val="1F2937"/>
                                </a:solidFill>
                                <a:latin typeface="Cambria Math"/>
                                <a:ea typeface="Cambria Math"/>
                                <a:cs typeface="Cambria Math"/>
                              </a:rPr>
                              <m:t>+</m:t>
                            </m:r>
                            <m:sSub>
                              <m:e>
                                <m:r>
                                  <a:rPr lang="zh-CN" sz="1800" dirty="0">
                                    <a:solidFill>
                                      <a:srgbClr val="1F2937"/>
                                    </a:solidFill>
                                    <a:latin typeface="Cambria Math"/>
                                    <a:ea typeface="Cambria Math"/>
                                    <a:cs typeface="Cambria Math"/>
                                  </a:rPr>
                                  <m:t>N</m:t>
                                </m:r>
                              </m:e>
                              <m:sub>
                                <m:r>
                                  <a:rPr lang="zh-CN" sz="1800" dirty="0">
                                    <a:solidFill>
                                      <a:srgbClr val="1F2937"/>
                                    </a:solidFill>
                                    <a:latin typeface="Cambria Math"/>
                                    <a:ea typeface="Cambria Math"/>
                                    <a:cs typeface="Cambria Math"/>
                                  </a:rPr>
                                  <m:t>2</m:t>
                                </m:r>
                              </m:sub>
                            </m:sSub>
                          </m:e>
                        </m:d>
                        <m:func>
                          <m:funcPr/>
                          <m:fName>
                            <m:sSub>
                              <m:e>
                                <m:r>
                                  <m:rPr>
                                    <m:sty m:val="p"/>
                                  </m:rPr>
                                  <a:rPr lang="zh-CN" sz="1800" dirty="0">
                                    <a:solidFill>
                                      <a:srgbClr val="1F2937"/>
                                    </a:solidFill>
                                    <a:latin typeface="Cambria Math"/>
                                    <a:ea typeface="Cambria Math"/>
                                    <a:cs typeface="Cambria Math"/>
                                  </a:rPr>
                                  <m:t>log</m:t>
                                </m:r>
                              </m:e>
                              <m:sub>
                                <m:r>
                                  <a:rPr lang="zh-CN" sz="1800" dirty="0">
                                    <a:solidFill>
                                      <a:srgbClr val="1F2937"/>
                                    </a:solidFill>
                                    <a:latin typeface="Cambria Math"/>
                                    <a:ea typeface="Cambria Math"/>
                                    <a:cs typeface="Cambria Math"/>
                                  </a:rPr>
                                  <m:t>2</m:t>
                                </m:r>
                              </m:sub>
                            </m:sSub>
                          </m:fName>
                          <m:e>
                            <m:d>
                              <m:dPr>
                                <m:begChr m:val="("/>
                                <m:sepChr m:val=""/>
                                <m:endChr m:val=")"/>
                                <m:grow m:val="on"/>
                                <m:ctrlPr>
                                  <a:rPr lang="zh-CN" sz="1800" dirty="0">
                                    <a:solidFill>
                                      <a:srgbClr val="1F2937"/>
                                    </a:solidFill>
                                    <a:latin typeface="Cambria Math"/>
                                    <a:ea typeface="Cambria Math"/>
                                    <a:cs typeface="Cambria Math"/>
                                  </a:rPr>
                                </m:ctrlPr>
                              </m:dPr>
                              <m:e>
                                <m:sSub>
                                  <m:e>
                                    <m:r>
                                      <a:rPr lang="zh-CN" sz="1800" dirty="0">
                                        <a:solidFill>
                                          <a:srgbClr val="1F2937"/>
                                        </a:solidFill>
                                        <a:latin typeface="Cambria Math"/>
                                        <a:ea typeface="Cambria Math"/>
                                        <a:cs typeface="Cambria Math"/>
                                      </a:rPr>
                                      <m:t>n</m:t>
                                    </m:r>
                                  </m:e>
                                  <m:sub>
                                    <m:r>
                                      <a:rPr lang="zh-CN" sz="1800" dirty="0">
                                        <a:solidFill>
                                          <a:srgbClr val="1F2937"/>
                                        </a:solidFill>
                                        <a:latin typeface="Cambria Math"/>
                                        <a:ea typeface="Cambria Math"/>
                                        <a:cs typeface="Cambria Math"/>
                                      </a:rPr>
                                      <m:t>1</m:t>
                                    </m:r>
                                  </m:sub>
                                </m:sSub>
                                <m:r>
                                  <m:rPr>
                                    <m:sty m:val="p"/>
                                  </m:rPr>
                                  <a:rPr lang="zh-CN" sz="1800" dirty="0">
                                    <a:solidFill>
                                      <a:srgbClr val="1F2937"/>
                                    </a:solidFill>
                                    <a:latin typeface="Cambria Math"/>
                                    <a:ea typeface="Cambria Math"/>
                                    <a:cs typeface="Cambria Math"/>
                                  </a:rPr>
                                  <m:t>+</m:t>
                                </m:r>
                                <m:sSub>
                                  <m:e>
                                    <m:r>
                                      <a:rPr lang="zh-CN" sz="1800" dirty="0">
                                        <a:solidFill>
                                          <a:srgbClr val="1F2937"/>
                                        </a:solidFill>
                                        <a:latin typeface="Cambria Math"/>
                                        <a:ea typeface="Cambria Math"/>
                                        <a:cs typeface="Cambria Math"/>
                                      </a:rPr>
                                      <m:t>n</m:t>
                                    </m:r>
                                  </m:e>
                                  <m:sub>
                                    <m:r>
                                      <a:rPr lang="zh-CN" sz="1800" dirty="0">
                                        <a:solidFill>
                                          <a:srgbClr val="1F2937"/>
                                        </a:solidFill>
                                        <a:latin typeface="Cambria Math"/>
                                        <a:ea typeface="Cambria Math"/>
                                        <a:cs typeface="Cambria Math"/>
                                      </a:rPr>
                                      <m:t>2</m:t>
                                    </m:r>
                                  </m:sub>
                                </m:sSub>
                              </m:e>
                            </m:d>
                          </m:e>
                        </m:func>
                      </m:oMath>
                    </m:oMathPara>
                  </a14:m>
                </a:p>
              </p:txBody>
            </p:sp>
          </mc:Choice>
        </mc:AlternateContent>
      </p:grpSp>
      <p:grpSp>
        <p:nvGrpSpPr>
          <p:cNvPr id="51" name="footer"/>
          <p:cNvGrpSpPr/>
          <p:nvPr/>
        </p:nvGrpSpPr>
        <p:grpSpPr>
          <a:xfrm>
            <a:off x="528447" y="6581299"/>
            <a:ext cx="11135106" cy="190690"/>
            <a:chOff x="528447" y="6581299"/>
            <a:chExt cx="11135106" cy="190690"/>
          </a:xfrm>
        </p:grpSpPr>
        <p:sp>
          <p:nvSpPr>
            <p:cNvPr id="49" name="TextBox 49"/>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50" name="TextBox 5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53</a:t>
              </a:r>
            </a:p>
          </p:txBody>
        </p:sp>
      </p:grpSp>
    </p:spTree>
  </p:cSld>
  <p:clrMapOvr>
    <a:masterClrMapping/>
  </p:clrMapOvr>
  <p:transition xmlns:p14="http://schemas.microsoft.com/office/powerpoint/2010/main" p14:dur="400">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44989" cy="909257"/>
            <a:chOff x="520446" y="342900"/>
            <a:chExt cx="6844989"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程序复杂程度的定量度量</a:t>
              </a:r>
            </a:p>
          </p:txBody>
        </p:sp>
        <p:sp>
          <p:nvSpPr>
            <p:cNvPr id="4" name="TextBox 4"/>
            <p:cNvSpPr txBox="1"/>
            <p:nvPr/>
          </p:nvSpPr>
          <p:spPr>
            <a:xfrm>
              <a:off x="520446" y="753428"/>
              <a:ext cx="684498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Halstead 例题：一个 FORTRAN 排序子程序</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0" name="c1-code-1"/>
          <p:cNvGrpSpPr/>
          <p:nvPr/>
        </p:nvGrpSpPr>
        <p:grpSpPr>
          <a:xfrm>
            <a:off x="533400" y="1524000"/>
            <a:ext cx="4760595" cy="2791778"/>
            <a:chOff x="533400" y="1524000"/>
            <a:chExt cx="4760595" cy="2791778"/>
          </a:xfrm>
        </p:grpSpPr>
        <p:sp>
          <p:nvSpPr>
            <p:cNvPr id="7" name="Rectangle 7"/>
            <p:cNvSpPr/>
            <p:nvPr/>
          </p:nvSpPr>
          <p:spPr>
            <a:xfrm>
              <a:off x="533400" y="1524000"/>
              <a:ext cx="4760595" cy="2791778"/>
            </a:xfrm>
            <a:prstGeom prst="roundRect">
              <a:avLst>
                <a:gd name="adj" fmla="val 3412"/>
              </a:avLst>
            </a:prstGeom>
            <a:solidFill>
              <a:srgbClr val="F6F8FA"/>
            </a:solidFill>
            <a:ln w="11430">
              <a:solidFill>
                <a:srgbClr val="D9DFEA"/>
              </a:solidFill>
            </a:ln>
          </p:spPr>
        </p:sp>
        <p:sp>
          <p:nvSpPr>
            <p:cNvPr id="8" name="TextBox 8"/>
            <p:cNvSpPr txBox="1"/>
            <p:nvPr/>
          </p:nvSpPr>
          <p:spPr>
            <a:xfrm>
              <a:off x="661797" y="1675924"/>
              <a:ext cx="1202780" cy="190690"/>
            </a:xfrm>
            <a:prstGeom prst="rect">
              <a:avLst/>
            </a:prstGeom>
            <a:noFill/>
            <a:ln>
              <a:noFill/>
            </a:ln>
          </p:spPr>
          <p:txBody>
            <a:bodyPr wrap="none" lIns="0" tIns="0" rIns="0" bIns="0" anchor="t" anchorCtr="0">
              <a:spAutoFit/>
            </a:bodyPr>
            <a:lstStyle/>
            <a:p>
              <a:pPr algn="l"/>
              <a:r>
                <a:rPr lang="en-US" sz="980" b="1" dirty="0">
                  <a:solidFill>
                    <a:srgbClr val="5B6475"/>
                  </a:solidFill>
                  <a:latin typeface="+mn-lt"/>
                  <a:ea typeface="+mn-ea"/>
                  <a:cs typeface="+mn-cs"/>
                </a:rPr>
                <a:t>SUBROUTINE SORT</a:t>
              </a:r>
            </a:p>
          </p:txBody>
        </p:sp>
        <p:sp>
          <p:nvSpPr>
            <p:cNvPr id="9" name="TextBox 9"/>
            <p:cNvSpPr txBox="1"/>
            <p:nvPr/>
          </p:nvSpPr>
          <p:spPr>
            <a:xfrm>
              <a:off x="661797" y="1935956"/>
              <a:ext cx="2542667" cy="2305240"/>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Consolas"/>
                  <a:ea typeface="Consolas"/>
                  <a:cs typeface="Consolas"/>
                </a:rPr>
                <a:t>SUBROUTINE SORT (X, N)</a:t>
              </a:r>
              <a:br/>
              <a:r>
                <a:rPr lang="en-US" sz="980" dirty="0">
                  <a:solidFill>
                    <a:srgbClr val="1F2937"/>
                  </a:solidFill>
                  <a:latin typeface="Consolas"/>
                  <a:ea typeface="Consolas"/>
                  <a:cs typeface="Consolas"/>
                </a:rPr>
                <a:t>DIMENSION X (N)</a:t>
              </a:r>
              <a:br/>
              <a:r>
                <a:rPr lang="en-US" sz="980" dirty="0">
                  <a:solidFill>
                    <a:srgbClr val="1F2937"/>
                  </a:solidFill>
                  <a:latin typeface="Consolas"/>
                  <a:ea typeface="Consolas"/>
                  <a:cs typeface="Consolas"/>
                </a:rPr>
                <a:t xml:space="preserve">   IF (N .LT. 2) RETURN</a:t>
              </a:r>
              <a:br/>
              <a:r>
                <a:rPr lang="en-US" sz="980" dirty="0">
                  <a:solidFill>
                    <a:srgbClr val="1F2937"/>
                  </a:solidFill>
                  <a:latin typeface="Consolas"/>
                  <a:ea typeface="Consolas"/>
                  <a:cs typeface="Consolas"/>
                </a:rPr>
                <a:t xml:space="preserve">   DO 20  I = 2, N</a:t>
              </a:r>
              <a:br/>
              <a:r>
                <a:rPr lang="en-US" sz="980" dirty="0">
                  <a:solidFill>
                    <a:srgbClr val="1F2937"/>
                  </a:solidFill>
                  <a:latin typeface="Consolas"/>
                  <a:ea typeface="Consolas"/>
                  <a:cs typeface="Consolas"/>
                </a:rPr>
                <a:t xml:space="preserve">      DO 10  J = 1, I</a:t>
              </a:r>
              <a:br/>
              <a:r>
                <a:rPr lang="en-US" sz="980" dirty="0">
                  <a:solidFill>
                    <a:srgbClr val="1F2937"/>
                  </a:solidFill>
                  <a:latin typeface="Consolas"/>
                  <a:ea typeface="Consolas"/>
                  <a:cs typeface="Consolas"/>
                </a:rPr>
                <a:t xml:space="preserve">         IF (X(I) .GE. X(J)) GO TO 10</a:t>
              </a:r>
              <a:br/>
              <a:r>
                <a:rPr lang="en-US" sz="980" dirty="0">
                  <a:solidFill>
                    <a:srgbClr val="1F2937"/>
                  </a:solidFill>
                  <a:latin typeface="Consolas"/>
                  <a:ea typeface="Consolas"/>
                  <a:cs typeface="Consolas"/>
                </a:rPr>
                <a:t xml:space="preserve">         SAVE = X(I)</a:t>
              </a:r>
              <a:br/>
              <a:r>
                <a:rPr lang="en-US" sz="980" dirty="0">
                  <a:solidFill>
                    <a:srgbClr val="1F2937"/>
                  </a:solidFill>
                  <a:latin typeface="Consolas"/>
                  <a:ea typeface="Consolas"/>
                  <a:cs typeface="Consolas"/>
                </a:rPr>
                <a:t xml:space="preserve">         X(I) = X(J)</a:t>
              </a:r>
              <a:br/>
              <a:r>
                <a:rPr lang="en-US" sz="980" dirty="0">
                  <a:solidFill>
                    <a:srgbClr val="1F2937"/>
                  </a:solidFill>
                  <a:latin typeface="Consolas"/>
                  <a:ea typeface="Consolas"/>
                  <a:cs typeface="Consolas"/>
                </a:rPr>
                <a:t xml:space="preserve">         X(J) = SAVE</a:t>
              </a:r>
              <a:br/>
              <a:r>
                <a:rPr lang="en-US" sz="980" dirty="0">
                  <a:solidFill>
                    <a:srgbClr val="1F2937"/>
                  </a:solidFill>
                  <a:latin typeface="Consolas"/>
                  <a:ea typeface="Consolas"/>
                  <a:cs typeface="Consolas"/>
                </a:rPr>
                <a:t>10       CONTINUE</a:t>
              </a:r>
              <a:br/>
              <a:r>
                <a:rPr lang="en-US" sz="980" dirty="0">
                  <a:solidFill>
                    <a:srgbClr val="1F2937"/>
                  </a:solidFill>
                  <a:latin typeface="Consolas"/>
                  <a:ea typeface="Consolas"/>
                  <a:cs typeface="Consolas"/>
                </a:rPr>
                <a:t>20    CONTINUE</a:t>
              </a:r>
              <a:br/>
              <a:r>
                <a:rPr lang="en-US" sz="980" dirty="0">
                  <a:solidFill>
                    <a:srgbClr val="1F2937"/>
                  </a:solidFill>
                  <a:latin typeface="Consolas"/>
                  <a:ea typeface="Consolas"/>
                  <a:cs typeface="Consolas"/>
                </a:rPr>
                <a:t xml:space="preserve">   RETURN</a:t>
              </a:r>
              <a:br/>
              <a:r>
                <a:rPr lang="en-US" sz="980" dirty="0">
                  <a:solidFill>
                    <a:srgbClr val="1F2937"/>
                  </a:solidFill>
                  <a:latin typeface="Consolas"/>
                  <a:ea typeface="Consolas"/>
                  <a:cs typeface="Consolas"/>
                </a:rPr>
                <a:t xml:space="preserve">   END</a:t>
              </a:r>
            </a:p>
          </p:txBody>
        </p:sp>
      </p:grpSp>
      <p:grpSp>
        <p:nvGrpSpPr>
          <p:cNvPr id="17" name="c1-callout-2"/>
          <p:cNvGrpSpPr/>
          <p:nvPr/>
        </p:nvGrpSpPr>
        <p:grpSpPr>
          <a:xfrm>
            <a:off x="533400" y="4486275"/>
            <a:ext cx="4760595" cy="978218"/>
            <a:chOff x="533400" y="4486275"/>
            <a:chExt cx="4760595" cy="978218"/>
          </a:xfrm>
        </p:grpSpPr>
        <p:sp>
          <p:nvSpPr>
            <p:cNvPr id="11" name="Rectangle 11"/>
            <p:cNvSpPr/>
            <p:nvPr/>
          </p:nvSpPr>
          <p:spPr>
            <a:xfrm>
              <a:off x="533400" y="4486275"/>
              <a:ext cx="4760595" cy="978218"/>
            </a:xfrm>
            <a:prstGeom prst="roundRect">
              <a:avLst>
                <a:gd name="adj" fmla="val 11685"/>
              </a:avLst>
            </a:prstGeom>
            <a:solidFill>
              <a:srgbClr val="F4F6FB"/>
            </a:solidFill>
            <a:ln>
              <a:noFill/>
            </a:ln>
          </p:spPr>
        </p:sp>
        <p:grpSp>
          <p:nvGrpSpPr>
            <p:cNvPr id="15" name="Group 15"/>
            <p:cNvGrpSpPr/>
            <p:nvPr/>
          </p:nvGrpSpPr>
          <p:grpSpPr>
            <a:xfrm>
              <a:off x="738188" y="4874895"/>
              <a:ext cx="200026" cy="200026"/>
              <a:chOff x="738188" y="4874895"/>
              <a:chExt cx="200026" cy="200026"/>
            </a:xfrm>
          </p:grpSpPr>
          <p:sp>
            <p:nvSpPr>
              <p:cNvPr id="12" name="Freeform 12"/>
              <p:cNvSpPr/>
              <p:nvPr/>
            </p:nvSpPr>
            <p:spPr>
              <a:xfrm>
                <a:off x="738188" y="487489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13" name="Freeform 13"/>
              <p:cNvSpPr/>
              <p:nvPr/>
            </p:nvSpPr>
            <p:spPr>
              <a:xfrm>
                <a:off x="838200" y="494157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14" name="Freeform 14"/>
              <p:cNvSpPr/>
              <p:nvPr/>
            </p:nvSpPr>
            <p:spPr>
              <a:xfrm>
                <a:off x="827088" y="497490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16" name="TextBox 16"/>
            <p:cNvSpPr txBox="1"/>
            <p:nvPr/>
          </p:nvSpPr>
          <p:spPr>
            <a:xfrm>
              <a:off x="1040892" y="4632008"/>
              <a:ext cx="3811334" cy="761238"/>
            </a:xfrm>
            <a:prstGeom prst="rect">
              <a:avLst/>
            </a:prstGeom>
            <a:noFill/>
            <a:ln>
              <a:noFill/>
            </a:ln>
          </p:spPr>
          <p:txBody>
            <a:bodyPr wrap="none" lIns="0" tIns="0" rIns="0" bIns="0" anchor="t" anchorCtr="0">
              <a:spAutoFit/>
            </a:bodyPr>
            <a:lstStyle/>
            <a:p>
              <a:pPr algn="l">
                <a:lnSpc>
                  <a:spcPts val="1958"/>
                </a:lnSpc>
              </a:pPr>
              <a:r>
                <a:rPr lang="zh-CN" sz="1350" dirty="0">
                  <a:solidFill>
                    <a:srgbClr val="1F2937"/>
                  </a:solidFill>
                  <a:latin typeface="+mn-lt"/>
                  <a:ea typeface="+mn-ea"/>
                  <a:cs typeface="+mn-cs"/>
                </a:rPr>
                <a:t>课件只统计可执行语句，SUBROUTINE 与</a:t>
              </a:r>
              <a:br/>
              <a:r>
                <a:rPr lang="zh-CN" sz="1350" dirty="0">
                  <a:solidFill>
                    <a:srgbClr val="1F2937"/>
                  </a:solidFill>
                  <a:latin typeface="+mn-lt"/>
                  <a:ea typeface="+mn-ea"/>
                  <a:cs typeface="+mn-cs"/>
                </a:rPr>
                <a:t>DIMENSION 两行不计入，按这个口径两列数字才对</a:t>
              </a:r>
              <a:br/>
              <a:r>
                <a:rPr lang="zh-CN" sz="1350" dirty="0">
                  <a:solidFill>
                    <a:srgbClr val="1F2937"/>
                  </a:solidFill>
                  <a:latin typeface="+mn-lt"/>
                  <a:ea typeface="+mn-ea"/>
                  <a:cs typeface="+mn-cs"/>
                </a:rPr>
                <a:t>得上。</a:t>
              </a:r>
            </a:p>
          </p:txBody>
        </p:sp>
      </p:grpSp>
      <p:grpSp>
        <p:nvGrpSpPr>
          <p:cNvPr id="69" name="c2-table-1"/>
          <p:cNvGrpSpPr/>
          <p:nvPr/>
        </p:nvGrpSpPr>
        <p:grpSpPr>
          <a:xfrm>
            <a:off x="5593842" y="1524000"/>
            <a:ext cx="6064758" cy="3864006"/>
            <a:chOff x="5593842" y="1524000"/>
            <a:chExt cx="6064758" cy="3864006"/>
          </a:xfrm>
        </p:grpSpPr>
        <p:sp>
          <p:nvSpPr>
            <p:cNvPr id="18" name="Rectangle 18"/>
            <p:cNvSpPr/>
            <p:nvPr/>
          </p:nvSpPr>
          <p:spPr>
            <a:xfrm>
              <a:off x="5598795" y="1524000"/>
              <a:ext cx="6059805" cy="400050"/>
            </a:xfrm>
            <a:prstGeom prst="rect">
              <a:avLst/>
            </a:prstGeom>
            <a:solidFill>
              <a:srgbClr val="334E68"/>
            </a:solidFill>
            <a:ln>
              <a:noFill/>
            </a:ln>
          </p:spPr>
        </p:sp>
        <p:sp>
          <p:nvSpPr>
            <p:cNvPr id="19" name="TextBox 19"/>
            <p:cNvSpPr txBox="1"/>
            <p:nvPr/>
          </p:nvSpPr>
          <p:spPr>
            <a:xfrm>
              <a:off x="6397523" y="1645444"/>
              <a:ext cx="463753"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运算符</a:t>
              </a:r>
            </a:p>
          </p:txBody>
        </p:sp>
        <p:sp>
          <p:nvSpPr>
            <p:cNvPr id="20" name="TextBox 20"/>
            <p:cNvSpPr txBox="1"/>
            <p:nvPr/>
          </p:nvSpPr>
          <p:spPr>
            <a:xfrm>
              <a:off x="7987386" y="1645444"/>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计数</a:t>
              </a:r>
            </a:p>
          </p:txBody>
        </p:sp>
        <p:sp>
          <p:nvSpPr>
            <p:cNvPr id="21" name="TextBox 21"/>
            <p:cNvSpPr txBox="1"/>
            <p:nvPr/>
          </p:nvSpPr>
          <p:spPr>
            <a:xfrm>
              <a:off x="9352039" y="1645444"/>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运算对象</a:t>
              </a:r>
            </a:p>
          </p:txBody>
        </p:sp>
        <p:sp>
          <p:nvSpPr>
            <p:cNvPr id="22" name="TextBox 22"/>
            <p:cNvSpPr txBox="1"/>
            <p:nvPr/>
          </p:nvSpPr>
          <p:spPr>
            <a:xfrm>
              <a:off x="11017288" y="1645444"/>
              <a:ext cx="312979"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计数</a:t>
              </a:r>
            </a:p>
          </p:txBody>
        </p:sp>
        <p:sp>
          <p:nvSpPr>
            <p:cNvPr id="23" name="TextBox 23"/>
            <p:cNvSpPr txBox="1"/>
            <p:nvPr/>
          </p:nvSpPr>
          <p:spPr>
            <a:xfrm>
              <a:off x="5695950" y="2045494"/>
              <a:ext cx="1066851"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可执行语句结束</a:t>
              </a:r>
            </a:p>
          </p:txBody>
        </p:sp>
        <p:sp>
          <p:nvSpPr>
            <p:cNvPr id="24" name="TextBox 24"/>
            <p:cNvSpPr txBox="1"/>
            <p:nvPr/>
          </p:nvSpPr>
          <p:spPr>
            <a:xfrm>
              <a:off x="8096697" y="20454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7</a:t>
              </a:r>
            </a:p>
          </p:txBody>
        </p:sp>
        <p:sp>
          <p:nvSpPr>
            <p:cNvPr id="25" name="TextBox 25"/>
            <p:cNvSpPr txBox="1"/>
            <p:nvPr/>
          </p:nvSpPr>
          <p:spPr>
            <a:xfrm>
              <a:off x="8725852" y="2045494"/>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X</a:t>
              </a:r>
            </a:p>
          </p:txBody>
        </p:sp>
        <p:sp>
          <p:nvSpPr>
            <p:cNvPr id="26" name="TextBox 26"/>
            <p:cNvSpPr txBox="1"/>
            <p:nvPr/>
          </p:nvSpPr>
          <p:spPr>
            <a:xfrm>
              <a:off x="11126600" y="20454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6</a:t>
              </a:r>
            </a:p>
          </p:txBody>
        </p:sp>
        <p:sp>
          <p:nvSpPr>
            <p:cNvPr id="27" name="Rectangle 27"/>
            <p:cNvSpPr/>
            <p:nvPr/>
          </p:nvSpPr>
          <p:spPr>
            <a:xfrm>
              <a:off x="5598795" y="2319338"/>
              <a:ext cx="6059805" cy="9525"/>
            </a:xfrm>
            <a:prstGeom prst="rect">
              <a:avLst/>
            </a:prstGeom>
            <a:solidFill>
              <a:srgbClr val="D9DFEA"/>
            </a:solidFill>
            <a:ln>
              <a:noFill/>
            </a:ln>
          </p:spPr>
        </p:sp>
        <p:sp>
          <p:nvSpPr>
            <p:cNvPr id="28" name="Rectangle 28"/>
            <p:cNvSpPr/>
            <p:nvPr/>
          </p:nvSpPr>
          <p:spPr>
            <a:xfrm>
              <a:off x="5598795" y="2324100"/>
              <a:ext cx="6059805" cy="400050"/>
            </a:xfrm>
            <a:prstGeom prst="rect">
              <a:avLst/>
            </a:prstGeom>
            <a:solidFill>
              <a:srgbClr val="F4F6FB"/>
            </a:solidFill>
            <a:ln>
              <a:noFill/>
            </a:ln>
          </p:spPr>
        </p:sp>
        <p:sp>
          <p:nvSpPr>
            <p:cNvPr id="29" name="TextBox 29"/>
            <p:cNvSpPr txBox="1"/>
            <p:nvPr/>
          </p:nvSpPr>
          <p:spPr>
            <a:xfrm>
              <a:off x="5695950" y="2445544"/>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数组下标</a:t>
              </a:r>
            </a:p>
          </p:txBody>
        </p:sp>
        <p:sp>
          <p:nvSpPr>
            <p:cNvPr id="30" name="TextBox 30"/>
            <p:cNvSpPr txBox="1"/>
            <p:nvPr/>
          </p:nvSpPr>
          <p:spPr>
            <a:xfrm>
              <a:off x="8096697" y="24455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6</a:t>
              </a:r>
            </a:p>
          </p:txBody>
        </p:sp>
        <p:sp>
          <p:nvSpPr>
            <p:cNvPr id="31" name="TextBox 31"/>
            <p:cNvSpPr txBox="1"/>
            <p:nvPr/>
          </p:nvSpPr>
          <p:spPr>
            <a:xfrm>
              <a:off x="8725852" y="2445544"/>
              <a:ext cx="59223"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I</a:t>
              </a:r>
            </a:p>
          </p:txBody>
        </p:sp>
        <p:sp>
          <p:nvSpPr>
            <p:cNvPr id="32" name="TextBox 32"/>
            <p:cNvSpPr txBox="1"/>
            <p:nvPr/>
          </p:nvSpPr>
          <p:spPr>
            <a:xfrm>
              <a:off x="11126600" y="24455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5</a:t>
              </a:r>
            </a:p>
          </p:txBody>
        </p:sp>
        <p:sp>
          <p:nvSpPr>
            <p:cNvPr id="33" name="Rectangle 33"/>
            <p:cNvSpPr/>
            <p:nvPr/>
          </p:nvSpPr>
          <p:spPr>
            <a:xfrm>
              <a:off x="5598795" y="2719388"/>
              <a:ext cx="6059805" cy="9525"/>
            </a:xfrm>
            <a:prstGeom prst="rect">
              <a:avLst/>
            </a:prstGeom>
            <a:solidFill>
              <a:srgbClr val="D9DFEA"/>
            </a:solidFill>
            <a:ln>
              <a:noFill/>
            </a:ln>
          </p:spPr>
        </p:sp>
        <p:sp>
          <p:nvSpPr>
            <p:cNvPr id="34" name="TextBox 34"/>
            <p:cNvSpPr txBox="1"/>
            <p:nvPr/>
          </p:nvSpPr>
          <p:spPr>
            <a:xfrm>
              <a:off x="5695950" y="2845594"/>
              <a:ext cx="985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a:t>
              </a:r>
            </a:p>
          </p:txBody>
        </p:sp>
        <p:sp>
          <p:nvSpPr>
            <p:cNvPr id="35" name="TextBox 35"/>
            <p:cNvSpPr txBox="1"/>
            <p:nvPr/>
          </p:nvSpPr>
          <p:spPr>
            <a:xfrm>
              <a:off x="8096697" y="28455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5</a:t>
              </a:r>
            </a:p>
          </p:txBody>
        </p:sp>
        <p:sp>
          <p:nvSpPr>
            <p:cNvPr id="36" name="TextBox 36"/>
            <p:cNvSpPr txBox="1"/>
            <p:nvPr/>
          </p:nvSpPr>
          <p:spPr>
            <a:xfrm>
              <a:off x="8725852" y="2845594"/>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J</a:t>
              </a:r>
            </a:p>
          </p:txBody>
        </p:sp>
        <p:sp>
          <p:nvSpPr>
            <p:cNvPr id="37" name="TextBox 37"/>
            <p:cNvSpPr txBox="1"/>
            <p:nvPr/>
          </p:nvSpPr>
          <p:spPr>
            <a:xfrm>
              <a:off x="11126600" y="28455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4</a:t>
              </a:r>
            </a:p>
          </p:txBody>
        </p:sp>
        <p:sp>
          <p:nvSpPr>
            <p:cNvPr id="38" name="Rectangle 38"/>
            <p:cNvSpPr/>
            <p:nvPr/>
          </p:nvSpPr>
          <p:spPr>
            <a:xfrm>
              <a:off x="5598795" y="3119438"/>
              <a:ext cx="6059805" cy="9525"/>
            </a:xfrm>
            <a:prstGeom prst="rect">
              <a:avLst/>
            </a:prstGeom>
            <a:solidFill>
              <a:srgbClr val="D9DFEA"/>
            </a:solidFill>
            <a:ln>
              <a:noFill/>
            </a:ln>
          </p:spPr>
        </p:sp>
        <p:sp>
          <p:nvSpPr>
            <p:cNvPr id="39" name="Rectangle 39"/>
            <p:cNvSpPr/>
            <p:nvPr/>
          </p:nvSpPr>
          <p:spPr>
            <a:xfrm>
              <a:off x="5598795" y="3124200"/>
              <a:ext cx="6059805" cy="400050"/>
            </a:xfrm>
            <a:prstGeom prst="rect">
              <a:avLst/>
            </a:prstGeom>
            <a:solidFill>
              <a:srgbClr val="F4F6FB"/>
            </a:solidFill>
            <a:ln>
              <a:noFill/>
            </a:ln>
          </p:spPr>
        </p:sp>
        <p:sp>
          <p:nvSpPr>
            <p:cNvPr id="40" name="TextBox 40"/>
            <p:cNvSpPr txBox="1"/>
            <p:nvPr/>
          </p:nvSpPr>
          <p:spPr>
            <a:xfrm>
              <a:off x="5695950" y="3245644"/>
              <a:ext cx="387797"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IF( )</a:t>
              </a:r>
            </a:p>
          </p:txBody>
        </p:sp>
        <p:sp>
          <p:nvSpPr>
            <p:cNvPr id="41" name="TextBox 41"/>
            <p:cNvSpPr txBox="1"/>
            <p:nvPr/>
          </p:nvSpPr>
          <p:spPr>
            <a:xfrm>
              <a:off x="8096697" y="32456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2</a:t>
              </a:r>
            </a:p>
          </p:txBody>
        </p:sp>
        <p:sp>
          <p:nvSpPr>
            <p:cNvPr id="42" name="TextBox 42"/>
            <p:cNvSpPr txBox="1"/>
            <p:nvPr/>
          </p:nvSpPr>
          <p:spPr>
            <a:xfrm>
              <a:off x="8725852" y="3245644"/>
              <a:ext cx="99050"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N</a:t>
              </a:r>
            </a:p>
          </p:txBody>
        </p:sp>
        <p:sp>
          <p:nvSpPr>
            <p:cNvPr id="43" name="TextBox 43"/>
            <p:cNvSpPr txBox="1"/>
            <p:nvPr/>
          </p:nvSpPr>
          <p:spPr>
            <a:xfrm>
              <a:off x="11126600" y="32456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2</a:t>
              </a:r>
            </a:p>
          </p:txBody>
        </p:sp>
        <p:sp>
          <p:nvSpPr>
            <p:cNvPr id="44" name="Rectangle 44"/>
            <p:cNvSpPr/>
            <p:nvPr/>
          </p:nvSpPr>
          <p:spPr>
            <a:xfrm>
              <a:off x="5598795" y="3519488"/>
              <a:ext cx="6059805" cy="9525"/>
            </a:xfrm>
            <a:prstGeom prst="rect">
              <a:avLst/>
            </a:prstGeom>
            <a:solidFill>
              <a:srgbClr val="D9DFEA"/>
            </a:solidFill>
            <a:ln>
              <a:noFill/>
            </a:ln>
          </p:spPr>
        </p:sp>
        <p:sp>
          <p:nvSpPr>
            <p:cNvPr id="45" name="TextBox 45"/>
            <p:cNvSpPr txBox="1"/>
            <p:nvPr/>
          </p:nvSpPr>
          <p:spPr>
            <a:xfrm>
              <a:off x="5695950" y="3645694"/>
              <a:ext cx="228887" cy="220028"/>
            </a:xfrm>
            <a:prstGeom prst="rect">
              <a:avLst/>
            </a:prstGeom>
            <a:noFill/>
            <a:ln>
              <a:noFill/>
            </a:ln>
          </p:spPr>
          <p:txBody>
            <a:bodyPr wrap="none" lIns="0" tIns="0" rIns="0" bIns="0" anchor="t" anchorCtr="0">
              <a:spAutoFit/>
            </a:bodyPr>
            <a:lstStyle/>
            <a:p>
              <a:pPr algn="l"/>
              <a:r>
                <a:rPr lang="en-US" sz="1120" b="1" dirty="0">
                  <a:solidFill>
                    <a:srgbClr val="1F2937"/>
                  </a:solidFill>
                  <a:latin typeface="+mn-lt"/>
                  <a:ea typeface="+mn-ea"/>
                  <a:cs typeface="+mn-cs"/>
                </a:rPr>
                <a:t>DO</a:t>
              </a:r>
            </a:p>
          </p:txBody>
        </p:sp>
        <p:sp>
          <p:nvSpPr>
            <p:cNvPr id="46" name="TextBox 46"/>
            <p:cNvSpPr txBox="1"/>
            <p:nvPr/>
          </p:nvSpPr>
          <p:spPr>
            <a:xfrm>
              <a:off x="8096697" y="36456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2</a:t>
              </a:r>
            </a:p>
          </p:txBody>
        </p:sp>
        <p:sp>
          <p:nvSpPr>
            <p:cNvPr id="47" name="TextBox 47"/>
            <p:cNvSpPr txBox="1"/>
            <p:nvPr/>
          </p:nvSpPr>
          <p:spPr>
            <a:xfrm>
              <a:off x="8725852" y="3645694"/>
              <a:ext cx="9435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2</a:t>
              </a:r>
            </a:p>
          </p:txBody>
        </p:sp>
        <p:sp>
          <p:nvSpPr>
            <p:cNvPr id="48" name="TextBox 48"/>
            <p:cNvSpPr txBox="1"/>
            <p:nvPr/>
          </p:nvSpPr>
          <p:spPr>
            <a:xfrm>
              <a:off x="11126600" y="36456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2</a:t>
              </a:r>
            </a:p>
          </p:txBody>
        </p:sp>
        <p:sp>
          <p:nvSpPr>
            <p:cNvPr id="49" name="Rectangle 49"/>
            <p:cNvSpPr/>
            <p:nvPr/>
          </p:nvSpPr>
          <p:spPr>
            <a:xfrm>
              <a:off x="5598795" y="3919538"/>
              <a:ext cx="6059805" cy="9525"/>
            </a:xfrm>
            <a:prstGeom prst="rect">
              <a:avLst/>
            </a:prstGeom>
            <a:solidFill>
              <a:srgbClr val="D9DFEA"/>
            </a:solidFill>
            <a:ln>
              <a:noFill/>
            </a:ln>
          </p:spPr>
        </p:sp>
        <p:sp>
          <p:nvSpPr>
            <p:cNvPr id="50" name="Rectangle 50"/>
            <p:cNvSpPr/>
            <p:nvPr/>
          </p:nvSpPr>
          <p:spPr>
            <a:xfrm>
              <a:off x="5598795" y="3924300"/>
              <a:ext cx="6059805" cy="400050"/>
            </a:xfrm>
            <a:prstGeom prst="rect">
              <a:avLst/>
            </a:prstGeom>
            <a:solidFill>
              <a:srgbClr val="F4F6FB"/>
            </a:solidFill>
            <a:ln>
              <a:noFill/>
            </a:ln>
          </p:spPr>
        </p:sp>
        <p:sp>
          <p:nvSpPr>
            <p:cNvPr id="51" name="TextBox 51"/>
            <p:cNvSpPr txBox="1"/>
            <p:nvPr/>
          </p:nvSpPr>
          <p:spPr>
            <a:xfrm>
              <a:off x="5695950" y="4045744"/>
              <a:ext cx="162204"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a:t>
              </a:r>
            </a:p>
          </p:txBody>
        </p:sp>
        <p:sp>
          <p:nvSpPr>
            <p:cNvPr id="52" name="TextBox 52"/>
            <p:cNvSpPr txBox="1"/>
            <p:nvPr/>
          </p:nvSpPr>
          <p:spPr>
            <a:xfrm>
              <a:off x="8096697" y="40457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2</a:t>
              </a:r>
            </a:p>
          </p:txBody>
        </p:sp>
        <p:sp>
          <p:nvSpPr>
            <p:cNvPr id="53" name="TextBox 53"/>
            <p:cNvSpPr txBox="1"/>
            <p:nvPr/>
          </p:nvSpPr>
          <p:spPr>
            <a:xfrm>
              <a:off x="8725852" y="4045744"/>
              <a:ext cx="361909" cy="220028"/>
            </a:xfrm>
            <a:prstGeom prst="rect">
              <a:avLst/>
            </a:prstGeom>
            <a:noFill/>
            <a:ln>
              <a:noFill/>
            </a:ln>
          </p:spPr>
          <p:txBody>
            <a:bodyPr wrap="none" lIns="0" tIns="0" rIns="0" bIns="0" anchor="t" anchorCtr="0">
              <a:spAutoFit/>
            </a:bodyPr>
            <a:lstStyle/>
            <a:p>
              <a:pPr algn="l"/>
              <a:r>
                <a:rPr lang="en-US" sz="1120" dirty="0">
                  <a:solidFill>
                    <a:srgbClr val="1F2937"/>
                  </a:solidFill>
                  <a:latin typeface="+mn-lt"/>
                  <a:ea typeface="+mn-ea"/>
                  <a:cs typeface="+mn-cs"/>
                </a:rPr>
                <a:t>SAVE</a:t>
              </a:r>
            </a:p>
          </p:txBody>
        </p:sp>
        <p:sp>
          <p:nvSpPr>
            <p:cNvPr id="54" name="TextBox 54"/>
            <p:cNvSpPr txBox="1"/>
            <p:nvPr/>
          </p:nvSpPr>
          <p:spPr>
            <a:xfrm>
              <a:off x="11126600" y="404574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2</a:t>
              </a:r>
            </a:p>
          </p:txBody>
        </p:sp>
        <p:sp>
          <p:nvSpPr>
            <p:cNvPr id="55" name="Rectangle 55"/>
            <p:cNvSpPr/>
            <p:nvPr/>
          </p:nvSpPr>
          <p:spPr>
            <a:xfrm>
              <a:off x="5598795" y="4319588"/>
              <a:ext cx="6059805" cy="9525"/>
            </a:xfrm>
            <a:prstGeom prst="rect">
              <a:avLst/>
            </a:prstGeom>
            <a:solidFill>
              <a:srgbClr val="D9DFEA"/>
            </a:solidFill>
            <a:ln>
              <a:noFill/>
            </a:ln>
          </p:spPr>
        </p:sp>
        <p:sp>
          <p:nvSpPr>
            <p:cNvPr id="56" name="TextBox 56"/>
            <p:cNvSpPr txBox="1"/>
            <p:nvPr/>
          </p:nvSpPr>
          <p:spPr>
            <a:xfrm>
              <a:off x="5695950" y="4445794"/>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程序结束</a:t>
              </a:r>
            </a:p>
          </p:txBody>
        </p:sp>
        <p:sp>
          <p:nvSpPr>
            <p:cNvPr id="57" name="TextBox 57"/>
            <p:cNvSpPr txBox="1"/>
            <p:nvPr/>
          </p:nvSpPr>
          <p:spPr>
            <a:xfrm>
              <a:off x="8096697" y="44457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1</a:t>
              </a:r>
            </a:p>
          </p:txBody>
        </p:sp>
        <p:sp>
          <p:nvSpPr>
            <p:cNvPr id="58" name="TextBox 58"/>
            <p:cNvSpPr txBox="1"/>
            <p:nvPr/>
          </p:nvSpPr>
          <p:spPr>
            <a:xfrm>
              <a:off x="8725852" y="4445794"/>
              <a:ext cx="9435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1</a:t>
              </a:r>
            </a:p>
          </p:txBody>
        </p:sp>
        <p:sp>
          <p:nvSpPr>
            <p:cNvPr id="59" name="TextBox 59"/>
            <p:cNvSpPr txBox="1"/>
            <p:nvPr/>
          </p:nvSpPr>
          <p:spPr>
            <a:xfrm>
              <a:off x="11126600" y="4445794"/>
              <a:ext cx="94356"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1</a:t>
              </a:r>
            </a:p>
          </p:txBody>
        </p:sp>
        <p:sp>
          <p:nvSpPr>
            <p:cNvPr id="60" name="Rectangle 60"/>
            <p:cNvSpPr/>
            <p:nvPr/>
          </p:nvSpPr>
          <p:spPr>
            <a:xfrm>
              <a:off x="5598795" y="4719638"/>
              <a:ext cx="6059805" cy="9525"/>
            </a:xfrm>
            <a:prstGeom prst="rect">
              <a:avLst/>
            </a:prstGeom>
            <a:solidFill>
              <a:srgbClr val="D9DFEA"/>
            </a:solidFill>
            <a:ln>
              <a:noFill/>
            </a:ln>
          </p:spPr>
        </p:sp>
        <p:sp>
          <p:nvSpPr>
            <p:cNvPr id="61" name="Rectangle 61"/>
            <p:cNvSpPr/>
            <p:nvPr/>
          </p:nvSpPr>
          <p:spPr>
            <a:xfrm>
              <a:off x="5598795" y="4724400"/>
              <a:ext cx="6059805" cy="400050"/>
            </a:xfrm>
            <a:prstGeom prst="rect">
              <a:avLst/>
            </a:prstGeom>
            <a:solidFill>
              <a:srgbClr val="F4F6FB"/>
            </a:solidFill>
            <a:ln>
              <a:noFill/>
            </a:ln>
          </p:spPr>
        </p:sp>
        <p:sp>
          <p:nvSpPr>
            <p:cNvPr id="62" name="TextBox 62"/>
            <p:cNvSpPr txBox="1"/>
            <p:nvPr/>
          </p:nvSpPr>
          <p:spPr>
            <a:xfrm>
              <a:off x="5695950" y="4845844"/>
              <a:ext cx="1768265"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.LT.、.GE.、GO TO 10</a:t>
              </a:r>
            </a:p>
          </p:txBody>
        </p:sp>
        <p:sp>
          <p:nvSpPr>
            <p:cNvPr id="63" name="TextBox 63"/>
            <p:cNvSpPr txBox="1"/>
            <p:nvPr/>
          </p:nvSpPr>
          <p:spPr>
            <a:xfrm>
              <a:off x="7998694" y="4845844"/>
              <a:ext cx="290363"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各 1</a:t>
              </a:r>
            </a:p>
          </p:txBody>
        </p:sp>
        <p:sp>
          <p:nvSpPr>
            <p:cNvPr id="64" name="Rectangle 64"/>
            <p:cNvSpPr/>
            <p:nvPr/>
          </p:nvSpPr>
          <p:spPr>
            <a:xfrm>
              <a:off x="5598795" y="1524000"/>
              <a:ext cx="6059805" cy="3600450"/>
            </a:xfrm>
            <a:prstGeom prst="rect">
              <a:avLst/>
            </a:prstGeom>
            <a:noFill/>
            <a:ln w="14288">
              <a:solidFill>
                <a:srgbClr val="D9DFEA"/>
              </a:solidFill>
            </a:ln>
          </p:spPr>
        </p:sp>
        <p:sp>
          <p:nvSpPr>
            <p:cNvPr id="65" name="Rectangle 65"/>
            <p:cNvSpPr/>
            <p:nvPr/>
          </p:nvSpPr>
          <p:spPr>
            <a:xfrm>
              <a:off x="7654290" y="1524000"/>
              <a:ext cx="9525" cy="3600450"/>
            </a:xfrm>
            <a:prstGeom prst="rect">
              <a:avLst/>
            </a:prstGeom>
            <a:solidFill>
              <a:srgbClr val="D9DFEA"/>
            </a:solidFill>
            <a:ln>
              <a:noFill/>
            </a:ln>
          </p:spPr>
        </p:sp>
        <p:sp>
          <p:nvSpPr>
            <p:cNvPr id="66" name="Rectangle 66"/>
            <p:cNvSpPr/>
            <p:nvPr/>
          </p:nvSpPr>
          <p:spPr>
            <a:xfrm>
              <a:off x="8623935" y="1524000"/>
              <a:ext cx="9525" cy="3600450"/>
            </a:xfrm>
            <a:prstGeom prst="rect">
              <a:avLst/>
            </a:prstGeom>
            <a:solidFill>
              <a:srgbClr val="D9DFEA"/>
            </a:solidFill>
            <a:ln>
              <a:noFill/>
            </a:ln>
          </p:spPr>
        </p:sp>
        <p:sp>
          <p:nvSpPr>
            <p:cNvPr id="67" name="Rectangle 67"/>
            <p:cNvSpPr/>
            <p:nvPr/>
          </p:nvSpPr>
          <p:spPr>
            <a:xfrm>
              <a:off x="10684192" y="1524000"/>
              <a:ext cx="9525" cy="3600450"/>
            </a:xfrm>
            <a:prstGeom prst="rect">
              <a:avLst/>
            </a:prstGeom>
            <a:solidFill>
              <a:srgbClr val="D9DFEA"/>
            </a:solidFill>
            <a:ln>
              <a:noFill/>
            </a:ln>
          </p:spPr>
        </p:sp>
        <p:sp>
          <p:nvSpPr>
            <p:cNvPr id="68" name="TextBox 68"/>
            <p:cNvSpPr txBox="1"/>
            <p:nvPr/>
          </p:nvSpPr>
          <p:spPr>
            <a:xfrm>
              <a:off x="5593842" y="5197316"/>
              <a:ext cx="254677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合计：n₁ = 10，N₁ = 28；n₂ = 7，N₂ = 22</a:t>
              </a:r>
            </a:p>
          </p:txBody>
        </p:sp>
      </p:grpSp>
      <p:grpSp>
        <p:nvGrpSpPr>
          <p:cNvPr id="75" name="takeaway"/>
          <p:cNvGrpSpPr/>
          <p:nvPr/>
        </p:nvGrpSpPr>
        <p:grpSpPr>
          <a:xfrm>
            <a:off x="533400" y="5881688"/>
            <a:ext cx="11125200" cy="481012"/>
            <a:chOff x="533400" y="5881688"/>
            <a:chExt cx="11125200" cy="481012"/>
          </a:xfrm>
        </p:grpSpPr>
        <p:sp>
          <p:nvSpPr>
            <p:cNvPr id="70" name="Rectangle 70"/>
            <p:cNvSpPr/>
            <p:nvPr/>
          </p:nvSpPr>
          <p:spPr>
            <a:xfrm>
              <a:off x="533400" y="5881688"/>
              <a:ext cx="11125200" cy="481012"/>
            </a:xfrm>
            <a:prstGeom prst="roundRect">
              <a:avLst>
                <a:gd name="adj" fmla="val 23762"/>
              </a:avLst>
            </a:prstGeom>
            <a:solidFill>
              <a:srgbClr val="E3F5F1"/>
            </a:solidFill>
            <a:ln>
              <a:noFill/>
            </a:ln>
          </p:spPr>
        </p:sp>
        <p:grpSp>
          <p:nvGrpSpPr>
            <p:cNvPr id="73" name="Group 73"/>
            <p:cNvGrpSpPr/>
            <p:nvPr/>
          </p:nvGrpSpPr>
          <p:grpSpPr>
            <a:xfrm>
              <a:off x="738188" y="6022658"/>
              <a:ext cx="200026" cy="200026"/>
              <a:chOff x="738188" y="6022658"/>
              <a:chExt cx="200026" cy="200026"/>
            </a:xfrm>
          </p:grpSpPr>
          <p:sp>
            <p:nvSpPr>
              <p:cNvPr id="71" name="Freeform 71"/>
              <p:cNvSpPr/>
              <p:nvPr/>
            </p:nvSpPr>
            <p:spPr>
              <a:xfrm>
                <a:off x="738188" y="602265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0F7A68"/>
                </a:solidFill>
              </a:ln>
            </p:spPr>
          </p:sp>
          <p:sp>
            <p:nvSpPr>
              <p:cNvPr id="72" name="Freeform 72"/>
              <p:cNvSpPr/>
              <p:nvPr/>
            </p:nvSpPr>
            <p:spPr>
              <a:xfrm>
                <a:off x="804863" y="6100445"/>
                <a:ext cx="66675" cy="44450"/>
              </a:xfrm>
              <a:custGeom>
                <a:avLst/>
                <a:gdLst/>
                <a:ahLst/>
                <a:cxnLst/>
                <a:rect l="l" t="t" r="r" b="b"/>
                <a:pathLst>
                  <a:path w="66675" h="44450">
                    <a:moveTo>
                      <a:pt x="0" y="22225"/>
                    </a:moveTo>
                    <a:lnTo>
                      <a:pt x="22225" y="44450"/>
                    </a:lnTo>
                    <a:lnTo>
                      <a:pt x="66675" y="0"/>
                    </a:lnTo>
                  </a:path>
                </a:pathLst>
              </a:custGeom>
              <a:noFill/>
              <a:ln w="22225">
                <a:solidFill>
                  <a:srgbClr val="0F7A68"/>
                </a:solidFill>
              </a:ln>
            </p:spPr>
          </p:sp>
        </p:grpSp>
        <p:sp>
          <p:nvSpPr>
            <p:cNvPr id="74" name="TextBox 74"/>
            <p:cNvSpPr txBox="1"/>
            <p:nvPr/>
          </p:nvSpPr>
          <p:spPr>
            <a:xfrm>
              <a:off x="1040892" y="6028373"/>
              <a:ext cx="9828243" cy="264033"/>
            </a:xfrm>
            <a:prstGeom prst="rect">
              <a:avLst/>
            </a:prstGeom>
            <a:noFill/>
            <a:ln>
              <a:noFill/>
            </a:ln>
          </p:spPr>
          <p:txBody>
            <a:bodyPr wrap="none" lIns="0" tIns="0" rIns="0" bIns="0" anchor="t" anchorCtr="0">
              <a:spAutoFit/>
            </a:bodyPr>
            <a:lstStyle/>
            <a:p>
              <a:pPr algn="l"/>
              <a:r>
                <a:rPr lang="zh-CN" sz="1350" dirty="0">
                  <a:solidFill>
                    <a:srgbClr val="0F7A68"/>
                  </a:solidFill>
                  <a:latin typeface="+mn-lt"/>
                  <a:ea typeface="+mn-ea"/>
                  <a:cs typeface="+mn-cs"/>
                </a:rPr>
                <a:t>代入：H = 10×log₂10 + 7×log₂7 = 52.87；N = 28 + 22 = 50；V = (28+22)×log₂17 ≈ 204。预测长度与实际长度很接近。</a:t>
              </a:r>
            </a:p>
          </p:txBody>
        </p:sp>
      </p:grpSp>
      <p:grpSp>
        <p:nvGrpSpPr>
          <p:cNvPr id="78" name="footer"/>
          <p:cNvGrpSpPr/>
          <p:nvPr/>
        </p:nvGrpSpPr>
        <p:grpSpPr>
          <a:xfrm>
            <a:off x="528447" y="6581299"/>
            <a:ext cx="11135106" cy="190690"/>
            <a:chOff x="528447" y="6581299"/>
            <a:chExt cx="11135106" cy="190690"/>
          </a:xfrm>
        </p:grpSpPr>
        <p:sp>
          <p:nvSpPr>
            <p:cNvPr id="76" name="TextBox 76"/>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77" name="TextBox 7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54</a:t>
              </a:r>
            </a:p>
          </p:txBody>
        </p:sp>
      </p:grpSp>
    </p:spTree>
  </p:cSld>
  <p:clrMapOvr>
    <a:masterClrMapping/>
  </p:clrMapOvr>
  <p:transition xmlns:p14="http://schemas.microsoft.com/office/powerpoint/2010/main" p14:dur="400">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9508" cy="909257"/>
            <a:chOff x="520446" y="342900"/>
            <a:chExt cx="5869508"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程序复杂程度的定量度量</a:t>
              </a:r>
            </a:p>
          </p:txBody>
        </p:sp>
        <p:sp>
          <p:nvSpPr>
            <p:cNvPr id="4" name="TextBox 4"/>
            <p:cNvSpPr txBox="1"/>
            <p:nvPr/>
          </p:nvSpPr>
          <p:spPr>
            <a:xfrm>
              <a:off x="520446" y="753428"/>
              <a:ext cx="586950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用 Halstead 度量预测程序中的错误数</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3" name="c1-card-1"/>
          <p:cNvGrpSpPr/>
          <p:nvPr/>
        </p:nvGrpSpPr>
        <p:grpSpPr>
          <a:xfrm>
            <a:off x="533400" y="1524000"/>
            <a:ext cx="5626418" cy="1794510"/>
            <a:chOff x="533400" y="1524000"/>
            <a:chExt cx="5626418" cy="1794510"/>
          </a:xfrm>
        </p:grpSpPr>
        <p:sp>
          <p:nvSpPr>
            <p:cNvPr id="7" name="Rectangle 7"/>
            <p:cNvSpPr/>
            <p:nvPr/>
          </p:nvSpPr>
          <p:spPr>
            <a:xfrm>
              <a:off x="533400" y="1524000"/>
              <a:ext cx="5626418" cy="1794510"/>
            </a:xfrm>
            <a:prstGeom prst="roundRect">
              <a:avLst>
                <a:gd name="adj" fmla="val 7431"/>
              </a:avLst>
            </a:prstGeom>
            <a:solidFill>
              <a:srgbClr val="FFFFFF"/>
            </a:solidFill>
            <a:ln w="14288">
              <a:solidFill>
                <a:srgbClr val="D9DFEA"/>
              </a:solidFill>
            </a:ln>
          </p:spPr>
        </p:sp>
        <p:sp>
          <p:nvSpPr>
            <p:cNvPr id="8" name="Rectangle 8"/>
            <p:cNvSpPr/>
            <p:nvPr/>
          </p:nvSpPr>
          <p:spPr>
            <a:xfrm>
              <a:off x="542925" y="1657350"/>
              <a:ext cx="47625" cy="1527810"/>
            </a:xfrm>
            <a:prstGeom prst="roundRect">
              <a:avLst>
                <a:gd name="adj" fmla="val 50000"/>
              </a:avLst>
            </a:prstGeom>
            <a:solidFill>
              <a:srgbClr val="F26B3A"/>
            </a:solidFill>
            <a:ln>
              <a:noFill/>
            </a:ln>
          </p:spPr>
        </p:sp>
        <p:sp>
          <p:nvSpPr>
            <p:cNvPr id="9" name="Rectangle 9"/>
            <p:cNvSpPr/>
            <p:nvPr/>
          </p:nvSpPr>
          <p:spPr>
            <a:xfrm>
              <a:off x="781050" y="1733550"/>
              <a:ext cx="1332548" cy="257175"/>
            </a:xfrm>
            <a:prstGeom prst="roundRect">
              <a:avLst>
                <a:gd name="adj" fmla="val 50000"/>
              </a:avLst>
            </a:prstGeom>
            <a:solidFill>
              <a:srgbClr val="FDEEE7"/>
            </a:solidFill>
            <a:ln>
              <a:noFill/>
            </a:ln>
          </p:spPr>
        </p:sp>
        <p:sp>
          <p:nvSpPr>
            <p:cNvPr id="10" name="TextBox 10"/>
            <p:cNvSpPr txBox="1"/>
            <p:nvPr/>
          </p:nvSpPr>
          <p:spPr>
            <a:xfrm>
              <a:off x="846139" y="1769269"/>
              <a:ext cx="1201417" cy="220028"/>
            </a:xfrm>
            <a:prstGeom prst="rect">
              <a:avLst/>
            </a:prstGeom>
            <a:noFill/>
            <a:ln>
              <a:noFill/>
            </a:ln>
          </p:spPr>
          <p:txBody>
            <a:bodyPr wrap="none" lIns="0" tIns="0" rIns="0" bIns="0" anchor="t" anchorCtr="0">
              <a:spAutoFit/>
            </a:bodyPr>
            <a:lstStyle/>
            <a:p>
              <a:pPr algn="ctr"/>
              <a:r>
                <a:rPr lang="zh-CN" sz="1120" b="1" dirty="0">
                  <a:solidFill>
                    <a:srgbClr val="C2410C"/>
                  </a:solidFill>
                  <a:latin typeface="+mn-lt"/>
                  <a:ea typeface="+mn-ea"/>
                  <a:cs typeface="+mn-cs"/>
                </a:rPr>
                <a:t>⑤ 程序的潜在错误</a:t>
              </a:r>
            </a:p>
          </p:txBody>
        </p:sp>
        <p:sp>
          <p:nvSpPr>
            <p:cNvPr id="11" name="TextBox 11"/>
            <p:cNvSpPr txBox="1"/>
            <p:nvPr/>
          </p:nvSpPr>
          <p:spPr>
            <a:xfrm>
              <a:off x="773430" y="2110740"/>
              <a:ext cx="4342638"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程序中可能存在的差错 B 应与程序量 V 成正比：</a:t>
              </a:r>
            </a:p>
          </p:txBody>
        </p:sp>
        <mc:AlternateContent xmlns:mc="http://schemas.openxmlformats.org/markup-compatibility/2006">
          <mc:Choice xmlns:a14="http://schemas.microsoft.com/office/drawing/2010/main" Requires="a14">
            <p:sp>
              <p:nvSpPr>
                <p:cNvPr id="12" name="formula12"/>
                <p:cNvSpPr txBox="1">
                  <a:spLocks noGrp="1"/>
                </p:cNvSpPr>
                <p:nvPr/>
              </p:nvSpPr>
              <p:spPr>
                <a:xfrm>
                  <a:off x="781050" y="2421255"/>
                  <a:ext cx="5169218" cy="668655"/>
                </a:xfrm>
                <a:prstGeom prst="rect">
                  <a:avLst/>
                </a:prstGeom>
                <a:noFill/>
                <a:ln>
                  <a:noFill/>
                </a:ln>
              </p:spPr>
              <p:txBody>
                <a:bodyPr lIns="0" tIns="0" rIns="0" bIns="0" wrap="none" anchor="ctr">
                  <a:normAutofit/>
                </a:bodyPr>
                <a:lstStyle/>
                <a:p>
                  <a:pPr algn="ctr"/>
                  <a14:m>
                    <m:oMathPara xmlns:a="http://schemas.openxmlformats.org/drawingml/2006/main" xmlns:m="http://schemas.openxmlformats.org/officeDocument/2006/math">
                      <m:oMathParaPr>
                        <m:jc m:val="center"/>
                      </m:oMathParaPr>
                      <m:oMath>
                        <m:r>
                          <a:rPr lang="zh-CN" sz="1950" dirty="0">
                            <a:solidFill>
                              <a:srgbClr val="1F2937"/>
                            </a:solidFill>
                            <a:latin typeface="Cambria Math"/>
                            <a:ea typeface="Cambria Math"/>
                            <a:cs typeface="Cambria Math"/>
                          </a:rPr>
                          <m:t>B</m:t>
                        </m:r>
                        <m:r>
                          <m:rPr>
                            <m:sty m:val="p"/>
                          </m:rPr>
                          <a:rPr lang="zh-CN" sz="1950" dirty="0">
                            <a:solidFill>
                              <a:srgbClr val="1F2937"/>
                            </a:solidFill>
                            <a:latin typeface="Cambria Math"/>
                            <a:ea typeface="Cambria Math"/>
                            <a:cs typeface="Cambria Math"/>
                          </a:rPr>
                          <m:t>=</m:t>
                        </m:r>
                        <m:f>
                          <m:fPr>
                            <m:type m:val="bar"/>
                            <m:ctrlPr>
                              <a:rPr lang="zh-CN" sz="1950" dirty="0">
                                <a:solidFill>
                                  <a:srgbClr val="1F2937"/>
                                </a:solidFill>
                                <a:latin typeface="Cambria Math"/>
                                <a:ea typeface="Cambria Math"/>
                                <a:cs typeface="Cambria Math"/>
                              </a:rPr>
                            </m:ctrlPr>
                          </m:fPr>
                          <m:num>
                            <m:d>
                              <m:dPr>
                                <m:begChr m:val="("/>
                                <m:sepChr m:val=""/>
                                <m:endChr m:val=")"/>
                                <m:grow m:val="on"/>
                                <m:ctrlPr>
                                  <a:rPr lang="zh-CN" sz="1950" dirty="0">
                                    <a:solidFill>
                                      <a:srgbClr val="1F2937"/>
                                    </a:solidFill>
                                    <a:latin typeface="Cambria Math"/>
                                    <a:ea typeface="Cambria Math"/>
                                    <a:cs typeface="Cambria Math"/>
                                  </a:rPr>
                                </m:ctrlPr>
                              </m:dPr>
                              <m:e>
                                <m:sSub>
                                  <m:e>
                                    <m:r>
                                      <a:rPr lang="zh-CN" sz="1950" dirty="0">
                                        <a:solidFill>
                                          <a:srgbClr val="1F2937"/>
                                        </a:solidFill>
                                        <a:latin typeface="Cambria Math"/>
                                        <a:ea typeface="Cambria Math"/>
                                        <a:cs typeface="Cambria Math"/>
                                      </a:rPr>
                                      <m:t>N</m:t>
                                    </m:r>
                                  </m:e>
                                  <m:sub>
                                    <m:r>
                                      <a:rPr lang="zh-CN" sz="1950" dirty="0">
                                        <a:solidFill>
                                          <a:srgbClr val="1F2937"/>
                                        </a:solidFill>
                                        <a:latin typeface="Cambria Math"/>
                                        <a:ea typeface="Cambria Math"/>
                                        <a:cs typeface="Cambria Math"/>
                                      </a:rPr>
                                      <m:t>1</m:t>
                                    </m:r>
                                  </m:sub>
                                </m:sSub>
                                <m:r>
                                  <m:rPr>
                                    <m:sty m:val="p"/>
                                  </m:rPr>
                                  <a:rPr lang="zh-CN" sz="1950" dirty="0">
                                    <a:solidFill>
                                      <a:srgbClr val="1F2937"/>
                                    </a:solidFill>
                                    <a:latin typeface="Cambria Math"/>
                                    <a:ea typeface="Cambria Math"/>
                                    <a:cs typeface="Cambria Math"/>
                                  </a:rPr>
                                  <m:t>+</m:t>
                                </m:r>
                                <m:sSub>
                                  <m:e>
                                    <m:r>
                                      <a:rPr lang="zh-CN" sz="1950" dirty="0">
                                        <a:solidFill>
                                          <a:srgbClr val="1F2937"/>
                                        </a:solidFill>
                                        <a:latin typeface="Cambria Math"/>
                                        <a:ea typeface="Cambria Math"/>
                                        <a:cs typeface="Cambria Math"/>
                                      </a:rPr>
                                      <m:t>N</m:t>
                                    </m:r>
                                  </m:e>
                                  <m:sub>
                                    <m:r>
                                      <a:rPr lang="zh-CN" sz="1950" dirty="0">
                                        <a:solidFill>
                                          <a:srgbClr val="1F2937"/>
                                        </a:solidFill>
                                        <a:latin typeface="Cambria Math"/>
                                        <a:ea typeface="Cambria Math"/>
                                        <a:cs typeface="Cambria Math"/>
                                      </a:rPr>
                                      <m:t>2</m:t>
                                    </m:r>
                                  </m:sub>
                                </m:sSub>
                              </m:e>
                            </m:d>
                            <m:func>
                              <m:funcPr/>
                              <m:fName>
                                <m:sSub>
                                  <m:e>
                                    <m:r>
                                      <m:rPr>
                                        <m:sty m:val="p"/>
                                      </m:rPr>
                                      <a:rPr lang="zh-CN" sz="1950" dirty="0">
                                        <a:solidFill>
                                          <a:srgbClr val="1F2937"/>
                                        </a:solidFill>
                                        <a:latin typeface="Cambria Math"/>
                                        <a:ea typeface="Cambria Math"/>
                                        <a:cs typeface="Cambria Math"/>
                                      </a:rPr>
                                      <m:t>log</m:t>
                                    </m:r>
                                  </m:e>
                                  <m:sub>
                                    <m:r>
                                      <a:rPr lang="zh-CN" sz="1950" dirty="0">
                                        <a:solidFill>
                                          <a:srgbClr val="1F2937"/>
                                        </a:solidFill>
                                        <a:latin typeface="Cambria Math"/>
                                        <a:ea typeface="Cambria Math"/>
                                        <a:cs typeface="Cambria Math"/>
                                      </a:rPr>
                                      <m:t>2</m:t>
                                    </m:r>
                                  </m:sub>
                                </m:sSub>
                              </m:fName>
                              <m:e>
                                <m:d>
                                  <m:dPr>
                                    <m:begChr m:val="("/>
                                    <m:sepChr m:val=""/>
                                    <m:endChr m:val=")"/>
                                    <m:grow m:val="on"/>
                                    <m:ctrlPr>
                                      <a:rPr lang="zh-CN" sz="1950" dirty="0">
                                        <a:solidFill>
                                          <a:srgbClr val="1F2937"/>
                                        </a:solidFill>
                                        <a:latin typeface="Cambria Math"/>
                                        <a:ea typeface="Cambria Math"/>
                                        <a:cs typeface="Cambria Math"/>
                                      </a:rPr>
                                    </m:ctrlPr>
                                  </m:dPr>
                                  <m:e>
                                    <m:sSub>
                                      <m:e>
                                        <m:r>
                                          <a:rPr lang="zh-CN" sz="1950" dirty="0">
                                            <a:solidFill>
                                              <a:srgbClr val="1F2937"/>
                                            </a:solidFill>
                                            <a:latin typeface="Cambria Math"/>
                                            <a:ea typeface="Cambria Math"/>
                                            <a:cs typeface="Cambria Math"/>
                                          </a:rPr>
                                          <m:t>n</m:t>
                                        </m:r>
                                      </m:e>
                                      <m:sub>
                                        <m:r>
                                          <a:rPr lang="zh-CN" sz="1950" dirty="0">
                                            <a:solidFill>
                                              <a:srgbClr val="1F2937"/>
                                            </a:solidFill>
                                            <a:latin typeface="Cambria Math"/>
                                            <a:ea typeface="Cambria Math"/>
                                            <a:cs typeface="Cambria Math"/>
                                          </a:rPr>
                                          <m:t>1</m:t>
                                        </m:r>
                                      </m:sub>
                                    </m:sSub>
                                    <m:r>
                                      <m:rPr>
                                        <m:sty m:val="p"/>
                                      </m:rPr>
                                      <a:rPr lang="zh-CN" sz="1950" dirty="0">
                                        <a:solidFill>
                                          <a:srgbClr val="1F2937"/>
                                        </a:solidFill>
                                        <a:latin typeface="Cambria Math"/>
                                        <a:ea typeface="Cambria Math"/>
                                        <a:cs typeface="Cambria Math"/>
                                      </a:rPr>
                                      <m:t>+</m:t>
                                    </m:r>
                                    <m:sSub>
                                      <m:e>
                                        <m:r>
                                          <a:rPr lang="zh-CN" sz="1950" dirty="0">
                                            <a:solidFill>
                                              <a:srgbClr val="1F2937"/>
                                            </a:solidFill>
                                            <a:latin typeface="Cambria Math"/>
                                            <a:ea typeface="Cambria Math"/>
                                            <a:cs typeface="Cambria Math"/>
                                          </a:rPr>
                                          <m:t>n</m:t>
                                        </m:r>
                                      </m:e>
                                      <m:sub>
                                        <m:r>
                                          <a:rPr lang="zh-CN" sz="1950" dirty="0">
                                            <a:solidFill>
                                              <a:srgbClr val="1F2937"/>
                                            </a:solidFill>
                                            <a:latin typeface="Cambria Math"/>
                                            <a:ea typeface="Cambria Math"/>
                                            <a:cs typeface="Cambria Math"/>
                                          </a:rPr>
                                          <m:t>2</m:t>
                                        </m:r>
                                      </m:sub>
                                    </m:sSub>
                                  </m:e>
                                </m:d>
                              </m:e>
                            </m:func>
                          </m:num>
                          <m:den>
                            <m:r>
                              <a:rPr lang="zh-CN" sz="1950" dirty="0">
                                <a:solidFill>
                                  <a:srgbClr val="1F2937"/>
                                </a:solidFill>
                                <a:latin typeface="Cambria Math"/>
                                <a:ea typeface="Cambria Math"/>
                                <a:cs typeface="Cambria Math"/>
                              </a:rPr>
                              <m:t>3000</m:t>
                            </m:r>
                          </m:den>
                        </m:f>
                        <m:r>
                          <m:rPr>
                            <m:sty m:val="p"/>
                          </m:rPr>
                          <a:rPr lang="zh-CN" sz="1950" dirty="0">
                            <a:solidFill>
                              <a:srgbClr val="1F2937"/>
                            </a:solidFill>
                            <a:latin typeface="Cambria Math"/>
                            <a:ea typeface="Cambria Math"/>
                            <a:cs typeface="Cambria Math"/>
                          </a:rPr>
                          <m:t>=</m:t>
                        </m:r>
                        <m:f>
                          <m:fPr>
                            <m:type m:val="bar"/>
                            <m:ctrlPr>
                              <a:rPr lang="zh-CN" sz="1950" dirty="0">
                                <a:solidFill>
                                  <a:srgbClr val="1F2937"/>
                                </a:solidFill>
                                <a:latin typeface="Cambria Math"/>
                                <a:ea typeface="Cambria Math"/>
                                <a:cs typeface="Cambria Math"/>
                              </a:rPr>
                            </m:ctrlPr>
                          </m:fPr>
                          <m:num>
                            <m:r>
                              <a:rPr lang="zh-CN" sz="1950" dirty="0">
                                <a:solidFill>
                                  <a:srgbClr val="1F2937"/>
                                </a:solidFill>
                                <a:latin typeface="Cambria Math"/>
                                <a:ea typeface="Cambria Math"/>
                                <a:cs typeface="Cambria Math"/>
                              </a:rPr>
                              <m:t>V</m:t>
                            </m:r>
                          </m:num>
                          <m:den>
                            <m:r>
                              <a:rPr lang="zh-CN" sz="1950" dirty="0">
                                <a:solidFill>
                                  <a:srgbClr val="1F2937"/>
                                </a:solidFill>
                                <a:latin typeface="Cambria Math"/>
                                <a:ea typeface="Cambria Math"/>
                                <a:cs typeface="Cambria Math"/>
                              </a:rPr>
                              <m:t>3000</m:t>
                            </m:r>
                          </m:den>
                        </m:f>
                      </m:oMath>
                    </m:oMathPara>
                  </a14:m>
                </a:p>
              </p:txBody>
            </p:sp>
          </mc:Choice>
        </mc:AlternateContent>
      </p:grpSp>
      <p:grpSp>
        <p:nvGrpSpPr>
          <p:cNvPr id="26" name="c1-card-2"/>
          <p:cNvGrpSpPr/>
          <p:nvPr/>
        </p:nvGrpSpPr>
        <p:grpSpPr>
          <a:xfrm>
            <a:off x="533400" y="3509010"/>
            <a:ext cx="5626418" cy="2618422"/>
            <a:chOff x="533400" y="3509010"/>
            <a:chExt cx="5626418" cy="2618422"/>
          </a:xfrm>
        </p:grpSpPr>
        <p:sp>
          <p:nvSpPr>
            <p:cNvPr id="14" name="Rectangle 14"/>
            <p:cNvSpPr/>
            <p:nvPr/>
          </p:nvSpPr>
          <p:spPr>
            <a:xfrm>
              <a:off x="533400" y="3509010"/>
              <a:ext cx="5626418" cy="2618422"/>
            </a:xfrm>
            <a:prstGeom prst="roundRect">
              <a:avLst>
                <a:gd name="adj" fmla="val 5093"/>
              </a:avLst>
            </a:prstGeom>
            <a:solidFill>
              <a:srgbClr val="FFFFFF"/>
            </a:solidFill>
            <a:ln w="14288">
              <a:solidFill>
                <a:srgbClr val="D9DFEA"/>
              </a:solidFill>
            </a:ln>
          </p:spPr>
        </p:sp>
        <p:sp>
          <p:nvSpPr>
            <p:cNvPr id="15" name="Rectangle 15"/>
            <p:cNvSpPr/>
            <p:nvPr/>
          </p:nvSpPr>
          <p:spPr>
            <a:xfrm>
              <a:off x="542925" y="3642360"/>
              <a:ext cx="47625" cy="2351722"/>
            </a:xfrm>
            <a:prstGeom prst="roundRect">
              <a:avLst>
                <a:gd name="adj" fmla="val 50000"/>
              </a:avLst>
            </a:prstGeom>
            <a:solidFill>
              <a:srgbClr val="14A38B"/>
            </a:solidFill>
            <a:ln>
              <a:noFill/>
            </a:ln>
          </p:spPr>
        </p:sp>
        <p:sp>
          <p:nvSpPr>
            <p:cNvPr id="16" name="Rectangle 16"/>
            <p:cNvSpPr/>
            <p:nvPr/>
          </p:nvSpPr>
          <p:spPr>
            <a:xfrm>
              <a:off x="781050" y="3718560"/>
              <a:ext cx="494348" cy="257175"/>
            </a:xfrm>
            <a:prstGeom prst="roundRect">
              <a:avLst>
                <a:gd name="adj" fmla="val 50000"/>
              </a:avLst>
            </a:prstGeom>
            <a:solidFill>
              <a:srgbClr val="E3F5F1"/>
            </a:solidFill>
            <a:ln>
              <a:noFill/>
            </a:ln>
          </p:spPr>
        </p:sp>
        <p:sp>
          <p:nvSpPr>
            <p:cNvPr id="17" name="TextBox 17"/>
            <p:cNvSpPr txBox="1"/>
            <p:nvPr/>
          </p:nvSpPr>
          <p:spPr>
            <a:xfrm>
              <a:off x="871258" y="3754279"/>
              <a:ext cx="312979" cy="220028"/>
            </a:xfrm>
            <a:prstGeom prst="rect">
              <a:avLst/>
            </a:prstGeom>
            <a:noFill/>
            <a:ln>
              <a:noFill/>
            </a:ln>
          </p:spPr>
          <p:txBody>
            <a:bodyPr wrap="none" lIns="0" tIns="0" rIns="0" bIns="0" anchor="t" anchorCtr="0">
              <a:spAutoFit/>
            </a:bodyPr>
            <a:lstStyle/>
            <a:p>
              <a:pPr algn="ctr"/>
              <a:r>
                <a:rPr lang="zh-CN" sz="1120" b="1" dirty="0">
                  <a:solidFill>
                    <a:srgbClr val="0F7A68"/>
                  </a:solidFill>
                  <a:latin typeface="+mn-lt"/>
                  <a:ea typeface="+mn-ea"/>
                  <a:cs typeface="+mn-cs"/>
                </a:rPr>
                <a:t>例题</a:t>
              </a:r>
            </a:p>
          </p:txBody>
        </p:sp>
        <p:sp>
          <p:nvSpPr>
            <p:cNvPr id="18" name="TextBox 18"/>
            <p:cNvSpPr txBox="1"/>
            <p:nvPr/>
          </p:nvSpPr>
          <p:spPr>
            <a:xfrm>
              <a:off x="773430" y="4095750"/>
              <a:ext cx="4920615"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一个程序对 75 个数据库项共访问 1300 次，对 150 个运算</a:t>
              </a:r>
              <a:br/>
              <a:r>
                <a:rPr lang="zh-CN" sz="1500" dirty="0">
                  <a:solidFill>
                    <a:srgbClr val="1F2937"/>
                  </a:solidFill>
                  <a:latin typeface="+mn-lt"/>
                  <a:ea typeface="+mn-ea"/>
                  <a:cs typeface="+mn-cs"/>
                </a:rPr>
                <a:t>符共使用了 1200 次，预测该程序的错误数。</a:t>
              </a:r>
            </a:p>
          </p:txBody>
        </p:sp>
        <p:sp>
          <p:nvSpPr>
            <p:cNvPr id="19" name="Ellipse 19"/>
            <p:cNvSpPr/>
            <p:nvPr/>
          </p:nvSpPr>
          <p:spPr>
            <a:xfrm>
              <a:off x="786765" y="4779645"/>
              <a:ext cx="64770" cy="64770"/>
            </a:xfrm>
            <a:prstGeom prst="ellipse">
              <a:avLst/>
            </a:prstGeom>
            <a:solidFill>
              <a:srgbClr val="334E68"/>
            </a:solidFill>
            <a:ln>
              <a:noFill/>
            </a:ln>
          </p:spPr>
        </p:sp>
        <p:sp>
          <p:nvSpPr>
            <p:cNvPr id="20" name="TextBox 20"/>
            <p:cNvSpPr txBox="1"/>
            <p:nvPr/>
          </p:nvSpPr>
          <p:spPr>
            <a:xfrm>
              <a:off x="944880" y="4716780"/>
              <a:ext cx="3983927"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n₂ = 75，N₂ = 1300；n₁ = 150，N₁ = 1200</a:t>
              </a:r>
            </a:p>
          </p:txBody>
        </p:sp>
        <p:sp>
          <p:nvSpPr>
            <p:cNvPr id="21" name="Ellipse 21"/>
            <p:cNvSpPr/>
            <p:nvPr/>
          </p:nvSpPr>
          <p:spPr>
            <a:xfrm>
              <a:off x="786765" y="5114925"/>
              <a:ext cx="64770" cy="64770"/>
            </a:xfrm>
            <a:prstGeom prst="ellipse">
              <a:avLst/>
            </a:prstGeom>
            <a:solidFill>
              <a:srgbClr val="334E68"/>
            </a:solidFill>
            <a:ln>
              <a:noFill/>
            </a:ln>
          </p:spPr>
        </p:sp>
        <p:sp>
          <p:nvSpPr>
            <p:cNvPr id="22" name="TextBox 22"/>
            <p:cNvSpPr txBox="1"/>
            <p:nvPr/>
          </p:nvSpPr>
          <p:spPr>
            <a:xfrm>
              <a:off x="944880" y="5052060"/>
              <a:ext cx="3824288" cy="293370"/>
            </a:xfrm>
            <a:prstGeom prst="rect">
              <a:avLst/>
            </a:prstGeom>
            <a:noFill/>
            <a:ln>
              <a:noFill/>
            </a:ln>
          </p:spPr>
          <p:txBody>
            <a:bodyPr wrap="none" lIns="0" tIns="0" rIns="0" bIns="0" anchor="t" anchorCtr="0">
              <a:spAutoFit/>
            </a:bodyPr>
            <a:lstStyle/>
            <a:p>
              <a:pPr algn="l"/>
              <a:r>
                <a:rPr lang="en-US" sz="1500" dirty="0">
                  <a:solidFill>
                    <a:srgbClr val="1F2937"/>
                  </a:solidFill>
                  <a:latin typeface="+mn-lt"/>
                  <a:ea typeface="+mn-ea"/>
                  <a:cs typeface="+mn-cs"/>
                </a:rPr>
                <a:t>B = (1300+1200) × log₂(75+150) / 3000</a:t>
              </a:r>
            </a:p>
          </p:txBody>
        </p:sp>
        <p:sp>
          <p:nvSpPr>
            <p:cNvPr id="23" name="Ellipse 23"/>
            <p:cNvSpPr/>
            <p:nvPr/>
          </p:nvSpPr>
          <p:spPr>
            <a:xfrm>
              <a:off x="786765" y="5450205"/>
              <a:ext cx="64770" cy="64770"/>
            </a:xfrm>
            <a:prstGeom prst="ellipse">
              <a:avLst/>
            </a:prstGeom>
            <a:solidFill>
              <a:srgbClr val="334E68"/>
            </a:solidFill>
            <a:ln>
              <a:noFill/>
            </a:ln>
          </p:spPr>
        </p:sp>
        <p:sp>
          <p:nvSpPr>
            <p:cNvPr id="24" name="TextBox 24"/>
            <p:cNvSpPr txBox="1"/>
            <p:nvPr/>
          </p:nvSpPr>
          <p:spPr>
            <a:xfrm>
              <a:off x="944880" y="5387340"/>
              <a:ext cx="2989412" cy="293370"/>
            </a:xfrm>
            <a:prstGeom prst="rect">
              <a:avLst/>
            </a:prstGeom>
            <a:noFill/>
            <a:ln>
              <a:noFill/>
            </a:ln>
          </p:spPr>
          <p:txBody>
            <a:bodyPr wrap="none" lIns="0" tIns="0" rIns="0" bIns="0" anchor="t" anchorCtr="0">
              <a:spAutoFit/>
            </a:bodyPr>
            <a:lstStyle/>
            <a:p>
              <a:pPr algn="l"/>
              <a:r>
                <a:rPr lang="en-US" sz="1500" dirty="0">
                  <a:solidFill>
                    <a:srgbClr val="1F2937"/>
                  </a:solidFill>
                  <a:latin typeface="+mn-lt"/>
                  <a:ea typeface="+mn-ea"/>
                  <a:cs typeface="+mn-cs"/>
                </a:rPr>
                <a:t xml:space="preserve">B = 2500 × 7.814 / 3000 ≈ </a:t>
              </a:r>
              <a:r>
                <a:rPr lang="zh-CN" sz="1500" b="1" dirty="0">
                  <a:solidFill>
                    <a:srgbClr val="0F7A68"/>
                  </a:solidFill>
                  <a:latin typeface="+mn-lt"/>
                  <a:ea typeface="+mn-ea"/>
                  <a:cs typeface="+mn-cs"/>
                </a:rPr>
                <a:t>6.5</a:t>
              </a:r>
            </a:p>
          </p:txBody>
        </p:sp>
        <p:sp>
          <p:nvSpPr>
            <p:cNvPr id="25" name="TextBox 25"/>
            <p:cNvSpPr txBox="1"/>
            <p:nvPr/>
          </p:nvSpPr>
          <p:spPr>
            <a:xfrm>
              <a:off x="774573" y="5719286"/>
              <a:ext cx="3166293"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即预测该程序中可能包含 6 到 7 个错误。</a:t>
              </a:r>
            </a:p>
          </p:txBody>
        </p:sp>
      </p:grpSp>
      <p:grpSp>
        <p:nvGrpSpPr>
          <p:cNvPr id="32" name="c2-card-1"/>
          <p:cNvGrpSpPr/>
          <p:nvPr/>
        </p:nvGrpSpPr>
        <p:grpSpPr>
          <a:xfrm>
            <a:off x="6464618" y="1524000"/>
            <a:ext cx="5193982" cy="2419350"/>
            <a:chOff x="6464618" y="1524000"/>
            <a:chExt cx="5193982" cy="2419350"/>
          </a:xfrm>
        </p:grpSpPr>
        <p:sp>
          <p:nvSpPr>
            <p:cNvPr id="27" name="Rectangle 27"/>
            <p:cNvSpPr/>
            <p:nvPr/>
          </p:nvSpPr>
          <p:spPr>
            <a:xfrm>
              <a:off x="6464618" y="1524000"/>
              <a:ext cx="5193982" cy="2419350"/>
            </a:xfrm>
            <a:prstGeom prst="roundRect">
              <a:avLst>
                <a:gd name="adj" fmla="val 5512"/>
              </a:avLst>
            </a:prstGeom>
            <a:solidFill>
              <a:srgbClr val="334E68"/>
            </a:solidFill>
            <a:ln>
              <a:noFill/>
            </a:ln>
          </p:spPr>
        </p:sp>
        <p:sp>
          <p:nvSpPr>
            <p:cNvPr id="28" name="Rectangle 28"/>
            <p:cNvSpPr/>
            <p:nvPr/>
          </p:nvSpPr>
          <p:spPr>
            <a:xfrm>
              <a:off x="6674168" y="1733550"/>
              <a:ext cx="1584960" cy="257175"/>
            </a:xfrm>
            <a:prstGeom prst="roundRect">
              <a:avLst>
                <a:gd name="adj" fmla="val 50000"/>
              </a:avLst>
            </a:prstGeom>
            <a:solidFill>
              <a:srgbClr val="243B53"/>
            </a:solidFill>
            <a:ln>
              <a:noFill/>
            </a:ln>
          </p:spPr>
        </p:sp>
        <p:sp>
          <p:nvSpPr>
            <p:cNvPr id="29" name="TextBox 29"/>
            <p:cNvSpPr txBox="1"/>
            <p:nvPr/>
          </p:nvSpPr>
          <p:spPr>
            <a:xfrm>
              <a:off x="6729257" y="1769269"/>
              <a:ext cx="1474780"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Halstead 的重要结论</a:t>
              </a:r>
            </a:p>
          </p:txBody>
        </p:sp>
        <p:sp>
          <p:nvSpPr>
            <p:cNvPr id="30" name="TextBox 30"/>
            <p:cNvSpPr txBox="1"/>
            <p:nvPr/>
          </p:nvSpPr>
          <p:spPr>
            <a:xfrm>
              <a:off x="6666548" y="2110740"/>
              <a:ext cx="4596765" cy="115062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程序的实际 Halstead 长度 N 可以由词汇表 n 算出。即</a:t>
              </a:r>
              <a:br/>
              <a:r>
                <a:rPr lang="zh-CN" sz="1500" dirty="0">
                  <a:solidFill>
                    <a:srgbClr val="FFFFFF"/>
                  </a:solidFill>
                  <a:latin typeface="+mn-lt"/>
                  <a:ea typeface="+mn-ea"/>
                  <a:cs typeface="+mn-cs"/>
                </a:rPr>
                <a:t>使程序还未编制完成，也能预先算出实际的 Halstead</a:t>
              </a:r>
              <a:br/>
              <a:r>
                <a:rPr lang="zh-CN" sz="1500" dirty="0">
                  <a:solidFill>
                    <a:srgbClr val="FFFFFF"/>
                  </a:solidFill>
                  <a:latin typeface="+mn-lt"/>
                  <a:ea typeface="+mn-ea"/>
                  <a:cs typeface="+mn-cs"/>
                </a:rPr>
                <a:t>长度 N，虽然它没有明确指出程序中到底有多少个语</a:t>
              </a:r>
              <a:br/>
              <a:r>
                <a:rPr lang="zh-CN" sz="1500" dirty="0">
                  <a:solidFill>
                    <a:srgbClr val="FFFFFF"/>
                  </a:solidFill>
                  <a:latin typeface="+mn-lt"/>
                  <a:ea typeface="+mn-ea"/>
                  <a:cs typeface="+mn-cs"/>
                </a:rPr>
                <a:t>句。</a:t>
              </a:r>
            </a:p>
          </p:txBody>
        </p:sp>
        <p:sp>
          <p:nvSpPr>
            <p:cNvPr id="31" name="TextBox 31"/>
            <p:cNvSpPr txBox="1"/>
            <p:nvPr/>
          </p:nvSpPr>
          <p:spPr>
            <a:xfrm>
              <a:off x="6667691" y="3299936"/>
              <a:ext cx="448335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FFFFFF"/>
                  </a:solidFill>
                  <a:latin typeface="+mn-lt"/>
                  <a:ea typeface="+mn-ea"/>
                  <a:cs typeface="+mn-cs"/>
                </a:rPr>
                <a:t>经过多次验证，预测的 Halstead 长度与实际的 Halstead 长度</a:t>
              </a:r>
              <a:br/>
              <a:r>
                <a:rPr lang="zh-CN" sz="1280" dirty="0">
                  <a:solidFill>
                    <a:srgbClr val="FFFFFF"/>
                  </a:solidFill>
                  <a:latin typeface="+mn-lt"/>
                  <a:ea typeface="+mn-ea"/>
                  <a:cs typeface="+mn-cs"/>
                </a:rPr>
                <a:t>非常接近，所以这个结论在估算工作量时很有用。</a:t>
              </a:r>
            </a:p>
          </p:txBody>
        </p:sp>
      </p:grpSp>
      <p:grpSp>
        <p:nvGrpSpPr>
          <p:cNvPr id="53" name="c2-compare-2"/>
          <p:cNvGrpSpPr/>
          <p:nvPr/>
        </p:nvGrpSpPr>
        <p:grpSpPr>
          <a:xfrm>
            <a:off x="6464618" y="4133850"/>
            <a:ext cx="5193982" cy="1994535"/>
            <a:chOff x="6464618" y="4133850"/>
            <a:chExt cx="5193982" cy="1994535"/>
          </a:xfrm>
        </p:grpSpPr>
        <p:sp>
          <p:nvSpPr>
            <p:cNvPr id="33" name="Rectangle 33"/>
            <p:cNvSpPr/>
            <p:nvPr/>
          </p:nvSpPr>
          <p:spPr>
            <a:xfrm>
              <a:off x="6464618" y="4133850"/>
              <a:ext cx="2425065" cy="1994535"/>
            </a:xfrm>
            <a:prstGeom prst="roundRect">
              <a:avLst>
                <a:gd name="adj" fmla="val 6686"/>
              </a:avLst>
            </a:prstGeom>
            <a:solidFill>
              <a:srgbClr val="FFFFFF"/>
            </a:solidFill>
            <a:ln w="14288">
              <a:solidFill>
                <a:srgbClr val="D9DFEA"/>
              </a:solidFill>
            </a:ln>
          </p:spPr>
        </p:sp>
        <p:sp>
          <p:nvSpPr>
            <p:cNvPr id="34" name="Rectangle 34"/>
            <p:cNvSpPr/>
            <p:nvPr/>
          </p:nvSpPr>
          <p:spPr>
            <a:xfrm>
              <a:off x="6474142" y="4267200"/>
              <a:ext cx="47625" cy="1727835"/>
            </a:xfrm>
            <a:prstGeom prst="roundRect">
              <a:avLst>
                <a:gd name="adj" fmla="val 50000"/>
              </a:avLst>
            </a:prstGeom>
            <a:solidFill>
              <a:srgbClr val="334E68"/>
            </a:solidFill>
            <a:ln>
              <a:noFill/>
            </a:ln>
          </p:spPr>
        </p:sp>
        <p:sp>
          <p:nvSpPr>
            <p:cNvPr id="35" name="TextBox 35"/>
            <p:cNvSpPr txBox="1"/>
            <p:nvPr/>
          </p:nvSpPr>
          <p:spPr>
            <a:xfrm>
              <a:off x="6704648" y="4368165"/>
              <a:ext cx="1643863"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McCabe 度量的是</a:t>
              </a:r>
            </a:p>
          </p:txBody>
        </p:sp>
        <p:sp>
          <p:nvSpPr>
            <p:cNvPr id="36" name="Ellipse 36"/>
            <p:cNvSpPr/>
            <p:nvPr/>
          </p:nvSpPr>
          <p:spPr>
            <a:xfrm>
              <a:off x="6717983" y="4785360"/>
              <a:ext cx="64770" cy="64770"/>
            </a:xfrm>
            <a:prstGeom prst="ellipse">
              <a:avLst/>
            </a:prstGeom>
            <a:solidFill>
              <a:srgbClr val="334E68"/>
            </a:solidFill>
            <a:ln>
              <a:noFill/>
            </a:ln>
          </p:spPr>
        </p:sp>
        <p:sp>
          <p:nvSpPr>
            <p:cNvPr id="37" name="TextBox 37"/>
            <p:cNvSpPr txBox="1"/>
            <p:nvPr/>
          </p:nvSpPr>
          <p:spPr>
            <a:xfrm>
              <a:off x="6876098" y="4722495"/>
              <a:ext cx="16306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程序的控制流结构</a:t>
              </a:r>
            </a:p>
          </p:txBody>
        </p:sp>
        <p:sp>
          <p:nvSpPr>
            <p:cNvPr id="38" name="Ellipse 38"/>
            <p:cNvSpPr/>
            <p:nvPr/>
          </p:nvSpPr>
          <p:spPr>
            <a:xfrm>
              <a:off x="6717983" y="5120640"/>
              <a:ext cx="64770" cy="64770"/>
            </a:xfrm>
            <a:prstGeom prst="ellipse">
              <a:avLst/>
            </a:prstGeom>
            <a:solidFill>
              <a:srgbClr val="334E68"/>
            </a:solidFill>
            <a:ln>
              <a:noFill/>
            </a:ln>
          </p:spPr>
        </p:sp>
        <p:sp>
          <p:nvSpPr>
            <p:cNvPr id="39" name="TextBox 39"/>
            <p:cNvSpPr txBox="1"/>
            <p:nvPr/>
          </p:nvSpPr>
          <p:spPr>
            <a:xfrm>
              <a:off x="6876098" y="5057775"/>
              <a:ext cx="16306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分支和循环的多少</a:t>
              </a:r>
            </a:p>
          </p:txBody>
        </p:sp>
        <p:sp>
          <p:nvSpPr>
            <p:cNvPr id="40" name="Ellipse 40"/>
            <p:cNvSpPr/>
            <p:nvPr/>
          </p:nvSpPr>
          <p:spPr>
            <a:xfrm>
              <a:off x="6717983" y="5455920"/>
              <a:ext cx="64770" cy="64770"/>
            </a:xfrm>
            <a:prstGeom prst="ellipse">
              <a:avLst/>
            </a:prstGeom>
            <a:solidFill>
              <a:srgbClr val="334E68"/>
            </a:solidFill>
            <a:ln>
              <a:noFill/>
            </a:ln>
          </p:spPr>
        </p:sp>
        <p:sp>
          <p:nvSpPr>
            <p:cNvPr id="41" name="TextBox 41"/>
            <p:cNvSpPr txBox="1"/>
            <p:nvPr/>
          </p:nvSpPr>
          <p:spPr>
            <a:xfrm>
              <a:off x="6876098" y="5393055"/>
              <a:ext cx="8229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测试难度</a:t>
              </a:r>
            </a:p>
          </p:txBody>
        </p:sp>
        <p:sp>
          <p:nvSpPr>
            <p:cNvPr id="42" name="Rectangle 42"/>
            <p:cNvSpPr/>
            <p:nvPr/>
          </p:nvSpPr>
          <p:spPr>
            <a:xfrm>
              <a:off x="9233535" y="4133850"/>
              <a:ext cx="2425065" cy="1994535"/>
            </a:xfrm>
            <a:prstGeom prst="roundRect">
              <a:avLst>
                <a:gd name="adj" fmla="val 6686"/>
              </a:avLst>
            </a:prstGeom>
            <a:solidFill>
              <a:srgbClr val="FFFFFF"/>
            </a:solidFill>
            <a:ln w="14288">
              <a:solidFill>
                <a:srgbClr val="D9DFEA"/>
              </a:solidFill>
            </a:ln>
          </p:spPr>
        </p:sp>
        <p:sp>
          <p:nvSpPr>
            <p:cNvPr id="43" name="Rectangle 43"/>
            <p:cNvSpPr/>
            <p:nvPr/>
          </p:nvSpPr>
          <p:spPr>
            <a:xfrm>
              <a:off x="9243060" y="4267200"/>
              <a:ext cx="47625" cy="1727835"/>
            </a:xfrm>
            <a:prstGeom prst="roundRect">
              <a:avLst>
                <a:gd name="adj" fmla="val 50000"/>
              </a:avLst>
            </a:prstGeom>
            <a:solidFill>
              <a:srgbClr val="F26B3A"/>
            </a:solidFill>
            <a:ln>
              <a:noFill/>
            </a:ln>
          </p:spPr>
        </p:sp>
        <p:sp>
          <p:nvSpPr>
            <p:cNvPr id="44" name="TextBox 44"/>
            <p:cNvSpPr txBox="1"/>
            <p:nvPr/>
          </p:nvSpPr>
          <p:spPr>
            <a:xfrm>
              <a:off x="9473565" y="4368165"/>
              <a:ext cx="1773154"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Halstead 度量的是</a:t>
              </a:r>
            </a:p>
          </p:txBody>
        </p:sp>
        <p:sp>
          <p:nvSpPr>
            <p:cNvPr id="45" name="Ellipse 45"/>
            <p:cNvSpPr/>
            <p:nvPr/>
          </p:nvSpPr>
          <p:spPr>
            <a:xfrm>
              <a:off x="9486900" y="4785360"/>
              <a:ext cx="64770" cy="64770"/>
            </a:xfrm>
            <a:prstGeom prst="ellipse">
              <a:avLst/>
            </a:prstGeom>
            <a:solidFill>
              <a:srgbClr val="334E68"/>
            </a:solidFill>
            <a:ln>
              <a:noFill/>
            </a:ln>
          </p:spPr>
        </p:sp>
        <p:sp>
          <p:nvSpPr>
            <p:cNvPr id="46" name="TextBox 46"/>
            <p:cNvSpPr txBox="1"/>
            <p:nvPr/>
          </p:nvSpPr>
          <p:spPr>
            <a:xfrm>
              <a:off x="9645015" y="472249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程序的词汇量和篇幅</a:t>
              </a:r>
            </a:p>
          </p:txBody>
        </p:sp>
        <p:sp>
          <p:nvSpPr>
            <p:cNvPr id="47" name="Ellipse 47"/>
            <p:cNvSpPr/>
            <p:nvPr/>
          </p:nvSpPr>
          <p:spPr>
            <a:xfrm>
              <a:off x="9486900" y="5120640"/>
              <a:ext cx="64770" cy="64770"/>
            </a:xfrm>
            <a:prstGeom prst="ellipse">
              <a:avLst/>
            </a:prstGeom>
            <a:solidFill>
              <a:srgbClr val="334E68"/>
            </a:solidFill>
            <a:ln>
              <a:noFill/>
            </a:ln>
          </p:spPr>
        </p:sp>
        <p:sp>
          <p:nvSpPr>
            <p:cNvPr id="48" name="TextBox 48"/>
            <p:cNvSpPr txBox="1"/>
            <p:nvPr/>
          </p:nvSpPr>
          <p:spPr>
            <a:xfrm>
              <a:off x="9645015" y="5057775"/>
              <a:ext cx="1729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运算符与运算对象的</a:t>
              </a:r>
              <a:br/>
              <a:r>
                <a:rPr lang="zh-CN" sz="1500" dirty="0">
                  <a:solidFill>
                    <a:srgbClr val="1F2937"/>
                  </a:solidFill>
                  <a:latin typeface="+mn-lt"/>
                  <a:ea typeface="+mn-ea"/>
                  <a:cs typeface="+mn-cs"/>
                </a:rPr>
                <a:t>数量</a:t>
              </a:r>
            </a:p>
          </p:txBody>
        </p:sp>
        <p:sp>
          <p:nvSpPr>
            <p:cNvPr id="49" name="Ellipse 49"/>
            <p:cNvSpPr/>
            <p:nvPr/>
          </p:nvSpPr>
          <p:spPr>
            <a:xfrm>
              <a:off x="9486900" y="5741670"/>
              <a:ext cx="64770" cy="64770"/>
            </a:xfrm>
            <a:prstGeom prst="ellipse">
              <a:avLst/>
            </a:prstGeom>
            <a:solidFill>
              <a:srgbClr val="334E68"/>
            </a:solidFill>
            <a:ln>
              <a:noFill/>
            </a:ln>
          </p:spPr>
        </p:sp>
        <p:sp>
          <p:nvSpPr>
            <p:cNvPr id="50" name="TextBox 50"/>
            <p:cNvSpPr txBox="1"/>
            <p:nvPr/>
          </p:nvSpPr>
          <p:spPr>
            <a:xfrm>
              <a:off x="9645015" y="5678805"/>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错误数与工作量</a:t>
              </a:r>
            </a:p>
          </p:txBody>
        </p:sp>
        <p:sp>
          <p:nvSpPr>
            <p:cNvPr id="51" name="Ellipse 51"/>
            <p:cNvSpPr/>
            <p:nvPr/>
          </p:nvSpPr>
          <p:spPr>
            <a:xfrm>
              <a:off x="8900160" y="4968240"/>
              <a:ext cx="323850" cy="323850"/>
            </a:xfrm>
            <a:prstGeom prst="ellipse">
              <a:avLst/>
            </a:prstGeom>
            <a:solidFill>
              <a:srgbClr val="F26B3A"/>
            </a:solidFill>
            <a:ln>
              <a:noFill/>
            </a:ln>
          </p:spPr>
        </p:sp>
        <p:sp>
          <p:nvSpPr>
            <p:cNvPr id="52" name="TextBox 52"/>
            <p:cNvSpPr txBox="1"/>
            <p:nvPr/>
          </p:nvSpPr>
          <p:spPr>
            <a:xfrm>
              <a:off x="8970500" y="5064442"/>
              <a:ext cx="183170" cy="205359"/>
            </a:xfrm>
            <a:prstGeom prst="rect">
              <a:avLst/>
            </a:prstGeom>
            <a:noFill/>
            <a:ln>
              <a:noFill/>
            </a:ln>
          </p:spPr>
          <p:txBody>
            <a:bodyPr wrap="none" lIns="0" tIns="0" rIns="0" bIns="0" anchor="t" anchorCtr="0">
              <a:spAutoFit/>
            </a:bodyPr>
            <a:lstStyle/>
            <a:p>
              <a:pPr algn="ctr"/>
              <a:r>
                <a:rPr lang="en-US" sz="1050" b="1" dirty="0">
                  <a:solidFill>
                    <a:srgbClr val="FFFFFF"/>
                  </a:solidFill>
                  <a:latin typeface="+mn-lt"/>
                  <a:ea typeface="+mn-ea"/>
                  <a:cs typeface="+mn-cs"/>
                </a:rPr>
                <a:t>VS</a:t>
              </a:r>
            </a:p>
          </p:txBody>
        </p:sp>
      </p:grpSp>
      <p:grpSp>
        <p:nvGrpSpPr>
          <p:cNvPr id="56" name="footer"/>
          <p:cNvGrpSpPr/>
          <p:nvPr/>
        </p:nvGrpSpPr>
        <p:grpSpPr>
          <a:xfrm>
            <a:off x="528447" y="6581299"/>
            <a:ext cx="11135106" cy="190690"/>
            <a:chOff x="528447" y="6581299"/>
            <a:chExt cx="11135106" cy="190690"/>
          </a:xfrm>
        </p:grpSpPr>
        <p:sp>
          <p:nvSpPr>
            <p:cNvPr id="54" name="TextBox 54"/>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55" name="TextBox 55"/>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55</a:t>
              </a:r>
            </a:p>
          </p:txBody>
        </p:sp>
      </p:grpSp>
    </p:spTree>
  </p:cSld>
  <p:clrMapOvr>
    <a:masterClrMapping/>
  </p:clrMapOvr>
  <p:transition xmlns:p14="http://schemas.microsoft.com/office/powerpoint/2010/main" p14:dur="400">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175123" cy="909257"/>
            <a:chOff x="520446" y="342900"/>
            <a:chExt cx="5175123"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程序复杂程度的定量度量</a:t>
              </a:r>
            </a:p>
          </p:txBody>
        </p:sp>
        <p:sp>
          <p:nvSpPr>
            <p:cNvPr id="4" name="TextBox 4"/>
            <p:cNvSpPr txBox="1"/>
            <p:nvPr/>
          </p:nvSpPr>
          <p:spPr>
            <a:xfrm>
              <a:off x="520446" y="753428"/>
              <a:ext cx="517512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交点复杂度：数程序图里的交叉点</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7" name="c1-card-1"/>
          <p:cNvGrpSpPr/>
          <p:nvPr/>
        </p:nvGrpSpPr>
        <p:grpSpPr>
          <a:xfrm>
            <a:off x="533400" y="1524000"/>
            <a:ext cx="5410200" cy="2577465"/>
            <a:chOff x="533400" y="1524000"/>
            <a:chExt cx="5410200" cy="2577465"/>
          </a:xfrm>
        </p:grpSpPr>
        <p:sp>
          <p:nvSpPr>
            <p:cNvPr id="7" name="Rectangle 7"/>
            <p:cNvSpPr/>
            <p:nvPr/>
          </p:nvSpPr>
          <p:spPr>
            <a:xfrm>
              <a:off x="533400" y="1524000"/>
              <a:ext cx="5410200" cy="2577465"/>
            </a:xfrm>
            <a:prstGeom prst="roundRect">
              <a:avLst>
                <a:gd name="adj" fmla="val 5174"/>
              </a:avLst>
            </a:prstGeom>
            <a:solidFill>
              <a:srgbClr val="FFFFFF"/>
            </a:solidFill>
            <a:ln w="14288">
              <a:solidFill>
                <a:srgbClr val="D9DFEA"/>
              </a:solidFill>
            </a:ln>
          </p:spPr>
        </p:sp>
        <p:sp>
          <p:nvSpPr>
            <p:cNvPr id="8" name="Rectangle 8"/>
            <p:cNvSpPr/>
            <p:nvPr/>
          </p:nvSpPr>
          <p:spPr>
            <a:xfrm>
              <a:off x="542925" y="1657350"/>
              <a:ext cx="47625" cy="2310765"/>
            </a:xfrm>
            <a:prstGeom prst="roundRect">
              <a:avLst>
                <a:gd name="adj" fmla="val 50000"/>
              </a:avLst>
            </a:prstGeom>
            <a:solidFill>
              <a:srgbClr val="334E68"/>
            </a:solidFill>
            <a:ln>
              <a:noFill/>
            </a:ln>
          </p:spPr>
        </p:sp>
        <p:sp>
          <p:nvSpPr>
            <p:cNvPr id="9" name="Rectangle 9"/>
            <p:cNvSpPr/>
            <p:nvPr/>
          </p:nvSpPr>
          <p:spPr>
            <a:xfrm>
              <a:off x="781050" y="1733550"/>
              <a:ext cx="494348" cy="257175"/>
            </a:xfrm>
            <a:prstGeom prst="roundRect">
              <a:avLst>
                <a:gd name="adj" fmla="val 50000"/>
              </a:avLst>
            </a:prstGeom>
            <a:solidFill>
              <a:srgbClr val="E7EDF3"/>
            </a:solidFill>
            <a:ln>
              <a:noFill/>
            </a:ln>
          </p:spPr>
        </p:sp>
        <p:sp>
          <p:nvSpPr>
            <p:cNvPr id="10" name="TextBox 10"/>
            <p:cNvSpPr txBox="1"/>
            <p:nvPr/>
          </p:nvSpPr>
          <p:spPr>
            <a:xfrm>
              <a:off x="871258" y="1769269"/>
              <a:ext cx="312979"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定义</a:t>
              </a:r>
            </a:p>
          </p:txBody>
        </p:sp>
        <p:sp>
          <p:nvSpPr>
            <p:cNvPr id="11" name="TextBox 11"/>
            <p:cNvSpPr txBox="1"/>
            <p:nvPr/>
          </p:nvSpPr>
          <p:spPr>
            <a:xfrm>
              <a:off x="1382078" y="1768792"/>
              <a:ext cx="1215314"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交点复杂度 K</a:t>
              </a:r>
            </a:p>
          </p:txBody>
        </p:sp>
        <p:sp>
          <p:nvSpPr>
            <p:cNvPr id="12" name="TextBox 12"/>
            <p:cNvSpPr txBox="1"/>
            <p:nvPr/>
          </p:nvSpPr>
          <p:spPr>
            <a:xfrm>
              <a:off x="773430" y="2129790"/>
              <a:ext cx="464439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1979 年 M.R.Woodward 等人提出，用计算程序图中</a:t>
              </a:r>
              <a:r>
                <a:rPr lang="zh-CN" sz="1500" b="1" dirty="0">
                  <a:solidFill>
                    <a:srgbClr val="C2410C"/>
                  </a:solidFill>
                  <a:latin typeface="+mn-lt"/>
                  <a:ea typeface="+mn-ea"/>
                  <a:cs typeface="+mn-cs"/>
                </a:rPr>
                <a:t>交</a:t>
              </a:r>
              <a:br/>
              <a:r>
                <a:rPr lang="zh-CN" sz="1500" b="1" dirty="0">
                  <a:solidFill>
                    <a:srgbClr val="C2410C"/>
                  </a:solidFill>
                  <a:latin typeface="+mn-lt"/>
                  <a:ea typeface="+mn-ea"/>
                  <a:cs typeface="+mn-cs"/>
                </a:rPr>
                <a:t>叉点</a:t>
              </a:r>
              <a:r>
                <a:rPr lang="zh-CN" sz="1500" dirty="0">
                  <a:solidFill>
                    <a:srgbClr val="1F2937"/>
                  </a:solidFill>
                  <a:latin typeface="+mn-lt"/>
                  <a:ea typeface="+mn-ea"/>
                  <a:cs typeface="+mn-cs"/>
                </a:rPr>
                <a:t>的方法来度量程序的结构复杂性。</a:t>
              </a:r>
            </a:p>
          </p:txBody>
        </p:sp>
        <p:sp>
          <p:nvSpPr>
            <p:cNvPr id="13" name="Ellipse 13"/>
            <p:cNvSpPr/>
            <p:nvPr/>
          </p:nvSpPr>
          <p:spPr>
            <a:xfrm>
              <a:off x="786765" y="2813685"/>
              <a:ext cx="64770" cy="64770"/>
            </a:xfrm>
            <a:prstGeom prst="ellipse">
              <a:avLst/>
            </a:prstGeom>
            <a:solidFill>
              <a:srgbClr val="334E68"/>
            </a:solidFill>
            <a:ln>
              <a:noFill/>
            </a:ln>
          </p:spPr>
        </p:sp>
        <p:sp>
          <p:nvSpPr>
            <p:cNvPr id="14" name="TextBox 14"/>
            <p:cNvSpPr txBox="1"/>
            <p:nvPr/>
          </p:nvSpPr>
          <p:spPr>
            <a:xfrm>
              <a:off x="944880" y="2750820"/>
              <a:ext cx="4587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由程序图计算出来的交点数介于一个下限和上限之间，</a:t>
              </a:r>
              <a:br/>
              <a:r>
                <a:rPr lang="zh-CN" sz="1500" dirty="0">
                  <a:solidFill>
                    <a:srgbClr val="1F2937"/>
                  </a:solidFill>
                  <a:latin typeface="+mn-lt"/>
                  <a:ea typeface="+mn-ea"/>
                  <a:cs typeface="+mn-cs"/>
                </a:rPr>
                <a:t>并不总是唯一的</a:t>
              </a:r>
            </a:p>
          </p:txBody>
        </p:sp>
        <p:sp>
          <p:nvSpPr>
            <p:cNvPr id="15" name="Ellipse 15"/>
            <p:cNvSpPr/>
            <p:nvPr/>
          </p:nvSpPr>
          <p:spPr>
            <a:xfrm>
              <a:off x="786765" y="3434715"/>
              <a:ext cx="64770" cy="64770"/>
            </a:xfrm>
            <a:prstGeom prst="ellipse">
              <a:avLst/>
            </a:prstGeom>
            <a:solidFill>
              <a:srgbClr val="334E68"/>
            </a:solidFill>
            <a:ln>
              <a:noFill/>
            </a:ln>
          </p:spPr>
        </p:sp>
        <p:sp>
          <p:nvSpPr>
            <p:cNvPr id="16" name="TextBox 16"/>
            <p:cNvSpPr txBox="1"/>
            <p:nvPr/>
          </p:nvSpPr>
          <p:spPr>
            <a:xfrm>
              <a:off x="944880" y="3371850"/>
              <a:ext cx="4587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直接从程序（按语句书写顺序画控制转移弧）计算出来</a:t>
              </a:r>
              <a:br/>
              <a:r>
                <a:rPr lang="zh-CN" sz="1500" dirty="0">
                  <a:solidFill>
                    <a:srgbClr val="1F2937"/>
                  </a:solidFill>
                  <a:latin typeface="+mn-lt"/>
                  <a:ea typeface="+mn-ea"/>
                  <a:cs typeface="+mn-cs"/>
                </a:rPr>
                <a:t>的交点数只能有一个值</a:t>
              </a:r>
            </a:p>
          </p:txBody>
        </p:sp>
      </p:grpSp>
      <p:grpSp>
        <p:nvGrpSpPr>
          <p:cNvPr id="23" name="c1-callout-2"/>
          <p:cNvGrpSpPr/>
          <p:nvPr/>
        </p:nvGrpSpPr>
        <p:grpSpPr>
          <a:xfrm>
            <a:off x="533400" y="4291965"/>
            <a:ext cx="5410200" cy="1274445"/>
            <a:chOff x="533400" y="4291965"/>
            <a:chExt cx="5410200" cy="1274445"/>
          </a:xfrm>
        </p:grpSpPr>
        <p:sp>
          <p:nvSpPr>
            <p:cNvPr id="18" name="Rectangle 18"/>
            <p:cNvSpPr/>
            <p:nvPr/>
          </p:nvSpPr>
          <p:spPr>
            <a:xfrm>
              <a:off x="533400" y="4291965"/>
              <a:ext cx="5410200" cy="1274445"/>
            </a:xfrm>
            <a:prstGeom prst="roundRect">
              <a:avLst>
                <a:gd name="adj" fmla="val 8969"/>
              </a:avLst>
            </a:prstGeom>
            <a:solidFill>
              <a:srgbClr val="334E68"/>
            </a:solidFill>
            <a:ln>
              <a:noFill/>
            </a:ln>
          </p:spPr>
        </p:sp>
        <p:grpSp>
          <p:nvGrpSpPr>
            <p:cNvPr id="21" name="Group 21"/>
            <p:cNvGrpSpPr/>
            <p:nvPr/>
          </p:nvGrpSpPr>
          <p:grpSpPr>
            <a:xfrm>
              <a:off x="738188" y="4829177"/>
              <a:ext cx="200023" cy="200023"/>
              <a:chOff x="738188" y="4829177"/>
              <a:chExt cx="200023" cy="200023"/>
            </a:xfrm>
          </p:grpSpPr>
          <p:sp>
            <p:nvSpPr>
              <p:cNvPr id="19" name="Freeform 19"/>
              <p:cNvSpPr/>
              <p:nvPr/>
            </p:nvSpPr>
            <p:spPr>
              <a:xfrm>
                <a:off x="738188" y="482917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0" name="Freeform 20"/>
              <p:cNvSpPr/>
              <p:nvPr/>
            </p:nvSpPr>
            <p:spPr>
              <a:xfrm>
                <a:off x="871538" y="489585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22" name="TextBox 22"/>
            <p:cNvSpPr txBox="1"/>
            <p:nvPr/>
          </p:nvSpPr>
          <p:spPr>
            <a:xfrm>
              <a:off x="1040130" y="4686300"/>
              <a:ext cx="43967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改变程序中语句或程序图中结点的顺序，会引起交点</a:t>
              </a:r>
              <a:br/>
              <a:r>
                <a:rPr lang="zh-CN" sz="1500" dirty="0">
                  <a:solidFill>
                    <a:srgbClr val="FFFFFF"/>
                  </a:solidFill>
                  <a:latin typeface="+mn-lt"/>
                  <a:ea typeface="+mn-ea"/>
                  <a:cs typeface="+mn-cs"/>
                </a:rPr>
                <a:t>复杂度的变化，但环形复杂度总是保持不变。</a:t>
              </a:r>
            </a:p>
          </p:txBody>
        </p:sp>
      </p:grpSp>
      <p:grpSp>
        <p:nvGrpSpPr>
          <p:cNvPr id="67" name="c2-table-1"/>
          <p:cNvGrpSpPr/>
          <p:nvPr/>
        </p:nvGrpSpPr>
        <p:grpSpPr>
          <a:xfrm>
            <a:off x="6242685" y="1524000"/>
            <a:ext cx="5415915" cy="4086701"/>
            <a:chOff x="6242685" y="1524000"/>
            <a:chExt cx="5415915" cy="4086701"/>
          </a:xfrm>
        </p:grpSpPr>
        <p:sp>
          <p:nvSpPr>
            <p:cNvPr id="24" name="Rectangle 24"/>
            <p:cNvSpPr/>
            <p:nvPr/>
          </p:nvSpPr>
          <p:spPr>
            <a:xfrm>
              <a:off x="6248400" y="1524000"/>
              <a:ext cx="5410200" cy="448628"/>
            </a:xfrm>
            <a:prstGeom prst="rect">
              <a:avLst/>
            </a:prstGeom>
            <a:solidFill>
              <a:srgbClr val="334E68"/>
            </a:solidFill>
            <a:ln>
              <a:noFill/>
            </a:ln>
          </p:spPr>
        </p:sp>
        <p:sp>
          <p:nvSpPr>
            <p:cNvPr id="25" name="TextBox 25"/>
            <p:cNvSpPr txBox="1"/>
            <p:nvPr/>
          </p:nvSpPr>
          <p:spPr>
            <a:xfrm>
              <a:off x="7379907" y="1659731"/>
              <a:ext cx="874522"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条件与动作</a:t>
              </a:r>
            </a:p>
          </p:txBody>
        </p:sp>
        <p:sp>
          <p:nvSpPr>
            <p:cNvPr id="26" name="TextBox 26"/>
            <p:cNvSpPr txBox="1"/>
            <p:nvPr/>
          </p:nvSpPr>
          <p:spPr>
            <a:xfrm>
              <a:off x="8968324" y="1659731"/>
              <a:ext cx="51137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规则 1</a:t>
              </a:r>
            </a:p>
          </p:txBody>
        </p:sp>
        <p:sp>
          <p:nvSpPr>
            <p:cNvPr id="27" name="TextBox 27"/>
            <p:cNvSpPr txBox="1"/>
            <p:nvPr/>
          </p:nvSpPr>
          <p:spPr>
            <a:xfrm>
              <a:off x="9941779" y="1659731"/>
              <a:ext cx="51137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规则 2</a:t>
              </a:r>
            </a:p>
          </p:txBody>
        </p:sp>
        <p:sp>
          <p:nvSpPr>
            <p:cNvPr id="28" name="TextBox 28"/>
            <p:cNvSpPr txBox="1"/>
            <p:nvPr/>
          </p:nvSpPr>
          <p:spPr>
            <a:xfrm>
              <a:off x="10916187" y="1659731"/>
              <a:ext cx="51137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规则 3</a:t>
              </a:r>
            </a:p>
          </p:txBody>
        </p:sp>
        <p:sp>
          <p:nvSpPr>
            <p:cNvPr id="29" name="TextBox 29"/>
            <p:cNvSpPr txBox="1"/>
            <p:nvPr/>
          </p:nvSpPr>
          <p:spPr>
            <a:xfrm>
              <a:off x="6394412" y="2108359"/>
              <a:ext cx="357581" cy="249364"/>
            </a:xfrm>
            <a:prstGeom prst="rect">
              <a:avLst/>
            </a:prstGeom>
            <a:noFill/>
            <a:ln>
              <a:noFill/>
            </a:ln>
          </p:spPr>
          <p:txBody>
            <a:bodyPr wrap="none" lIns="0" tIns="0" rIns="0" bIns="0" anchor="t" anchorCtr="0">
              <a:spAutoFit/>
            </a:bodyPr>
            <a:lstStyle/>
            <a:p>
              <a:pPr algn="ctr"/>
              <a:r>
                <a:rPr lang="zh-CN" sz="1280" b="1" dirty="0">
                  <a:solidFill>
                    <a:srgbClr val="1F2937"/>
                  </a:solidFill>
                  <a:latin typeface="+mn-lt"/>
                  <a:ea typeface="+mn-ea"/>
                  <a:cs typeface="+mn-cs"/>
                </a:rPr>
                <a:t>条件</a:t>
              </a:r>
            </a:p>
          </p:txBody>
        </p:sp>
        <p:sp>
          <p:nvSpPr>
            <p:cNvPr id="30" name="TextBox 30"/>
            <p:cNvSpPr txBox="1"/>
            <p:nvPr/>
          </p:nvSpPr>
          <p:spPr>
            <a:xfrm>
              <a:off x="7005828" y="2108359"/>
              <a:ext cx="459019"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M = 1</a:t>
              </a:r>
            </a:p>
          </p:txBody>
        </p:sp>
        <p:sp>
          <p:nvSpPr>
            <p:cNvPr id="31" name="TextBox 31"/>
            <p:cNvSpPr txBox="1"/>
            <p:nvPr/>
          </p:nvSpPr>
          <p:spPr>
            <a:xfrm>
              <a:off x="9167465" y="2108359"/>
              <a:ext cx="113091" cy="249364"/>
            </a:xfrm>
            <a:prstGeom prst="rect">
              <a:avLst/>
            </a:prstGeom>
            <a:noFill/>
            <a:ln>
              <a:noFill/>
            </a:ln>
          </p:spPr>
          <p:txBody>
            <a:bodyPr wrap="none" lIns="0" tIns="0" rIns="0" bIns="0" anchor="t" anchorCtr="0">
              <a:spAutoFit/>
            </a:bodyPr>
            <a:lstStyle/>
            <a:p>
              <a:pPr algn="ctr"/>
              <a:r>
                <a:rPr lang="en-US" sz="1280" dirty="0">
                  <a:solidFill>
                    <a:srgbClr val="1F2937"/>
                  </a:solidFill>
                  <a:latin typeface="+mn-lt"/>
                  <a:ea typeface="+mn-ea"/>
                  <a:cs typeface="+mn-cs"/>
                </a:rPr>
                <a:t>T</a:t>
              </a:r>
            </a:p>
          </p:txBody>
        </p:sp>
        <p:sp>
          <p:nvSpPr>
            <p:cNvPr id="32" name="TextBox 32"/>
            <p:cNvSpPr txBox="1"/>
            <p:nvPr/>
          </p:nvSpPr>
          <p:spPr>
            <a:xfrm>
              <a:off x="10140920" y="2108359"/>
              <a:ext cx="113091" cy="249364"/>
            </a:xfrm>
            <a:prstGeom prst="rect">
              <a:avLst/>
            </a:prstGeom>
            <a:noFill/>
            <a:ln>
              <a:noFill/>
            </a:ln>
          </p:spPr>
          <p:txBody>
            <a:bodyPr wrap="none" lIns="0" tIns="0" rIns="0" bIns="0" anchor="t" anchorCtr="0">
              <a:spAutoFit/>
            </a:bodyPr>
            <a:lstStyle/>
            <a:p>
              <a:pPr algn="ctr"/>
              <a:r>
                <a:rPr lang="en-US" sz="1280" dirty="0">
                  <a:solidFill>
                    <a:srgbClr val="1F2937"/>
                  </a:solidFill>
                  <a:latin typeface="+mn-lt"/>
                  <a:ea typeface="+mn-ea"/>
                  <a:cs typeface="+mn-cs"/>
                </a:rPr>
                <a:t>F</a:t>
              </a:r>
            </a:p>
          </p:txBody>
        </p:sp>
        <p:sp>
          <p:nvSpPr>
            <p:cNvPr id="33" name="TextBox 33"/>
            <p:cNvSpPr txBox="1"/>
            <p:nvPr/>
          </p:nvSpPr>
          <p:spPr>
            <a:xfrm>
              <a:off x="11115327" y="2108359"/>
              <a:ext cx="113091" cy="249364"/>
            </a:xfrm>
            <a:prstGeom prst="rect">
              <a:avLst/>
            </a:prstGeom>
            <a:noFill/>
            <a:ln>
              <a:noFill/>
            </a:ln>
          </p:spPr>
          <p:txBody>
            <a:bodyPr wrap="none" lIns="0" tIns="0" rIns="0" bIns="0" anchor="t" anchorCtr="0">
              <a:spAutoFit/>
            </a:bodyPr>
            <a:lstStyle/>
            <a:p>
              <a:pPr algn="ctr"/>
              <a:r>
                <a:rPr lang="en-US" sz="1280" dirty="0">
                  <a:solidFill>
                    <a:srgbClr val="1F2937"/>
                  </a:solidFill>
                  <a:latin typeface="+mn-lt"/>
                  <a:ea typeface="+mn-ea"/>
                  <a:cs typeface="+mn-cs"/>
                </a:rPr>
                <a:t>F</a:t>
              </a:r>
            </a:p>
          </p:txBody>
        </p:sp>
        <p:sp>
          <p:nvSpPr>
            <p:cNvPr id="34" name="Rectangle 34"/>
            <p:cNvSpPr/>
            <p:nvPr/>
          </p:nvSpPr>
          <p:spPr>
            <a:xfrm>
              <a:off x="6248400" y="2416492"/>
              <a:ext cx="5410200" cy="9525"/>
            </a:xfrm>
            <a:prstGeom prst="rect">
              <a:avLst/>
            </a:prstGeom>
            <a:solidFill>
              <a:srgbClr val="D9DFEA"/>
            </a:solidFill>
            <a:ln>
              <a:noFill/>
            </a:ln>
          </p:spPr>
        </p:sp>
        <p:sp>
          <p:nvSpPr>
            <p:cNvPr id="35" name="Rectangle 35"/>
            <p:cNvSpPr/>
            <p:nvPr/>
          </p:nvSpPr>
          <p:spPr>
            <a:xfrm>
              <a:off x="6248400" y="2421255"/>
              <a:ext cx="5410200" cy="448628"/>
            </a:xfrm>
            <a:prstGeom prst="rect">
              <a:avLst/>
            </a:prstGeom>
            <a:solidFill>
              <a:srgbClr val="F4F6FB"/>
            </a:solidFill>
            <a:ln>
              <a:noFill/>
            </a:ln>
          </p:spPr>
        </p:sp>
        <p:sp>
          <p:nvSpPr>
            <p:cNvPr id="36" name="TextBox 36"/>
            <p:cNvSpPr txBox="1"/>
            <p:nvPr/>
          </p:nvSpPr>
          <p:spPr>
            <a:xfrm>
              <a:off x="7005828" y="2556986"/>
              <a:ext cx="422605" cy="249364"/>
            </a:xfrm>
            <a:prstGeom prst="rect">
              <a:avLst/>
            </a:prstGeom>
            <a:noFill/>
            <a:ln>
              <a:noFill/>
            </a:ln>
          </p:spPr>
          <p:txBody>
            <a:bodyPr wrap="none" lIns="0" tIns="0" rIns="0" bIns="0" anchor="t" anchorCtr="0">
              <a:spAutoFit/>
            </a:bodyPr>
            <a:lstStyle/>
            <a:p>
              <a:pPr algn="l"/>
              <a:r>
                <a:rPr lang="en-US" sz="1280" dirty="0">
                  <a:solidFill>
                    <a:srgbClr val="1F2937"/>
                  </a:solidFill>
                  <a:latin typeface="+mn-lt"/>
                  <a:ea typeface="+mn-ea"/>
                  <a:cs typeface="+mn-cs"/>
                </a:rPr>
                <a:t>N = 1</a:t>
              </a:r>
            </a:p>
          </p:txBody>
        </p:sp>
        <p:sp>
          <p:nvSpPr>
            <p:cNvPr id="37" name="TextBox 37"/>
            <p:cNvSpPr txBox="1"/>
            <p:nvPr/>
          </p:nvSpPr>
          <p:spPr>
            <a:xfrm>
              <a:off x="10140920" y="2556986"/>
              <a:ext cx="113091" cy="249364"/>
            </a:xfrm>
            <a:prstGeom prst="rect">
              <a:avLst/>
            </a:prstGeom>
            <a:noFill/>
            <a:ln>
              <a:noFill/>
            </a:ln>
          </p:spPr>
          <p:txBody>
            <a:bodyPr wrap="none" lIns="0" tIns="0" rIns="0" bIns="0" anchor="t" anchorCtr="0">
              <a:spAutoFit/>
            </a:bodyPr>
            <a:lstStyle/>
            <a:p>
              <a:pPr algn="ctr"/>
              <a:r>
                <a:rPr lang="en-US" sz="1280" dirty="0">
                  <a:solidFill>
                    <a:srgbClr val="1F2937"/>
                  </a:solidFill>
                  <a:latin typeface="+mn-lt"/>
                  <a:ea typeface="+mn-ea"/>
                  <a:cs typeface="+mn-cs"/>
                </a:rPr>
                <a:t>T</a:t>
              </a:r>
            </a:p>
          </p:txBody>
        </p:sp>
        <p:sp>
          <p:nvSpPr>
            <p:cNvPr id="38" name="TextBox 38"/>
            <p:cNvSpPr txBox="1"/>
            <p:nvPr/>
          </p:nvSpPr>
          <p:spPr>
            <a:xfrm>
              <a:off x="11115327" y="2556986"/>
              <a:ext cx="113091" cy="249364"/>
            </a:xfrm>
            <a:prstGeom prst="rect">
              <a:avLst/>
            </a:prstGeom>
            <a:noFill/>
            <a:ln>
              <a:noFill/>
            </a:ln>
          </p:spPr>
          <p:txBody>
            <a:bodyPr wrap="none" lIns="0" tIns="0" rIns="0" bIns="0" anchor="t" anchorCtr="0">
              <a:spAutoFit/>
            </a:bodyPr>
            <a:lstStyle/>
            <a:p>
              <a:pPr algn="ctr"/>
              <a:r>
                <a:rPr lang="en-US" sz="1280" dirty="0">
                  <a:solidFill>
                    <a:srgbClr val="1F2937"/>
                  </a:solidFill>
                  <a:latin typeface="+mn-lt"/>
                  <a:ea typeface="+mn-ea"/>
                  <a:cs typeface="+mn-cs"/>
                </a:rPr>
                <a:t>F</a:t>
              </a:r>
            </a:p>
          </p:txBody>
        </p:sp>
        <p:sp>
          <p:nvSpPr>
            <p:cNvPr id="39" name="Rectangle 39"/>
            <p:cNvSpPr/>
            <p:nvPr/>
          </p:nvSpPr>
          <p:spPr>
            <a:xfrm>
              <a:off x="6248400" y="2866072"/>
              <a:ext cx="5410200" cy="9525"/>
            </a:xfrm>
            <a:prstGeom prst="rect">
              <a:avLst/>
            </a:prstGeom>
            <a:solidFill>
              <a:srgbClr val="D9DFEA"/>
            </a:solidFill>
            <a:ln>
              <a:noFill/>
            </a:ln>
          </p:spPr>
        </p:sp>
        <p:sp>
          <p:nvSpPr>
            <p:cNvPr id="40" name="TextBox 40"/>
            <p:cNvSpPr txBox="1"/>
            <p:nvPr/>
          </p:nvSpPr>
          <p:spPr>
            <a:xfrm>
              <a:off x="6394412" y="3005614"/>
              <a:ext cx="357581" cy="249364"/>
            </a:xfrm>
            <a:prstGeom prst="rect">
              <a:avLst/>
            </a:prstGeom>
            <a:noFill/>
            <a:ln>
              <a:noFill/>
            </a:ln>
          </p:spPr>
          <p:txBody>
            <a:bodyPr wrap="none" lIns="0" tIns="0" rIns="0" bIns="0" anchor="t" anchorCtr="0">
              <a:spAutoFit/>
            </a:bodyPr>
            <a:lstStyle/>
            <a:p>
              <a:pPr algn="ctr"/>
              <a:r>
                <a:rPr lang="zh-CN" sz="1280" b="1" dirty="0">
                  <a:solidFill>
                    <a:srgbClr val="1F2937"/>
                  </a:solidFill>
                  <a:latin typeface="+mn-lt"/>
                  <a:ea typeface="+mn-ea"/>
                  <a:cs typeface="+mn-cs"/>
                </a:rPr>
                <a:t>动作</a:t>
              </a:r>
            </a:p>
          </p:txBody>
        </p:sp>
        <p:sp>
          <p:nvSpPr>
            <p:cNvPr id="41" name="TextBox 41"/>
            <p:cNvSpPr txBox="1"/>
            <p:nvPr/>
          </p:nvSpPr>
          <p:spPr>
            <a:xfrm>
              <a:off x="7005828" y="3005614"/>
              <a:ext cx="81274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调用 SUBA</a:t>
              </a:r>
            </a:p>
          </p:txBody>
        </p:sp>
        <p:sp>
          <p:nvSpPr>
            <p:cNvPr id="42" name="TextBox 42"/>
            <p:cNvSpPr txBox="1"/>
            <p:nvPr/>
          </p:nvSpPr>
          <p:spPr>
            <a:xfrm>
              <a:off x="10143602" y="3005614"/>
              <a:ext cx="107726" cy="249364"/>
            </a:xfrm>
            <a:prstGeom prst="rect">
              <a:avLst/>
            </a:prstGeom>
            <a:noFill/>
            <a:ln>
              <a:noFill/>
            </a:ln>
          </p:spPr>
          <p:txBody>
            <a:bodyPr wrap="none" lIns="0" tIns="0" rIns="0" bIns="0" anchor="t" anchorCtr="0">
              <a:spAutoFit/>
            </a:bodyPr>
            <a:lstStyle/>
            <a:p>
              <a:pPr algn="ctr"/>
              <a:r>
                <a:rPr lang="zh-CN" sz="1280" dirty="0">
                  <a:solidFill>
                    <a:srgbClr val="B42318"/>
                  </a:solidFill>
                  <a:latin typeface="+mn-lt"/>
                  <a:ea typeface="+mn-ea"/>
                  <a:cs typeface="+mn-cs"/>
                </a:rPr>
                <a:t>×</a:t>
              </a:r>
            </a:p>
          </p:txBody>
        </p:sp>
        <p:sp>
          <p:nvSpPr>
            <p:cNvPr id="43" name="TextBox 43"/>
            <p:cNvSpPr txBox="1"/>
            <p:nvPr/>
          </p:nvSpPr>
          <p:spPr>
            <a:xfrm>
              <a:off x="11118009" y="3005614"/>
              <a:ext cx="107726" cy="249364"/>
            </a:xfrm>
            <a:prstGeom prst="rect">
              <a:avLst/>
            </a:prstGeom>
            <a:noFill/>
            <a:ln>
              <a:noFill/>
            </a:ln>
          </p:spPr>
          <p:txBody>
            <a:bodyPr wrap="none" lIns="0" tIns="0" rIns="0" bIns="0" anchor="t" anchorCtr="0">
              <a:spAutoFit/>
            </a:bodyPr>
            <a:lstStyle/>
            <a:p>
              <a:pPr algn="ctr"/>
              <a:r>
                <a:rPr lang="zh-CN" sz="1280" dirty="0">
                  <a:solidFill>
                    <a:srgbClr val="B42318"/>
                  </a:solidFill>
                  <a:latin typeface="+mn-lt"/>
                  <a:ea typeface="+mn-ea"/>
                  <a:cs typeface="+mn-cs"/>
                </a:rPr>
                <a:t>×</a:t>
              </a:r>
            </a:p>
          </p:txBody>
        </p:sp>
        <p:sp>
          <p:nvSpPr>
            <p:cNvPr id="44" name="Rectangle 44"/>
            <p:cNvSpPr/>
            <p:nvPr/>
          </p:nvSpPr>
          <p:spPr>
            <a:xfrm>
              <a:off x="6248400" y="3314700"/>
              <a:ext cx="5410200" cy="9525"/>
            </a:xfrm>
            <a:prstGeom prst="rect">
              <a:avLst/>
            </a:prstGeom>
            <a:solidFill>
              <a:srgbClr val="D9DFEA"/>
            </a:solidFill>
            <a:ln>
              <a:noFill/>
            </a:ln>
          </p:spPr>
        </p:sp>
        <p:sp>
          <p:nvSpPr>
            <p:cNvPr id="45" name="Rectangle 45"/>
            <p:cNvSpPr/>
            <p:nvPr/>
          </p:nvSpPr>
          <p:spPr>
            <a:xfrm>
              <a:off x="6248400" y="3319462"/>
              <a:ext cx="5410200" cy="448628"/>
            </a:xfrm>
            <a:prstGeom prst="rect">
              <a:avLst/>
            </a:prstGeom>
            <a:solidFill>
              <a:srgbClr val="F4F6FB"/>
            </a:solidFill>
            <a:ln>
              <a:noFill/>
            </a:ln>
          </p:spPr>
        </p:sp>
        <p:sp>
          <p:nvSpPr>
            <p:cNvPr id="46" name="TextBox 46"/>
            <p:cNvSpPr txBox="1"/>
            <p:nvPr/>
          </p:nvSpPr>
          <p:spPr>
            <a:xfrm>
              <a:off x="7005828" y="3454241"/>
              <a:ext cx="48649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N 置 1</a:t>
              </a:r>
            </a:p>
          </p:txBody>
        </p:sp>
        <p:sp>
          <p:nvSpPr>
            <p:cNvPr id="47" name="TextBox 47"/>
            <p:cNvSpPr txBox="1"/>
            <p:nvPr/>
          </p:nvSpPr>
          <p:spPr>
            <a:xfrm>
              <a:off x="9170147" y="3454241"/>
              <a:ext cx="107726" cy="249364"/>
            </a:xfrm>
            <a:prstGeom prst="rect">
              <a:avLst/>
            </a:prstGeom>
            <a:noFill/>
            <a:ln>
              <a:noFill/>
            </a:ln>
          </p:spPr>
          <p:txBody>
            <a:bodyPr wrap="none" lIns="0" tIns="0" rIns="0" bIns="0" anchor="t" anchorCtr="0">
              <a:spAutoFit/>
            </a:bodyPr>
            <a:lstStyle/>
            <a:p>
              <a:pPr algn="ctr"/>
              <a:r>
                <a:rPr lang="zh-CN" sz="1280" dirty="0">
                  <a:solidFill>
                    <a:srgbClr val="B42318"/>
                  </a:solidFill>
                  <a:latin typeface="+mn-lt"/>
                  <a:ea typeface="+mn-ea"/>
                  <a:cs typeface="+mn-cs"/>
                </a:rPr>
                <a:t>×</a:t>
              </a:r>
            </a:p>
          </p:txBody>
        </p:sp>
        <p:sp>
          <p:nvSpPr>
            <p:cNvPr id="48" name="Rectangle 48"/>
            <p:cNvSpPr/>
            <p:nvPr/>
          </p:nvSpPr>
          <p:spPr>
            <a:xfrm>
              <a:off x="6248400" y="3763328"/>
              <a:ext cx="5410200" cy="9525"/>
            </a:xfrm>
            <a:prstGeom prst="rect">
              <a:avLst/>
            </a:prstGeom>
            <a:solidFill>
              <a:srgbClr val="D9DFEA"/>
            </a:solidFill>
            <a:ln>
              <a:noFill/>
            </a:ln>
          </p:spPr>
        </p:sp>
        <p:sp>
          <p:nvSpPr>
            <p:cNvPr id="49" name="TextBox 49"/>
            <p:cNvSpPr txBox="1"/>
            <p:nvPr/>
          </p:nvSpPr>
          <p:spPr>
            <a:xfrm>
              <a:off x="7005828" y="3903821"/>
              <a:ext cx="48649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J 加 1</a:t>
              </a:r>
            </a:p>
          </p:txBody>
        </p:sp>
        <p:sp>
          <p:nvSpPr>
            <p:cNvPr id="50" name="TextBox 50"/>
            <p:cNvSpPr txBox="1"/>
            <p:nvPr/>
          </p:nvSpPr>
          <p:spPr>
            <a:xfrm>
              <a:off x="11118009" y="3903821"/>
              <a:ext cx="107726" cy="249364"/>
            </a:xfrm>
            <a:prstGeom prst="rect">
              <a:avLst/>
            </a:prstGeom>
            <a:noFill/>
            <a:ln>
              <a:noFill/>
            </a:ln>
          </p:spPr>
          <p:txBody>
            <a:bodyPr wrap="none" lIns="0" tIns="0" rIns="0" bIns="0" anchor="t" anchorCtr="0">
              <a:spAutoFit/>
            </a:bodyPr>
            <a:lstStyle/>
            <a:p>
              <a:pPr algn="ctr"/>
              <a:r>
                <a:rPr lang="zh-CN" sz="1280" dirty="0">
                  <a:solidFill>
                    <a:srgbClr val="B42318"/>
                  </a:solidFill>
                  <a:latin typeface="+mn-lt"/>
                  <a:ea typeface="+mn-ea"/>
                  <a:cs typeface="+mn-cs"/>
                </a:rPr>
                <a:t>×</a:t>
              </a:r>
            </a:p>
          </p:txBody>
        </p:sp>
        <p:sp>
          <p:nvSpPr>
            <p:cNvPr id="51" name="Rectangle 51"/>
            <p:cNvSpPr/>
            <p:nvPr/>
          </p:nvSpPr>
          <p:spPr>
            <a:xfrm>
              <a:off x="6248400" y="4211955"/>
              <a:ext cx="5410200" cy="9525"/>
            </a:xfrm>
            <a:prstGeom prst="rect">
              <a:avLst/>
            </a:prstGeom>
            <a:solidFill>
              <a:srgbClr val="D9DFEA"/>
            </a:solidFill>
            <a:ln>
              <a:noFill/>
            </a:ln>
          </p:spPr>
        </p:sp>
        <p:sp>
          <p:nvSpPr>
            <p:cNvPr id="52" name="Rectangle 52"/>
            <p:cNvSpPr/>
            <p:nvPr/>
          </p:nvSpPr>
          <p:spPr>
            <a:xfrm>
              <a:off x="6248400" y="4216718"/>
              <a:ext cx="5410200" cy="448628"/>
            </a:xfrm>
            <a:prstGeom prst="rect">
              <a:avLst/>
            </a:prstGeom>
            <a:solidFill>
              <a:srgbClr val="F4F6FB"/>
            </a:solidFill>
            <a:ln>
              <a:noFill/>
            </a:ln>
          </p:spPr>
        </p:sp>
        <p:sp>
          <p:nvSpPr>
            <p:cNvPr id="53" name="TextBox 53"/>
            <p:cNvSpPr txBox="1"/>
            <p:nvPr/>
          </p:nvSpPr>
          <p:spPr>
            <a:xfrm>
              <a:off x="7005828" y="4352449"/>
              <a:ext cx="48649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K 加 1</a:t>
              </a:r>
            </a:p>
          </p:txBody>
        </p:sp>
        <p:sp>
          <p:nvSpPr>
            <p:cNvPr id="54" name="TextBox 54"/>
            <p:cNvSpPr txBox="1"/>
            <p:nvPr/>
          </p:nvSpPr>
          <p:spPr>
            <a:xfrm>
              <a:off x="9170147" y="4352449"/>
              <a:ext cx="107726" cy="249364"/>
            </a:xfrm>
            <a:prstGeom prst="rect">
              <a:avLst/>
            </a:prstGeom>
            <a:noFill/>
            <a:ln>
              <a:noFill/>
            </a:ln>
          </p:spPr>
          <p:txBody>
            <a:bodyPr wrap="none" lIns="0" tIns="0" rIns="0" bIns="0" anchor="t" anchorCtr="0">
              <a:spAutoFit/>
            </a:bodyPr>
            <a:lstStyle/>
            <a:p>
              <a:pPr algn="ctr"/>
              <a:r>
                <a:rPr lang="zh-CN" sz="1280" dirty="0">
                  <a:solidFill>
                    <a:srgbClr val="B42318"/>
                  </a:solidFill>
                  <a:latin typeface="+mn-lt"/>
                  <a:ea typeface="+mn-ea"/>
                  <a:cs typeface="+mn-cs"/>
                </a:rPr>
                <a:t>×</a:t>
              </a:r>
            </a:p>
          </p:txBody>
        </p:sp>
        <p:sp>
          <p:nvSpPr>
            <p:cNvPr id="55" name="TextBox 55"/>
            <p:cNvSpPr txBox="1"/>
            <p:nvPr/>
          </p:nvSpPr>
          <p:spPr>
            <a:xfrm>
              <a:off x="10143602" y="4352449"/>
              <a:ext cx="107726" cy="249364"/>
            </a:xfrm>
            <a:prstGeom prst="rect">
              <a:avLst/>
            </a:prstGeom>
            <a:noFill/>
            <a:ln>
              <a:noFill/>
            </a:ln>
          </p:spPr>
          <p:txBody>
            <a:bodyPr wrap="none" lIns="0" tIns="0" rIns="0" bIns="0" anchor="t" anchorCtr="0">
              <a:spAutoFit/>
            </a:bodyPr>
            <a:lstStyle/>
            <a:p>
              <a:pPr algn="ctr"/>
              <a:r>
                <a:rPr lang="zh-CN" sz="1280" dirty="0">
                  <a:solidFill>
                    <a:srgbClr val="B42318"/>
                  </a:solidFill>
                  <a:latin typeface="+mn-lt"/>
                  <a:ea typeface="+mn-ea"/>
                  <a:cs typeface="+mn-cs"/>
                </a:rPr>
                <a:t>×</a:t>
              </a:r>
            </a:p>
          </p:txBody>
        </p:sp>
        <p:sp>
          <p:nvSpPr>
            <p:cNvPr id="56" name="Rectangle 56"/>
            <p:cNvSpPr/>
            <p:nvPr/>
          </p:nvSpPr>
          <p:spPr>
            <a:xfrm>
              <a:off x="6248400" y="4660582"/>
              <a:ext cx="5410200" cy="9525"/>
            </a:xfrm>
            <a:prstGeom prst="rect">
              <a:avLst/>
            </a:prstGeom>
            <a:solidFill>
              <a:srgbClr val="D9DFEA"/>
            </a:solidFill>
            <a:ln>
              <a:noFill/>
            </a:ln>
          </p:spPr>
        </p:sp>
        <p:sp>
          <p:nvSpPr>
            <p:cNvPr id="57" name="TextBox 57"/>
            <p:cNvSpPr txBox="1"/>
            <p:nvPr/>
          </p:nvSpPr>
          <p:spPr>
            <a:xfrm>
              <a:off x="7005828" y="4801076"/>
              <a:ext cx="81274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调用 SUBB</a:t>
              </a:r>
            </a:p>
          </p:txBody>
        </p:sp>
        <p:sp>
          <p:nvSpPr>
            <p:cNvPr id="58" name="TextBox 58"/>
            <p:cNvSpPr txBox="1"/>
            <p:nvPr/>
          </p:nvSpPr>
          <p:spPr>
            <a:xfrm>
              <a:off x="9170147" y="4801076"/>
              <a:ext cx="107726" cy="249364"/>
            </a:xfrm>
            <a:prstGeom prst="rect">
              <a:avLst/>
            </a:prstGeom>
            <a:noFill/>
            <a:ln>
              <a:noFill/>
            </a:ln>
          </p:spPr>
          <p:txBody>
            <a:bodyPr wrap="none" lIns="0" tIns="0" rIns="0" bIns="0" anchor="t" anchorCtr="0">
              <a:spAutoFit/>
            </a:bodyPr>
            <a:lstStyle/>
            <a:p>
              <a:pPr algn="ctr"/>
              <a:r>
                <a:rPr lang="zh-CN" sz="1280" dirty="0">
                  <a:solidFill>
                    <a:srgbClr val="B42318"/>
                  </a:solidFill>
                  <a:latin typeface="+mn-lt"/>
                  <a:ea typeface="+mn-ea"/>
                  <a:cs typeface="+mn-cs"/>
                </a:rPr>
                <a:t>×</a:t>
              </a:r>
            </a:p>
          </p:txBody>
        </p:sp>
        <p:sp>
          <p:nvSpPr>
            <p:cNvPr id="59" name="TextBox 59"/>
            <p:cNvSpPr txBox="1"/>
            <p:nvPr/>
          </p:nvSpPr>
          <p:spPr>
            <a:xfrm>
              <a:off x="10143602" y="4801076"/>
              <a:ext cx="107726" cy="249364"/>
            </a:xfrm>
            <a:prstGeom prst="rect">
              <a:avLst/>
            </a:prstGeom>
            <a:noFill/>
            <a:ln>
              <a:noFill/>
            </a:ln>
          </p:spPr>
          <p:txBody>
            <a:bodyPr wrap="none" lIns="0" tIns="0" rIns="0" bIns="0" anchor="t" anchorCtr="0">
              <a:spAutoFit/>
            </a:bodyPr>
            <a:lstStyle/>
            <a:p>
              <a:pPr algn="ctr"/>
              <a:r>
                <a:rPr lang="zh-CN" sz="1280" dirty="0">
                  <a:solidFill>
                    <a:srgbClr val="B42318"/>
                  </a:solidFill>
                  <a:latin typeface="+mn-lt"/>
                  <a:ea typeface="+mn-ea"/>
                  <a:cs typeface="+mn-cs"/>
                </a:rPr>
                <a:t>×</a:t>
              </a:r>
            </a:p>
          </p:txBody>
        </p:sp>
        <p:sp>
          <p:nvSpPr>
            <p:cNvPr id="60" name="TextBox 60"/>
            <p:cNvSpPr txBox="1"/>
            <p:nvPr/>
          </p:nvSpPr>
          <p:spPr>
            <a:xfrm>
              <a:off x="11118009" y="4801076"/>
              <a:ext cx="107726" cy="249364"/>
            </a:xfrm>
            <a:prstGeom prst="rect">
              <a:avLst/>
            </a:prstGeom>
            <a:noFill/>
            <a:ln>
              <a:noFill/>
            </a:ln>
          </p:spPr>
          <p:txBody>
            <a:bodyPr wrap="none" lIns="0" tIns="0" rIns="0" bIns="0" anchor="t" anchorCtr="0">
              <a:spAutoFit/>
            </a:bodyPr>
            <a:lstStyle/>
            <a:p>
              <a:pPr algn="ctr"/>
              <a:r>
                <a:rPr lang="zh-CN" sz="1280" dirty="0">
                  <a:solidFill>
                    <a:srgbClr val="B42318"/>
                  </a:solidFill>
                  <a:latin typeface="+mn-lt"/>
                  <a:ea typeface="+mn-ea"/>
                  <a:cs typeface="+mn-cs"/>
                </a:rPr>
                <a:t>×</a:t>
              </a:r>
            </a:p>
          </p:txBody>
        </p:sp>
        <p:sp>
          <p:nvSpPr>
            <p:cNvPr id="61" name="Rectangle 61"/>
            <p:cNvSpPr/>
            <p:nvPr/>
          </p:nvSpPr>
          <p:spPr>
            <a:xfrm>
              <a:off x="6248400" y="1524000"/>
              <a:ext cx="5410200" cy="3590925"/>
            </a:xfrm>
            <a:prstGeom prst="rect">
              <a:avLst/>
            </a:prstGeom>
            <a:noFill/>
            <a:ln w="14288">
              <a:solidFill>
                <a:srgbClr val="D9DFEA"/>
              </a:solidFill>
            </a:ln>
          </p:spPr>
        </p:sp>
        <p:sp>
          <p:nvSpPr>
            <p:cNvPr id="62" name="Rectangle 62"/>
            <p:cNvSpPr/>
            <p:nvPr/>
          </p:nvSpPr>
          <p:spPr>
            <a:xfrm>
              <a:off x="6893242" y="1524000"/>
              <a:ext cx="9525" cy="3590925"/>
            </a:xfrm>
            <a:prstGeom prst="rect">
              <a:avLst/>
            </a:prstGeom>
            <a:solidFill>
              <a:srgbClr val="D9DFEA"/>
            </a:solidFill>
            <a:ln>
              <a:noFill/>
            </a:ln>
          </p:spPr>
        </p:sp>
        <p:sp>
          <p:nvSpPr>
            <p:cNvPr id="63" name="Rectangle 63"/>
            <p:cNvSpPr/>
            <p:nvPr/>
          </p:nvSpPr>
          <p:spPr>
            <a:xfrm>
              <a:off x="8732520" y="1524000"/>
              <a:ext cx="9525" cy="3590925"/>
            </a:xfrm>
            <a:prstGeom prst="rect">
              <a:avLst/>
            </a:prstGeom>
            <a:solidFill>
              <a:srgbClr val="D9DFEA"/>
            </a:solidFill>
            <a:ln>
              <a:noFill/>
            </a:ln>
          </p:spPr>
        </p:sp>
        <p:sp>
          <p:nvSpPr>
            <p:cNvPr id="64" name="Rectangle 64"/>
            <p:cNvSpPr/>
            <p:nvPr/>
          </p:nvSpPr>
          <p:spPr>
            <a:xfrm>
              <a:off x="9705975" y="1524000"/>
              <a:ext cx="9525" cy="3590925"/>
            </a:xfrm>
            <a:prstGeom prst="rect">
              <a:avLst/>
            </a:prstGeom>
            <a:solidFill>
              <a:srgbClr val="D9DFEA"/>
            </a:solidFill>
            <a:ln>
              <a:noFill/>
            </a:ln>
          </p:spPr>
        </p:sp>
        <p:sp>
          <p:nvSpPr>
            <p:cNvPr id="65" name="Rectangle 65"/>
            <p:cNvSpPr/>
            <p:nvPr/>
          </p:nvSpPr>
          <p:spPr>
            <a:xfrm>
              <a:off x="10680382" y="1524000"/>
              <a:ext cx="9525" cy="3590925"/>
            </a:xfrm>
            <a:prstGeom prst="rect">
              <a:avLst/>
            </a:prstGeom>
            <a:solidFill>
              <a:srgbClr val="D9DFEA"/>
            </a:solidFill>
            <a:ln>
              <a:noFill/>
            </a:ln>
          </p:spPr>
        </p:sp>
        <p:sp>
          <p:nvSpPr>
            <p:cNvPr id="66" name="TextBox 66"/>
            <p:cNvSpPr txBox="1"/>
            <p:nvPr/>
          </p:nvSpPr>
          <p:spPr>
            <a:xfrm>
              <a:off x="6242685" y="5190649"/>
              <a:ext cx="5082286" cy="420052"/>
            </a:xfrm>
            <a:prstGeom prst="rect">
              <a:avLst/>
            </a:prstGeom>
            <a:noFill/>
            <a:ln>
              <a:noFill/>
            </a:ln>
          </p:spPr>
          <p:txBody>
            <a:bodyPr wrap="none" lIns="0" tIns="0" rIns="0" bIns="0" anchor="t" anchorCtr="0">
              <a:spAutoFit/>
            </a:bodyPr>
            <a:lstStyle/>
            <a:p>
              <a:pPr algn="l">
                <a:lnSpc>
                  <a:spcPts val="1575"/>
                </a:lnSpc>
              </a:pPr>
              <a:r>
                <a:rPr lang="zh-CN" sz="1120" dirty="0">
                  <a:solidFill>
                    <a:srgbClr val="5B6475"/>
                  </a:solidFill>
                  <a:latin typeface="+mn-lt"/>
                  <a:ea typeface="+mn-ea"/>
                  <a:cs typeface="+mn-cs"/>
                </a:rPr>
                <a:t>题目：为这张判定表代表的加工设计一个模块，写出 FORTRAN 程序并计算它的交</a:t>
              </a:r>
              <a:br/>
              <a:r>
                <a:rPr lang="zh-CN" sz="1120" dirty="0">
                  <a:solidFill>
                    <a:srgbClr val="5B6475"/>
                  </a:solidFill>
                  <a:latin typeface="+mn-lt"/>
                  <a:ea typeface="+mn-ea"/>
                  <a:cs typeface="+mn-cs"/>
                </a:rPr>
                <a:t>点复杂度和环形复杂度</a:t>
              </a:r>
            </a:p>
          </p:txBody>
        </p:sp>
      </p:grpSp>
      <p:grpSp>
        <p:nvGrpSpPr>
          <p:cNvPr id="70" name="footer"/>
          <p:cNvGrpSpPr/>
          <p:nvPr/>
        </p:nvGrpSpPr>
        <p:grpSpPr>
          <a:xfrm>
            <a:off x="528447" y="6581299"/>
            <a:ext cx="11135106" cy="190690"/>
            <a:chOff x="528447" y="6581299"/>
            <a:chExt cx="11135106" cy="190690"/>
          </a:xfrm>
        </p:grpSpPr>
        <p:sp>
          <p:nvSpPr>
            <p:cNvPr id="68" name="TextBox 68"/>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69" name="TextBox 6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56</a:t>
              </a:r>
            </a:p>
          </p:txBody>
        </p:sp>
      </p:grpSp>
    </p:spTree>
  </p:cSld>
  <p:clrMapOvr>
    <a:masterClrMapping/>
  </p:clrMapOvr>
  <p:transition xmlns:p14="http://schemas.microsoft.com/office/powerpoint/2010/main" p14:dur="400">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48132" cy="909257"/>
            <a:chOff x="520446" y="342900"/>
            <a:chExt cx="6848132" cy="909257"/>
          </a:xfrm>
        </p:grpSpPr>
        <p:sp>
          <p:nvSpPr>
            <p:cNvPr id="2" name="Rectangle 2"/>
            <p:cNvSpPr/>
            <p:nvPr/>
          </p:nvSpPr>
          <p:spPr>
            <a:xfrm>
              <a:off x="533400" y="342900"/>
              <a:ext cx="2983230" cy="266700"/>
            </a:xfrm>
            <a:prstGeom prst="roundRect">
              <a:avLst>
                <a:gd name="adj" fmla="val 50000"/>
              </a:avLst>
            </a:prstGeom>
            <a:solidFill>
              <a:srgbClr val="E7EDF3"/>
            </a:solidFill>
            <a:ln>
              <a:noFill/>
            </a:ln>
          </p:spPr>
        </p:sp>
        <p:sp>
          <p:nvSpPr>
            <p:cNvPr id="3" name="TextBox 3"/>
            <p:cNvSpPr txBox="1"/>
            <p:nvPr/>
          </p:nvSpPr>
          <p:spPr>
            <a:xfrm>
              <a:off x="579404" y="407194"/>
              <a:ext cx="2891221"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 · 程序复杂程度的定量度量</a:t>
              </a:r>
            </a:p>
          </p:txBody>
        </p:sp>
        <p:sp>
          <p:nvSpPr>
            <p:cNvPr id="4" name="TextBox 4"/>
            <p:cNvSpPr txBox="1"/>
            <p:nvPr/>
          </p:nvSpPr>
          <p:spPr>
            <a:xfrm>
              <a:off x="520446" y="753428"/>
              <a:ext cx="684813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同一段逻辑：交点数从 9 降到 3，V(G) 不变</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0" name="c1-code-1"/>
          <p:cNvGrpSpPr/>
          <p:nvPr/>
        </p:nvGrpSpPr>
        <p:grpSpPr>
          <a:xfrm>
            <a:off x="533400" y="1524000"/>
            <a:ext cx="5410200" cy="2616518"/>
            <a:chOff x="533400" y="1524000"/>
            <a:chExt cx="5410200" cy="2616518"/>
          </a:xfrm>
        </p:grpSpPr>
        <p:sp>
          <p:nvSpPr>
            <p:cNvPr id="7" name="Rectangle 7"/>
            <p:cNvSpPr/>
            <p:nvPr/>
          </p:nvSpPr>
          <p:spPr>
            <a:xfrm>
              <a:off x="533400" y="1524000"/>
              <a:ext cx="5410200" cy="2616518"/>
            </a:xfrm>
            <a:prstGeom prst="roundRect">
              <a:avLst>
                <a:gd name="adj" fmla="val 3640"/>
              </a:avLst>
            </a:prstGeom>
            <a:solidFill>
              <a:srgbClr val="F6F8FA"/>
            </a:solidFill>
            <a:ln w="11430">
              <a:solidFill>
                <a:srgbClr val="D9DFEA"/>
              </a:solidFill>
            </a:ln>
          </p:spPr>
        </p:sp>
        <p:sp>
          <p:nvSpPr>
            <p:cNvPr id="8" name="TextBox 8"/>
            <p:cNvSpPr txBox="1"/>
            <p:nvPr/>
          </p:nvSpPr>
          <p:spPr>
            <a:xfrm>
              <a:off x="661797" y="1675924"/>
              <a:ext cx="866938"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写法一　K = 9</a:t>
              </a:r>
            </a:p>
          </p:txBody>
        </p:sp>
        <p:sp>
          <p:nvSpPr>
            <p:cNvPr id="9" name="TextBox 9"/>
            <p:cNvSpPr txBox="1"/>
            <p:nvPr/>
          </p:nvSpPr>
          <p:spPr>
            <a:xfrm>
              <a:off x="661797" y="1935956"/>
              <a:ext cx="2268855" cy="2129028"/>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Consolas"/>
                  <a:ea typeface="Consolas"/>
                  <a:cs typeface="Consolas"/>
                </a:rPr>
                <a:t xml:space="preserve">      IF (M=1)  GO TO 100      ①</a:t>
              </a:r>
              <a:br/>
              <a:r>
                <a:rPr lang="en-US" sz="980" dirty="0">
                  <a:solidFill>
                    <a:srgbClr val="1F2937"/>
                  </a:solidFill>
                  <a:latin typeface="Consolas"/>
                  <a:ea typeface="Consolas"/>
                  <a:cs typeface="Consolas"/>
                </a:rPr>
                <a:t xml:space="preserve">      CALL SUBA                ①'</a:t>
              </a:r>
              <a:br/>
              <a:r>
                <a:rPr lang="en-US" sz="980" dirty="0">
                  <a:solidFill>
                    <a:srgbClr val="1F2937"/>
                  </a:solidFill>
                  <a:latin typeface="Consolas"/>
                  <a:ea typeface="Consolas"/>
                  <a:cs typeface="Consolas"/>
                </a:rPr>
                <a:t>30    IF (N=1)  GO TO 200      ②</a:t>
              </a:r>
              <a:br/>
              <a:r>
                <a:rPr lang="en-US" sz="980" dirty="0">
                  <a:solidFill>
                    <a:srgbClr val="1F2937"/>
                  </a:solidFill>
                  <a:latin typeface="Consolas"/>
                  <a:ea typeface="Consolas"/>
                  <a:cs typeface="Consolas"/>
                </a:rPr>
                <a:t xml:space="preserve">      J = J + 1                ②'</a:t>
              </a:r>
              <a:br/>
              <a:r>
                <a:rPr lang="en-US" sz="980" dirty="0">
                  <a:solidFill>
                    <a:srgbClr val="1F2937"/>
                  </a:solidFill>
                  <a:latin typeface="Consolas"/>
                  <a:ea typeface="Consolas"/>
                  <a:cs typeface="Consolas"/>
                </a:rPr>
                <a:t>60    CALL SUBB                ③</a:t>
              </a:r>
              <a:br/>
              <a:r>
                <a:rPr lang="en-US" sz="980" dirty="0">
                  <a:solidFill>
                    <a:srgbClr val="1F2937"/>
                  </a:solidFill>
                  <a:latin typeface="Consolas"/>
                  <a:ea typeface="Consolas"/>
                  <a:cs typeface="Consolas"/>
                </a:rPr>
                <a:t xml:space="preserve">      GO TO 300</a:t>
              </a:r>
              <a:br/>
              <a:r>
                <a:rPr lang="en-US" sz="980" dirty="0">
                  <a:solidFill>
                    <a:srgbClr val="1F2937"/>
                  </a:solidFill>
                  <a:latin typeface="Consolas"/>
                  <a:ea typeface="Consolas"/>
                  <a:cs typeface="Consolas"/>
                </a:rPr>
                <a:t>100   N = 1                    ④</a:t>
              </a:r>
              <a:br/>
              <a:r>
                <a:rPr lang="en-US" sz="980" dirty="0">
                  <a:solidFill>
                    <a:srgbClr val="1F2937"/>
                  </a:solidFill>
                  <a:latin typeface="Consolas"/>
                  <a:ea typeface="Consolas"/>
                  <a:cs typeface="Consolas"/>
                </a:rPr>
                <a:t xml:space="preserve">      GO TO 30</a:t>
              </a:r>
              <a:br/>
              <a:r>
                <a:rPr lang="en-US" sz="980" dirty="0">
                  <a:solidFill>
                    <a:srgbClr val="1F2937"/>
                  </a:solidFill>
                  <a:latin typeface="Consolas"/>
                  <a:ea typeface="Consolas"/>
                  <a:cs typeface="Consolas"/>
                </a:rPr>
                <a:t>200   K = K + 1                ⑤</a:t>
              </a:r>
              <a:br/>
              <a:r>
                <a:rPr lang="en-US" sz="980" dirty="0">
                  <a:solidFill>
                    <a:srgbClr val="1F2937"/>
                  </a:solidFill>
                  <a:latin typeface="Consolas"/>
                  <a:ea typeface="Consolas"/>
                  <a:cs typeface="Consolas"/>
                </a:rPr>
                <a:t xml:space="preserve">      GO TO 60</a:t>
              </a:r>
              <a:br/>
              <a:r>
                <a:rPr lang="en-US" sz="980" dirty="0">
                  <a:solidFill>
                    <a:srgbClr val="1F2937"/>
                  </a:solidFill>
                  <a:latin typeface="Consolas"/>
                  <a:ea typeface="Consolas"/>
                  <a:cs typeface="Consolas"/>
                </a:rPr>
                <a:t>300   RETURN                   ⑥</a:t>
              </a:r>
              <a:br/>
              <a:r>
                <a:rPr lang="en-US" sz="980" dirty="0">
                  <a:solidFill>
                    <a:srgbClr val="1F2937"/>
                  </a:solidFill>
                  <a:latin typeface="Consolas"/>
                  <a:ea typeface="Consolas"/>
                  <a:cs typeface="Consolas"/>
                </a:rPr>
                <a:t xml:space="preserve">      END</a:t>
              </a:r>
            </a:p>
          </p:txBody>
        </p:sp>
      </p:grpSp>
      <p:grpSp>
        <p:nvGrpSpPr>
          <p:cNvPr id="17" name="c1-callout-2"/>
          <p:cNvGrpSpPr/>
          <p:nvPr/>
        </p:nvGrpSpPr>
        <p:grpSpPr>
          <a:xfrm>
            <a:off x="533400" y="4310062"/>
            <a:ext cx="5410200" cy="1177290"/>
            <a:chOff x="533400" y="4310062"/>
            <a:chExt cx="5410200" cy="1177290"/>
          </a:xfrm>
        </p:grpSpPr>
        <p:sp>
          <p:nvSpPr>
            <p:cNvPr id="11" name="Rectangle 11"/>
            <p:cNvSpPr/>
            <p:nvPr/>
          </p:nvSpPr>
          <p:spPr>
            <a:xfrm>
              <a:off x="533400" y="4310062"/>
              <a:ext cx="5410200" cy="1177290"/>
            </a:xfrm>
            <a:prstGeom prst="roundRect">
              <a:avLst>
                <a:gd name="adj" fmla="val 9709"/>
              </a:avLst>
            </a:prstGeom>
            <a:solidFill>
              <a:srgbClr val="FDECEA"/>
            </a:solidFill>
            <a:ln>
              <a:noFill/>
            </a:ln>
          </p:spPr>
        </p:sp>
        <p:grpSp>
          <p:nvGrpSpPr>
            <p:cNvPr id="15" name="Group 15"/>
            <p:cNvGrpSpPr/>
            <p:nvPr/>
          </p:nvGrpSpPr>
          <p:grpSpPr>
            <a:xfrm>
              <a:off x="726129" y="4795003"/>
              <a:ext cx="224134" cy="192560"/>
              <a:chOff x="726129" y="4795003"/>
              <a:chExt cx="224134" cy="192560"/>
            </a:xfrm>
          </p:grpSpPr>
          <p:sp>
            <p:nvSpPr>
              <p:cNvPr id="12" name="Freeform 12"/>
              <p:cNvSpPr/>
              <p:nvPr/>
            </p:nvSpPr>
            <p:spPr>
              <a:xfrm>
                <a:off x="838200" y="4865370"/>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13" name="Freeform 13"/>
              <p:cNvSpPr/>
              <p:nvPr/>
            </p:nvSpPr>
            <p:spPr>
              <a:xfrm>
                <a:off x="726129" y="4795003"/>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14" name="Freeform 14"/>
              <p:cNvSpPr/>
              <p:nvPr/>
            </p:nvSpPr>
            <p:spPr>
              <a:xfrm>
                <a:off x="838200" y="4943158"/>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16" name="TextBox 16"/>
            <p:cNvSpPr txBox="1"/>
            <p:nvPr/>
          </p:nvSpPr>
          <p:spPr>
            <a:xfrm>
              <a:off x="1040892" y="4679632"/>
              <a:ext cx="4411408"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B42318"/>
                  </a:solidFill>
                  <a:latin typeface="+mn-lt"/>
                  <a:ea typeface="+mn-ea"/>
                  <a:cs typeface="+mn-cs"/>
                </a:rPr>
                <a:t>控制转移弧互相交叉 9 次：④ 要跳回 30，⑤ 要跳回 60，都</a:t>
              </a:r>
              <a:br/>
              <a:r>
                <a:rPr lang="zh-CN" sz="1350" dirty="0">
                  <a:solidFill>
                    <a:srgbClr val="B42318"/>
                  </a:solidFill>
                  <a:latin typeface="+mn-lt"/>
                  <a:ea typeface="+mn-ea"/>
                  <a:cs typeface="+mn-cs"/>
                </a:rPr>
                <a:t>是向后跳。</a:t>
              </a:r>
            </a:p>
          </p:txBody>
        </p:sp>
      </p:grpSp>
      <p:grpSp>
        <p:nvGrpSpPr>
          <p:cNvPr id="21" name="c2-code-1"/>
          <p:cNvGrpSpPr/>
          <p:nvPr/>
        </p:nvGrpSpPr>
        <p:grpSpPr>
          <a:xfrm>
            <a:off x="6248400" y="1524000"/>
            <a:ext cx="5410200" cy="2264092"/>
            <a:chOff x="6248400" y="1524000"/>
            <a:chExt cx="5410200" cy="2264092"/>
          </a:xfrm>
        </p:grpSpPr>
        <p:sp>
          <p:nvSpPr>
            <p:cNvPr id="18" name="Rectangle 18"/>
            <p:cNvSpPr/>
            <p:nvPr/>
          </p:nvSpPr>
          <p:spPr>
            <a:xfrm>
              <a:off x="6248400" y="1524000"/>
              <a:ext cx="5410200" cy="2264092"/>
            </a:xfrm>
            <a:prstGeom prst="roundRect">
              <a:avLst>
                <a:gd name="adj" fmla="val 4207"/>
              </a:avLst>
            </a:prstGeom>
            <a:solidFill>
              <a:srgbClr val="F6F8FA"/>
            </a:solidFill>
            <a:ln w="11430">
              <a:solidFill>
                <a:srgbClr val="D9DFEA"/>
              </a:solidFill>
            </a:ln>
          </p:spPr>
        </p:sp>
        <p:sp>
          <p:nvSpPr>
            <p:cNvPr id="19" name="TextBox 19"/>
            <p:cNvSpPr txBox="1"/>
            <p:nvPr/>
          </p:nvSpPr>
          <p:spPr>
            <a:xfrm>
              <a:off x="6376797" y="1675924"/>
              <a:ext cx="866938"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写法二　K = 3</a:t>
              </a:r>
            </a:p>
          </p:txBody>
        </p:sp>
        <p:sp>
          <p:nvSpPr>
            <p:cNvPr id="20" name="TextBox 20"/>
            <p:cNvSpPr txBox="1"/>
            <p:nvPr/>
          </p:nvSpPr>
          <p:spPr>
            <a:xfrm>
              <a:off x="6376797" y="1935956"/>
              <a:ext cx="2268855" cy="1776603"/>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Consolas"/>
                  <a:ea typeface="Consolas"/>
                  <a:cs typeface="Consolas"/>
                </a:rPr>
                <a:t xml:space="preserve">      IF (M=1)  GO TO 100      ①</a:t>
              </a:r>
              <a:br/>
              <a:r>
                <a:rPr lang="en-US" sz="980" dirty="0">
                  <a:solidFill>
                    <a:srgbClr val="1F2937"/>
                  </a:solidFill>
                  <a:latin typeface="Consolas"/>
                  <a:ea typeface="Consolas"/>
                  <a:cs typeface="Consolas"/>
                </a:rPr>
                <a:t xml:space="preserve">      CALL SUBA                ①'</a:t>
              </a:r>
              <a:br/>
              <a:r>
                <a:rPr lang="en-US" sz="980" dirty="0">
                  <a:solidFill>
                    <a:srgbClr val="1F2937"/>
                  </a:solidFill>
                  <a:latin typeface="Consolas"/>
                  <a:ea typeface="Consolas"/>
                  <a:cs typeface="Consolas"/>
                </a:rPr>
                <a:t xml:space="preserve">      IF (N=1)  GO TO 200      ②</a:t>
              </a:r>
              <a:br/>
              <a:r>
                <a:rPr lang="en-US" sz="980" dirty="0">
                  <a:solidFill>
                    <a:srgbClr val="1F2937"/>
                  </a:solidFill>
                  <a:latin typeface="Consolas"/>
                  <a:ea typeface="Consolas"/>
                  <a:cs typeface="Consolas"/>
                </a:rPr>
                <a:t xml:space="preserve">      J = J + 1                ②'</a:t>
              </a:r>
              <a:br/>
              <a:r>
                <a:rPr lang="en-US" sz="980" dirty="0">
                  <a:solidFill>
                    <a:srgbClr val="1F2937"/>
                  </a:solidFill>
                  <a:latin typeface="Consolas"/>
                  <a:ea typeface="Consolas"/>
                  <a:cs typeface="Consolas"/>
                </a:rPr>
                <a:t xml:space="preserve">      GO TO 300</a:t>
              </a:r>
              <a:br/>
              <a:r>
                <a:rPr lang="en-US" sz="980" dirty="0">
                  <a:solidFill>
                    <a:srgbClr val="1F2937"/>
                  </a:solidFill>
                  <a:latin typeface="Consolas"/>
                  <a:ea typeface="Consolas"/>
                  <a:cs typeface="Consolas"/>
                </a:rPr>
                <a:t>100   N = 1                    ④</a:t>
              </a:r>
              <a:br/>
              <a:r>
                <a:rPr lang="en-US" sz="980" dirty="0">
                  <a:solidFill>
                    <a:srgbClr val="1F2937"/>
                  </a:solidFill>
                  <a:latin typeface="Consolas"/>
                  <a:ea typeface="Consolas"/>
                  <a:cs typeface="Consolas"/>
                </a:rPr>
                <a:t>200   K = K + 1                ⑤</a:t>
              </a:r>
              <a:br/>
              <a:r>
                <a:rPr lang="en-US" sz="980" dirty="0">
                  <a:solidFill>
                    <a:srgbClr val="1F2937"/>
                  </a:solidFill>
                  <a:latin typeface="Consolas"/>
                  <a:ea typeface="Consolas"/>
                  <a:cs typeface="Consolas"/>
                </a:rPr>
                <a:t>300   CALL SUBB                ③</a:t>
              </a:r>
              <a:br/>
              <a:r>
                <a:rPr lang="en-US" sz="980" dirty="0">
                  <a:solidFill>
                    <a:srgbClr val="1F2937"/>
                  </a:solidFill>
                  <a:latin typeface="Consolas"/>
                  <a:ea typeface="Consolas"/>
                  <a:cs typeface="Consolas"/>
                </a:rPr>
                <a:t xml:space="preserve">      RETURN                   ⑥</a:t>
              </a:r>
              <a:br/>
              <a:r>
                <a:rPr lang="en-US" sz="980" dirty="0">
                  <a:solidFill>
                    <a:srgbClr val="1F2937"/>
                  </a:solidFill>
                  <a:latin typeface="Consolas"/>
                  <a:ea typeface="Consolas"/>
                  <a:cs typeface="Consolas"/>
                </a:rPr>
                <a:t xml:space="preserve">      END</a:t>
              </a:r>
            </a:p>
          </p:txBody>
        </p:sp>
      </p:grpSp>
      <p:grpSp>
        <p:nvGrpSpPr>
          <p:cNvPr id="32" name="c2-card-2"/>
          <p:cNvGrpSpPr/>
          <p:nvPr/>
        </p:nvGrpSpPr>
        <p:grpSpPr>
          <a:xfrm>
            <a:off x="6248400" y="3958590"/>
            <a:ext cx="5410200" cy="1528762"/>
            <a:chOff x="6248400" y="3958590"/>
            <a:chExt cx="5410200" cy="1528762"/>
          </a:xfrm>
        </p:grpSpPr>
        <p:sp>
          <p:nvSpPr>
            <p:cNvPr id="22" name="Rectangle 22"/>
            <p:cNvSpPr/>
            <p:nvPr/>
          </p:nvSpPr>
          <p:spPr>
            <a:xfrm>
              <a:off x="6248400" y="3958590"/>
              <a:ext cx="5410200" cy="1528762"/>
            </a:xfrm>
            <a:prstGeom prst="roundRect">
              <a:avLst>
                <a:gd name="adj" fmla="val 8723"/>
              </a:avLst>
            </a:prstGeom>
            <a:solidFill>
              <a:srgbClr val="FFFFFF"/>
            </a:solidFill>
            <a:ln w="14288">
              <a:solidFill>
                <a:srgbClr val="D9DFEA"/>
              </a:solidFill>
            </a:ln>
          </p:spPr>
        </p:sp>
        <p:sp>
          <p:nvSpPr>
            <p:cNvPr id="23" name="Rectangle 23"/>
            <p:cNvSpPr/>
            <p:nvPr/>
          </p:nvSpPr>
          <p:spPr>
            <a:xfrm>
              <a:off x="6257925" y="4091940"/>
              <a:ext cx="47625" cy="1262062"/>
            </a:xfrm>
            <a:prstGeom prst="roundRect">
              <a:avLst>
                <a:gd name="adj" fmla="val 50000"/>
              </a:avLst>
            </a:prstGeom>
            <a:solidFill>
              <a:srgbClr val="14A38B"/>
            </a:solidFill>
            <a:ln>
              <a:noFill/>
            </a:ln>
          </p:spPr>
        </p:sp>
        <p:sp>
          <p:nvSpPr>
            <p:cNvPr id="24" name="Rectangle 24"/>
            <p:cNvSpPr/>
            <p:nvPr/>
          </p:nvSpPr>
          <p:spPr>
            <a:xfrm>
              <a:off x="6473190" y="4145280"/>
              <a:ext cx="1081088" cy="238125"/>
            </a:xfrm>
            <a:prstGeom prst="roundRect">
              <a:avLst>
                <a:gd name="adj" fmla="val 50000"/>
              </a:avLst>
            </a:prstGeom>
            <a:solidFill>
              <a:srgbClr val="E3F5F1"/>
            </a:solidFill>
            <a:ln>
              <a:noFill/>
            </a:ln>
          </p:spPr>
        </p:sp>
        <p:sp>
          <p:nvSpPr>
            <p:cNvPr id="25" name="TextBox 25"/>
            <p:cNvSpPr txBox="1"/>
            <p:nvPr/>
          </p:nvSpPr>
          <p:spPr>
            <a:xfrm>
              <a:off x="6546558" y="4178141"/>
              <a:ext cx="933399"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两种写法的度量</a:t>
              </a:r>
            </a:p>
          </p:txBody>
        </p:sp>
        <p:sp>
          <p:nvSpPr>
            <p:cNvPr id="26" name="Ellipse 26"/>
            <p:cNvSpPr/>
            <p:nvPr/>
          </p:nvSpPr>
          <p:spPr>
            <a:xfrm>
              <a:off x="6481762" y="4545330"/>
              <a:ext cx="59055" cy="59055"/>
            </a:xfrm>
            <a:prstGeom prst="ellipse">
              <a:avLst/>
            </a:prstGeom>
            <a:solidFill>
              <a:srgbClr val="334E68"/>
            </a:solidFill>
            <a:ln>
              <a:noFill/>
            </a:ln>
          </p:spPr>
        </p:sp>
        <p:sp>
          <p:nvSpPr>
            <p:cNvPr id="27" name="TextBox 27"/>
            <p:cNvSpPr txBox="1"/>
            <p:nvPr/>
          </p:nvSpPr>
          <p:spPr>
            <a:xfrm>
              <a:off x="6637782" y="4489132"/>
              <a:ext cx="415732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结点 8 个（①、①'、②、②'、③、④、⑤、⑥），边 9 条</a:t>
              </a:r>
            </a:p>
          </p:txBody>
        </p:sp>
        <p:sp>
          <p:nvSpPr>
            <p:cNvPr id="28" name="Ellipse 28"/>
            <p:cNvSpPr/>
            <p:nvPr/>
          </p:nvSpPr>
          <p:spPr>
            <a:xfrm>
              <a:off x="6481762" y="4845368"/>
              <a:ext cx="59055" cy="59055"/>
            </a:xfrm>
            <a:prstGeom prst="ellipse">
              <a:avLst/>
            </a:prstGeom>
            <a:solidFill>
              <a:srgbClr val="334E68"/>
            </a:solidFill>
            <a:ln>
              <a:noFill/>
            </a:ln>
          </p:spPr>
        </p:sp>
        <p:sp>
          <p:nvSpPr>
            <p:cNvPr id="29" name="TextBox 29"/>
            <p:cNvSpPr txBox="1"/>
            <p:nvPr/>
          </p:nvSpPr>
          <p:spPr>
            <a:xfrm>
              <a:off x="6637782" y="4789170"/>
              <a:ext cx="288930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 xml:space="preserve">两种写法都是 V(G) = 9 − 8 + 2 = </a:t>
              </a:r>
              <a:r>
                <a:rPr lang="zh-CN" sz="1350" b="1" dirty="0">
                  <a:solidFill>
                    <a:srgbClr val="0F7A68"/>
                  </a:solidFill>
                  <a:latin typeface="+mn-lt"/>
                  <a:ea typeface="+mn-ea"/>
                  <a:cs typeface="+mn-cs"/>
                </a:rPr>
                <a:t>3</a:t>
              </a:r>
            </a:p>
          </p:txBody>
        </p:sp>
        <p:sp>
          <p:nvSpPr>
            <p:cNvPr id="30" name="Ellipse 30"/>
            <p:cNvSpPr/>
            <p:nvPr/>
          </p:nvSpPr>
          <p:spPr>
            <a:xfrm>
              <a:off x="6481762" y="5146358"/>
              <a:ext cx="59055" cy="59055"/>
            </a:xfrm>
            <a:prstGeom prst="ellipse">
              <a:avLst/>
            </a:prstGeom>
            <a:solidFill>
              <a:srgbClr val="334E68"/>
            </a:solidFill>
            <a:ln>
              <a:noFill/>
            </a:ln>
          </p:spPr>
        </p:sp>
        <p:sp>
          <p:nvSpPr>
            <p:cNvPr id="31" name="TextBox 31"/>
            <p:cNvSpPr txBox="1"/>
            <p:nvPr/>
          </p:nvSpPr>
          <p:spPr>
            <a:xfrm>
              <a:off x="6637782" y="5090160"/>
              <a:ext cx="1477608"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 xml:space="preserve">交点数从 </a:t>
              </a:r>
              <a:r>
                <a:rPr lang="zh-CN" sz="1350" b="1" dirty="0">
                  <a:solidFill>
                    <a:srgbClr val="C2410C"/>
                  </a:solidFill>
                  <a:latin typeface="+mn-lt"/>
                  <a:ea typeface="+mn-ea"/>
                  <a:cs typeface="+mn-cs"/>
                </a:rPr>
                <a:t>9</a:t>
              </a:r>
              <a:r>
                <a:rPr lang="zh-CN" sz="1350" dirty="0">
                  <a:solidFill>
                    <a:srgbClr val="1F2937"/>
                  </a:solidFill>
                  <a:latin typeface="+mn-lt"/>
                  <a:ea typeface="+mn-ea"/>
                  <a:cs typeface="+mn-cs"/>
                </a:rPr>
                <a:t xml:space="preserve"> 降到 </a:t>
              </a:r>
              <a:r>
                <a:rPr lang="zh-CN" sz="1350" b="1" dirty="0">
                  <a:solidFill>
                    <a:srgbClr val="C2410C"/>
                  </a:solidFill>
                  <a:latin typeface="+mn-lt"/>
                  <a:ea typeface="+mn-ea"/>
                  <a:cs typeface="+mn-cs"/>
                </a:rPr>
                <a:t>3</a:t>
              </a:r>
            </a:p>
          </p:txBody>
        </p:sp>
      </p:grpSp>
      <p:grpSp>
        <p:nvGrpSpPr>
          <p:cNvPr id="38" name="takeaway"/>
          <p:cNvGrpSpPr/>
          <p:nvPr/>
        </p:nvGrpSpPr>
        <p:grpSpPr>
          <a:xfrm>
            <a:off x="533400" y="5881688"/>
            <a:ext cx="11125200" cy="481012"/>
            <a:chOff x="533400" y="5881688"/>
            <a:chExt cx="11125200" cy="481012"/>
          </a:xfrm>
        </p:grpSpPr>
        <p:sp>
          <p:nvSpPr>
            <p:cNvPr id="33" name="Rectangle 33"/>
            <p:cNvSpPr/>
            <p:nvPr/>
          </p:nvSpPr>
          <p:spPr>
            <a:xfrm>
              <a:off x="533400" y="5881688"/>
              <a:ext cx="11125200" cy="481012"/>
            </a:xfrm>
            <a:prstGeom prst="roundRect">
              <a:avLst>
                <a:gd name="adj" fmla="val 23762"/>
              </a:avLst>
            </a:prstGeom>
            <a:solidFill>
              <a:srgbClr val="334E68"/>
            </a:solidFill>
            <a:ln>
              <a:noFill/>
            </a:ln>
          </p:spPr>
        </p:sp>
        <p:grpSp>
          <p:nvGrpSpPr>
            <p:cNvPr id="36" name="Group 36"/>
            <p:cNvGrpSpPr/>
            <p:nvPr/>
          </p:nvGrpSpPr>
          <p:grpSpPr>
            <a:xfrm>
              <a:off x="738188" y="6022660"/>
              <a:ext cx="200023" cy="200023"/>
              <a:chOff x="738188" y="6022660"/>
              <a:chExt cx="200023" cy="200023"/>
            </a:xfrm>
          </p:grpSpPr>
          <p:sp>
            <p:nvSpPr>
              <p:cNvPr id="34" name="Freeform 34"/>
              <p:cNvSpPr/>
              <p:nvPr/>
            </p:nvSpPr>
            <p:spPr>
              <a:xfrm>
                <a:off x="738188" y="602266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35" name="Freeform 35"/>
              <p:cNvSpPr/>
              <p:nvPr/>
            </p:nvSpPr>
            <p:spPr>
              <a:xfrm>
                <a:off x="871538" y="608933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7" name="TextBox 37"/>
            <p:cNvSpPr txBox="1"/>
            <p:nvPr/>
          </p:nvSpPr>
          <p:spPr>
            <a:xfrm>
              <a:off x="1040892" y="6028373"/>
              <a:ext cx="1013543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交点复杂度对非结构化的反应比环形复杂度更灵敏。如果一个程序图的交点复杂度 K = 0，就表明这个程序已经完全结构化了。</a:t>
              </a:r>
            </a:p>
          </p:txBody>
        </p:sp>
      </p:grpSp>
      <p:grpSp>
        <p:nvGrpSpPr>
          <p:cNvPr id="41" name="footer"/>
          <p:cNvGrpSpPr/>
          <p:nvPr/>
        </p:nvGrpSpPr>
        <p:grpSpPr>
          <a:xfrm>
            <a:off x="528447" y="6581299"/>
            <a:ext cx="11135106" cy="190690"/>
            <a:chOff x="528447" y="6581299"/>
            <a:chExt cx="11135106" cy="190690"/>
          </a:xfrm>
        </p:grpSpPr>
        <p:sp>
          <p:nvSpPr>
            <p:cNvPr id="39" name="TextBox 39"/>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40" name="TextBox 4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57</a:t>
              </a:r>
            </a:p>
          </p:txBody>
        </p:sp>
      </p:grpSp>
    </p:spTree>
  </p:cSld>
  <p:clrMapOvr>
    <a:masterClrMapping/>
  </p:clrMapOvr>
  <p:transition xmlns:p14="http://schemas.microsoft.com/office/powerpoint/2010/main" p14:dur="400">
    <p:fade/>
  </p:transition>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1742313" cy="909257"/>
            <a:chOff x="520446" y="342900"/>
            <a:chExt cx="1742313" cy="909257"/>
          </a:xfrm>
        </p:grpSpPr>
        <p:sp>
          <p:nvSpPr>
            <p:cNvPr id="2" name="Rectangle 2"/>
            <p:cNvSpPr/>
            <p:nvPr/>
          </p:nvSpPr>
          <p:spPr>
            <a:xfrm>
              <a:off x="533400" y="342900"/>
              <a:ext cx="962978" cy="266700"/>
            </a:xfrm>
            <a:prstGeom prst="roundRect">
              <a:avLst>
                <a:gd name="adj" fmla="val 50000"/>
              </a:avLst>
            </a:prstGeom>
            <a:solidFill>
              <a:srgbClr val="E7EDF3"/>
            </a:solidFill>
            <a:ln>
              <a:noFill/>
            </a:ln>
          </p:spPr>
        </p:sp>
        <p:sp>
          <p:nvSpPr>
            <p:cNvPr id="3" name="TextBox 3"/>
            <p:cNvSpPr txBox="1"/>
            <p:nvPr/>
          </p:nvSpPr>
          <p:spPr>
            <a:xfrm>
              <a:off x="639866" y="407194"/>
              <a:ext cx="749094"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自测</a:t>
              </a:r>
            </a:p>
          </p:txBody>
        </p:sp>
        <p:sp>
          <p:nvSpPr>
            <p:cNvPr id="4" name="TextBox 4"/>
            <p:cNvSpPr txBox="1"/>
            <p:nvPr/>
          </p:nvSpPr>
          <p:spPr>
            <a:xfrm>
              <a:off x="520446" y="753428"/>
              <a:ext cx="174231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自测（一）</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8" name="lead"/>
          <p:cNvGrpSpPr/>
          <p:nvPr/>
        </p:nvGrpSpPr>
        <p:grpSpPr>
          <a:xfrm>
            <a:off x="526542" y="1545907"/>
            <a:ext cx="3284982" cy="264033"/>
            <a:chOff x="526542" y="1545907"/>
            <a:chExt cx="3284982" cy="264033"/>
          </a:xfrm>
        </p:grpSpPr>
        <p:sp>
          <p:nvSpPr>
            <p:cNvPr id="7" name="TextBox 7"/>
            <p:cNvSpPr txBox="1"/>
            <p:nvPr/>
          </p:nvSpPr>
          <p:spPr>
            <a:xfrm>
              <a:off x="526542" y="1545907"/>
              <a:ext cx="3284982"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先自己写答案，再看下面的绿色答案行。</a:t>
              </a:r>
            </a:p>
          </p:txBody>
        </p:sp>
      </p:grpSp>
      <p:grpSp>
        <p:nvGrpSpPr>
          <p:cNvPr id="14" name="c1-card-1"/>
          <p:cNvGrpSpPr/>
          <p:nvPr/>
        </p:nvGrpSpPr>
        <p:grpSpPr>
          <a:xfrm>
            <a:off x="533400" y="1928812"/>
            <a:ext cx="5410200" cy="2000250"/>
            <a:chOff x="533400" y="1928812"/>
            <a:chExt cx="5410200" cy="2000250"/>
          </a:xfrm>
        </p:grpSpPr>
        <p:sp>
          <p:nvSpPr>
            <p:cNvPr id="9" name="Rectangle 9"/>
            <p:cNvSpPr/>
            <p:nvPr/>
          </p:nvSpPr>
          <p:spPr>
            <a:xfrm>
              <a:off x="533400" y="1928812"/>
              <a:ext cx="5410200" cy="2000250"/>
            </a:xfrm>
            <a:prstGeom prst="roundRect">
              <a:avLst>
                <a:gd name="adj" fmla="val 6667"/>
              </a:avLst>
            </a:prstGeom>
            <a:solidFill>
              <a:srgbClr val="F4F6FB"/>
            </a:solidFill>
            <a:ln>
              <a:noFill/>
            </a:ln>
          </p:spPr>
        </p:sp>
        <p:sp>
          <p:nvSpPr>
            <p:cNvPr id="10" name="Rectangle 10"/>
            <p:cNvSpPr/>
            <p:nvPr/>
          </p:nvSpPr>
          <p:spPr>
            <a:xfrm>
              <a:off x="720090" y="2115502"/>
              <a:ext cx="379095" cy="238125"/>
            </a:xfrm>
            <a:prstGeom prst="roundRect">
              <a:avLst>
                <a:gd name="adj" fmla="val 50000"/>
              </a:avLst>
            </a:prstGeom>
            <a:solidFill>
              <a:srgbClr val="E7EDF3"/>
            </a:solidFill>
            <a:ln>
              <a:noFill/>
            </a:ln>
          </p:spPr>
        </p:sp>
        <p:sp>
          <p:nvSpPr>
            <p:cNvPr id="11" name="TextBox 11"/>
            <p:cNvSpPr txBox="1"/>
            <p:nvPr/>
          </p:nvSpPr>
          <p:spPr>
            <a:xfrm>
              <a:off x="809547" y="2148364"/>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Q1</a:t>
              </a:r>
            </a:p>
          </p:txBody>
        </p:sp>
        <p:sp>
          <p:nvSpPr>
            <p:cNvPr id="12" name="TextBox 12"/>
            <p:cNvSpPr txBox="1"/>
            <p:nvPr/>
          </p:nvSpPr>
          <p:spPr>
            <a:xfrm>
              <a:off x="713232" y="2459355"/>
              <a:ext cx="481431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经典的结构程序设计允许哪几种控制结构？扩展和修正又各加了</a:t>
              </a:r>
              <a:br/>
              <a:r>
                <a:rPr lang="zh-CN" sz="1350" b="1" dirty="0">
                  <a:solidFill>
                    <a:srgbClr val="1F2937"/>
                  </a:solidFill>
                  <a:latin typeface="+mn-lt"/>
                  <a:ea typeface="+mn-ea"/>
                  <a:cs typeface="+mn-cs"/>
                </a:rPr>
                <a:t>什么？</a:t>
              </a:r>
            </a:p>
          </p:txBody>
        </p:sp>
        <p:sp>
          <p:nvSpPr>
            <p:cNvPr id="13" name="TextBox 13"/>
            <p:cNvSpPr txBox="1"/>
            <p:nvPr/>
          </p:nvSpPr>
          <p:spPr>
            <a:xfrm>
              <a:off x="713232" y="3016568"/>
              <a:ext cx="4797171" cy="778383"/>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经典只允许顺序、IF-THEN-ELSE、DO-WHILE，且单入口单</a:t>
              </a:r>
              <a:br/>
              <a:r>
                <a:rPr lang="zh-CN" sz="1350" dirty="0">
                  <a:solidFill>
                    <a:srgbClr val="1F2937"/>
                  </a:solidFill>
                  <a:latin typeface="+mn-lt"/>
                  <a:ea typeface="+mn-ea"/>
                  <a:cs typeface="+mn-cs"/>
                </a:rPr>
                <a:t>出口；扩展再加 DO-CASE 和 DO-UNTIL；修正再加 LEAVE</a:t>
              </a:r>
              <a:br/>
              <a:r>
                <a:rPr lang="zh-CN" sz="1350" dirty="0">
                  <a:solidFill>
                    <a:srgbClr val="1F2937"/>
                  </a:solidFill>
                  <a:latin typeface="+mn-lt"/>
                  <a:ea typeface="+mn-ea"/>
                  <a:cs typeface="+mn-cs"/>
                </a:rPr>
                <a:t>（BREAK）。</a:t>
              </a:r>
            </a:p>
          </p:txBody>
        </p:sp>
      </p:grpSp>
      <p:grpSp>
        <p:nvGrpSpPr>
          <p:cNvPr id="20" name="c1-card-2"/>
          <p:cNvGrpSpPr/>
          <p:nvPr/>
        </p:nvGrpSpPr>
        <p:grpSpPr>
          <a:xfrm>
            <a:off x="533400" y="4098608"/>
            <a:ext cx="5410200" cy="1485900"/>
            <a:chOff x="533400" y="4098608"/>
            <a:chExt cx="5410200" cy="1485900"/>
          </a:xfrm>
        </p:grpSpPr>
        <p:sp>
          <p:nvSpPr>
            <p:cNvPr id="15" name="Rectangle 15"/>
            <p:cNvSpPr/>
            <p:nvPr/>
          </p:nvSpPr>
          <p:spPr>
            <a:xfrm>
              <a:off x="533400" y="4098608"/>
              <a:ext cx="5410200" cy="1485900"/>
            </a:xfrm>
            <a:prstGeom prst="roundRect">
              <a:avLst>
                <a:gd name="adj" fmla="val 8974"/>
              </a:avLst>
            </a:prstGeom>
            <a:solidFill>
              <a:srgbClr val="F4F6FB"/>
            </a:solidFill>
            <a:ln>
              <a:noFill/>
            </a:ln>
          </p:spPr>
        </p:sp>
        <p:sp>
          <p:nvSpPr>
            <p:cNvPr id="16" name="Rectangle 16"/>
            <p:cNvSpPr/>
            <p:nvPr/>
          </p:nvSpPr>
          <p:spPr>
            <a:xfrm>
              <a:off x="720090" y="4285298"/>
              <a:ext cx="379095" cy="238125"/>
            </a:xfrm>
            <a:prstGeom prst="roundRect">
              <a:avLst>
                <a:gd name="adj" fmla="val 50000"/>
              </a:avLst>
            </a:prstGeom>
            <a:solidFill>
              <a:srgbClr val="E7EDF3"/>
            </a:solidFill>
            <a:ln>
              <a:noFill/>
            </a:ln>
          </p:spPr>
        </p:sp>
        <p:sp>
          <p:nvSpPr>
            <p:cNvPr id="17" name="TextBox 17"/>
            <p:cNvSpPr txBox="1"/>
            <p:nvPr/>
          </p:nvSpPr>
          <p:spPr>
            <a:xfrm>
              <a:off x="809547" y="4318159"/>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Q3</a:t>
              </a:r>
            </a:p>
          </p:txBody>
        </p:sp>
        <p:sp>
          <p:nvSpPr>
            <p:cNvPr id="18" name="TextBox 18"/>
            <p:cNvSpPr txBox="1"/>
            <p:nvPr/>
          </p:nvSpPr>
          <p:spPr>
            <a:xfrm>
              <a:off x="713232" y="4630102"/>
              <a:ext cx="492061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盒图的「功能域」指什么？为什么盒图不可能任意转移控制？</a:t>
              </a:r>
            </a:p>
          </p:txBody>
        </p:sp>
        <p:sp>
          <p:nvSpPr>
            <p:cNvPr id="19" name="TextBox 19"/>
            <p:cNvSpPr txBox="1"/>
            <p:nvPr/>
          </p:nvSpPr>
          <p:spPr>
            <a:xfrm>
              <a:off x="713232" y="4930140"/>
              <a:ext cx="481431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功能域就是某个控制结构的作用域，在盒图上就是它占的那</a:t>
              </a:r>
              <a:br/>
              <a:r>
                <a:rPr lang="zh-CN" sz="1350" dirty="0">
                  <a:solidFill>
                    <a:srgbClr val="1F2937"/>
                  </a:solidFill>
                  <a:latin typeface="+mn-lt"/>
                  <a:ea typeface="+mn-ea"/>
                  <a:cs typeface="+mn-cs"/>
                </a:rPr>
                <a:t>个方框；盒图没有表示跳转的符号，控制只能按嵌套关系走。</a:t>
              </a:r>
            </a:p>
          </p:txBody>
        </p:sp>
      </p:grpSp>
      <p:grpSp>
        <p:nvGrpSpPr>
          <p:cNvPr id="26" name="c2-card-1"/>
          <p:cNvGrpSpPr/>
          <p:nvPr/>
        </p:nvGrpSpPr>
        <p:grpSpPr>
          <a:xfrm>
            <a:off x="6248400" y="1928812"/>
            <a:ext cx="5410200" cy="1485900"/>
            <a:chOff x="6248400" y="1928812"/>
            <a:chExt cx="5410200" cy="1485900"/>
          </a:xfrm>
        </p:grpSpPr>
        <p:sp>
          <p:nvSpPr>
            <p:cNvPr id="21" name="Rectangle 21"/>
            <p:cNvSpPr/>
            <p:nvPr/>
          </p:nvSpPr>
          <p:spPr>
            <a:xfrm>
              <a:off x="6248400" y="1928812"/>
              <a:ext cx="5410200" cy="1485900"/>
            </a:xfrm>
            <a:prstGeom prst="roundRect">
              <a:avLst>
                <a:gd name="adj" fmla="val 8974"/>
              </a:avLst>
            </a:prstGeom>
            <a:solidFill>
              <a:srgbClr val="F4F6FB"/>
            </a:solidFill>
            <a:ln>
              <a:noFill/>
            </a:ln>
          </p:spPr>
        </p:sp>
        <p:sp>
          <p:nvSpPr>
            <p:cNvPr id="22" name="Rectangle 22"/>
            <p:cNvSpPr/>
            <p:nvPr/>
          </p:nvSpPr>
          <p:spPr>
            <a:xfrm>
              <a:off x="6435090" y="2115502"/>
              <a:ext cx="379095" cy="238125"/>
            </a:xfrm>
            <a:prstGeom prst="roundRect">
              <a:avLst>
                <a:gd name="adj" fmla="val 50000"/>
              </a:avLst>
            </a:prstGeom>
            <a:solidFill>
              <a:srgbClr val="E7EDF3"/>
            </a:solidFill>
            <a:ln>
              <a:noFill/>
            </a:ln>
          </p:spPr>
        </p:sp>
        <p:sp>
          <p:nvSpPr>
            <p:cNvPr id="23" name="TextBox 23"/>
            <p:cNvSpPr txBox="1"/>
            <p:nvPr/>
          </p:nvSpPr>
          <p:spPr>
            <a:xfrm>
              <a:off x="6524547" y="2148364"/>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Q2</a:t>
              </a:r>
            </a:p>
          </p:txBody>
        </p:sp>
        <p:sp>
          <p:nvSpPr>
            <p:cNvPr id="24" name="TextBox 24"/>
            <p:cNvSpPr txBox="1"/>
            <p:nvPr/>
          </p:nvSpPr>
          <p:spPr>
            <a:xfrm>
              <a:off x="6428232" y="2459355"/>
              <a:ext cx="401193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判定表为什么不能作为一种通用的详细设计工具？</a:t>
              </a:r>
            </a:p>
          </p:txBody>
        </p:sp>
        <p:sp>
          <p:nvSpPr>
            <p:cNvPr id="25" name="TextBox 25"/>
            <p:cNvSpPr txBox="1"/>
            <p:nvPr/>
          </p:nvSpPr>
          <p:spPr>
            <a:xfrm>
              <a:off x="6428232" y="2759392"/>
              <a:ext cx="481431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判定表表示的是静态逻辑，只给出某种条件取值组合下可能</a:t>
              </a:r>
              <a:br/>
              <a:r>
                <a:rPr lang="zh-CN" sz="1350" dirty="0">
                  <a:solidFill>
                    <a:srgbClr val="1F2937"/>
                  </a:solidFill>
                  <a:latin typeface="+mn-lt"/>
                  <a:ea typeface="+mn-ea"/>
                  <a:cs typeface="+mn-cs"/>
                </a:rPr>
                <a:t>的结果，既不能表达加工的顺序，也不能表达循环结构。</a:t>
              </a:r>
            </a:p>
          </p:txBody>
        </p:sp>
      </p:grpSp>
      <p:grpSp>
        <p:nvGrpSpPr>
          <p:cNvPr id="32" name="c2-card-2"/>
          <p:cNvGrpSpPr/>
          <p:nvPr/>
        </p:nvGrpSpPr>
        <p:grpSpPr>
          <a:xfrm>
            <a:off x="6248400" y="3584258"/>
            <a:ext cx="5410200" cy="2000250"/>
            <a:chOff x="6248400" y="3584258"/>
            <a:chExt cx="5410200" cy="2000250"/>
          </a:xfrm>
        </p:grpSpPr>
        <p:sp>
          <p:nvSpPr>
            <p:cNvPr id="27" name="Rectangle 27"/>
            <p:cNvSpPr/>
            <p:nvPr/>
          </p:nvSpPr>
          <p:spPr>
            <a:xfrm>
              <a:off x="6248400" y="3584258"/>
              <a:ext cx="5410200" cy="2000250"/>
            </a:xfrm>
            <a:prstGeom prst="roundRect">
              <a:avLst>
                <a:gd name="adj" fmla="val 6667"/>
              </a:avLst>
            </a:prstGeom>
            <a:solidFill>
              <a:srgbClr val="F4F6FB"/>
            </a:solidFill>
            <a:ln>
              <a:noFill/>
            </a:ln>
          </p:spPr>
        </p:sp>
        <p:sp>
          <p:nvSpPr>
            <p:cNvPr id="28" name="Rectangle 28"/>
            <p:cNvSpPr/>
            <p:nvPr/>
          </p:nvSpPr>
          <p:spPr>
            <a:xfrm>
              <a:off x="6435090" y="3770948"/>
              <a:ext cx="379095" cy="238125"/>
            </a:xfrm>
            <a:prstGeom prst="roundRect">
              <a:avLst>
                <a:gd name="adj" fmla="val 50000"/>
              </a:avLst>
            </a:prstGeom>
            <a:solidFill>
              <a:srgbClr val="E7EDF3"/>
            </a:solidFill>
            <a:ln>
              <a:noFill/>
            </a:ln>
          </p:spPr>
        </p:sp>
        <p:sp>
          <p:nvSpPr>
            <p:cNvPr id="29" name="TextBox 29"/>
            <p:cNvSpPr txBox="1"/>
            <p:nvPr/>
          </p:nvSpPr>
          <p:spPr>
            <a:xfrm>
              <a:off x="6524547" y="3803809"/>
              <a:ext cx="200180" cy="190690"/>
            </a:xfrm>
            <a:prstGeom prst="rect">
              <a:avLst/>
            </a:prstGeom>
            <a:noFill/>
            <a:ln>
              <a:noFill/>
            </a:ln>
          </p:spPr>
          <p:txBody>
            <a:bodyPr wrap="none" lIns="0" tIns="0" rIns="0" bIns="0" anchor="t" anchorCtr="0">
              <a:spAutoFit/>
            </a:bodyPr>
            <a:lstStyle/>
            <a:p>
              <a:pPr algn="ctr"/>
              <a:r>
                <a:rPr lang="en-US" sz="980" b="1" dirty="0">
                  <a:solidFill>
                    <a:srgbClr val="334E68"/>
                  </a:solidFill>
                  <a:latin typeface="+mn-lt"/>
                  <a:ea typeface="+mn-ea"/>
                  <a:cs typeface="+mn-cs"/>
                </a:rPr>
                <a:t>Q4</a:t>
              </a:r>
            </a:p>
          </p:txBody>
        </p:sp>
        <p:sp>
          <p:nvSpPr>
            <p:cNvPr id="30" name="TextBox 30"/>
            <p:cNvSpPr txBox="1"/>
            <p:nvPr/>
          </p:nvSpPr>
          <p:spPr>
            <a:xfrm>
              <a:off x="6428232" y="4115752"/>
              <a:ext cx="328498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计算环形复杂度的三种方法分别是什么？</a:t>
              </a:r>
            </a:p>
          </p:txBody>
        </p:sp>
        <p:sp>
          <p:nvSpPr>
            <p:cNvPr id="31" name="TextBox 31"/>
            <p:cNvSpPr txBox="1"/>
            <p:nvPr/>
          </p:nvSpPr>
          <p:spPr>
            <a:xfrm>
              <a:off x="6428232" y="4415790"/>
              <a:ext cx="4797171"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0F7A68"/>
                  </a:solidFill>
                  <a:latin typeface="+mn-lt"/>
                  <a:ea typeface="+mn-ea"/>
                  <a:cs typeface="+mn-cs"/>
                </a:rPr>
                <a:t>答：</a:t>
              </a:r>
              <a:r>
                <a:rPr lang="zh-CN" sz="1350" dirty="0">
                  <a:solidFill>
                    <a:srgbClr val="1F2937"/>
                  </a:solidFill>
                  <a:latin typeface="+mn-lt"/>
                  <a:ea typeface="+mn-ea"/>
                  <a:cs typeface="+mn-cs"/>
                </a:rPr>
                <a:t>区域数（含图外的无界区域）；V(G)=E−N+2；V(G)=P+1，</a:t>
              </a:r>
              <a:br/>
              <a:r>
                <a:rPr lang="zh-CN" sz="1350" dirty="0">
                  <a:solidFill>
                    <a:srgbClr val="1F2937"/>
                  </a:solidFill>
                  <a:latin typeface="+mn-lt"/>
                  <a:ea typeface="+mn-ea"/>
                  <a:cs typeface="+mn-cs"/>
                </a:rPr>
                <a:t>P 是判定结点数，复合条件要拆开再数。</a:t>
              </a:r>
            </a:p>
          </p:txBody>
        </p:sp>
      </p:grpSp>
      <p:grpSp>
        <p:nvGrpSpPr>
          <p:cNvPr id="39" name="takeaway"/>
          <p:cNvGrpSpPr/>
          <p:nvPr/>
        </p:nvGrpSpPr>
        <p:grpSpPr>
          <a:xfrm>
            <a:off x="533400" y="5881688"/>
            <a:ext cx="11125200" cy="481012"/>
            <a:chOff x="533400" y="5881688"/>
            <a:chExt cx="11125200" cy="481012"/>
          </a:xfrm>
        </p:grpSpPr>
        <p:sp>
          <p:nvSpPr>
            <p:cNvPr id="33" name="Rectangle 33"/>
            <p:cNvSpPr/>
            <p:nvPr/>
          </p:nvSpPr>
          <p:spPr>
            <a:xfrm>
              <a:off x="533400" y="5881688"/>
              <a:ext cx="11125200" cy="481012"/>
            </a:xfrm>
            <a:prstGeom prst="roundRect">
              <a:avLst>
                <a:gd name="adj" fmla="val 23762"/>
              </a:avLst>
            </a:prstGeom>
            <a:solidFill>
              <a:srgbClr val="FDEEE7"/>
            </a:solidFill>
            <a:ln>
              <a:noFill/>
            </a:ln>
          </p:spPr>
        </p:sp>
        <p:grpSp>
          <p:nvGrpSpPr>
            <p:cNvPr id="37" name="Group 37"/>
            <p:cNvGrpSpPr/>
            <p:nvPr/>
          </p:nvGrpSpPr>
          <p:grpSpPr>
            <a:xfrm>
              <a:off x="738188" y="6022658"/>
              <a:ext cx="200026" cy="200025"/>
              <a:chOff x="738188" y="6022658"/>
              <a:chExt cx="200026" cy="200025"/>
            </a:xfrm>
          </p:grpSpPr>
          <p:sp>
            <p:nvSpPr>
              <p:cNvPr id="34" name="Freeform 34"/>
              <p:cNvSpPr/>
              <p:nvPr/>
            </p:nvSpPr>
            <p:spPr>
              <a:xfrm>
                <a:off x="738188" y="6022658"/>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35" name="Freeform 35"/>
              <p:cNvSpPr/>
              <p:nvPr/>
            </p:nvSpPr>
            <p:spPr>
              <a:xfrm>
                <a:off x="777926" y="6067108"/>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6" name="Freeform 36"/>
              <p:cNvSpPr/>
              <p:nvPr/>
            </p:nvSpPr>
            <p:spPr>
              <a:xfrm>
                <a:off x="812642" y="6178233"/>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8" name="TextBox 38"/>
            <p:cNvSpPr txBox="1"/>
            <p:nvPr/>
          </p:nvSpPr>
          <p:spPr>
            <a:xfrm>
              <a:off x="1040892" y="6028373"/>
              <a:ext cx="5774779" cy="264033"/>
            </a:xfrm>
            <a:prstGeom prst="rect">
              <a:avLst/>
            </a:prstGeom>
            <a:noFill/>
            <a:ln>
              <a:noFill/>
            </a:ln>
          </p:spPr>
          <p:txBody>
            <a:bodyPr wrap="none" lIns="0" tIns="0" rIns="0" bIns="0" anchor="t" anchorCtr="0">
              <a:spAutoFit/>
            </a:bodyPr>
            <a:lstStyle/>
            <a:p>
              <a:pPr algn="l"/>
              <a:r>
                <a:rPr lang="zh-CN" sz="1350" dirty="0">
                  <a:solidFill>
                    <a:srgbClr val="C2410C"/>
                  </a:solidFill>
                  <a:latin typeface="+mn-lt"/>
                  <a:ea typeface="+mn-ea"/>
                  <a:cs typeface="+mn-cs"/>
                </a:rPr>
                <a:t>第 2、3 题是选择判断题的高频考点，流程图与盒图的优缺点正好互补。</a:t>
              </a:r>
            </a:p>
          </p:txBody>
        </p:sp>
      </p:grpSp>
      <p:grpSp>
        <p:nvGrpSpPr>
          <p:cNvPr id="42" name="footer"/>
          <p:cNvGrpSpPr/>
          <p:nvPr/>
        </p:nvGrpSpPr>
        <p:grpSpPr>
          <a:xfrm>
            <a:off x="528447" y="6581299"/>
            <a:ext cx="11135106" cy="190690"/>
            <a:chOff x="528447" y="6581299"/>
            <a:chExt cx="11135106" cy="190690"/>
          </a:xfrm>
        </p:grpSpPr>
        <p:sp>
          <p:nvSpPr>
            <p:cNvPr id="40" name="TextBox 40"/>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41" name="TextBox 4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58</a:t>
              </a:r>
            </a:p>
          </p:txBody>
        </p:sp>
      </p:grpSp>
    </p:spTree>
  </p:cSld>
  <p:clrMapOvr>
    <a:masterClrMapping/>
  </p:clrMapOvr>
  <p:transition xmlns:p14="http://schemas.microsoft.com/office/powerpoint/2010/main" p14:dur="400">
    <p:fade/>
  </p:transition>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1742313" cy="909257"/>
            <a:chOff x="520446" y="342900"/>
            <a:chExt cx="1742313" cy="909257"/>
          </a:xfrm>
        </p:grpSpPr>
        <p:sp>
          <p:nvSpPr>
            <p:cNvPr id="2" name="Rectangle 2"/>
            <p:cNvSpPr/>
            <p:nvPr/>
          </p:nvSpPr>
          <p:spPr>
            <a:xfrm>
              <a:off x="533400" y="342900"/>
              <a:ext cx="962978" cy="266700"/>
            </a:xfrm>
            <a:prstGeom prst="roundRect">
              <a:avLst>
                <a:gd name="adj" fmla="val 50000"/>
              </a:avLst>
            </a:prstGeom>
            <a:solidFill>
              <a:srgbClr val="E7EDF3"/>
            </a:solidFill>
            <a:ln>
              <a:noFill/>
            </a:ln>
          </p:spPr>
        </p:sp>
        <p:sp>
          <p:nvSpPr>
            <p:cNvPr id="3" name="TextBox 3"/>
            <p:cNvSpPr txBox="1"/>
            <p:nvPr/>
          </p:nvSpPr>
          <p:spPr>
            <a:xfrm>
              <a:off x="639866" y="407194"/>
              <a:ext cx="749094"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自测</a:t>
              </a:r>
            </a:p>
          </p:txBody>
        </p:sp>
        <p:sp>
          <p:nvSpPr>
            <p:cNvPr id="4" name="TextBox 4"/>
            <p:cNvSpPr txBox="1"/>
            <p:nvPr/>
          </p:nvSpPr>
          <p:spPr>
            <a:xfrm>
              <a:off x="520446" y="753428"/>
              <a:ext cx="174231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自测（二）</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2" name="c1-card-1"/>
          <p:cNvGrpSpPr/>
          <p:nvPr/>
        </p:nvGrpSpPr>
        <p:grpSpPr>
          <a:xfrm>
            <a:off x="533400" y="1524000"/>
            <a:ext cx="5410200" cy="1937385"/>
            <a:chOff x="533400" y="1524000"/>
            <a:chExt cx="5410200" cy="1937385"/>
          </a:xfrm>
        </p:grpSpPr>
        <p:sp>
          <p:nvSpPr>
            <p:cNvPr id="7" name="Rectangle 7"/>
            <p:cNvSpPr/>
            <p:nvPr/>
          </p:nvSpPr>
          <p:spPr>
            <a:xfrm>
              <a:off x="533400" y="1524000"/>
              <a:ext cx="5410200" cy="1937385"/>
            </a:xfrm>
            <a:prstGeom prst="roundRect">
              <a:avLst>
                <a:gd name="adj" fmla="val 6883"/>
              </a:avLst>
            </a:prstGeom>
            <a:solidFill>
              <a:srgbClr val="F4F6FB"/>
            </a:solidFill>
            <a:ln>
              <a:noFill/>
            </a:ln>
          </p:spPr>
        </p:sp>
        <p:sp>
          <p:nvSpPr>
            <p:cNvPr id="8" name="Rectangle 8"/>
            <p:cNvSpPr/>
            <p:nvPr/>
          </p:nvSpPr>
          <p:spPr>
            <a:xfrm>
              <a:off x="742950" y="1733550"/>
              <a:ext cx="403860" cy="257175"/>
            </a:xfrm>
            <a:prstGeom prst="roundRect">
              <a:avLst>
                <a:gd name="adj" fmla="val 50000"/>
              </a:avLst>
            </a:prstGeom>
            <a:solidFill>
              <a:srgbClr val="E7EDF3"/>
            </a:solidFill>
            <a:ln>
              <a:noFill/>
            </a:ln>
          </p:spPr>
        </p:sp>
        <p:sp>
          <p:nvSpPr>
            <p:cNvPr id="9" name="TextBox 9"/>
            <p:cNvSpPr txBox="1"/>
            <p:nvPr/>
          </p:nvSpPr>
          <p:spPr>
            <a:xfrm>
              <a:off x="830437" y="1769269"/>
              <a:ext cx="228887" cy="220028"/>
            </a:xfrm>
            <a:prstGeom prst="rect">
              <a:avLst/>
            </a:prstGeom>
            <a:noFill/>
            <a:ln>
              <a:noFill/>
            </a:ln>
          </p:spPr>
          <p:txBody>
            <a:bodyPr wrap="none" lIns="0" tIns="0" rIns="0" bIns="0" anchor="t" anchorCtr="0">
              <a:spAutoFit/>
            </a:bodyPr>
            <a:lstStyle/>
            <a:p>
              <a:pPr algn="ctr"/>
              <a:r>
                <a:rPr lang="en-US" sz="1120" b="1" dirty="0">
                  <a:solidFill>
                    <a:srgbClr val="334E68"/>
                  </a:solidFill>
                  <a:latin typeface="+mn-lt"/>
                  <a:ea typeface="+mn-ea"/>
                  <a:cs typeface="+mn-cs"/>
                </a:rPr>
                <a:t>Q1</a:t>
              </a:r>
            </a:p>
          </p:txBody>
        </p:sp>
        <p:sp>
          <p:nvSpPr>
            <p:cNvPr id="10" name="TextBox 10"/>
            <p:cNvSpPr txBox="1"/>
            <p:nvPr/>
          </p:nvSpPr>
          <p:spPr>
            <a:xfrm>
              <a:off x="735330" y="2110740"/>
              <a:ext cx="4780598" cy="579120"/>
            </a:xfrm>
            <a:prstGeom prst="rect">
              <a:avLst/>
            </a:prstGeom>
            <a:noFill/>
            <a:ln>
              <a:noFill/>
            </a:ln>
          </p:spPr>
          <p:txBody>
            <a:bodyPr wrap="none" lIns="0" tIns="0" rIns="0" bIns="0" anchor="t" anchorCtr="0">
              <a:spAutoFit/>
            </a:bodyPr>
            <a:lstStyle/>
            <a:p>
              <a:pPr algn="l">
                <a:lnSpc>
                  <a:spcPts val="2250"/>
                </a:lnSpc>
              </a:pPr>
              <a:r>
                <a:rPr lang="zh-CN" sz="1500" b="1" dirty="0">
                  <a:solidFill>
                    <a:srgbClr val="1F2937"/>
                  </a:solidFill>
                  <a:latin typeface="+mn-lt"/>
                  <a:ea typeface="+mn-ea"/>
                  <a:cs typeface="+mn-cs"/>
                </a:rPr>
                <a:t>IF a AND b THEN x ELSE y ENDIF 映射成流图后有几个判</a:t>
              </a:r>
              <a:br/>
              <a:r>
                <a:rPr lang="zh-CN" sz="1500" b="1" dirty="0">
                  <a:solidFill>
                    <a:srgbClr val="1F2937"/>
                  </a:solidFill>
                  <a:latin typeface="+mn-lt"/>
                  <a:ea typeface="+mn-ea"/>
                  <a:cs typeface="+mn-cs"/>
                </a:rPr>
                <a:t>定结点？V(G) 是多少？</a:t>
              </a:r>
            </a:p>
          </p:txBody>
        </p:sp>
        <p:sp>
          <p:nvSpPr>
            <p:cNvPr id="11" name="TextBox 11"/>
            <p:cNvSpPr txBox="1"/>
            <p:nvPr/>
          </p:nvSpPr>
          <p:spPr>
            <a:xfrm>
              <a:off x="735330" y="2731770"/>
              <a:ext cx="4596765" cy="579120"/>
            </a:xfrm>
            <a:prstGeom prst="rect">
              <a:avLst/>
            </a:prstGeom>
            <a:noFill/>
            <a:ln>
              <a:noFill/>
            </a:ln>
          </p:spPr>
          <p:txBody>
            <a:bodyPr wrap="none" lIns="0" tIns="0" rIns="0" bIns="0" anchor="t" anchorCtr="0">
              <a:spAutoFit/>
            </a:bodyPr>
            <a:lstStyle/>
            <a:p>
              <a:pPr algn="l">
                <a:lnSpc>
                  <a:spcPts val="2250"/>
                </a:lnSpc>
              </a:pPr>
              <a:r>
                <a:rPr lang="zh-CN" sz="1500" b="1" dirty="0">
                  <a:solidFill>
                    <a:srgbClr val="0F7A68"/>
                  </a:solidFill>
                  <a:latin typeface="+mn-lt"/>
                  <a:ea typeface="+mn-ea"/>
                  <a:cs typeface="+mn-cs"/>
                </a:rPr>
                <a:t>答：</a:t>
              </a:r>
              <a:r>
                <a:rPr lang="zh-CN" sz="1500" dirty="0">
                  <a:solidFill>
                    <a:srgbClr val="1F2937"/>
                  </a:solidFill>
                  <a:latin typeface="+mn-lt"/>
                  <a:ea typeface="+mn-ea"/>
                  <a:cs typeface="+mn-cs"/>
                </a:rPr>
                <a:t>复合条件要拆开，a、b 各是一个判定结点；N=5、</a:t>
              </a:r>
              <a:br/>
              <a:r>
                <a:rPr lang="zh-CN" sz="1500" dirty="0">
                  <a:solidFill>
                    <a:srgbClr val="1F2937"/>
                  </a:solidFill>
                  <a:latin typeface="+mn-lt"/>
                  <a:ea typeface="+mn-ea"/>
                  <a:cs typeface="+mn-cs"/>
                </a:rPr>
                <a:t>E=6，V(G)=6−5+2=3，也等于 P+1。</a:t>
              </a:r>
            </a:p>
          </p:txBody>
        </p:sp>
      </p:grpSp>
      <p:grpSp>
        <p:nvGrpSpPr>
          <p:cNvPr id="18" name="c1-card-2"/>
          <p:cNvGrpSpPr/>
          <p:nvPr/>
        </p:nvGrpSpPr>
        <p:grpSpPr>
          <a:xfrm>
            <a:off x="533400" y="3651885"/>
            <a:ext cx="5410200" cy="1651635"/>
            <a:chOff x="533400" y="3651885"/>
            <a:chExt cx="5410200" cy="1651635"/>
          </a:xfrm>
        </p:grpSpPr>
        <p:sp>
          <p:nvSpPr>
            <p:cNvPr id="13" name="Rectangle 13"/>
            <p:cNvSpPr/>
            <p:nvPr/>
          </p:nvSpPr>
          <p:spPr>
            <a:xfrm>
              <a:off x="533400" y="3651885"/>
              <a:ext cx="5410200" cy="1651635"/>
            </a:xfrm>
            <a:prstGeom prst="roundRect">
              <a:avLst>
                <a:gd name="adj" fmla="val 8074"/>
              </a:avLst>
            </a:prstGeom>
            <a:solidFill>
              <a:srgbClr val="F4F6FB"/>
            </a:solidFill>
            <a:ln>
              <a:noFill/>
            </a:ln>
          </p:spPr>
        </p:sp>
        <p:sp>
          <p:nvSpPr>
            <p:cNvPr id="14" name="Rectangle 14"/>
            <p:cNvSpPr/>
            <p:nvPr/>
          </p:nvSpPr>
          <p:spPr>
            <a:xfrm>
              <a:off x="742950" y="3861435"/>
              <a:ext cx="403860" cy="257175"/>
            </a:xfrm>
            <a:prstGeom prst="roundRect">
              <a:avLst>
                <a:gd name="adj" fmla="val 50000"/>
              </a:avLst>
            </a:prstGeom>
            <a:solidFill>
              <a:srgbClr val="E7EDF3"/>
            </a:solidFill>
            <a:ln>
              <a:noFill/>
            </a:ln>
          </p:spPr>
        </p:sp>
        <p:sp>
          <p:nvSpPr>
            <p:cNvPr id="15" name="TextBox 15"/>
            <p:cNvSpPr txBox="1"/>
            <p:nvPr/>
          </p:nvSpPr>
          <p:spPr>
            <a:xfrm>
              <a:off x="830437" y="3897154"/>
              <a:ext cx="228887" cy="220028"/>
            </a:xfrm>
            <a:prstGeom prst="rect">
              <a:avLst/>
            </a:prstGeom>
            <a:noFill/>
            <a:ln>
              <a:noFill/>
            </a:ln>
          </p:spPr>
          <p:txBody>
            <a:bodyPr wrap="none" lIns="0" tIns="0" rIns="0" bIns="0" anchor="t" anchorCtr="0">
              <a:spAutoFit/>
            </a:bodyPr>
            <a:lstStyle/>
            <a:p>
              <a:pPr algn="ctr"/>
              <a:r>
                <a:rPr lang="en-US" sz="1120" b="1" dirty="0">
                  <a:solidFill>
                    <a:srgbClr val="334E68"/>
                  </a:solidFill>
                  <a:latin typeface="+mn-lt"/>
                  <a:ea typeface="+mn-ea"/>
                  <a:cs typeface="+mn-cs"/>
                </a:rPr>
                <a:t>Q3</a:t>
              </a:r>
            </a:p>
          </p:txBody>
        </p:sp>
        <p:sp>
          <p:nvSpPr>
            <p:cNvPr id="16" name="TextBox 16"/>
            <p:cNvSpPr txBox="1"/>
            <p:nvPr/>
          </p:nvSpPr>
          <p:spPr>
            <a:xfrm>
              <a:off x="735330" y="4238625"/>
              <a:ext cx="2963466"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Jackson 方法的第 2 步做什么？</a:t>
              </a:r>
            </a:p>
          </p:txBody>
        </p:sp>
        <p:sp>
          <p:nvSpPr>
            <p:cNvPr id="17" name="TextBox 17"/>
            <p:cNvSpPr txBox="1"/>
            <p:nvPr/>
          </p:nvSpPr>
          <p:spPr>
            <a:xfrm>
              <a:off x="735330" y="4573905"/>
              <a:ext cx="4777740" cy="579120"/>
            </a:xfrm>
            <a:prstGeom prst="rect">
              <a:avLst/>
            </a:prstGeom>
            <a:noFill/>
            <a:ln>
              <a:noFill/>
            </a:ln>
          </p:spPr>
          <p:txBody>
            <a:bodyPr wrap="none" lIns="0" tIns="0" rIns="0" bIns="0" anchor="t" anchorCtr="0">
              <a:spAutoFit/>
            </a:bodyPr>
            <a:lstStyle/>
            <a:p>
              <a:pPr algn="l">
                <a:lnSpc>
                  <a:spcPts val="2250"/>
                </a:lnSpc>
              </a:pPr>
              <a:r>
                <a:rPr lang="zh-CN" sz="1500" b="1" dirty="0">
                  <a:solidFill>
                    <a:srgbClr val="0F7A68"/>
                  </a:solidFill>
                  <a:latin typeface="+mn-lt"/>
                  <a:ea typeface="+mn-ea"/>
                  <a:cs typeface="+mn-cs"/>
                </a:rPr>
                <a:t>答：</a:t>
              </a:r>
              <a:r>
                <a:rPr lang="zh-CN" sz="1500" dirty="0">
                  <a:solidFill>
                    <a:srgbClr val="1F2937"/>
                  </a:solidFill>
                  <a:latin typeface="+mn-lt"/>
                  <a:ea typeface="+mn-ea"/>
                  <a:cs typeface="+mn-cs"/>
                </a:rPr>
                <a:t>找出输入与输出数据结构中有对应关系的数据单元；</a:t>
              </a:r>
              <a:br/>
              <a:r>
                <a:rPr lang="zh-CN" sz="1500" dirty="0">
                  <a:solidFill>
                    <a:srgbClr val="1F2937"/>
                  </a:solidFill>
                  <a:latin typeface="+mn-lt"/>
                  <a:ea typeface="+mn-ea"/>
                  <a:cs typeface="+mn-cs"/>
                </a:rPr>
                <a:t>同一次循环里出现、重复次数相同的两个单元才算对应。</a:t>
              </a:r>
            </a:p>
          </p:txBody>
        </p:sp>
      </p:grpSp>
      <p:grpSp>
        <p:nvGrpSpPr>
          <p:cNvPr id="24" name="c2-card-1"/>
          <p:cNvGrpSpPr/>
          <p:nvPr/>
        </p:nvGrpSpPr>
        <p:grpSpPr>
          <a:xfrm>
            <a:off x="6248400" y="1524000"/>
            <a:ext cx="5410200" cy="1651635"/>
            <a:chOff x="6248400" y="1524000"/>
            <a:chExt cx="5410200" cy="1651635"/>
          </a:xfrm>
        </p:grpSpPr>
        <p:sp>
          <p:nvSpPr>
            <p:cNvPr id="19" name="Rectangle 19"/>
            <p:cNvSpPr/>
            <p:nvPr/>
          </p:nvSpPr>
          <p:spPr>
            <a:xfrm>
              <a:off x="6248400" y="1524000"/>
              <a:ext cx="5410200" cy="1651635"/>
            </a:xfrm>
            <a:prstGeom prst="roundRect">
              <a:avLst>
                <a:gd name="adj" fmla="val 8074"/>
              </a:avLst>
            </a:prstGeom>
            <a:solidFill>
              <a:srgbClr val="F4F6FB"/>
            </a:solidFill>
            <a:ln>
              <a:noFill/>
            </a:ln>
          </p:spPr>
        </p:sp>
        <p:sp>
          <p:nvSpPr>
            <p:cNvPr id="20" name="Rectangle 20"/>
            <p:cNvSpPr/>
            <p:nvPr/>
          </p:nvSpPr>
          <p:spPr>
            <a:xfrm>
              <a:off x="6457950" y="1733550"/>
              <a:ext cx="403860" cy="257175"/>
            </a:xfrm>
            <a:prstGeom prst="roundRect">
              <a:avLst>
                <a:gd name="adj" fmla="val 50000"/>
              </a:avLst>
            </a:prstGeom>
            <a:solidFill>
              <a:srgbClr val="E7EDF3"/>
            </a:solidFill>
            <a:ln>
              <a:noFill/>
            </a:ln>
          </p:spPr>
        </p:sp>
        <p:sp>
          <p:nvSpPr>
            <p:cNvPr id="21" name="TextBox 21"/>
            <p:cNvSpPr txBox="1"/>
            <p:nvPr/>
          </p:nvSpPr>
          <p:spPr>
            <a:xfrm>
              <a:off x="6545437" y="1769269"/>
              <a:ext cx="228887" cy="220028"/>
            </a:xfrm>
            <a:prstGeom prst="rect">
              <a:avLst/>
            </a:prstGeom>
            <a:noFill/>
            <a:ln>
              <a:noFill/>
            </a:ln>
          </p:spPr>
          <p:txBody>
            <a:bodyPr wrap="none" lIns="0" tIns="0" rIns="0" bIns="0" anchor="t" anchorCtr="0">
              <a:spAutoFit/>
            </a:bodyPr>
            <a:lstStyle/>
            <a:p>
              <a:pPr algn="ctr"/>
              <a:r>
                <a:rPr lang="en-US" sz="1120" b="1" dirty="0">
                  <a:solidFill>
                    <a:srgbClr val="334E68"/>
                  </a:solidFill>
                  <a:latin typeface="+mn-lt"/>
                  <a:ea typeface="+mn-ea"/>
                  <a:cs typeface="+mn-cs"/>
                </a:rPr>
                <a:t>Q2</a:t>
              </a:r>
            </a:p>
          </p:txBody>
        </p:sp>
        <p:sp>
          <p:nvSpPr>
            <p:cNvPr id="22" name="TextBox 22"/>
            <p:cNvSpPr txBox="1"/>
            <p:nvPr/>
          </p:nvSpPr>
          <p:spPr>
            <a:xfrm>
              <a:off x="6450330" y="2110740"/>
              <a:ext cx="5051374"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外国头等舱的残疾乘客托运 35kg 行李，超重费是多少？</a:t>
              </a:r>
            </a:p>
          </p:txBody>
        </p:sp>
        <p:sp>
          <p:nvSpPr>
            <p:cNvPr id="23" name="TextBox 23"/>
            <p:cNvSpPr txBox="1"/>
            <p:nvPr/>
          </p:nvSpPr>
          <p:spPr>
            <a:xfrm>
              <a:off x="6450330" y="2446020"/>
              <a:ext cx="4368165" cy="579120"/>
            </a:xfrm>
            <a:prstGeom prst="rect">
              <a:avLst/>
            </a:prstGeom>
            <a:noFill/>
            <a:ln>
              <a:noFill/>
            </a:ln>
          </p:spPr>
          <p:txBody>
            <a:bodyPr wrap="none" lIns="0" tIns="0" rIns="0" bIns="0" anchor="t" anchorCtr="0">
              <a:spAutoFit/>
            </a:bodyPr>
            <a:lstStyle/>
            <a:p>
              <a:pPr algn="l">
                <a:lnSpc>
                  <a:spcPts val="2250"/>
                </a:lnSpc>
              </a:pPr>
              <a:r>
                <a:rPr lang="zh-CN" sz="1500" b="1" dirty="0">
                  <a:solidFill>
                    <a:srgbClr val="0F7A68"/>
                  </a:solidFill>
                  <a:latin typeface="+mn-lt"/>
                  <a:ea typeface="+mn-ea"/>
                  <a:cs typeface="+mn-cs"/>
                </a:rPr>
                <a:t>答：</a:t>
              </a:r>
              <a:r>
                <a:rPr lang="zh-CN" sz="1500" dirty="0">
                  <a:solidFill>
                    <a:srgbClr val="1F2937"/>
                  </a:solidFill>
                  <a:latin typeface="+mn-lt"/>
                  <a:ea typeface="+mn-ea"/>
                  <a:cs typeface="+mn-cs"/>
                </a:rPr>
                <a:t>基准 4 元，外国 ×2 得 8 元，残疾 ÷2 得 4 元；</a:t>
              </a:r>
              <a:br/>
              <a:r>
                <a:rPr lang="zh-CN" sz="1500" dirty="0">
                  <a:solidFill>
                    <a:srgbClr val="1F2937"/>
                  </a:solidFill>
                  <a:latin typeface="+mn-lt"/>
                  <a:ea typeface="+mn-ea"/>
                  <a:cs typeface="+mn-cs"/>
                </a:rPr>
                <a:t>(35−30)×4 = 20 元。</a:t>
              </a:r>
            </a:p>
          </p:txBody>
        </p:sp>
      </p:grpSp>
      <p:grpSp>
        <p:nvGrpSpPr>
          <p:cNvPr id="30" name="c2-card-2"/>
          <p:cNvGrpSpPr/>
          <p:nvPr/>
        </p:nvGrpSpPr>
        <p:grpSpPr>
          <a:xfrm>
            <a:off x="6248400" y="3366135"/>
            <a:ext cx="5410200" cy="1937385"/>
            <a:chOff x="6248400" y="3366135"/>
            <a:chExt cx="5410200" cy="1937385"/>
          </a:xfrm>
        </p:grpSpPr>
        <p:sp>
          <p:nvSpPr>
            <p:cNvPr id="25" name="Rectangle 25"/>
            <p:cNvSpPr/>
            <p:nvPr/>
          </p:nvSpPr>
          <p:spPr>
            <a:xfrm>
              <a:off x="6248400" y="3366135"/>
              <a:ext cx="5410200" cy="1937385"/>
            </a:xfrm>
            <a:prstGeom prst="roundRect">
              <a:avLst>
                <a:gd name="adj" fmla="val 6883"/>
              </a:avLst>
            </a:prstGeom>
            <a:solidFill>
              <a:srgbClr val="F4F6FB"/>
            </a:solidFill>
            <a:ln>
              <a:noFill/>
            </a:ln>
          </p:spPr>
        </p:sp>
        <p:sp>
          <p:nvSpPr>
            <p:cNvPr id="26" name="Rectangle 26"/>
            <p:cNvSpPr/>
            <p:nvPr/>
          </p:nvSpPr>
          <p:spPr>
            <a:xfrm>
              <a:off x="6457950" y="3575685"/>
              <a:ext cx="403860" cy="257175"/>
            </a:xfrm>
            <a:prstGeom prst="roundRect">
              <a:avLst>
                <a:gd name="adj" fmla="val 50000"/>
              </a:avLst>
            </a:prstGeom>
            <a:solidFill>
              <a:srgbClr val="E7EDF3"/>
            </a:solidFill>
            <a:ln>
              <a:noFill/>
            </a:ln>
          </p:spPr>
        </p:sp>
        <p:sp>
          <p:nvSpPr>
            <p:cNvPr id="27" name="TextBox 27"/>
            <p:cNvSpPr txBox="1"/>
            <p:nvPr/>
          </p:nvSpPr>
          <p:spPr>
            <a:xfrm>
              <a:off x="6545437" y="3611404"/>
              <a:ext cx="228887" cy="220028"/>
            </a:xfrm>
            <a:prstGeom prst="rect">
              <a:avLst/>
            </a:prstGeom>
            <a:noFill/>
            <a:ln>
              <a:noFill/>
            </a:ln>
          </p:spPr>
          <p:txBody>
            <a:bodyPr wrap="none" lIns="0" tIns="0" rIns="0" bIns="0" anchor="t" anchorCtr="0">
              <a:spAutoFit/>
            </a:bodyPr>
            <a:lstStyle/>
            <a:p>
              <a:pPr algn="ctr"/>
              <a:r>
                <a:rPr lang="en-US" sz="1120" b="1" dirty="0">
                  <a:solidFill>
                    <a:srgbClr val="334E68"/>
                  </a:solidFill>
                  <a:latin typeface="+mn-lt"/>
                  <a:ea typeface="+mn-ea"/>
                  <a:cs typeface="+mn-cs"/>
                </a:rPr>
                <a:t>Q4</a:t>
              </a:r>
            </a:p>
          </p:txBody>
        </p:sp>
        <p:sp>
          <p:nvSpPr>
            <p:cNvPr id="28" name="TextBox 28"/>
            <p:cNvSpPr txBox="1"/>
            <p:nvPr/>
          </p:nvSpPr>
          <p:spPr>
            <a:xfrm>
              <a:off x="6450330" y="3952875"/>
              <a:ext cx="4951105"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已知 n₁=10、n₂=7、N₁=28、N₂=22，求 H、N 和 V。</a:t>
              </a:r>
            </a:p>
          </p:txBody>
        </p:sp>
        <p:sp>
          <p:nvSpPr>
            <p:cNvPr id="29" name="TextBox 29"/>
            <p:cNvSpPr txBox="1"/>
            <p:nvPr/>
          </p:nvSpPr>
          <p:spPr>
            <a:xfrm>
              <a:off x="6450330" y="4288155"/>
              <a:ext cx="4578668" cy="293370"/>
            </a:xfrm>
            <a:prstGeom prst="rect">
              <a:avLst/>
            </a:prstGeom>
            <a:noFill/>
            <a:ln>
              <a:noFill/>
            </a:ln>
          </p:spPr>
          <p:txBody>
            <a:bodyPr wrap="none" lIns="0" tIns="0" rIns="0" bIns="0" anchor="t" anchorCtr="0">
              <a:spAutoFit/>
            </a:bodyPr>
            <a:lstStyle/>
            <a:p>
              <a:pPr algn="l"/>
              <a:r>
                <a:rPr lang="zh-CN" sz="1500" b="1" dirty="0">
                  <a:solidFill>
                    <a:srgbClr val="0F7A68"/>
                  </a:solidFill>
                  <a:latin typeface="+mn-lt"/>
                  <a:ea typeface="+mn-ea"/>
                  <a:cs typeface="+mn-cs"/>
                </a:rPr>
                <a:t>答：</a:t>
              </a:r>
              <a:r>
                <a:rPr lang="zh-CN" sz="1500" dirty="0">
                  <a:solidFill>
                    <a:srgbClr val="1F2937"/>
                  </a:solidFill>
                  <a:latin typeface="+mn-lt"/>
                  <a:ea typeface="+mn-ea"/>
                  <a:cs typeface="+mn-cs"/>
                </a:rPr>
                <a:t>H ≈ 52.87；N = 50；V = 50 × log₂17 ≈ 204。</a:t>
              </a:r>
            </a:p>
          </p:txBody>
        </p:sp>
      </p:grpSp>
      <p:grpSp>
        <p:nvGrpSpPr>
          <p:cNvPr id="36" name="takeaway"/>
          <p:cNvGrpSpPr/>
          <p:nvPr/>
        </p:nvGrpSpPr>
        <p:grpSpPr>
          <a:xfrm>
            <a:off x="533400" y="5829300"/>
            <a:ext cx="11125200" cy="533400"/>
            <a:chOff x="533400" y="5829300"/>
            <a:chExt cx="11125200" cy="533400"/>
          </a:xfrm>
        </p:grpSpPr>
        <p:sp>
          <p:nvSpPr>
            <p:cNvPr id="31" name="Rectangle 31"/>
            <p:cNvSpPr/>
            <p:nvPr/>
          </p:nvSpPr>
          <p:spPr>
            <a:xfrm>
              <a:off x="533400" y="5829300"/>
              <a:ext cx="11125200" cy="533400"/>
            </a:xfrm>
            <a:prstGeom prst="roundRect">
              <a:avLst>
                <a:gd name="adj" fmla="val 21429"/>
              </a:avLst>
            </a:prstGeom>
            <a:solidFill>
              <a:srgbClr val="334E68"/>
            </a:solidFill>
            <a:ln>
              <a:noFill/>
            </a:ln>
          </p:spPr>
        </p:sp>
        <p:grpSp>
          <p:nvGrpSpPr>
            <p:cNvPr id="34" name="Group 34"/>
            <p:cNvGrpSpPr/>
            <p:nvPr/>
          </p:nvGrpSpPr>
          <p:grpSpPr>
            <a:xfrm>
              <a:off x="738188" y="5995990"/>
              <a:ext cx="200023" cy="200023"/>
              <a:chOff x="738188" y="5995990"/>
              <a:chExt cx="200023" cy="200023"/>
            </a:xfrm>
          </p:grpSpPr>
          <p:sp>
            <p:nvSpPr>
              <p:cNvPr id="32" name="Freeform 32"/>
              <p:cNvSpPr/>
              <p:nvPr/>
            </p:nvSpPr>
            <p:spPr>
              <a:xfrm>
                <a:off x="738188" y="599599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33" name="Freeform 33"/>
              <p:cNvSpPr/>
              <p:nvPr/>
            </p:nvSpPr>
            <p:spPr>
              <a:xfrm>
                <a:off x="871538" y="606266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5" name="TextBox 35"/>
            <p:cNvSpPr txBox="1"/>
            <p:nvPr/>
          </p:nvSpPr>
          <p:spPr>
            <a:xfrm>
              <a:off x="1040130" y="5991225"/>
              <a:ext cx="7469886"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交点复杂度 K=0 表示程序已完全结构化；改变语句顺序会改变 K，不会改变 V(G)。</a:t>
              </a:r>
            </a:p>
          </p:txBody>
        </p:sp>
      </p:grpSp>
      <p:grpSp>
        <p:nvGrpSpPr>
          <p:cNvPr id="39" name="footer"/>
          <p:cNvGrpSpPr/>
          <p:nvPr/>
        </p:nvGrpSpPr>
        <p:grpSpPr>
          <a:xfrm>
            <a:off x="528447" y="6581299"/>
            <a:ext cx="11135106" cy="190690"/>
            <a:chOff x="528447" y="6581299"/>
            <a:chExt cx="11135106" cy="190690"/>
          </a:xfrm>
        </p:grpSpPr>
        <p:sp>
          <p:nvSpPr>
            <p:cNvPr id="37" name="TextBox 37"/>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38" name="TextBox 3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59</a:t>
              </a:r>
            </a:p>
          </p:txBody>
        </p:sp>
      </p:grpSp>
    </p:spTree>
  </p:cSld>
  <p:clrMapOvr>
    <a:masterClrMapping/>
  </p:clrMapOvr>
  <p:transition xmlns:p14="http://schemas.microsoft.com/office/powerpoint/2010/main" p14:dur="400">
    <p:fade/>
  </p:transition>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1399032" cy="909257"/>
            <a:chOff x="520446" y="342900"/>
            <a:chExt cx="1399032" cy="909257"/>
          </a:xfrm>
        </p:grpSpPr>
        <p:sp>
          <p:nvSpPr>
            <p:cNvPr id="2" name="Rectangle 2"/>
            <p:cNvSpPr/>
            <p:nvPr/>
          </p:nvSpPr>
          <p:spPr>
            <a:xfrm>
              <a:off x="533400" y="342900"/>
              <a:ext cx="1246822" cy="266700"/>
            </a:xfrm>
            <a:prstGeom prst="roundRect">
              <a:avLst>
                <a:gd name="adj" fmla="val 50000"/>
              </a:avLst>
            </a:prstGeom>
            <a:solidFill>
              <a:srgbClr val="E7EDF3"/>
            </a:solidFill>
            <a:ln>
              <a:noFill/>
            </a:ln>
          </p:spPr>
        </p:sp>
        <p:sp>
          <p:nvSpPr>
            <p:cNvPr id="3" name="TextBox 3"/>
            <p:cNvSpPr txBox="1"/>
            <p:nvPr/>
          </p:nvSpPr>
          <p:spPr>
            <a:xfrm>
              <a:off x="631966" y="407194"/>
              <a:ext cx="1050643" cy="220028"/>
            </a:xfrm>
            <a:prstGeom prst="rect">
              <a:avLst/>
            </a:prstGeom>
            <a:noFill/>
            <a:ln>
              <a:noFill/>
            </a:ln>
          </p:spPr>
          <p:txBody>
            <a:bodyPr wrap="none" lIns="0" tIns="0" rIns="0" bIns="0" anchor="t" anchorCtr="0">
              <a:spAutoFit/>
            </a:bodyPr>
            <a:lstStyle/>
            <a:p>
              <a:pPr algn="ctr"/>
              <a:r>
                <a:rPr lang="zh-CN" sz="1120" b="1" dirty="0">
                  <a:solidFill>
                    <a:srgbClr val="334E68"/>
                  </a:solidFill>
                  <a:latin typeface="+mn-lt"/>
                  <a:ea typeface="+mn-ea"/>
                  <a:cs typeface="+mn-cs"/>
                </a:rPr>
                <a:t>第6章 详细设计</a:t>
              </a:r>
            </a:p>
          </p:txBody>
        </p:sp>
        <p:sp>
          <p:nvSpPr>
            <p:cNvPr id="4" name="TextBox 4"/>
            <p:cNvSpPr txBox="1"/>
            <p:nvPr/>
          </p:nvSpPr>
          <p:spPr>
            <a:xfrm>
              <a:off x="520446" y="753428"/>
              <a:ext cx="139903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本章小结</a:t>
              </a:r>
            </a:p>
          </p:txBody>
        </p:sp>
        <p:sp>
          <p:nvSpPr>
            <p:cNvPr id="5" name="Rectangle 5"/>
            <p:cNvSpPr/>
            <p:nvPr/>
          </p:nvSpPr>
          <p:spPr>
            <a:xfrm>
              <a:off x="533400" y="1181100"/>
              <a:ext cx="609600" cy="38100"/>
            </a:xfrm>
            <a:prstGeom prst="roundRect">
              <a:avLst>
                <a:gd name="adj" fmla="val 50000"/>
              </a:avLst>
            </a:prstGeom>
            <a:gradFill>
              <a:gsLst>
                <a:gs pos="0">
                  <a:srgbClr val="334E68"/>
                </a:gs>
                <a:gs pos="100000">
                  <a:srgbClr val="F26B3A"/>
                </a:gs>
              </a:gsLst>
              <a:lin ang="0" scaled="1"/>
            </a:gradFill>
            <a:ln>
              <a:noFill/>
            </a:ln>
          </p:spPr>
        </p:sp>
      </p:grpSp>
      <p:grpSp>
        <p:nvGrpSpPr>
          <p:cNvPr id="19" name="c1-bullets-1"/>
          <p:cNvGrpSpPr/>
          <p:nvPr/>
        </p:nvGrpSpPr>
        <p:grpSpPr>
          <a:xfrm>
            <a:off x="533400" y="1534478"/>
            <a:ext cx="5112258" cy="2229992"/>
            <a:chOff x="533400" y="1534478"/>
            <a:chExt cx="5112258" cy="2229992"/>
          </a:xfrm>
        </p:grpSpPr>
        <p:sp>
          <p:nvSpPr>
            <p:cNvPr id="7" name="Ellipse 7"/>
            <p:cNvSpPr/>
            <p:nvPr/>
          </p:nvSpPr>
          <p:spPr>
            <a:xfrm>
              <a:off x="533400" y="1534478"/>
              <a:ext cx="192405" cy="192405"/>
            </a:xfrm>
            <a:prstGeom prst="ellipse">
              <a:avLst/>
            </a:prstGeom>
            <a:solidFill>
              <a:srgbClr val="334E68"/>
            </a:solidFill>
            <a:ln>
              <a:noFill/>
            </a:ln>
          </p:spPr>
        </p:sp>
        <p:sp>
          <p:nvSpPr>
            <p:cNvPr id="8" name="TextBox 8"/>
            <p:cNvSpPr txBox="1"/>
            <p:nvPr/>
          </p:nvSpPr>
          <p:spPr>
            <a:xfrm>
              <a:off x="589078" y="157286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9" name="TextBox 9"/>
            <p:cNvSpPr txBox="1"/>
            <p:nvPr/>
          </p:nvSpPr>
          <p:spPr>
            <a:xfrm>
              <a:off x="814197" y="1545907"/>
              <a:ext cx="483146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详细设计确定"怎样具体地实现"，为每个模块定下算法和数据结</a:t>
              </a:r>
              <a:br/>
              <a:r>
                <a:rPr lang="zh-CN" sz="1350" dirty="0">
                  <a:solidFill>
                    <a:srgbClr val="1F2937"/>
                  </a:solidFill>
                  <a:latin typeface="+mn-lt"/>
                  <a:ea typeface="+mn-ea"/>
                  <a:cs typeface="+mn-cs"/>
                </a:rPr>
                <a:t>构，要求逻辑正确而且简明易懂</a:t>
              </a:r>
            </a:p>
          </p:txBody>
        </p:sp>
        <p:sp>
          <p:nvSpPr>
            <p:cNvPr id="10" name="Ellipse 10"/>
            <p:cNvSpPr/>
            <p:nvPr/>
          </p:nvSpPr>
          <p:spPr>
            <a:xfrm>
              <a:off x="533400" y="2100262"/>
              <a:ext cx="192405" cy="192405"/>
            </a:xfrm>
            <a:prstGeom prst="ellipse">
              <a:avLst/>
            </a:prstGeom>
            <a:solidFill>
              <a:srgbClr val="334E68"/>
            </a:solidFill>
            <a:ln>
              <a:noFill/>
            </a:ln>
          </p:spPr>
        </p:sp>
        <p:sp>
          <p:nvSpPr>
            <p:cNvPr id="11" name="TextBox 11"/>
            <p:cNvSpPr txBox="1"/>
            <p:nvPr/>
          </p:nvSpPr>
          <p:spPr>
            <a:xfrm>
              <a:off x="589078" y="213864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12" name="TextBox 12"/>
            <p:cNvSpPr txBox="1"/>
            <p:nvPr/>
          </p:nvSpPr>
          <p:spPr>
            <a:xfrm>
              <a:off x="814197" y="2111692"/>
              <a:ext cx="46428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结构程序设计只用顺序、选择、循环连接单入口单出口的代码</a:t>
              </a:r>
              <a:br/>
              <a:r>
                <a:rPr lang="zh-CN" sz="1350" dirty="0">
                  <a:solidFill>
                    <a:srgbClr val="1F2937"/>
                  </a:solidFill>
                  <a:latin typeface="+mn-lt"/>
                  <a:ea typeface="+mn-ea"/>
                  <a:cs typeface="+mn-cs"/>
                </a:rPr>
                <a:t>块；经典、扩展、修正三种提法允许的结构依次放宽</a:t>
              </a:r>
            </a:p>
          </p:txBody>
        </p:sp>
        <p:sp>
          <p:nvSpPr>
            <p:cNvPr id="13" name="Ellipse 13"/>
            <p:cNvSpPr/>
            <p:nvPr/>
          </p:nvSpPr>
          <p:spPr>
            <a:xfrm>
              <a:off x="533400" y="2666048"/>
              <a:ext cx="192405" cy="192405"/>
            </a:xfrm>
            <a:prstGeom prst="ellipse">
              <a:avLst/>
            </a:prstGeom>
            <a:solidFill>
              <a:srgbClr val="334E68"/>
            </a:solidFill>
            <a:ln>
              <a:noFill/>
            </a:ln>
          </p:spPr>
        </p:sp>
        <p:sp>
          <p:nvSpPr>
            <p:cNvPr id="14" name="TextBox 14"/>
            <p:cNvSpPr txBox="1"/>
            <p:nvPr/>
          </p:nvSpPr>
          <p:spPr>
            <a:xfrm>
              <a:off x="589078" y="270443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15" name="TextBox 15"/>
            <p:cNvSpPr txBox="1"/>
            <p:nvPr/>
          </p:nvSpPr>
          <p:spPr>
            <a:xfrm>
              <a:off x="814197" y="2677477"/>
              <a:ext cx="48143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人机界面的四个设计问题是响应时间、帮助设施、出错信息、命</a:t>
              </a:r>
              <a:br/>
              <a:r>
                <a:rPr lang="zh-CN" sz="1350" dirty="0">
                  <a:solidFill>
                    <a:srgbClr val="1F2937"/>
                  </a:solidFill>
                  <a:latin typeface="+mn-lt"/>
                  <a:ea typeface="+mn-ea"/>
                  <a:cs typeface="+mn-cs"/>
                </a:rPr>
                <a:t>令交互，设计过程靠原型和用户评审反复迭代</a:t>
              </a:r>
            </a:p>
          </p:txBody>
        </p:sp>
        <p:sp>
          <p:nvSpPr>
            <p:cNvPr id="16" name="Ellipse 16"/>
            <p:cNvSpPr/>
            <p:nvPr/>
          </p:nvSpPr>
          <p:spPr>
            <a:xfrm>
              <a:off x="533400" y="3231832"/>
              <a:ext cx="192405" cy="192405"/>
            </a:xfrm>
            <a:prstGeom prst="ellipse">
              <a:avLst/>
            </a:prstGeom>
            <a:solidFill>
              <a:srgbClr val="334E68"/>
            </a:solidFill>
            <a:ln>
              <a:noFill/>
            </a:ln>
          </p:spPr>
        </p:sp>
        <p:sp>
          <p:nvSpPr>
            <p:cNvPr id="17" name="TextBox 17"/>
            <p:cNvSpPr txBox="1"/>
            <p:nvPr/>
          </p:nvSpPr>
          <p:spPr>
            <a:xfrm>
              <a:off x="589078" y="327021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4</a:t>
              </a:r>
            </a:p>
          </p:txBody>
        </p:sp>
        <p:sp>
          <p:nvSpPr>
            <p:cNvPr id="18" name="TextBox 18"/>
            <p:cNvSpPr txBox="1"/>
            <p:nvPr/>
          </p:nvSpPr>
          <p:spPr>
            <a:xfrm>
              <a:off x="814197" y="3243262"/>
              <a:ext cx="48143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六种过程设计工具分图形、表格、语言三类，优缺点要能逐条对</a:t>
              </a:r>
              <a:br/>
              <a:r>
                <a:rPr lang="zh-CN" sz="1350" dirty="0">
                  <a:solidFill>
                    <a:srgbClr val="1F2937"/>
                  </a:solidFill>
                  <a:latin typeface="+mn-lt"/>
                  <a:ea typeface="+mn-ea"/>
                  <a:cs typeface="+mn-cs"/>
                </a:rPr>
                <a:t>上</a:t>
              </a:r>
            </a:p>
          </p:txBody>
        </p:sp>
      </p:grpSp>
      <p:grpSp>
        <p:nvGrpSpPr>
          <p:cNvPr id="29" name="c1-card-2"/>
          <p:cNvGrpSpPr/>
          <p:nvPr/>
        </p:nvGrpSpPr>
        <p:grpSpPr>
          <a:xfrm>
            <a:off x="533400" y="3881438"/>
            <a:ext cx="5410200" cy="1528762"/>
            <a:chOff x="533400" y="3881438"/>
            <a:chExt cx="5410200" cy="1528762"/>
          </a:xfrm>
        </p:grpSpPr>
        <p:sp>
          <p:nvSpPr>
            <p:cNvPr id="20" name="Rectangle 20"/>
            <p:cNvSpPr/>
            <p:nvPr/>
          </p:nvSpPr>
          <p:spPr>
            <a:xfrm>
              <a:off x="533400" y="3881438"/>
              <a:ext cx="5410200" cy="1528762"/>
            </a:xfrm>
            <a:prstGeom prst="roundRect">
              <a:avLst>
                <a:gd name="adj" fmla="val 8723"/>
              </a:avLst>
            </a:prstGeom>
            <a:solidFill>
              <a:srgbClr val="334E68"/>
            </a:solidFill>
            <a:ln>
              <a:noFill/>
            </a:ln>
          </p:spPr>
        </p:sp>
        <p:sp>
          <p:nvSpPr>
            <p:cNvPr id="21" name="Rectangle 21"/>
            <p:cNvSpPr/>
            <p:nvPr/>
          </p:nvSpPr>
          <p:spPr>
            <a:xfrm>
              <a:off x="720090" y="4068128"/>
              <a:ext cx="1081088" cy="238125"/>
            </a:xfrm>
            <a:prstGeom prst="roundRect">
              <a:avLst>
                <a:gd name="adj" fmla="val 50000"/>
              </a:avLst>
            </a:prstGeom>
            <a:solidFill>
              <a:srgbClr val="243B53"/>
            </a:solidFill>
            <a:ln>
              <a:noFill/>
            </a:ln>
          </p:spPr>
        </p:sp>
        <p:sp>
          <p:nvSpPr>
            <p:cNvPr id="22" name="TextBox 22"/>
            <p:cNvSpPr txBox="1"/>
            <p:nvPr/>
          </p:nvSpPr>
          <p:spPr>
            <a:xfrm>
              <a:off x="793458" y="4100989"/>
              <a:ext cx="933399"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三个必记的数字</a:t>
              </a:r>
            </a:p>
          </p:txBody>
        </p:sp>
        <p:sp>
          <p:nvSpPr>
            <p:cNvPr id="23" name="Ellipse 23"/>
            <p:cNvSpPr/>
            <p:nvPr/>
          </p:nvSpPr>
          <p:spPr>
            <a:xfrm>
              <a:off x="728662" y="4469130"/>
              <a:ext cx="59055" cy="59055"/>
            </a:xfrm>
            <a:prstGeom prst="ellipse">
              <a:avLst/>
            </a:prstGeom>
            <a:solidFill>
              <a:srgbClr val="FFFFFF"/>
            </a:solidFill>
            <a:ln>
              <a:noFill/>
            </a:ln>
          </p:spPr>
        </p:sp>
        <p:sp>
          <p:nvSpPr>
            <p:cNvPr id="24" name="TextBox 24"/>
            <p:cNvSpPr txBox="1"/>
            <p:nvPr/>
          </p:nvSpPr>
          <p:spPr>
            <a:xfrm>
              <a:off x="884682" y="4412932"/>
              <a:ext cx="3080982"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3</a:t>
              </a:r>
              <a:r>
                <a:rPr lang="zh-CN" sz="1350" dirty="0">
                  <a:solidFill>
                    <a:srgbClr val="FFFFFF"/>
                  </a:solidFill>
                  <a:latin typeface="+mn-lt"/>
                  <a:ea typeface="+mn-ea"/>
                  <a:cs typeface="+mn-cs"/>
                </a:rPr>
                <a:t xml:space="preserve"> 种基本控制结构：顺序、选择、循环</a:t>
              </a:r>
            </a:p>
          </p:txBody>
        </p:sp>
        <p:sp>
          <p:nvSpPr>
            <p:cNvPr id="25" name="Ellipse 25"/>
            <p:cNvSpPr/>
            <p:nvPr/>
          </p:nvSpPr>
          <p:spPr>
            <a:xfrm>
              <a:off x="728662" y="4769168"/>
              <a:ext cx="59055" cy="59055"/>
            </a:xfrm>
            <a:prstGeom prst="ellipse">
              <a:avLst/>
            </a:prstGeom>
            <a:solidFill>
              <a:srgbClr val="FFFFFF"/>
            </a:solidFill>
            <a:ln>
              <a:noFill/>
            </a:ln>
          </p:spPr>
        </p:sp>
        <p:sp>
          <p:nvSpPr>
            <p:cNvPr id="26" name="TextBox 26"/>
            <p:cNvSpPr txBox="1"/>
            <p:nvPr/>
          </p:nvSpPr>
          <p:spPr>
            <a:xfrm>
              <a:off x="884682" y="4712970"/>
              <a:ext cx="492955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 xml:space="preserve">流程图和盒图允许的 </a:t>
              </a:r>
              <a:r>
                <a:rPr lang="zh-CN" sz="1350" b="1" dirty="0">
                  <a:solidFill>
                    <a:srgbClr val="FFFFFF"/>
                  </a:solidFill>
                  <a:latin typeface="+mn-lt"/>
                  <a:ea typeface="+mn-ea"/>
                  <a:cs typeface="+mn-cs"/>
                </a:rPr>
                <a:t>5</a:t>
              </a:r>
              <a:r>
                <a:rPr lang="zh-CN" sz="1350" dirty="0">
                  <a:solidFill>
                    <a:srgbClr val="FFFFFF"/>
                  </a:solidFill>
                  <a:latin typeface="+mn-lt"/>
                  <a:ea typeface="+mn-ea"/>
                  <a:cs typeface="+mn-cs"/>
                </a:rPr>
                <a:t xml:space="preserve"> 种控制结构：再加 CASE 和 DO-UNTIL</a:t>
              </a:r>
            </a:p>
          </p:txBody>
        </p:sp>
        <p:sp>
          <p:nvSpPr>
            <p:cNvPr id="27" name="Ellipse 27"/>
            <p:cNvSpPr/>
            <p:nvPr/>
          </p:nvSpPr>
          <p:spPr>
            <a:xfrm>
              <a:off x="728662" y="5069205"/>
              <a:ext cx="59055" cy="59055"/>
            </a:xfrm>
            <a:prstGeom prst="ellipse">
              <a:avLst/>
            </a:prstGeom>
            <a:solidFill>
              <a:srgbClr val="FFFFFF"/>
            </a:solidFill>
            <a:ln>
              <a:noFill/>
            </a:ln>
          </p:spPr>
        </p:sp>
        <p:sp>
          <p:nvSpPr>
            <p:cNvPr id="28" name="TextBox 28"/>
            <p:cNvSpPr txBox="1"/>
            <p:nvPr/>
          </p:nvSpPr>
          <p:spPr>
            <a:xfrm>
              <a:off x="884682" y="5013008"/>
              <a:ext cx="2980881"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 xml:space="preserve">McCabe 建议的模块复杂度上限是 </a:t>
              </a:r>
              <a:r>
                <a:rPr lang="zh-CN" sz="1350" b="1" dirty="0">
                  <a:solidFill>
                    <a:srgbClr val="FFFFFF"/>
                  </a:solidFill>
                  <a:latin typeface="+mn-lt"/>
                  <a:ea typeface="+mn-ea"/>
                  <a:cs typeface="+mn-cs"/>
                </a:rPr>
                <a:t>10</a:t>
              </a:r>
            </a:p>
          </p:txBody>
        </p:sp>
      </p:grpSp>
      <p:grpSp>
        <p:nvGrpSpPr>
          <p:cNvPr id="42" name="c2-bullets-1"/>
          <p:cNvGrpSpPr/>
          <p:nvPr/>
        </p:nvGrpSpPr>
        <p:grpSpPr>
          <a:xfrm>
            <a:off x="6248400" y="1534478"/>
            <a:ext cx="5180838" cy="1972817"/>
            <a:chOff x="6248400" y="1534478"/>
            <a:chExt cx="5180838" cy="1972817"/>
          </a:xfrm>
        </p:grpSpPr>
        <p:sp>
          <p:nvSpPr>
            <p:cNvPr id="30" name="Ellipse 30"/>
            <p:cNvSpPr/>
            <p:nvPr/>
          </p:nvSpPr>
          <p:spPr>
            <a:xfrm>
              <a:off x="6248400" y="1534478"/>
              <a:ext cx="192405" cy="192405"/>
            </a:xfrm>
            <a:prstGeom prst="ellipse">
              <a:avLst/>
            </a:prstGeom>
            <a:solidFill>
              <a:srgbClr val="334E68"/>
            </a:solidFill>
            <a:ln>
              <a:noFill/>
            </a:ln>
          </p:spPr>
        </p:sp>
        <p:sp>
          <p:nvSpPr>
            <p:cNvPr id="31" name="TextBox 31"/>
            <p:cNvSpPr txBox="1"/>
            <p:nvPr/>
          </p:nvSpPr>
          <p:spPr>
            <a:xfrm>
              <a:off x="6304078" y="157286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32" name="TextBox 32"/>
            <p:cNvSpPr txBox="1"/>
            <p:nvPr/>
          </p:nvSpPr>
          <p:spPr>
            <a:xfrm>
              <a:off x="6529197" y="1545907"/>
              <a:ext cx="484003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Jackson 方法从输入输出数据结构出发，按对应关系导出程序结</a:t>
              </a:r>
              <a:br/>
              <a:r>
                <a:rPr lang="zh-CN" sz="1350" dirty="0">
                  <a:solidFill>
                    <a:srgbClr val="1F2937"/>
                  </a:solidFill>
                  <a:latin typeface="+mn-lt"/>
                  <a:ea typeface="+mn-ea"/>
                  <a:cs typeface="+mn-cs"/>
                </a:rPr>
                <a:t>构，再分配操作和条件，最后写成伪码</a:t>
              </a:r>
            </a:p>
          </p:txBody>
        </p:sp>
        <p:sp>
          <p:nvSpPr>
            <p:cNvPr id="33" name="Ellipse 33"/>
            <p:cNvSpPr/>
            <p:nvPr/>
          </p:nvSpPr>
          <p:spPr>
            <a:xfrm>
              <a:off x="6248400" y="2100262"/>
              <a:ext cx="192405" cy="192405"/>
            </a:xfrm>
            <a:prstGeom prst="ellipse">
              <a:avLst/>
            </a:prstGeom>
            <a:solidFill>
              <a:srgbClr val="334E68"/>
            </a:solidFill>
            <a:ln>
              <a:noFill/>
            </a:ln>
          </p:spPr>
        </p:sp>
        <p:sp>
          <p:nvSpPr>
            <p:cNvPr id="34" name="TextBox 34"/>
            <p:cNvSpPr txBox="1"/>
            <p:nvPr/>
          </p:nvSpPr>
          <p:spPr>
            <a:xfrm>
              <a:off x="6304078" y="213864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35" name="TextBox 35"/>
            <p:cNvSpPr txBox="1"/>
            <p:nvPr/>
          </p:nvSpPr>
          <p:spPr>
            <a:xfrm>
              <a:off x="6529197" y="2111692"/>
              <a:ext cx="4900041"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McCabe 环形复杂度用区域数、E−N+2、P+1 三种算法计算，结果</a:t>
              </a:r>
              <a:br/>
              <a:r>
                <a:rPr lang="zh-CN" sz="1350" dirty="0">
                  <a:solidFill>
                    <a:srgbClr val="1F2937"/>
                  </a:solidFill>
                  <a:latin typeface="+mn-lt"/>
                  <a:ea typeface="+mn-ea"/>
                  <a:cs typeface="+mn-cs"/>
                </a:rPr>
                <a:t>必须一致，McCabe 建议上限取 10</a:t>
              </a:r>
            </a:p>
          </p:txBody>
        </p:sp>
        <p:sp>
          <p:nvSpPr>
            <p:cNvPr id="36" name="Ellipse 36"/>
            <p:cNvSpPr/>
            <p:nvPr/>
          </p:nvSpPr>
          <p:spPr>
            <a:xfrm>
              <a:off x="6248400" y="2666048"/>
              <a:ext cx="192405" cy="192405"/>
            </a:xfrm>
            <a:prstGeom prst="ellipse">
              <a:avLst/>
            </a:prstGeom>
            <a:solidFill>
              <a:srgbClr val="334E68"/>
            </a:solidFill>
            <a:ln>
              <a:noFill/>
            </a:ln>
          </p:spPr>
        </p:sp>
        <p:sp>
          <p:nvSpPr>
            <p:cNvPr id="37" name="TextBox 37"/>
            <p:cNvSpPr txBox="1"/>
            <p:nvPr/>
          </p:nvSpPr>
          <p:spPr>
            <a:xfrm>
              <a:off x="6304078" y="2704433"/>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3</a:t>
              </a:r>
            </a:p>
          </p:txBody>
        </p:sp>
        <p:sp>
          <p:nvSpPr>
            <p:cNvPr id="38" name="TextBox 38"/>
            <p:cNvSpPr txBox="1"/>
            <p:nvPr/>
          </p:nvSpPr>
          <p:spPr>
            <a:xfrm>
              <a:off x="6529197" y="2677477"/>
              <a:ext cx="484003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Halstead 方法数运算符和运算对象，给出程序长度 H、程序量 V</a:t>
              </a:r>
              <a:br/>
              <a:r>
                <a:rPr lang="zh-CN" sz="1350" dirty="0">
                  <a:solidFill>
                    <a:srgbClr val="1F2937"/>
                  </a:solidFill>
                  <a:latin typeface="+mn-lt"/>
                  <a:ea typeface="+mn-ea"/>
                  <a:cs typeface="+mn-cs"/>
                </a:rPr>
                <a:t>和预测错误数 B = V/3000</a:t>
              </a:r>
            </a:p>
          </p:txBody>
        </p:sp>
        <p:sp>
          <p:nvSpPr>
            <p:cNvPr id="39" name="Ellipse 39"/>
            <p:cNvSpPr/>
            <p:nvPr/>
          </p:nvSpPr>
          <p:spPr>
            <a:xfrm>
              <a:off x="6248400" y="3231832"/>
              <a:ext cx="192405" cy="192405"/>
            </a:xfrm>
            <a:prstGeom prst="ellipse">
              <a:avLst/>
            </a:prstGeom>
            <a:solidFill>
              <a:srgbClr val="334E68"/>
            </a:solidFill>
            <a:ln>
              <a:noFill/>
            </a:ln>
          </p:spPr>
        </p:sp>
        <p:sp>
          <p:nvSpPr>
            <p:cNvPr id="40" name="TextBox 40"/>
            <p:cNvSpPr txBox="1"/>
            <p:nvPr/>
          </p:nvSpPr>
          <p:spPr>
            <a:xfrm>
              <a:off x="6304078" y="327021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4</a:t>
              </a:r>
            </a:p>
          </p:txBody>
        </p:sp>
        <p:sp>
          <p:nvSpPr>
            <p:cNvPr id="41" name="TextBox 41"/>
            <p:cNvSpPr txBox="1"/>
            <p:nvPr/>
          </p:nvSpPr>
          <p:spPr>
            <a:xfrm>
              <a:off x="6529197" y="3243262"/>
              <a:ext cx="4749851"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交点复杂度对非结构化更敏感，K=0 说明程序已完全结构化</a:t>
              </a:r>
            </a:p>
          </p:txBody>
        </p:sp>
      </p:grpSp>
      <p:grpSp>
        <p:nvGrpSpPr>
          <p:cNvPr id="53" name="c2-card-2"/>
          <p:cNvGrpSpPr/>
          <p:nvPr/>
        </p:nvGrpSpPr>
        <p:grpSpPr>
          <a:xfrm>
            <a:off x="6248400" y="3624262"/>
            <a:ext cx="5410200" cy="1785938"/>
            <a:chOff x="6248400" y="3624262"/>
            <a:chExt cx="5410200" cy="1785938"/>
          </a:xfrm>
        </p:grpSpPr>
        <p:sp>
          <p:nvSpPr>
            <p:cNvPr id="43" name="Rectangle 43"/>
            <p:cNvSpPr/>
            <p:nvPr/>
          </p:nvSpPr>
          <p:spPr>
            <a:xfrm>
              <a:off x="6248400" y="3624262"/>
              <a:ext cx="5410200" cy="1785938"/>
            </a:xfrm>
            <a:prstGeom prst="roundRect">
              <a:avLst>
                <a:gd name="adj" fmla="val 7467"/>
              </a:avLst>
            </a:prstGeom>
            <a:solidFill>
              <a:srgbClr val="FFFFFF"/>
            </a:solidFill>
            <a:ln w="14288">
              <a:solidFill>
                <a:srgbClr val="D9DFEA"/>
              </a:solidFill>
            </a:ln>
          </p:spPr>
        </p:sp>
        <p:sp>
          <p:nvSpPr>
            <p:cNvPr id="44" name="Rectangle 44"/>
            <p:cNvSpPr/>
            <p:nvPr/>
          </p:nvSpPr>
          <p:spPr>
            <a:xfrm>
              <a:off x="6257925" y="3757612"/>
              <a:ext cx="47625" cy="1519238"/>
            </a:xfrm>
            <a:prstGeom prst="roundRect">
              <a:avLst>
                <a:gd name="adj" fmla="val 50000"/>
              </a:avLst>
            </a:prstGeom>
            <a:solidFill>
              <a:srgbClr val="B42318"/>
            </a:solidFill>
            <a:ln>
              <a:noFill/>
            </a:ln>
          </p:spPr>
        </p:sp>
        <p:sp>
          <p:nvSpPr>
            <p:cNvPr id="45" name="Rectangle 45"/>
            <p:cNvSpPr/>
            <p:nvPr/>
          </p:nvSpPr>
          <p:spPr>
            <a:xfrm>
              <a:off x="6473190" y="3810952"/>
              <a:ext cx="1204912" cy="238125"/>
            </a:xfrm>
            <a:prstGeom prst="roundRect">
              <a:avLst>
                <a:gd name="adj" fmla="val 50000"/>
              </a:avLst>
            </a:prstGeom>
            <a:solidFill>
              <a:srgbClr val="FDECEA"/>
            </a:solidFill>
            <a:ln>
              <a:noFill/>
            </a:ln>
          </p:spPr>
        </p:sp>
        <p:sp>
          <p:nvSpPr>
            <p:cNvPr id="46" name="TextBox 46"/>
            <p:cNvSpPr txBox="1"/>
            <p:nvPr/>
          </p:nvSpPr>
          <p:spPr>
            <a:xfrm>
              <a:off x="6543459" y="3843814"/>
              <a:ext cx="1065327"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最容易答错的三处</a:t>
              </a:r>
            </a:p>
          </p:txBody>
        </p:sp>
        <p:sp>
          <p:nvSpPr>
            <p:cNvPr id="47" name="Ellipse 47"/>
            <p:cNvSpPr/>
            <p:nvPr/>
          </p:nvSpPr>
          <p:spPr>
            <a:xfrm>
              <a:off x="6481762" y="4211955"/>
              <a:ext cx="59055" cy="59055"/>
            </a:xfrm>
            <a:prstGeom prst="ellipse">
              <a:avLst/>
            </a:prstGeom>
            <a:solidFill>
              <a:srgbClr val="334E68"/>
            </a:solidFill>
            <a:ln>
              <a:noFill/>
            </a:ln>
          </p:spPr>
        </p:sp>
        <p:sp>
          <p:nvSpPr>
            <p:cNvPr id="48" name="TextBox 48"/>
            <p:cNvSpPr txBox="1"/>
            <p:nvPr/>
          </p:nvSpPr>
          <p:spPr>
            <a:xfrm>
              <a:off x="6637782" y="4155758"/>
              <a:ext cx="4577055" cy="264033"/>
            </a:xfrm>
            <a:prstGeom prst="rect">
              <a:avLst/>
            </a:prstGeom>
            <a:noFill/>
            <a:ln>
              <a:noFill/>
            </a:ln>
          </p:spPr>
          <p:txBody>
            <a:bodyPr wrap="none" lIns="0" tIns="0" rIns="0" bIns="0" anchor="t" anchorCtr="0">
              <a:spAutoFit/>
            </a:bodyPr>
            <a:lstStyle/>
            <a:p>
              <a:pPr algn="l"/>
              <a:r>
                <a:rPr lang="en-US" sz="1350" dirty="0">
                  <a:solidFill>
                    <a:srgbClr val="1F2937"/>
                  </a:solidFill>
                  <a:latin typeface="+mn-lt"/>
                  <a:ea typeface="+mn-ea"/>
                  <a:cs typeface="+mn-cs"/>
                </a:rPr>
                <a:t xml:space="preserve">V(G) = E − N + </a:t>
              </a:r>
              <a:r>
                <a:rPr lang="zh-CN" sz="1350" b="1" dirty="0">
                  <a:solidFill>
                    <a:srgbClr val="1F2937"/>
                  </a:solidFill>
                  <a:latin typeface="+mn-lt"/>
                  <a:ea typeface="+mn-ea"/>
                  <a:cs typeface="+mn-cs"/>
                </a:rPr>
                <a:t>2</a:t>
              </a:r>
              <a:r>
                <a:rPr lang="zh-CN" sz="1350" dirty="0">
                  <a:solidFill>
                    <a:srgbClr val="1F2937"/>
                  </a:solidFill>
                  <a:latin typeface="+mn-lt"/>
                  <a:ea typeface="+mn-ea"/>
                  <a:cs typeface="+mn-cs"/>
                </a:rPr>
                <a:t>，不是 +1；数区域时别漏掉图外那一块</a:t>
              </a:r>
            </a:p>
          </p:txBody>
        </p:sp>
        <p:sp>
          <p:nvSpPr>
            <p:cNvPr id="49" name="Ellipse 49"/>
            <p:cNvSpPr/>
            <p:nvPr/>
          </p:nvSpPr>
          <p:spPr>
            <a:xfrm>
              <a:off x="6481762" y="4511992"/>
              <a:ext cx="59055" cy="59055"/>
            </a:xfrm>
            <a:prstGeom prst="ellipse">
              <a:avLst/>
            </a:prstGeom>
            <a:solidFill>
              <a:srgbClr val="334E68"/>
            </a:solidFill>
            <a:ln>
              <a:noFill/>
            </a:ln>
          </p:spPr>
        </p:sp>
        <p:sp>
          <p:nvSpPr>
            <p:cNvPr id="50" name="TextBox 50"/>
            <p:cNvSpPr txBox="1"/>
            <p:nvPr/>
          </p:nvSpPr>
          <p:spPr>
            <a:xfrm>
              <a:off x="6637782" y="4455795"/>
              <a:ext cx="4042345"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复合条件 a AND b、a OR b 都要拆成两个判定结点</a:t>
              </a:r>
            </a:p>
          </p:txBody>
        </p:sp>
        <p:sp>
          <p:nvSpPr>
            <p:cNvPr id="51" name="Ellipse 51"/>
            <p:cNvSpPr/>
            <p:nvPr/>
          </p:nvSpPr>
          <p:spPr>
            <a:xfrm>
              <a:off x="6481762" y="4812030"/>
              <a:ext cx="59055" cy="59055"/>
            </a:xfrm>
            <a:prstGeom prst="ellipse">
              <a:avLst/>
            </a:prstGeom>
            <a:solidFill>
              <a:srgbClr val="334E68"/>
            </a:solidFill>
            <a:ln>
              <a:noFill/>
            </a:ln>
          </p:spPr>
        </p:sp>
        <p:sp>
          <p:nvSpPr>
            <p:cNvPr id="52" name="TextBox 52"/>
            <p:cNvSpPr txBox="1"/>
            <p:nvPr/>
          </p:nvSpPr>
          <p:spPr>
            <a:xfrm>
              <a:off x="6637782" y="4755832"/>
              <a:ext cx="328498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判定表和判定树都不表达加工顺序和循环</a:t>
              </a:r>
            </a:p>
          </p:txBody>
        </p:sp>
      </p:grpSp>
      <p:grpSp>
        <p:nvGrpSpPr>
          <p:cNvPr id="59" name="takeaway"/>
          <p:cNvGrpSpPr/>
          <p:nvPr/>
        </p:nvGrpSpPr>
        <p:grpSpPr>
          <a:xfrm>
            <a:off x="533400" y="5881688"/>
            <a:ext cx="11125200" cy="481012"/>
            <a:chOff x="533400" y="5881688"/>
            <a:chExt cx="11125200" cy="481012"/>
          </a:xfrm>
        </p:grpSpPr>
        <p:sp>
          <p:nvSpPr>
            <p:cNvPr id="54" name="Rectangle 54"/>
            <p:cNvSpPr/>
            <p:nvPr/>
          </p:nvSpPr>
          <p:spPr>
            <a:xfrm>
              <a:off x="533400" y="5881688"/>
              <a:ext cx="11125200" cy="481012"/>
            </a:xfrm>
            <a:prstGeom prst="roundRect">
              <a:avLst>
                <a:gd name="adj" fmla="val 23762"/>
              </a:avLst>
            </a:prstGeom>
            <a:solidFill>
              <a:srgbClr val="334E68"/>
            </a:solidFill>
            <a:ln>
              <a:noFill/>
            </a:ln>
          </p:spPr>
        </p:sp>
        <p:grpSp>
          <p:nvGrpSpPr>
            <p:cNvPr id="57" name="Group 57"/>
            <p:cNvGrpSpPr/>
            <p:nvPr/>
          </p:nvGrpSpPr>
          <p:grpSpPr>
            <a:xfrm>
              <a:off x="738188" y="6022660"/>
              <a:ext cx="200023" cy="200023"/>
              <a:chOff x="738188" y="6022660"/>
              <a:chExt cx="200023" cy="200023"/>
            </a:xfrm>
          </p:grpSpPr>
          <p:sp>
            <p:nvSpPr>
              <p:cNvPr id="55" name="Freeform 55"/>
              <p:cNvSpPr/>
              <p:nvPr/>
            </p:nvSpPr>
            <p:spPr>
              <a:xfrm>
                <a:off x="738188" y="602266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6" name="Freeform 56"/>
              <p:cNvSpPr/>
              <p:nvPr/>
            </p:nvSpPr>
            <p:spPr>
              <a:xfrm>
                <a:off x="871538" y="608933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8" name="TextBox 58"/>
            <p:cNvSpPr txBox="1"/>
            <p:nvPr/>
          </p:nvSpPr>
          <p:spPr>
            <a:xfrm>
              <a:off x="1040892" y="6028373"/>
              <a:ext cx="8202854"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把示例程序的盒图、PAD 图和判定表放在一起看，就能记住每种工具各自能表达什么、表达不了什么。</a:t>
              </a:r>
            </a:p>
          </p:txBody>
        </p:sp>
      </p:grpSp>
      <p:grpSp>
        <p:nvGrpSpPr>
          <p:cNvPr id="62" name="footer"/>
          <p:cNvGrpSpPr/>
          <p:nvPr/>
        </p:nvGrpSpPr>
        <p:grpSpPr>
          <a:xfrm>
            <a:off x="528447" y="6581299"/>
            <a:ext cx="11135106" cy="190690"/>
            <a:chOff x="528447" y="6581299"/>
            <a:chExt cx="11135106" cy="190690"/>
          </a:xfrm>
        </p:grpSpPr>
        <p:sp>
          <p:nvSpPr>
            <p:cNvPr id="60" name="TextBox 60"/>
            <p:cNvSpPr txBox="1"/>
            <p:nvPr/>
          </p:nvSpPr>
          <p:spPr>
            <a:xfrm>
              <a:off x="528447" y="6581299"/>
              <a:ext cx="159303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软件工程 · 第6章 详细设计</a:t>
              </a:r>
            </a:p>
          </p:txBody>
        </p:sp>
        <p:sp>
          <p:nvSpPr>
            <p:cNvPr id="61" name="TextBox 6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60</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e_ch06">
  <a:themeElements>
    <a:clrScheme name="se_ch0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e_ch06">
      <a:maj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e_ch0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60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2026-09-19T04:07:53Z</dcterms:created>
  <dcterms:modified xsi:type="dcterms:W3CDTF">2026-09-19T04:07:53Z</dcterms:modified>
  <cp:category/>
  <cp:contentStatus/>
</cp:coreProperties>
</file>