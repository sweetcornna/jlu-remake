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e_ch0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e_ch0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85b6508548b4c50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1c972a3bbd552a3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745ce57159f4f30.png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178302" cy="3437763"/>
            <a:chOff x="666750" y="1619250"/>
            <a:chExt cx="317830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软件工程 · 第三章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需求分析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弄清要做什么，并把它写准确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任务与需求错误的代价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获取需求的四种方法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三类模型与图形工具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数据规范化与需求验证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31050" cy="205359"/>
            <a:chOff x="680466" y="6192202"/>
            <a:chExt cx="413105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310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自学复习版｜据吉林大学《软件工程》第三章课件整理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494" y="1519238"/>
            <a:ext cx="6285928" cy="4605814"/>
            <a:chOff x="523494" y="1519238"/>
            <a:chExt cx="6285928" cy="4605814"/>
          </a:xfrm>
        </p:grpSpPr>
        <p:sp>
          <p:nvSpPr>
            <p:cNvPr id="7" name="TextBox 7"/>
            <p:cNvSpPr txBox="1"/>
            <p:nvPr/>
          </p:nvSpPr>
          <p:spPr>
            <a:xfrm>
              <a:off x="523494" y="151923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1461" y="15473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任务与重要性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2985" y="1826419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四条准则、三类模型，以及需求错误的代价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28700" y="2103120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494" y="2199322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1461" y="22274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获取需求的方法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985" y="2506504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访谈、自顶向下求精、简易应用规格说明、快速原型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2783205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494" y="2878455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1461" y="290655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建模与规格说明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2985" y="3186589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模型是什么，软件需求规格说明书写哪些章节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28700" y="3462338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494" y="355854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1461" y="3586639"/>
              <a:ext cx="10806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实体-联系图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2985" y="3865721"/>
              <a:ext cx="2694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数据对象、属性、三类联系与 ER 图画法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28700" y="4142422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494" y="4238625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461" y="426672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数据规范化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2985" y="4545806"/>
              <a:ext cx="19032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1NF、2NF、3NF 与四类异常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28700" y="4821555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494" y="491775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1461" y="494585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状态图与其他工具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2985" y="5224939"/>
              <a:ext cx="30026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状态转换图、层次方框图、IPO 图、Petri 网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28700" y="5501640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494" y="5597842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1461" y="562594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验证需求与附加材料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2985" y="5905024"/>
              <a:ext cx="3369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四个验证方面、需求分析工具、可视化建模与 UML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4556760"/>
            <a:chOff x="7114222" y="1524000"/>
            <a:chExt cx="4544378" cy="4556760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4556760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429006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39012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3582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47585" y="211074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3604" y="205454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说出结构化分析的四条准则和三类模型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47585" y="24117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3604" y="2355532"/>
              <a:ext cx="3066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按用户描述画出 ER 图并标注联系类型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47585" y="271176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03604" y="2655570"/>
              <a:ext cx="36594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判断一张表满足第几范式，并把它分解到 3NF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47585" y="30118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03604" y="295560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画状态转换图，并与状态迁移表互相转换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47585" y="331184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3604" y="325564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列出验证软件需求的四个方面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487575" y="2705100"/>
            <a:ext cx="2836850" cy="2305050"/>
            <a:chOff x="8487575" y="2705100"/>
            <a:chExt cx="2836850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487575" y="2705100"/>
              <a:ext cx="283685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需求分析的任务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先确认做什么，这一步做错，后面全部跟着错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四条准则与三类模型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需求难以建立的七个原因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需求错误的代价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综合要求的八个方面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需求分析的任务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需求分析定的是做什么，怎样做留给设计阶段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570718" cy="597598"/>
            <a:chOff x="525399" y="1550194"/>
            <a:chExt cx="10570718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570718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Brooks 的判断：建造一个软件系统最困难的部分是决定要建造什么。没有别的工作在做错时会如此影响最终系统，也没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有别的工作比以后矫正更困难。</a:t>
              </a:r>
            </a:p>
          </p:txBody>
        </p:sp>
      </p:grpSp>
      <p:grpSp>
        <p:nvGrpSpPr>
          <p:cNvPr id="29" name="c1-table-1"/>
          <p:cNvGrpSpPr/>
          <p:nvPr/>
        </p:nvGrpSpPr>
        <p:grpSpPr>
          <a:xfrm>
            <a:off x="527685" y="2257425"/>
            <a:ext cx="5848350" cy="2317909"/>
            <a:chOff x="527685" y="2257425"/>
            <a:chExt cx="5848350" cy="2317909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584263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6386" y="239315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结构化分析的准则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90355" y="23931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要建立的模型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42955" y="23931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常用描述工具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84178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理解并描述问题的信息域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78658" y="28417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63580" y="2841784"/>
              <a:ext cx="13017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 图、数据字典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15087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15468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29041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定义软件应完成的功能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78658" y="32904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63580" y="3290411"/>
              <a:ext cx="1392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数据流图、IPO 图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994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739039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描述外部事件引起的软件行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78658" y="38523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63580" y="38523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状态转换图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257425"/>
              <a:ext cx="5842635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866072" y="225742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150995" y="225742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7685" y="4355306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第四条准则是对上述模型再做分解，用层次的方式展示细节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721542"/>
            <a:ext cx="5842635" cy="782955"/>
            <a:chOff x="533400" y="4721542"/>
            <a:chExt cx="5842635" cy="782955"/>
          </a:xfrm>
        </p:grpSpPr>
        <p:sp>
          <p:nvSpPr>
            <p:cNvPr id="30" name="Rectangle 30"/>
            <p:cNvSpPr/>
            <p:nvPr/>
          </p:nvSpPr>
          <p:spPr>
            <a:xfrm>
              <a:off x="533400" y="4721542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013010"/>
              <a:ext cx="200023" cy="200023"/>
              <a:chOff x="738188" y="5013010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0130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50796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4870132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三类模型分别回答数据长什么样、系统做哪些加工、系统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在什么事件下怎样反应。</a:t>
              </a:r>
            </a:p>
          </p:txBody>
        </p:sp>
      </p:grpSp>
      <p:grpSp>
        <p:nvGrpSpPr>
          <p:cNvPr id="53" name="c2-steps-1"/>
          <p:cNvGrpSpPr/>
          <p:nvPr/>
        </p:nvGrpSpPr>
        <p:grpSpPr>
          <a:xfrm>
            <a:off x="6680835" y="2266950"/>
            <a:ext cx="4471370" cy="2529173"/>
            <a:chOff x="6680835" y="2266950"/>
            <a:chExt cx="4471370" cy="2529173"/>
          </a:xfrm>
        </p:grpSpPr>
        <p:sp>
          <p:nvSpPr>
            <p:cNvPr id="36" name="Rectangle 36"/>
            <p:cNvSpPr/>
            <p:nvPr/>
          </p:nvSpPr>
          <p:spPr>
            <a:xfrm>
              <a:off x="6814185" y="240982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680835" y="22669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74459" y="2340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80835" y="291750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74459" y="29913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0835" y="35680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74459" y="3641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0835" y="421957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74459" y="42933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2315" y="230124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确定对系统的综合要求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93458" y="259508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功能、性能、可靠性等八个方面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92315" y="295179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分析系统的数据要求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93458" y="324564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建立数据模型，描述复杂数据结构，做规范化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92315" y="36023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导出系统的逻辑模型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93458" y="3896201"/>
              <a:ext cx="40587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数据流图、ER 图、状态转换图、数据字典和主要算法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92315" y="42538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修正系统的开发计划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93458" y="454675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成本和进度可以估计得比可行性研究阶段准确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4" name="Rectangle 5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991225"/>
              <a:ext cx="8900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需求分析的产物是逻辑模型和需求规格说明书，其中不应出现数据库表结构、类结构这类实现决定。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需求分析的任务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需求为什么难以建立：七个常见原因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kv-1"/>
          <p:cNvGrpSpPr/>
          <p:nvPr/>
        </p:nvGrpSpPr>
        <p:grpSpPr>
          <a:xfrm>
            <a:off x="525780" y="1548765"/>
            <a:ext cx="6283642" cy="3779520"/>
            <a:chOff x="525780" y="1548765"/>
            <a:chExt cx="6283642" cy="37795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误解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61248" y="1548765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用户说出口的、分析员听进去的、用户真正需要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的，常常是三件事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交流障碍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61248" y="2270760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用户讲业务术语，分析员讲技术术语，双方都以为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对方听懂了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7274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9927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完整性问题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61248" y="2992755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没有人能一次说全；遗漏的需求往往到验收时才暴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露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59473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7147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需求永远不会稳定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61248" y="371475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业务和外部环境在变，需求跟着变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0347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415480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用户意见不统一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61248" y="415480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不同部门、不同岗位提出的要求互相冲突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4748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459486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错误的要求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61248" y="459486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用户提出的方案本身解决不了他真正的问题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9149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5780" y="50349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认识混淆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61248" y="50349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把界面当成功能，把想要当成必须</a:t>
              </a:r>
            </a:p>
          </p:txBody>
        </p:sp>
      </p:grpSp>
      <p:grpSp>
        <p:nvGrpSpPr>
          <p:cNvPr id="30" name="c2-image-1"/>
          <p:cNvGrpSpPr/>
          <p:nvPr/>
        </p:nvGrpSpPr>
        <p:grpSpPr>
          <a:xfrm>
            <a:off x="7114222" y="1524000"/>
            <a:ext cx="4544378" cy="2909412"/>
            <a:chOff x="7114222" y="1524000"/>
            <a:chExt cx="4544378" cy="2909412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rcRect l="0" t="11936" r="0" b="11937"/>
            <a:stretch>
              <a:fillRect/>
            </a:stretch>
          </p:blipFill>
          <p:spPr>
            <a:xfrm>
              <a:off x="7114222" y="1524000"/>
              <a:ext cx="4544378" cy="2594610"/>
            </a:xfrm>
            <a:prstGeom prst="roundRect">
              <a:avLst>
                <a:gd name="adj" fmla="val 5139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8324799" y="421338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一句话传下去，圆球传成了方盒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7114222" y="4598670"/>
            <a:ext cx="4544378" cy="1059180"/>
            <a:chOff x="7114222" y="4598670"/>
            <a:chExt cx="4544378" cy="1059180"/>
          </a:xfrm>
        </p:grpSpPr>
        <p:sp>
          <p:nvSpPr>
            <p:cNvPr id="31" name="Rectangle 31"/>
            <p:cNvSpPr/>
            <p:nvPr/>
          </p:nvSpPr>
          <p:spPr>
            <a:xfrm>
              <a:off x="7114222" y="459867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19010" y="5028248"/>
              <a:ext cx="200026" cy="200026"/>
              <a:chOff x="7319010" y="5028248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19010" y="50282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419023" y="50949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407910" y="51282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620952" y="4747260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课件上那句话：我知道你相信你已经理解了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你认为我所说的内容，但是我并不能肯定你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已经认识到你所听到的并不是我所想要的。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一条需求是否谈清楚，试试让用户用自己的话复述一遍，并说出它在什么情况下算做到了。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需求分析的任务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软件项目失败的原因里，一半以上出在需求上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27685" y="1524000"/>
            <a:ext cx="6497955" cy="4335304"/>
            <a:chOff x="527685" y="1524000"/>
            <a:chExt cx="6497955" cy="433530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7012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失败原因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7987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07380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与需求直接相关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不完整的需求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98025" y="2108359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13.1%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24321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缺少用户的参与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98025" y="2556986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12.4%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24321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缺乏资源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98025" y="3005614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10.6%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24321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5424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不切实际的期望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45412" y="3454241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9.9%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24321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633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90382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缺乏行政支持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45412" y="3903821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9.3%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24321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1195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216718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35244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改动需求和说明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45412" y="4352449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8.7%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24321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66058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" y="48010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缺少计划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45412" y="4801076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8.1%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24321" y="480107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1101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11492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1223" y="524970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不再需要该系统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345412" y="5249704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7.5%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24321" y="524970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6492240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3904298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203508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7685" y="5639276"/>
              <a:ext cx="4120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课件只列出占比最高的八项，合计 79.6%，其余归入其他原因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7330440" y="1524000"/>
            <a:ext cx="4328160" cy="1847850"/>
            <a:chOff x="7330440" y="1524000"/>
            <a:chExt cx="4328160" cy="1847850"/>
          </a:xfrm>
        </p:grpSpPr>
        <p:sp>
          <p:nvSpPr>
            <p:cNvPr id="51" name="Rectangle 51"/>
            <p:cNvSpPr/>
            <p:nvPr/>
          </p:nvSpPr>
          <p:spPr>
            <a:xfrm>
              <a:off x="7330440" y="1524000"/>
              <a:ext cx="4328160" cy="1847850"/>
            </a:xfrm>
            <a:prstGeom prst="roundRect">
              <a:avLst>
                <a:gd name="adj" fmla="val 721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53999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62229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算一笔账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32370" y="2110740"/>
              <a:ext cx="3691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打勾的五项合计 13.1 + 12.4 + 9.9 + 8.7 +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7.5 =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51.6%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，都来自需求工作没做好。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33513" y="2728436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缺少用户参与和不切实际的期望，本质上也是需求没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有和用户谈清楚。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7330440" y="3562350"/>
            <a:ext cx="4328160" cy="2272665"/>
            <a:chOff x="7330440" y="3562350"/>
            <a:chExt cx="4328160" cy="2272665"/>
          </a:xfrm>
        </p:grpSpPr>
        <p:sp>
          <p:nvSpPr>
            <p:cNvPr id="57" name="Rectangle 57"/>
            <p:cNvSpPr/>
            <p:nvPr/>
          </p:nvSpPr>
          <p:spPr>
            <a:xfrm>
              <a:off x="7330440" y="3562350"/>
              <a:ext cx="432816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39965" y="369570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78090" y="377190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47597" y="38076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怎么用这组数据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70470" y="414909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这组数据指向同一件事：项目往往在动手写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代码之前就已经偏了。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583805" y="48329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41920" y="477012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用户参与要贯穿整个需求过程，不能只在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开头访谈一次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583805" y="54540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41920" y="53911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需求变更要有记录和评审，不能口头改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28823" cy="909257"/>
            <a:chOff x="520446" y="342900"/>
            <a:chExt cx="93288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需求分析的任务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288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事实 1 和事实 2：错误发现得越晚越贵，而且大多发现得很晚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28066" y="1524000"/>
            <a:ext cx="5199316" cy="3250501"/>
            <a:chOff x="528066" y="1524000"/>
            <a:chExt cx="5199316" cy="325050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98258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发现错误的阶段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76497" y="16525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相对修复费用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889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需求阶段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215640" y="1958340"/>
              <a:ext cx="2501265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065346" y="2076450"/>
              <a:ext cx="8037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～ 0.2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3679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37267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5889" y="25012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设计阶段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27855" y="250126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7927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29260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编码阶段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16704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2165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221355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5889" y="334994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单元测试阶段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6704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64140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3774757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验收测试阶段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16704" y="377475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0662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070985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41986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维护阶段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215640" y="4080510"/>
              <a:ext cx="2501265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372280" y="419862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193982" cy="29708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201352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066" y="4569142"/>
              <a:ext cx="3558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 3.1 生命周期中修复软件的相对费用，以编码阶段为 1</a:t>
              </a:r>
            </a:p>
          </p:txBody>
        </p:sp>
      </p:grpSp>
      <p:grpSp>
        <p:nvGrpSpPr>
          <p:cNvPr id="42" name="c1-callout-2"/>
          <p:cNvGrpSpPr/>
          <p:nvPr/>
        </p:nvGrpSpPr>
        <p:grpSpPr>
          <a:xfrm>
            <a:off x="533400" y="4913948"/>
            <a:ext cx="5193982" cy="1217295"/>
            <a:chOff x="533400" y="4913948"/>
            <a:chExt cx="5193982" cy="1217295"/>
          </a:xfrm>
        </p:grpSpPr>
        <p:sp>
          <p:nvSpPr>
            <p:cNvPr id="36" name="Rectangle 36"/>
            <p:cNvSpPr/>
            <p:nvPr/>
          </p:nvSpPr>
          <p:spPr>
            <a:xfrm>
              <a:off x="533400" y="4913948"/>
              <a:ext cx="5193982" cy="1217295"/>
            </a:xfrm>
            <a:prstGeom prst="roundRect">
              <a:avLst>
                <a:gd name="adj" fmla="val 939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26129" y="5418891"/>
              <a:ext cx="224134" cy="192560"/>
              <a:chOff x="726129" y="5418891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" y="54892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6129" y="54188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5670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5291614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同一个错误，拖到维护阶段才改，代价是需求阶段的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100 到 200 倍。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032182" y="1524000"/>
            <a:ext cx="5626418" cy="1750695"/>
            <a:chOff x="6032182" y="1524000"/>
            <a:chExt cx="5626418" cy="1750695"/>
          </a:xfrm>
        </p:grpSpPr>
        <p:sp>
          <p:nvSpPr>
            <p:cNvPr id="43" name="Rectangle 43"/>
            <p:cNvSpPr/>
            <p:nvPr/>
          </p:nvSpPr>
          <p:spPr>
            <a:xfrm>
              <a:off x="6032182" y="1524000"/>
              <a:ext cx="5626418" cy="1750695"/>
            </a:xfrm>
            <a:prstGeom prst="roundRect">
              <a:avLst>
                <a:gd name="adj" fmla="val 76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41708" y="1657350"/>
              <a:ext cx="47625" cy="14839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68402" y="1722120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5820" y="175641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事实 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61164" y="2082641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在软件生命周期中，一个错误发现得越晚，修复错误的费用越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62306" y="2667952"/>
              <a:ext cx="4888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原因：越往后，依赖这个错误的设计、代码、测试用例和文档越多，改一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处要连带改一片。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032182" y="3454718"/>
            <a:ext cx="5626418" cy="2675572"/>
            <a:chOff x="6032182" y="3454718"/>
            <a:chExt cx="5626418" cy="2675572"/>
          </a:xfrm>
        </p:grpSpPr>
        <p:sp>
          <p:nvSpPr>
            <p:cNvPr id="50" name="Rectangle 50"/>
            <p:cNvSpPr/>
            <p:nvPr/>
          </p:nvSpPr>
          <p:spPr>
            <a:xfrm>
              <a:off x="6032182" y="3454718"/>
              <a:ext cx="5626418" cy="2675572"/>
            </a:xfrm>
            <a:prstGeom prst="roundRect">
              <a:avLst>
                <a:gd name="adj" fmla="val 49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41708" y="3588068"/>
              <a:ext cx="47625" cy="240887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68402" y="3652838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55820" y="3687128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事实 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70776" y="368855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许多错误是潜伏的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61164" y="4031456"/>
              <a:ext cx="491070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Boehm 从 TRW 公司的软件项目中得出结论：所有被检测出来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的错误中，54% 实际上是在编码和单元测试阶段以后才被发现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276022" y="495300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32614" y="4892516"/>
              <a:ext cx="31767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其中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45%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属于需求和设计阶段的错误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276022" y="527018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32614" y="5210651"/>
              <a:ext cx="20407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编码阶段的错误只占 9%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62306" y="5524500"/>
              <a:ext cx="49347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45% + 9% = 54%，也就是说，晚发现的错误里绝大部分根本不是敲代码敲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错的。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358666" cy="909257"/>
            <a:chOff x="520446" y="342900"/>
            <a:chExt cx="103586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需求分析的任务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3586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事实 3 和事实 4：错误大量产生在需求阶段，且以疏忽和二义性为主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977765" cy="2358390"/>
            <a:chOff x="533400" y="1524000"/>
            <a:chExt cx="4977765" cy="23583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358390"/>
            </a:xfrm>
            <a:prstGeom prst="roundRect">
              <a:avLst>
                <a:gd name="adj" fmla="val 56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9169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037" y="175641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事实 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71994" y="175688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需求过程中会产生很多错误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04507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DeMarco 的研究报告指出，被检查出来的错误中，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56% 产生的根源可以追溯到需求阶段。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381" y="2690336"/>
              <a:ext cx="431558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AIRMICS 的一项调查发现，在一份美国军方大型管理信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息系统的需求规格说明书中，存在着 500 多个错误。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3524" y="3275648"/>
              <a:ext cx="4279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后者只是一个软件项目中的一次调查，不宜当成普遍规律，但量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级值得警惕。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062412"/>
            <a:ext cx="4977765" cy="1949768"/>
            <a:chOff x="533400" y="4062412"/>
            <a:chExt cx="4977765" cy="1949768"/>
          </a:xfrm>
        </p:grpSpPr>
        <p:sp>
          <p:nvSpPr>
            <p:cNvPr id="16" name="Rectangle 16"/>
            <p:cNvSpPr/>
            <p:nvPr/>
          </p:nvSpPr>
          <p:spPr>
            <a:xfrm>
              <a:off x="533400" y="4062412"/>
              <a:ext cx="4977765" cy="1949768"/>
            </a:xfrm>
            <a:prstGeom prst="roundRect">
              <a:avLst>
                <a:gd name="adj" fmla="val 6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195762"/>
              <a:ext cx="47625" cy="168306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9620" y="4260532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7037" y="429482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事实 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381" y="4621054"/>
              <a:ext cx="430657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美国海军研究实验室对 A-7E 飞机飞行操作程序做实地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测试，数据表明该项目 77% 的需求错误特点是不明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确。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5810631" y="1524000"/>
            <a:ext cx="5847969" cy="2826639"/>
            <a:chOff x="5810631" y="1524000"/>
            <a:chExt cx="5847969" cy="2826639"/>
          </a:xfrm>
        </p:grpSpPr>
        <p:sp>
          <p:nvSpPr>
            <p:cNvPr id="22" name="Rectangle 22"/>
            <p:cNvSpPr/>
            <p:nvPr/>
          </p:nvSpPr>
          <p:spPr>
            <a:xfrm>
              <a:off x="5815965" y="1524000"/>
              <a:ext cx="5842635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95148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需求错误的类型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2032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18454" y="20764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不正确的事实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32441" y="207645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49%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815965" y="2367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815965" y="237267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18454" y="25012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疏忽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32441" y="2501265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31%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815965" y="27927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18454" y="29260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32441" y="292608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13%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32165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15965" y="322135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18454" y="33499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二义性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76865" y="3349942"/>
              <a:ext cx="22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5%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36414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18454" y="377475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放错位置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76865" y="3774757"/>
              <a:ext cx="22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2%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1524000"/>
              <a:ext cx="5842635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113520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10631" y="4145280"/>
              <a:ext cx="957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五项合计 100%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5815965" y="4489132"/>
            <a:ext cx="5842635" cy="1522095"/>
            <a:chOff x="5815965" y="4489132"/>
            <a:chExt cx="5842635" cy="1522095"/>
          </a:xfrm>
        </p:grpSpPr>
        <p:sp>
          <p:nvSpPr>
            <p:cNvPr id="45" name="Rectangle 45"/>
            <p:cNvSpPr/>
            <p:nvPr/>
          </p:nvSpPr>
          <p:spPr>
            <a:xfrm>
              <a:off x="5815965" y="4489132"/>
              <a:ext cx="584263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25490" y="4622482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52185" y="468725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43625" y="472154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44946" y="5047774"/>
              <a:ext cx="514515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77% 和上表并排，容易读成疏忽加不一致加二义性等于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77%，而这三项合计只有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49%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。77% 指的是内容性（非笔误类）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需求错误占全部需求错误的比例，上表是它们按类型的细分。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49321" cy="909257"/>
            <a:chOff x="520446" y="342900"/>
            <a:chExt cx="76493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需求分析的任务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493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事实 5 与四点结论：需求错误查得出来，也值得查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table-1"/>
          <p:cNvGrpSpPr/>
          <p:nvPr/>
        </p:nvGrpSpPr>
        <p:grpSpPr>
          <a:xfrm>
            <a:off x="528066" y="1524000"/>
            <a:ext cx="5415534" cy="2826639"/>
            <a:chOff x="528066" y="1524000"/>
            <a:chExt cx="5415534" cy="282663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4450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发现错误的方法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19550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发现错误的比例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889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248025" y="1958340"/>
              <a:ext cx="2686050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35526" y="207645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65%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367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37267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5889" y="25012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单元测试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35526" y="2501265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792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29260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集成测试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79950" y="2926080"/>
              <a:ext cx="22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5%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216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22135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5889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演进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79950" y="3349942"/>
              <a:ext cx="22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6414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37747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35526" y="3774757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14%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5410200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233738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8066" y="414528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人工检查是最有效的一种手段</a:t>
              </a:r>
            </a:p>
          </p:txBody>
        </p:sp>
      </p:grpSp>
      <p:grpSp>
        <p:nvGrpSpPr>
          <p:cNvPr id="39" name="c1-card-2"/>
          <p:cNvGrpSpPr/>
          <p:nvPr/>
        </p:nvGrpSpPr>
        <p:grpSpPr>
          <a:xfrm>
            <a:off x="533400" y="4489132"/>
            <a:ext cx="5410200" cy="1840230"/>
            <a:chOff x="533400" y="4489132"/>
            <a:chExt cx="5410200" cy="1840230"/>
          </a:xfrm>
        </p:grpSpPr>
        <p:sp>
          <p:nvSpPr>
            <p:cNvPr id="31" name="Rectangle 31"/>
            <p:cNvSpPr/>
            <p:nvPr/>
          </p:nvSpPr>
          <p:spPr>
            <a:xfrm>
              <a:off x="533400" y="4489132"/>
              <a:ext cx="5410200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622482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9620" y="468725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3059" y="472154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两条佐证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7240" y="510825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3831" y="5047774"/>
              <a:ext cx="44869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Basili 和 Weiss：在 A-7E 的软件定义文档中，33% 的需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求错误是通过人工检查出来的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77240" y="569785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3831" y="5637371"/>
              <a:ext cx="447789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Celko：利用自动分析工具，能够从 SRS 中检查出相当数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量的错误</a:t>
              </a:r>
            </a:p>
          </p:txBody>
        </p:sp>
      </p:grpSp>
      <p:grpSp>
        <p:nvGrpSpPr>
          <p:cNvPr id="53" name="c2-bullets-1"/>
          <p:cNvGrpSpPr/>
          <p:nvPr/>
        </p:nvGrpSpPr>
        <p:grpSpPr>
          <a:xfrm>
            <a:off x="6241161" y="1547336"/>
            <a:ext cx="5062947" cy="1595057"/>
            <a:chOff x="6241161" y="1547336"/>
            <a:chExt cx="5062947" cy="1595057"/>
          </a:xfrm>
        </p:grpSpPr>
        <p:sp>
          <p:nvSpPr>
            <p:cNvPr id="40" name="TextBox 40"/>
            <p:cNvSpPr txBox="1"/>
            <p:nvPr/>
          </p:nvSpPr>
          <p:spPr>
            <a:xfrm>
              <a:off x="6241161" y="154733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由五个事实得到的四点结论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248400" y="187071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06745" y="19110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39294" y="188356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在需求过程中会产生很多错误（事实 3 和事实 4）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248400" y="219741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06745" y="223775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39294" y="2210276"/>
              <a:ext cx="34266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许多错误并没有在早期被发现（事实 2）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248400" y="252412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06745" y="256446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39294" y="2536984"/>
              <a:ext cx="47648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这样的错误是能够在产生的初期被检查出来的（事实 5）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248400" y="285083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06745" y="28911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39294" y="2863691"/>
              <a:ext cx="47648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如果没有及时检查出来，软件费用会直线上升（事实 1）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248400" y="3266122"/>
            <a:ext cx="5410200" cy="503872"/>
            <a:chOff x="6248400" y="3266122"/>
            <a:chExt cx="5410200" cy="503872"/>
          </a:xfrm>
        </p:grpSpPr>
        <p:sp>
          <p:nvSpPr>
            <p:cNvPr id="54" name="Rectangle 54"/>
            <p:cNvSpPr/>
            <p:nvPr/>
          </p:nvSpPr>
          <p:spPr>
            <a:xfrm>
              <a:off x="6248400" y="3266122"/>
              <a:ext cx="5410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3417572"/>
              <a:ext cx="200023" cy="200023"/>
              <a:chOff x="6453188" y="3417572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53188" y="34175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86538" y="34842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5511" y="3418046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需求过程不仅是可能的，而且也是值得的。</a:t>
              </a:r>
            </a:p>
          </p:txBody>
        </p:sp>
      </p:grpSp>
      <p:grpSp>
        <p:nvGrpSpPr>
          <p:cNvPr id="68" name="c2-card-3"/>
          <p:cNvGrpSpPr/>
          <p:nvPr/>
        </p:nvGrpSpPr>
        <p:grpSpPr>
          <a:xfrm>
            <a:off x="6248400" y="3950018"/>
            <a:ext cx="5410200" cy="2379345"/>
            <a:chOff x="6248400" y="3950018"/>
            <a:chExt cx="5410200" cy="2379345"/>
          </a:xfrm>
        </p:grpSpPr>
        <p:sp>
          <p:nvSpPr>
            <p:cNvPr id="60" name="Rectangle 60"/>
            <p:cNvSpPr/>
            <p:nvPr/>
          </p:nvSpPr>
          <p:spPr>
            <a:xfrm>
              <a:off x="6248400" y="3950018"/>
              <a:ext cx="5410200" cy="2379345"/>
            </a:xfrm>
            <a:prstGeom prst="roundRect">
              <a:avLst>
                <a:gd name="adj" fmla="val 56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57925" y="4083368"/>
              <a:ext cx="47625" cy="21126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84620" y="4148138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64058" y="41824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落到做法上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492240" y="456914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48831" y="450865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需求评审安排在需求规格说明书定稿之前，参加人要包括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真正的使用者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92240" y="515778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48831" y="509825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评审时逐条问：这条需求怎样验收，谁来验收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需求分析的任务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四个典型的坏需求，以及它们坏在哪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3771900"/>
            <a:chOff x="533400" y="1524000"/>
            <a:chExt cx="11125200" cy="3771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53578" y="16630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课件给出的需求语句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4271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毛病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689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改写思路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发现任何不友好并且带有未知任务的或者有可能在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五分钟之内飞入空中禁区的飞行物时要拉响警报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13045" y="2150745"/>
              <a:ext cx="2491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二义性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：并且与或者的结合次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序没交代；不友好、未知任务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没有判定标准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04835" y="228409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用编号分条或加括号写清与或关系，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再给出每个条件的判定依据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279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03276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171825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关于选择计划的全部约束是：如果没有选择最优计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划也不提供证据，客户应该选择默认的基本计划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13045" y="3171825"/>
              <a:ext cx="2491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双重否定加条件，读者难以判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断到底什么情况下选默认计划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04835" y="317182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用判定表把是否最优、是否提供证据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四种组合逐一写出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823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40595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系统能够对用户的身份进行快速验证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13045" y="392620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不可检验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：快速没有量化标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准，验收时无法判定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04835" y="3926205"/>
              <a:ext cx="31775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95% 的验证请求在 1 秒内返回结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果这类可度量的指标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5367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54152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680585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列车车门在两个停靠站之间要保持关闭；列车发生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紧急停车时，要打开车门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13045" y="4680585"/>
              <a:ext cx="2491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不一致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：在两站之间紧急停车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时，两条需求互相矛盾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04835" y="468058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补充优先级，或者把冲突场景单独写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成一条需求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11125200" cy="37719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201602" y="1524000"/>
              <a:ext cx="9525" cy="3771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93392" y="1524000"/>
              <a:ext cx="9525" cy="3771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728335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需求错误的四种典型毛病是疏忽、不一致、二义性和不正确的事实。写完一条需求后先问一句怎样验收它，多数毛病会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当场暴露。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需求分析的任务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任务一：确定对系统的综合要求（八个方面）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33400" y="1524000"/>
            <a:ext cx="11125200" cy="3950018"/>
            <a:chOff x="533400" y="1524000"/>
            <a:chExt cx="11125200" cy="39500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910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768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17770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56408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举例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9412" y="208788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功能需求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77337" y="20878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系统必须完成的功能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7417" y="208788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按学号查询本学期全部课程成绩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974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02205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9412" y="25269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性能需求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77337" y="252698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速度、响应时间、吞吐量、存储容量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27417" y="2526982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查询响应时间不超过 2 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35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9412" y="296608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可靠性和可用性需求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77337" y="296608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平均无故障时间、可用率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27417" y="2966085"/>
              <a:ext cx="20582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全年可用率不低于 99.9%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746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79458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9412" y="340518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出错处理需求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77337" y="340518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系统对自身运行时错误的检测与响应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27417" y="340518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数据库连接失败时回滚并给出提示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137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9412" y="384333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接口需求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77337" y="384333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用户接口、硬件接口、软件接口、通信接口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27417" y="384333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与一卡通系统之间的数据交换格式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529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57662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9412" y="428244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77337" y="428244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精度、工具和语言、设计约束、标准、硬件平台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27417" y="4282440"/>
              <a:ext cx="3074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必须用 Java 开发并部署在指定服务器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92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9412" y="47215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逆向需求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77337" y="47215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说明软件不应该做什么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27417" y="47215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系统不保存用户口令的明文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0301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034915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9412" y="516064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将来可能提出的要求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77337" y="516064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为可能的扩充预留设计余地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27417" y="516064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将来可能增加移动端入口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11125200" cy="39500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976562" y="1524000"/>
              <a:ext cx="9525" cy="39500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426642" y="1524000"/>
              <a:ext cx="9525" cy="39500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0" name="Rectangle 5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6028373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出错处理需求指的是系统对自身错误的响应；用户操作不当时怎样提示，属于功能需求。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需求分析的任务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任务二到任务四：数据要求、逻辑模型与开发计划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ree-1"/>
          <p:cNvGrpSpPr/>
          <p:nvPr/>
        </p:nvGrpSpPr>
        <p:grpSpPr>
          <a:xfrm>
            <a:off x="533400" y="1821180"/>
            <a:ext cx="5193982" cy="4243388"/>
            <a:chOff x="533400" y="1821180"/>
            <a:chExt cx="5193982" cy="4243388"/>
          </a:xfrm>
        </p:grpSpPr>
        <p:sp>
          <p:nvSpPr>
            <p:cNvPr id="7" name="Freeform 7"/>
            <p:cNvSpPr/>
            <p:nvPr/>
          </p:nvSpPr>
          <p:spPr>
            <a:xfrm>
              <a:off x="3856672" y="200787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56672" y="2975610"/>
              <a:ext cx="419100" cy="967740"/>
            </a:xfrm>
            <a:custGeom>
              <a:avLst/>
              <a:gdLst/>
              <a:ahLst/>
              <a:cxnLst/>
              <a:rect l="l" t="t" r="r" b="b"/>
              <a:pathLst>
                <a:path w="419100" h="967740">
                  <a:moveTo>
                    <a:pt x="0" y="967740"/>
                  </a:moveTo>
                  <a:lnTo>
                    <a:pt x="209550" y="96774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856672" y="39433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56672" y="3943350"/>
              <a:ext cx="419100" cy="967740"/>
            </a:xfrm>
            <a:custGeom>
              <a:avLst/>
              <a:gdLst/>
              <a:ahLst/>
              <a:cxnLst/>
              <a:rect l="l" t="t" r="r" b="b"/>
              <a:pathLst>
                <a:path w="419100" h="967740">
                  <a:moveTo>
                    <a:pt x="0" y="0"/>
                  </a:moveTo>
                  <a:lnTo>
                    <a:pt x="209550" y="0"/>
                  </a:lnTo>
                  <a:lnTo>
                    <a:pt x="209550" y="967740"/>
                  </a:lnTo>
                  <a:lnTo>
                    <a:pt x="419100" y="96774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856672" y="587883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985010" y="2007870"/>
              <a:ext cx="419100" cy="1935480"/>
            </a:xfrm>
            <a:custGeom>
              <a:avLst/>
              <a:gdLst/>
              <a:ahLst/>
              <a:cxnLst/>
              <a:rect l="l" t="t" r="r" b="b"/>
              <a:pathLst>
                <a:path w="419100" h="1935480">
                  <a:moveTo>
                    <a:pt x="0" y="1935480"/>
                  </a:moveTo>
                  <a:lnTo>
                    <a:pt x="209550" y="193548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985010" y="39433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85010" y="3943350"/>
              <a:ext cx="419100" cy="1935480"/>
            </a:xfrm>
            <a:custGeom>
              <a:avLst/>
              <a:gdLst/>
              <a:ahLst/>
              <a:cxnLst/>
              <a:rect l="l" t="t" r="r" b="b"/>
              <a:pathLst>
                <a:path w="419100" h="1935480">
                  <a:moveTo>
                    <a:pt x="0" y="0"/>
                  </a:moveTo>
                  <a:lnTo>
                    <a:pt x="209550" y="0"/>
                  </a:lnTo>
                  <a:lnTo>
                    <a:pt x="209550" y="1935480"/>
                  </a:lnTo>
                  <a:lnTo>
                    <a:pt x="419100" y="193548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275772" y="1821180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404110" y="1821180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275772" y="2788920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75772" y="3756660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75772" y="4724400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404110" y="3651885"/>
              <a:ext cx="1451610" cy="582930"/>
            </a:xfrm>
            <a:prstGeom prst="roundRect">
              <a:avLst>
                <a:gd name="adj" fmla="val 1634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75772" y="5692140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404110" y="5692140"/>
              <a:ext cx="1451610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651885"/>
              <a:ext cx="1451610" cy="582930"/>
            </a:xfrm>
            <a:prstGeom prst="roundRect">
              <a:avLst>
                <a:gd name="adj" fmla="val 1634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364546" y="1918811"/>
              <a:ext cx="4401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 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92883" y="191881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建立数据模型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64546" y="28865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数据字典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64546" y="385429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层次方框图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64546" y="4822031"/>
              <a:ext cx="8974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Warnier 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92883" y="3748564"/>
              <a:ext cx="115087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复杂数据结构的</a:t>
              </a:r>
              <a:br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描述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64546" y="57897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数据规范化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92883" y="57897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数据库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2173" y="3749516"/>
              <a:ext cx="115087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分析系统的数据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032182" y="1524000"/>
            <a:ext cx="5626418" cy="1866900"/>
            <a:chOff x="6032182" y="1524000"/>
            <a:chExt cx="5626418" cy="1866900"/>
          </a:xfrm>
        </p:grpSpPr>
        <p:sp>
          <p:nvSpPr>
            <p:cNvPr id="34" name="Rectangle 34"/>
            <p:cNvSpPr/>
            <p:nvPr/>
          </p:nvSpPr>
          <p:spPr>
            <a:xfrm>
              <a:off x="6032182" y="1524000"/>
              <a:ext cx="5626418" cy="1866900"/>
            </a:xfrm>
            <a:prstGeom prst="roundRect">
              <a:avLst>
                <a:gd name="adj" fmla="val 714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1732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27991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84683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导出系统的逻辑模型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34112" y="2129790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软件系统详细的逻辑模型，通常用数据流图、实体-联系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图、状态转换图、数据字典和主要的处理算法描述。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35256" y="2747486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逻辑模型只说明系统做什么以及数据怎样流动，不说明用什么技术实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032182" y="3581400"/>
            <a:ext cx="5626418" cy="1621155"/>
            <a:chOff x="6032182" y="3581400"/>
            <a:chExt cx="5626418" cy="1621155"/>
          </a:xfrm>
        </p:grpSpPr>
        <p:sp>
          <p:nvSpPr>
            <p:cNvPr id="41" name="Rectangle 41"/>
            <p:cNvSpPr/>
            <p:nvPr/>
          </p:nvSpPr>
          <p:spPr>
            <a:xfrm>
              <a:off x="6032182" y="3581400"/>
              <a:ext cx="5626418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41708" y="37147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79832" y="37909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66091" y="38266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任务四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22783" y="38261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修正系统的开发计划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72212" y="418719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经过需求分析，对系统的规模和复杂程度有了更准确的认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识，可以比较准确地估计系统的成本和进度，修正以前（可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行性研究阶段）制定的开发计划。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032182" y="5393055"/>
            <a:ext cx="5626418" cy="782955"/>
            <a:chOff x="6032182" y="5393055"/>
            <a:chExt cx="5626418" cy="782955"/>
          </a:xfrm>
        </p:grpSpPr>
        <p:sp>
          <p:nvSpPr>
            <p:cNvPr id="48" name="Rectangle 48"/>
            <p:cNvSpPr/>
            <p:nvPr/>
          </p:nvSpPr>
          <p:spPr>
            <a:xfrm>
              <a:off x="6032182" y="539305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236970" y="5684520"/>
              <a:ext cx="200026" cy="200025"/>
              <a:chOff x="6236970" y="5684520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236970" y="56845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276709" y="57289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311424" y="58400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538912" y="554164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数据字典给出每个数据流、数据项和数据存储的精确定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义，是这几张图之间保持一致的依据。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487575" y="2705100"/>
            <a:ext cx="2836850" cy="2305050"/>
            <a:chOff x="8487575" y="2705100"/>
            <a:chExt cx="2836850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487575" y="2705100"/>
              <a:ext cx="283685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52160" cy="3351847"/>
            <a:chOff x="667512" y="1835468"/>
            <a:chExt cx="585216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与用户沟通获取需求的方法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四条路子：问、顺着数据流推、开会、做原型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访谈与情景分析技术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面向数据流自顶向下求精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简易的应用规格说明技术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快速建立软件原型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与用户沟通获取需求的方法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访谈：正式、非正式、调查表与情景分析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2857500"/>
            <a:chOff x="533400" y="1524000"/>
            <a:chExt cx="4977765" cy="2857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857500"/>
            </a:xfrm>
            <a:prstGeom prst="roundRect">
              <a:avLst>
                <a:gd name="adj" fmla="val 4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9080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四种形式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正式访谈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：事先拟好提纲，按条提问，适合确认已经比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较明确的需求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1270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非正式访谈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：提出开放性问题，鼓励用户说出自己的想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22611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16992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分发调查表：用户人数多而且分散时效率高，问题必须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问得具体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7833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72713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情景分析技术：把用户将来怎样用系统解决某个具体问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题演示一遍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551998"/>
            <a:ext cx="4977765" cy="899160"/>
            <a:chOff x="533400" y="4551998"/>
            <a:chExt cx="4977765" cy="899160"/>
          </a:xfrm>
        </p:grpSpPr>
        <p:sp>
          <p:nvSpPr>
            <p:cNvPr id="20" name="Rectangle 20"/>
            <p:cNvSpPr/>
            <p:nvPr/>
          </p:nvSpPr>
          <p:spPr>
            <a:xfrm>
              <a:off x="533400" y="4551998"/>
              <a:ext cx="4977765" cy="899160"/>
            </a:xfrm>
            <a:prstGeom prst="roundRect">
              <a:avLst>
                <a:gd name="adj" fmla="val 1271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901565"/>
              <a:ext cx="200026" cy="200026"/>
              <a:chOff x="738188" y="4901565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9015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49682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7088" y="50015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782502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调查表的问题要能用一句话答出来，避免出现请谈谈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您的想法这类没法统计的题目。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5815965" y="1524000"/>
            <a:ext cx="5842635" cy="1485900"/>
            <a:chOff x="5815965" y="1524000"/>
            <a:chExt cx="5842635" cy="1485900"/>
          </a:xfrm>
        </p:grpSpPr>
        <p:sp>
          <p:nvSpPr>
            <p:cNvPr id="27" name="Rectangle 27"/>
            <p:cNvSpPr/>
            <p:nvPr/>
          </p:nvSpPr>
          <p:spPr>
            <a:xfrm>
              <a:off x="5815965" y="1524000"/>
              <a:ext cx="5842635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825490" y="165735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40755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25324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情景分析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33897" y="2054542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对用户将来使用目标系统解决某个具体问题的方法和结果进行分析。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049328" y="24117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05347" y="2355532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演示目标系统的行为，便于用户理解，还可能揭示出分析员还不知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道的需求；也能让用户在需求分析中始终主动参与</a:t>
              </a:r>
            </a:p>
          </p:txBody>
        </p:sp>
      </p:grpSp>
      <p:grpSp>
        <p:nvGrpSpPr>
          <p:cNvPr id="52" name="c2-steps-2"/>
          <p:cNvGrpSpPr/>
          <p:nvPr/>
        </p:nvGrpSpPr>
        <p:grpSpPr>
          <a:xfrm>
            <a:off x="5815965" y="3188970"/>
            <a:ext cx="4043401" cy="2268379"/>
            <a:chOff x="5815965" y="3188970"/>
            <a:chExt cx="4043401" cy="2268379"/>
          </a:xfrm>
        </p:grpSpPr>
        <p:sp>
          <p:nvSpPr>
            <p:cNvPr id="35" name="Rectangle 35"/>
            <p:cNvSpPr/>
            <p:nvPr/>
          </p:nvSpPr>
          <p:spPr>
            <a:xfrm>
              <a:off x="5949315" y="3331845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815965" y="318897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09589" y="32627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815965" y="377190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09589" y="38457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815965" y="435483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09589" y="44286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815965" y="493776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09589" y="50115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28207" y="322135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触发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9350" y="34885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学生打开成绩查询页面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28207" y="380428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29350" y="407146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输入学号与验证码后提交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28207" y="438721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正常结果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9350" y="465439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页面列出本学期全部课程的成绩与绩点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8207" y="497014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异常分支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9350" y="5237321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学号不存在时提示重新输入；连续五次失败锁定十分钟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3" name="Rectangle 5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6028373"/>
              <a:ext cx="9100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情景要写到每一步屏幕上出现什么这一层，用户才能判断对不对；异常分支往往比正常流程更能暴露遗漏的需求。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与用户沟通获取需求的方法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面向数据流自顶向下求精：画一层、复查一层、再细化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graph-1"/>
          <p:cNvGrpSpPr/>
          <p:nvPr/>
        </p:nvGrpSpPr>
        <p:grpSpPr>
          <a:xfrm>
            <a:off x="1381125" y="1760220"/>
            <a:ext cx="4215765" cy="3586163"/>
            <a:chOff x="1381125" y="1760220"/>
            <a:chExt cx="4215765" cy="3586163"/>
          </a:xfrm>
        </p:grpSpPr>
        <p:sp>
          <p:nvSpPr>
            <p:cNvPr id="7" name="Freeform 7"/>
            <p:cNvSpPr/>
            <p:nvPr/>
          </p:nvSpPr>
          <p:spPr>
            <a:xfrm>
              <a:off x="2333625" y="2060258"/>
              <a:ext cx="9525" cy="764858"/>
            </a:xfrm>
            <a:custGeom>
              <a:avLst/>
              <a:gdLst/>
              <a:ahLst/>
              <a:cxnLst/>
              <a:rect l="l" t="t" r="r" b="b"/>
              <a:pathLst>
                <a:path w="9525" h="764858">
                  <a:moveTo>
                    <a:pt x="0" y="0"/>
                  </a:moveTo>
                  <a:lnTo>
                    <a:pt x="0" y="7648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86000" y="28251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333625" y="3220402"/>
              <a:ext cx="9525" cy="763905"/>
            </a:xfrm>
            <a:custGeom>
              <a:avLst/>
              <a:gdLst/>
              <a:ahLst/>
              <a:cxnLst/>
              <a:rect l="l" t="t" r="r" b="b"/>
              <a:pathLst>
                <a:path w="9525" h="763905">
                  <a:moveTo>
                    <a:pt x="0" y="0"/>
                  </a:moveTo>
                  <a:lnTo>
                    <a:pt x="0" y="7639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86000" y="39843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33625" y="437959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86000" y="49510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295650" y="1952625"/>
              <a:ext cx="1176338" cy="1117282"/>
            </a:xfrm>
            <a:custGeom>
              <a:avLst/>
              <a:gdLst/>
              <a:ahLst/>
              <a:cxnLst/>
              <a:rect l="l" t="t" r="r" b="b"/>
              <a:pathLst>
                <a:path w="1176338" h="1117282">
                  <a:moveTo>
                    <a:pt x="0" y="1117282"/>
                  </a:moveTo>
                  <a:lnTo>
                    <a:pt x="1176338" y="537210"/>
                  </a:lnTo>
                  <a:lnTo>
                    <a:pt x="857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95650" y="1909762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952"/>
                  </a:moveTo>
                  <a:lnTo>
                    <a:pt x="106680" y="0"/>
                  </a:lnTo>
                  <a:lnTo>
                    <a:pt x="64770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295650" y="1953578"/>
              <a:ext cx="2301240" cy="2276475"/>
            </a:xfrm>
            <a:custGeom>
              <a:avLst/>
              <a:gdLst/>
              <a:ahLst/>
              <a:cxnLst/>
              <a:rect l="l" t="t" r="r" b="b"/>
              <a:pathLst>
                <a:path w="2301240" h="2276475">
                  <a:moveTo>
                    <a:pt x="0" y="2276475"/>
                  </a:moveTo>
                  <a:lnTo>
                    <a:pt x="2301240" y="1116330"/>
                  </a:lnTo>
                  <a:lnTo>
                    <a:pt x="857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295650" y="1910715"/>
              <a:ext cx="106680" cy="84773"/>
            </a:xfrm>
            <a:custGeom>
              <a:avLst/>
              <a:gdLst/>
              <a:ahLst/>
              <a:cxnLst/>
              <a:rect l="l" t="t" r="r" b="b"/>
              <a:pathLst>
                <a:path w="106680" h="84773">
                  <a:moveTo>
                    <a:pt x="0" y="0"/>
                  </a:moveTo>
                  <a:lnTo>
                    <a:pt x="106680" y="0"/>
                  </a:lnTo>
                  <a:lnTo>
                    <a:pt x="63817" y="8477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81125" y="1760220"/>
              <a:ext cx="19050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381125" y="2920365"/>
              <a:ext cx="19050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381125" y="4079558"/>
              <a:ext cx="19050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381125" y="5046345"/>
              <a:ext cx="190500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24812" y="18407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分析追踪数据流图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26361" y="29998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用户复查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75587" y="41600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细化数据流图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75587" y="512587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得到逻辑模型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009775" y="3564255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025968" y="359664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无补充修正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66925" y="4627245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86546" y="465867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不需分解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560445" y="2694622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576638" y="272605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有补充修正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179570" y="3564255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199192" y="359664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需要分解</a:t>
              </a:r>
            </a:p>
          </p:txBody>
        </p:sp>
      </p:grpSp>
      <p:grpSp>
        <p:nvGrpSpPr>
          <p:cNvPr id="39" name="c1-callout-2"/>
          <p:cNvGrpSpPr/>
          <p:nvPr/>
        </p:nvGrpSpPr>
        <p:grpSpPr>
          <a:xfrm>
            <a:off x="533400" y="5579745"/>
            <a:ext cx="5626418" cy="782955"/>
            <a:chOff x="533400" y="5579745"/>
            <a:chExt cx="5626418" cy="782955"/>
          </a:xfrm>
        </p:grpSpPr>
        <p:sp>
          <p:nvSpPr>
            <p:cNvPr id="34" name="Rectangle 34"/>
            <p:cNvSpPr/>
            <p:nvPr/>
          </p:nvSpPr>
          <p:spPr>
            <a:xfrm>
              <a:off x="533400" y="557974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72833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两个循环的出口条件不同：一个看用户还有没有补充修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正，一个看加工还需不需要分解。</a:t>
              </a:r>
            </a:p>
          </p:txBody>
        </p:sp>
      </p:grpSp>
      <p:grpSp>
        <p:nvGrpSpPr>
          <p:cNvPr id="57" name="c2-card-1"/>
          <p:cNvGrpSpPr/>
          <p:nvPr/>
        </p:nvGrpSpPr>
        <p:grpSpPr>
          <a:xfrm>
            <a:off x="6464618" y="1524000"/>
            <a:ext cx="5193982" cy="3800475"/>
            <a:chOff x="6464618" y="1524000"/>
            <a:chExt cx="5193982" cy="3800475"/>
          </a:xfrm>
        </p:grpSpPr>
        <p:sp>
          <p:nvSpPr>
            <p:cNvPr id="40" name="Rectangle 40"/>
            <p:cNvSpPr/>
            <p:nvPr/>
          </p:nvSpPr>
          <p:spPr>
            <a:xfrm>
              <a:off x="6464618" y="1524000"/>
              <a:ext cx="5193982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04648" y="211074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从数据在系统中怎样流动、每一步被怎样加工入手，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先画出顶层数据流图，再一层层细化。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12267" y="27184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74117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13258" y="273177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分析追踪数据流图：跟着数据流走一遍，标出每个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加工的输入和输出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712267" y="333946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74117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13258" y="335280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用户复查：请用户确认；用户提出补充修正就回到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712267" y="396049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74117" y="40027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13258" y="397383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细化数据流图：把复杂的加工分解成下一层数据流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图，回到第 1 步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712267" y="458152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74117" y="46238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13258" y="459486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直到每个加工都不需要再分解，得到系统的逻辑模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6464618" y="5514975"/>
            <a:ext cx="5193982" cy="782955"/>
            <a:chOff x="6464618" y="5514975"/>
            <a:chExt cx="5193982" cy="782955"/>
          </a:xfrm>
        </p:grpSpPr>
        <p:sp>
          <p:nvSpPr>
            <p:cNvPr id="58" name="Rectangle 58"/>
            <p:cNvSpPr/>
            <p:nvPr/>
          </p:nvSpPr>
          <p:spPr>
            <a:xfrm>
              <a:off x="6464618" y="551497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669405" y="5806440"/>
              <a:ext cx="200026" cy="200025"/>
              <a:chOff x="6669405" y="5806440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669405" y="58064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09144" y="58508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43859" y="59620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971348" y="566356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每分解一层，父图与子图的输入输出数据流必须一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致，这一条在第 4 章称为父图与子图的平衡。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与用户沟通获取需求的方法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简易的应用规格说明技术：把用户和开发者放在一张桌子上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1323320" cy="293370"/>
            <a:chOff x="525780" y="1548765"/>
            <a:chExt cx="1132332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1323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一种面向团队的需求收集法，提倡用户与开发者密切合作，共同标识问题、提出解决方案要素、商讨不同方案并指定基本需求。</a:t>
              </a:r>
            </a:p>
          </p:txBody>
        </p:sp>
      </p:grpSp>
      <p:grpSp>
        <p:nvGrpSpPr>
          <p:cNvPr id="30" name="c1-steps-1"/>
          <p:cNvGrpSpPr/>
          <p:nvPr/>
        </p:nvGrpSpPr>
        <p:grpSpPr>
          <a:xfrm>
            <a:off x="533400" y="1964055"/>
            <a:ext cx="5271516" cy="3236976"/>
            <a:chOff x="533400" y="1964055"/>
            <a:chExt cx="5271516" cy="3236976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26879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8127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550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9754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3574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1095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65201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7258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19969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初步访谈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277428"/>
              <a:ext cx="4858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通过用户对基本问题的回答，初步确定待解决问题的范围和解决方案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26141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各写产品需求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2894648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开发者和用户分别写出产品需求，然后组织会议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23040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会议前准备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510915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每位与会者会前几天列出对象、服务、约束条件（成本、规模、完成日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期）和性能标准（速度、容量）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406860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展示与讨论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349115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会上每人把准备好的列表展示出来，讨论是否需要这个新产品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261" y="468582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创建组合列表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4966335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针对某个议题把各人的列表合并成一张组合列表</a:t>
              </a:r>
            </a:p>
          </p:txBody>
        </p:sp>
      </p:grpSp>
      <p:grpSp>
        <p:nvGrpSpPr>
          <p:cNvPr id="48" name="c2-steps-1"/>
          <p:cNvGrpSpPr/>
          <p:nvPr/>
        </p:nvGrpSpPr>
        <p:grpSpPr>
          <a:xfrm>
            <a:off x="6248400" y="1964055"/>
            <a:ext cx="5433060" cy="2840736"/>
            <a:chOff x="6248400" y="1964055"/>
            <a:chExt cx="5433060" cy="2840736"/>
          </a:xfrm>
        </p:grpSpPr>
        <p:sp>
          <p:nvSpPr>
            <p:cNvPr id="31" name="Rectangle 31"/>
            <p:cNvSpPr/>
            <p:nvPr/>
          </p:nvSpPr>
          <p:spPr>
            <a:xfrm>
              <a:off x="6381750" y="2106930"/>
              <a:ext cx="19050" cy="22926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248400" y="19640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2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48400" y="28022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2024" y="28760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248400" y="341852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2024" y="3492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48400" y="425672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2024" y="4330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0261" y="199691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形成一致列表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1404" y="2277428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由协调人主持讨论，对象、服务、约束、性能四个议题各形成一张意见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一致的列表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0261" y="28351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分组细化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404" y="3115627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与会者分成更小的小组，为每张列表中的项目制定小型规格说明并讨论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0261" y="345138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制定确认标准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404" y="3731895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每位与会者制定一整套产品确认标准，提交会议讨论，形成一致的确认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0261" y="4289584"/>
              <a:ext cx="8103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起草 SRS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1404" y="4570095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由一名或多名与会者根据会议成果起草完整的软件需求规格说明书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9" name="Rectangle 4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6011704"/>
              <a:ext cx="86166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四个议题始终是对象、服务、约束和性能；会议的产物是一致的列表、小型规格说明和一套确认标准。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与用户沟通获取需求的方法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快速建立软件原型：让用户先看见，再说要不要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291715"/>
            <a:chOff x="533400" y="1524000"/>
            <a:chExt cx="5410200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快速原型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快速原型就是快速建立起来的、旨在演示目标系统主要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功能的可运行的程序。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应具备的特性：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快速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容易修改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构建和修改原型的方法与工具：第四代技术、可重用的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软件构件、形式化规格说明和原型环境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006215"/>
            <a:ext cx="5410200" cy="782955"/>
            <a:chOff x="533400" y="4006215"/>
            <a:chExt cx="5410200" cy="782955"/>
          </a:xfrm>
        </p:grpSpPr>
        <p:sp>
          <p:nvSpPr>
            <p:cNvPr id="18" name="Rectangle 18"/>
            <p:cNvSpPr/>
            <p:nvPr/>
          </p:nvSpPr>
          <p:spPr>
            <a:xfrm>
              <a:off x="533400" y="400621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297680"/>
              <a:ext cx="200026" cy="200025"/>
              <a:chOff x="738188" y="4297680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2976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43421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44532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15480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原型的目的是让用户看见需求，所以可以牺牲效率和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健壮性，但界面和主要功能要接近真实。</a:t>
              </a:r>
            </a:p>
          </p:txBody>
        </p:sp>
      </p:grpSp>
      <p:grpSp>
        <p:nvGrpSpPr>
          <p:cNvPr id="31" name="c1-callout-3"/>
          <p:cNvGrpSpPr/>
          <p:nvPr/>
        </p:nvGrpSpPr>
        <p:grpSpPr>
          <a:xfrm>
            <a:off x="533400" y="4979670"/>
            <a:ext cx="5410200" cy="876300"/>
            <a:chOff x="533400" y="4979670"/>
            <a:chExt cx="5410200" cy="876300"/>
          </a:xfrm>
        </p:grpSpPr>
        <p:sp>
          <p:nvSpPr>
            <p:cNvPr id="25" name="Rectangle 25"/>
            <p:cNvSpPr/>
            <p:nvPr/>
          </p:nvSpPr>
          <p:spPr>
            <a:xfrm>
              <a:off x="533400" y="4979670"/>
              <a:ext cx="5410200" cy="876300"/>
            </a:xfrm>
            <a:prstGeom prst="roundRect">
              <a:avLst>
                <a:gd name="adj" fmla="val 1304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6129" y="5314116"/>
              <a:ext cx="224134" cy="192560"/>
              <a:chOff x="726129" y="5314116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8200" y="53844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6129" y="53141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4622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17493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原型用完就该丢掉或重写。把演示用的代码直接当成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产品代码，是常见的翻车方式。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248400" y="1524000"/>
            <a:ext cx="5410200" cy="3442335"/>
            <a:chOff x="6248400" y="1524000"/>
            <a:chExt cx="5410200" cy="3442335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3442335"/>
            </a:xfrm>
            <a:prstGeom prst="roundRect">
              <a:avLst>
                <a:gd name="adj" fmla="val 38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1657350"/>
              <a:ext cx="47625" cy="31756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96050" y="1733550"/>
              <a:ext cx="501015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84303" y="1769269"/>
              <a:ext cx="324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Tips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03745" y="1768792"/>
              <a:ext cx="15964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四代语言（4GL）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8430" y="2129790"/>
              <a:ext cx="4720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R. Ross 于 1981 年提出，在大型数据库管理程序基础上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发展起来的程序设计语言。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501765" y="28136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9880" y="275082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独立于具体的处理机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501765" y="31489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59880" y="308610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面向结果的非过程式语言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501765" y="34842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9880" y="342138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有丰富的软件工具的支持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01765" y="381952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59880" y="375666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能统一利用和管理各种资源，适应不同水平用户的需要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89573" y="4088606"/>
              <a:ext cx="475157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 4GL 为核心的软件开发技术称为四代技术（4GT）。支持 4GT 的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工具有数据库查询语言、报表生成器、图表生成器、人机交互的屏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幕设计与代码生成系统等。</a:t>
              </a:r>
            </a:p>
          </p:txBody>
        </p:sp>
      </p:grpSp>
      <p:grpSp>
        <p:nvGrpSpPr>
          <p:cNvPr id="53" name="c2-kv-2"/>
          <p:cNvGrpSpPr/>
          <p:nvPr/>
        </p:nvGrpSpPr>
        <p:grpSpPr>
          <a:xfrm>
            <a:off x="6240780" y="5181600"/>
            <a:ext cx="5417820" cy="733425"/>
            <a:chOff x="6240780" y="5181600"/>
            <a:chExt cx="5417820" cy="733425"/>
          </a:xfrm>
        </p:grpSpPr>
        <p:sp>
          <p:nvSpPr>
            <p:cNvPr id="48" name="TextBox 48"/>
            <p:cNvSpPr txBox="1"/>
            <p:nvPr/>
          </p:nvSpPr>
          <p:spPr>
            <a:xfrm>
              <a:off x="6240780" y="51816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非过程式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79055" y="51816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只写要什么结果，不写一步步怎么算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55016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40780" y="56216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今天的对应物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79055" y="5621655"/>
              <a:ext cx="26311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SQL、低代码平台、报表工具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487575" y="2705100"/>
            <a:ext cx="2836850" cy="2305050"/>
            <a:chOff x="8487575" y="2705100"/>
            <a:chExt cx="2836850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487575" y="2705100"/>
              <a:ext cx="283685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71033" cy="2997517"/>
            <a:chOff x="667512" y="1835468"/>
            <a:chExt cx="537103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分析建模与规格说明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611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模型是无歧义的书面描述，SRS 是需求阶段的正式产品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模型由符号和规则组成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软件需求规格说明描述哪些内容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409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SRS 的章节结构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分析建模与规格说明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模型是为了理解事物而做的抽象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040255"/>
            <a:chOff x="533400" y="1524000"/>
            <a:chExt cx="5410200" cy="20402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4025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735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模型就是为了理解事物而对事物做出的一种抽象，是对事物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的一种无歧义的书面描述。通常，模型由一组图形符号和组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织这些符号的规则组成。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3524" y="2957512"/>
              <a:ext cx="4584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所以看一张图先看两件事：每种符号代表什么，符号之间怎样连才合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26" name="c1-kv-2"/>
          <p:cNvGrpSpPr/>
          <p:nvPr/>
        </p:nvGrpSpPr>
        <p:grpSpPr>
          <a:xfrm>
            <a:off x="526161" y="3767614"/>
            <a:ext cx="5417439" cy="1527429"/>
            <a:chOff x="526161" y="3767614"/>
            <a:chExt cx="5417439" cy="1527429"/>
          </a:xfrm>
        </p:grpSpPr>
        <p:sp>
          <p:nvSpPr>
            <p:cNvPr id="15" name="TextBox 15"/>
            <p:cNvSpPr txBox="1"/>
            <p:nvPr/>
          </p:nvSpPr>
          <p:spPr>
            <a:xfrm>
              <a:off x="526161" y="376761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数据流图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12976" y="3767614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圆代表加工，箭头代表数据流，方框代表外部实体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0709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161" y="4183856"/>
              <a:ext cx="5025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ER 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12976" y="418385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矩形代表实体，菱形代表联系，椭圆代表属性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4872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161" y="460009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状态转换图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12976" y="460009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圆角框代表状态，箭头代表转换，箭头上写事件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9034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161" y="5016341"/>
              <a:ext cx="6085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IPO 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12976" y="501634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三栏从左到右依次是输入、处理、输出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248400" y="1524000"/>
            <a:ext cx="5410200" cy="2586038"/>
            <a:chOff x="6248400" y="1524000"/>
            <a:chExt cx="5410200" cy="2586038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2586038"/>
            </a:xfrm>
            <a:prstGeom prst="roundRect">
              <a:avLst>
                <a:gd name="adj" fmla="val 51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1657350"/>
              <a:ext cx="47625" cy="231933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84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76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67931" y="1756886"/>
              <a:ext cx="22760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软件需求规格说明（SRS）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7381" y="2100739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通常用自然语言完整、准确、具体地描述系统的各项要求。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92240" y="247840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48831" y="24188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数据要求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92240" y="279654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48831" y="273605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功能需求、性能需求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92240" y="3113723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8831" y="305419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可靠性和可用性要求、出错处理需求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92240" y="343185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48831" y="337137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接口需求、约束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92240" y="37499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48831" y="368950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逆向需求、将来可能提出的要求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248400" y="4290060"/>
            <a:ext cx="5410200" cy="948690"/>
            <a:chOff x="6248400" y="4290060"/>
            <a:chExt cx="5410200" cy="948690"/>
          </a:xfrm>
        </p:grpSpPr>
        <p:sp>
          <p:nvSpPr>
            <p:cNvPr id="44" name="Rectangle 44"/>
            <p:cNvSpPr/>
            <p:nvPr/>
          </p:nvSpPr>
          <p:spPr>
            <a:xfrm>
              <a:off x="6248400" y="4290060"/>
              <a:ext cx="5410200" cy="948690"/>
            </a:xfrm>
            <a:prstGeom prst="roundRect">
              <a:avLst>
                <a:gd name="adj" fmla="val 1204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441129" y="4661653"/>
              <a:ext cx="224134" cy="192560"/>
              <a:chOff x="6441129" y="4661653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553200" y="47320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441129" y="46616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53200" y="48098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755511" y="4534376"/>
              <a:ext cx="438772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自然语言天生有二义性，所以 SRS 必须配上图形模型和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数据字典，两者互相校核。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1" name="Rectangle 5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6011704"/>
              <a:ext cx="72901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SRS 是需求分析阶段的正式产品，评审通过后成为后续设计、编码和验收测试的依据。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12339" cy="909257"/>
            <a:chOff x="520446" y="342900"/>
            <a:chExt cx="27123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分析建模与规格说明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8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SRS 的章节结构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174512" cy="308039"/>
            <a:chOff x="525399" y="1550194"/>
            <a:chExt cx="817451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17451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SRS 是 Software Requirement Specification 的缩写，下面是课件给出的标准目录。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67865"/>
            <a:ext cx="3505200" cy="3158490"/>
            <a:chOff x="533400" y="1967865"/>
            <a:chExt cx="3505200" cy="315849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3505200" cy="3158490"/>
            </a:xfrm>
            <a:prstGeom prst="roundRect">
              <a:avLst>
                <a:gd name="adj" fmla="val 42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42950" y="2177415"/>
              <a:ext cx="66579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7853" y="221313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 1 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5428" y="221265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2573655"/>
              <a:ext cx="24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 需求规格说明书的目的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5330" y="290893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 软件产品的作用范围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5330" y="324421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 定义、同义词与缩写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3579495"/>
              <a:ext cx="1216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 参考文献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391477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 需求规格说明书概览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4343400" y="1967865"/>
            <a:ext cx="3505200" cy="3158490"/>
            <a:chOff x="4343400" y="1967865"/>
            <a:chExt cx="3505200" cy="3158490"/>
          </a:xfrm>
        </p:grpSpPr>
        <p:sp>
          <p:nvSpPr>
            <p:cNvPr id="19" name="Rectangle 19"/>
            <p:cNvSpPr/>
            <p:nvPr/>
          </p:nvSpPr>
          <p:spPr>
            <a:xfrm>
              <a:off x="4343400" y="1967865"/>
              <a:ext cx="3505200" cy="3158490"/>
            </a:xfrm>
            <a:prstGeom prst="roundRect">
              <a:avLst>
                <a:gd name="adj" fmla="val 42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2177415"/>
              <a:ext cx="66579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7853" y="221313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 2 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25428" y="221265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一般性描述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257365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 产品与其环境之间的关系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45330" y="2908935"/>
              <a:ext cx="1216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 产品功能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45330" y="3244215"/>
              <a:ext cx="1216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 用户特征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45330" y="3579495"/>
              <a:ext cx="1418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 限制与约束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45330" y="3914775"/>
              <a:ext cx="18225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 假设与前提条件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67865"/>
            <a:ext cx="3505200" cy="3158490"/>
            <a:chOff x="8153400" y="1967865"/>
            <a:chExt cx="3505200" cy="3158490"/>
          </a:xfrm>
        </p:grpSpPr>
        <p:sp>
          <p:nvSpPr>
            <p:cNvPr id="29" name="Rectangle 29"/>
            <p:cNvSpPr/>
            <p:nvPr/>
          </p:nvSpPr>
          <p:spPr>
            <a:xfrm>
              <a:off x="8153400" y="1967865"/>
              <a:ext cx="3505200" cy="3158490"/>
            </a:xfrm>
            <a:prstGeom prst="roundRect">
              <a:avLst>
                <a:gd name="adj" fmla="val 42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62950" y="2177415"/>
              <a:ext cx="66579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47853" y="221313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 3 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35428" y="221265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特殊需求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55330" y="2573655"/>
              <a:ext cx="18225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 功能或行为需求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6473" y="2904649"/>
              <a:ext cx="29390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每一条按引言、输入、处理过程描述、输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出四段写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3439478"/>
              <a:ext cx="2863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 外部界面需求（用户界面、硬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件界面、软件界面）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55330" y="4060508"/>
              <a:ext cx="1216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 性能需求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55330" y="4395788"/>
              <a:ext cx="2863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 设计约束（标准化约束、硬件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约束）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9" name="Rectangle 3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每条功能需求都写成引言、输入、处理过程描述、输出四段，验收时就能逐段对照。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487575" y="2705100"/>
            <a:ext cx="2836850" cy="2305050"/>
            <a:chOff x="8487575" y="2705100"/>
            <a:chExt cx="2836850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487575" y="2705100"/>
              <a:ext cx="283685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73961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实体-联系图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用数据对象、属性和联系描述用户眼里的数据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概念性数据模型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数据对象与属性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一对一、一对多、多对多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121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 图的画法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实体-联系图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概念性数据模型：按用户的观点看数据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459230"/>
            <a:chOff x="533400" y="1524000"/>
            <a:chExt cx="5626418" cy="1459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概念性数据模型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概念性数据模型是一种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面向问题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的数据模型，是按照用户的观点对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数据建立的模型。它描述了从用户角度看到的数据，反映了用户的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现实环境，而且与在软件系统中的实现方法无关。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153728"/>
            <a:ext cx="5626418" cy="2478405"/>
            <a:chOff x="533400" y="3153728"/>
            <a:chExt cx="5626418" cy="2478405"/>
          </a:xfrm>
        </p:grpSpPr>
        <p:sp>
          <p:nvSpPr>
            <p:cNvPr id="14" name="Rectangle 14"/>
            <p:cNvSpPr/>
            <p:nvPr/>
          </p:nvSpPr>
          <p:spPr>
            <a:xfrm>
              <a:off x="533400" y="3153728"/>
              <a:ext cx="5626418" cy="2478405"/>
            </a:xfrm>
            <a:prstGeom prst="roundRect">
              <a:avLst>
                <a:gd name="adj" fmla="val 53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287078"/>
              <a:ext cx="47625" cy="22117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8190" y="33404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0862" y="33732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3784" y="337566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数据对象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332" y="3701415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数据对象是对软件必须理解的复合信息的抽象，是由一组属性来定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义的实体。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6762" y="43148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2782" y="425862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数据对象彼此间是有关联的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6762" y="461486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2782" y="4558665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数据对象只封装了数据，而没有封装施加于数据上的操作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2475" y="4855369"/>
              <a:ext cx="4989830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常见来源：外部实体（产生或使用信息的任何事物）、事物（报表）、行为（打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电话）、事件（响警报）、角色（教师、学生）、单位（会计科）、地点（仓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库）、结构（文件）。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6459665" y="1524000"/>
            <a:ext cx="5198935" cy="2063781"/>
            <a:chOff x="6459665" y="1524000"/>
            <a:chExt cx="5198935" cy="2063781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60007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97967" y="1645444"/>
              <a:ext cx="1291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数据模型中的三种信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84741" y="17454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61772" y="22455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数据对象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20062" y="2245519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对软件必须理解的复合信息的抽象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64618" y="25193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4618" y="2524125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1772" y="26455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20062" y="26455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定义数据对象的性质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29194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1772" y="30456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20062" y="3045619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数据对象彼此间相互连接的方式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1524000"/>
              <a:ext cx="5193982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018145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59665" y="3397091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三者相互关联，缺一不可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464618" y="3719512"/>
            <a:ext cx="5193982" cy="1912620"/>
            <a:chOff x="6464618" y="3719512"/>
            <a:chExt cx="5193982" cy="1912620"/>
          </a:xfrm>
        </p:grpSpPr>
        <p:sp>
          <p:nvSpPr>
            <p:cNvPr id="42" name="Rectangle 42"/>
            <p:cNvSpPr/>
            <p:nvPr/>
          </p:nvSpPr>
          <p:spPr>
            <a:xfrm>
              <a:off x="6464618" y="3719512"/>
              <a:ext cx="5193982" cy="1912620"/>
            </a:xfrm>
            <a:prstGeom prst="roundRect">
              <a:avLst>
                <a:gd name="adj" fmla="val 69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3852862"/>
              <a:ext cx="47625" cy="16459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89408" y="39062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82079" y="39390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属性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82549" y="425100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应该根据对所要解决的问题的理解，来确定特定数据对象的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一组合适的属性。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83692" y="4803934"/>
              <a:ext cx="45559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例如对图书馆系统里的图书，书名、ISBN、馆藏位置是合适的属性，印刷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厂家通常不是。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9" name="Rectangle 4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8373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数据对象只有数据、没有操作，这是它与面向对象方法中的类最主要的区别。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实体-联系图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联系的三种类型，联系自己也可以有属性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4977765" cy="3729990"/>
            <a:chOff x="533400" y="1524000"/>
            <a:chExt cx="4977765" cy="3729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729990"/>
            </a:xfrm>
            <a:prstGeom prst="roundRect">
              <a:avLst>
                <a:gd name="adj" fmla="val 35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46329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数据对象彼此之间相互连接的方式称为联系，可分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为三种类型。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4139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一对一联系（1∶1）：一个班级只有一个班长，一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个班长只属于一个班级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4139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一对多联系（1∶N）：一个教师教多门课程，一门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课程只由一个教师教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0557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992880"/>
              <a:ext cx="4177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多对多联系（M∶N）：一个学生选多门课程，一门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课程有多个学生选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4573" y="4610576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联系也可能有属性。成绩既不属于学生，也不属于课程，它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属于学这个联系。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5444490"/>
            <a:ext cx="4977765" cy="782955"/>
            <a:chOff x="533400" y="5444490"/>
            <a:chExt cx="4977765" cy="782955"/>
          </a:xfrm>
        </p:grpSpPr>
        <p:sp>
          <p:nvSpPr>
            <p:cNvPr id="21" name="Rectangle 21"/>
            <p:cNvSpPr/>
            <p:nvPr/>
          </p:nvSpPr>
          <p:spPr>
            <a:xfrm>
              <a:off x="533400" y="544449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735955"/>
              <a:ext cx="200026" cy="200025"/>
              <a:chOff x="738188" y="5735955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7359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7926" y="57804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2642" y="58915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559308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判断联系类型的办法：分别从两端各取一个实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例，问对面最多能对应几个。</a:t>
              </a:r>
            </a:p>
          </p:txBody>
        </p:sp>
      </p:grpSp>
      <p:grpSp>
        <p:nvGrpSpPr>
          <p:cNvPr id="64" name="c2-flow-1"/>
          <p:cNvGrpSpPr/>
          <p:nvPr/>
        </p:nvGrpSpPr>
        <p:grpSpPr>
          <a:xfrm>
            <a:off x="5952172" y="2029778"/>
            <a:ext cx="5570221" cy="3827145"/>
            <a:chOff x="5952172" y="2029778"/>
            <a:chExt cx="5570221" cy="3827145"/>
          </a:xfrm>
        </p:grpSpPr>
        <p:sp>
          <p:nvSpPr>
            <p:cNvPr id="28" name="Freeform 28"/>
            <p:cNvSpPr/>
            <p:nvPr/>
          </p:nvSpPr>
          <p:spPr>
            <a:xfrm>
              <a:off x="7626668" y="2330768"/>
              <a:ext cx="273367" cy="9525"/>
            </a:xfrm>
            <a:custGeom>
              <a:avLst/>
              <a:gdLst/>
              <a:ahLst/>
              <a:cxnLst/>
              <a:rect l="l" t="t" r="r" b="b"/>
              <a:pathLst>
                <a:path w="273367" h="9525">
                  <a:moveTo>
                    <a:pt x="0" y="0"/>
                  </a:moveTo>
                  <a:lnTo>
                    <a:pt x="27336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574530" y="2330768"/>
              <a:ext cx="272415" cy="9525"/>
            </a:xfrm>
            <a:custGeom>
              <a:avLst/>
              <a:gdLst/>
              <a:ahLst/>
              <a:cxnLst/>
              <a:rect l="l" t="t" r="r" b="b"/>
              <a:pathLst>
                <a:path w="272415" h="9525">
                  <a:moveTo>
                    <a:pt x="0" y="0"/>
                  </a:moveTo>
                  <a:lnTo>
                    <a:pt x="27241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626668" y="3943350"/>
              <a:ext cx="273367" cy="9525"/>
            </a:xfrm>
            <a:custGeom>
              <a:avLst/>
              <a:gdLst/>
              <a:ahLst/>
              <a:cxnLst/>
              <a:rect l="l" t="t" r="r" b="b"/>
              <a:pathLst>
                <a:path w="273367" h="9525">
                  <a:moveTo>
                    <a:pt x="0" y="0"/>
                  </a:moveTo>
                  <a:lnTo>
                    <a:pt x="27336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574530" y="3943350"/>
              <a:ext cx="272415" cy="9525"/>
            </a:xfrm>
            <a:custGeom>
              <a:avLst/>
              <a:gdLst/>
              <a:ahLst/>
              <a:cxnLst/>
              <a:rect l="l" t="t" r="r" b="b"/>
              <a:pathLst>
                <a:path w="272415" h="9525">
                  <a:moveTo>
                    <a:pt x="0" y="0"/>
                  </a:moveTo>
                  <a:lnTo>
                    <a:pt x="27241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626668" y="5555932"/>
              <a:ext cx="273367" cy="9525"/>
            </a:xfrm>
            <a:custGeom>
              <a:avLst/>
              <a:gdLst/>
              <a:ahLst/>
              <a:cxnLst/>
              <a:rect l="l" t="t" r="r" b="b"/>
              <a:pathLst>
                <a:path w="273367" h="9525">
                  <a:moveTo>
                    <a:pt x="0" y="0"/>
                  </a:moveTo>
                  <a:lnTo>
                    <a:pt x="27336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574530" y="5555932"/>
              <a:ext cx="272415" cy="9525"/>
            </a:xfrm>
            <a:custGeom>
              <a:avLst/>
              <a:gdLst/>
              <a:ahLst/>
              <a:cxnLst/>
              <a:rect l="l" t="t" r="r" b="b"/>
              <a:pathLst>
                <a:path w="272415" h="9525">
                  <a:moveTo>
                    <a:pt x="0" y="0"/>
                  </a:moveTo>
                  <a:lnTo>
                    <a:pt x="27241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952172" y="2111692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900035" y="2029778"/>
              <a:ext cx="1674495" cy="601028"/>
            </a:xfrm>
            <a:custGeom>
              <a:avLst/>
              <a:gdLst/>
              <a:ahLst/>
              <a:cxnLst/>
              <a:rect l="l" t="t" r="r" b="b"/>
              <a:pathLst>
                <a:path w="1674495" h="601028">
                  <a:moveTo>
                    <a:pt x="837247" y="0"/>
                  </a:moveTo>
                  <a:lnTo>
                    <a:pt x="1674495" y="300990"/>
                  </a:lnTo>
                  <a:lnTo>
                    <a:pt x="837247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846945" y="2111692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952172" y="3724275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900035" y="3642360"/>
              <a:ext cx="1674495" cy="601980"/>
            </a:xfrm>
            <a:custGeom>
              <a:avLst/>
              <a:gdLst/>
              <a:ahLst/>
              <a:cxnLst/>
              <a:rect l="l" t="t" r="r" b="b"/>
              <a:pathLst>
                <a:path w="1674495" h="601980">
                  <a:moveTo>
                    <a:pt x="837247" y="0"/>
                  </a:moveTo>
                  <a:lnTo>
                    <a:pt x="1674495" y="300990"/>
                  </a:lnTo>
                  <a:lnTo>
                    <a:pt x="837247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846945" y="3724275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952172" y="5336858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900035" y="5255895"/>
              <a:ext cx="1674495" cy="601028"/>
            </a:xfrm>
            <a:custGeom>
              <a:avLst/>
              <a:gdLst/>
              <a:ahLst/>
              <a:cxnLst/>
              <a:rect l="l" t="t" r="r" b="b"/>
              <a:pathLst>
                <a:path w="1674495" h="601028">
                  <a:moveTo>
                    <a:pt x="837247" y="0"/>
                  </a:moveTo>
                  <a:lnTo>
                    <a:pt x="1674495" y="300038"/>
                  </a:lnTo>
                  <a:lnTo>
                    <a:pt x="837247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846945" y="5336858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10629" y="22417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班级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58492" y="22417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506354" y="22417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班长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10629" y="38542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44649" y="385429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06354" y="38542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10629" y="54668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44649" y="546687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06354" y="54668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679055" y="2114550"/>
              <a:ext cx="168592" cy="193358"/>
            </a:xfrm>
            <a:prstGeom prst="roundRect">
              <a:avLst>
                <a:gd name="adj" fmla="val 2259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18669" y="21412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626918" y="2114550"/>
              <a:ext cx="168592" cy="193358"/>
            </a:xfrm>
            <a:prstGeom prst="roundRect">
              <a:avLst>
                <a:gd name="adj" fmla="val 2259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666532" y="21412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79055" y="3727132"/>
              <a:ext cx="168592" cy="193358"/>
            </a:xfrm>
            <a:prstGeom prst="roundRect">
              <a:avLst>
                <a:gd name="adj" fmla="val 2259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718669" y="3753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626918" y="3727132"/>
              <a:ext cx="168592" cy="193358"/>
            </a:xfrm>
            <a:prstGeom prst="roundRect">
              <a:avLst>
                <a:gd name="adj" fmla="val 2259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664332" y="375380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665720" y="5339715"/>
              <a:ext cx="19526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01534" y="5366385"/>
              <a:ext cx="122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626918" y="5339715"/>
              <a:ext cx="168592" cy="193358"/>
            </a:xfrm>
            <a:prstGeom prst="roundRect">
              <a:avLst>
                <a:gd name="adj" fmla="val 2259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664332" y="536638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78467" cy="909257"/>
            <a:chOff x="520446" y="342900"/>
            <a:chExt cx="46784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实体-联系图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784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 图实例：教师、学生与课程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flow-1"/>
          <p:cNvGrpSpPr/>
          <p:nvPr/>
        </p:nvGrpSpPr>
        <p:grpSpPr>
          <a:xfrm>
            <a:off x="672465" y="1792605"/>
            <a:ext cx="5673091" cy="2229802"/>
            <a:chOff x="672465" y="1792605"/>
            <a:chExt cx="5673091" cy="2229802"/>
          </a:xfrm>
        </p:grpSpPr>
        <p:sp>
          <p:nvSpPr>
            <p:cNvPr id="7" name="Freeform 7"/>
            <p:cNvSpPr/>
            <p:nvPr/>
          </p:nvSpPr>
          <p:spPr>
            <a:xfrm>
              <a:off x="1524952" y="2177415"/>
              <a:ext cx="9525" cy="441960"/>
            </a:xfrm>
            <a:custGeom>
              <a:avLst/>
              <a:gdLst/>
              <a:ahLst/>
              <a:cxnLst/>
              <a:rect l="l" t="t" r="r" b="b"/>
              <a:pathLst>
                <a:path w="9525" h="441960">
                  <a:moveTo>
                    <a:pt x="0" y="0"/>
                  </a:moveTo>
                  <a:lnTo>
                    <a:pt x="0" y="4419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24952" y="3194685"/>
              <a:ext cx="1984057" cy="441960"/>
            </a:xfrm>
            <a:custGeom>
              <a:avLst/>
              <a:gdLst/>
              <a:ahLst/>
              <a:cxnLst/>
              <a:rect l="l" t="t" r="r" b="b"/>
              <a:pathLst>
                <a:path w="1984057" h="441960">
                  <a:moveTo>
                    <a:pt x="0" y="0"/>
                  </a:moveTo>
                  <a:lnTo>
                    <a:pt x="0" y="220980"/>
                  </a:lnTo>
                  <a:lnTo>
                    <a:pt x="1984057" y="220980"/>
                  </a:lnTo>
                  <a:lnTo>
                    <a:pt x="1984057" y="4419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493068" y="2177415"/>
              <a:ext cx="9525" cy="441960"/>
            </a:xfrm>
            <a:custGeom>
              <a:avLst/>
              <a:gdLst/>
              <a:ahLst/>
              <a:cxnLst/>
              <a:rect l="l" t="t" r="r" b="b"/>
              <a:pathLst>
                <a:path w="9525" h="441960">
                  <a:moveTo>
                    <a:pt x="0" y="0"/>
                  </a:moveTo>
                  <a:lnTo>
                    <a:pt x="0" y="4419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509010" y="3194685"/>
              <a:ext cx="1984058" cy="441960"/>
            </a:xfrm>
            <a:custGeom>
              <a:avLst/>
              <a:gdLst/>
              <a:ahLst/>
              <a:cxnLst/>
              <a:rect l="l" t="t" r="r" b="b"/>
              <a:pathLst>
                <a:path w="1984058" h="441960">
                  <a:moveTo>
                    <a:pt x="1984058" y="0"/>
                  </a:moveTo>
                  <a:lnTo>
                    <a:pt x="1984058" y="220980"/>
                  </a:lnTo>
                  <a:lnTo>
                    <a:pt x="0" y="220980"/>
                  </a:lnTo>
                  <a:lnTo>
                    <a:pt x="0" y="4419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493068" y="3194685"/>
              <a:ext cx="9525" cy="441960"/>
            </a:xfrm>
            <a:custGeom>
              <a:avLst/>
              <a:gdLst/>
              <a:ahLst/>
              <a:cxnLst/>
              <a:rect l="l" t="t" r="r" b="b"/>
              <a:pathLst>
                <a:path w="9525" h="441960">
                  <a:moveTo>
                    <a:pt x="0" y="0"/>
                  </a:moveTo>
                  <a:lnTo>
                    <a:pt x="0" y="4419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72465" y="1792605"/>
              <a:ext cx="1705928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639628" y="1792605"/>
              <a:ext cx="1705928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72465" y="2619375"/>
              <a:ext cx="1705928" cy="575310"/>
            </a:xfrm>
            <a:custGeom>
              <a:avLst/>
              <a:gdLst/>
              <a:ahLst/>
              <a:cxnLst/>
              <a:rect l="l" t="t" r="r" b="b"/>
              <a:pathLst>
                <a:path w="1705928" h="575310">
                  <a:moveTo>
                    <a:pt x="852488" y="0"/>
                  </a:moveTo>
                  <a:lnTo>
                    <a:pt x="1705928" y="287655"/>
                  </a:lnTo>
                  <a:lnTo>
                    <a:pt x="852488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639628" y="2619375"/>
              <a:ext cx="1705928" cy="575310"/>
            </a:xfrm>
            <a:custGeom>
              <a:avLst/>
              <a:gdLst/>
              <a:ahLst/>
              <a:cxnLst/>
              <a:rect l="l" t="t" r="r" b="b"/>
              <a:pathLst>
                <a:path w="1705928" h="575310">
                  <a:moveTo>
                    <a:pt x="853440" y="0"/>
                  </a:moveTo>
                  <a:lnTo>
                    <a:pt x="1705928" y="287655"/>
                  </a:lnTo>
                  <a:lnTo>
                    <a:pt x="853440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655570" y="3636645"/>
              <a:ext cx="1705928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639628" y="3636645"/>
              <a:ext cx="1705928" cy="385762"/>
            </a:xfrm>
            <a:prstGeom prst="roundRect">
              <a:avLst>
                <a:gd name="adj" fmla="val 1975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68463" y="19064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36578" y="19064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43850" y="28284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11965" y="28284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52521" y="37504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36578" y="37504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成绩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553528" y="2319338"/>
              <a:ext cx="158115" cy="165735"/>
            </a:xfrm>
            <a:prstGeom prst="roundRect">
              <a:avLst>
                <a:gd name="adj" fmla="val 2409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77340" y="234219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438400" y="3219450"/>
              <a:ext cx="158115" cy="165735"/>
            </a:xfrm>
            <a:prstGeom prst="roundRect">
              <a:avLst>
                <a:gd name="adj" fmla="val 2409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477491" y="3242310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521642" y="2319338"/>
              <a:ext cx="158115" cy="165735"/>
            </a:xfrm>
            <a:prstGeom prst="roundRect">
              <a:avLst>
                <a:gd name="adj" fmla="val 2409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545455" y="234219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410075" y="3219450"/>
              <a:ext cx="18097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47794" y="3242310"/>
              <a:ext cx="10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789420" y="1524000"/>
            <a:ext cx="4869180" cy="2000250"/>
            <a:chOff x="6789420" y="1524000"/>
            <a:chExt cx="4869180" cy="2000250"/>
          </a:xfrm>
        </p:grpSpPr>
        <p:sp>
          <p:nvSpPr>
            <p:cNvPr id="33" name="Rectangle 33"/>
            <p:cNvSpPr/>
            <p:nvPr/>
          </p:nvSpPr>
          <p:spPr>
            <a:xfrm>
              <a:off x="6789420" y="1524000"/>
              <a:ext cx="486918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37336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实体或联系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9808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86575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47710" y="204549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教工号、姓名、性别、职称、职务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89420" y="231933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89420" y="2324100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86575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7710" y="244554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学号、姓名、性别、系、年级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89420" y="271938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86575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47710" y="284559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课程号、课名、学时、学分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789420" y="311943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89420" y="3124200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86575" y="3245644"/>
              <a:ext cx="637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联系"学"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47710" y="32456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成绩（挂在联系上）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789420" y="1524000"/>
              <a:ext cx="486918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24579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rd-2"/>
          <p:cNvGrpSpPr/>
          <p:nvPr/>
        </p:nvGrpSpPr>
        <p:grpSpPr>
          <a:xfrm>
            <a:off x="6789420" y="3693795"/>
            <a:ext cx="4869180" cy="1790700"/>
            <a:chOff x="6789420" y="3693795"/>
            <a:chExt cx="4869180" cy="1790700"/>
          </a:xfrm>
        </p:grpSpPr>
        <p:sp>
          <p:nvSpPr>
            <p:cNvPr id="52" name="Rectangle 52"/>
            <p:cNvSpPr/>
            <p:nvPr/>
          </p:nvSpPr>
          <p:spPr>
            <a:xfrm>
              <a:off x="6789420" y="3693795"/>
              <a:ext cx="4869180" cy="1790700"/>
            </a:xfrm>
            <a:prstGeom prst="roundRect">
              <a:avLst>
                <a:gd name="adj" fmla="val 7447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76110" y="388048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60679" y="391334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四种符号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984682" y="428148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40702" y="422529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矩形：数据对象（实体）；椭圆：属性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984682" y="458152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40702" y="452532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菱形：联系，用直线连到参与联系的实体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984682" y="488156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40702" y="4825365"/>
              <a:ext cx="2962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直线旁标 1、N、M，表示联系的类型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970395" y="5122069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本页把属性列成表格，原课件画成椭圆挂在实体四周，信息相同。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3" name="Rectangle 6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8373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成绩由学生和课程共同决定，所以它属于联系学，把它放进学生表或者课程表都会说不通。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487575" y="2705100"/>
            <a:ext cx="2836850" cy="2305050"/>
            <a:chOff x="8487575" y="2705100"/>
            <a:chExt cx="2836850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487575" y="2705100"/>
              <a:ext cx="283685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136392" cy="3351847"/>
            <a:chOff x="667512" y="1835468"/>
            <a:chExt cx="31363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数据规范化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用范式衡量消除数据冗余的程度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规范化要解决什么问题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第一范式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第二范式与四类异常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第三范式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数据规范化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规范化要解决的问题，以及第一范式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12582"/>
            <a:chOff x="533400" y="1524000"/>
            <a:chExt cx="5410200" cy="16125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目的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数据规范化的目的是减少数据冗余，避免出现插入异常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或删除异常，简化修改数据的过程。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728436"/>
              <a:ext cx="44069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通常用范式（normal forms）定义消除数据冗余的程度。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327082"/>
            <a:ext cx="5410200" cy="1335405"/>
            <a:chOff x="533400" y="3327082"/>
            <a:chExt cx="5410200" cy="1335405"/>
          </a:xfrm>
        </p:grpSpPr>
        <p:sp>
          <p:nvSpPr>
            <p:cNvPr id="14" name="Rectangle 14"/>
            <p:cNvSpPr/>
            <p:nvPr/>
          </p:nvSpPr>
          <p:spPr>
            <a:xfrm>
              <a:off x="533400" y="3327082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0432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53663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3359" y="35723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第一范式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65922" y="357187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1NF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3932872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每个属性值都必须是原子值，即仅仅是一个简单值而不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含内部结构。</a:t>
              </a:r>
            </a:p>
          </p:txBody>
        </p:sp>
      </p:grpSp>
      <p:grpSp>
        <p:nvGrpSpPr>
          <p:cNvPr id="23" name="c1-image-3"/>
          <p:cNvGrpSpPr/>
          <p:nvPr/>
        </p:nvGrpSpPr>
        <p:grpSpPr>
          <a:xfrm>
            <a:off x="533400" y="4852988"/>
            <a:ext cx="5410200" cy="1534954"/>
            <a:chOff x="533400" y="4852988"/>
            <a:chExt cx="5410200" cy="1534954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rcRect l="0" t="34965" r="0" b="34965"/>
            <a:stretch>
              <a:fillRect/>
            </a:stretch>
          </p:blipFill>
          <p:spPr>
            <a:xfrm>
              <a:off x="533400" y="4852988"/>
              <a:ext cx="5410200" cy="1220152"/>
            </a:xfrm>
            <a:prstGeom prst="roundRect">
              <a:avLst>
                <a:gd name="adj" fmla="val 10928"/>
              </a:avLst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348105" y="6167914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左边一个大箱子什么都往里塞，右边按类分箱再互相关联</a:t>
              </a:r>
            </a:p>
          </p:txBody>
        </p:sp>
      </p:grpSp>
      <p:grpSp>
        <p:nvGrpSpPr>
          <p:cNvPr id="35" name="c2-table-1"/>
          <p:cNvGrpSpPr/>
          <p:nvPr/>
        </p:nvGrpSpPr>
        <p:grpSpPr>
          <a:xfrm>
            <a:off x="6242685" y="1524000"/>
            <a:ext cx="5415915" cy="1193007"/>
            <a:chOff x="6242685" y="1524000"/>
            <a:chExt cx="5415915" cy="1193007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1923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527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姓名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3592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选修课程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56223" y="2108359"/>
              <a:ext cx="709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2023001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5548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23273" y="210835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软件工程、数据库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942898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310688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2685" y="2496979"/>
              <a:ext cx="2900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不符合 1NF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：选修课程这一格里放了两个值</a:t>
              </a:r>
            </a:p>
          </p:txBody>
        </p:sp>
      </p:grpSp>
      <p:grpSp>
        <p:nvGrpSpPr>
          <p:cNvPr id="52" name="c2-table-2"/>
          <p:cNvGrpSpPr/>
          <p:nvPr/>
        </p:nvGrpSpPr>
        <p:grpSpPr>
          <a:xfrm>
            <a:off x="6242685" y="2863215"/>
            <a:ext cx="5415915" cy="1642587"/>
            <a:chOff x="6242685" y="2863215"/>
            <a:chExt cx="5415915" cy="1642587"/>
          </a:xfrm>
        </p:grpSpPr>
        <p:sp>
          <p:nvSpPr>
            <p:cNvPr id="36" name="Rectangle 36"/>
            <p:cNvSpPr/>
            <p:nvPr/>
          </p:nvSpPr>
          <p:spPr>
            <a:xfrm>
              <a:off x="6248400" y="2863215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27824" y="29989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78519" y="29989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姓名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53091" y="29989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课程名称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56223" y="3447574"/>
              <a:ext cx="709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2023001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72653" y="34475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56660" y="34475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软件工程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37566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376142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6223" y="3896201"/>
              <a:ext cx="709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2023001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72653" y="38962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李明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56660" y="389620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2863215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160068" y="286321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744075" y="286321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42685" y="4285774"/>
              <a:ext cx="3202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符合 1NF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：每个格子都是一个不可再分的简单值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6248400" y="4652010"/>
            <a:ext cx="5410200" cy="1343978"/>
            <a:chOff x="6248400" y="4652010"/>
            <a:chExt cx="5410200" cy="1343978"/>
          </a:xfrm>
        </p:grpSpPr>
        <p:sp>
          <p:nvSpPr>
            <p:cNvPr id="53" name="Rectangle 53"/>
            <p:cNvSpPr/>
            <p:nvPr/>
          </p:nvSpPr>
          <p:spPr>
            <a:xfrm>
              <a:off x="6248400" y="4652010"/>
              <a:ext cx="5410200" cy="1343978"/>
            </a:xfrm>
            <a:prstGeom prst="roundRect">
              <a:avLst>
                <a:gd name="adj" fmla="val 850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5224463"/>
              <a:ext cx="200026" cy="200025"/>
              <a:chOff x="6453188" y="5224463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53188" y="52244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492926" y="52689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27642" y="53800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5130" y="5081588"/>
              <a:ext cx="4444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 1NF 只看一件事：表格里的每个格子是不是一个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简单值。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数据规范化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第二范式：非关键字属性必须由整个关键字决定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225583" cy="308039"/>
            <a:chOff x="525399" y="1550194"/>
            <a:chExt cx="1022558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22558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第二范式满足第一范式条件，而且每个非关键字属性都由整个关键字决定，而不是由关键字的一部分来决定。</a:t>
              </a:r>
            </a:p>
          </p:txBody>
        </p:sp>
      </p:grpSp>
      <p:grpSp>
        <p:nvGrpSpPr>
          <p:cNvPr id="22" name="c1-card-1"/>
          <p:cNvGrpSpPr/>
          <p:nvPr/>
        </p:nvGrpSpPr>
        <p:grpSpPr>
          <a:xfrm>
            <a:off x="533400" y="1967865"/>
            <a:ext cx="4977765" cy="3158490"/>
            <a:chOff x="533400" y="1967865"/>
            <a:chExt cx="4977765" cy="315849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977765" cy="3158490"/>
            </a:xfrm>
            <a:prstGeom prst="roundRect">
              <a:avLst>
                <a:gd name="adj" fmla="val 42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8917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选课关系表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072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SelectCourse(学号, 姓名, 年龄, 课程名称, 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绩, 学分)，关键字为 (学号, 课程名称)。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25755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194685"/>
              <a:ext cx="4082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完整依赖：(学号, 课程名称) → (姓名, 年龄, 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绩, 学分)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87858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815715"/>
              <a:ext cx="30931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部分依赖 1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：(课程名称) → (学分)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2138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150995"/>
              <a:ext cx="32647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部分依赖 2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：(学号) → (姓名, 年龄)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573" y="4481989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组合关键字中的一部分就能决定某些非关键字，所以这张表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不满足 2NF。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5815965" y="1967865"/>
            <a:ext cx="5842635" cy="3150870"/>
            <a:chOff x="5815965" y="1967865"/>
            <a:chExt cx="5842635" cy="3150870"/>
          </a:xfrm>
        </p:grpSpPr>
        <p:sp>
          <p:nvSpPr>
            <p:cNvPr id="23" name="Rectangle 23"/>
            <p:cNvSpPr/>
            <p:nvPr/>
          </p:nvSpPr>
          <p:spPr>
            <a:xfrm>
              <a:off x="5815965" y="1967865"/>
              <a:ext cx="584263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7915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异常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84489" y="210264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在这张表上的表现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23788" y="26646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数据冗余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08711" y="2551271"/>
              <a:ext cx="41419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同一门课程由 n 个学生选修，学分就重复 n−1 次；同一个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学生选修 m 门课程，姓名和年龄就重复 m−1 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815965" y="30870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815965" y="3091815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23788" y="33408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更新异常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08711" y="3227546"/>
              <a:ext cx="4076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调整某门课程的学分，表中所有相关行的学分都要更新，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否则会出现同一门课程学分不同的情况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815965" y="37623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23788" y="40162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插入异常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08711" y="3902869"/>
              <a:ext cx="39143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新开一门暂时没人选的课程，由于还没有学号这个关键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字，课程名称和学分无法录入数据库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15965" y="44376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15965" y="444246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23788" y="46915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删除异常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08711" y="4578191"/>
              <a:ext cx="4076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一批学生完成选修后删除选修记录，课程名称和学分信息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也跟着被删除了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1967865"/>
              <a:ext cx="5842635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096125" y="1967865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所有单关键字的数据库表都符合第二范式，因为不可能存在组合关键字。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数据规范化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把选课表拆成三张表，四类异常一起消失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666750" y="1804988"/>
            <a:ext cx="5359717" cy="1928812"/>
            <a:chOff x="666750" y="1804988"/>
            <a:chExt cx="5359717" cy="1928812"/>
          </a:xfrm>
        </p:grpSpPr>
        <p:sp>
          <p:nvSpPr>
            <p:cNvPr id="7" name="Freeform 7"/>
            <p:cNvSpPr/>
            <p:nvPr/>
          </p:nvSpPr>
          <p:spPr>
            <a:xfrm>
              <a:off x="1471612" y="2433638"/>
              <a:ext cx="1875472" cy="457200"/>
            </a:xfrm>
            <a:custGeom>
              <a:avLst/>
              <a:gdLst/>
              <a:ahLst/>
              <a:cxnLst/>
              <a:rect l="l" t="t" r="r" b="b"/>
              <a:pathLst>
                <a:path w="1875472" h="457200">
                  <a:moveTo>
                    <a:pt x="1875472" y="0"/>
                  </a:moveTo>
                  <a:lnTo>
                    <a:pt x="1875472" y="280988"/>
                  </a:lnTo>
                  <a:lnTo>
                    <a:pt x="0" y="280988"/>
                  </a:lnTo>
                  <a:lnTo>
                    <a:pt x="0" y="4572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19225" y="28908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347085" y="2433638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94698" y="28908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347085" y="2433638"/>
              <a:ext cx="1875472" cy="347662"/>
            </a:xfrm>
            <a:custGeom>
              <a:avLst/>
              <a:gdLst/>
              <a:ahLst/>
              <a:cxnLst/>
              <a:rect l="l" t="t" r="r" b="b"/>
              <a:pathLst>
                <a:path w="1875472" h="347662">
                  <a:moveTo>
                    <a:pt x="0" y="0"/>
                  </a:moveTo>
                  <a:lnTo>
                    <a:pt x="0" y="226695"/>
                  </a:lnTo>
                  <a:lnTo>
                    <a:pt x="1875472" y="226695"/>
                  </a:lnTo>
                  <a:lnTo>
                    <a:pt x="1875472" y="3476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170170" y="27813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27735" y="1804988"/>
              <a:ext cx="4838700" cy="629602"/>
            </a:xfrm>
            <a:prstGeom prst="roundRect">
              <a:avLst>
                <a:gd name="adj" fmla="val 1512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66750" y="2995612"/>
              <a:ext cx="16087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542222" y="2995612"/>
              <a:ext cx="16087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17695" y="2886075"/>
              <a:ext cx="1608772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77696" y="1920716"/>
              <a:ext cx="393877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SelectCourse(学号, 姓名, 年龄, 课程名称, 成绩, 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0239" y="3111341"/>
              <a:ext cx="114274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Student(学号,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姓名, 年龄)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83840" y="3111341"/>
              <a:ext cx="112649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Course(课程名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称, 学分)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5248" y="3002756"/>
              <a:ext cx="1134618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SelectCourse(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学号, 课程名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称, 成绩)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33400" y="4095750"/>
            <a:ext cx="5626418" cy="1795462"/>
            <a:chOff x="533400" y="4095750"/>
            <a:chExt cx="5626418" cy="1795462"/>
          </a:xfrm>
        </p:grpSpPr>
        <p:sp>
          <p:nvSpPr>
            <p:cNvPr id="22" name="Rectangle 22"/>
            <p:cNvSpPr/>
            <p:nvPr/>
          </p:nvSpPr>
          <p:spPr>
            <a:xfrm>
              <a:off x="533400" y="409575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926323" y="4231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拆出的表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26165" y="4231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223" y="4680109"/>
              <a:ext cx="22564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Student(学号, 姓名, 年龄)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29278" y="46801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学号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9882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99300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5128736"/>
              <a:ext cx="20032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Course(课程名称, 学分)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29278" y="51287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课程名称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4378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5577364"/>
              <a:ext cx="30587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SelectCourse(学号, 课程名称, 成绩)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29278" y="5577364"/>
              <a:ext cx="138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(学号, 课程名称)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095750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016692" y="409575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bullets-1"/>
          <p:cNvGrpSpPr/>
          <p:nvPr/>
        </p:nvGrpSpPr>
        <p:grpSpPr>
          <a:xfrm>
            <a:off x="6456998" y="1548765"/>
            <a:ext cx="5061680" cy="1967865"/>
            <a:chOff x="6456998" y="1548765"/>
            <a:chExt cx="5061680" cy="1967865"/>
          </a:xfrm>
        </p:grpSpPr>
        <p:sp>
          <p:nvSpPr>
            <p:cNvPr id="37" name="TextBox 37"/>
            <p:cNvSpPr txBox="1"/>
            <p:nvPr/>
          </p:nvSpPr>
          <p:spPr>
            <a:xfrm>
              <a:off x="6456998" y="154876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逐条对照，四类异常都没有了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464618" y="193452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15125" y="1903095"/>
              <a:ext cx="4091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学分只在 Course 里存一份，不再重复 n−1 次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464618" y="2279332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15125" y="2247900"/>
              <a:ext cx="4758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修改学分只改 Course 中的一行，不会出现同一门课两个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学分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464618" y="290988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15125" y="2878455"/>
              <a:ext cx="46468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新开课程直接往 Course 插一行，不需要先有人选课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464618" y="325469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15125" y="3223260"/>
              <a:ext cx="48035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删除选修记录只动 SelectCourse，课程信息仍然保留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464618" y="3648075"/>
            <a:ext cx="5193982" cy="2607945"/>
            <a:chOff x="6464618" y="3648075"/>
            <a:chExt cx="5193982" cy="2607945"/>
          </a:xfrm>
        </p:grpSpPr>
        <p:sp>
          <p:nvSpPr>
            <p:cNvPr id="47" name="Rectangle 47"/>
            <p:cNvSpPr/>
            <p:nvPr/>
          </p:nvSpPr>
          <p:spPr>
            <a:xfrm>
              <a:off x="6464618" y="3648075"/>
              <a:ext cx="5193982" cy="2607945"/>
            </a:xfrm>
            <a:prstGeom prst="roundRect">
              <a:avLst>
                <a:gd name="adj" fmla="val 511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74168" y="385762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47624" y="38933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为什么这样拆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6548" y="423481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三张表都是单关键字，或者不含由关键字一部分决定的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非关键字，所以都满足 2NF。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679883" y="491871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37998" y="4855845"/>
              <a:ext cx="35760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把只由课程名称决定的学分挪进 Course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679883" y="525399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37998" y="5191125"/>
              <a:ext cx="38889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把只由学号决定的姓名、年龄挪进 Student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679883" y="558927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37998" y="5526405"/>
              <a:ext cx="4387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留在 SelectCourse 里的成绩，确实要由学号和课程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名称共同决定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数据规范化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第三范式：非主属性之间不许再有函数依赖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01459" cy="264033"/>
            <a:chOff x="526542" y="1545907"/>
            <a:chExt cx="710145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第三范式符合第二范式的条件，非主属性相互独立，即任何非主属性间不存在函数依赖。</a:t>
              </a:r>
            </a:p>
          </p:txBody>
        </p:sp>
      </p:grpSp>
      <p:grpSp>
        <p:nvGrpSpPr>
          <p:cNvPr id="22" name="c1-card-1"/>
          <p:cNvGrpSpPr/>
          <p:nvPr/>
        </p:nvGrpSpPr>
        <p:grpSpPr>
          <a:xfrm>
            <a:off x="533400" y="1928812"/>
            <a:ext cx="5410200" cy="3660458"/>
            <a:chOff x="533400" y="1928812"/>
            <a:chExt cx="5410200" cy="366045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660458"/>
            </a:xfrm>
            <a:prstGeom prst="roundRect">
              <a:avLst>
                <a:gd name="adj" fmla="val 36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33937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学生关系表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4114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Student(学号, 姓名, 年龄, 所在学院, 学院地点, 学院电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话)，关键字为单一关键字学号。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08991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033712"/>
              <a:ext cx="4511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(学号) → (姓名, 年龄, 所在学院, 学院地点, 学院电话)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38994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333750"/>
              <a:ext cx="2205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单关键字，所以它满足 2NF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368998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3633788"/>
              <a:ext cx="442426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但是存在 (所在学院) → (学院地点, 学院电话)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，非主属性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之间有函数依赖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475" y="4187666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学号先决定所在学院，所在学院再决定学院地点和电话，这叫传递依赖。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928812"/>
            <a:ext cx="5410200" cy="1489710"/>
            <a:chOff x="6248400" y="1928812"/>
            <a:chExt cx="5410200" cy="1489710"/>
          </a:xfrm>
        </p:grpSpPr>
        <p:sp>
          <p:nvSpPr>
            <p:cNvPr id="23" name="Rectangle 23"/>
            <p:cNvSpPr/>
            <p:nvPr/>
          </p:nvSpPr>
          <p:spPr>
            <a:xfrm>
              <a:off x="6248400" y="1928812"/>
              <a:ext cx="5410200" cy="1489710"/>
            </a:xfrm>
            <a:prstGeom prst="roundRect">
              <a:avLst>
                <a:gd name="adj" fmla="val 89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2062162"/>
              <a:ext cx="47625" cy="12230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3190" y="2115502"/>
              <a:ext cx="195167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21056" y="214836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分解（课件未给出，这里补上）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81762" y="251555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37782" y="2459355"/>
              <a:ext cx="3200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Student(学号, 姓名, 年龄, 所在学院)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81762" y="281559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37782" y="2759392"/>
              <a:ext cx="33179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College(学院名称, 学院地点, 学院电话)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7475" y="3056096"/>
              <a:ext cx="4381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两张表用学院名称关联。学院换了电话，只改 College 里的一行。</a:t>
              </a:r>
            </a:p>
          </p:txBody>
        </p:sp>
      </p:grpSp>
      <p:grpSp>
        <p:nvGrpSpPr>
          <p:cNvPr id="51" name="c2-table-2"/>
          <p:cNvGrpSpPr/>
          <p:nvPr/>
        </p:nvGrpSpPr>
        <p:grpSpPr>
          <a:xfrm>
            <a:off x="6248400" y="3589020"/>
            <a:ext cx="5410200" cy="2000250"/>
            <a:chOff x="6248400" y="3589020"/>
            <a:chExt cx="5410200" cy="2000250"/>
          </a:xfrm>
        </p:grpSpPr>
        <p:sp>
          <p:nvSpPr>
            <p:cNvPr id="33" name="Rectangle 33"/>
            <p:cNvSpPr/>
            <p:nvPr/>
          </p:nvSpPr>
          <p:spPr>
            <a:xfrm>
              <a:off x="6248400" y="3589020"/>
              <a:ext cx="541020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93307" y="371046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不分解会出现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49181" y="37104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具体表现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45555" y="41105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冗余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52398" y="4110514"/>
              <a:ext cx="3238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同一学院有 k 个学生，地点和电话就重复 k−1 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4384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438912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5555" y="45105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更新异常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52398" y="4510564"/>
              <a:ext cx="335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学院搬家要改 k 行，漏改就出现同一学院两个地点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47844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5555" y="49106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插入异常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52398" y="491061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新成立的学院还没招生，地点和电话无处存放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51844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518922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5555" y="53106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删除异常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52398" y="531066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某学院最后一名学生被删除，学院信息也没了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589020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650480" y="358902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2" name="Rectangle 5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6028373"/>
              <a:ext cx="67599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2NF 消除非主属性对关键字的部分依赖，3NF 再消除非主属性对关键字的传递依赖。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数据规范化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三个范式放在一起看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1910715"/>
            <a:chOff x="533400" y="1524000"/>
            <a:chExt cx="11125200" cy="1910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202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范式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6994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65189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消除的问题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99092" y="16525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判断时看什么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07645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1NF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48409" y="207645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每个属性值都是不可再分的原子值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30786" y="207645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一格里放多个值或表中套表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23529" y="207645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格子里是不是一个简单值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67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72678"/>
              <a:ext cx="11125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260794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2NF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48409" y="2501265"/>
              <a:ext cx="34030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1NF 基础上，每个非关键字属性都由整个关键字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30786" y="260794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非主属性对关键字的部分依赖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23529" y="2501265"/>
              <a:ext cx="2907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组合关键字的一部分能不能决定某个非关键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060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313944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3NF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48409" y="3139440"/>
              <a:ext cx="3627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2NF 基础上，任何非主属性之间不存在函数依赖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30786" y="313944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非主属性对关键字的传递依赖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23529" y="313944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有没有非关键字决定非关键字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11125200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641158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3535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16278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compare-2"/>
          <p:cNvGrpSpPr/>
          <p:nvPr/>
        </p:nvGrpSpPr>
        <p:grpSpPr>
          <a:xfrm>
            <a:off x="533400" y="3615690"/>
            <a:ext cx="11125200" cy="1613535"/>
            <a:chOff x="533400" y="3615690"/>
            <a:chExt cx="11125200" cy="1613535"/>
          </a:xfrm>
        </p:grpSpPr>
        <p:sp>
          <p:nvSpPr>
            <p:cNvPr id="32" name="Rectangle 32"/>
            <p:cNvSpPr/>
            <p:nvPr/>
          </p:nvSpPr>
          <p:spPr>
            <a:xfrm>
              <a:off x="533400" y="3615690"/>
              <a:ext cx="5391150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3749040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381" y="383714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规范化程度高的好处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7240" y="423291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3831" y="417242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数据冗余少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77240" y="45500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3831" y="449056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插入删除更新异常少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77240" y="486822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3831" y="480774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修改数据的过程简单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67450" y="3615690"/>
              <a:ext cx="5391150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76975" y="3749040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96431" y="383714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要付出的代价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11290" y="423291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67881" y="417242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表的数量增多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11290" y="45500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67881" y="449056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查询时要连接多张表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11290" y="486822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67881" y="480774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有时为了性能故意保留冗余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934075" y="426053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04415" y="435673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3" name="Rectangle 5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511" y="6011704"/>
              <a:ext cx="58329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单关键字的表一定满足 2NF，判断这类表时直接查 3NF 的条件即可。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487575" y="2705100"/>
            <a:ext cx="2836850" cy="2305050"/>
            <a:chOff x="8487575" y="2705100"/>
            <a:chExt cx="2836850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487575" y="2705100"/>
              <a:ext cx="283685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580638" cy="3351847"/>
            <a:chOff x="667512" y="1835468"/>
            <a:chExt cx="358063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状态转换图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用状态、事件和转换描述系统的行为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状态与事件的定义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状态图的符号与语法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电话系统的例子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状态图与状态迁移表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状态转换图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状态图的两个基本概念与符号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951220" cy="2043112"/>
            <a:chOff x="533400" y="1524000"/>
            <a:chExt cx="5951220" cy="2043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状态转换图（简称状态图）通过描绘系统的状态及引起系统状态转换的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事件，来表示系统的行为。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612708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状态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：任何可被观察到的系统行为模式，规定系统对事件的响应方式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96894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912745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：在某个特定时刻发生的事情，是对引起系统做动作或状态转换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的外界事件的抽象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737610"/>
            <a:ext cx="5951220" cy="1790700"/>
            <a:chOff x="533400" y="3737610"/>
            <a:chExt cx="5951220" cy="1790700"/>
          </a:xfrm>
        </p:grpSpPr>
        <p:sp>
          <p:nvSpPr>
            <p:cNvPr id="17" name="Rectangle 17"/>
            <p:cNvSpPr/>
            <p:nvPr/>
          </p:nvSpPr>
          <p:spPr>
            <a:xfrm>
              <a:off x="533400" y="3737610"/>
              <a:ext cx="5951220" cy="179070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870960"/>
              <a:ext cx="47625" cy="15240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8190" y="39243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0862" y="39571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6762" y="432435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2782" y="4268152"/>
              <a:ext cx="3039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活动表：事件名(参数表)/动作表达式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6762" y="462438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2782" y="456819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事件表达式：事件说明［守卫条件］／动作表达式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6762" y="49244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2782" y="486822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事件说明：事件名(参数表)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2475" y="5164931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守卫条件是布尔表达式；事件发生且它为真时转换才发生。</a:t>
              </a:r>
            </a:p>
          </p:txBody>
        </p:sp>
      </p:grpSp>
      <p:grpSp>
        <p:nvGrpSpPr>
          <p:cNvPr id="49" name="c2-flow-1"/>
          <p:cNvGrpSpPr/>
          <p:nvPr/>
        </p:nvGrpSpPr>
        <p:grpSpPr>
          <a:xfrm>
            <a:off x="7130415" y="1604010"/>
            <a:ext cx="4187190" cy="2020252"/>
            <a:chOff x="7130415" y="1604010"/>
            <a:chExt cx="4187190" cy="2020252"/>
          </a:xfrm>
        </p:grpSpPr>
        <p:sp>
          <p:nvSpPr>
            <p:cNvPr id="29" name="Freeform 29"/>
            <p:cNvSpPr/>
            <p:nvPr/>
          </p:nvSpPr>
          <p:spPr>
            <a:xfrm>
              <a:off x="9224010" y="1988820"/>
              <a:ext cx="9525" cy="55245"/>
            </a:xfrm>
            <a:custGeom>
              <a:avLst/>
              <a:gdLst/>
              <a:ahLst/>
              <a:cxnLst/>
              <a:rect l="l" t="t" r="r" b="b"/>
              <a:pathLst>
                <a:path w="9525" h="55245">
                  <a:moveTo>
                    <a:pt x="0" y="0"/>
                  </a:moveTo>
                  <a:lnTo>
                    <a:pt x="0" y="552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171622" y="20440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224010" y="2533650"/>
              <a:ext cx="9525" cy="55245"/>
            </a:xfrm>
            <a:custGeom>
              <a:avLst/>
              <a:gdLst/>
              <a:ahLst/>
              <a:cxnLst/>
              <a:rect l="l" t="t" r="r" b="b"/>
              <a:pathLst>
                <a:path w="9525" h="55245">
                  <a:moveTo>
                    <a:pt x="0" y="0"/>
                  </a:moveTo>
                  <a:lnTo>
                    <a:pt x="0" y="552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171622" y="25888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224010" y="3078480"/>
              <a:ext cx="9525" cy="55245"/>
            </a:xfrm>
            <a:custGeom>
              <a:avLst/>
              <a:gdLst/>
              <a:ahLst/>
              <a:cxnLst/>
              <a:rect l="l" t="t" r="r" b="b"/>
              <a:pathLst>
                <a:path w="9525" h="55245">
                  <a:moveTo>
                    <a:pt x="0" y="0"/>
                  </a:moveTo>
                  <a:lnTo>
                    <a:pt x="0" y="552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171622" y="31337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130415" y="1604010"/>
              <a:ext cx="4187190" cy="385762"/>
            </a:xfrm>
            <a:prstGeom prst="roundRect">
              <a:avLst>
                <a:gd name="adj" fmla="val 49877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30415" y="2148840"/>
              <a:ext cx="418719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30415" y="2693670"/>
              <a:ext cx="418719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130415" y="3238500"/>
              <a:ext cx="4187190" cy="385762"/>
            </a:xfrm>
            <a:prstGeom prst="roundRect">
              <a:avLst>
                <a:gd name="adj" fmla="val 49877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67521" y="17178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03441" y="226266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03441" y="280749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67521" y="33523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252585" y="1989772"/>
              <a:ext cx="5524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76398" y="201263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初始事件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252585" y="2534602"/>
              <a:ext cx="6667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76398" y="2557462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事件表达式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252585" y="3079432"/>
              <a:ext cx="5524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76398" y="310229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结束事件</a:t>
              </a:r>
            </a:p>
          </p:txBody>
        </p:sp>
      </p:grpSp>
      <p:grpSp>
        <p:nvGrpSpPr>
          <p:cNvPr id="58" name="c2-kv-2"/>
          <p:cNvGrpSpPr/>
          <p:nvPr/>
        </p:nvGrpSpPr>
        <p:grpSpPr>
          <a:xfrm>
            <a:off x="6782562" y="3895725"/>
            <a:ext cx="4876038" cy="1048893"/>
            <a:chOff x="6782562" y="3895725"/>
            <a:chExt cx="4876038" cy="1048893"/>
          </a:xfrm>
        </p:grpSpPr>
        <p:sp>
          <p:nvSpPr>
            <p:cNvPr id="50" name="TextBox 50"/>
            <p:cNvSpPr txBox="1"/>
            <p:nvPr/>
          </p:nvSpPr>
          <p:spPr>
            <a:xfrm>
              <a:off x="6782562" y="38957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状态名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44587" y="389572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圆角框的第一栏，例如闲置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789420" y="41814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82562" y="428815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状态变量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44587" y="4288155"/>
              <a:ext cx="184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第二栏，例如 timer=0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789420" y="457390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82562" y="468058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活动表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44587" y="4680585"/>
              <a:ext cx="21854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第三栏，例如 do/响拨号音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9" name="Rectangle 5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6028373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活动表里 entry 表示进入状态时做的动作，exit 表示离开时做的动作，do 表示停留期间反复做的动作。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状态转换图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例一：电话系统的状态图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648194" cy="293370"/>
            <a:chOff x="525780" y="1548765"/>
            <a:chExt cx="764819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6481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状态框下方的 do/… 是该状态持续期间要做的动作，箭头上的文字是引起转换的事件。</a:t>
              </a:r>
            </a:p>
          </p:txBody>
        </p:sp>
      </p:grpSp>
      <p:grpSp>
        <p:nvGrpSpPr>
          <p:cNvPr id="78" name="c1-graph-1"/>
          <p:cNvGrpSpPr/>
          <p:nvPr/>
        </p:nvGrpSpPr>
        <p:grpSpPr>
          <a:xfrm>
            <a:off x="1372552" y="2024062"/>
            <a:ext cx="9780270" cy="3178493"/>
            <a:chOff x="1372552" y="2024062"/>
            <a:chExt cx="9780270" cy="3178493"/>
          </a:xfrm>
        </p:grpSpPr>
        <p:sp>
          <p:nvSpPr>
            <p:cNvPr id="9" name="Freeform 9"/>
            <p:cNvSpPr/>
            <p:nvPr/>
          </p:nvSpPr>
          <p:spPr>
            <a:xfrm>
              <a:off x="5428298" y="2304098"/>
              <a:ext cx="9525" cy="358140"/>
            </a:xfrm>
            <a:custGeom>
              <a:avLst/>
              <a:gdLst/>
              <a:ahLst/>
              <a:cxnLst/>
              <a:rect l="l" t="t" r="r" b="b"/>
              <a:pathLst>
                <a:path w="9525" h="358140">
                  <a:moveTo>
                    <a:pt x="0" y="0"/>
                  </a:moveTo>
                  <a:lnTo>
                    <a:pt x="0" y="3581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380672" y="26622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894070" y="2897505"/>
              <a:ext cx="3059430" cy="9525"/>
            </a:xfrm>
            <a:custGeom>
              <a:avLst/>
              <a:gdLst/>
              <a:ahLst/>
              <a:cxnLst/>
              <a:rect l="l" t="t" r="r" b="b"/>
              <a:pathLst>
                <a:path w="3059430" h="9525">
                  <a:moveTo>
                    <a:pt x="0" y="0"/>
                  </a:moveTo>
                  <a:lnTo>
                    <a:pt x="30594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953500" y="28498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428298" y="3037522"/>
              <a:ext cx="9525" cy="358140"/>
            </a:xfrm>
            <a:custGeom>
              <a:avLst/>
              <a:gdLst/>
              <a:ahLst/>
              <a:cxnLst/>
              <a:rect l="l" t="t" r="r" b="b"/>
              <a:pathLst>
                <a:path w="9525" h="358140">
                  <a:moveTo>
                    <a:pt x="0" y="0"/>
                  </a:moveTo>
                  <a:lnTo>
                    <a:pt x="0" y="3581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80672" y="33956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585335" y="3370898"/>
              <a:ext cx="458153" cy="519112"/>
            </a:xfrm>
            <a:custGeom>
              <a:avLst/>
              <a:gdLst/>
              <a:ahLst/>
              <a:cxnLst/>
              <a:rect l="l" t="t" r="r" b="b"/>
              <a:pathLst>
                <a:path w="458153" h="519112">
                  <a:moveTo>
                    <a:pt x="458153" y="197168"/>
                  </a:moveTo>
                  <a:cubicBezTo>
                    <a:pt x="0" y="0"/>
                    <a:pt x="0" y="519112"/>
                    <a:pt x="458153" y="32289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948238" y="3688080"/>
              <a:ext cx="95250" cy="79058"/>
            </a:xfrm>
            <a:custGeom>
              <a:avLst/>
              <a:gdLst/>
              <a:ahLst/>
              <a:cxnLst/>
              <a:rect l="l" t="t" r="r" b="b"/>
              <a:pathLst>
                <a:path w="95250" h="79058">
                  <a:moveTo>
                    <a:pt x="95250" y="5715"/>
                  </a:moveTo>
                  <a:lnTo>
                    <a:pt x="33338" y="790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813108" y="3630930"/>
              <a:ext cx="2951798" cy="9525"/>
            </a:xfrm>
            <a:custGeom>
              <a:avLst/>
              <a:gdLst/>
              <a:ahLst/>
              <a:cxnLst/>
              <a:rect l="l" t="t" r="r" b="b"/>
              <a:pathLst>
                <a:path w="2951798" h="9525">
                  <a:moveTo>
                    <a:pt x="0" y="0"/>
                  </a:moveTo>
                  <a:lnTo>
                    <a:pt x="29517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764905" y="35833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428298" y="3770948"/>
              <a:ext cx="9525" cy="358140"/>
            </a:xfrm>
            <a:custGeom>
              <a:avLst/>
              <a:gdLst/>
              <a:ahLst/>
              <a:cxnLst/>
              <a:rect l="l" t="t" r="r" b="b"/>
              <a:pathLst>
                <a:path w="9525" h="358140">
                  <a:moveTo>
                    <a:pt x="0" y="0"/>
                  </a:moveTo>
                  <a:lnTo>
                    <a:pt x="0" y="3581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380672" y="41290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237422" y="4364355"/>
              <a:ext cx="2725102" cy="9525"/>
            </a:xfrm>
            <a:custGeom>
              <a:avLst/>
              <a:gdLst/>
              <a:ahLst/>
              <a:cxnLst/>
              <a:rect l="l" t="t" r="r" b="b"/>
              <a:pathLst>
                <a:path w="2725102" h="9525">
                  <a:moveTo>
                    <a:pt x="272510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142172" y="43167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428298" y="4504372"/>
              <a:ext cx="9525" cy="322898"/>
            </a:xfrm>
            <a:custGeom>
              <a:avLst/>
              <a:gdLst/>
              <a:ahLst/>
              <a:cxnLst/>
              <a:rect l="l" t="t" r="r" b="b"/>
              <a:pathLst>
                <a:path w="9525" h="322898">
                  <a:moveTo>
                    <a:pt x="0" y="0"/>
                  </a:moveTo>
                  <a:lnTo>
                    <a:pt x="0" y="32289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380672" y="48272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813108" y="5062538"/>
              <a:ext cx="2027873" cy="9525"/>
            </a:xfrm>
            <a:custGeom>
              <a:avLst/>
              <a:gdLst/>
              <a:ahLst/>
              <a:cxnLst/>
              <a:rect l="l" t="t" r="r" b="b"/>
              <a:pathLst>
                <a:path w="2027873" h="9525">
                  <a:moveTo>
                    <a:pt x="0" y="0"/>
                  </a:moveTo>
                  <a:lnTo>
                    <a:pt x="202787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840980" y="50149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8705850" y="5062538"/>
              <a:ext cx="1582102" cy="9525"/>
            </a:xfrm>
            <a:custGeom>
              <a:avLst/>
              <a:gdLst/>
              <a:ahLst/>
              <a:cxnLst/>
              <a:rect l="l" t="t" r="r" b="b"/>
              <a:pathLst>
                <a:path w="1582102" h="9525">
                  <a:moveTo>
                    <a:pt x="0" y="0"/>
                  </a:moveTo>
                  <a:lnTo>
                    <a:pt x="15821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287952" y="50149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564052" y="3770948"/>
              <a:ext cx="1008697" cy="1082040"/>
            </a:xfrm>
            <a:custGeom>
              <a:avLst/>
              <a:gdLst/>
              <a:ahLst/>
              <a:cxnLst/>
              <a:rect l="l" t="t" r="r" b="b"/>
              <a:pathLst>
                <a:path w="1008697" h="1082040">
                  <a:moveTo>
                    <a:pt x="0" y="0"/>
                  </a:moveTo>
                  <a:lnTo>
                    <a:pt x="1008697" y="10820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538460" y="4820602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100012" y="101917"/>
                  </a:moveTo>
                  <a:lnTo>
                    <a:pt x="0" y="64770"/>
                  </a:lnTo>
                  <a:lnTo>
                    <a:pt x="6953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043488" y="2024062"/>
              <a:ext cx="769620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62525" y="2757488"/>
              <a:ext cx="931545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048750" y="2757488"/>
              <a:ext cx="76962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043488" y="3490912"/>
              <a:ext cx="76962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860155" y="3490912"/>
              <a:ext cx="1145858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372552" y="4224338"/>
              <a:ext cx="76962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62525" y="4224338"/>
              <a:ext cx="931545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043488" y="4922520"/>
              <a:ext cx="76962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936230" y="4922520"/>
              <a:ext cx="76962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383202" y="4922520"/>
              <a:ext cx="769620" cy="280035"/>
            </a:xfrm>
            <a:prstGeom prst="roundRect">
              <a:avLst>
                <a:gd name="adj" fmla="val 3401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81612" y="20983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闲置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10937" y="283178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拨号音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14588" y="2845594"/>
              <a:ext cx="12955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do/响拨号音并增加 timer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86875" y="28317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16950" y="3072289"/>
              <a:ext cx="6332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do/响蜂鸣音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81612" y="35652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拨号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74848" y="356520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存储的信息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59352" y="3579019"/>
              <a:ext cx="6332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do/播放信息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610678" y="42986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忙音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95947" y="4539139"/>
              <a:ext cx="5228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do/响忙音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10937" y="429863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接通中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46458" y="4312444"/>
              <a:ext cx="5228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do/试接通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81612" y="49968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78657" y="5010626"/>
              <a:ext cx="4124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do/振铃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74355" y="49968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通话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622280" y="49968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断线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182552" y="2451735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02758" y="248173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拿起听筒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329488" y="281844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56259" y="284845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超时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286375" y="318516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313147" y="321516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数字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394086" y="358949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数字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090410" y="3551872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111568" y="358092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无效号码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182552" y="3918585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02758" y="394763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有效号码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409950" y="428529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437674" y="431434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占线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233988" y="4634865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257952" y="466391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已接通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576060" y="4983480"/>
              <a:ext cx="59721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94411" y="5013484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受话人回话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9245918" y="4983480"/>
              <a:ext cx="59721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264269" y="5013484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受话人挂断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854565" y="4268152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875723" y="429720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信息播完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79" name="Rectangle 7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0511" y="6011704"/>
              <a:ext cx="105283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除闲置外的九个状态都能在挂断电话事件下回到闲置状态，这九条返回边在原课件里都画了出来，这里为保持图面清晰省略。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状态转换图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例二：状态迁移图与状态迁移表是等价的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1082993" y="1893570"/>
            <a:ext cx="4093845" cy="3184207"/>
            <a:chOff x="1082993" y="1893570"/>
            <a:chExt cx="4093845" cy="3184207"/>
          </a:xfrm>
        </p:grpSpPr>
        <p:sp>
          <p:nvSpPr>
            <p:cNvPr id="7" name="Freeform 7"/>
            <p:cNvSpPr/>
            <p:nvPr/>
          </p:nvSpPr>
          <p:spPr>
            <a:xfrm>
              <a:off x="1379220" y="2287905"/>
              <a:ext cx="1571625" cy="1901190"/>
            </a:xfrm>
            <a:custGeom>
              <a:avLst/>
              <a:gdLst/>
              <a:ahLst/>
              <a:cxnLst/>
              <a:rect l="l" t="t" r="r" b="b"/>
              <a:pathLst>
                <a:path w="1571625" h="1901190">
                  <a:moveTo>
                    <a:pt x="0" y="1901190"/>
                  </a:moveTo>
                  <a:lnTo>
                    <a:pt x="15716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13698" y="2214562"/>
              <a:ext cx="97155" cy="103823"/>
            </a:xfrm>
            <a:custGeom>
              <a:avLst/>
              <a:gdLst/>
              <a:ahLst/>
              <a:cxnLst/>
              <a:rect l="l" t="t" r="r" b="b"/>
              <a:pathLst>
                <a:path w="97155" h="103823">
                  <a:moveTo>
                    <a:pt x="97155" y="0"/>
                  </a:moveTo>
                  <a:lnTo>
                    <a:pt x="73343" y="103823"/>
                  </a:lnTo>
                  <a:lnTo>
                    <a:pt x="0" y="4286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248978" y="2214562"/>
              <a:ext cx="1571625" cy="1901190"/>
            </a:xfrm>
            <a:custGeom>
              <a:avLst/>
              <a:gdLst/>
              <a:ahLst/>
              <a:cxnLst/>
              <a:rect l="l" t="t" r="r" b="b"/>
              <a:pathLst>
                <a:path w="1571625" h="1901190">
                  <a:moveTo>
                    <a:pt x="0" y="0"/>
                  </a:moveTo>
                  <a:lnTo>
                    <a:pt x="1571625" y="19011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783455" y="4086225"/>
              <a:ext cx="97155" cy="102870"/>
            </a:xfrm>
            <a:custGeom>
              <a:avLst/>
              <a:gdLst/>
              <a:ahLst/>
              <a:cxnLst/>
              <a:rect l="l" t="t" r="r" b="b"/>
              <a:pathLst>
                <a:path w="97155" h="102870">
                  <a:moveTo>
                    <a:pt x="97155" y="102870"/>
                  </a:moveTo>
                  <a:lnTo>
                    <a:pt x="0" y="60008"/>
                  </a:lnTo>
                  <a:lnTo>
                    <a:pt x="7334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23988" y="3589338"/>
              <a:ext cx="3329940" cy="653098"/>
            </a:xfrm>
            <a:custGeom>
              <a:avLst/>
              <a:gdLst/>
              <a:ahLst/>
              <a:cxnLst/>
              <a:rect l="l" t="t" r="r" b="b"/>
              <a:pathLst>
                <a:path w="3329940" h="653098">
                  <a:moveTo>
                    <a:pt x="0" y="653098"/>
                  </a:moveTo>
                  <a:cubicBezTo>
                    <a:pt x="1137285" y="15558"/>
                    <a:pt x="2247265" y="0"/>
                    <a:pt x="3329940" y="60642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731068" y="4153852"/>
              <a:ext cx="105728" cy="88582"/>
            </a:xfrm>
            <a:custGeom>
              <a:avLst/>
              <a:gdLst/>
              <a:ahLst/>
              <a:cxnLst/>
              <a:rect l="l" t="t" r="r" b="b"/>
              <a:pathLst>
                <a:path w="105728" h="88582">
                  <a:moveTo>
                    <a:pt x="105728" y="88582"/>
                  </a:moveTo>
                  <a:lnTo>
                    <a:pt x="0" y="83820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506855" y="4425315"/>
              <a:ext cx="3329940" cy="652462"/>
            </a:xfrm>
            <a:custGeom>
              <a:avLst/>
              <a:gdLst/>
              <a:ahLst/>
              <a:cxnLst/>
              <a:rect l="l" t="t" r="r" b="b"/>
              <a:pathLst>
                <a:path w="3329940" h="652462">
                  <a:moveTo>
                    <a:pt x="3329940" y="0"/>
                  </a:moveTo>
                  <a:cubicBezTo>
                    <a:pt x="2192020" y="636905"/>
                    <a:pt x="1082040" y="652462"/>
                    <a:pt x="0" y="4667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423988" y="4425315"/>
              <a:ext cx="105727" cy="87630"/>
            </a:xfrm>
            <a:custGeom>
              <a:avLst/>
              <a:gdLst/>
              <a:ahLst/>
              <a:cxnLst/>
              <a:rect l="l" t="t" r="r" b="b"/>
              <a:pathLst>
                <a:path w="105727" h="87630">
                  <a:moveTo>
                    <a:pt x="0" y="0"/>
                  </a:moveTo>
                  <a:lnTo>
                    <a:pt x="105727" y="4762"/>
                  </a:lnTo>
                  <a:lnTo>
                    <a:pt x="59055" y="876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952750" y="1893570"/>
              <a:ext cx="354330" cy="3543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82993" y="4156710"/>
              <a:ext cx="354330" cy="3543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822508" y="4156710"/>
              <a:ext cx="354330" cy="3543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32199" y="200072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62442" y="42638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01957" y="42638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094548" y="3116580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24113" y="314801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964305" y="3116580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93871" y="314801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028950" y="3678555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058516" y="37109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028950" y="4816792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58516" y="4849178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</p:grpSp>
      <p:grpSp>
        <p:nvGrpSpPr>
          <p:cNvPr id="36" name="c1-callout-2"/>
          <p:cNvGrpSpPr/>
          <p:nvPr/>
        </p:nvGrpSpPr>
        <p:grpSpPr>
          <a:xfrm>
            <a:off x="533400" y="5606415"/>
            <a:ext cx="5193982" cy="756285"/>
            <a:chOff x="533400" y="5606415"/>
            <a:chExt cx="5193982" cy="756285"/>
          </a:xfrm>
        </p:grpSpPr>
        <p:sp>
          <p:nvSpPr>
            <p:cNvPr id="30" name="Rectangle 30"/>
            <p:cNvSpPr/>
            <p:nvPr/>
          </p:nvSpPr>
          <p:spPr>
            <a:xfrm>
              <a:off x="533400" y="560641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511" y="5753576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画图时一条边只画一个事件；同一对状态之间有两个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方向的转换，就画两条弧。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6026848" y="1524000"/>
            <a:ext cx="5631752" cy="2401824"/>
            <a:chOff x="6026848" y="1524000"/>
            <a:chExt cx="5631752" cy="2401824"/>
          </a:xfrm>
        </p:grpSpPr>
        <p:sp>
          <p:nvSpPr>
            <p:cNvPr id="37" name="Rectangle 37"/>
            <p:cNvSpPr/>
            <p:nvPr/>
          </p:nvSpPr>
          <p:spPr>
            <a:xfrm>
              <a:off x="6032182" y="1524000"/>
              <a:ext cx="5626418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97955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事件＼当前状态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93562" y="165258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78472" y="165258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62429" y="165258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70067" y="20764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98256" y="207645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32619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16577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23679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32182" y="2372678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70067" y="250126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47709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32619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967123" y="250126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279273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70067" y="292608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47709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83166" y="292608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016577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32182" y="32165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32182" y="3221355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70067" y="33499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47709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83166" y="3349942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016577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032182" y="1524000"/>
              <a:ext cx="5626418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10196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28592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46988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26848" y="3720465"/>
              <a:ext cx="5240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格子里填的是当前状态遇到该事件后转到的新状态，横线表示该状态不响应这个事件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6032182" y="4065270"/>
            <a:ext cx="5626418" cy="2068830"/>
            <a:chOff x="6032182" y="4065270"/>
            <a:chExt cx="5626418" cy="2068830"/>
          </a:xfrm>
        </p:grpSpPr>
        <p:sp>
          <p:nvSpPr>
            <p:cNvPr id="69" name="Rectangle 69"/>
            <p:cNvSpPr/>
            <p:nvPr/>
          </p:nvSpPr>
          <p:spPr>
            <a:xfrm>
              <a:off x="6032182" y="4065270"/>
              <a:ext cx="5626418" cy="2068830"/>
            </a:xfrm>
            <a:prstGeom prst="roundRect">
              <a:avLst>
                <a:gd name="adj" fmla="val 644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230302" y="426339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01740" y="429768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互相转换的办法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237922" y="468344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94514" y="4623911"/>
              <a:ext cx="49393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由图到表：每条边 A ──t──&gt; B，就在第 t 行、第 A 列填 B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237922" y="5001577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94514" y="4941094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由表到图：每个非空格子画一条从列名指向格内状态的箭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头，边上标行名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24206" y="5527358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表格还能一眼看出哪些状态对某个事件没有响应，这是图不容易看出来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31214" cy="909257"/>
            <a:chOff x="520446" y="342900"/>
            <a:chExt cx="523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状态转换图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3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例三：CPU 分配中的进程状态迁移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764780" cy="293370"/>
            <a:chOff x="525780" y="1548765"/>
            <a:chExt cx="77647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7647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有多个申请占用 CPU 运行的进程时，一个进程在就绪、运行、等待三个状态之间迁移。</a:t>
              </a:r>
            </a:p>
          </p:txBody>
        </p:sp>
      </p:grpSp>
      <p:grpSp>
        <p:nvGrpSpPr>
          <p:cNvPr id="31" name="c1-graph-1"/>
          <p:cNvGrpSpPr/>
          <p:nvPr/>
        </p:nvGrpSpPr>
        <p:grpSpPr>
          <a:xfrm>
            <a:off x="848678" y="2167890"/>
            <a:ext cx="4563426" cy="1858328"/>
            <a:chOff x="848678" y="2167890"/>
            <a:chExt cx="4563426" cy="1858328"/>
          </a:xfrm>
        </p:grpSpPr>
        <p:sp>
          <p:nvSpPr>
            <p:cNvPr id="9" name="Freeform 9"/>
            <p:cNvSpPr/>
            <p:nvPr/>
          </p:nvSpPr>
          <p:spPr>
            <a:xfrm>
              <a:off x="1672590" y="2557462"/>
              <a:ext cx="1365885" cy="1242060"/>
            </a:xfrm>
            <a:custGeom>
              <a:avLst/>
              <a:gdLst/>
              <a:ahLst/>
              <a:cxnLst/>
              <a:rect l="l" t="t" r="r" b="b"/>
              <a:pathLst>
                <a:path w="1365885" h="1242060">
                  <a:moveTo>
                    <a:pt x="0" y="1242060"/>
                  </a:moveTo>
                  <a:cubicBezTo>
                    <a:pt x="639445" y="1122680"/>
                    <a:pt x="1094740" y="708660"/>
                    <a:pt x="1365885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94660" y="2467928"/>
              <a:ext cx="88583" cy="105727"/>
            </a:xfrm>
            <a:custGeom>
              <a:avLst/>
              <a:gdLst/>
              <a:ahLst/>
              <a:cxnLst/>
              <a:rect l="l" t="t" r="r" b="b"/>
              <a:pathLst>
                <a:path w="88583" h="105727">
                  <a:moveTo>
                    <a:pt x="78105" y="0"/>
                  </a:moveTo>
                  <a:lnTo>
                    <a:pt x="88583" y="105727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351598" y="2394585"/>
              <a:ext cx="1366837" cy="1242060"/>
            </a:xfrm>
            <a:custGeom>
              <a:avLst/>
              <a:gdLst/>
              <a:ahLst/>
              <a:cxnLst/>
              <a:rect l="l" t="t" r="r" b="b"/>
              <a:pathLst>
                <a:path w="1366837" h="1242060">
                  <a:moveTo>
                    <a:pt x="1366837" y="0"/>
                  </a:moveTo>
                  <a:cubicBezTo>
                    <a:pt x="727392" y="119380"/>
                    <a:pt x="271780" y="533400"/>
                    <a:pt x="0" y="124206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07782" y="3619500"/>
              <a:ext cx="88582" cy="106680"/>
            </a:xfrm>
            <a:custGeom>
              <a:avLst/>
              <a:gdLst/>
              <a:ahLst/>
              <a:cxnLst/>
              <a:rect l="l" t="t" r="r" b="b"/>
              <a:pathLst>
                <a:path w="88582" h="106680">
                  <a:moveTo>
                    <a:pt x="10477" y="106680"/>
                  </a:moveTo>
                  <a:lnTo>
                    <a:pt x="0" y="0"/>
                  </a:lnTo>
                  <a:lnTo>
                    <a:pt x="88582" y="3429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309938" y="2467928"/>
              <a:ext cx="1437322" cy="1197292"/>
            </a:xfrm>
            <a:custGeom>
              <a:avLst/>
              <a:gdLst/>
              <a:ahLst/>
              <a:cxnLst/>
              <a:rect l="l" t="t" r="r" b="b"/>
              <a:pathLst>
                <a:path w="1437322" h="1197292">
                  <a:moveTo>
                    <a:pt x="0" y="0"/>
                  </a:moveTo>
                  <a:lnTo>
                    <a:pt x="1437322" y="11972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16780" y="3628072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102870" y="98108"/>
                  </a:moveTo>
                  <a:lnTo>
                    <a:pt x="0" y="73343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767840" y="3875722"/>
              <a:ext cx="2820352" cy="9525"/>
            </a:xfrm>
            <a:custGeom>
              <a:avLst/>
              <a:gdLst/>
              <a:ahLst/>
              <a:cxnLst/>
              <a:rect l="l" t="t" r="r" b="b"/>
              <a:pathLst>
                <a:path w="2820352" h="9525">
                  <a:moveTo>
                    <a:pt x="282035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672590" y="38280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718435" y="2167890"/>
              <a:ext cx="82391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48678" y="3726180"/>
              <a:ext cx="82391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88192" y="3726180"/>
              <a:ext cx="82391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973426" y="22483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3668" y="38057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43183" y="38057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01252" y="3290888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430818" y="3323273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787842" y="2730818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817408" y="276320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964305" y="3010852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93871" y="3043238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028950" y="3789998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58516" y="382238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</p:grpSp>
      <p:grpSp>
        <p:nvGrpSpPr>
          <p:cNvPr id="52" name="c2-kv-1"/>
          <p:cNvGrpSpPr/>
          <p:nvPr/>
        </p:nvGrpSpPr>
        <p:grpSpPr>
          <a:xfrm>
            <a:off x="6024944" y="1977866"/>
            <a:ext cx="5633656" cy="2776157"/>
            <a:chOff x="6024944" y="1977866"/>
            <a:chExt cx="5633656" cy="2776157"/>
          </a:xfrm>
        </p:grpSpPr>
        <p:sp>
          <p:nvSpPr>
            <p:cNvPr id="32" name="TextBox 32"/>
            <p:cNvSpPr txBox="1"/>
            <p:nvPr/>
          </p:nvSpPr>
          <p:spPr>
            <a:xfrm>
              <a:off x="6024944" y="1977866"/>
              <a:ext cx="11859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运行 Running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17498" y="1977866"/>
              <a:ext cx="16158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 CPU 上做处理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32182" y="22812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24944" y="2394109"/>
              <a:ext cx="8955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等待 Wait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17498" y="2394109"/>
              <a:ext cx="7906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放弃 CPU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32182" y="26974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24944" y="2810351"/>
              <a:ext cx="10159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就绪 Ready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17498" y="2810351"/>
              <a:ext cx="1172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等待分配 CPU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31137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24944" y="3226594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17498" y="3226594"/>
              <a:ext cx="25616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 I/O 等事件发生而要求中断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352996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24944" y="3642836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17498" y="364283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中断事件已处理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39462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24944" y="4059079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17498" y="4059079"/>
              <a:ext cx="7906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 CPU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43624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24944" y="4475321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17498" y="4475321"/>
              <a:ext cx="19982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已用完分配的 CPU 时间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6032182" y="4878705"/>
            <a:ext cx="5626418" cy="756285"/>
            <a:chOff x="6032182" y="4878705"/>
            <a:chExt cx="5626418" cy="756285"/>
          </a:xfrm>
        </p:grpSpPr>
        <p:sp>
          <p:nvSpPr>
            <p:cNvPr id="53" name="Rectangle 53"/>
            <p:cNvSpPr/>
            <p:nvPr/>
          </p:nvSpPr>
          <p:spPr>
            <a:xfrm>
              <a:off x="6032182" y="4878705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236970" y="5156837"/>
              <a:ext cx="200023" cy="200023"/>
              <a:chOff x="6236970" y="5156837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236970" y="51568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370320" y="52235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539294" y="5025866"/>
              <a:ext cx="464921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t1 与 t4 都是离开运行状态，区别在于 t1 是自己等 I/O，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t4 是时间片被调度程序收回。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9" name="Rectangle 5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6011704"/>
              <a:ext cx="72901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图中没有等待直接到运行的边：等待的进程必须先回到就绪，再由调度程序分配 CPU。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487575" y="2705100"/>
            <a:ext cx="2836850" cy="2305050"/>
            <a:chOff x="8487575" y="2705100"/>
            <a:chExt cx="2836850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487575" y="2705100"/>
              <a:ext cx="283685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3.7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其他图形工具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描述数据层次、加工、时间关系和并发的四类图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324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层次方框图与 Warnier 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1015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IPO 图与改进的 IPO 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时序图与扩充时序图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7889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Petri 网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03749" cy="909257"/>
            <a:chOff x="520446" y="342900"/>
            <a:chExt cx="78037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其他图形工具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037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层次方框图与 Warnier 图：都描述数据的层次结构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ree-1"/>
          <p:cNvGrpSpPr/>
          <p:nvPr/>
        </p:nvGrpSpPr>
        <p:grpSpPr>
          <a:xfrm>
            <a:off x="569595" y="1845945"/>
            <a:ext cx="5496877" cy="2394585"/>
            <a:chOff x="569595" y="1845945"/>
            <a:chExt cx="5496877" cy="2394585"/>
          </a:xfrm>
        </p:grpSpPr>
        <p:sp>
          <p:nvSpPr>
            <p:cNvPr id="7" name="Freeform 7"/>
            <p:cNvSpPr/>
            <p:nvPr/>
          </p:nvSpPr>
          <p:spPr>
            <a:xfrm>
              <a:off x="845820" y="3043238"/>
              <a:ext cx="625792" cy="1012508"/>
            </a:xfrm>
            <a:custGeom>
              <a:avLst/>
              <a:gdLst/>
              <a:ahLst/>
              <a:cxnLst/>
              <a:rect l="l" t="t" r="r" b="b"/>
              <a:pathLst>
                <a:path w="625792" h="1012508">
                  <a:moveTo>
                    <a:pt x="625792" y="0"/>
                  </a:moveTo>
                  <a:lnTo>
                    <a:pt x="0" y="1012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71612" y="3043238"/>
              <a:ext cx="9525" cy="1012508"/>
            </a:xfrm>
            <a:custGeom>
              <a:avLst/>
              <a:gdLst/>
              <a:ahLst/>
              <a:cxnLst/>
              <a:rect l="l" t="t" r="r" b="b"/>
              <a:pathLst>
                <a:path w="9525" h="1012508">
                  <a:moveTo>
                    <a:pt x="0" y="0"/>
                  </a:moveTo>
                  <a:lnTo>
                    <a:pt x="0" y="1012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471612" y="3043238"/>
              <a:ext cx="624840" cy="1012508"/>
            </a:xfrm>
            <a:custGeom>
              <a:avLst/>
              <a:gdLst/>
              <a:ahLst/>
              <a:cxnLst/>
              <a:rect l="l" t="t" r="r" b="b"/>
              <a:pathLst>
                <a:path w="624840" h="1012508">
                  <a:moveTo>
                    <a:pt x="0" y="0"/>
                  </a:moveTo>
                  <a:lnTo>
                    <a:pt x="624840" y="1012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77502" y="3043238"/>
              <a:ext cx="469582" cy="1012508"/>
            </a:xfrm>
            <a:custGeom>
              <a:avLst/>
              <a:gdLst/>
              <a:ahLst/>
              <a:cxnLst/>
              <a:rect l="l" t="t" r="r" b="b"/>
              <a:pathLst>
                <a:path w="469582" h="1012508">
                  <a:moveTo>
                    <a:pt x="469582" y="0"/>
                  </a:moveTo>
                  <a:lnTo>
                    <a:pt x="0" y="1012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347085" y="3043238"/>
              <a:ext cx="468630" cy="1012508"/>
            </a:xfrm>
            <a:custGeom>
              <a:avLst/>
              <a:gdLst/>
              <a:ahLst/>
              <a:cxnLst/>
              <a:rect l="l" t="t" r="r" b="b"/>
              <a:pathLst>
                <a:path w="468630" h="1012508">
                  <a:moveTo>
                    <a:pt x="0" y="0"/>
                  </a:moveTo>
                  <a:lnTo>
                    <a:pt x="468630" y="1012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96765" y="3043238"/>
              <a:ext cx="625792" cy="1012508"/>
            </a:xfrm>
            <a:custGeom>
              <a:avLst/>
              <a:gdLst/>
              <a:ahLst/>
              <a:cxnLst/>
              <a:rect l="l" t="t" r="r" b="b"/>
              <a:pathLst>
                <a:path w="625792" h="1012508">
                  <a:moveTo>
                    <a:pt x="625792" y="0"/>
                  </a:moveTo>
                  <a:lnTo>
                    <a:pt x="0" y="1012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222558" y="3043238"/>
              <a:ext cx="9525" cy="1012508"/>
            </a:xfrm>
            <a:custGeom>
              <a:avLst/>
              <a:gdLst/>
              <a:ahLst/>
              <a:cxnLst/>
              <a:rect l="l" t="t" r="r" b="b"/>
              <a:pathLst>
                <a:path w="9525" h="1012508">
                  <a:moveTo>
                    <a:pt x="0" y="0"/>
                  </a:moveTo>
                  <a:lnTo>
                    <a:pt x="0" y="1012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222558" y="3043238"/>
              <a:ext cx="624840" cy="1012508"/>
            </a:xfrm>
            <a:custGeom>
              <a:avLst/>
              <a:gdLst/>
              <a:ahLst/>
              <a:cxnLst/>
              <a:rect l="l" t="t" r="r" b="b"/>
              <a:pathLst>
                <a:path w="624840" h="1012508">
                  <a:moveTo>
                    <a:pt x="0" y="0"/>
                  </a:moveTo>
                  <a:lnTo>
                    <a:pt x="624840" y="1012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471612" y="2030730"/>
              <a:ext cx="1875472" cy="1012508"/>
            </a:xfrm>
            <a:custGeom>
              <a:avLst/>
              <a:gdLst/>
              <a:ahLst/>
              <a:cxnLst/>
              <a:rect l="l" t="t" r="r" b="b"/>
              <a:pathLst>
                <a:path w="1875472" h="1012508">
                  <a:moveTo>
                    <a:pt x="1875472" y="0"/>
                  </a:moveTo>
                  <a:lnTo>
                    <a:pt x="0" y="1012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347085" y="2030730"/>
              <a:ext cx="9525" cy="1012508"/>
            </a:xfrm>
            <a:custGeom>
              <a:avLst/>
              <a:gdLst/>
              <a:ahLst/>
              <a:cxnLst/>
              <a:rect l="l" t="t" r="r" b="b"/>
              <a:pathLst>
                <a:path w="9525" h="1012508">
                  <a:moveTo>
                    <a:pt x="0" y="0"/>
                  </a:moveTo>
                  <a:lnTo>
                    <a:pt x="0" y="1012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347085" y="2030730"/>
              <a:ext cx="1875472" cy="1012508"/>
            </a:xfrm>
            <a:custGeom>
              <a:avLst/>
              <a:gdLst/>
              <a:ahLst/>
              <a:cxnLst/>
              <a:rect l="l" t="t" r="r" b="b"/>
              <a:pathLst>
                <a:path w="1875472" h="1012508">
                  <a:moveTo>
                    <a:pt x="0" y="0"/>
                  </a:moveTo>
                  <a:lnTo>
                    <a:pt x="1875472" y="1012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69595" y="3871912"/>
              <a:ext cx="55245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95388" y="3871912"/>
              <a:ext cx="55245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763078" y="3871912"/>
              <a:ext cx="66675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252538" y="2858452"/>
              <a:ext cx="43815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544128" y="3871912"/>
              <a:ext cx="66675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482340" y="3871912"/>
              <a:ext cx="66675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128010" y="2858452"/>
              <a:ext cx="43815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263390" y="3871912"/>
              <a:ext cx="66675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889182" y="3871912"/>
              <a:ext cx="66675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628322" y="3871912"/>
              <a:ext cx="43815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003482" y="2858452"/>
              <a:ext cx="43815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128010" y="1845945"/>
              <a:ext cx="43815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9320" y="400050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85113" y="400050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49374" y="400050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外部设备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45692" y="298704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30424" y="400050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系统软件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68637" y="400050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应用软件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21164" y="298704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49686" y="400050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软件服务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75479" y="400050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硬件维修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21477" y="40005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培训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96637" y="298704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21164" y="197453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</p:grpSp>
      <p:grpSp>
        <p:nvGrpSpPr>
          <p:cNvPr id="49" name="c1-callout-2"/>
          <p:cNvGrpSpPr/>
          <p:nvPr/>
        </p:nvGrpSpPr>
        <p:grpSpPr>
          <a:xfrm>
            <a:off x="533400" y="4732020"/>
            <a:ext cx="5626418" cy="978218"/>
            <a:chOff x="533400" y="4732020"/>
            <a:chExt cx="5626418" cy="978218"/>
          </a:xfrm>
        </p:grpSpPr>
        <p:sp>
          <p:nvSpPr>
            <p:cNvPr id="43" name="Rectangle 43"/>
            <p:cNvSpPr/>
            <p:nvPr/>
          </p:nvSpPr>
          <p:spPr>
            <a:xfrm>
              <a:off x="533400" y="4732020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121593"/>
              <a:ext cx="200026" cy="200026"/>
              <a:chOff x="738188" y="5121593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1215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51882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52216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4878705"/>
              <a:ext cx="46428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层次方框图用树形结构的一系列多层次的矩形描述数据的层次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结构。每个矩形还能继续往下分解，例如系统软件可再分为操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作系统、编译程序和软件工具。</a:t>
              </a:r>
            </a:p>
          </p:txBody>
        </p:sp>
      </p:grpSp>
      <p:grpSp>
        <p:nvGrpSpPr>
          <p:cNvPr id="76" name="c2-tree-1"/>
          <p:cNvGrpSpPr/>
          <p:nvPr/>
        </p:nvGrpSpPr>
        <p:grpSpPr>
          <a:xfrm>
            <a:off x="6464618" y="1540192"/>
            <a:ext cx="5193982" cy="2237423"/>
            <a:chOff x="6464618" y="1540192"/>
            <a:chExt cx="5193982" cy="2237423"/>
          </a:xfrm>
        </p:grpSpPr>
        <p:sp>
          <p:nvSpPr>
            <p:cNvPr id="50" name="Freeform 50"/>
            <p:cNvSpPr/>
            <p:nvPr/>
          </p:nvSpPr>
          <p:spPr>
            <a:xfrm>
              <a:off x="10255568" y="2469832"/>
              <a:ext cx="419100" cy="378142"/>
            </a:xfrm>
            <a:custGeom>
              <a:avLst/>
              <a:gdLst/>
              <a:ahLst/>
              <a:cxnLst/>
              <a:rect l="l" t="t" r="r" b="b"/>
              <a:pathLst>
                <a:path w="419100" h="378142">
                  <a:moveTo>
                    <a:pt x="0" y="378142"/>
                  </a:moveTo>
                  <a:lnTo>
                    <a:pt x="209550" y="37814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255568" y="28479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255568" y="2847975"/>
              <a:ext cx="419100" cy="378142"/>
            </a:xfrm>
            <a:custGeom>
              <a:avLst/>
              <a:gdLst/>
              <a:ahLst/>
              <a:cxnLst/>
              <a:rect l="l" t="t" r="r" b="b"/>
              <a:pathLst>
                <a:path w="419100" h="378142">
                  <a:moveTo>
                    <a:pt x="0" y="0"/>
                  </a:moveTo>
                  <a:lnTo>
                    <a:pt x="209550" y="0"/>
                  </a:lnTo>
                  <a:lnTo>
                    <a:pt x="209550" y="378142"/>
                  </a:lnTo>
                  <a:lnTo>
                    <a:pt x="419100" y="37814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852535" y="1713548"/>
              <a:ext cx="419100" cy="566738"/>
            </a:xfrm>
            <a:custGeom>
              <a:avLst/>
              <a:gdLst/>
              <a:ahLst/>
              <a:cxnLst/>
              <a:rect l="l" t="t" r="r" b="b"/>
              <a:pathLst>
                <a:path w="419100" h="566738">
                  <a:moveTo>
                    <a:pt x="0" y="566738"/>
                  </a:moveTo>
                  <a:lnTo>
                    <a:pt x="209550" y="56673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852535" y="2091690"/>
              <a:ext cx="419100" cy="188595"/>
            </a:xfrm>
            <a:custGeom>
              <a:avLst/>
              <a:gdLst/>
              <a:ahLst/>
              <a:cxnLst/>
              <a:rect l="l" t="t" r="r" b="b"/>
              <a:pathLst>
                <a:path w="419100" h="188595">
                  <a:moveTo>
                    <a:pt x="0" y="188595"/>
                  </a:moveTo>
                  <a:lnTo>
                    <a:pt x="209550" y="18859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852535" y="2280285"/>
              <a:ext cx="419100" cy="567690"/>
            </a:xfrm>
            <a:custGeom>
              <a:avLst/>
              <a:gdLst/>
              <a:ahLst/>
              <a:cxnLst/>
              <a:rect l="l" t="t" r="r" b="b"/>
              <a:pathLst>
                <a:path w="419100" h="567690">
                  <a:moveTo>
                    <a:pt x="0" y="0"/>
                  </a:moveTo>
                  <a:lnTo>
                    <a:pt x="209550" y="0"/>
                  </a:lnTo>
                  <a:lnTo>
                    <a:pt x="209550" y="567690"/>
                  </a:lnTo>
                  <a:lnTo>
                    <a:pt x="419100" y="56769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448550" y="2280285"/>
              <a:ext cx="419100" cy="661987"/>
            </a:xfrm>
            <a:custGeom>
              <a:avLst/>
              <a:gdLst/>
              <a:ahLst/>
              <a:cxnLst/>
              <a:rect l="l" t="t" r="r" b="b"/>
              <a:pathLst>
                <a:path w="419100" h="661987">
                  <a:moveTo>
                    <a:pt x="0" y="661987"/>
                  </a:moveTo>
                  <a:lnTo>
                    <a:pt x="209550" y="66198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448550" y="2942272"/>
              <a:ext cx="419100" cy="661988"/>
            </a:xfrm>
            <a:custGeom>
              <a:avLst/>
              <a:gdLst/>
              <a:ahLst/>
              <a:cxnLst/>
              <a:rect l="l" t="t" r="r" b="b"/>
              <a:pathLst>
                <a:path w="419100" h="661988">
                  <a:moveTo>
                    <a:pt x="0" y="0"/>
                  </a:moveTo>
                  <a:lnTo>
                    <a:pt x="209550" y="0"/>
                  </a:lnTo>
                  <a:lnTo>
                    <a:pt x="209550" y="661988"/>
                  </a:lnTo>
                  <a:lnTo>
                    <a:pt x="419100" y="66198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271635" y="1540192"/>
              <a:ext cx="98393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9271635" y="1918335"/>
              <a:ext cx="98393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674668" y="2296478"/>
              <a:ext cx="98393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674668" y="2674620"/>
              <a:ext cx="98393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674668" y="3052762"/>
              <a:ext cx="98393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9271635" y="2674620"/>
              <a:ext cx="983932" cy="346710"/>
            </a:xfrm>
            <a:prstGeom prst="roundRect">
              <a:avLst>
                <a:gd name="adj" fmla="val 27473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867650" y="2106930"/>
              <a:ext cx="983932" cy="346710"/>
            </a:xfrm>
            <a:prstGeom prst="roundRect">
              <a:avLst>
                <a:gd name="adj" fmla="val 27473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67650" y="3430905"/>
              <a:ext cx="98393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64618" y="2768918"/>
              <a:ext cx="983932" cy="346710"/>
            </a:xfrm>
            <a:prstGeom prst="roundRect">
              <a:avLst>
                <a:gd name="adj" fmla="val 2747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61170" y="16349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61170" y="20131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编译程序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764203" y="23912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编辑程序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764203" y="27693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测试驱动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764203" y="31475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设计辅助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361170" y="27693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软件工具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957185" y="22017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系统软件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957185" y="35256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应用软件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554152" y="28636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软件产品</a:t>
              </a:r>
            </a:p>
          </p:txBody>
        </p:sp>
      </p:grpSp>
      <p:grpSp>
        <p:nvGrpSpPr>
          <p:cNvPr id="85" name="c2-card-2"/>
          <p:cNvGrpSpPr/>
          <p:nvPr/>
        </p:nvGrpSpPr>
        <p:grpSpPr>
          <a:xfrm>
            <a:off x="6464618" y="3963352"/>
            <a:ext cx="5193982" cy="1746885"/>
            <a:chOff x="6464618" y="3963352"/>
            <a:chExt cx="5193982" cy="1746885"/>
          </a:xfrm>
        </p:grpSpPr>
        <p:sp>
          <p:nvSpPr>
            <p:cNvPr id="77" name="Rectangle 77"/>
            <p:cNvSpPr/>
            <p:nvPr/>
          </p:nvSpPr>
          <p:spPr>
            <a:xfrm>
              <a:off x="6464618" y="3963352"/>
              <a:ext cx="5193982" cy="1746885"/>
            </a:xfrm>
            <a:prstGeom prst="roundRect">
              <a:avLst>
                <a:gd name="adj" fmla="val 763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651308" y="4150042"/>
              <a:ext cx="1616392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707010" y="4182904"/>
              <a:ext cx="1505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Warnier 图多出来的手段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659880" y="455009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815899" y="4493895"/>
              <a:ext cx="3802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⊕ 表示互斥，本例中系统软件与应用软件二选一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659880" y="48501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815899" y="479393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大括号表示一个类别由哪几项组成，还能标出某一项重复出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现的次数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645592" y="5347811"/>
              <a:ext cx="3417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原图在五个末端分别标了 P1 到 P5 作为程序编号。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6" name="Rectangle 8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0892" y="6028373"/>
              <a:ext cx="67969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两种图都只画数据的层次，不画数据怎样被加工；加工要用数据流图和 IPO 图描述。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98733" cy="909257"/>
            <a:chOff x="520446" y="342900"/>
            <a:chExt cx="58987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其他图形工具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987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IPO 图：一个加工的输入、处理与输出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669608" y="1795462"/>
            <a:ext cx="5570219" cy="2322196"/>
            <a:chOff x="669608" y="1795462"/>
            <a:chExt cx="5570219" cy="2322196"/>
          </a:xfrm>
        </p:grpSpPr>
        <p:sp>
          <p:nvSpPr>
            <p:cNvPr id="7" name="Freeform 7"/>
            <p:cNvSpPr/>
            <p:nvPr/>
          </p:nvSpPr>
          <p:spPr>
            <a:xfrm>
              <a:off x="2345055" y="2001202"/>
              <a:ext cx="167640" cy="9525"/>
            </a:xfrm>
            <a:custGeom>
              <a:avLst/>
              <a:gdLst/>
              <a:ahLst/>
              <a:cxnLst/>
              <a:rect l="l" t="t" r="r" b="b"/>
              <a:pathLst>
                <a:path w="167640" h="9525">
                  <a:moveTo>
                    <a:pt x="0" y="0"/>
                  </a:moveTo>
                  <a:lnTo>
                    <a:pt x="1676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12695" y="19488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345055" y="2956560"/>
              <a:ext cx="167640" cy="9525"/>
            </a:xfrm>
            <a:custGeom>
              <a:avLst/>
              <a:gdLst/>
              <a:ahLst/>
              <a:cxnLst/>
              <a:rect l="l" t="t" r="r" b="b"/>
              <a:pathLst>
                <a:path w="167640" h="9525">
                  <a:moveTo>
                    <a:pt x="0" y="0"/>
                  </a:moveTo>
                  <a:lnTo>
                    <a:pt x="1676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12695" y="29041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291965" y="2001202"/>
              <a:ext cx="168592" cy="9525"/>
            </a:xfrm>
            <a:custGeom>
              <a:avLst/>
              <a:gdLst/>
              <a:ahLst/>
              <a:cxnLst/>
              <a:rect l="l" t="t" r="r" b="b"/>
              <a:pathLst>
                <a:path w="168592" h="9525">
                  <a:moveTo>
                    <a:pt x="0" y="0"/>
                  </a:moveTo>
                  <a:lnTo>
                    <a:pt x="168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460558" y="19488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291965" y="2956560"/>
              <a:ext cx="168592" cy="9525"/>
            </a:xfrm>
            <a:custGeom>
              <a:avLst/>
              <a:gdLst/>
              <a:ahLst/>
              <a:cxnLst/>
              <a:rect l="l" t="t" r="r" b="b"/>
              <a:pathLst>
                <a:path w="168592" h="9525">
                  <a:moveTo>
                    <a:pt x="0" y="0"/>
                  </a:moveTo>
                  <a:lnTo>
                    <a:pt x="168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60558" y="29041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454718" y="2207895"/>
              <a:ext cx="1947863" cy="1392555"/>
            </a:xfrm>
            <a:custGeom>
              <a:avLst/>
              <a:gdLst/>
              <a:ahLst/>
              <a:cxnLst/>
              <a:rect l="l" t="t" r="r" b="b"/>
              <a:pathLst>
                <a:path w="1947863" h="1392555">
                  <a:moveTo>
                    <a:pt x="1947863" y="0"/>
                  </a:moveTo>
                  <a:lnTo>
                    <a:pt x="1947863" y="748665"/>
                  </a:lnTo>
                  <a:lnTo>
                    <a:pt x="0" y="748665"/>
                  </a:lnTo>
                  <a:lnTo>
                    <a:pt x="0" y="13925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402330" y="36004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454718" y="3162300"/>
              <a:ext cx="1947863" cy="438150"/>
            </a:xfrm>
            <a:custGeom>
              <a:avLst/>
              <a:gdLst/>
              <a:ahLst/>
              <a:cxnLst/>
              <a:rect l="l" t="t" r="r" b="b"/>
              <a:pathLst>
                <a:path w="1947863" h="438150">
                  <a:moveTo>
                    <a:pt x="1947863" y="0"/>
                  </a:moveTo>
                  <a:lnTo>
                    <a:pt x="1947863" y="271462"/>
                  </a:lnTo>
                  <a:lnTo>
                    <a:pt x="0" y="271462"/>
                  </a:lnTo>
                  <a:lnTo>
                    <a:pt x="0" y="4381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402330" y="36004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291965" y="3911918"/>
              <a:ext cx="168592" cy="9525"/>
            </a:xfrm>
            <a:custGeom>
              <a:avLst/>
              <a:gdLst/>
              <a:ahLst/>
              <a:cxnLst/>
              <a:rect l="l" t="t" r="r" b="b"/>
              <a:pathLst>
                <a:path w="168592" h="9525">
                  <a:moveTo>
                    <a:pt x="0" y="0"/>
                  </a:moveTo>
                  <a:lnTo>
                    <a:pt x="168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460558" y="38595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69608" y="1795462"/>
              <a:ext cx="1675447" cy="412433"/>
            </a:xfrm>
            <a:custGeom>
              <a:avLst/>
              <a:gdLst/>
              <a:ahLst/>
              <a:cxnLst/>
              <a:rect l="l" t="t" r="r" b="b"/>
              <a:pathLst>
                <a:path w="1675447" h="412433">
                  <a:moveTo>
                    <a:pt x="133350" y="0"/>
                  </a:moveTo>
                  <a:lnTo>
                    <a:pt x="1675447" y="0"/>
                  </a:lnTo>
                  <a:lnTo>
                    <a:pt x="1542097" y="412433"/>
                  </a:lnTo>
                  <a:lnTo>
                    <a:pt x="0" y="412433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69608" y="2750820"/>
              <a:ext cx="1675447" cy="411480"/>
            </a:xfrm>
            <a:custGeom>
              <a:avLst/>
              <a:gdLst/>
              <a:ahLst/>
              <a:cxnLst/>
              <a:rect l="l" t="t" r="r" b="b"/>
              <a:pathLst>
                <a:path w="1675447" h="411480">
                  <a:moveTo>
                    <a:pt x="133350" y="0"/>
                  </a:moveTo>
                  <a:lnTo>
                    <a:pt x="1675447" y="0"/>
                  </a:lnTo>
                  <a:lnTo>
                    <a:pt x="1542097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17470" y="1795462"/>
              <a:ext cx="167544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17470" y="2750820"/>
              <a:ext cx="167544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17470" y="3705225"/>
              <a:ext cx="167544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565332" y="1795462"/>
              <a:ext cx="1674495" cy="412433"/>
            </a:xfrm>
            <a:custGeom>
              <a:avLst/>
              <a:gdLst/>
              <a:ahLst/>
              <a:cxnLst/>
              <a:rect l="l" t="t" r="r" b="b"/>
              <a:pathLst>
                <a:path w="1674495" h="412433">
                  <a:moveTo>
                    <a:pt x="133350" y="0"/>
                  </a:moveTo>
                  <a:lnTo>
                    <a:pt x="1674495" y="0"/>
                  </a:lnTo>
                  <a:lnTo>
                    <a:pt x="1541145" y="412433"/>
                  </a:lnTo>
                  <a:lnTo>
                    <a:pt x="0" y="412433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565332" y="2750820"/>
              <a:ext cx="1674495" cy="411480"/>
            </a:xfrm>
            <a:custGeom>
              <a:avLst/>
              <a:gdLst/>
              <a:ahLst/>
              <a:cxnLst/>
              <a:rect l="l" t="t" r="r" b="b"/>
              <a:pathLst>
                <a:path w="1674495" h="411480">
                  <a:moveTo>
                    <a:pt x="133350" y="0"/>
                  </a:moveTo>
                  <a:lnTo>
                    <a:pt x="1674495" y="0"/>
                  </a:lnTo>
                  <a:lnTo>
                    <a:pt x="1541145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565332" y="3705225"/>
              <a:ext cx="1674495" cy="412433"/>
            </a:xfrm>
            <a:custGeom>
              <a:avLst/>
              <a:gdLst/>
              <a:ahLst/>
              <a:cxnLst/>
              <a:rect l="l" t="t" r="r" b="b"/>
              <a:pathLst>
                <a:path w="1674495" h="412433">
                  <a:moveTo>
                    <a:pt x="133350" y="0"/>
                  </a:moveTo>
                  <a:lnTo>
                    <a:pt x="1674495" y="0"/>
                  </a:lnTo>
                  <a:lnTo>
                    <a:pt x="1541145" y="412433"/>
                  </a:lnTo>
                  <a:lnTo>
                    <a:pt x="0" y="412433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6899" y="19173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旧的主文件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77671" y="28727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事务文件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31681" y="1917382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校验主记录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50909" y="2872740"/>
              <a:ext cx="1207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校验事务记录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31681" y="3828098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更新主记录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11852" y="19173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有效的主记录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31080" y="287274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有效的事务记录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31080" y="382809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更新后的主文件</a:t>
              </a:r>
            </a:p>
          </p:txBody>
        </p:sp>
      </p:grpSp>
      <p:grpSp>
        <p:nvGrpSpPr>
          <p:cNvPr id="44" name="c1-callout-2"/>
          <p:cNvGrpSpPr/>
          <p:nvPr/>
        </p:nvGrpSpPr>
        <p:grpSpPr>
          <a:xfrm>
            <a:off x="533400" y="4569142"/>
            <a:ext cx="5842635" cy="1075372"/>
            <a:chOff x="533400" y="4569142"/>
            <a:chExt cx="5842635" cy="1075372"/>
          </a:xfrm>
        </p:grpSpPr>
        <p:sp>
          <p:nvSpPr>
            <p:cNvPr id="38" name="Rectangle 38"/>
            <p:cNvSpPr/>
            <p:nvPr/>
          </p:nvSpPr>
          <p:spPr>
            <a:xfrm>
              <a:off x="533400" y="4569142"/>
              <a:ext cx="5842635" cy="1075372"/>
            </a:xfrm>
            <a:prstGeom prst="roundRect">
              <a:avLst>
                <a:gd name="adj" fmla="val 106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007293"/>
              <a:ext cx="200026" cy="200026"/>
              <a:chOff x="738188" y="5007293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0072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50739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7088" y="51073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4876324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左栏是输入，中栏是处理，右栏是输出；校验的结果又回流成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为第三步的输入。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6680835" y="1524000"/>
            <a:ext cx="4977765" cy="3185160"/>
            <a:chOff x="6680835" y="1524000"/>
            <a:chExt cx="4977765" cy="3185160"/>
          </a:xfrm>
        </p:grpSpPr>
        <p:sp>
          <p:nvSpPr>
            <p:cNvPr id="45" name="Rectangle 45"/>
            <p:cNvSpPr/>
            <p:nvPr/>
          </p:nvSpPr>
          <p:spPr>
            <a:xfrm>
              <a:off x="6680835" y="1524000"/>
              <a:ext cx="4977765" cy="63817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86016" y="1652588"/>
              <a:ext cx="1382268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改进的 IPO 图（IPO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表）的栏目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35896" y="17592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记录什么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83324" y="2289810"/>
              <a:ext cx="13715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 / 模块 / 编号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75002" y="22898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这张表描述的是哪个系统的哪个模块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80835" y="25812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80835" y="2586038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83324" y="2714625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作者 / 日期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75002" y="271462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便于追踪修改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80835" y="30060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83324" y="3139440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被调用 / 调用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75002" y="313944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本模块被谁调用，又调用了谁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680835" y="34299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80835" y="3434715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83324" y="3563302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/ 输出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75002" y="356330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模块的输入数据和输出数据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680835" y="3854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83324" y="3988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75002" y="398811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处理过程的描述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680835" y="42795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80835" y="4284345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83324" y="441198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局部数据元素 / 注释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75002" y="441198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模块内部使用的数据与补充说明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680835" y="1524000"/>
              <a:ext cx="4977765" cy="31842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667750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c2-callout-2"/>
          <p:cNvGrpSpPr/>
          <p:nvPr/>
        </p:nvGrpSpPr>
        <p:grpSpPr>
          <a:xfrm>
            <a:off x="6680835" y="4888230"/>
            <a:ext cx="4977765" cy="756285"/>
            <a:chOff x="6680835" y="4888230"/>
            <a:chExt cx="4977765" cy="756285"/>
          </a:xfrm>
        </p:grpSpPr>
        <p:sp>
          <p:nvSpPr>
            <p:cNvPr id="71" name="Rectangle 71"/>
            <p:cNvSpPr/>
            <p:nvPr/>
          </p:nvSpPr>
          <p:spPr>
            <a:xfrm>
              <a:off x="6680835" y="4888230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885623" y="5166362"/>
              <a:ext cx="200023" cy="200023"/>
              <a:chOff x="6885623" y="5166362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885623" y="51663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018973" y="52330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7187946" y="5036344"/>
              <a:ext cx="405409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改进的 IPO 图比 IPO 图多了调用关系和局部数据元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素，可以一直用到总体设计和详细设计阶段。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77" name="Rectangle 7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511" y="6011704"/>
              <a:ext cx="8487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数据流图分解到底层之后，每个不再分解的加工都配一张 IPO 表，两者合起来才是完整的功能模型。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其他图形工具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时序图与扩充时序图：把时间关系画出来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graph-1"/>
          <p:cNvGrpSpPr/>
          <p:nvPr/>
        </p:nvGrpSpPr>
        <p:grpSpPr>
          <a:xfrm>
            <a:off x="636270" y="1690688"/>
            <a:ext cx="5096827" cy="3057524"/>
            <a:chOff x="636270" y="1690688"/>
            <a:chExt cx="5096827" cy="3057524"/>
          </a:xfrm>
        </p:grpSpPr>
        <p:sp>
          <p:nvSpPr>
            <p:cNvPr id="7" name="Freeform 7"/>
            <p:cNvSpPr/>
            <p:nvPr/>
          </p:nvSpPr>
          <p:spPr>
            <a:xfrm>
              <a:off x="1969770" y="1862138"/>
              <a:ext cx="101917" cy="365760"/>
            </a:xfrm>
            <a:custGeom>
              <a:avLst/>
              <a:gdLst/>
              <a:ahLst/>
              <a:cxnLst/>
              <a:rect l="l" t="t" r="r" b="b"/>
              <a:pathLst>
                <a:path w="101917" h="365760">
                  <a:moveTo>
                    <a:pt x="0" y="0"/>
                  </a:moveTo>
                  <a:lnTo>
                    <a:pt x="101917" y="3657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25968" y="2214562"/>
              <a:ext cx="92393" cy="104775"/>
            </a:xfrm>
            <a:custGeom>
              <a:avLst/>
              <a:gdLst/>
              <a:ahLst/>
              <a:cxnLst/>
              <a:rect l="l" t="t" r="r" b="b"/>
              <a:pathLst>
                <a:path w="92393" h="104775">
                  <a:moveTo>
                    <a:pt x="71438" y="104775"/>
                  </a:moveTo>
                  <a:lnTo>
                    <a:pt x="0" y="25717"/>
                  </a:lnTo>
                  <a:lnTo>
                    <a:pt x="923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291715" y="2738438"/>
              <a:ext cx="976313" cy="1510665"/>
            </a:xfrm>
            <a:custGeom>
              <a:avLst/>
              <a:gdLst/>
              <a:ahLst/>
              <a:cxnLst/>
              <a:rect l="l" t="t" r="r" b="b"/>
              <a:pathLst>
                <a:path w="976313" h="1510665">
                  <a:moveTo>
                    <a:pt x="0" y="0"/>
                  </a:moveTo>
                  <a:lnTo>
                    <a:pt x="976313" y="15106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28022" y="4223385"/>
              <a:ext cx="91440" cy="105728"/>
            </a:xfrm>
            <a:custGeom>
              <a:avLst/>
              <a:gdLst/>
              <a:ahLst/>
              <a:cxnLst/>
              <a:rect l="l" t="t" r="r" b="b"/>
              <a:pathLst>
                <a:path w="91440" h="105728">
                  <a:moveTo>
                    <a:pt x="91440" y="105728"/>
                  </a:moveTo>
                  <a:lnTo>
                    <a:pt x="0" y="51435"/>
                  </a:lnTo>
                  <a:lnTo>
                    <a:pt x="8001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725228" y="3801428"/>
              <a:ext cx="681990" cy="527685"/>
            </a:xfrm>
            <a:custGeom>
              <a:avLst/>
              <a:gdLst/>
              <a:ahLst/>
              <a:cxnLst/>
              <a:rect l="l" t="t" r="r" b="b"/>
              <a:pathLst>
                <a:path w="681990" h="527685">
                  <a:moveTo>
                    <a:pt x="0" y="527685"/>
                  </a:moveTo>
                  <a:lnTo>
                    <a:pt x="6819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377690" y="3743325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104775" y="0"/>
                  </a:moveTo>
                  <a:lnTo>
                    <a:pt x="59055" y="96203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37335" y="2319338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835592" y="4329112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33850" y="3324225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30480" y="1690688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 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64875" y="24631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63133" y="447389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61390" y="346900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6270" y="240744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功能 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6270" y="341233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功能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6270" y="4417219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功能 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91960" y="1712119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 →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5579745"/>
            <a:ext cx="5410200" cy="782955"/>
            <a:chOff x="533400" y="5579745"/>
            <a:chExt cx="5410200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557974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5728335"/>
              <a:ext cx="4472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对于事件 e，功能 1 到功能 3 的处理时间总计为 T1 +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T2 + T3，其中功能间的切换时间按 0 计算。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2607945"/>
            <a:chOff x="6248400" y="1524000"/>
            <a:chExt cx="5410200" cy="260794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345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扩充时序图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采用扩充时序图可以表示进程间的通信流，用于分析几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个事件的交错现象。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501765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9880" y="2731770"/>
              <a:ext cx="4232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参与方：HOST1、FEP1、线路、FEP2、HOST2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501765" y="31299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9880" y="306705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C1、C2 是命令，R1、R2 是回答；HOST 是主机，FEP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是前端机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501765" y="37509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59880" y="3688080"/>
              <a:ext cx="32821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图中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C1 与 C2 交错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R1 与 R2 交错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248400" y="4322445"/>
            <a:ext cx="5410200" cy="782955"/>
            <a:chOff x="6248400" y="4322445"/>
            <a:chExt cx="5410200" cy="782955"/>
          </a:xfrm>
        </p:grpSpPr>
        <p:sp>
          <p:nvSpPr>
            <p:cNvPr id="43" name="Rectangle 43"/>
            <p:cNvSpPr/>
            <p:nvPr/>
          </p:nvSpPr>
          <p:spPr>
            <a:xfrm>
              <a:off x="6248400" y="432244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53188" y="4613912"/>
              <a:ext cx="200023" cy="200023"/>
              <a:chOff x="6453188" y="4613912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46139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86538" y="46805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755130" y="4471035"/>
              <a:ext cx="4387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由交错现象读出一条需求：HOST1 在等待 C1 的回答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R1 期间，要能接收从 HOST2 发出的命令 C2。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248400" y="5295900"/>
            <a:ext cx="5410200" cy="782955"/>
            <a:chOff x="6248400" y="5295900"/>
            <a:chExt cx="5410200" cy="782955"/>
          </a:xfrm>
        </p:grpSpPr>
        <p:sp>
          <p:nvSpPr>
            <p:cNvPr id="49" name="Rectangle 49"/>
            <p:cNvSpPr/>
            <p:nvPr/>
          </p:nvSpPr>
          <p:spPr>
            <a:xfrm>
              <a:off x="6248400" y="529590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41129" y="5583673"/>
              <a:ext cx="224134" cy="192560"/>
              <a:chOff x="6441129" y="5583673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553200" y="56540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41129" y="55836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53200" y="57318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5130" y="544449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如果没做这个分析，实现时很容易写成发出命令后就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一直阻塞等回答，遇到交错就死在那里。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95795" cy="909257"/>
            <a:chOff x="520446" y="342900"/>
            <a:chExt cx="61957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其他图形工具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957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Petri 网：位置、转移、标记与激发规则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4760595" cy="3731895"/>
            <a:chOff x="533400" y="1524000"/>
            <a:chExt cx="4760595" cy="37318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3731895"/>
            </a:xfrm>
            <a:prstGeom prst="roundRect">
              <a:avLst>
                <a:gd name="adj" fmla="val 35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4651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4319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Petri 网（PNG）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Petri 网是一种有向图，最早用来表达异步系统的控制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规则，现在广泛用于描述和分析并发执行的处理系统。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28900"/>
              <a:ext cx="3194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位置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（place）：圆圈，表示系统的状态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8513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28938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转移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（transition）：短横线或竖线，表示系统中的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54330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487102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指向转移的边是事件发生的前提，由转移指出的边是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事件的结果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410051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4044315"/>
              <a:ext cx="39484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激发（开火，fire）：转移的启动；只有作为输入的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所有位置条件都满足时才能激发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6762" y="46577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2782" y="4601528"/>
              <a:ext cx="39142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标记（令牌，token）：表明系统当前处于什么状态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的标志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5598795" y="1524000"/>
            <a:ext cx="6059805" cy="3000375"/>
            <a:chOff x="5598795" y="1524000"/>
            <a:chExt cx="6059805" cy="3000375"/>
          </a:xfrm>
        </p:grpSpPr>
        <p:sp>
          <p:nvSpPr>
            <p:cNvPr id="24" name="Rectangle 24"/>
            <p:cNvSpPr/>
            <p:nvPr/>
          </p:nvSpPr>
          <p:spPr>
            <a:xfrm>
              <a:off x="5598795" y="1524000"/>
              <a:ext cx="605980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4904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8813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激发前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4624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能否激发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36111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激发后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95950" y="21455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一入两出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08482" y="214550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输入位置有 1 个令牌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25852" y="21455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74530" y="2045494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输入的令牌被取走，两个输出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位置各得到 1 个令牌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98795" y="25193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98795" y="2524125"/>
              <a:ext cx="6059805" cy="8001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95950" y="28455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一入两转移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08482" y="2745581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一个令牌同时是两个转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移的输入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25852" y="28455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74530" y="2645569"/>
              <a:ext cx="186055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只有其中一个转移能激发，令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牌被取走后另一个就不能再激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95950" y="3545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两入一出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08482" y="3445669"/>
              <a:ext cx="14551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两个输入位置各有 1 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25852" y="354568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74530" y="3445669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两个令牌都被取走，输出位置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 1 个令牌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98795" y="39195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598795" y="3924300"/>
              <a:ext cx="605980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695950" y="41457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两入缺一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08482" y="4045744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只有一个输入位置有令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25852" y="41457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74530" y="41457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条件不满足，不能激发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1524000"/>
              <a:ext cx="6059805" cy="30003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06565" y="1524000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623935" y="1524000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472612" y="1524000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5" name="Rectangle 5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6028373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激发时每个输入位置减少一个令牌，每个输出位置增加一个令牌，所以令牌总数并不守恒。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76234" cy="909257"/>
            <a:chOff x="520446" y="342900"/>
            <a:chExt cx="61762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其他图形工具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762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Petri 网实例：两个进程共享一个资源 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315706" cy="293370"/>
            <a:chOff x="525780" y="1548765"/>
            <a:chExt cx="831570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315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两个进程都在做同一件事：LOCK R → 占用 R 运行 → UNLOCK R → 不使用 R 运行，然后循环。</a:t>
              </a:r>
            </a:p>
          </p:txBody>
        </p:sp>
      </p:grpSp>
      <p:grpSp>
        <p:nvGrpSpPr>
          <p:cNvPr id="74" name="c1-graph-1"/>
          <p:cNvGrpSpPr/>
          <p:nvPr/>
        </p:nvGrpSpPr>
        <p:grpSpPr>
          <a:xfrm>
            <a:off x="520065" y="2024062"/>
            <a:ext cx="6085522" cy="2638425"/>
            <a:chOff x="520065" y="2024062"/>
            <a:chExt cx="6085522" cy="2638425"/>
          </a:xfrm>
        </p:grpSpPr>
        <p:sp>
          <p:nvSpPr>
            <p:cNvPr id="9" name="Freeform 9"/>
            <p:cNvSpPr/>
            <p:nvPr/>
          </p:nvSpPr>
          <p:spPr>
            <a:xfrm>
              <a:off x="1547812" y="2606040"/>
              <a:ext cx="580072" cy="212407"/>
            </a:xfrm>
            <a:custGeom>
              <a:avLst/>
              <a:gdLst/>
              <a:ahLst/>
              <a:cxnLst/>
              <a:rect l="l" t="t" r="r" b="b"/>
              <a:pathLst>
                <a:path w="580072" h="212407">
                  <a:moveTo>
                    <a:pt x="0" y="0"/>
                  </a:moveTo>
                  <a:lnTo>
                    <a:pt x="580072" y="2124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10740" y="277368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77153"/>
                  </a:moveTo>
                  <a:lnTo>
                    <a:pt x="0" y="89535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567940" y="2280285"/>
              <a:ext cx="842962" cy="493395"/>
            </a:xfrm>
            <a:custGeom>
              <a:avLst/>
              <a:gdLst/>
              <a:ahLst/>
              <a:cxnLst/>
              <a:rect l="l" t="t" r="r" b="b"/>
              <a:pathLst>
                <a:path w="842962" h="493395">
                  <a:moveTo>
                    <a:pt x="842962" y="0"/>
                  </a:moveTo>
                  <a:lnTo>
                    <a:pt x="0" y="4933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485072" y="2731770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0" y="89535"/>
                  </a:moveTo>
                  <a:lnTo>
                    <a:pt x="59055" y="0"/>
                  </a:lnTo>
                  <a:lnTo>
                    <a:pt x="106680" y="8286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620202" y="2973705"/>
              <a:ext cx="596265" cy="327660"/>
            </a:xfrm>
            <a:custGeom>
              <a:avLst/>
              <a:gdLst/>
              <a:ahLst/>
              <a:cxnLst/>
              <a:rect l="l" t="t" r="r" b="b"/>
              <a:pathLst>
                <a:path w="596265" h="327660">
                  <a:moveTo>
                    <a:pt x="596265" y="0"/>
                  </a:moveTo>
                  <a:lnTo>
                    <a:pt x="0" y="3276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36382" y="3259455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0" y="87630"/>
                  </a:moveTo>
                  <a:lnTo>
                    <a:pt x="60960" y="0"/>
                  </a:lnTo>
                  <a:lnTo>
                    <a:pt x="106680" y="838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532572" y="3524250"/>
              <a:ext cx="602932" cy="366712"/>
            </a:xfrm>
            <a:custGeom>
              <a:avLst/>
              <a:gdLst/>
              <a:ahLst/>
              <a:cxnLst/>
              <a:rect l="l" t="t" r="r" b="b"/>
              <a:pathLst>
                <a:path w="602932" h="366712">
                  <a:moveTo>
                    <a:pt x="0" y="0"/>
                  </a:moveTo>
                  <a:lnTo>
                    <a:pt x="602932" y="3667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110740" y="3850958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89535"/>
                  </a:moveTo>
                  <a:lnTo>
                    <a:pt x="0" y="80962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25918" y="4088130"/>
              <a:ext cx="590550" cy="288608"/>
            </a:xfrm>
            <a:custGeom>
              <a:avLst/>
              <a:gdLst/>
              <a:ahLst/>
              <a:cxnLst/>
              <a:rect l="l" t="t" r="r" b="b"/>
              <a:pathLst>
                <a:path w="590550" h="288608">
                  <a:moveTo>
                    <a:pt x="590550" y="0"/>
                  </a:moveTo>
                  <a:lnTo>
                    <a:pt x="0" y="2886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540192" y="433387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3820"/>
                  </a:moveTo>
                  <a:lnTo>
                    <a:pt x="64770" y="0"/>
                  </a:lnTo>
                  <a:lnTo>
                    <a:pt x="106680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437448" y="2435542"/>
              <a:ext cx="1007745" cy="1488758"/>
            </a:xfrm>
            <a:custGeom>
              <a:avLst/>
              <a:gdLst/>
              <a:ahLst/>
              <a:cxnLst/>
              <a:rect l="l" t="t" r="r" b="b"/>
              <a:pathLst>
                <a:path w="1007745" h="1488758">
                  <a:moveTo>
                    <a:pt x="0" y="1488758"/>
                  </a:moveTo>
                  <a:lnTo>
                    <a:pt x="641032" y="760095"/>
                  </a:lnTo>
                  <a:lnTo>
                    <a:pt x="10077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402330" y="2349818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3820" y="0"/>
                  </a:moveTo>
                  <a:lnTo>
                    <a:pt x="85725" y="106680"/>
                  </a:lnTo>
                  <a:lnTo>
                    <a:pt x="0" y="6572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865822" y="4118610"/>
              <a:ext cx="373380" cy="272415"/>
            </a:xfrm>
            <a:custGeom>
              <a:avLst/>
              <a:gdLst/>
              <a:ahLst/>
              <a:cxnLst/>
              <a:rect l="l" t="t" r="r" b="b"/>
              <a:pathLst>
                <a:path w="373380" h="272415">
                  <a:moveTo>
                    <a:pt x="373380" y="2724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88670" y="4061460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0" y="0"/>
                  </a:moveTo>
                  <a:lnTo>
                    <a:pt x="104775" y="18098"/>
                  </a:lnTo>
                  <a:lnTo>
                    <a:pt x="48578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04850" y="2787015"/>
              <a:ext cx="552450" cy="1078230"/>
            </a:xfrm>
            <a:custGeom>
              <a:avLst/>
              <a:gdLst/>
              <a:ahLst/>
              <a:cxnLst/>
              <a:rect l="l" t="t" r="r" b="b"/>
              <a:pathLst>
                <a:path w="552450" h="1078230">
                  <a:moveTo>
                    <a:pt x="0" y="1078230"/>
                  </a:moveTo>
                  <a:lnTo>
                    <a:pt x="5524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215390" y="2702242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5725" y="0"/>
                  </a:moveTo>
                  <a:lnTo>
                    <a:pt x="84773" y="106680"/>
                  </a:lnTo>
                  <a:lnTo>
                    <a:pt x="0" y="6381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998720" y="2606040"/>
              <a:ext cx="580073" cy="212407"/>
            </a:xfrm>
            <a:custGeom>
              <a:avLst/>
              <a:gdLst/>
              <a:ahLst/>
              <a:cxnLst/>
              <a:rect l="l" t="t" r="r" b="b"/>
              <a:pathLst>
                <a:path w="580073" h="212407">
                  <a:moveTo>
                    <a:pt x="580073" y="0"/>
                  </a:moveTo>
                  <a:lnTo>
                    <a:pt x="0" y="2124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909185" y="277368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0" y="77153"/>
                  </a:moveTo>
                  <a:lnTo>
                    <a:pt x="73343" y="0"/>
                  </a:lnTo>
                  <a:lnTo>
                    <a:pt x="105728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3715702" y="2280285"/>
              <a:ext cx="842962" cy="493395"/>
            </a:xfrm>
            <a:custGeom>
              <a:avLst/>
              <a:gdLst/>
              <a:ahLst/>
              <a:cxnLst/>
              <a:rect l="l" t="t" r="r" b="b"/>
              <a:pathLst>
                <a:path w="842962" h="493395">
                  <a:moveTo>
                    <a:pt x="0" y="0"/>
                  </a:moveTo>
                  <a:lnTo>
                    <a:pt x="842962" y="4933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534852" y="273177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89535"/>
                  </a:moveTo>
                  <a:lnTo>
                    <a:pt x="0" y="82867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4909185" y="2973705"/>
              <a:ext cx="597218" cy="327660"/>
            </a:xfrm>
            <a:custGeom>
              <a:avLst/>
              <a:gdLst/>
              <a:ahLst/>
              <a:cxnLst/>
              <a:rect l="l" t="t" r="r" b="b"/>
              <a:pathLst>
                <a:path w="597218" h="327660">
                  <a:moveTo>
                    <a:pt x="0" y="0"/>
                  </a:moveTo>
                  <a:lnTo>
                    <a:pt x="597218" y="3276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483542" y="3259455"/>
              <a:ext cx="105727" cy="87630"/>
            </a:xfrm>
            <a:custGeom>
              <a:avLst/>
              <a:gdLst/>
              <a:ahLst/>
              <a:cxnLst/>
              <a:rect l="l" t="t" r="r" b="b"/>
              <a:pathLst>
                <a:path w="105727" h="87630">
                  <a:moveTo>
                    <a:pt x="105727" y="87630"/>
                  </a:moveTo>
                  <a:lnTo>
                    <a:pt x="0" y="83820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4991100" y="3524250"/>
              <a:ext cx="602932" cy="366712"/>
            </a:xfrm>
            <a:custGeom>
              <a:avLst/>
              <a:gdLst/>
              <a:ahLst/>
              <a:cxnLst/>
              <a:rect l="l" t="t" r="r" b="b"/>
              <a:pathLst>
                <a:path w="602932" h="366712">
                  <a:moveTo>
                    <a:pt x="602932" y="0"/>
                  </a:moveTo>
                  <a:lnTo>
                    <a:pt x="0" y="3667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4909185" y="3850958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0" y="89535"/>
                  </a:moveTo>
                  <a:lnTo>
                    <a:pt x="56197" y="0"/>
                  </a:lnTo>
                  <a:lnTo>
                    <a:pt x="106680" y="8096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909185" y="4088130"/>
              <a:ext cx="590550" cy="288608"/>
            </a:xfrm>
            <a:custGeom>
              <a:avLst/>
              <a:gdLst/>
              <a:ahLst/>
              <a:cxnLst/>
              <a:rect l="l" t="t" r="r" b="b"/>
              <a:pathLst>
                <a:path w="590550" h="288608">
                  <a:moveTo>
                    <a:pt x="0" y="0"/>
                  </a:moveTo>
                  <a:lnTo>
                    <a:pt x="590550" y="2886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478780" y="433387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3820"/>
                  </a:moveTo>
                  <a:lnTo>
                    <a:pt x="0" y="85725"/>
                  </a:lnTo>
                  <a:lnTo>
                    <a:pt x="4191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681412" y="2435542"/>
              <a:ext cx="1006792" cy="1488758"/>
            </a:xfrm>
            <a:custGeom>
              <a:avLst/>
              <a:gdLst/>
              <a:ahLst/>
              <a:cxnLst/>
              <a:rect l="l" t="t" r="r" b="b"/>
              <a:pathLst>
                <a:path w="1006792" h="1488758">
                  <a:moveTo>
                    <a:pt x="1006792" y="1488758"/>
                  </a:moveTo>
                  <a:lnTo>
                    <a:pt x="366712" y="760095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638550" y="2349818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953" y="0"/>
                  </a:moveTo>
                  <a:lnTo>
                    <a:pt x="85725" y="65723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5887402" y="4118610"/>
              <a:ext cx="373380" cy="272415"/>
            </a:xfrm>
            <a:custGeom>
              <a:avLst/>
              <a:gdLst/>
              <a:ahLst/>
              <a:cxnLst/>
              <a:rect l="l" t="t" r="r" b="b"/>
              <a:pathLst>
                <a:path w="373380" h="272415">
                  <a:moveTo>
                    <a:pt x="0" y="272415"/>
                  </a:moveTo>
                  <a:lnTo>
                    <a:pt x="3733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232208" y="4061460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0"/>
                  </a:moveTo>
                  <a:lnTo>
                    <a:pt x="56198" y="9525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5868352" y="2787015"/>
              <a:ext cx="552450" cy="1078230"/>
            </a:xfrm>
            <a:custGeom>
              <a:avLst/>
              <a:gdLst/>
              <a:ahLst/>
              <a:cxnLst/>
              <a:rect l="l" t="t" r="r" b="b"/>
              <a:pathLst>
                <a:path w="552450" h="1078230">
                  <a:moveTo>
                    <a:pt x="552450" y="107823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5825490" y="2702242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0" y="0"/>
                  </a:moveTo>
                  <a:lnTo>
                    <a:pt x="85725" y="63817"/>
                  </a:lnTo>
                  <a:lnTo>
                    <a:pt x="953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3396615" y="2024062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215390" y="2378392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216468" y="2801302"/>
              <a:ext cx="268605" cy="197168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215390" y="3265170"/>
              <a:ext cx="333375" cy="33337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2216468" y="3924300"/>
              <a:ext cx="268605" cy="197168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215390" y="4329112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20065" y="3865245"/>
              <a:ext cx="268605" cy="197168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5577840" y="2378392"/>
              <a:ext cx="333375" cy="33337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4640580" y="2801302"/>
              <a:ext cx="268605" cy="197168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5577840" y="3265170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640580" y="3924300"/>
              <a:ext cx="268605" cy="197168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5577840" y="4329112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336982" y="3865245"/>
              <a:ext cx="268605" cy="197168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482161" y="21302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782378" y="2139791"/>
              <a:ext cx="3294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 空闲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300936" y="248459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2607" y="2494121"/>
              <a:ext cx="3294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等待 R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269629" y="28389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300936" y="337137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7204" y="3380899"/>
              <a:ext cx="3848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处理 11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269629" y="396192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300936" y="44353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7204" y="4443889"/>
              <a:ext cx="3848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处理 12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73226" y="39028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663386" y="248459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963602" y="2494121"/>
              <a:ext cx="3294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等待 R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693741" y="28389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663386" y="337137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963602" y="3380899"/>
              <a:ext cx="3848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处理 21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693741" y="396192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663386" y="44353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p6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63602" y="4443889"/>
              <a:ext cx="3848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处理 22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390144" y="39028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t6</a:t>
              </a:r>
            </a:p>
          </p:txBody>
        </p:sp>
      </p:grpSp>
      <p:grpSp>
        <p:nvGrpSpPr>
          <p:cNvPr id="103" name="c2-table-1"/>
          <p:cNvGrpSpPr/>
          <p:nvPr/>
        </p:nvGrpSpPr>
        <p:grpSpPr>
          <a:xfrm>
            <a:off x="6898005" y="1954530"/>
            <a:ext cx="4760595" cy="3395662"/>
            <a:chOff x="6898005" y="1954530"/>
            <a:chExt cx="4760595" cy="3395662"/>
          </a:xfrm>
        </p:grpSpPr>
        <p:sp>
          <p:nvSpPr>
            <p:cNvPr id="75" name="Rectangle 75"/>
            <p:cNvSpPr/>
            <p:nvPr/>
          </p:nvSpPr>
          <p:spPr>
            <a:xfrm>
              <a:off x="6898005" y="1954530"/>
              <a:ext cx="4760595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253288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符号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634537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000494" y="2506980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/ p4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047292" y="2506980"/>
              <a:ext cx="1958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1 / 进程 2 等待资源 R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898005" y="27984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898005" y="2803208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000494" y="2931795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/ p5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047292" y="2931795"/>
              <a:ext cx="24620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占用 R 运行，即处理 11 / 处理 21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898005" y="322326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000494" y="3356610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/ p6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047292" y="3356610"/>
              <a:ext cx="2623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不使用 R 运行，即处理 12 / 处理 22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898005" y="36471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898005" y="3651885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000494" y="378047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p7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047292" y="3780472"/>
              <a:ext cx="480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空闲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898005" y="40719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000494" y="4205288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 / t3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047292" y="4205288"/>
              <a:ext cx="2701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 R，取走等待和 R 空闲两个令牌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898005" y="449675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6898005" y="4501515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000494" y="4629150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 / t4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047292" y="4629150"/>
              <a:ext cx="1788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UNLOCK R，令牌放回 p7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898005" y="492061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000494" y="5053965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t5 / t6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047292" y="5053965"/>
              <a:ext cx="19342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一轮处理结束，回到等待 R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898005" y="1954530"/>
              <a:ext cx="4760595" cy="33956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7940040" y="195453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9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104" name="Rectangle 104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07" name="Group 107"/>
            <p:cNvGrpSpPr/>
            <p:nvPr/>
          </p:nvGrpSpPr>
          <p:grpSpPr>
            <a:xfrm>
              <a:off x="738188" y="5884547"/>
              <a:ext cx="200023" cy="200023"/>
              <a:chOff x="738188" y="5884547"/>
              <a:chExt cx="200023" cy="200023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738188" y="58845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871538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8" name="TextBox 108"/>
            <p:cNvSpPr txBox="1"/>
            <p:nvPr/>
          </p:nvSpPr>
          <p:spPr>
            <a:xfrm>
              <a:off x="1040511" y="5753576"/>
              <a:ext cx="1004138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初始时刻 p2、p4 有令牌，进程 1 正占用 R、进程 2 在等 R；p7 只有一个令牌而 t1 和 t3 都要取走它，互斥由网的结构本身保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其他图形工具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可达标识树：把所有可能的运行情况枚举出来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228228" cy="264033"/>
            <a:chOff x="526542" y="1545907"/>
            <a:chExt cx="822822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228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把标识写成七元组 (p1, p2, p3, p4, p5, p6, p7)，从初始标识出发，对每个可激发的转移画一条边。</a:t>
              </a:r>
            </a:p>
          </p:txBody>
        </p:sp>
      </p:grpSp>
      <p:grpSp>
        <p:nvGrpSpPr>
          <p:cNvPr id="52" name="c1-graph-1"/>
          <p:cNvGrpSpPr/>
          <p:nvPr/>
        </p:nvGrpSpPr>
        <p:grpSpPr>
          <a:xfrm>
            <a:off x="677228" y="2029778"/>
            <a:ext cx="5771197" cy="2649378"/>
            <a:chOff x="677228" y="2029778"/>
            <a:chExt cx="5771197" cy="2649378"/>
          </a:xfrm>
        </p:grpSpPr>
        <p:sp>
          <p:nvSpPr>
            <p:cNvPr id="9" name="Freeform 9"/>
            <p:cNvSpPr/>
            <p:nvPr/>
          </p:nvSpPr>
          <p:spPr>
            <a:xfrm>
              <a:off x="3563302" y="2269808"/>
              <a:ext cx="9525" cy="383858"/>
            </a:xfrm>
            <a:custGeom>
              <a:avLst/>
              <a:gdLst/>
              <a:ahLst/>
              <a:cxnLst/>
              <a:rect l="l" t="t" r="r" b="b"/>
              <a:pathLst>
                <a:path w="9525" h="383858">
                  <a:moveTo>
                    <a:pt x="0" y="0"/>
                  </a:moveTo>
                  <a:lnTo>
                    <a:pt x="0" y="3838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515678" y="26536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137410" y="2988945"/>
              <a:ext cx="1122045" cy="443865"/>
            </a:xfrm>
            <a:custGeom>
              <a:avLst/>
              <a:gdLst/>
              <a:ahLst/>
              <a:cxnLst/>
              <a:rect l="l" t="t" r="r" b="b"/>
              <a:pathLst>
                <a:path w="1122045" h="443865">
                  <a:moveTo>
                    <a:pt x="1122045" y="0"/>
                  </a:moveTo>
                  <a:lnTo>
                    <a:pt x="0" y="4438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048828" y="3388995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0" y="79058"/>
                  </a:moveTo>
                  <a:lnTo>
                    <a:pt x="70485" y="0"/>
                  </a:lnTo>
                  <a:lnTo>
                    <a:pt x="105727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866198" y="2988945"/>
              <a:ext cx="1122997" cy="443865"/>
            </a:xfrm>
            <a:custGeom>
              <a:avLst/>
              <a:gdLst/>
              <a:ahLst/>
              <a:cxnLst/>
              <a:rect l="l" t="t" r="r" b="b"/>
              <a:pathLst>
                <a:path w="1122997" h="443865">
                  <a:moveTo>
                    <a:pt x="0" y="0"/>
                  </a:moveTo>
                  <a:lnTo>
                    <a:pt x="1122997" y="4438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971098" y="3388995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79058"/>
                  </a:moveTo>
                  <a:lnTo>
                    <a:pt x="0" y="88583"/>
                  </a:lnTo>
                  <a:lnTo>
                    <a:pt x="3524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478280" y="3708082"/>
              <a:ext cx="210503" cy="448627"/>
            </a:xfrm>
            <a:custGeom>
              <a:avLst/>
              <a:gdLst/>
              <a:ahLst/>
              <a:cxnLst/>
              <a:rect l="l" t="t" r="r" b="b"/>
              <a:pathLst>
                <a:path w="210503" h="448627">
                  <a:moveTo>
                    <a:pt x="210503" y="0"/>
                  </a:moveTo>
                  <a:lnTo>
                    <a:pt x="0" y="4486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435418" y="4136708"/>
              <a:ext cx="86678" cy="105727"/>
            </a:xfrm>
            <a:custGeom>
              <a:avLst/>
              <a:gdLst/>
              <a:ahLst/>
              <a:cxnLst/>
              <a:rect l="l" t="t" r="r" b="b"/>
              <a:pathLst>
                <a:path w="86678" h="105727">
                  <a:moveTo>
                    <a:pt x="2858" y="105727"/>
                  </a:moveTo>
                  <a:lnTo>
                    <a:pt x="0" y="0"/>
                  </a:lnTo>
                  <a:lnTo>
                    <a:pt x="86678" y="4000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026920" y="3708082"/>
              <a:ext cx="1166812" cy="497205"/>
            </a:xfrm>
            <a:custGeom>
              <a:avLst/>
              <a:gdLst/>
              <a:ahLst/>
              <a:cxnLst/>
              <a:rect l="l" t="t" r="r" b="b"/>
              <a:pathLst>
                <a:path w="1166812" h="497205">
                  <a:moveTo>
                    <a:pt x="0" y="0"/>
                  </a:moveTo>
                  <a:lnTo>
                    <a:pt x="1166812" y="4972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174682" y="416147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0962"/>
                  </a:moveTo>
                  <a:lnTo>
                    <a:pt x="0" y="8763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932872" y="3708082"/>
              <a:ext cx="1166812" cy="497205"/>
            </a:xfrm>
            <a:custGeom>
              <a:avLst/>
              <a:gdLst/>
              <a:ahLst/>
              <a:cxnLst/>
              <a:rect l="l" t="t" r="r" b="b"/>
              <a:pathLst>
                <a:path w="1166812" h="497205">
                  <a:moveTo>
                    <a:pt x="1166812" y="0"/>
                  </a:moveTo>
                  <a:lnTo>
                    <a:pt x="0" y="4972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845242" y="4161472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0" y="80962"/>
                  </a:moveTo>
                  <a:lnTo>
                    <a:pt x="68580" y="0"/>
                  </a:lnTo>
                  <a:lnTo>
                    <a:pt x="105728" y="876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436870" y="3708082"/>
              <a:ext cx="210503" cy="448627"/>
            </a:xfrm>
            <a:custGeom>
              <a:avLst/>
              <a:gdLst/>
              <a:ahLst/>
              <a:cxnLst/>
              <a:rect l="l" t="t" r="r" b="b"/>
              <a:pathLst>
                <a:path w="210503" h="448627">
                  <a:moveTo>
                    <a:pt x="0" y="0"/>
                  </a:moveTo>
                  <a:lnTo>
                    <a:pt x="210503" y="4486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604510" y="4136708"/>
              <a:ext cx="86678" cy="105727"/>
            </a:xfrm>
            <a:custGeom>
              <a:avLst/>
              <a:gdLst/>
              <a:ahLst/>
              <a:cxnLst/>
              <a:rect l="l" t="t" r="r" b="b"/>
              <a:pathLst>
                <a:path w="86678" h="105727">
                  <a:moveTo>
                    <a:pt x="83820" y="105727"/>
                  </a:moveTo>
                  <a:lnTo>
                    <a:pt x="0" y="40005"/>
                  </a:lnTo>
                  <a:lnTo>
                    <a:pt x="8667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859405" y="2029778"/>
              <a:ext cx="1407795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859405" y="2748915"/>
              <a:ext cx="1407795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41082" y="3468052"/>
              <a:ext cx="1407795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76775" y="3468052"/>
              <a:ext cx="1407795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77228" y="4242435"/>
              <a:ext cx="1407795" cy="240030"/>
            </a:xfrm>
            <a:prstGeom prst="roundRect">
              <a:avLst>
                <a:gd name="adj" fmla="val 3968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859405" y="4242435"/>
              <a:ext cx="1407795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040630" y="4242435"/>
              <a:ext cx="1407795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33774" y="2093595"/>
              <a:ext cx="10590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(0,1,0,1,0,0,0)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33774" y="2812732"/>
              <a:ext cx="10590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(0,0,1,1,0,0,1)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15452" y="3531870"/>
              <a:ext cx="10590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(1,0,0,1,0,0,1)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51144" y="3531870"/>
              <a:ext cx="10590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(0,0,1,0,1,0,0)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2549" y="4307205"/>
              <a:ext cx="10590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(0,1,0,1,0,0,0)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6538" y="451723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与根相同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33774" y="4307205"/>
              <a:ext cx="10590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(1,0,0,0,1,0,0)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4999" y="4307205"/>
              <a:ext cx="10590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(0,0,1,0,0,1,1)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468052" y="2430780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497826" y="245983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558415" y="314991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589141" y="317896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376738" y="314991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06511" y="317896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467802" y="389667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497576" y="392668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558415" y="389667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589141" y="392668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376738" y="389667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406511" y="392668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467350" y="389667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497124" y="392668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6898005" y="1928812"/>
            <a:ext cx="4760595" cy="2004060"/>
            <a:chOff x="6898005" y="1928812"/>
            <a:chExt cx="4760595" cy="2004060"/>
          </a:xfrm>
        </p:grpSpPr>
        <p:sp>
          <p:nvSpPr>
            <p:cNvPr id="53" name="Rectangle 53"/>
            <p:cNvSpPr/>
            <p:nvPr/>
          </p:nvSpPr>
          <p:spPr>
            <a:xfrm>
              <a:off x="6898005" y="1928812"/>
              <a:ext cx="4760595" cy="2004060"/>
            </a:xfrm>
            <a:prstGeom prst="roundRect">
              <a:avLst>
                <a:gd name="adj" fmla="val 66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07530" y="2062162"/>
              <a:ext cx="47625" cy="173736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22795" y="211550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11416" y="214836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怎么画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131367" y="251555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87387" y="2459355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结点是标识，即各位置令牌数构成的向量；边上标出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激发的转移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131367" y="307276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87387" y="3016568"/>
              <a:ext cx="39399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M0 出发，每个可激发的转移各画一条边；新标识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如果树上已有就不再展开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17080" y="357044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可用来判断可达性、有界性和有没有死标识。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6898005" y="4103370"/>
            <a:ext cx="4760595" cy="1443038"/>
            <a:chOff x="6898005" y="4103370"/>
            <a:chExt cx="4760595" cy="1443038"/>
          </a:xfrm>
        </p:grpSpPr>
        <p:sp>
          <p:nvSpPr>
            <p:cNvPr id="63" name="Rectangle 63"/>
            <p:cNvSpPr/>
            <p:nvPr/>
          </p:nvSpPr>
          <p:spPr>
            <a:xfrm>
              <a:off x="6898005" y="4103370"/>
              <a:ext cx="4760595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907530" y="423672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122795" y="429006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03313" y="432292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跟着走一步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15937" y="4633912"/>
              <a:ext cx="41628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M0 = (0,1,0,1,0,0,0) 时，t1、t3 都因 p7 无令牌而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不能激发，只有 t2 可以：取走 p2 的令牌，在 p3 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p7 各放一个。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9" name="Rectangle 6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8373"/>
              <a:ext cx="72286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手算的口诀：激发一个转移，就把它所有输入位置的分量减 1，所有输出位置的分量加 1。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487575" y="2705100"/>
            <a:ext cx="2836850" cy="2305050"/>
            <a:chOff x="8487575" y="2705100"/>
            <a:chExt cx="2836850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487575" y="2705100"/>
              <a:ext cx="283685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3.8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358515" cy="3351847"/>
            <a:chOff x="667512" y="1835468"/>
            <a:chExt cx="335851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第八节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验证软件需求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一致性、完整性、现实性、有效性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从四个方面验证正确性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三类验证方法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需求分析工具应满足的要求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0492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PSL 与 PSA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验证软件需求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从四个方面验证软件需求的正确性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276022" cy="4305300"/>
            <a:chOff x="533400" y="1524000"/>
            <a:chExt cx="6276022" cy="4305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581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8318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1681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怎样验证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4174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4015" y="2284095"/>
              <a:ext cx="2110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所有需求之间不能互相矛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54805" y="2150745"/>
              <a:ext cx="2301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需求量大时人工审查难以保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证，可用形式化的需求描述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语言配合自动分析工具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279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032760"/>
              <a:ext cx="6276022" cy="10210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4385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44015" y="3305175"/>
              <a:ext cx="2110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系统必须做的事都写进去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了，没有遗漏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54805" y="3171825"/>
              <a:ext cx="2301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只有系统真正运行起来用户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才能确认，所以常用快速原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型来暴露遗漏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0490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44596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现实性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44015" y="4326255"/>
              <a:ext cx="2110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用现有的硬件和软件技术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能够实现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54805" y="4192905"/>
              <a:ext cx="2301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与硬件条件、技术水平和开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发周期对照，必要时做模拟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或性能仿真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0701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5074920"/>
              <a:ext cx="6276022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534733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44015" y="5213985"/>
              <a:ext cx="2110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确实能解决用户面对的问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54805" y="521398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逐条确认这条需求对应用户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的哪个实际问题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276022" cy="4305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32572" y="1524000"/>
              <a:ext cx="9525" cy="4305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43362" y="1524000"/>
              <a:ext cx="9525" cy="4305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2-card-1"/>
          <p:cNvGrpSpPr/>
          <p:nvPr/>
        </p:nvGrpSpPr>
        <p:grpSpPr>
          <a:xfrm>
            <a:off x="7114222" y="1524000"/>
            <a:ext cx="4544378" cy="2232660"/>
            <a:chOff x="7114222" y="1524000"/>
            <a:chExt cx="4544378" cy="2232660"/>
          </a:xfrm>
        </p:grpSpPr>
        <p:sp>
          <p:nvSpPr>
            <p:cNvPr id="32" name="Rectangle 32"/>
            <p:cNvSpPr/>
            <p:nvPr/>
          </p:nvSpPr>
          <p:spPr>
            <a:xfrm>
              <a:off x="7114222" y="1524000"/>
              <a:ext cx="4544378" cy="2232660"/>
            </a:xfrm>
            <a:prstGeom prst="roundRect">
              <a:avLst>
                <a:gd name="adj" fmla="val 597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23772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88377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课件给的三类方法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29488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87602" y="211074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验证需求的一致性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29488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87602" y="244602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验证需求的现实性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29488" y="2844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87602" y="27813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验证需求的完整性和有效性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17296" y="3113246"/>
              <a:ext cx="3914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完整性和有效性放在一起，因为两者都只能由用户对着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可运行的东西来确认。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7114222" y="3947160"/>
            <a:ext cx="4544378" cy="1882140"/>
            <a:chOff x="7114222" y="3947160"/>
            <a:chExt cx="4544378" cy="1882140"/>
          </a:xfrm>
        </p:grpSpPr>
        <p:sp>
          <p:nvSpPr>
            <p:cNvPr id="43" name="Rectangle 43"/>
            <p:cNvSpPr/>
            <p:nvPr/>
          </p:nvSpPr>
          <p:spPr>
            <a:xfrm>
              <a:off x="7114222" y="3947160"/>
              <a:ext cx="4544378" cy="1882140"/>
            </a:xfrm>
            <a:prstGeom prst="roundRect">
              <a:avLst>
                <a:gd name="adj" fmla="val 607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06952" y="4784526"/>
              <a:ext cx="224134" cy="192560"/>
              <a:chOff x="7306952" y="4784526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419023" y="485489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306952" y="478452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419023" y="49326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620952" y="4507230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按事实 5 的数据，人工检查能查出约 65%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的需求错误，是最有效的一种手段；评审时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要逐条问这条需求怎样验收。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验证软件需求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用于需求分析的软件工具：要求与两个例子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5410200" cy="2475548"/>
            <a:chOff x="533400" y="1524000"/>
            <a:chExt cx="5410200" cy="24755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75548"/>
            </a:xfrm>
            <a:prstGeom prst="roundRect">
              <a:avLst>
                <a:gd name="adj" fmla="val 53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0884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056" y="17564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工具应满足的四条要求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9620" y="207073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7965" y="21101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0514" y="2082641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必须有形式化的语法（或表），可以用计算机自动处理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用这种语法说明的内容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9620" y="265938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7965" y="26997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0514" y="267223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使用这个软件工具能够导出详细的文档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9620" y="297751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7965" y="30178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0514" y="2989421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必须提供分析规格说明书的不一致性和冗余性的手段，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并能产生指明完整性分析结果的报告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9620" y="356711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7965" y="36064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0514" y="357901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使用之后应该能够改进通信状况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33400" y="4179570"/>
            <a:ext cx="5410200" cy="1274445"/>
            <a:chOff x="533400" y="4179570"/>
            <a:chExt cx="5410200" cy="1274445"/>
          </a:xfrm>
        </p:grpSpPr>
        <p:sp>
          <p:nvSpPr>
            <p:cNvPr id="24" name="Rectangle 24"/>
            <p:cNvSpPr/>
            <p:nvPr/>
          </p:nvSpPr>
          <p:spPr>
            <a:xfrm>
              <a:off x="533400" y="4179570"/>
              <a:ext cx="5410200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85875" y="430815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48659" y="430815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年份与出处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5889" y="4732972"/>
              <a:ext cx="16002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RSL（需求陈述语言）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75166" y="4732972"/>
              <a:ext cx="3300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1977 年，与 ASSM（抽象系统语义模型）配套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024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029200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889" y="5156835"/>
              <a:ext cx="809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PSL / PSA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75166" y="5156835"/>
              <a:ext cx="34536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1977 年，密执安大学；CADSAT 的一个组成部分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179570"/>
              <a:ext cx="5410200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367915" y="417957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ard-1"/>
          <p:cNvGrpSpPr/>
          <p:nvPr/>
        </p:nvGrpSpPr>
        <p:grpSpPr>
          <a:xfrm>
            <a:off x="6248400" y="1524000"/>
            <a:ext cx="5410200" cy="1840230"/>
            <a:chOff x="6248400" y="1524000"/>
            <a:chExt cx="5410200" cy="1840230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1657350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84620" y="1722120"/>
              <a:ext cx="88868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47630" y="1756410"/>
              <a:ext cx="7636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PSL 与 PSA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92240" y="21431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48831" y="2082641"/>
              <a:ext cx="445084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PSL（Problem Statement Language）是形式化描述语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言，形式与自然语言相近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92240" y="273177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48831" y="2672239"/>
              <a:ext cx="45860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PSA（Problem Statement Analyzer）按用户请求从数据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库取信息，生成各种分析报告，种类可达 30 余种</a:t>
              </a:r>
            </a:p>
          </p:txBody>
        </p:sp>
      </p:grpSp>
      <p:grpSp>
        <p:nvGrpSpPr>
          <p:cNvPr id="48" name="c2-code-2"/>
          <p:cNvGrpSpPr/>
          <p:nvPr/>
        </p:nvGrpSpPr>
        <p:grpSpPr>
          <a:xfrm>
            <a:off x="6248400" y="3544252"/>
            <a:ext cx="5410200" cy="1829752"/>
            <a:chOff x="6248400" y="3544252"/>
            <a:chExt cx="5410200" cy="1829752"/>
          </a:xfrm>
        </p:grpSpPr>
        <p:sp>
          <p:nvSpPr>
            <p:cNvPr id="45" name="Rectangle 45"/>
            <p:cNvSpPr/>
            <p:nvPr/>
          </p:nvSpPr>
          <p:spPr>
            <a:xfrm>
              <a:off x="6248400" y="3544252"/>
              <a:ext cx="5410200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76797" y="3696176"/>
              <a:ext cx="1526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工资处理系统的 PSL 片段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76416" y="3957638"/>
              <a:ext cx="3311081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DEFINE INTERFACE  department-employees;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GENERATES     employee-information;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RECEIVES      paysystem-output;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DEFINE PROCESS    payroll-processing;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RECEIVES      employee-information;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GENERATES     paysystem-output;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UPDATES       payroll-master-information;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9" name="Rectangle 4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6011704"/>
              <a:ext cx="105952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更正：原课件里 employee 多处误拼为 emplyee、employes，paysystem-output 一处写成 paysystem-out，这里已统一。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487575" y="2705100"/>
            <a:ext cx="2836850" cy="2305050"/>
            <a:chOff x="8487575" y="2705100"/>
            <a:chExt cx="2836850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487575" y="2705100"/>
              <a:ext cx="283685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3.9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附加材料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10035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可视化建模与 UML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课件后半部分的英文补充材料，考试要求了解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可视化建模解决什么问题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153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课件列出的八种 UML 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812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4+1 视图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986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Rational Rose 的界面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9365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258" y="407194"/>
              <a:ext cx="249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可视化建模与 UML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可视化建模：用标准图形符号为系统建模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3608070"/>
            <a:chOff x="533400" y="1524000"/>
            <a:chExt cx="5410200" cy="36080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608070"/>
            </a:xfrm>
            <a:prstGeom prst="roundRect">
              <a:avLst>
                <a:gd name="adj" fmla="val 3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34137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217295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4306" y="1756410"/>
              <a:ext cx="10879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Visual Modeling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Visual modeling is modeling using standard graphical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notations：用一套标准的图形符号为系统建模。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73177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672239"/>
              <a:ext cx="454101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捕获业务过程（captures business processes）：用例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分析从用户的视角描述业务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332136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3260884"/>
              <a:ext cx="45770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作为沟通工具（communication tool）：把业务领域的对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象和计算机领域的对象对应起来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391096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3850481"/>
              <a:ext cx="444182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管理复杂度（manages complexity）：人一次只能处理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加减 2 个概念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449961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4440079"/>
              <a:ext cx="445985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促进复用（promotes reuse）：同一批可重用构件用在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多个系统里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5312092"/>
            <a:ext cx="5410200" cy="756285"/>
            <a:chOff x="533400" y="5312092"/>
            <a:chExt cx="5410200" cy="756285"/>
          </a:xfrm>
        </p:grpSpPr>
        <p:sp>
          <p:nvSpPr>
            <p:cNvPr id="21" name="Rectangle 21"/>
            <p:cNvSpPr/>
            <p:nvPr/>
          </p:nvSpPr>
          <p:spPr>
            <a:xfrm>
              <a:off x="533400" y="531209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590223"/>
              <a:ext cx="200026" cy="200026"/>
              <a:chOff x="738188" y="5590223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5902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6568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56902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511" y="5459254"/>
              <a:ext cx="437870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课件引用 Rumbaugh 的一句话：建模捕获系统的本质部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分。图的价值在于取舍，把次要细节挡在外面。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2129790"/>
            <a:chOff x="6248400" y="1524000"/>
            <a:chExt cx="5410200" cy="2129790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2129790"/>
            </a:xfrm>
            <a:prstGeom prst="roundRect">
              <a:avLst>
                <a:gd name="adj" fmla="val 6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186309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84620" y="1722120"/>
              <a:ext cx="46863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8543" y="1756410"/>
              <a:ext cx="300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UML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60311" y="1756886"/>
              <a:ext cx="2531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Unified Modeling Language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7381" y="2100739"/>
              <a:ext cx="460413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是用来对软件密集型系统的制品进行可视化、详细描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述、构造和文档化的标准语言（visualizing, specifying,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constructing, documenting）。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92240" y="302133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48831" y="296179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它综合了数据建模、业务建模、对象建模、构件建模四方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面的长处</a:t>
              </a:r>
            </a:p>
          </p:txBody>
        </p:sp>
      </p:grpSp>
      <p:grpSp>
        <p:nvGrpSpPr>
          <p:cNvPr id="48" name="c2-bullets-2"/>
          <p:cNvGrpSpPr/>
          <p:nvPr/>
        </p:nvGrpSpPr>
        <p:grpSpPr>
          <a:xfrm>
            <a:off x="6241161" y="3857149"/>
            <a:ext cx="2177542" cy="1921764"/>
            <a:chOff x="6241161" y="3857149"/>
            <a:chExt cx="2177542" cy="1921764"/>
          </a:xfrm>
        </p:grpSpPr>
        <p:sp>
          <p:nvSpPr>
            <p:cNvPr id="37" name="TextBox 37"/>
            <p:cNvSpPr txBox="1"/>
            <p:nvPr/>
          </p:nvSpPr>
          <p:spPr>
            <a:xfrm>
              <a:off x="6241161" y="3857149"/>
              <a:ext cx="16174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UML 可以用来建模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248400" y="422338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92621" y="419338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应用与外部世界的交互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248400" y="455009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92621" y="452008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应用的行为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248400" y="487680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92621" y="484679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系统的结构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248400" y="5203508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92621" y="517350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企业的体系结构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6248400" y="553021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92621" y="550021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系统中的构件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705233" cy="909257"/>
            <a:chOff x="520446" y="342900"/>
            <a:chExt cx="37052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9365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258" y="407194"/>
              <a:ext cx="249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可视化建模与 UML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7052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课件列出的八种 UML 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33400" y="1524000"/>
            <a:ext cx="11125200" cy="3950018"/>
            <a:chOff x="533400" y="1524000"/>
            <a:chExt cx="11125200" cy="39500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910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3572" y="164877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中文名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02939" y="164877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84083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9412" y="208788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09634" y="2087880"/>
              <a:ext cx="1577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Use-Case Diagram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47194" y="208788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系统与外部世界（参与者）之间的交互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974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02205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9412" y="252698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09634" y="2526982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Activity Diagram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47194" y="252698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系统内部事件的流动顺序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35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9412" y="296608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09634" y="2966085"/>
              <a:ext cx="15701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Sequence Diagram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47194" y="296608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实现一项功能时对象之间按时间先后传递的消息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746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79458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9412" y="340518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09634" y="3405188"/>
              <a:ext cx="1932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Collaboration Diagram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47194" y="340518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围绕对象及对象之间的链接组织的对象交互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137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9412" y="38433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09634" y="3843338"/>
              <a:ext cx="12244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 Diagram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47194" y="384333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软件的静态结构：类、属性、操作与关系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529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57662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9412" y="428244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09634" y="4282440"/>
              <a:ext cx="1770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Statechart Diagram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47194" y="428244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单个类的生命周期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92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9412" y="4721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09634" y="4721542"/>
              <a:ext cx="17066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 Diagram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47194" y="472154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软件构件的组织以及构件之间的依赖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0301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034915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9412" y="516064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部署图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409634" y="5160645"/>
              <a:ext cx="1760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Deployment Diagram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747194" y="516064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构件在企业各个节点上的分布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11125200" cy="39500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308860" y="1524000"/>
              <a:ext cx="9525" cy="39500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646420" y="1524000"/>
              <a:ext cx="9525" cy="39500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0" name="Rectangle 5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8373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顺序图和协作图描述的是同一件事：前者强调消息的时间顺序，后者强调对象之间的链接关系。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35380" cy="909257"/>
            <a:chOff x="520446" y="342900"/>
            <a:chExt cx="53353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9365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258" y="407194"/>
              <a:ext cx="249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 · 可视化建模与 UML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353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4+1 视图与 Rational Rose 的界面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graph-1"/>
          <p:cNvGrpSpPr/>
          <p:nvPr/>
        </p:nvGrpSpPr>
        <p:grpSpPr>
          <a:xfrm>
            <a:off x="821055" y="1787842"/>
            <a:ext cx="4834890" cy="2356485"/>
            <a:chOff x="821055" y="1787842"/>
            <a:chExt cx="4834890" cy="2356485"/>
          </a:xfrm>
        </p:grpSpPr>
        <p:sp>
          <p:nvSpPr>
            <p:cNvPr id="7" name="Freeform 7"/>
            <p:cNvSpPr/>
            <p:nvPr/>
          </p:nvSpPr>
          <p:spPr>
            <a:xfrm>
              <a:off x="1600200" y="2067878"/>
              <a:ext cx="1262062" cy="692468"/>
            </a:xfrm>
            <a:custGeom>
              <a:avLst/>
              <a:gdLst/>
              <a:ahLst/>
              <a:cxnLst/>
              <a:rect l="l" t="t" r="r" b="b"/>
              <a:pathLst>
                <a:path w="1262062" h="692468">
                  <a:moveTo>
                    <a:pt x="1262062" y="69246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614738" y="2067878"/>
              <a:ext cx="1262062" cy="692468"/>
            </a:xfrm>
            <a:custGeom>
              <a:avLst/>
              <a:gdLst/>
              <a:ahLst/>
              <a:cxnLst/>
              <a:rect l="l" t="t" r="r" b="b"/>
              <a:pathLst>
                <a:path w="1262062" h="692468">
                  <a:moveTo>
                    <a:pt x="0" y="692468"/>
                  </a:moveTo>
                  <a:lnTo>
                    <a:pt x="12620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600200" y="3171825"/>
              <a:ext cx="1262062" cy="692467"/>
            </a:xfrm>
            <a:custGeom>
              <a:avLst/>
              <a:gdLst/>
              <a:ahLst/>
              <a:cxnLst/>
              <a:rect l="l" t="t" r="r" b="b"/>
              <a:pathLst>
                <a:path w="1262062" h="692467">
                  <a:moveTo>
                    <a:pt x="1262062" y="0"/>
                  </a:moveTo>
                  <a:lnTo>
                    <a:pt x="0" y="6924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14738" y="3171825"/>
              <a:ext cx="1262062" cy="692467"/>
            </a:xfrm>
            <a:custGeom>
              <a:avLst/>
              <a:gdLst/>
              <a:ahLst/>
              <a:cxnLst/>
              <a:rect l="l" t="t" r="r" b="b"/>
              <a:pathLst>
                <a:path w="1262062" h="692467">
                  <a:moveTo>
                    <a:pt x="0" y="0"/>
                  </a:moveTo>
                  <a:lnTo>
                    <a:pt x="1262062" y="6924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2819400" y="2546985"/>
              <a:ext cx="838200" cy="8382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21055" y="1787842"/>
              <a:ext cx="104775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608195" y="1787842"/>
              <a:ext cx="104775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21055" y="3864292"/>
              <a:ext cx="104775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608195" y="3864292"/>
              <a:ext cx="104775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50464" y="29003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用例视图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39099" y="3419951"/>
              <a:ext cx="798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最终用户 · 功能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6894" y="186213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逻辑视图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9002" y="2102644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分析设计人员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44034" y="186213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实现视图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61725" y="210264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6894" y="39385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过程视图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9002" y="3718084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系统集成人员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44034" y="39385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部署视图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06531" y="371808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系统工程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598670"/>
            <a:ext cx="5410200" cy="1059180"/>
            <a:chOff x="533400" y="4598670"/>
            <a:chExt cx="5410200" cy="1059180"/>
          </a:xfrm>
        </p:grpSpPr>
        <p:sp>
          <p:nvSpPr>
            <p:cNvPr id="27" name="Rectangle 27"/>
            <p:cNvSpPr/>
            <p:nvPr/>
          </p:nvSpPr>
          <p:spPr>
            <a:xfrm>
              <a:off x="533400" y="459867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028250"/>
              <a:ext cx="200023" cy="200023"/>
              <a:chOff x="738188" y="5028250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0282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50949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4747260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视图是模型中对特定相关方有意义的一个侧面。用例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视图是其他视图的心脏，它规定了系统应该做什么，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用例一变，其余四个视图都要跟着改。</a:t>
              </a:r>
            </a:p>
          </p:txBody>
        </p:sp>
      </p:grpSp>
      <p:grpSp>
        <p:nvGrpSpPr>
          <p:cNvPr id="44" name="c2-kv-1"/>
          <p:cNvGrpSpPr/>
          <p:nvPr/>
        </p:nvGrpSpPr>
        <p:grpSpPr>
          <a:xfrm>
            <a:off x="6240780" y="1548765"/>
            <a:ext cx="5417820" cy="1895475"/>
            <a:chOff x="6240780" y="1548765"/>
            <a:chExt cx="5417820" cy="1895475"/>
          </a:xfrm>
        </p:grpSpPr>
        <p:sp>
          <p:nvSpPr>
            <p:cNvPr id="33" name="TextBox 33"/>
            <p:cNvSpPr txBox="1"/>
            <p:nvPr/>
          </p:nvSpPr>
          <p:spPr>
            <a:xfrm>
              <a:off x="6240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逻辑视图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81862" y="154876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支持系统的功能需求，关注结构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40780" y="19888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实现视图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81862" y="1988820"/>
              <a:ext cx="41681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Rose 里叫构件视图，关注开发难易、软件资产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管理与复用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590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40780" y="2710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过程视图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81862" y="27108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关注性能、可伸缩性与吞吐量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0308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0780" y="315087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部署视图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81862" y="315087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关注系统拓扑、交付、安装与通信</a:t>
              </a:r>
            </a:p>
          </p:txBody>
        </p:sp>
      </p:grpSp>
      <p:grpSp>
        <p:nvGrpSpPr>
          <p:cNvPr id="56" name="c2-table-2"/>
          <p:cNvGrpSpPr/>
          <p:nvPr/>
        </p:nvGrpSpPr>
        <p:grpSpPr>
          <a:xfrm>
            <a:off x="6248400" y="3575685"/>
            <a:ext cx="5410200" cy="1800225"/>
            <a:chOff x="6248400" y="3575685"/>
            <a:chExt cx="5410200" cy="1800225"/>
          </a:xfrm>
        </p:grpSpPr>
        <p:sp>
          <p:nvSpPr>
            <p:cNvPr id="45" name="Rectangle 45"/>
            <p:cNvSpPr/>
            <p:nvPr/>
          </p:nvSpPr>
          <p:spPr>
            <a:xfrm>
              <a:off x="6248400" y="3575685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79464" y="3711416"/>
              <a:ext cx="1160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Rose 里的操作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86239" y="37114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56223" y="4160044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从浏览器中删除元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79283" y="4160044"/>
              <a:ext cx="34267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从模型中删掉它，删掉所有图中代表它的图标，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并删除它的规格说明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46948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48400" y="4699635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56223" y="49487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从图中删除元素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79283" y="4835366"/>
              <a:ext cx="34267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只从当前图移走，模型不变；只有当该图标没有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命名且只出现在这张图里时，模型才跟着改变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575685"/>
              <a:ext cx="54102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866698" y="357568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7" name="Rectangle 5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991225"/>
              <a:ext cx="8490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Rose 的 Options 窗口只影响以后新建的元素，改了默认设置，已有的模型元素不会跟着改变。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23135"/>
            <a:chOff x="533400" y="1524000"/>
            <a:chExt cx="3505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结构化分析要建立哪三类模型？各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用什么图描述？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数据模型（ER 图、数据字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典）、功能模型（数据流图、IPO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图）、行为模型（状态转换图）。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3505200" cy="1937385"/>
            <a:chOff x="533400" y="3937635"/>
            <a:chExt cx="3505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逆向需求是什么？举一个例子。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说明软件不应该做什么，例如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系统不保存用户口令的明文。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937385"/>
            <a:chOff x="4343400" y="1524000"/>
            <a:chExt cx="3505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需求阶段与维护阶段修复同一个错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误，费用相差多少倍？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2731770"/>
              <a:ext cx="2910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需求阶段 0.1 ～ 0.2，维护阶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 20，相差 100 到 200 倍。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651885"/>
            <a:ext cx="3505200" cy="2223135"/>
            <a:chOff x="4343400" y="3651885"/>
            <a:chExt cx="3505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4343400" y="365188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2386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情景分析技术有哪两个用处？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4573905"/>
              <a:ext cx="2872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演示目标系统的行为便于用户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理解，并可能揭示分析员还不知道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的需求；让用户在需求分析中始终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主动参与。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223135"/>
            <a:chOff x="8153400" y="1524000"/>
            <a:chExt cx="3505200" cy="222313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系统能够对用户的身份进行快速验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证，这条需求坏在哪？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2731770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快速不可检验。改成可度量的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指标，例如 95% 的请求在 1 秒内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937635"/>
            <a:ext cx="3505200" cy="1937385"/>
            <a:chOff x="8153400" y="3937635"/>
            <a:chExt cx="3505200" cy="1937385"/>
          </a:xfrm>
        </p:grpSpPr>
        <p:sp>
          <p:nvSpPr>
            <p:cNvPr id="37" name="Rectangle 37"/>
            <p:cNvSpPr/>
            <p:nvPr/>
          </p:nvSpPr>
          <p:spPr>
            <a:xfrm>
              <a:off x="8153400" y="3937635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52437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简易的应用规格说明技术里，会议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要对哪四个议题形成一致的列表？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514540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对象、服务、约束和性能。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383155"/>
            <a:chOff x="533400" y="1524000"/>
            <a:chExt cx="3505200" cy="2383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383155"/>
            </a:xfrm>
            <a:prstGeom prst="roundRect">
              <a:avLst>
                <a:gd name="adj" fmla="val 559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298332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SelectCourse(学号, 姓名, 年龄,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课程名称, 成绩, 学分) 以 (学号, 课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程名称) 为关键字，满足第几范式？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943701"/>
              <a:ext cx="286385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只满足 1NF。存在部分依赖 (课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程名称) → (学分) 和 (学号) → (姓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名, 年龄)。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087178"/>
            <a:ext cx="3505200" cy="2111692"/>
            <a:chOff x="533400" y="4087178"/>
            <a:chExt cx="3505200" cy="2111692"/>
          </a:xfrm>
        </p:grpSpPr>
        <p:sp>
          <p:nvSpPr>
            <p:cNvPr id="13" name="Rectangle 13"/>
            <p:cNvSpPr/>
            <p:nvPr/>
          </p:nvSpPr>
          <p:spPr>
            <a:xfrm>
              <a:off x="533400" y="4087178"/>
              <a:ext cx="3505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428529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0468" y="431958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281" y="4645819"/>
              <a:ext cx="28890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Petri 网中一个转移在什么条件下才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能激发？激发后令牌怎样变化？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4281" y="5235416"/>
              <a:ext cx="27195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输入位置全部有令牌时才能激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发；激发后每个输入位置减一个令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牌，每个输出位置加一个。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926080"/>
            <a:chOff x="4343400" y="1524000"/>
            <a:chExt cx="3505200" cy="2926080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926080"/>
            </a:xfrm>
            <a:prstGeom prst="roundRect">
              <a:avLst>
                <a:gd name="adj" fmla="val 455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4281" y="2082641"/>
              <a:ext cx="29535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Student(学号, 姓名, 年龄, 所在学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院, 学院地点, 学院电话) 属于第几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范式？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4281" y="2943701"/>
              <a:ext cx="2890901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单关键字，满足 2NF；(所在学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院) → (学院地点, 学院电话) 是传递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依赖，不满足 3NF。拆成 Student(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学号, 姓名, 年龄, 所在学院) 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College(学院名称, 地点, 电话)。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4630102"/>
            <a:ext cx="3505200" cy="1568768"/>
            <a:chOff x="4343400" y="4630102"/>
            <a:chExt cx="3505200" cy="1568768"/>
          </a:xfrm>
        </p:grpSpPr>
        <p:sp>
          <p:nvSpPr>
            <p:cNvPr id="25" name="Rectangle 25"/>
            <p:cNvSpPr/>
            <p:nvPr/>
          </p:nvSpPr>
          <p:spPr>
            <a:xfrm>
              <a:off x="4343400" y="4630102"/>
              <a:ext cx="3505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1520" y="482822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0468" y="486251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4281" y="518874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验证软件需求要从哪四个方面进行？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4281" y="5506879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一致性、完整性、现实性、有效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11692"/>
            <a:chOff x="8153400" y="1524000"/>
            <a:chExt cx="3505200" cy="211169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4281" y="2082641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状态迁移表的一个格子里填什么？空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格表示什么？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4281" y="2672239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填当前状态遇到该事件后转到的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新状态；空格表示该状态不响应这个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15715"/>
            <a:ext cx="3505200" cy="2383155"/>
            <a:chOff x="8153400" y="3815715"/>
            <a:chExt cx="3505200" cy="2383155"/>
          </a:xfrm>
        </p:grpSpPr>
        <p:sp>
          <p:nvSpPr>
            <p:cNvPr id="37" name="Rectangle 37"/>
            <p:cNvSpPr/>
            <p:nvPr/>
          </p:nvSpPr>
          <p:spPr>
            <a:xfrm>
              <a:off x="8153400" y="3815715"/>
              <a:ext cx="3505200" cy="2383155"/>
            </a:xfrm>
            <a:prstGeom prst="roundRect">
              <a:avLst>
                <a:gd name="adj" fmla="val 559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1520" y="401383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0468" y="404812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4281" y="4374356"/>
              <a:ext cx="28313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层次方框图与 Warnier 图有什么区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4281" y="4963954"/>
              <a:ext cx="291795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两者都用树形结构描述数据层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次；Warnier 图还能表示重复、选择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和互斥（⊕）。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需求分析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5430"/>
            <a:ext cx="5769673" cy="3879628"/>
            <a:chOff x="533400" y="1535430"/>
            <a:chExt cx="5769673" cy="3879628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1745" y="1574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4293" y="1547336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需求分析回答做什么：建立数据、功能、行为三类模型，并用层次方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式分解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3360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745" y="217298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293" y="2145506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需求错误发现得越晚越贵，而且大部分错误的根源就在需求阶段，人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工检查最有效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73177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745" y="277115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293" y="2743676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获取需求有四条路：访谈、面向数据流自顶向下求精、简易的应用规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格说明技术、快速原型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32994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1745" y="336932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293" y="3341846"/>
              <a:ext cx="54066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 图描述数据；数据规范化用 1NF、2NF、3NF 衡量冗余，2NF 消部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分依赖，3NF 消传递依赖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92811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1745" y="396749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4293" y="3940016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状态转换图描述行为，与状态迁移表可以互相转换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425481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1745" y="429420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4293" y="4266724"/>
              <a:ext cx="54787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其他工具各管一段：层次方框图与 Warnier 图管数据层次，IPO 图管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加工，时序图管时间，Petri 网管并发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485298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1745" y="489237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4293" y="4864894"/>
              <a:ext cx="54156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验证需求看一致性、完整性、现实性、有效性，SRS 是本阶段的正式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898005" y="1524000"/>
            <a:ext cx="4760595" cy="4035742"/>
            <a:chOff x="6898005" y="1524000"/>
            <a:chExt cx="4760595" cy="4035742"/>
          </a:xfrm>
        </p:grpSpPr>
        <p:sp>
          <p:nvSpPr>
            <p:cNvPr id="29" name="Rectangle 29"/>
            <p:cNvSpPr/>
            <p:nvPr/>
          </p:nvSpPr>
          <p:spPr>
            <a:xfrm>
              <a:off x="6898005" y="1524000"/>
              <a:ext cx="4760595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82244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高频考点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82722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一句话答案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00494" y="21831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三类模型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28292" y="2076450"/>
              <a:ext cx="2907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 ER 图；功能模型 数据流图；行为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 状态转换图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98005" y="25812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98005" y="2586038"/>
              <a:ext cx="476059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00494" y="282130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综合要求八方面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28292" y="2714625"/>
              <a:ext cx="2907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功能、性能、可靠性可用性、出错处理、接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口、约束、逆向、将来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98005" y="32194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00494" y="335280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2NF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28292" y="335280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消除非主属性对关键字的部分依赖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98005" y="364331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898005" y="3648075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00494" y="377666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3NF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28292" y="3776662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消除非主属性对关键字的传递依赖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98005" y="406812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00494" y="420147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四类异常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28292" y="4201478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数据冗余、更新异常、插入异常、删除异常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98005" y="44929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98005" y="4497705"/>
              <a:ext cx="476059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00494" y="473202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状态图三要素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28292" y="4625340"/>
              <a:ext cx="2907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状态、事件、转换；状态框分状态名、状态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变量、活动表三栏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898005" y="513016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00494" y="526351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验证四方面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28292" y="526351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一致性、完整性、现实性、有效性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898005" y="1524000"/>
              <a:ext cx="4760595" cy="40357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321040" y="1524000"/>
              <a:ext cx="9525" cy="40357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8" name="Rectangle 5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6011704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复习时抓三条主线：三类模型与对应的图、三个范式的判断与分解、四个验证方面。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第3章 需求分析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e_ch03">
  <a:themeElements>
    <a:clrScheme name="se_ch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_ch0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_ch0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2026-09-19T03:28:38Z</dcterms:created>
  <dcterms:modified xsi:type="dcterms:W3CDTF">2026-09-19T03:28:38Z</dcterms:modified>
  <cp:category/>
  <cp:contentStatus/>
</cp:coreProperties>
</file>