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0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0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85b6508548b4c50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91c972a3bbd552a3.png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745ce57159f4f30.png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178302" cy="3437763"/>
            <a:chOff x="666750" y="1619250"/>
            <a:chExt cx="317830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第三章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1683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弄清要做什么，并把它写准确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任务与需求错误的代价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获取需求的四种方法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三类模型与图形工具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数据规范化与需求验证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自学复习版｜据吉林大学《软件工程》第三章课件整理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1-agenda-1"/>
          <p:cNvGrpSpPr/>
          <p:nvPr/>
        </p:nvGrpSpPr>
        <p:grpSpPr>
          <a:xfrm>
            <a:off x="523113" y="1520666"/>
            <a:ext cx="6286310" cy="4735831"/>
            <a:chOff x="523113" y="1520666"/>
            <a:chExt cx="6286310" cy="4735831"/>
          </a:xfrm>
        </p:grpSpPr>
        <p:sp>
          <p:nvSpPr>
            <p:cNvPr id="7" name="TextBox 7"/>
            <p:cNvSpPr txBox="1"/>
            <p:nvPr/>
          </p:nvSpPr>
          <p:spPr>
            <a:xfrm>
              <a:off x="523113" y="152066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31558" y="154876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任务与重要性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33462" y="183975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四条准则、三类模型，以及需求错误的代价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39178" y="211931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3113" y="221980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31558" y="22479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获取需求的方法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33462" y="2538889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访谈、自顶向下求精、简易应用规格说明、快速原型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39178" y="281940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3113" y="2919889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1558" y="294798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建模与规格说明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3462" y="323897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模型是什么，软件需求规格说明书写哪些章节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39178" y="3518535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3113" y="3619024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1558" y="3647122"/>
              <a:ext cx="1141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实体-联系图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33462" y="3938111"/>
              <a:ext cx="269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数据对象、属性、三类联系与 ER 图画法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39178" y="4217670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3113" y="431911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1558" y="434721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数据规范化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3462" y="4638199"/>
              <a:ext cx="19032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1NF、2NF、3NF 与四类异常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39178" y="4917758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3113" y="5018246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1558" y="50463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状态图与其他工具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33462" y="5337334"/>
              <a:ext cx="30026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状态转换图、层次方框图、IPO 图、Petri 网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39178" y="5616892"/>
              <a:ext cx="57702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3113" y="5717381"/>
              <a:ext cx="334656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1558" y="574548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验证需求与附加材料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3462" y="6036469"/>
              <a:ext cx="3369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四个验证方面、需求分析工具、可视化建模与 UML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7114222" y="1524000"/>
            <a:ext cx="4544378" cy="4688205"/>
            <a:chOff x="7114222" y="1524000"/>
            <a:chExt cx="4544378" cy="4688205"/>
          </a:xfrm>
        </p:grpSpPr>
        <p:sp>
          <p:nvSpPr>
            <p:cNvPr id="35" name="Rectangle 35"/>
            <p:cNvSpPr/>
            <p:nvPr/>
          </p:nvSpPr>
          <p:spPr>
            <a:xfrm>
              <a:off x="7114222" y="1524000"/>
              <a:ext cx="4544378" cy="4688205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23748" y="1657350"/>
              <a:ext cx="47625" cy="44215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344728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28167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53300" y="21288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09320" y="20726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说出结构化分析的四条准则和三类模型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53300" y="24317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09320" y="2375535"/>
              <a:ext cx="30662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按用户描述画出 ER 图并标注联系类型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53300" y="273462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09320" y="2678430"/>
              <a:ext cx="3659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判断一张表满足第几范式，并把它分解到 3NF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353300" y="303657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509320" y="298037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画状态转换图，并与状态迁移表互相转换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353300" y="333946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509320" y="32832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列出验证软件需求的四个方面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469130" cy="3351847"/>
            <a:chOff x="667512" y="1835468"/>
            <a:chExt cx="446913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需求分析的任务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先确认做什么，这一步做错，后面全部跟着错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四条准则与三类模型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需求难以建立的七个原因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需求错误的代价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综合要求的八个方面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需求分析定的是做什么，怎样做留给设计阶段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570718" cy="597598"/>
            <a:chOff x="525399" y="1550194"/>
            <a:chExt cx="10570718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570718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Brooks 的判断：建造一个软件系统最困难的部分是决定要建造什么。没有别的工作在做错时会如此影响最终系统，也没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有别的工作比以后矫正更困难。</a:t>
              </a:r>
            </a:p>
          </p:txBody>
        </p:sp>
      </p:grpSp>
      <p:grpSp>
        <p:nvGrpSpPr>
          <p:cNvPr id="29" name="c1-table-1"/>
          <p:cNvGrpSpPr/>
          <p:nvPr/>
        </p:nvGrpSpPr>
        <p:grpSpPr>
          <a:xfrm>
            <a:off x="527685" y="2257425"/>
            <a:ext cx="5848350" cy="2317909"/>
            <a:chOff x="527685" y="2257425"/>
            <a:chExt cx="5848350" cy="2317909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842635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06386" y="239315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结构化分析的准则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90355" y="23931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要建立的模型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42955" y="23931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常用描述工具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84178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理解并描述问题的信息域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78658" y="28417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数据模型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63580" y="2841784"/>
              <a:ext cx="13017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 图、数据字典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15087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154680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29041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定义软件应完成的功能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78658" y="32904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功能模型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263580" y="3290411"/>
              <a:ext cx="1392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数据流图、IPO 图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994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73903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描述外部事件引起的软件行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78658" y="38523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行为模型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63580" y="38523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状态转换图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257425"/>
              <a:ext cx="5842635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866072" y="225742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150995" y="225742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7685" y="4355306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第四条准则是对上述模型再做分解，用层次的方式展示细节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721542"/>
            <a:ext cx="5842635" cy="782955"/>
            <a:chOff x="533400" y="4721542"/>
            <a:chExt cx="5842635" cy="782955"/>
          </a:xfrm>
        </p:grpSpPr>
        <p:sp>
          <p:nvSpPr>
            <p:cNvPr id="30" name="Rectangle 30"/>
            <p:cNvSpPr/>
            <p:nvPr/>
          </p:nvSpPr>
          <p:spPr>
            <a:xfrm>
              <a:off x="533400" y="4721542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013010"/>
              <a:ext cx="200023" cy="200023"/>
              <a:chOff x="738188" y="5013010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0130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50796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4870132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三类模型分别回答数据长什么样、系统做哪些加工、系统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在什么事件下怎样反应。</a:t>
              </a:r>
            </a:p>
          </p:txBody>
        </p:sp>
      </p:grpSp>
      <p:grpSp>
        <p:nvGrpSpPr>
          <p:cNvPr id="53" name="c2-steps-1"/>
          <p:cNvGrpSpPr/>
          <p:nvPr/>
        </p:nvGrpSpPr>
        <p:grpSpPr>
          <a:xfrm>
            <a:off x="6680835" y="2266950"/>
            <a:ext cx="4471370" cy="2529173"/>
            <a:chOff x="6680835" y="2266950"/>
            <a:chExt cx="4471370" cy="2529173"/>
          </a:xfrm>
        </p:grpSpPr>
        <p:sp>
          <p:nvSpPr>
            <p:cNvPr id="36" name="Rectangle 36"/>
            <p:cNvSpPr/>
            <p:nvPr/>
          </p:nvSpPr>
          <p:spPr>
            <a:xfrm>
              <a:off x="6814185" y="240982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6680835" y="226695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74459" y="23407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80835" y="291750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74459" y="29913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680835" y="356806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74459" y="3641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680835" y="421957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74459" y="42933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92315" y="230124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确定对系统的综合要求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93458" y="259508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功能、性能、可靠性等八个方面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92315" y="295179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分析系统的数据要求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93458" y="3245644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建立数据模型，描述复杂数据结构，做规范化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92315" y="36023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导出系统的逻辑模型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93458" y="3896201"/>
              <a:ext cx="40587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数据流图、ER 图、状态转换图、数据字典和主要算法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92315" y="42538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修正系统的开发计划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93458" y="454675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成本和进度可以估计得比可行性研究阶段准确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8900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需求分析的产物是逻辑模型和需求规格说明书，其中不应出现数据库表结构、类结构这类实现决定。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需求为什么难以建立：七个常见原因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kv-1"/>
          <p:cNvGrpSpPr/>
          <p:nvPr/>
        </p:nvGrpSpPr>
        <p:grpSpPr>
          <a:xfrm>
            <a:off x="525780" y="1548765"/>
            <a:ext cx="6291262" cy="3779520"/>
            <a:chOff x="525780" y="1548765"/>
            <a:chExt cx="6291262" cy="37795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误解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157412" y="1548765"/>
              <a:ext cx="4396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用户说出口的、分析员听进去的、用户真正需要的，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常常是三件事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交流障碍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57412" y="2270760"/>
              <a:ext cx="4396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用户讲业务术语，分析员讲技术术语，双方都以为对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方听懂了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87274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9927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完整性问题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57412" y="299275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没有人能一次说全；遗漏的需求往往到验收时才暴露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31279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432810"/>
              <a:ext cx="1348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需求永远不会稳</a:t>
              </a:r>
              <a:br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57412" y="343281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业务和外部环境在变，需求跟着变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03479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415480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用户意见不统一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157412" y="415480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不同部门、不同岗位提出的要求互相冲突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47484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5780" y="459486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错误的要求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57412" y="459486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用户提出的方案本身解决不了他真正的问题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9149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5780" y="50349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认识混淆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57412" y="50349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把界面当成功能，把想要当成必须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7114222" y="1524000"/>
            <a:ext cx="4544378" cy="2909412"/>
            <a:chOff x="7114222" y="1524000"/>
            <a:chExt cx="4544378" cy="2909412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0" t="11936" r="0" b="11937"/>
            <a:stretch>
              <a:fillRect/>
            </a:stretch>
          </p:blipFill>
          <p:spPr>
            <a:xfrm>
              <a:off x="7114222" y="1524000"/>
              <a:ext cx="4544378" cy="2594610"/>
            </a:xfrm>
            <a:prstGeom prst="roundRect">
              <a:avLst>
                <a:gd name="adj" fmla="val 5139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8324799" y="421338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一句话传下去，圆球传成了方盒</a:t>
              </a:r>
            </a:p>
          </p:txBody>
        </p:sp>
      </p:grpSp>
      <p:grpSp>
        <p:nvGrpSpPr>
          <p:cNvPr id="37" name="c2-callout-2"/>
          <p:cNvGrpSpPr/>
          <p:nvPr/>
        </p:nvGrpSpPr>
        <p:grpSpPr>
          <a:xfrm>
            <a:off x="7114222" y="4598670"/>
            <a:ext cx="4544378" cy="1059180"/>
            <a:chOff x="7114222" y="4598670"/>
            <a:chExt cx="4544378" cy="1059180"/>
          </a:xfrm>
        </p:grpSpPr>
        <p:sp>
          <p:nvSpPr>
            <p:cNvPr id="31" name="Rectangle 31"/>
            <p:cNvSpPr/>
            <p:nvPr/>
          </p:nvSpPr>
          <p:spPr>
            <a:xfrm>
              <a:off x="7114222" y="459867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19010" y="5028248"/>
              <a:ext cx="200026" cy="200026"/>
              <a:chOff x="7319010" y="5028248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19010" y="50282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419023" y="50949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407910" y="51282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7620952" y="474726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课件上那句话：我知道你相信你已经理解了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你认为我所说的内容，但是我并不能肯定你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已经认识到你所听到的并不是我所想要的。</a:t>
              </a:r>
            </a:p>
          </p:txBody>
        </p:sp>
      </p:grpSp>
      <p:grpSp>
        <p:nvGrpSpPr>
          <p:cNvPr id="4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8" name="Rectangle 3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一条需求是否谈清楚，试试让用户用自己的话复述一遍，并说出它在什么情况下算做到了。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软件项目失败的原因里，一半以上出在需求上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0" name="c1-table-1"/>
          <p:cNvGrpSpPr/>
          <p:nvPr/>
        </p:nvGrpSpPr>
        <p:grpSpPr>
          <a:xfrm>
            <a:off x="527685" y="1524000"/>
            <a:ext cx="6497955" cy="4335304"/>
            <a:chOff x="527685" y="1524000"/>
            <a:chExt cx="6497955" cy="433530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7012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失败原因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7987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07380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与需求直接相关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不完整的需求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98025" y="2108359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13.1%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24321" y="210835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缺少用户的参与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98025" y="2556986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12.4%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24321" y="255698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缺乏资源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98025" y="3005614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10.6%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24321" y="300561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1470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19462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45424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不切实际的期望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45412" y="3454241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9.9%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24321" y="345424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6332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90382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缺乏行政支持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345412" y="3903821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9.3%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24321" y="390382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1195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216718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35244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改动需求和说明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45412" y="4352449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8.7%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24321" y="435244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66058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48010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缺少计划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345412" y="4801076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8.1%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024321" y="480107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1101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11492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1223" y="524970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不再需要该系统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345412" y="5249704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24321" y="524970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6492240" cy="40395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3904298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203508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7685" y="5639276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课件只列出占比最高的八项，合计 79.6%，其余归入其他原因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330440" y="1524000"/>
            <a:ext cx="4328160" cy="1847850"/>
            <a:chOff x="7330440" y="1524000"/>
            <a:chExt cx="4328160" cy="1847850"/>
          </a:xfrm>
        </p:grpSpPr>
        <p:sp>
          <p:nvSpPr>
            <p:cNvPr id="51" name="Rectangle 51"/>
            <p:cNvSpPr/>
            <p:nvPr/>
          </p:nvSpPr>
          <p:spPr>
            <a:xfrm>
              <a:off x="7330440" y="1524000"/>
              <a:ext cx="4328160" cy="1847850"/>
            </a:xfrm>
            <a:prstGeom prst="roundRect">
              <a:avLst>
                <a:gd name="adj" fmla="val 721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53999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62229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算一笔账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32370" y="2110740"/>
              <a:ext cx="3691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打勾的五项合计 13.1 + 12.4 + 9.9 + 8.7 +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7.5 =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51.6%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，都来自需求工作没做好。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33513" y="2728436"/>
              <a:ext cx="3751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缺少用户参与和不切实际的期望，本质上也是需求没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有和用户谈清楚。</a:t>
              </a:r>
            </a:p>
          </p:txBody>
        </p:sp>
      </p:grpSp>
      <p:grpSp>
        <p:nvGrpSpPr>
          <p:cNvPr id="66" name="c2-card-2"/>
          <p:cNvGrpSpPr/>
          <p:nvPr/>
        </p:nvGrpSpPr>
        <p:grpSpPr>
          <a:xfrm>
            <a:off x="7330440" y="3562350"/>
            <a:ext cx="4328160" cy="2272665"/>
            <a:chOff x="7330440" y="3562350"/>
            <a:chExt cx="4328160" cy="2272665"/>
          </a:xfrm>
        </p:grpSpPr>
        <p:sp>
          <p:nvSpPr>
            <p:cNvPr id="57" name="Rectangle 57"/>
            <p:cNvSpPr/>
            <p:nvPr/>
          </p:nvSpPr>
          <p:spPr>
            <a:xfrm>
              <a:off x="7330440" y="3562350"/>
              <a:ext cx="432816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39965" y="369570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578090" y="377190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47597" y="380761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怎么用这组数据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70470" y="414909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这组数据指向同一件事：项目往往在动手写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代码之前就已经偏了。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583805" y="48329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741920" y="477012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用户参与要贯穿整个需求过程，不能只在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开头访谈一次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583805" y="54540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741920" y="539115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需求变更要有记录和评审，不能口头改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28823" cy="909257"/>
            <a:chOff x="520446" y="342900"/>
            <a:chExt cx="93288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288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事实 1 和事实 2：错误发现得越晚越贵，而且大多发现得很晚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5" name="c1-table-1"/>
          <p:cNvGrpSpPr/>
          <p:nvPr/>
        </p:nvGrpSpPr>
        <p:grpSpPr>
          <a:xfrm>
            <a:off x="527685" y="1524000"/>
            <a:ext cx="5199697" cy="3306604"/>
            <a:chOff x="527685" y="1524000"/>
            <a:chExt cx="5199697" cy="330660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98258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发现错误的阶段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76497" y="165544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相对修复费用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8746" y="20850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需求阶段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215640" y="1964055"/>
              <a:ext cx="250126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065346" y="2085022"/>
              <a:ext cx="8037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～ 0.2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23793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33400" y="2384108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746" y="251555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设计阶段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27855" y="251555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8098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编码阶段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16704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2394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3244215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8746" y="33756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单元测试阶段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16704" y="3375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6699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8746" y="380619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验收测试阶段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16704" y="38061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10051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105275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8746" y="423576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维护阶段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215640" y="4114800"/>
              <a:ext cx="2501265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372280" y="423576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193982" cy="3010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3201352" y="1524000"/>
              <a:ext cx="9525" cy="3010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27685" y="4610576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 3.1 生命周期中修复软件的相对费用，以编码阶段为 1</a:t>
              </a:r>
            </a:p>
          </p:txBody>
        </p:sp>
      </p:grpSp>
      <p:grpSp>
        <p:nvGrpSpPr>
          <p:cNvPr id="42" name="c1-callout-2"/>
          <p:cNvGrpSpPr/>
          <p:nvPr/>
        </p:nvGrpSpPr>
        <p:grpSpPr>
          <a:xfrm>
            <a:off x="533400" y="4972050"/>
            <a:ext cx="5193982" cy="1221105"/>
            <a:chOff x="533400" y="4972050"/>
            <a:chExt cx="5193982" cy="1221105"/>
          </a:xfrm>
        </p:grpSpPr>
        <p:sp>
          <p:nvSpPr>
            <p:cNvPr id="36" name="Rectangle 36"/>
            <p:cNvSpPr/>
            <p:nvPr/>
          </p:nvSpPr>
          <p:spPr>
            <a:xfrm>
              <a:off x="533400" y="4972050"/>
              <a:ext cx="5193982" cy="1221105"/>
            </a:xfrm>
            <a:prstGeom prst="roundRect">
              <a:avLst>
                <a:gd name="adj" fmla="val 93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26129" y="5478898"/>
              <a:ext cx="224134" cy="192560"/>
              <a:chOff x="726129" y="5478898"/>
              <a:chExt cx="224134" cy="1925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8200" y="554926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26129" y="547889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6270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511" y="5351621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同一个错误，拖到维护阶段才改，代价是需求阶段的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100 到 200 倍。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6032182" y="1524000"/>
            <a:ext cx="5626418" cy="1777365"/>
            <a:chOff x="6032182" y="1524000"/>
            <a:chExt cx="5626418" cy="1777365"/>
          </a:xfrm>
        </p:grpSpPr>
        <p:sp>
          <p:nvSpPr>
            <p:cNvPr id="43" name="Rectangle 43"/>
            <p:cNvSpPr/>
            <p:nvPr/>
          </p:nvSpPr>
          <p:spPr>
            <a:xfrm>
              <a:off x="6032182" y="1524000"/>
              <a:ext cx="5626418" cy="1777365"/>
            </a:xfrm>
            <a:prstGeom prst="roundRect">
              <a:avLst>
                <a:gd name="adj" fmla="val 75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41708" y="1657350"/>
              <a:ext cx="47625" cy="15106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74118" y="1727835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60860" y="176355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事实 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66879" y="210073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在软件生命周期中，一个错误发现得越晚，修复错误的费用越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68022" y="2688907"/>
              <a:ext cx="4888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原因：越往后，依赖这个错误的设计、代码、测试用例和文档越多，改一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处要连带改一片。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6032182" y="3486150"/>
            <a:ext cx="5626418" cy="2707005"/>
            <a:chOff x="6032182" y="3486150"/>
            <a:chExt cx="5626418" cy="2707005"/>
          </a:xfrm>
        </p:grpSpPr>
        <p:sp>
          <p:nvSpPr>
            <p:cNvPr id="50" name="Rectangle 50"/>
            <p:cNvSpPr/>
            <p:nvPr/>
          </p:nvSpPr>
          <p:spPr>
            <a:xfrm>
              <a:off x="6032182" y="3486150"/>
              <a:ext cx="5626418" cy="2707005"/>
            </a:xfrm>
            <a:prstGeom prst="roundRect">
              <a:avLst>
                <a:gd name="adj" fmla="val 49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41708" y="3619500"/>
              <a:ext cx="47625" cy="24403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274118" y="3689985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60860" y="372570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事实 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02208" y="373046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许多错误是潜伏的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66879" y="4081939"/>
              <a:ext cx="491070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Boehm 从 TRW 公司的软件项目中得出结论：所有被检测出来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的错误中，54% 实际上是在编码和单元测试阶段以后才被发现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281738" y="500443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438329" y="4944904"/>
              <a:ext cx="31767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其中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45%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属于需求和设计阶段的错误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281738" y="532447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38329" y="5264944"/>
              <a:ext cx="20407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编码阶段的错误只占 9%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68022" y="5580698"/>
              <a:ext cx="49347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45% + 9% = 54%，也就是说，晚发现的错误里绝大部分根本不是敲代码敲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错的。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358666" cy="909257"/>
            <a:chOff x="520446" y="342900"/>
            <a:chExt cx="103586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3586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事实 3 和事实 4：错误大量产生在需求阶段，且以疏忽和二义性为主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4977765" cy="2386965"/>
            <a:chOff x="533400" y="1524000"/>
            <a:chExt cx="4977765" cy="2386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386965"/>
            </a:xfrm>
            <a:prstGeom prst="roundRect">
              <a:avLst>
                <a:gd name="adj" fmla="val 55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202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2078" y="176355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事实 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03426" y="176736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需求过程中会产生很多错误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04507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DeMarco 的研究报告指出，被检查出来的错误中，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56% 产生的根源可以追溯到需求阶段。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711291"/>
              <a:ext cx="431558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AIRMICS 的一项调查发现，在一份美国军方大型管理信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息系统的需求规格说明书中，存在着 500 多个错误。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9239" y="3298507"/>
              <a:ext cx="42793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后者只是一个软件项目中的一次调查，不宜当成普遍规律，但量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级值得警惕。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096702"/>
            <a:ext cx="4977765" cy="1991678"/>
            <a:chOff x="533400" y="4096702"/>
            <a:chExt cx="4977765" cy="1991678"/>
          </a:xfrm>
        </p:grpSpPr>
        <p:sp>
          <p:nvSpPr>
            <p:cNvPr id="16" name="Rectangle 16"/>
            <p:cNvSpPr/>
            <p:nvPr/>
          </p:nvSpPr>
          <p:spPr>
            <a:xfrm>
              <a:off x="533400" y="4096702"/>
              <a:ext cx="4977765" cy="1991678"/>
            </a:xfrm>
            <a:prstGeom prst="roundRect">
              <a:avLst>
                <a:gd name="adj" fmla="val 66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230052"/>
              <a:ext cx="47625" cy="172497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75335" y="4300538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2078" y="433625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事实 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8096" y="4673441"/>
              <a:ext cx="430657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美国海军研究实验室对 A-7E 飞机飞行操作程序做实地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测试，数据表明该项目 77% 的需求错误特点是不明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确。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5810250" y="1524000"/>
            <a:ext cx="5848350" cy="2877027"/>
            <a:chOff x="5810250" y="1524000"/>
            <a:chExt cx="5848350" cy="2877027"/>
          </a:xfrm>
        </p:grpSpPr>
        <p:sp>
          <p:nvSpPr>
            <p:cNvPr id="22" name="Rectangle 22"/>
            <p:cNvSpPr/>
            <p:nvPr/>
          </p:nvSpPr>
          <p:spPr>
            <a:xfrm>
              <a:off x="5815965" y="1524000"/>
              <a:ext cx="5842635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95148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需求错误的类型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22032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921312" y="208502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不正确的事实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32441" y="208502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815965" y="23793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815965" y="2384108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21312" y="25155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疏忽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32441" y="251555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815965" y="28098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21312" y="294608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32441" y="294608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32394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815965" y="3244215"/>
              <a:ext cx="584263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21312" y="33756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二义性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276865" y="3375660"/>
              <a:ext cx="222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36699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21312" y="38061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放错位置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276865" y="3806190"/>
              <a:ext cx="222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1524000"/>
              <a:ext cx="5842635" cy="2581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113520" y="1524000"/>
              <a:ext cx="9525" cy="2581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10250" y="4180999"/>
              <a:ext cx="1021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五项合计 100%</a:t>
              </a:r>
            </a:p>
          </p:txBody>
        </p:sp>
      </p:grpSp>
      <p:grpSp>
        <p:nvGrpSpPr>
          <p:cNvPr id="50" name="c2-card-2"/>
          <p:cNvGrpSpPr/>
          <p:nvPr/>
        </p:nvGrpSpPr>
        <p:grpSpPr>
          <a:xfrm>
            <a:off x="5815965" y="4541520"/>
            <a:ext cx="5842635" cy="1545908"/>
            <a:chOff x="5815965" y="4541520"/>
            <a:chExt cx="5842635" cy="1545908"/>
          </a:xfrm>
        </p:grpSpPr>
        <p:sp>
          <p:nvSpPr>
            <p:cNvPr id="45" name="Rectangle 45"/>
            <p:cNvSpPr/>
            <p:nvPr/>
          </p:nvSpPr>
          <p:spPr>
            <a:xfrm>
              <a:off x="5815965" y="4541520"/>
              <a:ext cx="5842635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25490" y="467487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57900" y="47453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48108" y="47810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50661" y="5118259"/>
              <a:ext cx="514515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77% 和上表并排，容易读成疏忽加不一致加二义性等于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77%，而这三项合计只有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49%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。77% 指的是内容性（非笔误类）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需求错误占全部需求错误的比例，上表是它们按类型的细分。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49321" cy="909257"/>
            <a:chOff x="520446" y="342900"/>
            <a:chExt cx="76493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493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事实 5 与四点结论：需求错误查得出来，也值得查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table-1"/>
          <p:cNvGrpSpPr/>
          <p:nvPr/>
        </p:nvGrpSpPr>
        <p:grpSpPr>
          <a:xfrm>
            <a:off x="528066" y="1524000"/>
            <a:ext cx="5415534" cy="2826639"/>
            <a:chOff x="528066" y="1524000"/>
            <a:chExt cx="5415534" cy="282663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14450" y="16525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发现错误的方法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019550" y="165258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发现错误的比例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889" y="2076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248025" y="1958340"/>
              <a:ext cx="2686050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435526" y="2076450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65%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33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5889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单元测试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35526" y="250126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29260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集成测试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79950" y="2926080"/>
              <a:ext cx="222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216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322135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889" y="33499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演进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79950" y="3349942"/>
              <a:ext cx="222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6%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6414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77475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35526" y="3774757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5410200" cy="25469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233738" y="152400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8066" y="4145280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人工检查是最有效的一种手段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4489132"/>
            <a:ext cx="5410200" cy="1840230"/>
            <a:chOff x="533400" y="4489132"/>
            <a:chExt cx="5410200" cy="1840230"/>
          </a:xfrm>
        </p:grpSpPr>
        <p:sp>
          <p:nvSpPr>
            <p:cNvPr id="31" name="Rectangle 31"/>
            <p:cNvSpPr/>
            <p:nvPr/>
          </p:nvSpPr>
          <p:spPr>
            <a:xfrm>
              <a:off x="533400" y="4489132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42925" y="4622482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9620" y="468725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53059" y="472154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两条佐证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77240" y="51082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33831" y="5047774"/>
              <a:ext cx="448691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Basili 和 Weiss：在 A-7E 的软件定义文档中，33% 的需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求错误是通过人工检查出来的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77240" y="569785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3831" y="5637371"/>
              <a:ext cx="447789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Celko：利用自动分析工具，能够从 SRS 中检查出相当数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量的错误</a:t>
              </a:r>
            </a:p>
          </p:txBody>
        </p:sp>
      </p:grpSp>
      <p:grpSp>
        <p:nvGrpSpPr>
          <p:cNvPr id="53" name="c2-bullets-1"/>
          <p:cNvGrpSpPr/>
          <p:nvPr/>
        </p:nvGrpSpPr>
        <p:grpSpPr>
          <a:xfrm>
            <a:off x="6241161" y="1547336"/>
            <a:ext cx="5062947" cy="1595057"/>
            <a:chOff x="6241161" y="1547336"/>
            <a:chExt cx="5062947" cy="1595057"/>
          </a:xfrm>
        </p:grpSpPr>
        <p:sp>
          <p:nvSpPr>
            <p:cNvPr id="40" name="TextBox 40"/>
            <p:cNvSpPr txBox="1"/>
            <p:nvPr/>
          </p:nvSpPr>
          <p:spPr>
            <a:xfrm>
              <a:off x="6241161" y="1547336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由五个事实得到的四点结论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248400" y="187071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6745" y="19110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39294" y="188356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在需求过程中会产生很多错误（事实 3 和事实 4）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248400" y="219741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06745" y="223775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39294" y="2210276"/>
              <a:ext cx="34266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许多错误并没有在早期被发现（事实 2）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248400" y="252412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06745" y="256446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39294" y="2536984"/>
              <a:ext cx="47648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这样的错误是能够在产生的初期被检查出来的（事实 5）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248400" y="285083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06745" y="28911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39294" y="2863691"/>
              <a:ext cx="47648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如果没有及时检查出来，软件费用会直线上升（事实 1）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3266122"/>
            <a:ext cx="5410200" cy="503872"/>
            <a:chOff x="6248400" y="3266122"/>
            <a:chExt cx="5410200" cy="503872"/>
          </a:xfrm>
        </p:grpSpPr>
        <p:sp>
          <p:nvSpPr>
            <p:cNvPr id="54" name="Rectangle 54"/>
            <p:cNvSpPr/>
            <p:nvPr/>
          </p:nvSpPr>
          <p:spPr>
            <a:xfrm>
              <a:off x="6248400" y="3266122"/>
              <a:ext cx="5410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53188" y="3417572"/>
              <a:ext cx="200023" cy="200023"/>
              <a:chOff x="6453188" y="3417572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453188" y="341757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86538" y="34842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511" y="3418046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需求过程不仅是可能的，而且也是值得的。</a:t>
              </a:r>
            </a:p>
          </p:txBody>
        </p:sp>
      </p:grpSp>
      <p:grpSp>
        <p:nvGrpSpPr>
          <p:cNvPr id="68" name="c2-card-3"/>
          <p:cNvGrpSpPr/>
          <p:nvPr/>
        </p:nvGrpSpPr>
        <p:grpSpPr>
          <a:xfrm>
            <a:off x="6248400" y="3950018"/>
            <a:ext cx="5410200" cy="2379345"/>
            <a:chOff x="6248400" y="3950018"/>
            <a:chExt cx="5410200" cy="2379345"/>
          </a:xfrm>
        </p:grpSpPr>
        <p:sp>
          <p:nvSpPr>
            <p:cNvPr id="60" name="Rectangle 60"/>
            <p:cNvSpPr/>
            <p:nvPr/>
          </p:nvSpPr>
          <p:spPr>
            <a:xfrm>
              <a:off x="6248400" y="3950018"/>
              <a:ext cx="5410200" cy="2379345"/>
            </a:xfrm>
            <a:prstGeom prst="roundRect">
              <a:avLst>
                <a:gd name="adj" fmla="val 56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57925" y="4083368"/>
              <a:ext cx="47625" cy="211264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84620" y="4148138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64058" y="41824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落到做法上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492240" y="456914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648831" y="450865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需求评审安排在需求规格说明书定稿之前，参加人要包括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真正的使用者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492240" y="515778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648831" y="509825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评审时逐条问：这条需求怎样验收，谁来验收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四个典型的坏需求，以及它们坏在哪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3771900"/>
            <a:chOff x="533400" y="1524000"/>
            <a:chExt cx="11125200" cy="3771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8768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953578" y="166306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课件给出的需求语句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442710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毛病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46689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改写思路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28409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发现任何不友好并且带有未知任务的或者有可能在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五分钟之内飞入空中禁区的飞行物时要拉响警报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13045" y="2150745"/>
              <a:ext cx="24917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二义性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：并且与或者的结合次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序没交代；不友好、未知任务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没有判定标准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04835" y="2284095"/>
              <a:ext cx="3063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用编号分条或加括号写清与或关系，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再给出每个条件的判定依据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279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03276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317182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关于选择计划的全部约束是：如果没有选择最优计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划也不提供证据，客户应该选择默认的基本计划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13045" y="3171825"/>
              <a:ext cx="2491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双重否定加条件，读者难以判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断到底什么情况下选默认计划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04835" y="3171825"/>
              <a:ext cx="3063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用判定表把是否最优、是否提供证据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四种组合逐一写出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823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40595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系统能够对用户的身份进行快速验证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13045" y="392620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不可检验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：快速没有量化标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准，验收时无法判定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3926205"/>
              <a:ext cx="31775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95% 的验证请求在 1 秒内返回结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果这类可度量的指标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5367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54152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4680585"/>
              <a:ext cx="4206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列车车门在两个停靠站之间要保持关闭；列车发生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紧急停车时，要打开车门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313045" y="4680585"/>
              <a:ext cx="2491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不一致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：在两站之间紧急停车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时，两条需求互相矛盾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04835" y="4680585"/>
              <a:ext cx="3063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补充优先级，或者把冲突场景单独写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成一条需求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11125200" cy="37719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201602" y="1524000"/>
              <a:ext cx="9525" cy="37719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093392" y="1524000"/>
              <a:ext cx="9525" cy="37719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728335"/>
              <a:ext cx="992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需求错误的四种典型毛病是疏忽、不一致、二义性和不正确的事实。写完一条需求后先问一句怎样验收它，多数毛病会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当场暴露。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任务一：确定对系统的综合要求（八个方面）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11125200" cy="4001453"/>
            <a:chOff x="533400" y="1524000"/>
            <a:chExt cx="11125200" cy="400145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481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68768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017770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56408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举例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功能需求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80194" y="209645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系统必须完成的功能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0274" y="209645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按学号查询本学期全部课程成绩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08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1363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5412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性能需求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194" y="254127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速度、响应时间、吞吐量、存储容量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0274" y="2541270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查询响应时间不超过 2 秒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527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298608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可靠性和可用性需求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194" y="298608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平均无故障时间、可用率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0274" y="2986088"/>
              <a:ext cx="20582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全年可用率不低于 99.9%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9755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02318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2270" y="343090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出错处理需求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80194" y="343090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系统对自身运行时错误的检测与响应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0274" y="343090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数据库连接失败时回滚并给出提示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423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2270" y="38747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接口需求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0194" y="387477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用户接口、硬件接口、软件接口、通信接口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0274" y="387477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与一卡通系统之间的数据交换格式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871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191952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2270" y="43195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0194" y="43195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精度、工具和语言、设计约束、标准、硬件平台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30274" y="4319588"/>
              <a:ext cx="30740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必须用 Java 开发并部署在指定服务器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6320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2270" y="476440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逆向需求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0194" y="476440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说明软件不应该做什么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30274" y="476440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系统不保存用户口令的明文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075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08063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2270" y="5209223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将来可能提出的要求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080194" y="5209223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为可能的扩充预留设计余地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30274" y="5209223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将来可能增加移动端入口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40014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976562" y="1524000"/>
              <a:ext cx="9525" cy="40014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26642" y="1524000"/>
              <a:ext cx="9525" cy="40014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0" name="Rectangle 5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892" y="6023610"/>
              <a:ext cx="7101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出错处理需求指的是系统对自身错误的响应；用户操作不当时怎样提示，属于功能需求。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需求分析的任务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任务二到任务四：数据要求、逻辑模型与开发计划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ree-1"/>
          <p:cNvGrpSpPr/>
          <p:nvPr/>
        </p:nvGrpSpPr>
        <p:grpSpPr>
          <a:xfrm>
            <a:off x="533400" y="1821180"/>
            <a:ext cx="5193982" cy="4349115"/>
            <a:chOff x="533400" y="1821180"/>
            <a:chExt cx="5193982" cy="4349115"/>
          </a:xfrm>
        </p:grpSpPr>
        <p:sp>
          <p:nvSpPr>
            <p:cNvPr id="7" name="Freeform 7"/>
            <p:cNvSpPr/>
            <p:nvPr/>
          </p:nvSpPr>
          <p:spPr>
            <a:xfrm>
              <a:off x="4278630" y="200787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278630" y="2975610"/>
              <a:ext cx="419100" cy="967740"/>
            </a:xfrm>
            <a:custGeom>
              <a:avLst/>
              <a:gdLst/>
              <a:ahLst/>
              <a:cxnLst/>
              <a:rect l="l" t="t" r="r" b="b"/>
              <a:pathLst>
                <a:path w="419100" h="967740">
                  <a:moveTo>
                    <a:pt x="0" y="967740"/>
                  </a:moveTo>
                  <a:lnTo>
                    <a:pt x="209550" y="96774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4278630" y="39433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278630" y="3943350"/>
              <a:ext cx="419100" cy="967740"/>
            </a:xfrm>
            <a:custGeom>
              <a:avLst/>
              <a:gdLst/>
              <a:ahLst/>
              <a:cxnLst/>
              <a:rect l="l" t="t" r="r" b="b"/>
              <a:pathLst>
                <a:path w="419100" h="967740">
                  <a:moveTo>
                    <a:pt x="0" y="0"/>
                  </a:moveTo>
                  <a:lnTo>
                    <a:pt x="209550" y="0"/>
                  </a:lnTo>
                  <a:lnTo>
                    <a:pt x="209550" y="967740"/>
                  </a:lnTo>
                  <a:lnTo>
                    <a:pt x="419100" y="96774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278630" y="587883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196465" y="2007870"/>
              <a:ext cx="419100" cy="1935480"/>
            </a:xfrm>
            <a:custGeom>
              <a:avLst/>
              <a:gdLst/>
              <a:ahLst/>
              <a:cxnLst/>
              <a:rect l="l" t="t" r="r" b="b"/>
              <a:pathLst>
                <a:path w="419100" h="1935480">
                  <a:moveTo>
                    <a:pt x="0" y="1935480"/>
                  </a:moveTo>
                  <a:lnTo>
                    <a:pt x="209550" y="193548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196465" y="394335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196465" y="3943350"/>
              <a:ext cx="419100" cy="1935480"/>
            </a:xfrm>
            <a:custGeom>
              <a:avLst/>
              <a:gdLst/>
              <a:ahLst/>
              <a:cxnLst/>
              <a:rect l="l" t="t" r="r" b="b"/>
              <a:pathLst>
                <a:path w="419100" h="1935480">
                  <a:moveTo>
                    <a:pt x="0" y="0"/>
                  </a:moveTo>
                  <a:lnTo>
                    <a:pt x="209550" y="0"/>
                  </a:lnTo>
                  <a:lnTo>
                    <a:pt x="209550" y="1935480"/>
                  </a:lnTo>
                  <a:lnTo>
                    <a:pt x="419100" y="193548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697730" y="1821180"/>
              <a:ext cx="102965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15565" y="1821180"/>
              <a:ext cx="166306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97730" y="2788920"/>
              <a:ext cx="102965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697730" y="3651885"/>
              <a:ext cx="102965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697730" y="4619625"/>
              <a:ext cx="102965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15565" y="3651885"/>
              <a:ext cx="1663065" cy="582930"/>
            </a:xfrm>
            <a:prstGeom prst="roundRect">
              <a:avLst>
                <a:gd name="adj" fmla="val 1634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697730" y="5587365"/>
              <a:ext cx="1029652" cy="582930"/>
            </a:xfrm>
            <a:prstGeom prst="roundRect">
              <a:avLst>
                <a:gd name="adj" fmla="val 1634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15565" y="5692140"/>
              <a:ext cx="166306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651885"/>
              <a:ext cx="1663065" cy="582930"/>
            </a:xfrm>
            <a:prstGeom prst="roundRect">
              <a:avLst>
                <a:gd name="adj" fmla="val 1634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786503" y="1918811"/>
              <a:ext cx="4401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 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04338" y="191881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建立数据模型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786503" y="28865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786503" y="3749516"/>
              <a:ext cx="66319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层次方框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86503" y="4716304"/>
              <a:ext cx="630682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Warnier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04338" y="3748564"/>
              <a:ext cx="131343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复杂数据结构的描</a:t>
              </a:r>
              <a:br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786503" y="5684044"/>
              <a:ext cx="66319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数据规范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04338" y="57897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数据库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2173" y="3749516"/>
              <a:ext cx="131343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分析系统的数据要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032182" y="1524000"/>
            <a:ext cx="5626418" cy="1866900"/>
            <a:chOff x="6032182" y="1524000"/>
            <a:chExt cx="5626418" cy="1866900"/>
          </a:xfrm>
        </p:grpSpPr>
        <p:sp>
          <p:nvSpPr>
            <p:cNvPr id="34" name="Rectangle 34"/>
            <p:cNvSpPr/>
            <p:nvPr/>
          </p:nvSpPr>
          <p:spPr>
            <a:xfrm>
              <a:off x="6032182" y="1524000"/>
              <a:ext cx="5626418" cy="1866900"/>
            </a:xfrm>
            <a:prstGeom prst="roundRect">
              <a:avLst>
                <a:gd name="adj" fmla="val 714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1732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27991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任务三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84683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导出系统的逻辑模型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34112" y="2129790"/>
              <a:ext cx="4692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软件系统详细的逻辑模型，通常用数据流图、实体-联系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图、状态转换图、数据字典和主要的处理算法描述。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35256" y="2747486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逻辑模型只说明系统做什么以及数据怎样流动，不说明用什么技术实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现。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032182" y="3581400"/>
            <a:ext cx="5626418" cy="1621155"/>
            <a:chOff x="6032182" y="3581400"/>
            <a:chExt cx="5626418" cy="1621155"/>
          </a:xfrm>
        </p:grpSpPr>
        <p:sp>
          <p:nvSpPr>
            <p:cNvPr id="41" name="Rectangle 41"/>
            <p:cNvSpPr/>
            <p:nvPr/>
          </p:nvSpPr>
          <p:spPr>
            <a:xfrm>
              <a:off x="6032182" y="3581400"/>
              <a:ext cx="562641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41708" y="37147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79832" y="37909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66091" y="38266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任务四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22783" y="38261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修正系统的开发计划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72212" y="418719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经过需求分析，对系统的规模和复杂程度有了更准确的认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识，可以比较准确地估计系统的成本和进度，修正以前（可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行性研究阶段）制定的开发计划。</a:t>
              </a:r>
            </a:p>
          </p:txBody>
        </p:sp>
      </p:grpSp>
      <p:grpSp>
        <p:nvGrpSpPr>
          <p:cNvPr id="54" name="c2-callout-3"/>
          <p:cNvGrpSpPr/>
          <p:nvPr/>
        </p:nvGrpSpPr>
        <p:grpSpPr>
          <a:xfrm>
            <a:off x="6032182" y="5393055"/>
            <a:ext cx="5626418" cy="782955"/>
            <a:chOff x="6032182" y="5393055"/>
            <a:chExt cx="5626418" cy="782955"/>
          </a:xfrm>
        </p:grpSpPr>
        <p:sp>
          <p:nvSpPr>
            <p:cNvPr id="48" name="Rectangle 48"/>
            <p:cNvSpPr/>
            <p:nvPr/>
          </p:nvSpPr>
          <p:spPr>
            <a:xfrm>
              <a:off x="6032182" y="539305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236970" y="5684520"/>
              <a:ext cx="200026" cy="200025"/>
              <a:chOff x="6236970" y="5684520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236970" y="568452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276709" y="572897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311424" y="584009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538912" y="554164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数据字典给出每个数据流、数据项和数据存储的精确定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义，是这几张图之间保持一致的依据。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52160" cy="3351847"/>
            <a:chOff x="667512" y="1835468"/>
            <a:chExt cx="585216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85216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与用户沟通获取需求的方法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四条路子：问、顺着数据流推、开会、做原型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访谈与情景分析技术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面向数据流自顶向下求精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简易的应用规格说明技术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快速建立软件原型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与用户沟通获取需求的方法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访谈：正式、非正式、调查表与情景分析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977765" cy="2888932"/>
            <a:chOff x="533400" y="1524000"/>
            <a:chExt cx="4977765" cy="28889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888932"/>
            </a:xfrm>
            <a:prstGeom prst="roundRect">
              <a:avLst>
                <a:gd name="adj" fmla="val 4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222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四种形式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正式访谈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：事先拟好提纲，按条提问，适合确认已经比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较明确的需求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68890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63271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非正式访谈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：提出开放性问题，鼓励用户说出自己的想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24897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19278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分发调查表：用户人数多而且分散时效率高，问题必须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问得具体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8080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375189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情景分析技术：把用户将来怎样用系统解决某个具体问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题演示一遍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4587240"/>
            <a:ext cx="4977765" cy="906780"/>
            <a:chOff x="533400" y="4587240"/>
            <a:chExt cx="4977765" cy="906780"/>
          </a:xfrm>
        </p:grpSpPr>
        <p:sp>
          <p:nvSpPr>
            <p:cNvPr id="20" name="Rectangle 20"/>
            <p:cNvSpPr/>
            <p:nvPr/>
          </p:nvSpPr>
          <p:spPr>
            <a:xfrm>
              <a:off x="533400" y="4587240"/>
              <a:ext cx="4977765" cy="906780"/>
            </a:xfrm>
            <a:prstGeom prst="roundRect">
              <a:avLst>
                <a:gd name="adj" fmla="val 1260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4940618"/>
              <a:ext cx="200026" cy="200026"/>
              <a:chOff x="738188" y="4940618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9406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50072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27088" y="50406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892" y="4822508"/>
              <a:ext cx="39570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调查表的问题要能用一句话答出来，避免出现请谈谈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您的想法这类没法统计的题目。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5815965" y="1524000"/>
            <a:ext cx="5842635" cy="1511618"/>
            <a:chOff x="5815965" y="1524000"/>
            <a:chExt cx="5842635" cy="1511618"/>
          </a:xfrm>
        </p:grpSpPr>
        <p:sp>
          <p:nvSpPr>
            <p:cNvPr id="27" name="Rectangle 27"/>
            <p:cNvSpPr/>
            <p:nvPr/>
          </p:nvSpPr>
          <p:spPr>
            <a:xfrm>
              <a:off x="5815965" y="1524000"/>
              <a:ext cx="5842635" cy="1511618"/>
            </a:xfrm>
            <a:prstGeom prst="roundRect">
              <a:avLst>
                <a:gd name="adj" fmla="val 88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825490" y="1657350"/>
              <a:ext cx="47625" cy="124491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046470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29909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情景分析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039612" y="207264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对用户将来使用目标系统解决某个具体问题的方法和结果进行分析。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055042" y="24317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11062" y="237553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演示目标系统的行为，便于用户理解，还可能揭示出分析员还不知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道的需求；也能让用户在需求分析中始终主动参与</a:t>
              </a:r>
            </a:p>
          </p:txBody>
        </p:sp>
      </p:grpSp>
      <p:grpSp>
        <p:nvGrpSpPr>
          <p:cNvPr id="52" name="c2-steps-2"/>
          <p:cNvGrpSpPr/>
          <p:nvPr/>
        </p:nvGrpSpPr>
        <p:grpSpPr>
          <a:xfrm>
            <a:off x="5815965" y="3220402"/>
            <a:ext cx="4043401" cy="2280762"/>
            <a:chOff x="5815965" y="3220402"/>
            <a:chExt cx="4043401" cy="2280762"/>
          </a:xfrm>
        </p:grpSpPr>
        <p:sp>
          <p:nvSpPr>
            <p:cNvPr id="35" name="Rectangle 35"/>
            <p:cNvSpPr/>
            <p:nvPr/>
          </p:nvSpPr>
          <p:spPr>
            <a:xfrm>
              <a:off x="5949315" y="3363278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5815965" y="322040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09589" y="32942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815965" y="380714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09589" y="38809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815965" y="439483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09589" y="44686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15965" y="498157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09589" y="50553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8207" y="32527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触发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9350" y="351996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学生打开成绩查询页面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28207" y="383952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29350" y="410670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输入学号与验证码后提交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28207" y="4426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正常结果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29350" y="469344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页面列出本学期全部课程的成绩与绩点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28207" y="501300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异常分支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29350" y="5281136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学号不存在时提示重新输入；连续五次失败锁定十分钟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3" name="Rectangle 5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892" y="6023610"/>
              <a:ext cx="91005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情景要写到每一步屏幕上出现什么这一层，用户才能判断对不对；异常分支往往比正常流程更能暴露遗漏的需求。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与用户沟通获取需求的方法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面向数据流自顶向下求精：画一层、复查一层、再细化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graph-1"/>
          <p:cNvGrpSpPr/>
          <p:nvPr/>
        </p:nvGrpSpPr>
        <p:grpSpPr>
          <a:xfrm>
            <a:off x="1381125" y="1760220"/>
            <a:ext cx="4215765" cy="3586163"/>
            <a:chOff x="1381125" y="1760220"/>
            <a:chExt cx="4215765" cy="3586163"/>
          </a:xfrm>
        </p:grpSpPr>
        <p:sp>
          <p:nvSpPr>
            <p:cNvPr id="7" name="Freeform 7"/>
            <p:cNvSpPr/>
            <p:nvPr/>
          </p:nvSpPr>
          <p:spPr>
            <a:xfrm>
              <a:off x="2333625" y="2060258"/>
              <a:ext cx="9525" cy="764858"/>
            </a:xfrm>
            <a:custGeom>
              <a:avLst/>
              <a:gdLst/>
              <a:ahLst/>
              <a:cxnLst/>
              <a:rect l="l" t="t" r="r" b="b"/>
              <a:pathLst>
                <a:path w="9525" h="764858">
                  <a:moveTo>
                    <a:pt x="0" y="0"/>
                  </a:moveTo>
                  <a:lnTo>
                    <a:pt x="0" y="7648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286000" y="28251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33625" y="3220402"/>
              <a:ext cx="9525" cy="763905"/>
            </a:xfrm>
            <a:custGeom>
              <a:avLst/>
              <a:gdLst/>
              <a:ahLst/>
              <a:cxnLst/>
              <a:rect l="l" t="t" r="r" b="b"/>
              <a:pathLst>
                <a:path w="9525" h="763905">
                  <a:moveTo>
                    <a:pt x="0" y="0"/>
                  </a:moveTo>
                  <a:lnTo>
                    <a:pt x="0" y="7639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286000" y="39843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33625" y="4379595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286000" y="49510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295650" y="1952625"/>
              <a:ext cx="1176338" cy="1117282"/>
            </a:xfrm>
            <a:custGeom>
              <a:avLst/>
              <a:gdLst/>
              <a:ahLst/>
              <a:cxnLst/>
              <a:rect l="l" t="t" r="r" b="b"/>
              <a:pathLst>
                <a:path w="1176338" h="1117282">
                  <a:moveTo>
                    <a:pt x="0" y="1117282"/>
                  </a:moveTo>
                  <a:lnTo>
                    <a:pt x="1176338" y="537210"/>
                  </a:lnTo>
                  <a:lnTo>
                    <a:pt x="857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95650" y="1909762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0" y="952"/>
                  </a:moveTo>
                  <a:lnTo>
                    <a:pt x="106680" y="0"/>
                  </a:lnTo>
                  <a:lnTo>
                    <a:pt x="64770" y="8572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295650" y="1953578"/>
              <a:ext cx="2301240" cy="2276475"/>
            </a:xfrm>
            <a:custGeom>
              <a:avLst/>
              <a:gdLst/>
              <a:ahLst/>
              <a:cxnLst/>
              <a:rect l="l" t="t" r="r" b="b"/>
              <a:pathLst>
                <a:path w="2301240" h="2276475">
                  <a:moveTo>
                    <a:pt x="0" y="2276475"/>
                  </a:moveTo>
                  <a:lnTo>
                    <a:pt x="2301240" y="1116330"/>
                  </a:lnTo>
                  <a:lnTo>
                    <a:pt x="857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295650" y="1910715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0" y="0"/>
                  </a:moveTo>
                  <a:lnTo>
                    <a:pt x="106680" y="0"/>
                  </a:lnTo>
                  <a:lnTo>
                    <a:pt x="63817" y="8477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381125" y="1760220"/>
              <a:ext cx="1905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381125" y="2920365"/>
              <a:ext cx="1905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381125" y="4079558"/>
              <a:ext cx="19050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381125" y="5046345"/>
              <a:ext cx="1905000" cy="300038"/>
            </a:xfrm>
            <a:prstGeom prst="roundRect">
              <a:avLst>
                <a:gd name="adj" fmla="val 3174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724812" y="184070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分析追踪数据流图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26361" y="29998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用户复查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75587" y="41600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细化数据流图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875587" y="512587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得到逻辑模型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009775" y="3564255"/>
              <a:ext cx="6477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025968" y="3596640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无补充修正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066925" y="462724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086546" y="465867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不需分解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560445" y="2694622"/>
              <a:ext cx="6477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576638" y="272605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有补充修正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179570" y="356425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199192" y="359664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需要分解</a:t>
              </a:r>
            </a:p>
          </p:txBody>
        </p:sp>
      </p:grpSp>
      <p:grpSp>
        <p:nvGrpSpPr>
          <p:cNvPr id="39" name="c1-callout-2"/>
          <p:cNvGrpSpPr/>
          <p:nvPr/>
        </p:nvGrpSpPr>
        <p:grpSpPr>
          <a:xfrm>
            <a:off x="533400" y="5579745"/>
            <a:ext cx="5626418" cy="782955"/>
            <a:chOff x="533400" y="5579745"/>
            <a:chExt cx="5626418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557974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72833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两个循环的出口条件不同：一个看用户还有没有补充修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正，一个看加工还需不需要分解。</a:t>
              </a:r>
            </a:p>
          </p:txBody>
        </p:sp>
      </p:grpSp>
      <p:grpSp>
        <p:nvGrpSpPr>
          <p:cNvPr id="57" name="c2-card-1"/>
          <p:cNvGrpSpPr/>
          <p:nvPr/>
        </p:nvGrpSpPr>
        <p:grpSpPr>
          <a:xfrm>
            <a:off x="6464618" y="1524000"/>
            <a:ext cx="5193982" cy="3800475"/>
            <a:chOff x="6464618" y="1524000"/>
            <a:chExt cx="5193982" cy="3800475"/>
          </a:xfrm>
        </p:grpSpPr>
        <p:sp>
          <p:nvSpPr>
            <p:cNvPr id="40" name="Rectangle 40"/>
            <p:cNvSpPr/>
            <p:nvPr/>
          </p:nvSpPr>
          <p:spPr>
            <a:xfrm>
              <a:off x="6464618" y="1524000"/>
              <a:ext cx="5193982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04648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从数据在系统中怎样流动、每一步被怎样加工入手，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先画出顶层数据流图，再一层层细化。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712267" y="27184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74117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13258" y="273177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分析追踪数据流图：跟着数据流走一遍，标出每个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加工的输入和输出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712267" y="33394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74117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13258" y="335280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用户复查：请用户确认；用户提出补充修正就回到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712267" y="39604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74117" y="40027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13258" y="397383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细化数据流图：把复杂的加工分解成下一层数据流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图，回到第 1 步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712267" y="458152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74117" y="46238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013258" y="459486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直到每个加工都不需要再分解，得到系统的逻辑模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6464618" y="5514975"/>
            <a:ext cx="5193982" cy="782955"/>
            <a:chOff x="6464618" y="5514975"/>
            <a:chExt cx="5193982" cy="782955"/>
          </a:xfrm>
        </p:grpSpPr>
        <p:sp>
          <p:nvSpPr>
            <p:cNvPr id="58" name="Rectangle 58"/>
            <p:cNvSpPr/>
            <p:nvPr/>
          </p:nvSpPr>
          <p:spPr>
            <a:xfrm>
              <a:off x="6464618" y="551497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6669405" y="5806440"/>
              <a:ext cx="200026" cy="200025"/>
              <a:chOff x="6669405" y="5806440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669405" y="58064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709144" y="58508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743859" y="59620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6971348" y="566356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每分解一层，父图与子图的输入输出数据流必须一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致，这一条在第 4 章称为父图与子图的平衡。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与用户沟通获取需求的方法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简易的应用规格说明技术：把用户和开发者放在一张桌子上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1323320" cy="293370"/>
            <a:chOff x="525780" y="1548765"/>
            <a:chExt cx="1132332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1323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一种面向团队的需求收集法，提倡用户与开发者密切合作，共同标识问题、提出解决方案要素、商讨不同方案并指定基本需求。</a:t>
              </a:r>
            </a:p>
          </p:txBody>
        </p:sp>
      </p:grpSp>
      <p:grpSp>
        <p:nvGrpSpPr>
          <p:cNvPr id="30" name="c1-steps-1"/>
          <p:cNvGrpSpPr/>
          <p:nvPr/>
        </p:nvGrpSpPr>
        <p:grpSpPr>
          <a:xfrm>
            <a:off x="533400" y="1964055"/>
            <a:ext cx="5271516" cy="3252216"/>
            <a:chOff x="533400" y="1964055"/>
            <a:chExt cx="5271516" cy="3252216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27041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58508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6589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20611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2799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4717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1209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66820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7420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19969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初步访谈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2277428"/>
              <a:ext cx="48585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通过用户对基本问题的回答，初步确定待解决问题的范围和解决方案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261794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各写产品需求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2898457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开发者和用户分别写出产品需求，然后组织会议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261" y="323897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会议前准备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404" y="3519488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每位与会者会前几天列出对象、服务、约束条件（成本、规模、完成日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期）和性能标准（速度、容量）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261" y="40809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展示与讨论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404" y="4361498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会上每人把准备好的列表展示出来，讨论是否需要这个新产品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261" y="470106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创建组合列表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404" y="4981575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针对某个议题把各人的列表合并成一张组合列表</a:t>
              </a:r>
            </a:p>
          </p:txBody>
        </p:sp>
      </p:grpSp>
      <p:grpSp>
        <p:nvGrpSpPr>
          <p:cNvPr id="48" name="c2-steps-1"/>
          <p:cNvGrpSpPr/>
          <p:nvPr/>
        </p:nvGrpSpPr>
        <p:grpSpPr>
          <a:xfrm>
            <a:off x="6248400" y="1964055"/>
            <a:ext cx="5433060" cy="2853119"/>
            <a:chOff x="6248400" y="1964055"/>
            <a:chExt cx="5433060" cy="2853119"/>
          </a:xfrm>
        </p:grpSpPr>
        <p:sp>
          <p:nvSpPr>
            <p:cNvPr id="31" name="Rectangle 31"/>
            <p:cNvSpPr/>
            <p:nvPr/>
          </p:nvSpPr>
          <p:spPr>
            <a:xfrm>
              <a:off x="6381750" y="2106930"/>
              <a:ext cx="19050" cy="23040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6248400" y="196405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2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248400" y="280606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42024" y="28798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248400" y="342709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42024" y="35009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248400" y="426815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42024" y="4341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0261" y="199691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形成一致列表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1404" y="2277428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由协调人主持讨论，对象、服务、约束、性能四个议题各形成一张意见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一致的列表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60261" y="283892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分组细化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61404" y="3119438"/>
              <a:ext cx="5020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与会者分成更小的小组，为每张列表中的项目制定小型规格说明并讨论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60261" y="345995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制定确认标准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61404" y="3740468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每位与会者制定一整套产品确认标准，提交会议讨论，形成一致的确认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60261" y="4301966"/>
              <a:ext cx="8103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起草 SRS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61404" y="4582478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由一名或多名与会者根据会议成果起草完整的软件需求规格说明书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9" name="Rectangle 4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511" y="6004084"/>
              <a:ext cx="86166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四个议题始终是对象、服务、约束和性能；会议的产物是一致的列表、小型规格说明和一套确认标准。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12610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5455" y="407194"/>
              <a:ext cx="3041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与用户沟通获取需求的方法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快速建立软件原型：让用户先看见，再说要不要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291715"/>
            <a:chOff x="533400" y="1524000"/>
            <a:chExt cx="5410200" cy="2291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快速原型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快速原型就是快速建立起来的、旨在演示目标系统主要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功能的可运行的程序。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应具备的特性：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快速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容易修改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8610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构建和修改原型的方法与工具：第四代技术、可重用的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软件构件、形式化规格说明和原型环境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006215"/>
            <a:ext cx="5410200" cy="782955"/>
            <a:chOff x="533400" y="4006215"/>
            <a:chExt cx="5410200" cy="782955"/>
          </a:xfrm>
        </p:grpSpPr>
        <p:sp>
          <p:nvSpPr>
            <p:cNvPr id="18" name="Rectangle 18"/>
            <p:cNvSpPr/>
            <p:nvPr/>
          </p:nvSpPr>
          <p:spPr>
            <a:xfrm>
              <a:off x="533400" y="400621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297680"/>
              <a:ext cx="200026" cy="200025"/>
              <a:chOff x="738188" y="4297680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2976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43421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44532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415480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原型的目的是让用户看见需求，所以可以牺牲效率和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健壮性，但界面和主要功能要接近真实。</a:t>
              </a:r>
            </a:p>
          </p:txBody>
        </p:sp>
      </p:grpSp>
      <p:grpSp>
        <p:nvGrpSpPr>
          <p:cNvPr id="31" name="c1-callout-3"/>
          <p:cNvGrpSpPr/>
          <p:nvPr/>
        </p:nvGrpSpPr>
        <p:grpSpPr>
          <a:xfrm>
            <a:off x="533400" y="4979670"/>
            <a:ext cx="5410200" cy="876300"/>
            <a:chOff x="533400" y="4979670"/>
            <a:chExt cx="5410200" cy="876300"/>
          </a:xfrm>
        </p:grpSpPr>
        <p:sp>
          <p:nvSpPr>
            <p:cNvPr id="25" name="Rectangle 25"/>
            <p:cNvSpPr/>
            <p:nvPr/>
          </p:nvSpPr>
          <p:spPr>
            <a:xfrm>
              <a:off x="533400" y="4979670"/>
              <a:ext cx="5410200" cy="876300"/>
            </a:xfrm>
            <a:prstGeom prst="roundRect">
              <a:avLst>
                <a:gd name="adj" fmla="val 1304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26129" y="5314116"/>
              <a:ext cx="224134" cy="192560"/>
              <a:chOff x="726129" y="5314116"/>
              <a:chExt cx="224134" cy="19256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838200" y="53844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26129" y="53141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4622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17493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原型用完就该丢掉或重写。把演示用的代码直接当成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产品代码，是常见的翻车方式。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248400" y="1524000"/>
            <a:ext cx="5410200" cy="3442335"/>
            <a:chOff x="6248400" y="1524000"/>
            <a:chExt cx="5410200" cy="3442335"/>
          </a:xfrm>
        </p:grpSpPr>
        <p:sp>
          <p:nvSpPr>
            <p:cNvPr id="32" name="Rectangle 32"/>
            <p:cNvSpPr/>
            <p:nvPr/>
          </p:nvSpPr>
          <p:spPr>
            <a:xfrm>
              <a:off x="6248400" y="1524000"/>
              <a:ext cx="5410200" cy="3442335"/>
            </a:xfrm>
            <a:prstGeom prst="roundRect">
              <a:avLst>
                <a:gd name="adj" fmla="val 38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1657350"/>
              <a:ext cx="47625" cy="31756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96050" y="1733550"/>
              <a:ext cx="501015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84303" y="1769269"/>
              <a:ext cx="3245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Tips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103745" y="1768792"/>
              <a:ext cx="15964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四代语言（4GL）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8430" y="2129790"/>
              <a:ext cx="4720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R. Ross 于 1981 年提出，在大型数据库管理程序基础上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发展起来的程序设计语言。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275082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独立于具体的处理机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501765" y="31489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59880" y="308610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面向结果的非过程式语言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501765" y="34842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59880" y="342138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有丰富的软件工具的支持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01765" y="38195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59880" y="375666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能统一利用和管理各种资源，适应不同水平用户的需要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89573" y="4088606"/>
              <a:ext cx="4751578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以 4GL 为核心的软件开发技术称为四代技术（4GT）。支持 4GT 的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工具有数据库查询语言、报表生成器、图表生成器、人机交互的屏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幕设计与代码生成系统等。</a:t>
              </a:r>
            </a:p>
          </p:txBody>
        </p:sp>
      </p:grpSp>
      <p:grpSp>
        <p:nvGrpSpPr>
          <p:cNvPr id="53" name="c2-kv-2"/>
          <p:cNvGrpSpPr/>
          <p:nvPr/>
        </p:nvGrpSpPr>
        <p:grpSpPr>
          <a:xfrm>
            <a:off x="6240780" y="5181600"/>
            <a:ext cx="5417820" cy="733425"/>
            <a:chOff x="6240780" y="5181600"/>
            <a:chExt cx="5417820" cy="733425"/>
          </a:xfrm>
        </p:grpSpPr>
        <p:sp>
          <p:nvSpPr>
            <p:cNvPr id="48" name="TextBox 48"/>
            <p:cNvSpPr txBox="1"/>
            <p:nvPr/>
          </p:nvSpPr>
          <p:spPr>
            <a:xfrm>
              <a:off x="6240780" y="51816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非过程式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79055" y="51816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只写要什么结果，不写一步步怎么算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55016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0780" y="56216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今天的对应物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79055" y="5621655"/>
              <a:ext cx="26311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SQL、低代码平台、报表工具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71033" cy="2997517"/>
            <a:chOff x="667512" y="1835468"/>
            <a:chExt cx="537103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分析建模与规格说明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611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模型是无歧义的书面描述，SRS 是需求阶段的正式产品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模型由符号和规则组成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软件需求规格说明描述哪些内容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40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SRS 的章节结构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分析建模与规格说明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模型是为了理解事物而做的抽象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066925"/>
            <a:chOff x="533400" y="1524000"/>
            <a:chExt cx="5410200" cy="20669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66925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0022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模型就是为了理解事物而对事物做出的一种抽象，是对事物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的一种无歧义的书面描述。通常，模型由一组图形符号和组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织这些符号的规则组成。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9239" y="2978468"/>
              <a:ext cx="4584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所以看一张图先看两件事：每种符号代表什么，符号之间怎样连才合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26" name="c1-kv-2"/>
          <p:cNvGrpSpPr/>
          <p:nvPr/>
        </p:nvGrpSpPr>
        <p:grpSpPr>
          <a:xfrm>
            <a:off x="526161" y="3799999"/>
            <a:ext cx="5417439" cy="1543622"/>
            <a:chOff x="526161" y="3799999"/>
            <a:chExt cx="5417439" cy="1543622"/>
          </a:xfrm>
        </p:grpSpPr>
        <p:sp>
          <p:nvSpPr>
            <p:cNvPr id="15" name="TextBox 15"/>
            <p:cNvSpPr txBox="1"/>
            <p:nvPr/>
          </p:nvSpPr>
          <p:spPr>
            <a:xfrm>
              <a:off x="526161" y="379999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数据流图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12976" y="379999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圆代表加工，箭头代表数据流，方框代表外部实体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1052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161" y="4221956"/>
              <a:ext cx="5025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ER 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12976" y="422195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矩形代表实体，菱形代表联系，椭圆代表属性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5272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161" y="464296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状态转换图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12976" y="464296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圆角框代表状态，箭头代表转换，箭头上写事件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949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6161" y="5064919"/>
              <a:ext cx="6085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IPO 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12976" y="5064919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三栏从左到右依次是输入、处理、输出</a:t>
              </a:r>
            </a:p>
          </p:txBody>
        </p:sp>
      </p:grpSp>
      <p:grpSp>
        <p:nvGrpSpPr>
          <p:cNvPr id="43" name="c2-card-1"/>
          <p:cNvGrpSpPr/>
          <p:nvPr/>
        </p:nvGrpSpPr>
        <p:grpSpPr>
          <a:xfrm>
            <a:off x="6248400" y="1524000"/>
            <a:ext cx="5410200" cy="2622232"/>
            <a:chOff x="6248400" y="1524000"/>
            <a:chExt cx="5410200" cy="2622232"/>
          </a:xfrm>
        </p:grpSpPr>
        <p:sp>
          <p:nvSpPr>
            <p:cNvPr id="27" name="Rectangle 27"/>
            <p:cNvSpPr/>
            <p:nvPr/>
          </p:nvSpPr>
          <p:spPr>
            <a:xfrm>
              <a:off x="6248400" y="1524000"/>
              <a:ext cx="5410200" cy="2622232"/>
            </a:xfrm>
            <a:prstGeom prst="roundRect">
              <a:avLst>
                <a:gd name="adj" fmla="val 50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57925" y="1657350"/>
              <a:ext cx="47625" cy="23555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90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80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91744" y="1767364"/>
              <a:ext cx="22760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软件需求规格说明（SRS）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83096" y="2119789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通常用自然语言完整、准确、具体地描述系统的各项要求。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497955" y="249936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654546" y="243982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数据要求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497955" y="281940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54546" y="275986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功能需求、性能需求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497955" y="313944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4546" y="307990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可靠性和可用性要求、出错处理需求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97955" y="345948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4546" y="339994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接口需求、约束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97955" y="377952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54546" y="371998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逆向需求、将来可能提出的要求</a:t>
              </a:r>
            </a:p>
          </p:txBody>
        </p:sp>
      </p:grpSp>
      <p:grpSp>
        <p:nvGrpSpPr>
          <p:cNvPr id="50" name="c2-callout-2"/>
          <p:cNvGrpSpPr/>
          <p:nvPr/>
        </p:nvGrpSpPr>
        <p:grpSpPr>
          <a:xfrm>
            <a:off x="6248400" y="4331018"/>
            <a:ext cx="5410200" cy="956310"/>
            <a:chOff x="6248400" y="4331018"/>
            <a:chExt cx="5410200" cy="956310"/>
          </a:xfrm>
        </p:grpSpPr>
        <p:sp>
          <p:nvSpPr>
            <p:cNvPr id="44" name="Rectangle 44"/>
            <p:cNvSpPr/>
            <p:nvPr/>
          </p:nvSpPr>
          <p:spPr>
            <a:xfrm>
              <a:off x="6248400" y="4331018"/>
              <a:ext cx="5410200" cy="956310"/>
            </a:xfrm>
            <a:prstGeom prst="roundRect">
              <a:avLst>
                <a:gd name="adj" fmla="val 1195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441129" y="4705468"/>
              <a:ext cx="224134" cy="192560"/>
              <a:chOff x="6441129" y="4705468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553200" y="47758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441129" y="47054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53200" y="4853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755511" y="4579144"/>
              <a:ext cx="4387723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自然语言天生有二义性，所以 SRS 必须配上图形模型和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数据字典，两者互相校核。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1" name="Rectangle 5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511" y="6004084"/>
              <a:ext cx="72901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SRS 是需求分析阶段的正式产品，评审通过后成为后续设计、编码和验收测试的依据。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12339" cy="909257"/>
            <a:chOff x="520446" y="342900"/>
            <a:chExt cx="271233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分析建模与规格说明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8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SRS 的章节结构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174512" cy="308039"/>
            <a:chOff x="525399" y="1550194"/>
            <a:chExt cx="817451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17451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SRS 是 Software Requirement Specification 的缩写，下面是课件给出的标准目录。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67865"/>
            <a:ext cx="3505200" cy="3158490"/>
            <a:chOff x="533400" y="1967865"/>
            <a:chExt cx="3505200" cy="315849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3505200" cy="3158490"/>
            </a:xfrm>
            <a:prstGeom prst="roundRect">
              <a:avLst>
                <a:gd name="adj" fmla="val 42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27853" y="221313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1 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15428" y="221265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2573655"/>
              <a:ext cx="24283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需求规格说明书的目的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330" y="290893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 软件产品的作用范围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5330" y="324421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定义、同义词与缩写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579495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 参考文献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3914775"/>
              <a:ext cx="2226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 需求规格说明书概览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4343400" y="1967865"/>
            <a:ext cx="3505200" cy="3158490"/>
            <a:chOff x="4343400" y="1967865"/>
            <a:chExt cx="3505200" cy="3158490"/>
          </a:xfrm>
        </p:grpSpPr>
        <p:sp>
          <p:nvSpPr>
            <p:cNvPr id="19" name="Rectangle 19"/>
            <p:cNvSpPr/>
            <p:nvPr/>
          </p:nvSpPr>
          <p:spPr>
            <a:xfrm>
              <a:off x="4343400" y="1967865"/>
              <a:ext cx="3505200" cy="3158490"/>
            </a:xfrm>
            <a:prstGeom prst="roundRect">
              <a:avLst>
                <a:gd name="adj" fmla="val 42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52950" y="217741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7853" y="221313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2 章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25428" y="221265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一般性描述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45330" y="25736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 产品与其环境之间的关系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45330" y="2908935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 产品功能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45330" y="3244215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 用户特征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45330" y="3579495"/>
              <a:ext cx="14186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 限制与约束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45330" y="3914775"/>
              <a:ext cx="1822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 假设与前提条件</a:t>
              </a:r>
            </a:p>
          </p:txBody>
        </p:sp>
      </p:grpSp>
      <p:grpSp>
        <p:nvGrpSpPr>
          <p:cNvPr id="38" name="c3-card-1"/>
          <p:cNvGrpSpPr/>
          <p:nvPr/>
        </p:nvGrpSpPr>
        <p:grpSpPr>
          <a:xfrm>
            <a:off x="8153400" y="1967865"/>
            <a:ext cx="3505200" cy="3158490"/>
            <a:chOff x="8153400" y="1967865"/>
            <a:chExt cx="3505200" cy="3158490"/>
          </a:xfrm>
        </p:grpSpPr>
        <p:sp>
          <p:nvSpPr>
            <p:cNvPr id="29" name="Rectangle 29"/>
            <p:cNvSpPr/>
            <p:nvPr/>
          </p:nvSpPr>
          <p:spPr>
            <a:xfrm>
              <a:off x="8153400" y="1967865"/>
              <a:ext cx="3505200" cy="3158490"/>
            </a:xfrm>
            <a:prstGeom prst="roundRect">
              <a:avLst>
                <a:gd name="adj" fmla="val 42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362950" y="217741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47853" y="221313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 3 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35428" y="221265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特殊需求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55330" y="2573655"/>
              <a:ext cx="1822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 功能或行为需求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56473" y="2904649"/>
              <a:ext cx="29390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每一条按引言、输入、处理过程描述、输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出四段写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55330" y="3439478"/>
              <a:ext cx="2863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 外部界面需求（用户界面、硬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件界面、软件界面）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55330" y="4060508"/>
              <a:ext cx="121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 性能需求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55330" y="4395788"/>
              <a:ext cx="2863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 设计约束（标准化约束、硬件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约束）</a:t>
              </a:r>
            </a:p>
          </p:txBody>
        </p:sp>
      </p:grpSp>
      <p:grpSp>
        <p:nvGrpSpPr>
          <p:cNvPr id="4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9" name="Rectangle 3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每条功能需求都写成引言、输入、处理过程描述、输出四段，验收时就能逐段对照。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469130" cy="3351847"/>
            <a:chOff x="667512" y="1835468"/>
            <a:chExt cx="446913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73961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实体-联系图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用数据对象、属性和联系描述用户眼里的数据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概念性数据模型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数据对象与属性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一对一、一对多、多对多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121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 图的画法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实体-联系图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概念性数据模型：按用户的观点看数据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483995"/>
            <a:chOff x="533400" y="1524000"/>
            <a:chExt cx="5626418" cy="14839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概念性数据模型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9857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概念性数据模型是一种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面向问题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的数据模型，是按照用户的观点对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数据建立的模型。它描述了从用户角度看到的数据，反映了用户的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现实环境，而且与在软件系统中的实现方法无关。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183255"/>
            <a:ext cx="5626418" cy="2509838"/>
            <a:chOff x="533400" y="3183255"/>
            <a:chExt cx="5626418" cy="2509838"/>
          </a:xfrm>
        </p:grpSpPr>
        <p:sp>
          <p:nvSpPr>
            <p:cNvPr id="14" name="Rectangle 14"/>
            <p:cNvSpPr/>
            <p:nvPr/>
          </p:nvSpPr>
          <p:spPr>
            <a:xfrm>
              <a:off x="533400" y="3183255"/>
              <a:ext cx="5626418" cy="2509838"/>
            </a:xfrm>
            <a:prstGeom prst="roundRect">
              <a:avLst>
                <a:gd name="adj" fmla="val 53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316605"/>
              <a:ext cx="47625" cy="224313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37566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5345" y="34099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47597" y="341566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047" y="3749040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数据对象是对软件必须理解的复合信息的抽象，是由一组属性来定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义的实体。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2478" y="436530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430911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数据对象彼此间是有关联的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66820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61200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数据对象只封装了数据，而没有封装施加于数据上的操作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8190" y="4910614"/>
              <a:ext cx="4989830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常见来源：外部实体（产生或使用信息的任何事物）、事物（报表）、行为（打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电话）、事件（响警报）、角色（教师、学生）、单位（会计科）、地点（仓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库）、结构（文件）。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6459284" y="1524000"/>
            <a:ext cx="5199316" cy="2102739"/>
            <a:chOff x="6459284" y="1524000"/>
            <a:chExt cx="5199316" cy="2102739"/>
          </a:xfrm>
        </p:grpSpPr>
        <p:sp>
          <p:nvSpPr>
            <p:cNvPr id="26" name="Rectangle 26"/>
            <p:cNvSpPr/>
            <p:nvPr/>
          </p:nvSpPr>
          <p:spPr>
            <a:xfrm>
              <a:off x="6464618" y="1524000"/>
              <a:ext cx="5193982" cy="60579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97967" y="1648301"/>
              <a:ext cx="1291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数据模型中的三种信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84741" y="17483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4630" y="22540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22920" y="225409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对软件必须理解的复合信息的抽象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25307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64618" y="2535555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4630" y="26598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22920" y="26598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定义数据对象的性质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293655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64630" y="30656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22920" y="306562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数据对象彼此间相互连接的方式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64618" y="1524000"/>
              <a:ext cx="5193982" cy="18230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018145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59284" y="3421380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三者相互关联，缺一不可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464618" y="3760470"/>
            <a:ext cx="5193982" cy="1932622"/>
            <a:chOff x="6464618" y="3760470"/>
            <a:chExt cx="5193982" cy="1932622"/>
          </a:xfrm>
        </p:grpSpPr>
        <p:sp>
          <p:nvSpPr>
            <p:cNvPr id="42" name="Rectangle 42"/>
            <p:cNvSpPr/>
            <p:nvPr/>
          </p:nvSpPr>
          <p:spPr>
            <a:xfrm>
              <a:off x="6464618" y="3760470"/>
              <a:ext cx="5193982" cy="1932622"/>
            </a:xfrm>
            <a:prstGeom prst="roundRect">
              <a:avLst>
                <a:gd name="adj" fmla="val 69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74142" y="3893820"/>
              <a:ext cx="47625" cy="166592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5122" y="39528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86562" y="39871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属性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88264" y="431006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应该根据对所要解决的问题的理解，来确定特定数据对象的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一组合适的属性。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89408" y="4865846"/>
              <a:ext cx="455599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例如对图书馆系统里的图书，书名、ISBN、馆藏位置是合适的属性，印刷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厂家通常不是。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9" name="Rectangle 4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3610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数据对象只有数据、没有操作，这是它与面向对象方法中的类最主要的区别。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实体-联系图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联系的三种类型，联系自己也可以有属性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4977765" cy="3729990"/>
            <a:chOff x="533400" y="1524000"/>
            <a:chExt cx="4977765" cy="3729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3729990"/>
            </a:xfrm>
            <a:prstGeom prst="roundRect">
              <a:avLst>
                <a:gd name="adj" fmla="val 35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46329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数据对象彼此之间相互连接的方式称为联系，可分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为三种类型。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139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一对一联系（1∶1）：一个班级只有一个班长，一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个班长只属于一个班级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347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71850"/>
              <a:ext cx="4139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一对多联系（1∶N）：一个教师教多门课程，一门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课程只由一个教师教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0557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992880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多对多联系（M∶N）：一个学生选多门课程，一门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课程有多个学生选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4573" y="4610576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联系也可能有属性。成绩既不属于学生，也不属于课程，它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属于学这个联系。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5444490"/>
            <a:ext cx="4977765" cy="782955"/>
            <a:chOff x="533400" y="5444490"/>
            <a:chExt cx="4977765" cy="782955"/>
          </a:xfrm>
        </p:grpSpPr>
        <p:sp>
          <p:nvSpPr>
            <p:cNvPr id="21" name="Rectangle 21"/>
            <p:cNvSpPr/>
            <p:nvPr/>
          </p:nvSpPr>
          <p:spPr>
            <a:xfrm>
              <a:off x="533400" y="544449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735955"/>
              <a:ext cx="200026" cy="200025"/>
              <a:chOff x="738188" y="5735955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7359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57804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58915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59308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判断联系类型的办法：分别从两端各取一个实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例，问对面最多能对应几个。</a:t>
              </a:r>
            </a:p>
          </p:txBody>
        </p:sp>
      </p:grpSp>
      <p:grpSp>
        <p:nvGrpSpPr>
          <p:cNvPr id="64" name="c2-flow-1"/>
          <p:cNvGrpSpPr/>
          <p:nvPr/>
        </p:nvGrpSpPr>
        <p:grpSpPr>
          <a:xfrm>
            <a:off x="5952172" y="2029778"/>
            <a:ext cx="5570221" cy="3827145"/>
            <a:chOff x="5952172" y="2029778"/>
            <a:chExt cx="5570221" cy="3827145"/>
          </a:xfrm>
        </p:grpSpPr>
        <p:sp>
          <p:nvSpPr>
            <p:cNvPr id="28" name="Freeform 28"/>
            <p:cNvSpPr/>
            <p:nvPr/>
          </p:nvSpPr>
          <p:spPr>
            <a:xfrm>
              <a:off x="7626668" y="2330768"/>
              <a:ext cx="273367" cy="9525"/>
            </a:xfrm>
            <a:custGeom>
              <a:avLst/>
              <a:gdLst/>
              <a:ahLst/>
              <a:cxnLst/>
              <a:rect l="l" t="t" r="r" b="b"/>
              <a:pathLst>
                <a:path w="273367" h="9525">
                  <a:moveTo>
                    <a:pt x="0" y="0"/>
                  </a:moveTo>
                  <a:lnTo>
                    <a:pt x="27336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574530" y="2330768"/>
              <a:ext cx="272415" cy="9525"/>
            </a:xfrm>
            <a:custGeom>
              <a:avLst/>
              <a:gdLst/>
              <a:ahLst/>
              <a:cxnLst/>
              <a:rect l="l" t="t" r="r" b="b"/>
              <a:pathLst>
                <a:path w="272415" h="9525">
                  <a:moveTo>
                    <a:pt x="0" y="0"/>
                  </a:moveTo>
                  <a:lnTo>
                    <a:pt x="27241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626668" y="3943350"/>
              <a:ext cx="273367" cy="9525"/>
            </a:xfrm>
            <a:custGeom>
              <a:avLst/>
              <a:gdLst/>
              <a:ahLst/>
              <a:cxnLst/>
              <a:rect l="l" t="t" r="r" b="b"/>
              <a:pathLst>
                <a:path w="273367" h="9525">
                  <a:moveTo>
                    <a:pt x="0" y="0"/>
                  </a:moveTo>
                  <a:lnTo>
                    <a:pt x="27336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574530" y="3943350"/>
              <a:ext cx="272415" cy="9525"/>
            </a:xfrm>
            <a:custGeom>
              <a:avLst/>
              <a:gdLst/>
              <a:ahLst/>
              <a:cxnLst/>
              <a:rect l="l" t="t" r="r" b="b"/>
              <a:pathLst>
                <a:path w="272415" h="9525">
                  <a:moveTo>
                    <a:pt x="0" y="0"/>
                  </a:moveTo>
                  <a:lnTo>
                    <a:pt x="27241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626668" y="5555932"/>
              <a:ext cx="273367" cy="9525"/>
            </a:xfrm>
            <a:custGeom>
              <a:avLst/>
              <a:gdLst/>
              <a:ahLst/>
              <a:cxnLst/>
              <a:rect l="l" t="t" r="r" b="b"/>
              <a:pathLst>
                <a:path w="273367" h="9525">
                  <a:moveTo>
                    <a:pt x="0" y="0"/>
                  </a:moveTo>
                  <a:lnTo>
                    <a:pt x="27336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574530" y="5555932"/>
              <a:ext cx="272415" cy="9525"/>
            </a:xfrm>
            <a:custGeom>
              <a:avLst/>
              <a:gdLst/>
              <a:ahLst/>
              <a:cxnLst/>
              <a:rect l="l" t="t" r="r" b="b"/>
              <a:pathLst>
                <a:path w="272415" h="9525">
                  <a:moveTo>
                    <a:pt x="0" y="0"/>
                  </a:moveTo>
                  <a:lnTo>
                    <a:pt x="27241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952172" y="2111692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900035" y="2029778"/>
              <a:ext cx="1674495" cy="601028"/>
            </a:xfrm>
            <a:custGeom>
              <a:avLst/>
              <a:gdLst/>
              <a:ahLst/>
              <a:cxnLst/>
              <a:rect l="l" t="t" r="r" b="b"/>
              <a:pathLst>
                <a:path w="1674495" h="601028">
                  <a:moveTo>
                    <a:pt x="837247" y="0"/>
                  </a:moveTo>
                  <a:lnTo>
                    <a:pt x="1674495" y="300990"/>
                  </a:lnTo>
                  <a:lnTo>
                    <a:pt x="837247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846945" y="2111692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952172" y="3724275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900035" y="3642360"/>
              <a:ext cx="1674495" cy="601980"/>
            </a:xfrm>
            <a:custGeom>
              <a:avLst/>
              <a:gdLst/>
              <a:ahLst/>
              <a:cxnLst/>
              <a:rect l="l" t="t" r="r" b="b"/>
              <a:pathLst>
                <a:path w="1674495" h="601980">
                  <a:moveTo>
                    <a:pt x="837247" y="0"/>
                  </a:moveTo>
                  <a:lnTo>
                    <a:pt x="1674495" y="300990"/>
                  </a:lnTo>
                  <a:lnTo>
                    <a:pt x="837247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46945" y="3724275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952172" y="5336858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900035" y="5255895"/>
              <a:ext cx="1674495" cy="601028"/>
            </a:xfrm>
            <a:custGeom>
              <a:avLst/>
              <a:gdLst/>
              <a:ahLst/>
              <a:cxnLst/>
              <a:rect l="l" t="t" r="r" b="b"/>
              <a:pathLst>
                <a:path w="1674495" h="601028">
                  <a:moveTo>
                    <a:pt x="837247" y="0"/>
                  </a:moveTo>
                  <a:lnTo>
                    <a:pt x="1674495" y="300038"/>
                  </a:lnTo>
                  <a:lnTo>
                    <a:pt x="837247" y="601028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846945" y="5336858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10629" y="22417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班级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58492" y="22417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506354" y="22417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班长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610629" y="38542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教师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644649" y="385429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506354" y="38542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10629" y="54668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644649" y="546687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506354" y="54668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679055" y="2114550"/>
              <a:ext cx="168592" cy="193358"/>
            </a:xfrm>
            <a:prstGeom prst="roundRect">
              <a:avLst>
                <a:gd name="adj" fmla="val 2259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718669" y="214122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626918" y="2114550"/>
              <a:ext cx="168592" cy="193358"/>
            </a:xfrm>
            <a:prstGeom prst="roundRect">
              <a:avLst>
                <a:gd name="adj" fmla="val 2259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666532" y="214122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679055" y="3727132"/>
              <a:ext cx="168592" cy="193358"/>
            </a:xfrm>
            <a:prstGeom prst="roundRect">
              <a:avLst>
                <a:gd name="adj" fmla="val 2259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718669" y="375380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626918" y="3727132"/>
              <a:ext cx="168592" cy="193358"/>
            </a:xfrm>
            <a:prstGeom prst="roundRect">
              <a:avLst>
                <a:gd name="adj" fmla="val 2259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664332" y="3753802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665720" y="5339715"/>
              <a:ext cx="19526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701534" y="5366385"/>
              <a:ext cx="1226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9626918" y="5339715"/>
              <a:ext cx="168592" cy="193358"/>
            </a:xfrm>
            <a:prstGeom prst="roundRect">
              <a:avLst>
                <a:gd name="adj" fmla="val 2259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64332" y="5366385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78467" cy="909257"/>
            <a:chOff x="520446" y="342900"/>
            <a:chExt cx="46784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实体-联系图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784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 图实例：教师、学生与课程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flow-1"/>
          <p:cNvGrpSpPr/>
          <p:nvPr/>
        </p:nvGrpSpPr>
        <p:grpSpPr>
          <a:xfrm>
            <a:off x="672465" y="1700212"/>
            <a:ext cx="5673091" cy="1901191"/>
            <a:chOff x="672465" y="1700212"/>
            <a:chExt cx="5673091" cy="1901191"/>
          </a:xfrm>
        </p:grpSpPr>
        <p:sp>
          <p:nvSpPr>
            <p:cNvPr id="7" name="Freeform 7"/>
            <p:cNvSpPr/>
            <p:nvPr/>
          </p:nvSpPr>
          <p:spPr>
            <a:xfrm>
              <a:off x="1524952" y="2099310"/>
              <a:ext cx="9525" cy="263842"/>
            </a:xfrm>
            <a:custGeom>
              <a:avLst/>
              <a:gdLst/>
              <a:ahLst/>
              <a:cxnLst/>
              <a:rect l="l" t="t" r="r" b="b"/>
              <a:pathLst>
                <a:path w="9525" h="263842">
                  <a:moveTo>
                    <a:pt x="0" y="0"/>
                  </a:moveTo>
                  <a:lnTo>
                    <a:pt x="0" y="2638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24952" y="2938462"/>
              <a:ext cx="1984057" cy="263842"/>
            </a:xfrm>
            <a:custGeom>
              <a:avLst/>
              <a:gdLst/>
              <a:ahLst/>
              <a:cxnLst/>
              <a:rect l="l" t="t" r="r" b="b"/>
              <a:pathLst>
                <a:path w="1984057" h="263842">
                  <a:moveTo>
                    <a:pt x="0" y="0"/>
                  </a:moveTo>
                  <a:lnTo>
                    <a:pt x="0" y="132397"/>
                  </a:lnTo>
                  <a:lnTo>
                    <a:pt x="1984057" y="132397"/>
                  </a:lnTo>
                  <a:lnTo>
                    <a:pt x="1984057" y="2638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493068" y="2099310"/>
              <a:ext cx="9525" cy="263842"/>
            </a:xfrm>
            <a:custGeom>
              <a:avLst/>
              <a:gdLst/>
              <a:ahLst/>
              <a:cxnLst/>
              <a:rect l="l" t="t" r="r" b="b"/>
              <a:pathLst>
                <a:path w="9525" h="263842">
                  <a:moveTo>
                    <a:pt x="0" y="0"/>
                  </a:moveTo>
                  <a:lnTo>
                    <a:pt x="0" y="2638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509010" y="2938462"/>
              <a:ext cx="1984058" cy="263842"/>
            </a:xfrm>
            <a:custGeom>
              <a:avLst/>
              <a:gdLst/>
              <a:ahLst/>
              <a:cxnLst/>
              <a:rect l="l" t="t" r="r" b="b"/>
              <a:pathLst>
                <a:path w="1984058" h="263842">
                  <a:moveTo>
                    <a:pt x="1984058" y="0"/>
                  </a:moveTo>
                  <a:lnTo>
                    <a:pt x="1984058" y="132397"/>
                  </a:lnTo>
                  <a:lnTo>
                    <a:pt x="0" y="132397"/>
                  </a:lnTo>
                  <a:lnTo>
                    <a:pt x="0" y="2638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493068" y="2938462"/>
              <a:ext cx="9525" cy="263842"/>
            </a:xfrm>
            <a:custGeom>
              <a:avLst/>
              <a:gdLst/>
              <a:ahLst/>
              <a:cxnLst/>
              <a:rect l="l" t="t" r="r" b="b"/>
              <a:pathLst>
                <a:path w="9525" h="263842">
                  <a:moveTo>
                    <a:pt x="0" y="0"/>
                  </a:moveTo>
                  <a:lnTo>
                    <a:pt x="0" y="2638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672465" y="1700212"/>
              <a:ext cx="170592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39628" y="1700212"/>
              <a:ext cx="170592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72465" y="2363152"/>
              <a:ext cx="1705928" cy="575310"/>
            </a:xfrm>
            <a:custGeom>
              <a:avLst/>
              <a:gdLst/>
              <a:ahLst/>
              <a:cxnLst/>
              <a:rect l="l" t="t" r="r" b="b"/>
              <a:pathLst>
                <a:path w="1705928" h="575310">
                  <a:moveTo>
                    <a:pt x="852488" y="0"/>
                  </a:moveTo>
                  <a:lnTo>
                    <a:pt x="1705928" y="287655"/>
                  </a:lnTo>
                  <a:lnTo>
                    <a:pt x="852488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639628" y="2363152"/>
              <a:ext cx="1705928" cy="575310"/>
            </a:xfrm>
            <a:custGeom>
              <a:avLst/>
              <a:gdLst/>
              <a:ahLst/>
              <a:cxnLst/>
              <a:rect l="l" t="t" r="r" b="b"/>
              <a:pathLst>
                <a:path w="1705928" h="575310">
                  <a:moveTo>
                    <a:pt x="853440" y="0"/>
                  </a:moveTo>
                  <a:lnTo>
                    <a:pt x="1705928" y="287655"/>
                  </a:lnTo>
                  <a:lnTo>
                    <a:pt x="853440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55570" y="3202305"/>
              <a:ext cx="170592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39628" y="3202305"/>
              <a:ext cx="1705928" cy="399098"/>
            </a:xfrm>
            <a:prstGeom prst="roundRect">
              <a:avLst>
                <a:gd name="adj" fmla="val 1909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68463" y="1820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336578" y="18207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43850" y="25722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11965" y="25722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52521" y="33237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36578" y="33237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成绩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553528" y="2145982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77149" y="2170271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435542" y="2864168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74171" y="2889409"/>
              <a:ext cx="865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521642" y="2145982"/>
              <a:ext cx="163830" cy="179070"/>
            </a:xfrm>
            <a:prstGeom prst="roundRect">
              <a:avLst>
                <a:gd name="adj" fmla="val 2325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45265" y="2170271"/>
              <a:ext cx="865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06265" y="2864168"/>
              <a:ext cx="188595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443336" y="2889409"/>
              <a:ext cx="1144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</p:grpSp>
      <p:grpSp>
        <p:nvGrpSpPr>
          <p:cNvPr id="39" name="c1-card-2"/>
          <p:cNvGrpSpPr/>
          <p:nvPr/>
        </p:nvGrpSpPr>
        <p:grpSpPr>
          <a:xfrm>
            <a:off x="533400" y="3952875"/>
            <a:ext cx="5951220" cy="1680210"/>
            <a:chOff x="533400" y="3952875"/>
            <a:chExt cx="5951220" cy="1680210"/>
          </a:xfrm>
        </p:grpSpPr>
        <p:sp>
          <p:nvSpPr>
            <p:cNvPr id="33" name="Rectangle 33"/>
            <p:cNvSpPr/>
            <p:nvPr/>
          </p:nvSpPr>
          <p:spPr>
            <a:xfrm>
              <a:off x="533400" y="3952875"/>
              <a:ext cx="5951220" cy="1680210"/>
            </a:xfrm>
            <a:prstGeom prst="roundRect">
              <a:avLst>
                <a:gd name="adj" fmla="val 7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4086225"/>
              <a:ext cx="47625" cy="14135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63905" y="414528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9343" y="41795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标识符与交流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7047" y="4501515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每个实体要选定一个或多个属性作标识符（关键字），本例是教工号、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学号和课程号。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8190" y="5057299"/>
              <a:ext cx="518896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ER 图只用实体、联系、属性三个概念，用户也看得懂，适合拿来和用户核对数据需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求。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6789420" y="1524000"/>
            <a:ext cx="4869180" cy="2028825"/>
            <a:chOff x="6789420" y="1524000"/>
            <a:chExt cx="4869180" cy="2028825"/>
          </a:xfrm>
        </p:grpSpPr>
        <p:sp>
          <p:nvSpPr>
            <p:cNvPr id="40" name="Rectangle 40"/>
            <p:cNvSpPr/>
            <p:nvPr/>
          </p:nvSpPr>
          <p:spPr>
            <a:xfrm>
              <a:off x="6789420" y="1524000"/>
              <a:ext cx="486918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137336" y="16483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实体或联系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9808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属性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89432" y="20540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50567" y="205406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教工号、姓名、性别、职称、职务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789420" y="233076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789420" y="233553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89432" y="24598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50567" y="245983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学号、姓名、性别、系、年级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789420" y="273653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889432" y="28655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50567" y="286559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课程号、课名、学时、学分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789420" y="31422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789420" y="3147060"/>
              <a:ext cx="486918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89432" y="3271361"/>
              <a:ext cx="63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联系"学"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350567" y="327136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成绩（挂在联系上）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789420" y="1524000"/>
              <a:ext cx="486918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8245792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c2-card-2"/>
          <p:cNvGrpSpPr/>
          <p:nvPr/>
        </p:nvGrpSpPr>
        <p:grpSpPr>
          <a:xfrm>
            <a:off x="6789420" y="3728085"/>
            <a:ext cx="4869180" cy="1905000"/>
            <a:chOff x="6789420" y="3728085"/>
            <a:chExt cx="4869180" cy="1905000"/>
          </a:xfrm>
        </p:grpSpPr>
        <p:sp>
          <p:nvSpPr>
            <p:cNvPr id="59" name="Rectangle 59"/>
            <p:cNvSpPr/>
            <p:nvPr/>
          </p:nvSpPr>
          <p:spPr>
            <a:xfrm>
              <a:off x="6789420" y="3728085"/>
              <a:ext cx="4869180" cy="1905000"/>
            </a:xfrm>
            <a:prstGeom prst="roundRect">
              <a:avLst>
                <a:gd name="adj" fmla="val 7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981825" y="392049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65264" y="395478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四种符号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990398" y="433292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146417" y="42767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矩形：数据对象（实体）；椭圆或圆角矩形：属性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990398" y="463581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146417" y="457962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菱形：联系，用直线连到参与联系的实体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990398" y="493776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146417" y="4881562"/>
              <a:ext cx="2962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直线旁标 1、N、M，表示联系的类型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976110" y="5181124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本页把属性列成表格，原课件画成圆角框挂在实体四周，信息相同。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0" name="Rectangle 7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892" y="602361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成绩由学生和课程共同决定，所以它属于联系学，把它放进学生表或者课程表都会说不通。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136392" cy="3351847"/>
            <a:chOff x="667512" y="1835468"/>
            <a:chExt cx="313639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数据规范化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用范式衡量消除数据冗余的程度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规范化要解决什么问题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第一范式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第二范式与四类异常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第三范式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数据规范化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规范化要解决的问题，以及第一范式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612582"/>
            <a:chOff x="533400" y="1524000"/>
            <a:chExt cx="5410200" cy="16125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目的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数据规范化的目的是减少数据冗余，避免出现插入异常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或删除异常，简化修改数据的过程。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728436"/>
              <a:ext cx="44069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通常用范式（normal forms）定义消除数据冗余的程度。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327082"/>
            <a:ext cx="5410200" cy="1335405"/>
            <a:chOff x="533400" y="3327082"/>
            <a:chExt cx="5410200" cy="1335405"/>
          </a:xfrm>
        </p:grpSpPr>
        <p:sp>
          <p:nvSpPr>
            <p:cNvPr id="14" name="Rectangle 14"/>
            <p:cNvSpPr/>
            <p:nvPr/>
          </p:nvSpPr>
          <p:spPr>
            <a:xfrm>
              <a:off x="533400" y="3327082"/>
              <a:ext cx="5410200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0432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536632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3359" y="35723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第一范式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665922" y="35718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1NF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3932872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每个属性值都必须是原子值，即仅仅是一个简单值而不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含内部结构。</a:t>
              </a:r>
            </a:p>
          </p:txBody>
        </p:sp>
      </p:grpSp>
      <p:grpSp>
        <p:nvGrpSpPr>
          <p:cNvPr id="23" name="c1-image-3"/>
          <p:cNvGrpSpPr/>
          <p:nvPr/>
        </p:nvGrpSpPr>
        <p:grpSpPr>
          <a:xfrm>
            <a:off x="533400" y="4852988"/>
            <a:ext cx="5410200" cy="1534954"/>
            <a:chOff x="533400" y="4852988"/>
            <a:chExt cx="5410200" cy="1534954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rcRect l="0" t="34965" r="0" b="34965"/>
            <a:stretch>
              <a:fillRect/>
            </a:stretch>
          </p:blipFill>
          <p:spPr>
            <a:xfrm>
              <a:off x="533400" y="4852988"/>
              <a:ext cx="5410200" cy="1220152"/>
            </a:xfrm>
            <a:prstGeom prst="roundRect">
              <a:avLst>
                <a:gd name="adj" fmla="val 10928"/>
              </a:avLst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1348105" y="6167914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左边一个大箱子什么都往里塞，右边按类分箱再互相关联</a:t>
              </a:r>
            </a:p>
          </p:txBody>
        </p:sp>
      </p:grpSp>
      <p:grpSp>
        <p:nvGrpSpPr>
          <p:cNvPr id="35" name="c2-table-1"/>
          <p:cNvGrpSpPr/>
          <p:nvPr/>
        </p:nvGrpSpPr>
        <p:grpSpPr>
          <a:xfrm>
            <a:off x="6242685" y="1524000"/>
            <a:ext cx="5415915" cy="1193007"/>
            <a:chOff x="6242685" y="1524000"/>
            <a:chExt cx="5415915" cy="1193007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1923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4527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3592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选修课程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56223" y="2108359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2023001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55483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李明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23273" y="210835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软件工程、数据库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42898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9310688" y="1524000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42685" y="2496979"/>
              <a:ext cx="29007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不符合 1NF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：选修课程这一格里放了两个值</a:t>
              </a:r>
            </a:p>
          </p:txBody>
        </p:sp>
      </p:grpSp>
      <p:grpSp>
        <p:nvGrpSpPr>
          <p:cNvPr id="52" name="c2-table-2"/>
          <p:cNvGrpSpPr/>
          <p:nvPr/>
        </p:nvGrpSpPr>
        <p:grpSpPr>
          <a:xfrm>
            <a:off x="6242685" y="2863215"/>
            <a:ext cx="5415915" cy="1642587"/>
            <a:chOff x="6242685" y="2863215"/>
            <a:chExt cx="5415915" cy="1642587"/>
          </a:xfrm>
        </p:grpSpPr>
        <p:sp>
          <p:nvSpPr>
            <p:cNvPr id="36" name="Rectangle 36"/>
            <p:cNvSpPr/>
            <p:nvPr/>
          </p:nvSpPr>
          <p:spPr>
            <a:xfrm>
              <a:off x="6248400" y="2863215"/>
              <a:ext cx="5410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27824" y="29989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学号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778519" y="29989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53091" y="29989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课程名称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56223" y="3447574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2023001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72653" y="34475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李明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856660" y="34475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软件工程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37566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48400" y="376142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56223" y="3896201"/>
              <a:ext cx="709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2023001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72653" y="38962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李明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56660" y="38962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2863215"/>
              <a:ext cx="5410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160068" y="28632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744075" y="28632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2685" y="4285774"/>
              <a:ext cx="32023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符合 1NF</a:t>
              </a: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：每个格子都是一个不可再分的简单值</a:t>
              </a:r>
            </a:p>
          </p:txBody>
        </p:sp>
      </p:grpSp>
      <p:grpSp>
        <p:nvGrpSpPr>
          <p:cNvPr id="59" name="c2-callout-3"/>
          <p:cNvGrpSpPr/>
          <p:nvPr/>
        </p:nvGrpSpPr>
        <p:grpSpPr>
          <a:xfrm>
            <a:off x="6248400" y="4652010"/>
            <a:ext cx="5410200" cy="1343978"/>
            <a:chOff x="6248400" y="4652010"/>
            <a:chExt cx="5410200" cy="1343978"/>
          </a:xfrm>
        </p:grpSpPr>
        <p:sp>
          <p:nvSpPr>
            <p:cNvPr id="53" name="Rectangle 53"/>
            <p:cNvSpPr/>
            <p:nvPr/>
          </p:nvSpPr>
          <p:spPr>
            <a:xfrm>
              <a:off x="6248400" y="4652010"/>
              <a:ext cx="5410200" cy="1343978"/>
            </a:xfrm>
            <a:prstGeom prst="roundRect">
              <a:avLst>
                <a:gd name="adj" fmla="val 850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53188" y="5224463"/>
              <a:ext cx="200026" cy="200025"/>
              <a:chOff x="6453188" y="5224463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53188" y="52244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492926" y="52689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27642" y="53800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130" y="5081588"/>
              <a:ext cx="4444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 1NF 只看一件事：表格里的每个格子是不是一个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简单值。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数据规范化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第二范式：非关键字属性必须由整个关键字决定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25583" cy="308039"/>
            <a:chOff x="525399" y="1550194"/>
            <a:chExt cx="1022558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2558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第二范式满足第一范式条件，而且每个非关键字属性都由整个关键字决定，而不是由关键字的一部分来决定。</a:t>
              </a:r>
            </a:p>
          </p:txBody>
        </p:sp>
      </p:grpSp>
      <p:grpSp>
        <p:nvGrpSpPr>
          <p:cNvPr id="22" name="c1-card-1"/>
          <p:cNvGrpSpPr/>
          <p:nvPr/>
        </p:nvGrpSpPr>
        <p:grpSpPr>
          <a:xfrm>
            <a:off x="533400" y="1967865"/>
            <a:ext cx="4977765" cy="3158490"/>
            <a:chOff x="533400" y="1967865"/>
            <a:chExt cx="4977765" cy="315849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977765" cy="3158490"/>
            </a:xfrm>
            <a:prstGeom prst="roundRect">
              <a:avLst>
                <a:gd name="adj" fmla="val 42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8917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选课关系表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072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SelectCourse(学号, 姓名, 年龄, 课程名称, 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绩, 学分)，关键字为 (学号, 课程名称)。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25755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194685"/>
              <a:ext cx="4082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完整依赖：(学号, 课程名称) → (姓名, 年龄, 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绩, 学分)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87858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815715"/>
              <a:ext cx="30931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部分依赖 1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：(课程名称) → (学分)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21386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150995"/>
              <a:ext cx="32647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部分依赖 2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：(学号) → (姓名, 年龄)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4573" y="4481989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组合关键字中的一部分就能决定某些非关键字，所以这张表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不满足 2NF。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5815965" y="1967865"/>
            <a:ext cx="5842635" cy="3150870"/>
            <a:chOff x="5815965" y="1967865"/>
            <a:chExt cx="5842635" cy="3150870"/>
          </a:xfrm>
        </p:grpSpPr>
        <p:sp>
          <p:nvSpPr>
            <p:cNvPr id="23" name="Rectangle 23"/>
            <p:cNvSpPr/>
            <p:nvPr/>
          </p:nvSpPr>
          <p:spPr>
            <a:xfrm>
              <a:off x="5815965" y="1967865"/>
              <a:ext cx="5842635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7915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684489" y="210264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在这张表上的表现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23788" y="26646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数据冗余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08711" y="2551271"/>
              <a:ext cx="41419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同一门课程由 n 个学生选修，学分就重复 n−1 次；同一个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学生选修 m 门课程，姓名和年龄就重复 m−1 次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815965" y="308705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815965" y="3091815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23788" y="33408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更新异常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08711" y="3227546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调整某门课程的学分，表中所有相关行的学分都要更新，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否则会出现同一门课程学分不同的情况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37623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23788" y="40162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插入异常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08711" y="3902869"/>
              <a:ext cx="3914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新开一门暂时没人选的课程，由于还没有学号这个关键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字，课程名称和学分无法录入数据库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815965" y="44376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815965" y="444246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23788" y="46915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删除异常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8711" y="4578191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一批学生完成选修后删除选修记录，课程名称和学分信息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也跟着被删除了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815965" y="1967865"/>
              <a:ext cx="5842635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096125" y="1967865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2" name="Rectangle 4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所有单关键字的数据库表都符合第二范式，因为不可能存在组合关键字。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数据规范化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把选课表拆成三张表，四类异常一起消失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flow-1"/>
          <p:cNvGrpSpPr/>
          <p:nvPr/>
        </p:nvGrpSpPr>
        <p:grpSpPr>
          <a:xfrm>
            <a:off x="666750" y="1804988"/>
            <a:ext cx="5359717" cy="1928812"/>
            <a:chOff x="666750" y="1804988"/>
            <a:chExt cx="5359717" cy="1928812"/>
          </a:xfrm>
        </p:grpSpPr>
        <p:sp>
          <p:nvSpPr>
            <p:cNvPr id="7" name="Freeform 7"/>
            <p:cNvSpPr/>
            <p:nvPr/>
          </p:nvSpPr>
          <p:spPr>
            <a:xfrm>
              <a:off x="1471612" y="2433638"/>
              <a:ext cx="1875472" cy="457200"/>
            </a:xfrm>
            <a:custGeom>
              <a:avLst/>
              <a:gdLst/>
              <a:ahLst/>
              <a:cxnLst/>
              <a:rect l="l" t="t" r="r" b="b"/>
              <a:pathLst>
                <a:path w="1875472" h="457200">
                  <a:moveTo>
                    <a:pt x="1875472" y="0"/>
                  </a:moveTo>
                  <a:lnTo>
                    <a:pt x="1875472" y="280988"/>
                  </a:lnTo>
                  <a:lnTo>
                    <a:pt x="0" y="280988"/>
                  </a:lnTo>
                  <a:lnTo>
                    <a:pt x="0" y="4572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419225" y="28908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347085" y="2433638"/>
              <a:ext cx="9525" cy="457200"/>
            </a:xfrm>
            <a:custGeom>
              <a:avLst/>
              <a:gdLst/>
              <a:ahLst/>
              <a:cxnLst/>
              <a:rect l="l" t="t" r="r" b="b"/>
              <a:pathLst>
                <a:path w="9525" h="457200">
                  <a:moveTo>
                    <a:pt x="0" y="0"/>
                  </a:moveTo>
                  <a:lnTo>
                    <a:pt x="0" y="4572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94698" y="28908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347085" y="2433638"/>
              <a:ext cx="1875472" cy="347662"/>
            </a:xfrm>
            <a:custGeom>
              <a:avLst/>
              <a:gdLst/>
              <a:ahLst/>
              <a:cxnLst/>
              <a:rect l="l" t="t" r="r" b="b"/>
              <a:pathLst>
                <a:path w="1875472" h="347662">
                  <a:moveTo>
                    <a:pt x="0" y="0"/>
                  </a:moveTo>
                  <a:lnTo>
                    <a:pt x="0" y="226695"/>
                  </a:lnTo>
                  <a:lnTo>
                    <a:pt x="1875472" y="226695"/>
                  </a:lnTo>
                  <a:lnTo>
                    <a:pt x="1875472" y="34766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70170" y="2781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27735" y="1804988"/>
              <a:ext cx="4838700" cy="629602"/>
            </a:xfrm>
            <a:prstGeom prst="roundRect">
              <a:avLst>
                <a:gd name="adj" fmla="val 1512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6750" y="2995612"/>
              <a:ext cx="16087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542222" y="2995612"/>
              <a:ext cx="16087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417695" y="2886075"/>
              <a:ext cx="1608772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377696" y="1920716"/>
              <a:ext cx="393877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SelectCourse(学号, 姓名, 年龄, 课程名称, 成绩, 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0239" y="3111341"/>
              <a:ext cx="114274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Student(学号,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姓名, 年龄)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783840" y="3111341"/>
              <a:ext cx="112649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Course(课程名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称, 学分)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55248" y="3002756"/>
              <a:ext cx="1134618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SelectCourse(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学号, 课程名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称, 成绩)</a:t>
              </a:r>
            </a:p>
          </p:txBody>
        </p:sp>
      </p:grpSp>
      <p:grpSp>
        <p:nvGrpSpPr>
          <p:cNvPr id="36" name="c1-table-2"/>
          <p:cNvGrpSpPr/>
          <p:nvPr/>
        </p:nvGrpSpPr>
        <p:grpSpPr>
          <a:xfrm>
            <a:off x="533400" y="4095750"/>
            <a:ext cx="5626418" cy="1795462"/>
            <a:chOff x="533400" y="4095750"/>
            <a:chExt cx="5626418" cy="1795462"/>
          </a:xfrm>
        </p:grpSpPr>
        <p:sp>
          <p:nvSpPr>
            <p:cNvPr id="22" name="Rectangle 22"/>
            <p:cNvSpPr/>
            <p:nvPr/>
          </p:nvSpPr>
          <p:spPr>
            <a:xfrm>
              <a:off x="533400" y="4095750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926323" y="42314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拆出的表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826165" y="42314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1223" y="4680109"/>
              <a:ext cx="22564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Student(学号, 姓名, 年龄)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29278" y="46801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9882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99300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5128736"/>
              <a:ext cx="20032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Course(课程名称, 学分)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129278" y="51287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课程名称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54378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5577364"/>
              <a:ext cx="30587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SelectCourse(学号, 课程名称, 成绩)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29278" y="5577364"/>
              <a:ext cx="1382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(学号, 课程名称)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095750"/>
              <a:ext cx="5626418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4016692" y="409575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2-bullets-1"/>
          <p:cNvGrpSpPr/>
          <p:nvPr/>
        </p:nvGrpSpPr>
        <p:grpSpPr>
          <a:xfrm>
            <a:off x="6456998" y="1548765"/>
            <a:ext cx="5061680" cy="1967865"/>
            <a:chOff x="6456998" y="1548765"/>
            <a:chExt cx="5061680" cy="1967865"/>
          </a:xfrm>
        </p:grpSpPr>
        <p:sp>
          <p:nvSpPr>
            <p:cNvPr id="37" name="TextBox 37"/>
            <p:cNvSpPr txBox="1"/>
            <p:nvPr/>
          </p:nvSpPr>
          <p:spPr>
            <a:xfrm>
              <a:off x="6456998" y="154876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逐条对照，四类异常都没有了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464618" y="193452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15125" y="1903095"/>
              <a:ext cx="40915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学分只在 Course 里存一份，不再重复 n−1 次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464618" y="2279332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5125" y="2247900"/>
              <a:ext cx="4758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修改学分只改 Course 中的一行，不会出现同一门课两个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学分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464618" y="290988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5125" y="2878455"/>
              <a:ext cx="46468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新开课程直接往 Course 插一行，不需要先有人选课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464618" y="325469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5125" y="3223260"/>
              <a:ext cx="48035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删除选修记录只动 SelectCourse，课程信息仍然保留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464618" y="3648075"/>
            <a:ext cx="5193982" cy="2607945"/>
            <a:chOff x="6464618" y="3648075"/>
            <a:chExt cx="5193982" cy="2607945"/>
          </a:xfrm>
        </p:grpSpPr>
        <p:sp>
          <p:nvSpPr>
            <p:cNvPr id="47" name="Rectangle 47"/>
            <p:cNvSpPr/>
            <p:nvPr/>
          </p:nvSpPr>
          <p:spPr>
            <a:xfrm>
              <a:off x="6464618" y="3648075"/>
              <a:ext cx="5193982" cy="2607945"/>
            </a:xfrm>
            <a:prstGeom prst="roundRect">
              <a:avLst>
                <a:gd name="adj" fmla="val 511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674168" y="385762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47624" y="38933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为什么这样拆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66548" y="423481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三张表都是单关键字，或者不含由关键字一部分决定的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非关键字，所以都满足 2NF。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679883" y="491871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837998" y="4855845"/>
              <a:ext cx="35760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把只由课程名称决定的学分挪进 Course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679883" y="525399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37998" y="5191125"/>
              <a:ext cx="38889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把只由学号决定的姓名、年龄挪进 Student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679883" y="55892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837998" y="5526405"/>
              <a:ext cx="4387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留在 SelectCourse 里的成绩，确实要由学号和课程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名称共同决定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数据规范化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第三范式：非主属性之间不许再有函数依赖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469734" cy="278702"/>
            <a:chOff x="526161" y="1547336"/>
            <a:chExt cx="746973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4697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第三范式符合第二范式的条件，非主属性相互独立，即任何非主属性间不存在函数依赖。</a:t>
              </a:r>
            </a:p>
          </p:txBody>
        </p:sp>
      </p:grpSp>
      <p:grpSp>
        <p:nvGrpSpPr>
          <p:cNvPr id="22" name="c1-card-1"/>
          <p:cNvGrpSpPr/>
          <p:nvPr/>
        </p:nvGrpSpPr>
        <p:grpSpPr>
          <a:xfrm>
            <a:off x="533400" y="1941195"/>
            <a:ext cx="5410200" cy="3722370"/>
            <a:chOff x="533400" y="1941195"/>
            <a:chExt cx="5410200" cy="372237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3722370"/>
            </a:xfrm>
            <a:prstGeom prst="roundRect">
              <a:avLst>
                <a:gd name="adj" fmla="val 35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34556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学生关系表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4114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Student(学号, 姓名, 年龄, 所在学院, 学院地点, 学院电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话)，关键字为单一关键字学号。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12420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068002"/>
              <a:ext cx="45117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(学号) → (姓名, 年龄, 所在学院, 学院地点, 学院电话)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42614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3369945"/>
              <a:ext cx="2205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单关键字，所以它满足 2NF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72478" y="37290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8497" y="3672840"/>
              <a:ext cx="4424267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但是存在 (所在学院) → (学院地点, 学院电话)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，非主属性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之间有函数依赖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8190" y="4228624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学号先决定所在学院，所在学院再决定学院地点和电话，这叫传递依赖。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41195"/>
            <a:ext cx="5410200" cy="1518285"/>
            <a:chOff x="6248400" y="1941195"/>
            <a:chExt cx="5410200" cy="1518285"/>
          </a:xfrm>
        </p:grpSpPr>
        <p:sp>
          <p:nvSpPr>
            <p:cNvPr id="23" name="Rectangle 23"/>
            <p:cNvSpPr/>
            <p:nvPr/>
          </p:nvSpPr>
          <p:spPr>
            <a:xfrm>
              <a:off x="6248400" y="1941195"/>
              <a:ext cx="5410200" cy="1518285"/>
            </a:xfrm>
            <a:prstGeom prst="roundRect">
              <a:avLst>
                <a:gd name="adj" fmla="val 87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2074545"/>
              <a:ext cx="47625" cy="12515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8905" y="2133600"/>
              <a:ext cx="20764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22339" y="2167890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分解（课件未给出，这里补上）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87478" y="25469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43497" y="2490788"/>
              <a:ext cx="3200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Student(学号, 姓名, 年龄, 所在学院)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87478" y="284892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43497" y="2792730"/>
              <a:ext cx="33179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College(学院名称, 学院地点, 学院电话)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73190" y="3092291"/>
              <a:ext cx="43811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两张表用学院名称关联。学院换了电话，只改 College 里的一行。</a:t>
              </a:r>
            </a:p>
          </p:txBody>
        </p:sp>
      </p:grpSp>
      <p:grpSp>
        <p:nvGrpSpPr>
          <p:cNvPr id="51" name="c2-table-2"/>
          <p:cNvGrpSpPr/>
          <p:nvPr/>
        </p:nvGrpSpPr>
        <p:grpSpPr>
          <a:xfrm>
            <a:off x="6248400" y="3634740"/>
            <a:ext cx="5410200" cy="2028825"/>
            <a:chOff x="6248400" y="3634740"/>
            <a:chExt cx="5410200" cy="2028825"/>
          </a:xfrm>
        </p:grpSpPr>
        <p:sp>
          <p:nvSpPr>
            <p:cNvPr id="33" name="Rectangle 33"/>
            <p:cNvSpPr/>
            <p:nvPr/>
          </p:nvSpPr>
          <p:spPr>
            <a:xfrm>
              <a:off x="6248400" y="3634740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3307" y="375904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不分解会出现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349181" y="37590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具体表现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48412" y="41648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冗余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55255" y="4164806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同一学院有 k 个学生，地点和电话就重复 k−1 次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44415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48400" y="444627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8412" y="457057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更新异常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55255" y="4570571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学院搬家要改 k 行，漏改就出现同一学院两个地点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48472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48412" y="49763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插入异常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55255" y="4976336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新成立的学院还没招生，地点和电话无处存放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52530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525780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8412" y="53821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删除异常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55255" y="5382101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某学院最后一名学生被删除，学院信息也没了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634740"/>
              <a:ext cx="541020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650480" y="363474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2" name="Rectangle 5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892" y="6023610"/>
              <a:ext cx="67599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2NF 消除非主属性对关键字的部分依赖，3NF 再消除非主属性对关键字的传递依赖。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数据规范化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三个范式放在一起看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1933575"/>
            <a:chOff x="533400" y="1524000"/>
            <a:chExt cx="11125200" cy="19335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22020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范式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36994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65189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消除的问题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99092" y="165544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判断时看什么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8746" y="2085022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1NF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51267" y="208502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每个属性值都是不可再分的原子值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533644" y="2085022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一格里放多个值或表中套表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426386" y="208502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格子里是不是一个简单值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793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84108"/>
              <a:ext cx="11125200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622232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2NF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51267" y="2515552"/>
              <a:ext cx="34030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1NF 基础上，每个非关键字属性都由整个关键字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33644" y="262223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非主属性对关键字的部分依赖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26386" y="2515552"/>
              <a:ext cx="2907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组合关键字的一部分能不能决定某个非关键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02323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746" y="3159442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3NF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51267" y="3159442"/>
              <a:ext cx="3627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2NF 基础上，任何非主属性之间不存在函数依赖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33644" y="315944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非主属性对关键字的传递依赖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426386" y="315944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有没有非关键字决定非关键字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11125200" cy="19335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641158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3535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316278" y="1524000"/>
              <a:ext cx="9525" cy="19335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1-compare-2"/>
          <p:cNvGrpSpPr/>
          <p:nvPr/>
        </p:nvGrpSpPr>
        <p:grpSpPr>
          <a:xfrm>
            <a:off x="533400" y="3643312"/>
            <a:ext cx="11125200" cy="2029778"/>
            <a:chOff x="533400" y="3643312"/>
            <a:chExt cx="11125200" cy="2029778"/>
          </a:xfrm>
        </p:grpSpPr>
        <p:sp>
          <p:nvSpPr>
            <p:cNvPr id="32" name="Rectangle 32"/>
            <p:cNvSpPr/>
            <p:nvPr/>
          </p:nvSpPr>
          <p:spPr>
            <a:xfrm>
              <a:off x="533400" y="3643312"/>
              <a:ext cx="5353050" cy="2029778"/>
            </a:xfrm>
            <a:prstGeom prst="roundRect">
              <a:avLst>
                <a:gd name="adj" fmla="val 65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3776662"/>
              <a:ext cx="47625" cy="176307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8096" y="387048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规范化程度高的好处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82955" y="426910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39546" y="420957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数据冗余少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82955" y="458914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9546" y="452961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插入删除更新异常少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82955" y="49091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39546" y="484965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修改数据的过程简单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305550" y="3643312"/>
              <a:ext cx="5353050" cy="2029778"/>
            </a:xfrm>
            <a:prstGeom prst="roundRect">
              <a:avLst>
                <a:gd name="adj" fmla="val 65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315075" y="3776662"/>
              <a:ext cx="47625" cy="176307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40246" y="387048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要付出的代价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555105" y="426910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1696" y="420957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表的数量增多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555105" y="458914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11696" y="452961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查询时要连接多张表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555105" y="49091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11696" y="484965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有时为了性能故意保留冗余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934075" y="449580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004415" y="459295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3" name="Rectangle 53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04084"/>
              <a:ext cx="58329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单关键字的表一定满足 2NF，判断这类表时直接查 3NF 的条件即可。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580638" cy="3351847"/>
            <a:chOff x="667512" y="1835468"/>
            <a:chExt cx="358063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状态转换图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用状态、事件和转换描述系统的行为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状态与事件的定义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状态图的符号与语法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电话系统的例子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状态图与状态迁移表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状态转换图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状态图的两个基本概念与符号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951220" cy="2071688"/>
            <a:chOff x="533400" y="1524000"/>
            <a:chExt cx="5951220" cy="20716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2071688"/>
            </a:xfrm>
            <a:prstGeom prst="roundRect">
              <a:avLst>
                <a:gd name="adj" fmla="val 64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0498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状态转换图（简称状态图）通过描绘系统的状态及引起系统状态转换的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事件，来表示系统的行为。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68890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63271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状态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：任何可被观察到的系统行为模式，规定系统对事件的响应方式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99180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935605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：在某个特定时刻发生的事情，是对引起系统做动作或状态转换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的外界事件的抽象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770948"/>
            <a:ext cx="5951220" cy="1821180"/>
            <a:chOff x="533400" y="3770948"/>
            <a:chExt cx="5951220" cy="1821180"/>
          </a:xfrm>
        </p:grpSpPr>
        <p:sp>
          <p:nvSpPr>
            <p:cNvPr id="17" name="Rectangle 17"/>
            <p:cNvSpPr/>
            <p:nvPr/>
          </p:nvSpPr>
          <p:spPr>
            <a:xfrm>
              <a:off x="533400" y="3770948"/>
              <a:ext cx="5951220" cy="1821180"/>
            </a:xfrm>
            <a:prstGeom prst="roundRect">
              <a:avLst>
                <a:gd name="adj" fmla="val 73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904298"/>
              <a:ext cx="47625" cy="15544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3905" y="396335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55345" y="399764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语法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72478" y="43757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8497" y="4319588"/>
              <a:ext cx="3039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活动表：事件名(参数表)/动作表达式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467868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4622482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事件表达式：事件说明［守卫条件］／动作表达式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49806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4924425"/>
              <a:ext cx="2212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事件说明：事件名(参数表)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8190" y="5223986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守卫条件是布尔表达式；事件发生且它为真时转换才发生。</a:t>
              </a:r>
            </a:p>
          </p:txBody>
        </p:sp>
      </p:grpSp>
      <p:grpSp>
        <p:nvGrpSpPr>
          <p:cNvPr id="49" name="c2-flow-1"/>
          <p:cNvGrpSpPr/>
          <p:nvPr/>
        </p:nvGrpSpPr>
        <p:grpSpPr>
          <a:xfrm>
            <a:off x="7130415" y="1651635"/>
            <a:ext cx="4187190" cy="2363153"/>
            <a:chOff x="7130415" y="1651635"/>
            <a:chExt cx="4187190" cy="2363153"/>
          </a:xfrm>
        </p:grpSpPr>
        <p:sp>
          <p:nvSpPr>
            <p:cNvPr id="29" name="Freeform 29"/>
            <p:cNvSpPr/>
            <p:nvPr/>
          </p:nvSpPr>
          <p:spPr>
            <a:xfrm>
              <a:off x="9224010" y="2050732"/>
              <a:ext cx="9525" cy="150495"/>
            </a:xfrm>
            <a:custGeom>
              <a:avLst/>
              <a:gdLst/>
              <a:ahLst/>
              <a:cxnLst/>
              <a:rect l="l" t="t" r="r" b="b"/>
              <a:pathLst>
                <a:path w="9525" h="150495">
                  <a:moveTo>
                    <a:pt x="0" y="0"/>
                  </a:moveTo>
                  <a:lnTo>
                    <a:pt x="0" y="150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171622" y="2201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224010" y="2705100"/>
              <a:ext cx="9525" cy="150495"/>
            </a:xfrm>
            <a:custGeom>
              <a:avLst/>
              <a:gdLst/>
              <a:ahLst/>
              <a:cxnLst/>
              <a:rect l="l" t="t" r="r" b="b"/>
              <a:pathLst>
                <a:path w="9525" h="150495">
                  <a:moveTo>
                    <a:pt x="0" y="0"/>
                  </a:moveTo>
                  <a:lnTo>
                    <a:pt x="0" y="150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171622" y="28555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9224010" y="3359468"/>
              <a:ext cx="9525" cy="151448"/>
            </a:xfrm>
            <a:custGeom>
              <a:avLst/>
              <a:gdLst/>
              <a:ahLst/>
              <a:cxnLst/>
              <a:rect l="l" t="t" r="r" b="b"/>
              <a:pathLst>
                <a:path w="9525" h="151448">
                  <a:moveTo>
                    <a:pt x="0" y="0"/>
                  </a:moveTo>
                  <a:lnTo>
                    <a:pt x="0" y="15144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171622" y="35109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130415" y="1651635"/>
              <a:ext cx="4187190" cy="399098"/>
            </a:xfrm>
            <a:prstGeom prst="roundRect">
              <a:avLst>
                <a:gd name="adj" fmla="val 4988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30415" y="2306002"/>
              <a:ext cx="418719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30415" y="2960370"/>
              <a:ext cx="418719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130415" y="3615690"/>
              <a:ext cx="4187190" cy="399098"/>
            </a:xfrm>
            <a:prstGeom prst="roundRect">
              <a:avLst>
                <a:gd name="adj" fmla="val 4988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521" y="17730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03441" y="2427446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003441" y="3081814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 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67521" y="37361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252585" y="2092642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76207" y="211788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初始事件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252585" y="2747010"/>
              <a:ext cx="71723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76207" y="27722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事件表达式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252585" y="3402330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76207" y="342661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结束事件</a:t>
              </a:r>
            </a:p>
          </p:txBody>
        </p:sp>
      </p:grpSp>
      <p:grpSp>
        <p:nvGrpSpPr>
          <p:cNvPr id="58" name="c2-kv-2"/>
          <p:cNvGrpSpPr/>
          <p:nvPr/>
        </p:nvGrpSpPr>
        <p:grpSpPr>
          <a:xfrm>
            <a:off x="6782562" y="4339590"/>
            <a:ext cx="4876038" cy="1059371"/>
            <a:chOff x="6782562" y="4339590"/>
            <a:chExt cx="4876038" cy="1059371"/>
          </a:xfrm>
        </p:grpSpPr>
        <p:sp>
          <p:nvSpPr>
            <p:cNvPr id="50" name="TextBox 50"/>
            <p:cNvSpPr txBox="1"/>
            <p:nvPr/>
          </p:nvSpPr>
          <p:spPr>
            <a:xfrm>
              <a:off x="6782562" y="43395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44587" y="433959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圆角框的第一栏，例如闲置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789420" y="46281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82562" y="473678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状态变量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44587" y="4736782"/>
              <a:ext cx="18492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第二栏，例如 timer=0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789420" y="502634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82562" y="513492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活动表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44587" y="5134928"/>
              <a:ext cx="21854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第三栏，例如 do/响拨号音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9" name="Rectangle 59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892" y="6023610"/>
              <a:ext cx="8373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活动表里 entry 表示进入状态时做的动作，exit 表示离开时做的动作，do 表示停留期间反复做的动作。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状态转换图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例一：电话系统的状态图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648194" cy="293370"/>
            <a:chOff x="525780" y="1548765"/>
            <a:chExt cx="7648194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6481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状态框下方的 do/… 是该状态持续期间要做的动作，箭头上的文字是引起转换的事件。</a:t>
              </a:r>
            </a:p>
          </p:txBody>
        </p:sp>
      </p:grpSp>
      <p:grpSp>
        <p:nvGrpSpPr>
          <p:cNvPr id="78" name="c1-graph-1"/>
          <p:cNvGrpSpPr/>
          <p:nvPr/>
        </p:nvGrpSpPr>
        <p:grpSpPr>
          <a:xfrm>
            <a:off x="1360170" y="2027872"/>
            <a:ext cx="9805035" cy="3386138"/>
            <a:chOff x="1360170" y="2027872"/>
            <a:chExt cx="9805035" cy="3386138"/>
          </a:xfrm>
        </p:grpSpPr>
        <p:sp>
          <p:nvSpPr>
            <p:cNvPr id="9" name="Freeform 9"/>
            <p:cNvSpPr/>
            <p:nvPr/>
          </p:nvSpPr>
          <p:spPr>
            <a:xfrm>
              <a:off x="5428298" y="2327910"/>
              <a:ext cx="9525" cy="384810"/>
            </a:xfrm>
            <a:custGeom>
              <a:avLst/>
              <a:gdLst/>
              <a:ahLst/>
              <a:cxnLst/>
              <a:rect l="l" t="t" r="r" b="b"/>
              <a:pathLst>
                <a:path w="9525" h="384810">
                  <a:moveTo>
                    <a:pt x="0" y="0"/>
                  </a:moveTo>
                  <a:lnTo>
                    <a:pt x="0" y="3848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380672" y="27127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5909310" y="2958465"/>
              <a:ext cx="3031808" cy="9525"/>
            </a:xfrm>
            <a:custGeom>
              <a:avLst/>
              <a:gdLst/>
              <a:ahLst/>
              <a:cxnLst/>
              <a:rect l="l" t="t" r="r" b="b"/>
              <a:pathLst>
                <a:path w="3031808" h="9525">
                  <a:moveTo>
                    <a:pt x="0" y="0"/>
                  </a:moveTo>
                  <a:lnTo>
                    <a:pt x="303180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941118" y="29108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428298" y="3108008"/>
              <a:ext cx="9525" cy="385762"/>
            </a:xfrm>
            <a:custGeom>
              <a:avLst/>
              <a:gdLst/>
              <a:ahLst/>
              <a:cxnLst/>
              <a:rect l="l" t="t" r="r" b="b"/>
              <a:pathLst>
                <a:path w="9525" h="385762">
                  <a:moveTo>
                    <a:pt x="0" y="0"/>
                  </a:moveTo>
                  <a:lnTo>
                    <a:pt x="0" y="3857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380672" y="34937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569142" y="3470910"/>
              <a:ext cx="461963" cy="536258"/>
            </a:xfrm>
            <a:custGeom>
              <a:avLst/>
              <a:gdLst/>
              <a:ahLst/>
              <a:cxnLst/>
              <a:rect l="l" t="t" r="r" b="b"/>
              <a:pathLst>
                <a:path w="461963" h="536258">
                  <a:moveTo>
                    <a:pt x="461963" y="200978"/>
                  </a:moveTo>
                  <a:cubicBezTo>
                    <a:pt x="0" y="0"/>
                    <a:pt x="0" y="536258"/>
                    <a:pt x="461963" y="336233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935855" y="3801428"/>
              <a:ext cx="95250" cy="79057"/>
            </a:xfrm>
            <a:custGeom>
              <a:avLst/>
              <a:gdLst/>
              <a:ahLst/>
              <a:cxnLst/>
              <a:rect l="l" t="t" r="r" b="b"/>
              <a:pathLst>
                <a:path w="95250" h="79057">
                  <a:moveTo>
                    <a:pt x="95250" y="5715"/>
                  </a:moveTo>
                  <a:lnTo>
                    <a:pt x="33338" y="790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825490" y="3739515"/>
              <a:ext cx="2921317" cy="9525"/>
            </a:xfrm>
            <a:custGeom>
              <a:avLst/>
              <a:gdLst/>
              <a:ahLst/>
              <a:cxnLst/>
              <a:rect l="l" t="t" r="r" b="b"/>
              <a:pathLst>
                <a:path w="2921317" h="9525">
                  <a:moveTo>
                    <a:pt x="0" y="0"/>
                  </a:moveTo>
                  <a:lnTo>
                    <a:pt x="292131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8746808" y="36918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428298" y="3889058"/>
              <a:ext cx="9525" cy="385762"/>
            </a:xfrm>
            <a:custGeom>
              <a:avLst/>
              <a:gdLst/>
              <a:ahLst/>
              <a:cxnLst/>
              <a:rect l="l" t="t" r="r" b="b"/>
              <a:pathLst>
                <a:path w="9525" h="385762">
                  <a:moveTo>
                    <a:pt x="0" y="0"/>
                  </a:moveTo>
                  <a:lnTo>
                    <a:pt x="0" y="38576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380672" y="42748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249805" y="4519612"/>
              <a:ext cx="2698432" cy="9525"/>
            </a:xfrm>
            <a:custGeom>
              <a:avLst/>
              <a:gdLst/>
              <a:ahLst/>
              <a:cxnLst/>
              <a:rect l="l" t="t" r="r" b="b"/>
              <a:pathLst>
                <a:path w="2698432" h="9525">
                  <a:moveTo>
                    <a:pt x="2698432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154555" y="447198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5428298" y="4670108"/>
              <a:ext cx="9525" cy="348615"/>
            </a:xfrm>
            <a:custGeom>
              <a:avLst/>
              <a:gdLst/>
              <a:ahLst/>
              <a:cxnLst/>
              <a:rect l="l" t="t" r="r" b="b"/>
              <a:pathLst>
                <a:path w="9525" h="348615">
                  <a:moveTo>
                    <a:pt x="0" y="0"/>
                  </a:moveTo>
                  <a:lnTo>
                    <a:pt x="0" y="34861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380672" y="501872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825490" y="5263515"/>
              <a:ext cx="2003107" cy="9525"/>
            </a:xfrm>
            <a:custGeom>
              <a:avLst/>
              <a:gdLst/>
              <a:ahLst/>
              <a:cxnLst/>
              <a:rect l="l" t="t" r="r" b="b"/>
              <a:pathLst>
                <a:path w="2003107" h="9525">
                  <a:moveTo>
                    <a:pt x="0" y="0"/>
                  </a:moveTo>
                  <a:lnTo>
                    <a:pt x="200310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828598" y="52158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8718232" y="5263515"/>
              <a:ext cx="1557338" cy="9525"/>
            </a:xfrm>
            <a:custGeom>
              <a:avLst/>
              <a:gdLst/>
              <a:ahLst/>
              <a:cxnLst/>
              <a:rect l="l" t="t" r="r" b="b"/>
              <a:pathLst>
                <a:path w="1557338" h="9525">
                  <a:moveTo>
                    <a:pt x="0" y="0"/>
                  </a:moveTo>
                  <a:lnTo>
                    <a:pt x="15573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10275570" y="52158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9565005" y="3889058"/>
              <a:ext cx="1009650" cy="1152525"/>
            </a:xfrm>
            <a:custGeom>
              <a:avLst/>
              <a:gdLst/>
              <a:ahLst/>
              <a:cxnLst/>
              <a:rect l="l" t="t" r="r" b="b"/>
              <a:pathLst>
                <a:path w="1009650" h="1152525">
                  <a:moveTo>
                    <a:pt x="0" y="0"/>
                  </a:moveTo>
                  <a:lnTo>
                    <a:pt x="1009650" y="11525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538460" y="5011102"/>
              <a:ext cx="99060" cy="102870"/>
            </a:xfrm>
            <a:custGeom>
              <a:avLst/>
              <a:gdLst/>
              <a:ahLst/>
              <a:cxnLst/>
              <a:rect l="l" t="t" r="r" b="b"/>
              <a:pathLst>
                <a:path w="99060" h="102870">
                  <a:moveTo>
                    <a:pt x="99060" y="102870"/>
                  </a:moveTo>
                  <a:lnTo>
                    <a:pt x="0" y="61912"/>
                  </a:lnTo>
                  <a:lnTo>
                    <a:pt x="7143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031105" y="2027872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48238" y="2807970"/>
              <a:ext cx="96107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036368" y="2807970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031105" y="3589020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8842058" y="3589020"/>
              <a:ext cx="118300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360170" y="4370070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48238" y="4370070"/>
              <a:ext cx="96107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031105" y="5113972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923848" y="5113972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370820" y="5113972"/>
              <a:ext cx="794385" cy="300038"/>
            </a:xfrm>
            <a:prstGeom prst="roundRect">
              <a:avLst>
                <a:gd name="adj" fmla="val 3174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71808" y="21074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闲置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196421" y="28884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拨号音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474834" y="2902268"/>
              <a:ext cx="142101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do/响拨号音并增加 timer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277071" y="28884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超时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86526" y="3144202"/>
              <a:ext cx="6940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do/响蜂鸣音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271808" y="3669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拨号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050909" y="36695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存储的信息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077450" y="3683318"/>
              <a:ext cx="6940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do/播放信息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600873" y="444960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忙音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470908" y="4706302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do/响忙音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196421" y="444960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接通中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961698" y="4464368"/>
              <a:ext cx="572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do/试接通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271808" y="5193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振铃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526966" y="5207317"/>
              <a:ext cx="4517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do/振铃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64551" y="5193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通话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612476" y="51935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断线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161598" y="248221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181219" y="251460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拿起听筒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319962" y="2872740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346442" y="290512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超时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275898" y="3263265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302377" y="329469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数字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357306" y="368998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数字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067550" y="3653790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087171" y="3685223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无效号码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161598" y="404431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181219" y="407574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有效号码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3398520" y="443388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3425000" y="446627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占线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5218748" y="4806315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241798" y="483774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已接通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551295" y="5177790"/>
              <a:ext cx="6477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567488" y="521017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受话人回话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9221152" y="5177790"/>
              <a:ext cx="6477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9237345" y="521017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受话人挂断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834562" y="4415790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854184" y="444817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信息播完</a:t>
              </a:r>
            </a:p>
          </p:txBody>
        </p:sp>
      </p:grpSp>
      <p:grpSp>
        <p:nvGrpSpPr>
          <p:cNvPr id="8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79" name="Rectangle 7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1040511" y="6004084"/>
              <a:ext cx="105283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除闲置外的九个状态都能在挂断电话事件下回到闲置状态，这九条返回边在原课件里都画了出来，这里为保持图面清晰省略。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状态转换图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例二：状态迁移图与状态迁移表是等价的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graph-1"/>
          <p:cNvGrpSpPr/>
          <p:nvPr/>
        </p:nvGrpSpPr>
        <p:grpSpPr>
          <a:xfrm>
            <a:off x="1077278" y="1886903"/>
            <a:ext cx="4105274" cy="3179127"/>
            <a:chOff x="1077278" y="1886903"/>
            <a:chExt cx="4105274" cy="3179127"/>
          </a:xfrm>
        </p:grpSpPr>
        <p:sp>
          <p:nvSpPr>
            <p:cNvPr id="7" name="Freeform 7"/>
            <p:cNvSpPr/>
            <p:nvPr/>
          </p:nvSpPr>
          <p:spPr>
            <a:xfrm>
              <a:off x="1383030" y="2291715"/>
              <a:ext cx="1564005" cy="1889760"/>
            </a:xfrm>
            <a:custGeom>
              <a:avLst/>
              <a:gdLst/>
              <a:ahLst/>
              <a:cxnLst/>
              <a:rect l="l" t="t" r="r" b="b"/>
              <a:pathLst>
                <a:path w="1564005" h="1889760">
                  <a:moveTo>
                    <a:pt x="0" y="1889760"/>
                  </a:moveTo>
                  <a:lnTo>
                    <a:pt x="15640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909888" y="2218372"/>
              <a:ext cx="97155" cy="103823"/>
            </a:xfrm>
            <a:custGeom>
              <a:avLst/>
              <a:gdLst/>
              <a:ahLst/>
              <a:cxnLst/>
              <a:rect l="l" t="t" r="r" b="b"/>
              <a:pathLst>
                <a:path w="97155" h="103823">
                  <a:moveTo>
                    <a:pt x="97155" y="0"/>
                  </a:moveTo>
                  <a:lnTo>
                    <a:pt x="73342" y="103823"/>
                  </a:lnTo>
                  <a:lnTo>
                    <a:pt x="0" y="4286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252788" y="2218372"/>
              <a:ext cx="1564005" cy="1889760"/>
            </a:xfrm>
            <a:custGeom>
              <a:avLst/>
              <a:gdLst/>
              <a:ahLst/>
              <a:cxnLst/>
              <a:rect l="l" t="t" r="r" b="b"/>
              <a:pathLst>
                <a:path w="1564005" h="1889760">
                  <a:moveTo>
                    <a:pt x="0" y="0"/>
                  </a:moveTo>
                  <a:lnTo>
                    <a:pt x="1564005" y="18897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779645" y="4077652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97155" y="103822"/>
                  </a:moveTo>
                  <a:lnTo>
                    <a:pt x="0" y="60960"/>
                  </a:lnTo>
                  <a:lnTo>
                    <a:pt x="7334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28750" y="3585210"/>
              <a:ext cx="3320415" cy="650558"/>
            </a:xfrm>
            <a:custGeom>
              <a:avLst/>
              <a:gdLst/>
              <a:ahLst/>
              <a:cxnLst/>
              <a:rect l="l" t="t" r="r" b="b"/>
              <a:pathLst>
                <a:path w="3320415" h="650558">
                  <a:moveTo>
                    <a:pt x="0" y="650558"/>
                  </a:moveTo>
                  <a:cubicBezTo>
                    <a:pt x="1134110" y="15557"/>
                    <a:pt x="2240915" y="0"/>
                    <a:pt x="3320415" y="60388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725352" y="4148138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7630"/>
                  </a:moveTo>
                  <a:lnTo>
                    <a:pt x="0" y="82867"/>
                  </a:lnTo>
                  <a:lnTo>
                    <a:pt x="4667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512570" y="4423410"/>
              <a:ext cx="3318510" cy="642620"/>
            </a:xfrm>
            <a:custGeom>
              <a:avLst/>
              <a:gdLst/>
              <a:ahLst/>
              <a:cxnLst/>
              <a:rect l="l" t="t" r="r" b="b"/>
              <a:pathLst>
                <a:path w="3318510" h="642620">
                  <a:moveTo>
                    <a:pt x="3318510" y="0"/>
                  </a:moveTo>
                  <a:cubicBezTo>
                    <a:pt x="2184400" y="627380"/>
                    <a:pt x="1078230" y="642620"/>
                    <a:pt x="0" y="4572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429702" y="4423410"/>
              <a:ext cx="105727" cy="87630"/>
            </a:xfrm>
            <a:custGeom>
              <a:avLst/>
              <a:gdLst/>
              <a:ahLst/>
              <a:cxnLst/>
              <a:rect l="l" t="t" r="r" b="b"/>
              <a:pathLst>
                <a:path w="105727" h="87630">
                  <a:moveTo>
                    <a:pt x="0" y="0"/>
                  </a:moveTo>
                  <a:lnTo>
                    <a:pt x="105727" y="3810"/>
                  </a:lnTo>
                  <a:lnTo>
                    <a:pt x="60008" y="8763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947035" y="1886903"/>
              <a:ext cx="365760" cy="36576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077278" y="4147185"/>
              <a:ext cx="365760" cy="36576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816792" y="4147185"/>
              <a:ext cx="365760" cy="36576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025247" y="199453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55489" y="425481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95004" y="4254818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S3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088832" y="3107055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17999" y="3141821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958590" y="3107055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987757" y="3141821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024188" y="3666172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052402" y="370093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024188" y="4800600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052402" y="483536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</p:grpSp>
      <p:grpSp>
        <p:nvGrpSpPr>
          <p:cNvPr id="36" name="c1-callout-2"/>
          <p:cNvGrpSpPr/>
          <p:nvPr/>
        </p:nvGrpSpPr>
        <p:grpSpPr>
          <a:xfrm>
            <a:off x="533400" y="5606415"/>
            <a:ext cx="5193982" cy="756285"/>
            <a:chOff x="533400" y="5606415"/>
            <a:chExt cx="5193982" cy="756285"/>
          </a:xfrm>
        </p:grpSpPr>
        <p:sp>
          <p:nvSpPr>
            <p:cNvPr id="30" name="Rectangle 30"/>
            <p:cNvSpPr/>
            <p:nvPr/>
          </p:nvSpPr>
          <p:spPr>
            <a:xfrm>
              <a:off x="533400" y="5606415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5884545"/>
              <a:ext cx="200026" cy="200025"/>
              <a:chOff x="738188" y="5884545"/>
              <a:chExt cx="200026" cy="20002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8845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77926" y="59289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12642" y="60401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575357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画图时一条边只画一个事件；同一对状态之间有两个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方向的转换，就画两条弧。</a:t>
              </a:r>
            </a:p>
          </p:txBody>
        </p:sp>
      </p:grpSp>
      <p:grpSp>
        <p:nvGrpSpPr>
          <p:cNvPr id="68" name="c2-table-1"/>
          <p:cNvGrpSpPr/>
          <p:nvPr/>
        </p:nvGrpSpPr>
        <p:grpSpPr>
          <a:xfrm>
            <a:off x="6026467" y="1524000"/>
            <a:ext cx="5632133" cy="2446497"/>
            <a:chOff x="6026467" y="1524000"/>
            <a:chExt cx="5632133" cy="2446497"/>
          </a:xfrm>
        </p:grpSpPr>
        <p:sp>
          <p:nvSpPr>
            <p:cNvPr id="37" name="Rectangle 37"/>
            <p:cNvSpPr/>
            <p:nvPr/>
          </p:nvSpPr>
          <p:spPr>
            <a:xfrm>
              <a:off x="6032182" y="1524000"/>
              <a:ext cx="5626418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7955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事件＼当前状态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93562" y="165544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777519" y="165544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961477" y="165544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70067" y="208502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598256" y="2085022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31667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015624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032182" y="23793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32182" y="2384108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70067" y="251555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47709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831667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966171" y="2515552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032182" y="28098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970067" y="294608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47709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782213" y="2946082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015624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32182" y="32394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032182" y="3244215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970067" y="337566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647709" y="3375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782213" y="3375660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015624" y="3375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032182" y="1524000"/>
              <a:ext cx="5626418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8101965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9285922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469880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026467" y="3750469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格子里填的是当前状态遇到该事件后转到的新状态，横线表示该状态不响应这个事件</a:t>
              </a:r>
            </a:p>
          </p:txBody>
        </p:sp>
      </p:grpSp>
      <p:grpSp>
        <p:nvGrpSpPr>
          <p:cNvPr id="77" name="c2-card-2"/>
          <p:cNvGrpSpPr/>
          <p:nvPr/>
        </p:nvGrpSpPr>
        <p:grpSpPr>
          <a:xfrm>
            <a:off x="6032182" y="4111942"/>
            <a:ext cx="5626418" cy="2097405"/>
            <a:chOff x="6032182" y="4111942"/>
            <a:chExt cx="5626418" cy="2097405"/>
          </a:xfrm>
        </p:grpSpPr>
        <p:sp>
          <p:nvSpPr>
            <p:cNvPr id="69" name="Rectangle 69"/>
            <p:cNvSpPr/>
            <p:nvPr/>
          </p:nvSpPr>
          <p:spPr>
            <a:xfrm>
              <a:off x="6032182" y="4111942"/>
              <a:ext cx="5626418" cy="2097405"/>
            </a:xfrm>
            <a:prstGeom prst="roundRect">
              <a:avLst>
                <a:gd name="adj" fmla="val 635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236018" y="4315778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04572" y="43514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互相转换的办法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243638" y="474821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400229" y="4688681"/>
              <a:ext cx="49393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由图到表：每条边 A ──t──&gt; B，就在第 t 行、第 A 列填 B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6243638" y="506825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400229" y="500872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由表到图：每个非空格子画一条从列名指向格内状态的箭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头，边上标行名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229922" y="5595938"/>
              <a:ext cx="47365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表格还能一眼看出哪些状态对某个事件没有响应，这是图不容易看出来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31214" cy="909257"/>
            <a:chOff x="520446" y="342900"/>
            <a:chExt cx="523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状态转换图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3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例三：CPU 分配中的进程状态迁移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764780" cy="293370"/>
            <a:chOff x="525780" y="1548765"/>
            <a:chExt cx="77647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7647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有多个申请占用 CPU 运行的进程时，一个进程在就绪、运行、等待三个状态之间迁移。</a:t>
              </a:r>
            </a:p>
          </p:txBody>
        </p:sp>
      </p:grpSp>
      <p:grpSp>
        <p:nvGrpSpPr>
          <p:cNvPr id="31" name="c1-graph-1"/>
          <p:cNvGrpSpPr/>
          <p:nvPr/>
        </p:nvGrpSpPr>
        <p:grpSpPr>
          <a:xfrm>
            <a:off x="835342" y="2117408"/>
            <a:ext cx="4589146" cy="1706308"/>
            <a:chOff x="835342" y="2117408"/>
            <a:chExt cx="4589146" cy="1706308"/>
          </a:xfrm>
        </p:grpSpPr>
        <p:sp>
          <p:nvSpPr>
            <p:cNvPr id="9" name="Freeform 9"/>
            <p:cNvSpPr/>
            <p:nvPr/>
          </p:nvSpPr>
          <p:spPr>
            <a:xfrm>
              <a:off x="1685925" y="2525078"/>
              <a:ext cx="1333500" cy="1083945"/>
            </a:xfrm>
            <a:custGeom>
              <a:avLst/>
              <a:gdLst/>
              <a:ahLst/>
              <a:cxnLst/>
              <a:rect l="l" t="t" r="r" b="b"/>
              <a:pathLst>
                <a:path w="1333500" h="1083945">
                  <a:moveTo>
                    <a:pt x="0" y="1083945"/>
                  </a:moveTo>
                  <a:cubicBezTo>
                    <a:pt x="598170" y="1007745"/>
                    <a:pt x="1042670" y="646430"/>
                    <a:pt x="1333500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75610" y="2437448"/>
              <a:ext cx="86678" cy="106680"/>
            </a:xfrm>
            <a:custGeom>
              <a:avLst/>
              <a:gdLst/>
              <a:ahLst/>
              <a:cxnLst/>
              <a:rect l="l" t="t" r="r" b="b"/>
              <a:pathLst>
                <a:path w="86678" h="106680">
                  <a:moveTo>
                    <a:pt x="82868" y="0"/>
                  </a:moveTo>
                  <a:lnTo>
                    <a:pt x="86678" y="106680"/>
                  </a:lnTo>
                  <a:lnTo>
                    <a:pt x="0" y="6762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371600" y="2332672"/>
              <a:ext cx="1333500" cy="1083945"/>
            </a:xfrm>
            <a:custGeom>
              <a:avLst/>
              <a:gdLst/>
              <a:ahLst/>
              <a:cxnLst/>
              <a:rect l="l" t="t" r="r" b="b"/>
              <a:pathLst>
                <a:path w="1333500" h="1083945">
                  <a:moveTo>
                    <a:pt x="1333500" y="0"/>
                  </a:moveTo>
                  <a:cubicBezTo>
                    <a:pt x="734695" y="76200"/>
                    <a:pt x="290195" y="437515"/>
                    <a:pt x="0" y="108394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327785" y="3397568"/>
              <a:ext cx="87630" cy="105728"/>
            </a:xfrm>
            <a:custGeom>
              <a:avLst/>
              <a:gdLst/>
              <a:ahLst/>
              <a:cxnLst/>
              <a:rect l="l" t="t" r="r" b="b"/>
              <a:pathLst>
                <a:path w="87630" h="105728">
                  <a:moveTo>
                    <a:pt x="4762" y="105728"/>
                  </a:moveTo>
                  <a:lnTo>
                    <a:pt x="0" y="0"/>
                  </a:lnTo>
                  <a:lnTo>
                    <a:pt x="87630" y="3905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46132" y="2437448"/>
              <a:ext cx="1361122" cy="1009650"/>
            </a:xfrm>
            <a:custGeom>
              <a:avLst/>
              <a:gdLst/>
              <a:ahLst/>
              <a:cxnLst/>
              <a:rect l="l" t="t" r="r" b="b"/>
              <a:pathLst>
                <a:path w="1361122" h="1009650">
                  <a:moveTo>
                    <a:pt x="0" y="0"/>
                  </a:moveTo>
                  <a:lnTo>
                    <a:pt x="1361122" y="10096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679632" y="3408998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104775" y="94298"/>
                  </a:moveTo>
                  <a:lnTo>
                    <a:pt x="0" y="76200"/>
                  </a:lnTo>
                  <a:lnTo>
                    <a:pt x="5619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781175" y="3663315"/>
              <a:ext cx="2793682" cy="9525"/>
            </a:xfrm>
            <a:custGeom>
              <a:avLst/>
              <a:gdLst/>
              <a:ahLst/>
              <a:cxnLst/>
              <a:rect l="l" t="t" r="r" b="b"/>
              <a:pathLst>
                <a:path w="2793682" h="9525">
                  <a:moveTo>
                    <a:pt x="2793682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685925" y="36156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05100" y="2117408"/>
              <a:ext cx="84963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35342" y="3503295"/>
              <a:ext cx="84963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574858" y="3503295"/>
              <a:ext cx="84963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962275" y="220313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92518" y="35890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832032" y="35890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370772" y="3166110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99939" y="3200876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1806892" y="2589848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836059" y="2624614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958590" y="2877502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987757" y="291226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024188" y="3570922"/>
              <a:ext cx="213360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052402" y="360568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</p:grpSp>
      <p:grpSp>
        <p:nvGrpSpPr>
          <p:cNvPr id="40" name="c1-kv-2"/>
          <p:cNvGrpSpPr/>
          <p:nvPr/>
        </p:nvGrpSpPr>
        <p:grpSpPr>
          <a:xfrm>
            <a:off x="526161" y="4473416"/>
            <a:ext cx="5201221" cy="1121665"/>
            <a:chOff x="526161" y="4473416"/>
            <a:chExt cx="5201221" cy="1121665"/>
          </a:xfrm>
        </p:grpSpPr>
        <p:sp>
          <p:nvSpPr>
            <p:cNvPr id="32" name="TextBox 32"/>
            <p:cNvSpPr txBox="1"/>
            <p:nvPr/>
          </p:nvSpPr>
          <p:spPr>
            <a:xfrm>
              <a:off x="526161" y="4473416"/>
              <a:ext cx="11859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运行 Running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918716" y="4473416"/>
              <a:ext cx="16158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正在 CPU 上做处理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7786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6161" y="4894421"/>
              <a:ext cx="8955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等待 Wait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918716" y="4894421"/>
              <a:ext cx="7906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放弃 CPU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20065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6161" y="5316379"/>
              <a:ext cx="10159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就绪 Ready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918716" y="5316379"/>
              <a:ext cx="11729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等待分配 CPU</a:t>
              </a:r>
            </a:p>
          </p:txBody>
        </p:sp>
      </p:grpSp>
      <p:grpSp>
        <p:nvGrpSpPr>
          <p:cNvPr id="78" name="c2-table-1"/>
          <p:cNvGrpSpPr/>
          <p:nvPr/>
        </p:nvGrpSpPr>
        <p:grpSpPr>
          <a:xfrm>
            <a:off x="6026467" y="1954530"/>
            <a:ext cx="5632133" cy="2446497"/>
            <a:chOff x="6026467" y="1954530"/>
            <a:chExt cx="5632133" cy="2446497"/>
          </a:xfrm>
        </p:grpSpPr>
        <p:sp>
          <p:nvSpPr>
            <p:cNvPr id="41" name="Rectangle 41"/>
            <p:cNvSpPr/>
            <p:nvPr/>
          </p:nvSpPr>
          <p:spPr>
            <a:xfrm>
              <a:off x="6032182" y="1954530"/>
              <a:ext cx="5626418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74105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事件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20965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81172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225087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069002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42357" y="251555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56654" y="2515552"/>
              <a:ext cx="21646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 I/O 等事件发生而要求中断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498292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25087" y="25155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86122" y="25155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032182" y="28098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32182" y="2814638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242357" y="294608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756654" y="294608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中断事件已处理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98292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42207" y="29460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069002" y="294608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032182" y="32404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42357" y="337661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756654" y="3376612"/>
              <a:ext cx="6681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 CPU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381172" y="33766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342207" y="33766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186122" y="33766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32182" y="36699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032182" y="3674745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242357" y="38061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756654" y="3806190"/>
              <a:ext cx="16885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已用完分配的 CPU 时间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498292" y="38061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225087" y="38061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186122" y="38061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032182" y="1954530"/>
              <a:ext cx="5626418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646545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122092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966008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809922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026467" y="4180999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后三列是当前状态，格子里按例二的办法填遇到该事件后转到的新状态</a:t>
              </a:r>
            </a:p>
          </p:txBody>
        </p:sp>
      </p:grpSp>
      <p:grpSp>
        <p:nvGrpSpPr>
          <p:cNvPr id="84" name="c2-callout-2"/>
          <p:cNvGrpSpPr/>
          <p:nvPr/>
        </p:nvGrpSpPr>
        <p:grpSpPr>
          <a:xfrm>
            <a:off x="6032182" y="4542472"/>
            <a:ext cx="5626418" cy="997268"/>
            <a:chOff x="6032182" y="4542472"/>
            <a:chExt cx="5626418" cy="997268"/>
          </a:xfrm>
        </p:grpSpPr>
        <p:sp>
          <p:nvSpPr>
            <p:cNvPr id="79" name="Rectangle 79"/>
            <p:cNvSpPr/>
            <p:nvPr/>
          </p:nvSpPr>
          <p:spPr>
            <a:xfrm>
              <a:off x="6032182" y="4542472"/>
              <a:ext cx="5626418" cy="997268"/>
            </a:xfrm>
            <a:prstGeom prst="roundRect">
              <a:avLst>
                <a:gd name="adj" fmla="val 11461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6236970" y="4940620"/>
              <a:ext cx="200023" cy="200023"/>
              <a:chOff x="6236970" y="4940620"/>
              <a:chExt cx="200023" cy="200023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6236970" y="494062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6370320" y="50072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6539294" y="4809649"/>
              <a:ext cx="464921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t1 与 t4 都是离开运行状态，区别在于 t1 是自己等 I/O，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t4 是时间片被调度程序收回。</a:t>
              </a:r>
            </a:p>
          </p:txBody>
        </p:sp>
      </p:grpSp>
      <p:grpSp>
        <p:nvGrpSpPr>
          <p:cNvPr id="91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85" name="Rectangle 85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1040511" y="6004084"/>
              <a:ext cx="72901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图中没有等待直接到运行的边：等待的进程必须先回到就绪，再由调度程序分配 CPU。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3.7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691253" cy="3351847"/>
            <a:chOff x="667512" y="1835468"/>
            <a:chExt cx="4691253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第七节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其他图形工具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描述数据层次、加工、时间关系和并发的四类图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3244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层次方框图与 Warnier 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1015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IPO 图与改进的 IPO 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时序图与扩充时序图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7889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03749" cy="909257"/>
            <a:chOff x="520446" y="342900"/>
            <a:chExt cx="78037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037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层次方框图与 Warnier 图：都描述数据的层次结构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ree-1"/>
          <p:cNvGrpSpPr/>
          <p:nvPr/>
        </p:nvGrpSpPr>
        <p:grpSpPr>
          <a:xfrm>
            <a:off x="608648" y="1821180"/>
            <a:ext cx="5418772" cy="2370773"/>
            <a:chOff x="608648" y="1821180"/>
            <a:chExt cx="5418772" cy="2370773"/>
          </a:xfrm>
        </p:grpSpPr>
        <p:sp>
          <p:nvSpPr>
            <p:cNvPr id="7" name="Freeform 7"/>
            <p:cNvSpPr/>
            <p:nvPr/>
          </p:nvSpPr>
          <p:spPr>
            <a:xfrm>
              <a:off x="884872" y="3006090"/>
              <a:ext cx="703898" cy="988695"/>
            </a:xfrm>
            <a:custGeom>
              <a:avLst/>
              <a:gdLst/>
              <a:ahLst/>
              <a:cxnLst/>
              <a:rect l="l" t="t" r="r" b="b"/>
              <a:pathLst>
                <a:path w="703898" h="988695">
                  <a:moveTo>
                    <a:pt x="703898" y="0"/>
                  </a:moveTo>
                  <a:lnTo>
                    <a:pt x="0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88770" y="3006090"/>
              <a:ext cx="9525" cy="988695"/>
            </a:xfrm>
            <a:custGeom>
              <a:avLst/>
              <a:gdLst/>
              <a:ahLst/>
              <a:cxnLst/>
              <a:rect l="l" t="t" r="r" b="b"/>
              <a:pathLst>
                <a:path w="9525" h="988695">
                  <a:moveTo>
                    <a:pt x="0" y="0"/>
                  </a:moveTo>
                  <a:lnTo>
                    <a:pt x="0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588770" y="3006090"/>
              <a:ext cx="702945" cy="988695"/>
            </a:xfrm>
            <a:custGeom>
              <a:avLst/>
              <a:gdLst/>
              <a:ahLst/>
              <a:cxnLst/>
              <a:rect l="l" t="t" r="r" b="b"/>
              <a:pathLst>
                <a:path w="702945" h="988695">
                  <a:moveTo>
                    <a:pt x="0" y="0"/>
                  </a:moveTo>
                  <a:lnTo>
                    <a:pt x="702945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94660" y="3006090"/>
              <a:ext cx="352425" cy="988695"/>
            </a:xfrm>
            <a:custGeom>
              <a:avLst/>
              <a:gdLst/>
              <a:ahLst/>
              <a:cxnLst/>
              <a:rect l="l" t="t" r="r" b="b"/>
              <a:pathLst>
                <a:path w="352425" h="988695">
                  <a:moveTo>
                    <a:pt x="352425" y="0"/>
                  </a:moveTo>
                  <a:lnTo>
                    <a:pt x="0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47085" y="3006090"/>
              <a:ext cx="351473" cy="988695"/>
            </a:xfrm>
            <a:custGeom>
              <a:avLst/>
              <a:gdLst/>
              <a:ahLst/>
              <a:cxnLst/>
              <a:rect l="l" t="t" r="r" b="b"/>
              <a:pathLst>
                <a:path w="351473" h="988695">
                  <a:moveTo>
                    <a:pt x="0" y="0"/>
                  </a:moveTo>
                  <a:lnTo>
                    <a:pt x="351473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401502" y="3006090"/>
              <a:ext cx="703897" cy="988695"/>
            </a:xfrm>
            <a:custGeom>
              <a:avLst/>
              <a:gdLst/>
              <a:ahLst/>
              <a:cxnLst/>
              <a:rect l="l" t="t" r="r" b="b"/>
              <a:pathLst>
                <a:path w="703897" h="988695">
                  <a:moveTo>
                    <a:pt x="703897" y="0"/>
                  </a:moveTo>
                  <a:lnTo>
                    <a:pt x="0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5105400" y="3006090"/>
              <a:ext cx="9525" cy="988695"/>
            </a:xfrm>
            <a:custGeom>
              <a:avLst/>
              <a:gdLst/>
              <a:ahLst/>
              <a:cxnLst/>
              <a:rect l="l" t="t" r="r" b="b"/>
              <a:pathLst>
                <a:path w="9525" h="988695">
                  <a:moveTo>
                    <a:pt x="0" y="0"/>
                  </a:moveTo>
                  <a:lnTo>
                    <a:pt x="0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105400" y="3006090"/>
              <a:ext cx="702945" cy="988695"/>
            </a:xfrm>
            <a:custGeom>
              <a:avLst/>
              <a:gdLst/>
              <a:ahLst/>
              <a:cxnLst/>
              <a:rect l="l" t="t" r="r" b="b"/>
              <a:pathLst>
                <a:path w="702945" h="988695">
                  <a:moveTo>
                    <a:pt x="0" y="0"/>
                  </a:moveTo>
                  <a:lnTo>
                    <a:pt x="702945" y="9886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588770" y="2018348"/>
              <a:ext cx="1758315" cy="987743"/>
            </a:xfrm>
            <a:custGeom>
              <a:avLst/>
              <a:gdLst/>
              <a:ahLst/>
              <a:cxnLst/>
              <a:rect l="l" t="t" r="r" b="b"/>
              <a:pathLst>
                <a:path w="1758315" h="987743">
                  <a:moveTo>
                    <a:pt x="1758315" y="0"/>
                  </a:moveTo>
                  <a:lnTo>
                    <a:pt x="0" y="98774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7085" y="2018348"/>
              <a:ext cx="9525" cy="987743"/>
            </a:xfrm>
            <a:custGeom>
              <a:avLst/>
              <a:gdLst/>
              <a:ahLst/>
              <a:cxnLst/>
              <a:rect l="l" t="t" r="r" b="b"/>
              <a:pathLst>
                <a:path w="9525" h="987743">
                  <a:moveTo>
                    <a:pt x="0" y="0"/>
                  </a:moveTo>
                  <a:lnTo>
                    <a:pt x="0" y="98774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47085" y="2018348"/>
              <a:ext cx="1758315" cy="987743"/>
            </a:xfrm>
            <a:custGeom>
              <a:avLst/>
              <a:gdLst/>
              <a:ahLst/>
              <a:cxnLst/>
              <a:rect l="l" t="t" r="r" b="b"/>
              <a:pathLst>
                <a:path w="1758315" h="987743">
                  <a:moveTo>
                    <a:pt x="0" y="0"/>
                  </a:moveTo>
                  <a:lnTo>
                    <a:pt x="1758315" y="98774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8648" y="3797618"/>
              <a:ext cx="5524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312545" y="3797618"/>
              <a:ext cx="5524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958340" y="3797618"/>
              <a:ext cx="6667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1369695" y="2808922"/>
              <a:ext cx="4381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61285" y="3797618"/>
              <a:ext cx="6667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365182" y="3797618"/>
              <a:ext cx="6667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128010" y="2808922"/>
              <a:ext cx="4381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68128" y="3797618"/>
              <a:ext cx="6667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772025" y="3797618"/>
              <a:ext cx="6667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589270" y="3797618"/>
              <a:ext cx="4381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886325" y="2808922"/>
              <a:ext cx="4381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128010" y="1821180"/>
              <a:ext cx="438150" cy="394335"/>
            </a:xfrm>
            <a:prstGeom prst="roundRect">
              <a:avLst>
                <a:gd name="adj" fmla="val 1932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8373" y="393858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02270" y="3938588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44636" y="3938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外部设备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62850" y="294989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747582" y="3938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系统软件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451479" y="3938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应用软件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221164" y="294989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154424" y="3938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软件服务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58322" y="3938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硬件维修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682424" y="3938588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培训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79480" y="294989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221164" y="196215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</p:grpSp>
      <p:grpSp>
        <p:nvGrpSpPr>
          <p:cNvPr id="49" name="c1-callout-2"/>
          <p:cNvGrpSpPr/>
          <p:nvPr/>
        </p:nvGrpSpPr>
        <p:grpSpPr>
          <a:xfrm>
            <a:off x="533400" y="4669155"/>
            <a:ext cx="5626418" cy="1018222"/>
            <a:chOff x="533400" y="4669155"/>
            <a:chExt cx="5626418" cy="1018222"/>
          </a:xfrm>
        </p:grpSpPr>
        <p:sp>
          <p:nvSpPr>
            <p:cNvPr id="43" name="Rectangle 43"/>
            <p:cNvSpPr/>
            <p:nvPr/>
          </p:nvSpPr>
          <p:spPr>
            <a:xfrm>
              <a:off x="533400" y="4669155"/>
              <a:ext cx="5626418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077778"/>
              <a:ext cx="200026" cy="200026"/>
              <a:chOff x="738188" y="5077778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507777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51444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517779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4816316"/>
              <a:ext cx="470331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层次方框图用树形结构的一系列多层次的矩形描述数据的层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次结构。每个矩形还能继续往下分解，例如系统软件可再分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为操作系统、编译程序和软件工具。</a:t>
              </a:r>
            </a:p>
          </p:txBody>
        </p:sp>
      </p:grpSp>
      <p:grpSp>
        <p:nvGrpSpPr>
          <p:cNvPr id="76" name="c2-tree-1"/>
          <p:cNvGrpSpPr/>
          <p:nvPr/>
        </p:nvGrpSpPr>
        <p:grpSpPr>
          <a:xfrm>
            <a:off x="6464618" y="1547812"/>
            <a:ext cx="5193982" cy="2087881"/>
            <a:chOff x="6464618" y="1547812"/>
            <a:chExt cx="5193982" cy="2087881"/>
          </a:xfrm>
        </p:grpSpPr>
        <p:sp>
          <p:nvSpPr>
            <p:cNvPr id="50" name="Freeform 50"/>
            <p:cNvSpPr/>
            <p:nvPr/>
          </p:nvSpPr>
          <p:spPr>
            <a:xfrm>
              <a:off x="10255568" y="2413635"/>
              <a:ext cx="419100" cy="356235"/>
            </a:xfrm>
            <a:custGeom>
              <a:avLst/>
              <a:gdLst/>
              <a:ahLst/>
              <a:cxnLst/>
              <a:rect l="l" t="t" r="r" b="b"/>
              <a:pathLst>
                <a:path w="419100" h="356235">
                  <a:moveTo>
                    <a:pt x="0" y="356235"/>
                  </a:moveTo>
                  <a:lnTo>
                    <a:pt x="209550" y="35623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255568" y="276987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255568" y="2769870"/>
              <a:ext cx="419100" cy="356235"/>
            </a:xfrm>
            <a:custGeom>
              <a:avLst/>
              <a:gdLst/>
              <a:ahLst/>
              <a:cxnLst/>
              <a:rect l="l" t="t" r="r" b="b"/>
              <a:pathLst>
                <a:path w="419100" h="356235">
                  <a:moveTo>
                    <a:pt x="0" y="0"/>
                  </a:moveTo>
                  <a:lnTo>
                    <a:pt x="209550" y="0"/>
                  </a:lnTo>
                  <a:lnTo>
                    <a:pt x="209550" y="356235"/>
                  </a:lnTo>
                  <a:lnTo>
                    <a:pt x="419100" y="35623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8852535" y="1702118"/>
              <a:ext cx="419100" cy="533400"/>
            </a:xfrm>
            <a:custGeom>
              <a:avLst/>
              <a:gdLst/>
              <a:ahLst/>
              <a:cxnLst/>
              <a:rect l="l" t="t" r="r" b="b"/>
              <a:pathLst>
                <a:path w="419100" h="533400">
                  <a:moveTo>
                    <a:pt x="0" y="533400"/>
                  </a:moveTo>
                  <a:lnTo>
                    <a:pt x="209550" y="53340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8852535" y="2058352"/>
              <a:ext cx="419100" cy="177165"/>
            </a:xfrm>
            <a:custGeom>
              <a:avLst/>
              <a:gdLst/>
              <a:ahLst/>
              <a:cxnLst/>
              <a:rect l="l" t="t" r="r" b="b"/>
              <a:pathLst>
                <a:path w="419100" h="177165">
                  <a:moveTo>
                    <a:pt x="0" y="177165"/>
                  </a:moveTo>
                  <a:lnTo>
                    <a:pt x="209550" y="17716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8852535" y="2235518"/>
              <a:ext cx="419100" cy="534353"/>
            </a:xfrm>
            <a:custGeom>
              <a:avLst/>
              <a:gdLst/>
              <a:ahLst/>
              <a:cxnLst/>
              <a:rect l="l" t="t" r="r" b="b"/>
              <a:pathLst>
                <a:path w="419100" h="534353">
                  <a:moveTo>
                    <a:pt x="0" y="0"/>
                  </a:moveTo>
                  <a:lnTo>
                    <a:pt x="209550" y="0"/>
                  </a:lnTo>
                  <a:lnTo>
                    <a:pt x="209550" y="534353"/>
                  </a:lnTo>
                  <a:lnTo>
                    <a:pt x="419100" y="53435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7448550" y="2235518"/>
              <a:ext cx="419100" cy="622935"/>
            </a:xfrm>
            <a:custGeom>
              <a:avLst/>
              <a:gdLst/>
              <a:ahLst/>
              <a:cxnLst/>
              <a:rect l="l" t="t" r="r" b="b"/>
              <a:pathLst>
                <a:path w="419100" h="622935">
                  <a:moveTo>
                    <a:pt x="0" y="622935"/>
                  </a:moveTo>
                  <a:lnTo>
                    <a:pt x="209550" y="62293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7448550" y="2858452"/>
              <a:ext cx="419100" cy="622935"/>
            </a:xfrm>
            <a:custGeom>
              <a:avLst/>
              <a:gdLst/>
              <a:ahLst/>
              <a:cxnLst/>
              <a:rect l="l" t="t" r="r" b="b"/>
              <a:pathLst>
                <a:path w="419100" h="622935">
                  <a:moveTo>
                    <a:pt x="0" y="0"/>
                  </a:moveTo>
                  <a:lnTo>
                    <a:pt x="209550" y="0"/>
                  </a:lnTo>
                  <a:lnTo>
                    <a:pt x="209550" y="622935"/>
                  </a:lnTo>
                  <a:lnTo>
                    <a:pt x="419100" y="62293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9271635" y="1547812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71635" y="1904048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674668" y="2260282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674668" y="2615565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10674668" y="2971800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271635" y="2615565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867650" y="2082165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867650" y="3328035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464618" y="2705100"/>
              <a:ext cx="983932" cy="307658"/>
            </a:xfrm>
            <a:prstGeom prst="roundRect">
              <a:avLst>
                <a:gd name="adj" fmla="val 3096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362122" y="1639253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362122" y="19954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编译程序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155" y="235077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编辑程序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765155" y="270700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测试驱动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765155" y="306324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设计辅助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362122" y="270700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软件工具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958138" y="217265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系统软件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958138" y="3418523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应用软件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555105" y="279558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软件产品</a:t>
              </a:r>
            </a:p>
          </p:txBody>
        </p:sp>
      </p:grpSp>
      <p:grpSp>
        <p:nvGrpSpPr>
          <p:cNvPr id="85" name="c2-card-2"/>
          <p:cNvGrpSpPr/>
          <p:nvPr/>
        </p:nvGrpSpPr>
        <p:grpSpPr>
          <a:xfrm>
            <a:off x="6464618" y="3839528"/>
            <a:ext cx="5193982" cy="1847850"/>
            <a:chOff x="6464618" y="3839528"/>
            <a:chExt cx="5193982" cy="1847850"/>
          </a:xfrm>
        </p:grpSpPr>
        <p:sp>
          <p:nvSpPr>
            <p:cNvPr id="77" name="Rectangle 77"/>
            <p:cNvSpPr/>
            <p:nvPr/>
          </p:nvSpPr>
          <p:spPr>
            <a:xfrm>
              <a:off x="6464618" y="3839528"/>
              <a:ext cx="5193982" cy="1847850"/>
            </a:xfrm>
            <a:prstGeom prst="roundRect">
              <a:avLst>
                <a:gd name="adj" fmla="val 721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662738" y="4037648"/>
              <a:ext cx="1717358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715112" y="4071938"/>
              <a:ext cx="161356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Warnier 图多出来的手段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6670358" y="4458652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826948" y="4399121"/>
              <a:ext cx="40001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⊕ 表示互斥，本例中系统软件与应用软件二选一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6670358" y="477678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826948" y="4716304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大括号表示一个类别由哪几项组成，还能标出某一项重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复出现的次数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656642" y="5301615"/>
              <a:ext cx="36618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原图在五个末端分别标了 P1 到 P5 作为程序编号。</a:t>
              </a:r>
            </a:p>
          </p:txBody>
        </p:sp>
      </p:grpSp>
      <p:grpSp>
        <p:nvGrpSpPr>
          <p:cNvPr id="9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86" name="Rectangle 8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1040511" y="6011704"/>
              <a:ext cx="71494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两种图都只画数据的层次，不画数据怎样被加工；加工要用数据流图和 IPO 图描述。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98733" cy="909257"/>
            <a:chOff x="520446" y="342900"/>
            <a:chExt cx="58987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987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IPO 图：一个加工的输入、处理与输出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669608" y="1795462"/>
            <a:ext cx="5570219" cy="2322196"/>
            <a:chOff x="669608" y="1795462"/>
            <a:chExt cx="5570219" cy="2322196"/>
          </a:xfrm>
        </p:grpSpPr>
        <p:sp>
          <p:nvSpPr>
            <p:cNvPr id="7" name="Freeform 7"/>
            <p:cNvSpPr/>
            <p:nvPr/>
          </p:nvSpPr>
          <p:spPr>
            <a:xfrm>
              <a:off x="2345055" y="2001202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0" y="0"/>
                  </a:moveTo>
                  <a:lnTo>
                    <a:pt x="1676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512695" y="19488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45055" y="2956560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0" y="0"/>
                  </a:moveTo>
                  <a:lnTo>
                    <a:pt x="1676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512695" y="29041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291965" y="2001202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460558" y="19488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291965" y="2956560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460558" y="29041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454718" y="2207895"/>
              <a:ext cx="1947863" cy="1392555"/>
            </a:xfrm>
            <a:custGeom>
              <a:avLst/>
              <a:gdLst/>
              <a:ahLst/>
              <a:cxnLst/>
              <a:rect l="l" t="t" r="r" b="b"/>
              <a:pathLst>
                <a:path w="1947863" h="1392555">
                  <a:moveTo>
                    <a:pt x="1947863" y="0"/>
                  </a:moveTo>
                  <a:lnTo>
                    <a:pt x="1947863" y="748665"/>
                  </a:lnTo>
                  <a:lnTo>
                    <a:pt x="0" y="748665"/>
                  </a:lnTo>
                  <a:lnTo>
                    <a:pt x="0" y="13925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402330" y="3600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3454718" y="3162300"/>
              <a:ext cx="1947863" cy="438150"/>
            </a:xfrm>
            <a:custGeom>
              <a:avLst/>
              <a:gdLst/>
              <a:ahLst/>
              <a:cxnLst/>
              <a:rect l="l" t="t" r="r" b="b"/>
              <a:pathLst>
                <a:path w="1947863" h="438150">
                  <a:moveTo>
                    <a:pt x="1947863" y="0"/>
                  </a:moveTo>
                  <a:lnTo>
                    <a:pt x="1947863" y="271462"/>
                  </a:lnTo>
                  <a:lnTo>
                    <a:pt x="0" y="271462"/>
                  </a:lnTo>
                  <a:lnTo>
                    <a:pt x="0" y="4381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402330" y="3600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291965" y="3911918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460558" y="38595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669608" y="1795462"/>
              <a:ext cx="1675447" cy="412433"/>
            </a:xfrm>
            <a:custGeom>
              <a:avLst/>
              <a:gdLst/>
              <a:ahLst/>
              <a:cxnLst/>
              <a:rect l="l" t="t" r="r" b="b"/>
              <a:pathLst>
                <a:path w="1675447" h="412433">
                  <a:moveTo>
                    <a:pt x="133350" y="0"/>
                  </a:moveTo>
                  <a:lnTo>
                    <a:pt x="1675447" y="0"/>
                  </a:lnTo>
                  <a:lnTo>
                    <a:pt x="1542097" y="412433"/>
                  </a:lnTo>
                  <a:lnTo>
                    <a:pt x="0" y="412433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69608" y="2750820"/>
              <a:ext cx="1675447" cy="411480"/>
            </a:xfrm>
            <a:custGeom>
              <a:avLst/>
              <a:gdLst/>
              <a:ahLst/>
              <a:cxnLst/>
              <a:rect l="l" t="t" r="r" b="b"/>
              <a:pathLst>
                <a:path w="1675447" h="411480">
                  <a:moveTo>
                    <a:pt x="133350" y="0"/>
                  </a:moveTo>
                  <a:lnTo>
                    <a:pt x="1675447" y="0"/>
                  </a:lnTo>
                  <a:lnTo>
                    <a:pt x="1542097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17470" y="1795462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617470" y="2750820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17470" y="3705225"/>
              <a:ext cx="167544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565332" y="1795462"/>
              <a:ext cx="1674495" cy="412433"/>
            </a:xfrm>
            <a:custGeom>
              <a:avLst/>
              <a:gdLst/>
              <a:ahLst/>
              <a:cxnLst/>
              <a:rect l="l" t="t" r="r" b="b"/>
              <a:pathLst>
                <a:path w="1674495" h="412433">
                  <a:moveTo>
                    <a:pt x="133350" y="0"/>
                  </a:moveTo>
                  <a:lnTo>
                    <a:pt x="1674495" y="0"/>
                  </a:lnTo>
                  <a:lnTo>
                    <a:pt x="1541145" y="412433"/>
                  </a:lnTo>
                  <a:lnTo>
                    <a:pt x="0" y="412433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565332" y="2750820"/>
              <a:ext cx="1674495" cy="411480"/>
            </a:xfrm>
            <a:custGeom>
              <a:avLst/>
              <a:gdLst/>
              <a:ahLst/>
              <a:cxnLst/>
              <a:rect l="l" t="t" r="r" b="b"/>
              <a:pathLst>
                <a:path w="1674495" h="411480">
                  <a:moveTo>
                    <a:pt x="133350" y="0"/>
                  </a:moveTo>
                  <a:lnTo>
                    <a:pt x="1674495" y="0"/>
                  </a:lnTo>
                  <a:lnTo>
                    <a:pt x="1541145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565332" y="3705225"/>
              <a:ext cx="1674495" cy="412433"/>
            </a:xfrm>
            <a:custGeom>
              <a:avLst/>
              <a:gdLst/>
              <a:ahLst/>
              <a:cxnLst/>
              <a:rect l="l" t="t" r="r" b="b"/>
              <a:pathLst>
                <a:path w="1674495" h="412433">
                  <a:moveTo>
                    <a:pt x="133350" y="0"/>
                  </a:moveTo>
                  <a:lnTo>
                    <a:pt x="1674495" y="0"/>
                  </a:lnTo>
                  <a:lnTo>
                    <a:pt x="1541145" y="412433"/>
                  </a:lnTo>
                  <a:lnTo>
                    <a:pt x="0" y="412433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96899" y="19173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旧的主文件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77671" y="28727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事务文件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31681" y="1917382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 校验主记录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0909" y="2872740"/>
              <a:ext cx="12076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 校验事务记录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31681" y="3828098"/>
              <a:ext cx="10460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 更新主记录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11852" y="191738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有效的主记录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831080" y="287274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有效的事务记录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31080" y="382809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更新后的主文件</a:t>
              </a:r>
            </a:p>
          </p:txBody>
        </p:sp>
      </p:grpSp>
      <p:grpSp>
        <p:nvGrpSpPr>
          <p:cNvPr id="44" name="c1-callout-2"/>
          <p:cNvGrpSpPr/>
          <p:nvPr/>
        </p:nvGrpSpPr>
        <p:grpSpPr>
          <a:xfrm>
            <a:off x="533400" y="4569142"/>
            <a:ext cx="5842635" cy="1075372"/>
            <a:chOff x="533400" y="4569142"/>
            <a:chExt cx="5842635" cy="1075372"/>
          </a:xfrm>
        </p:grpSpPr>
        <p:sp>
          <p:nvSpPr>
            <p:cNvPr id="38" name="Rectangle 38"/>
            <p:cNvSpPr/>
            <p:nvPr/>
          </p:nvSpPr>
          <p:spPr>
            <a:xfrm>
              <a:off x="533400" y="4569142"/>
              <a:ext cx="5842635" cy="1075372"/>
            </a:xfrm>
            <a:prstGeom prst="roundRect">
              <a:avLst>
                <a:gd name="adj" fmla="val 106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007293"/>
              <a:ext cx="200026" cy="200026"/>
              <a:chOff x="738188" y="500729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0072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50739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27088" y="51073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511" y="4876324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左栏是输入，中栏是处理，右栏是输出；校验的结果又回流成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为第三步的输入。</a:t>
              </a:r>
            </a:p>
          </p:txBody>
        </p:sp>
      </p:grpSp>
      <p:grpSp>
        <p:nvGrpSpPr>
          <p:cNvPr id="70" name="c2-table-1"/>
          <p:cNvGrpSpPr/>
          <p:nvPr/>
        </p:nvGrpSpPr>
        <p:grpSpPr>
          <a:xfrm>
            <a:off x="6680835" y="1524000"/>
            <a:ext cx="4977765" cy="3185160"/>
            <a:chOff x="6680835" y="1524000"/>
            <a:chExt cx="4977765" cy="3185160"/>
          </a:xfrm>
        </p:grpSpPr>
        <p:sp>
          <p:nvSpPr>
            <p:cNvPr id="45" name="Rectangle 45"/>
            <p:cNvSpPr/>
            <p:nvPr/>
          </p:nvSpPr>
          <p:spPr>
            <a:xfrm>
              <a:off x="6680835" y="1524000"/>
              <a:ext cx="4977765" cy="63817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86016" y="1652588"/>
              <a:ext cx="1382268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改进的 IPO 图（IPO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表）的栏目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835896" y="175926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记录什么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83324" y="2289810"/>
              <a:ext cx="13715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 / 模块 / 编号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775002" y="22898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这张表描述的是哪个系统的哪个模块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680835" y="25812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680835" y="2586038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783324" y="2714625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作者 / 日期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775002" y="271462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便于追踪修改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680835" y="30060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783324" y="3139440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被调用 / 调用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775002" y="313944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本模块被谁调用，又调用了谁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680835" y="34299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80835" y="3434715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83324" y="3563302"/>
              <a:ext cx="8534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 / 输出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75002" y="3563302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模块的输入数据和输出数据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680835" y="38547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783324" y="3988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775002" y="398811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处理过程的描述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680835" y="42795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680835" y="4284345"/>
              <a:ext cx="497776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783324" y="441198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局部数据元素 / 注释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775002" y="441198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模块内部使用的数据与补充说明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680835" y="1524000"/>
              <a:ext cx="4977765" cy="31842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8667750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c2-callout-2"/>
          <p:cNvGrpSpPr/>
          <p:nvPr/>
        </p:nvGrpSpPr>
        <p:grpSpPr>
          <a:xfrm>
            <a:off x="6680835" y="4888230"/>
            <a:ext cx="4977765" cy="756285"/>
            <a:chOff x="6680835" y="4888230"/>
            <a:chExt cx="4977765" cy="756285"/>
          </a:xfrm>
        </p:grpSpPr>
        <p:sp>
          <p:nvSpPr>
            <p:cNvPr id="71" name="Rectangle 71"/>
            <p:cNvSpPr/>
            <p:nvPr/>
          </p:nvSpPr>
          <p:spPr>
            <a:xfrm>
              <a:off x="6680835" y="4888230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885623" y="5166362"/>
              <a:ext cx="200023" cy="200023"/>
              <a:chOff x="6885623" y="5166362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6885623" y="51663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018973" y="52330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7187946" y="5036344"/>
              <a:ext cx="405409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改进的 IPO 图比 IPO 图多了调用关系和局部数据元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素，可以一直用到总体设计和详细设计阶段。</a:t>
              </a:r>
            </a:p>
          </p:txBody>
        </p:sp>
      </p:grpSp>
      <p:grpSp>
        <p:nvGrpSpPr>
          <p:cNvPr id="8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7" name="Rectangle 7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1040511" y="6011704"/>
              <a:ext cx="8487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数据流图分解到底层之后，每个不再分解的加工都配一张 IPO 表，两者合起来才是完整的功能模型。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时序图与扩充时序图：把时间关系画出来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graph-1"/>
          <p:cNvGrpSpPr/>
          <p:nvPr/>
        </p:nvGrpSpPr>
        <p:grpSpPr>
          <a:xfrm>
            <a:off x="636270" y="1690688"/>
            <a:ext cx="5096827" cy="3057524"/>
            <a:chOff x="636270" y="1690688"/>
            <a:chExt cx="5096827" cy="3057524"/>
          </a:xfrm>
        </p:grpSpPr>
        <p:sp>
          <p:nvSpPr>
            <p:cNvPr id="7" name="Freeform 7"/>
            <p:cNvSpPr/>
            <p:nvPr/>
          </p:nvSpPr>
          <p:spPr>
            <a:xfrm>
              <a:off x="1969770" y="1862138"/>
              <a:ext cx="101917" cy="365760"/>
            </a:xfrm>
            <a:custGeom>
              <a:avLst/>
              <a:gdLst/>
              <a:ahLst/>
              <a:cxnLst/>
              <a:rect l="l" t="t" r="r" b="b"/>
              <a:pathLst>
                <a:path w="101917" h="365760">
                  <a:moveTo>
                    <a:pt x="0" y="0"/>
                  </a:moveTo>
                  <a:lnTo>
                    <a:pt x="101917" y="3657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025968" y="2214562"/>
              <a:ext cx="92393" cy="104775"/>
            </a:xfrm>
            <a:custGeom>
              <a:avLst/>
              <a:gdLst/>
              <a:ahLst/>
              <a:cxnLst/>
              <a:rect l="l" t="t" r="r" b="b"/>
              <a:pathLst>
                <a:path w="92393" h="104775">
                  <a:moveTo>
                    <a:pt x="71438" y="104775"/>
                  </a:moveTo>
                  <a:lnTo>
                    <a:pt x="0" y="25717"/>
                  </a:lnTo>
                  <a:lnTo>
                    <a:pt x="9239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291715" y="2738438"/>
              <a:ext cx="976313" cy="1510665"/>
            </a:xfrm>
            <a:custGeom>
              <a:avLst/>
              <a:gdLst/>
              <a:ahLst/>
              <a:cxnLst/>
              <a:rect l="l" t="t" r="r" b="b"/>
              <a:pathLst>
                <a:path w="976313" h="1510665">
                  <a:moveTo>
                    <a:pt x="0" y="0"/>
                  </a:moveTo>
                  <a:lnTo>
                    <a:pt x="976313" y="151066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28022" y="4223385"/>
              <a:ext cx="91440" cy="105728"/>
            </a:xfrm>
            <a:custGeom>
              <a:avLst/>
              <a:gdLst/>
              <a:ahLst/>
              <a:cxnLst/>
              <a:rect l="l" t="t" r="r" b="b"/>
              <a:pathLst>
                <a:path w="91440" h="105728">
                  <a:moveTo>
                    <a:pt x="91440" y="105728"/>
                  </a:moveTo>
                  <a:lnTo>
                    <a:pt x="0" y="51435"/>
                  </a:lnTo>
                  <a:lnTo>
                    <a:pt x="8001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725228" y="3801428"/>
              <a:ext cx="681990" cy="527685"/>
            </a:xfrm>
            <a:custGeom>
              <a:avLst/>
              <a:gdLst/>
              <a:ahLst/>
              <a:cxnLst/>
              <a:rect l="l" t="t" r="r" b="b"/>
              <a:pathLst>
                <a:path w="681990" h="527685">
                  <a:moveTo>
                    <a:pt x="0" y="527685"/>
                  </a:moveTo>
                  <a:lnTo>
                    <a:pt x="6819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377690" y="3743325"/>
              <a:ext cx="104775" cy="96203"/>
            </a:xfrm>
            <a:custGeom>
              <a:avLst/>
              <a:gdLst/>
              <a:ahLst/>
              <a:cxnLst/>
              <a:rect l="l" t="t" r="r" b="b"/>
              <a:pathLst>
                <a:path w="104775" h="96203">
                  <a:moveTo>
                    <a:pt x="104775" y="0"/>
                  </a:moveTo>
                  <a:lnTo>
                    <a:pt x="59055" y="96203"/>
                  </a:lnTo>
                  <a:lnTo>
                    <a:pt x="0" y="2095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537335" y="2319338"/>
              <a:ext cx="12382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835592" y="4329112"/>
              <a:ext cx="12382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133850" y="3324225"/>
              <a:ext cx="12382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730480" y="169068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 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64875" y="246316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63133" y="447389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61390" y="346900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6270" y="2407444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 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6270" y="3412331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 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6270" y="4417219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91960" y="1712119"/>
              <a:ext cx="4411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时间 →</a:t>
              </a:r>
            </a:p>
          </p:txBody>
        </p:sp>
      </p:grpSp>
      <p:grpSp>
        <p:nvGrpSpPr>
          <p:cNvPr id="30" name="c1-callout-2"/>
          <p:cNvGrpSpPr/>
          <p:nvPr/>
        </p:nvGrpSpPr>
        <p:grpSpPr>
          <a:xfrm>
            <a:off x="533400" y="5579745"/>
            <a:ext cx="5410200" cy="782955"/>
            <a:chOff x="533400" y="5579745"/>
            <a:chExt cx="5410200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728335"/>
              <a:ext cx="4472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对于事件 e，功能 1 到功能 3 的处理时间总计为 T1 +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T2 + T3，其中功能间的切换时间按 0 计算。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248400" y="1524000"/>
            <a:ext cx="5410200" cy="2607945"/>
            <a:chOff x="6248400" y="1524000"/>
            <a:chExt cx="5410200" cy="260794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73456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扩充时序图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采用扩充时序图可以表示进程间的通信流，用于分析几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个事件的交错现象。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731770"/>
              <a:ext cx="42321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参与方：HOST1、FEP1、线路、FEP2、HOST2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31299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306705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C1、C2 是命令，R1、R2 是回答；HOST 是主机，FEP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是前端机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501765" y="37509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59880" y="3688080"/>
              <a:ext cx="32821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图中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C1 与 C2 交错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R1 与 R2 交错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6248400" y="4322445"/>
            <a:ext cx="5410200" cy="782955"/>
            <a:chOff x="6248400" y="4322445"/>
            <a:chExt cx="5410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6248400" y="43224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453188" y="4613912"/>
              <a:ext cx="200023" cy="200023"/>
              <a:chOff x="6453188" y="4613912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46139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86538" y="46805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55130" y="4471035"/>
              <a:ext cx="4387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由交错现象读出一条需求：HOST1 在等待 C1 的回答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R1 期间，要能接收从 HOST2 发出的命令 C2。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6248400" y="5295900"/>
            <a:ext cx="5410200" cy="782955"/>
            <a:chOff x="6248400" y="5295900"/>
            <a:chExt cx="5410200" cy="782955"/>
          </a:xfrm>
        </p:grpSpPr>
        <p:sp>
          <p:nvSpPr>
            <p:cNvPr id="49" name="Rectangle 49"/>
            <p:cNvSpPr/>
            <p:nvPr/>
          </p:nvSpPr>
          <p:spPr>
            <a:xfrm>
              <a:off x="6248400" y="529590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41129" y="5583673"/>
              <a:ext cx="224134" cy="192560"/>
              <a:chOff x="6441129" y="5583673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553200" y="565404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41129" y="558367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53200" y="57318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130" y="544449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如果没做这个分析，实现时很容易写成发出命令后就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一直阻塞等回答，遇到交错就死在那里。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95795" cy="909257"/>
            <a:chOff x="520446" y="342900"/>
            <a:chExt cx="61957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957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网：位置、转移、标记与激发规则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4760595" cy="4060508"/>
            <a:chOff x="533400" y="1524000"/>
            <a:chExt cx="4760595" cy="40605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060508"/>
            </a:xfrm>
            <a:prstGeom prst="roundRect">
              <a:avLst>
                <a:gd name="adj" fmla="val 32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79380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357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网（PNG）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04444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网是一种有向图，最早用来表达异步系统的控制规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则，现在广泛用于描述和分析并发执行的处理系统。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30284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位置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（place）：圆圈，表示系统的状态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2000" y="292703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7448" y="2874169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转移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（transition）：短横线或竖线，表示系统中的事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2000" y="345471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17448" y="3401854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指向转移的边是事件发生的前提，由转移指出的边是事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件的结果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2000" y="398240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7448" y="3929539"/>
              <a:ext cx="39062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激发（开火，fire）：转移的启动；只有作为输入的所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有位置条件都满足时才能激发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2000" y="451008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7448" y="4458176"/>
              <a:ext cx="40363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标记（令牌，token）：表明系统当前处于什么状态的标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志</a:t>
              </a:r>
            </a:p>
          </p:txBody>
        </p:sp>
      </p:grpSp>
      <p:grpSp>
        <p:nvGrpSpPr>
          <p:cNvPr id="54" name="c2-table-1"/>
          <p:cNvGrpSpPr/>
          <p:nvPr/>
        </p:nvGrpSpPr>
        <p:grpSpPr>
          <a:xfrm>
            <a:off x="5598795" y="1524000"/>
            <a:ext cx="6059805" cy="2466975"/>
            <a:chOff x="5598795" y="1524000"/>
            <a:chExt cx="6059805" cy="2466975"/>
          </a:xfrm>
        </p:grpSpPr>
        <p:sp>
          <p:nvSpPr>
            <p:cNvPr id="24" name="Rectangle 24"/>
            <p:cNvSpPr/>
            <p:nvPr/>
          </p:nvSpPr>
          <p:spPr>
            <a:xfrm>
              <a:off x="5598795" y="1524000"/>
              <a:ext cx="6059805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05885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02652" y="1641157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激发前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65477" y="164115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能否激发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50627" y="1641157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激发后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93474" y="21164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一入两出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06006" y="2116455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输入位置有 1 个令牌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723376" y="211645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572054" y="2023110"/>
              <a:ext cx="18775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输入的令牌被取走，两个输出位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置各得到 1 个令牌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598795" y="246888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598795" y="2473642"/>
              <a:ext cx="6059805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93474" y="268414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一入两转移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06006" y="2590800"/>
              <a:ext cx="147751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一个令牌同时是两个转移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的输入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23376" y="268414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572054" y="2590800"/>
              <a:ext cx="18775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只有其中一个转移能激发，令牌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被取走后另一个就不能再激发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598795" y="303657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693474" y="325183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两入一出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06006" y="3158490"/>
              <a:ext cx="1497520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两个输入位置各有 1 个令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23376" y="325183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572054" y="3158490"/>
              <a:ext cx="18775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两个令牌都被取走，输出位置得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1 个令牌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598795" y="36052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598795" y="3609975"/>
              <a:ext cx="605980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693474" y="372713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两入缺一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06006" y="372713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只有一个输入位置有令牌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23376" y="372713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72054" y="372713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条件不满足，不能激发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1524000"/>
              <a:ext cx="6059805" cy="24669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06565" y="1524000"/>
              <a:ext cx="9525" cy="24669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623935" y="1524000"/>
              <a:ext cx="9525" cy="24669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472612" y="1524000"/>
              <a:ext cx="9525" cy="24669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2-card-2"/>
          <p:cNvGrpSpPr/>
          <p:nvPr/>
        </p:nvGrpSpPr>
        <p:grpSpPr>
          <a:xfrm>
            <a:off x="5598795" y="4155758"/>
            <a:ext cx="6059805" cy="1428750"/>
            <a:chOff x="5598795" y="4155758"/>
            <a:chExt cx="6059805" cy="1428750"/>
          </a:xfrm>
        </p:grpSpPr>
        <p:sp>
          <p:nvSpPr>
            <p:cNvPr id="55" name="Rectangle 55"/>
            <p:cNvSpPr/>
            <p:nvPr/>
          </p:nvSpPr>
          <p:spPr>
            <a:xfrm>
              <a:off x="5598795" y="4155758"/>
              <a:ext cx="6059805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608320" y="4289108"/>
              <a:ext cx="47625" cy="11620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817870" y="4336732"/>
              <a:ext cx="172878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872534" y="4369594"/>
              <a:ext cx="1620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教材第 4 章补充的两条规则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827395" y="472916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982843" y="4677251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某个位置到转移有几条线，这个位置就要有不少于几个令牌，转移才能激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发；转移到某个位置有几条线，激发后就在那里放几个令牌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5827395" y="525684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982843" y="5204936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非确定性：几个转移同时满足激发条件时，其中任意一个都可以激发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4" name="Rectangle 64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26129" y="6024681"/>
              <a:ext cx="224134" cy="192560"/>
              <a:chOff x="726129" y="6024681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838200" y="60950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26129" y="60246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61728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1273" y="6039326"/>
              <a:ext cx="9317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位置与转移之间只连一条线时，激发让每个输入位置减少一个令牌、每个输出位置增加一个令牌，所以令牌总数并不守恒。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76234" cy="909257"/>
            <a:chOff x="520446" y="342900"/>
            <a:chExt cx="61762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762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网实例：两个进程共享一个资源 R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315706" cy="293370"/>
            <a:chOff x="525780" y="1548765"/>
            <a:chExt cx="8315706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3157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两个进程都在做同一件事：LOCK R → 占用 R 运行 → UNLOCK R → 不使用 R 运行，然后循环。</a:t>
              </a:r>
            </a:p>
          </p:txBody>
        </p:sp>
      </p:grpSp>
      <p:grpSp>
        <p:nvGrpSpPr>
          <p:cNvPr id="74" name="c1-graph-1"/>
          <p:cNvGrpSpPr/>
          <p:nvPr/>
        </p:nvGrpSpPr>
        <p:grpSpPr>
          <a:xfrm>
            <a:off x="516255" y="2057400"/>
            <a:ext cx="6094095" cy="3028950"/>
            <a:chOff x="516255" y="2057400"/>
            <a:chExt cx="6094095" cy="3028950"/>
          </a:xfrm>
        </p:grpSpPr>
        <p:sp>
          <p:nvSpPr>
            <p:cNvPr id="9" name="Freeform 9"/>
            <p:cNvSpPr/>
            <p:nvPr/>
          </p:nvSpPr>
          <p:spPr>
            <a:xfrm>
              <a:off x="1548765" y="2713672"/>
              <a:ext cx="576262" cy="245745"/>
            </a:xfrm>
            <a:custGeom>
              <a:avLst/>
              <a:gdLst/>
              <a:ahLst/>
              <a:cxnLst/>
              <a:rect l="l" t="t" r="r" b="b"/>
              <a:pathLst>
                <a:path w="576262" h="245745">
                  <a:moveTo>
                    <a:pt x="0" y="0"/>
                  </a:moveTo>
                  <a:lnTo>
                    <a:pt x="576262" y="2457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05978" y="2915602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0962"/>
                  </a:moveTo>
                  <a:lnTo>
                    <a:pt x="0" y="87630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568892" y="2332672"/>
              <a:ext cx="843915" cy="575310"/>
            </a:xfrm>
            <a:custGeom>
              <a:avLst/>
              <a:gdLst/>
              <a:ahLst/>
              <a:cxnLst/>
              <a:rect l="l" t="t" r="r" b="b"/>
              <a:pathLst>
                <a:path w="843915" h="575310">
                  <a:moveTo>
                    <a:pt x="843915" y="0"/>
                  </a:moveTo>
                  <a:lnTo>
                    <a:pt x="0" y="5753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489835" y="2867978"/>
              <a:ext cx="105728" cy="93345"/>
            </a:xfrm>
            <a:custGeom>
              <a:avLst/>
              <a:gdLst/>
              <a:ahLst/>
              <a:cxnLst/>
              <a:rect l="l" t="t" r="r" b="b"/>
              <a:pathLst>
                <a:path w="105728" h="93345">
                  <a:moveTo>
                    <a:pt x="0" y="93345"/>
                  </a:moveTo>
                  <a:lnTo>
                    <a:pt x="51435" y="0"/>
                  </a:lnTo>
                  <a:lnTo>
                    <a:pt x="105728" y="7905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615440" y="3144202"/>
              <a:ext cx="597218" cy="381952"/>
            </a:xfrm>
            <a:custGeom>
              <a:avLst/>
              <a:gdLst/>
              <a:ahLst/>
              <a:cxnLst/>
              <a:rect l="l" t="t" r="r" b="b"/>
              <a:pathLst>
                <a:path w="597218" h="381952">
                  <a:moveTo>
                    <a:pt x="597218" y="0"/>
                  </a:moveTo>
                  <a:lnTo>
                    <a:pt x="0" y="3819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534478" y="3486150"/>
              <a:ext cx="106680" cy="91440"/>
            </a:xfrm>
            <a:custGeom>
              <a:avLst/>
              <a:gdLst/>
              <a:ahLst/>
              <a:cxnLst/>
              <a:rect l="l" t="t" r="r" b="b"/>
              <a:pathLst>
                <a:path w="106680" h="91440">
                  <a:moveTo>
                    <a:pt x="0" y="91440"/>
                  </a:moveTo>
                  <a:lnTo>
                    <a:pt x="55245" y="0"/>
                  </a:lnTo>
                  <a:lnTo>
                    <a:pt x="106680" y="800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529715" y="3780472"/>
              <a:ext cx="604838" cy="429578"/>
            </a:xfrm>
            <a:custGeom>
              <a:avLst/>
              <a:gdLst/>
              <a:ahLst/>
              <a:cxnLst/>
              <a:rect l="l" t="t" r="r" b="b"/>
              <a:pathLst>
                <a:path w="604838" h="429578">
                  <a:moveTo>
                    <a:pt x="0" y="0"/>
                  </a:moveTo>
                  <a:lnTo>
                    <a:pt x="604838" y="4295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106930" y="4170998"/>
              <a:ext cx="105728" cy="94298"/>
            </a:xfrm>
            <a:custGeom>
              <a:avLst/>
              <a:gdLst/>
              <a:ahLst/>
              <a:cxnLst/>
              <a:rect l="l" t="t" r="r" b="b"/>
              <a:pathLst>
                <a:path w="105728" h="94298">
                  <a:moveTo>
                    <a:pt x="105728" y="94298"/>
                  </a:moveTo>
                  <a:lnTo>
                    <a:pt x="0" y="78105"/>
                  </a:lnTo>
                  <a:lnTo>
                    <a:pt x="5524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623060" y="4442460"/>
              <a:ext cx="589598" cy="334328"/>
            </a:xfrm>
            <a:custGeom>
              <a:avLst/>
              <a:gdLst/>
              <a:ahLst/>
              <a:cxnLst/>
              <a:rect l="l" t="t" r="r" b="b"/>
              <a:pathLst>
                <a:path w="589598" h="334328">
                  <a:moveTo>
                    <a:pt x="589598" y="0"/>
                  </a:moveTo>
                  <a:lnTo>
                    <a:pt x="0" y="3343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540192" y="4735830"/>
              <a:ext cx="105728" cy="88583"/>
            </a:xfrm>
            <a:custGeom>
              <a:avLst/>
              <a:gdLst/>
              <a:ahLst/>
              <a:cxnLst/>
              <a:rect l="l" t="t" r="r" b="b"/>
              <a:pathLst>
                <a:path w="105728" h="88583">
                  <a:moveTo>
                    <a:pt x="0" y="88583"/>
                  </a:moveTo>
                  <a:lnTo>
                    <a:pt x="59055" y="0"/>
                  </a:lnTo>
                  <a:lnTo>
                    <a:pt x="105728" y="8286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427922" y="2486025"/>
              <a:ext cx="1028700" cy="1775460"/>
            </a:xfrm>
            <a:custGeom>
              <a:avLst/>
              <a:gdLst/>
              <a:ahLst/>
              <a:cxnLst/>
              <a:rect l="l" t="t" r="r" b="b"/>
              <a:pathLst>
                <a:path w="1028700" h="1775460">
                  <a:moveTo>
                    <a:pt x="0" y="1775460"/>
                  </a:moveTo>
                  <a:lnTo>
                    <a:pt x="650557" y="913447"/>
                  </a:lnTo>
                  <a:lnTo>
                    <a:pt x="102870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412808" y="2397442"/>
              <a:ext cx="88583" cy="106680"/>
            </a:xfrm>
            <a:custGeom>
              <a:avLst/>
              <a:gdLst/>
              <a:ahLst/>
              <a:cxnLst/>
              <a:rect l="l" t="t" r="r" b="b"/>
              <a:pathLst>
                <a:path w="88583" h="106680">
                  <a:moveTo>
                    <a:pt x="80962" y="0"/>
                  </a:moveTo>
                  <a:lnTo>
                    <a:pt x="88583" y="106680"/>
                  </a:lnTo>
                  <a:lnTo>
                    <a:pt x="0" y="7048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46772" y="4457700"/>
              <a:ext cx="396240" cy="338138"/>
            </a:xfrm>
            <a:custGeom>
              <a:avLst/>
              <a:gdLst/>
              <a:ahLst/>
              <a:cxnLst/>
              <a:rect l="l" t="t" r="r" b="b"/>
              <a:pathLst>
                <a:path w="396240" h="338138">
                  <a:moveTo>
                    <a:pt x="396240" y="33813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73430" y="4395788"/>
              <a:ext cx="103822" cy="98108"/>
            </a:xfrm>
            <a:custGeom>
              <a:avLst/>
              <a:gdLst/>
              <a:ahLst/>
              <a:cxnLst/>
              <a:rect l="l" t="t" r="r" b="b"/>
              <a:pathLst>
                <a:path w="103822" h="98108">
                  <a:moveTo>
                    <a:pt x="0" y="0"/>
                  </a:moveTo>
                  <a:lnTo>
                    <a:pt x="103822" y="25717"/>
                  </a:lnTo>
                  <a:lnTo>
                    <a:pt x="41910" y="9810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699135" y="2896552"/>
              <a:ext cx="570548" cy="1296352"/>
            </a:xfrm>
            <a:custGeom>
              <a:avLst/>
              <a:gdLst/>
              <a:ahLst/>
              <a:cxnLst/>
              <a:rect l="l" t="t" r="r" b="b"/>
              <a:pathLst>
                <a:path w="570548" h="1296352">
                  <a:moveTo>
                    <a:pt x="0" y="1296352"/>
                  </a:moveTo>
                  <a:lnTo>
                    <a:pt x="57054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226820" y="2808922"/>
              <a:ext cx="86677" cy="106680"/>
            </a:xfrm>
            <a:custGeom>
              <a:avLst/>
              <a:gdLst/>
              <a:ahLst/>
              <a:cxnLst/>
              <a:rect l="l" t="t" r="r" b="b"/>
              <a:pathLst>
                <a:path w="86677" h="106680">
                  <a:moveTo>
                    <a:pt x="81915" y="0"/>
                  </a:moveTo>
                  <a:lnTo>
                    <a:pt x="86677" y="106680"/>
                  </a:lnTo>
                  <a:lnTo>
                    <a:pt x="0" y="685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001578" y="2713672"/>
              <a:ext cx="575310" cy="245745"/>
            </a:xfrm>
            <a:custGeom>
              <a:avLst/>
              <a:gdLst/>
              <a:ahLst/>
              <a:cxnLst/>
              <a:rect l="l" t="t" r="r" b="b"/>
              <a:pathLst>
                <a:path w="575310" h="245745">
                  <a:moveTo>
                    <a:pt x="575310" y="0"/>
                  </a:moveTo>
                  <a:lnTo>
                    <a:pt x="0" y="2457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913948" y="2915602"/>
              <a:ext cx="105728" cy="87630"/>
            </a:xfrm>
            <a:custGeom>
              <a:avLst/>
              <a:gdLst/>
              <a:ahLst/>
              <a:cxnLst/>
              <a:rect l="l" t="t" r="r" b="b"/>
              <a:pathLst>
                <a:path w="105728" h="87630">
                  <a:moveTo>
                    <a:pt x="0" y="80962"/>
                  </a:moveTo>
                  <a:lnTo>
                    <a:pt x="68580" y="0"/>
                  </a:lnTo>
                  <a:lnTo>
                    <a:pt x="105728" y="8763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3713798" y="2332672"/>
              <a:ext cx="843915" cy="575310"/>
            </a:xfrm>
            <a:custGeom>
              <a:avLst/>
              <a:gdLst/>
              <a:ahLst/>
              <a:cxnLst/>
              <a:rect l="l" t="t" r="r" b="b"/>
              <a:pathLst>
                <a:path w="843915" h="575310">
                  <a:moveTo>
                    <a:pt x="0" y="0"/>
                  </a:moveTo>
                  <a:lnTo>
                    <a:pt x="843915" y="5753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531042" y="2867978"/>
              <a:ext cx="105728" cy="93345"/>
            </a:xfrm>
            <a:custGeom>
              <a:avLst/>
              <a:gdLst/>
              <a:ahLst/>
              <a:cxnLst/>
              <a:rect l="l" t="t" r="r" b="b"/>
              <a:pathLst>
                <a:path w="105728" h="93345">
                  <a:moveTo>
                    <a:pt x="105728" y="93345"/>
                  </a:moveTo>
                  <a:lnTo>
                    <a:pt x="0" y="79057"/>
                  </a:lnTo>
                  <a:lnTo>
                    <a:pt x="5334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4913948" y="3144202"/>
              <a:ext cx="597218" cy="381952"/>
            </a:xfrm>
            <a:custGeom>
              <a:avLst/>
              <a:gdLst/>
              <a:ahLst/>
              <a:cxnLst/>
              <a:rect l="l" t="t" r="r" b="b"/>
              <a:pathLst>
                <a:path w="597218" h="381952">
                  <a:moveTo>
                    <a:pt x="0" y="0"/>
                  </a:moveTo>
                  <a:lnTo>
                    <a:pt x="597218" y="3819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485448" y="3486150"/>
              <a:ext cx="105728" cy="91440"/>
            </a:xfrm>
            <a:custGeom>
              <a:avLst/>
              <a:gdLst/>
              <a:ahLst/>
              <a:cxnLst/>
              <a:rect l="l" t="t" r="r" b="b"/>
              <a:pathLst>
                <a:path w="105728" h="91440">
                  <a:moveTo>
                    <a:pt x="105728" y="91440"/>
                  </a:moveTo>
                  <a:lnTo>
                    <a:pt x="0" y="80010"/>
                  </a:lnTo>
                  <a:lnTo>
                    <a:pt x="514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4991100" y="3780472"/>
              <a:ext cx="604838" cy="429578"/>
            </a:xfrm>
            <a:custGeom>
              <a:avLst/>
              <a:gdLst/>
              <a:ahLst/>
              <a:cxnLst/>
              <a:rect l="l" t="t" r="r" b="b"/>
              <a:pathLst>
                <a:path w="604838" h="429578">
                  <a:moveTo>
                    <a:pt x="604838" y="0"/>
                  </a:moveTo>
                  <a:lnTo>
                    <a:pt x="0" y="4295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4913948" y="4170998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0" y="94298"/>
                  </a:moveTo>
                  <a:lnTo>
                    <a:pt x="49530" y="0"/>
                  </a:lnTo>
                  <a:lnTo>
                    <a:pt x="104775" y="7810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913948" y="4442460"/>
              <a:ext cx="589597" cy="334328"/>
            </a:xfrm>
            <a:custGeom>
              <a:avLst/>
              <a:gdLst/>
              <a:ahLst/>
              <a:cxnLst/>
              <a:rect l="l" t="t" r="r" b="b"/>
              <a:pathLst>
                <a:path w="589597" h="334328">
                  <a:moveTo>
                    <a:pt x="0" y="0"/>
                  </a:moveTo>
                  <a:lnTo>
                    <a:pt x="589597" y="3343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479732" y="4735830"/>
              <a:ext cx="106680" cy="88583"/>
            </a:xfrm>
            <a:custGeom>
              <a:avLst/>
              <a:gdLst/>
              <a:ahLst/>
              <a:cxnLst/>
              <a:rect l="l" t="t" r="r" b="b"/>
              <a:pathLst>
                <a:path w="106680" h="88583">
                  <a:moveTo>
                    <a:pt x="106680" y="88583"/>
                  </a:moveTo>
                  <a:lnTo>
                    <a:pt x="0" y="82867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3669030" y="2486025"/>
              <a:ext cx="1029653" cy="1775460"/>
            </a:xfrm>
            <a:custGeom>
              <a:avLst/>
              <a:gdLst/>
              <a:ahLst/>
              <a:cxnLst/>
              <a:rect l="l" t="t" r="r" b="b"/>
              <a:pathLst>
                <a:path w="1029653" h="1775460">
                  <a:moveTo>
                    <a:pt x="1029653" y="1775460"/>
                  </a:moveTo>
                  <a:lnTo>
                    <a:pt x="379095" y="913447"/>
                  </a:ln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3625215" y="2397442"/>
              <a:ext cx="87630" cy="106680"/>
            </a:xfrm>
            <a:custGeom>
              <a:avLst/>
              <a:gdLst/>
              <a:ahLst/>
              <a:cxnLst/>
              <a:rect l="l" t="t" r="r" b="b"/>
              <a:pathLst>
                <a:path w="87630" h="106680">
                  <a:moveTo>
                    <a:pt x="7620" y="0"/>
                  </a:moveTo>
                  <a:lnTo>
                    <a:pt x="87630" y="70485"/>
                  </a:lnTo>
                  <a:lnTo>
                    <a:pt x="0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5882640" y="4457700"/>
              <a:ext cx="397192" cy="338138"/>
            </a:xfrm>
            <a:custGeom>
              <a:avLst/>
              <a:gdLst/>
              <a:ahLst/>
              <a:cxnLst/>
              <a:rect l="l" t="t" r="r" b="b"/>
              <a:pathLst>
                <a:path w="397192" h="338138">
                  <a:moveTo>
                    <a:pt x="0" y="338138"/>
                  </a:moveTo>
                  <a:lnTo>
                    <a:pt x="39719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249352" y="4395788"/>
              <a:ext cx="102870" cy="98108"/>
            </a:xfrm>
            <a:custGeom>
              <a:avLst/>
              <a:gdLst/>
              <a:ahLst/>
              <a:cxnLst/>
              <a:rect l="l" t="t" r="r" b="b"/>
              <a:pathLst>
                <a:path w="102870" h="98108">
                  <a:moveTo>
                    <a:pt x="102870" y="0"/>
                  </a:moveTo>
                  <a:lnTo>
                    <a:pt x="60960" y="98108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5855970" y="2896552"/>
              <a:ext cx="570548" cy="1296352"/>
            </a:xfrm>
            <a:custGeom>
              <a:avLst/>
              <a:gdLst/>
              <a:ahLst/>
              <a:cxnLst/>
              <a:rect l="l" t="t" r="r" b="b"/>
              <a:pathLst>
                <a:path w="570548" h="1296352">
                  <a:moveTo>
                    <a:pt x="570548" y="129635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5812155" y="2808922"/>
              <a:ext cx="87630" cy="106680"/>
            </a:xfrm>
            <a:custGeom>
              <a:avLst/>
              <a:gdLst/>
              <a:ahLst/>
              <a:cxnLst/>
              <a:rect l="l" t="t" r="r" b="b"/>
              <a:pathLst>
                <a:path w="87630" h="106680">
                  <a:moveTo>
                    <a:pt x="5715" y="0"/>
                  </a:moveTo>
                  <a:lnTo>
                    <a:pt x="87630" y="68580"/>
                  </a:lnTo>
                  <a:lnTo>
                    <a:pt x="0" y="10668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3390900" y="2057400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1209675" y="2470785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212658" y="2953702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209675" y="3502342"/>
              <a:ext cx="344805" cy="344805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212658" y="4261485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209675" y="4741545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16255" y="4192905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5572125" y="2470785"/>
              <a:ext cx="344805" cy="344805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4636770" y="2953702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5572125" y="3502342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636770" y="4261485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5572125" y="4741545"/>
              <a:ext cx="344805" cy="3448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333172" y="4192905"/>
              <a:ext cx="277178" cy="202882"/>
            </a:xfrm>
            <a:prstGeom prst="roundRect">
              <a:avLst>
                <a:gd name="adj" fmla="val 18779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476338" y="216408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788092" y="2178844"/>
              <a:ext cx="3294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 空闲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295113" y="25774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7844" y="2591276"/>
              <a:ext cx="3294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 R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263806" y="298989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295113" y="36099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72442" y="3623786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 11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263806" y="429768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295113" y="4848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2442" y="4862989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 12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67403" y="42291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657563" y="25774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969318" y="2591276"/>
              <a:ext cx="32944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等待 R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687918" y="298989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657563" y="36099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p5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969318" y="3623786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 21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687918" y="429768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657563" y="4848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p6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5969318" y="4862989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 22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384321" y="42291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t6</a:t>
              </a:r>
            </a:p>
          </p:txBody>
        </p:sp>
      </p:grpSp>
      <p:grpSp>
        <p:nvGrpSpPr>
          <p:cNvPr id="103" name="c2-table-1"/>
          <p:cNvGrpSpPr/>
          <p:nvPr/>
        </p:nvGrpSpPr>
        <p:grpSpPr>
          <a:xfrm>
            <a:off x="6898005" y="1954530"/>
            <a:ext cx="4760595" cy="3441382"/>
            <a:chOff x="6898005" y="1954530"/>
            <a:chExt cx="4760595" cy="3441382"/>
          </a:xfrm>
        </p:grpSpPr>
        <p:sp>
          <p:nvSpPr>
            <p:cNvPr id="75" name="Rectangle 75"/>
            <p:cNvSpPr/>
            <p:nvPr/>
          </p:nvSpPr>
          <p:spPr>
            <a:xfrm>
              <a:off x="6898005" y="1954530"/>
              <a:ext cx="4760595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253288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634537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003352" y="2515552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/ p4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050149" y="2515552"/>
              <a:ext cx="19584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1 / 进程 2 等待资源 R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6898005" y="280987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6898005" y="2814638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7003352" y="2946082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/ p5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050149" y="2946082"/>
              <a:ext cx="24620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 R 运行，即处理 11 / 处理 21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6898005" y="324040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7003352" y="3376612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 / p6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050149" y="3376612"/>
              <a:ext cx="26235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不使用 R 运行，即处理 12 / 处理 22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898005" y="366998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6898005" y="3674745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003352" y="38061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8050149" y="3806190"/>
              <a:ext cx="480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空闲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6898005" y="410051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7003352" y="4236720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t1 / t3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8050149" y="4236720"/>
              <a:ext cx="2701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LOCK R，取走等待和 R 空闲两个令牌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6898005" y="45310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6898005" y="4535805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7003352" y="4666298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t2 / t4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050149" y="4666298"/>
              <a:ext cx="17885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UNLOCK R，令牌放回 p7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898005" y="496062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7003352" y="5096828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t5 / t6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8050149" y="5096828"/>
              <a:ext cx="19342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一轮处理结束，回到等待 R</a:t>
              </a:r>
            </a:p>
          </p:txBody>
        </p:sp>
        <p:sp>
          <p:nvSpPr>
            <p:cNvPr id="101" name="Rectangle 101"/>
            <p:cNvSpPr/>
            <p:nvPr/>
          </p:nvSpPr>
          <p:spPr>
            <a:xfrm>
              <a:off x="6898005" y="1954530"/>
              <a:ext cx="4760595" cy="344138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7940040" y="1954530"/>
              <a:ext cx="9525" cy="3441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9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104" name="Rectangle 104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07" name="Group 107"/>
            <p:cNvGrpSpPr/>
            <p:nvPr/>
          </p:nvGrpSpPr>
          <p:grpSpPr>
            <a:xfrm>
              <a:off x="738188" y="5884547"/>
              <a:ext cx="200023" cy="200023"/>
              <a:chOff x="738188" y="5884547"/>
              <a:chExt cx="200023" cy="200023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738188" y="58845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06" name="Freeform 106"/>
              <p:cNvSpPr/>
              <p:nvPr/>
            </p:nvSpPr>
            <p:spPr>
              <a:xfrm>
                <a:off x="871538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08" name="TextBox 108"/>
            <p:cNvSpPr txBox="1"/>
            <p:nvPr/>
          </p:nvSpPr>
          <p:spPr>
            <a:xfrm>
              <a:off x="1040511" y="5753576"/>
              <a:ext cx="1004138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初始时刻 p2、p4 有令牌，进程 1 正占用 R、进程 2 在等 R；p7 只有一个令牌而 t1 和 t3 都要取走它，互斥由网的结构本身保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证。</a:t>
              </a:r>
            </a:p>
          </p:txBody>
        </p:sp>
      </p:grpSp>
      <p:grpSp>
        <p:nvGrpSpPr>
          <p:cNvPr id="11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0" name="TextBox 11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其他图形工具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可达标识树：把所有可能的运行情况枚举出来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773439" cy="264033"/>
            <a:chOff x="526542" y="1545907"/>
            <a:chExt cx="877343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7734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把标识写成七元组 (p1, p2, p3, p4, p5, p6, p7)。可达标识树可用来判断可达性、有界性和有没有死标识。</a:t>
              </a:r>
            </a:p>
          </p:txBody>
        </p:sp>
      </p:grpSp>
      <p:grpSp>
        <p:nvGrpSpPr>
          <p:cNvPr id="95" name="c1-graph-1"/>
          <p:cNvGrpSpPr/>
          <p:nvPr/>
        </p:nvGrpSpPr>
        <p:grpSpPr>
          <a:xfrm>
            <a:off x="566799" y="1960245"/>
            <a:ext cx="5559619" cy="3719512"/>
            <a:chOff x="566799" y="1960245"/>
            <a:chExt cx="5559619" cy="3719512"/>
          </a:xfrm>
        </p:grpSpPr>
        <p:sp>
          <p:nvSpPr>
            <p:cNvPr id="9" name="Freeform 9"/>
            <p:cNvSpPr/>
            <p:nvPr/>
          </p:nvSpPr>
          <p:spPr>
            <a:xfrm>
              <a:off x="3347085" y="2200275"/>
              <a:ext cx="9525" cy="250508"/>
            </a:xfrm>
            <a:custGeom>
              <a:avLst/>
              <a:gdLst/>
              <a:ahLst/>
              <a:cxnLst/>
              <a:rect l="l" t="t" r="r" b="b"/>
              <a:pathLst>
                <a:path w="9525" h="250508">
                  <a:moveTo>
                    <a:pt x="0" y="0"/>
                  </a:moveTo>
                  <a:lnTo>
                    <a:pt x="0" y="25050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99460" y="24507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60295" y="2786062"/>
              <a:ext cx="709612" cy="308610"/>
            </a:xfrm>
            <a:custGeom>
              <a:avLst/>
              <a:gdLst/>
              <a:ahLst/>
              <a:cxnLst/>
              <a:rect l="l" t="t" r="r" b="b"/>
              <a:pathLst>
                <a:path w="709612" h="308610">
                  <a:moveTo>
                    <a:pt x="709612" y="0"/>
                  </a:moveTo>
                  <a:lnTo>
                    <a:pt x="0" y="3086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272665" y="3050858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0" y="80962"/>
                  </a:moveTo>
                  <a:lnTo>
                    <a:pt x="68580" y="0"/>
                  </a:lnTo>
                  <a:lnTo>
                    <a:pt x="106680" y="8667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623310" y="2786062"/>
              <a:ext cx="709612" cy="308610"/>
            </a:xfrm>
            <a:custGeom>
              <a:avLst/>
              <a:gdLst/>
              <a:ahLst/>
              <a:cxnLst/>
              <a:rect l="l" t="t" r="r" b="b"/>
              <a:pathLst>
                <a:path w="709612" h="308610">
                  <a:moveTo>
                    <a:pt x="0" y="0"/>
                  </a:moveTo>
                  <a:lnTo>
                    <a:pt x="709612" y="3086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13872" y="3050858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106680" y="80962"/>
                  </a:moveTo>
                  <a:lnTo>
                    <a:pt x="0" y="8667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360170" y="3371850"/>
              <a:ext cx="451485" cy="294322"/>
            </a:xfrm>
            <a:custGeom>
              <a:avLst/>
              <a:gdLst/>
              <a:ahLst/>
              <a:cxnLst/>
              <a:rect l="l" t="t" r="r" b="b"/>
              <a:pathLst>
                <a:path w="451485" h="294322">
                  <a:moveTo>
                    <a:pt x="451485" y="0"/>
                  </a:moveTo>
                  <a:lnTo>
                    <a:pt x="0" y="29432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280160" y="3626168"/>
              <a:ext cx="105727" cy="92392"/>
            </a:xfrm>
            <a:custGeom>
              <a:avLst/>
              <a:gdLst/>
              <a:ahLst/>
              <a:cxnLst/>
              <a:rect l="l" t="t" r="r" b="b"/>
              <a:pathLst>
                <a:path w="105727" h="92392">
                  <a:moveTo>
                    <a:pt x="0" y="92392"/>
                  </a:moveTo>
                  <a:lnTo>
                    <a:pt x="54292" y="0"/>
                  </a:lnTo>
                  <a:lnTo>
                    <a:pt x="105727" y="8001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111692" y="3371850"/>
              <a:ext cx="265748" cy="278130"/>
            </a:xfrm>
            <a:custGeom>
              <a:avLst/>
              <a:gdLst/>
              <a:ahLst/>
              <a:cxnLst/>
              <a:rect l="l" t="t" r="r" b="b"/>
              <a:pathLst>
                <a:path w="265748" h="278130">
                  <a:moveTo>
                    <a:pt x="0" y="0"/>
                  </a:moveTo>
                  <a:lnTo>
                    <a:pt x="265748" y="2781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343150" y="3616642"/>
              <a:ext cx="100965" cy="101917"/>
            </a:xfrm>
            <a:custGeom>
              <a:avLst/>
              <a:gdLst/>
              <a:ahLst/>
              <a:cxnLst/>
              <a:rect l="l" t="t" r="r" b="b"/>
              <a:pathLst>
                <a:path w="100965" h="101917">
                  <a:moveTo>
                    <a:pt x="100965" y="101917"/>
                  </a:moveTo>
                  <a:lnTo>
                    <a:pt x="0" y="65723"/>
                  </a:lnTo>
                  <a:lnTo>
                    <a:pt x="6858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315778" y="3371850"/>
              <a:ext cx="265747" cy="278130"/>
            </a:xfrm>
            <a:custGeom>
              <a:avLst/>
              <a:gdLst/>
              <a:ahLst/>
              <a:cxnLst/>
              <a:rect l="l" t="t" r="r" b="b"/>
              <a:pathLst>
                <a:path w="265747" h="278130">
                  <a:moveTo>
                    <a:pt x="265747" y="0"/>
                  </a:moveTo>
                  <a:lnTo>
                    <a:pt x="0" y="2781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250055" y="3616642"/>
              <a:ext cx="100012" cy="101917"/>
            </a:xfrm>
            <a:custGeom>
              <a:avLst/>
              <a:gdLst/>
              <a:ahLst/>
              <a:cxnLst/>
              <a:rect l="l" t="t" r="r" b="b"/>
              <a:pathLst>
                <a:path w="100012" h="101917">
                  <a:moveTo>
                    <a:pt x="0" y="101917"/>
                  </a:moveTo>
                  <a:lnTo>
                    <a:pt x="31433" y="0"/>
                  </a:lnTo>
                  <a:lnTo>
                    <a:pt x="100012" y="6572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881562" y="3371850"/>
              <a:ext cx="451485" cy="294322"/>
            </a:xfrm>
            <a:custGeom>
              <a:avLst/>
              <a:gdLst/>
              <a:ahLst/>
              <a:cxnLst/>
              <a:rect l="l" t="t" r="r" b="b"/>
              <a:pathLst>
                <a:path w="451485" h="294322">
                  <a:moveTo>
                    <a:pt x="0" y="0"/>
                  </a:moveTo>
                  <a:lnTo>
                    <a:pt x="451485" y="29432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307330" y="3626168"/>
              <a:ext cx="105727" cy="92392"/>
            </a:xfrm>
            <a:custGeom>
              <a:avLst/>
              <a:gdLst/>
              <a:ahLst/>
              <a:cxnLst/>
              <a:rect l="l" t="t" r="r" b="b"/>
              <a:pathLst>
                <a:path w="105727" h="92392">
                  <a:moveTo>
                    <a:pt x="105727" y="92392"/>
                  </a:moveTo>
                  <a:lnTo>
                    <a:pt x="0" y="80010"/>
                  </a:lnTo>
                  <a:lnTo>
                    <a:pt x="514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559368" y="3958590"/>
              <a:ext cx="9525" cy="250507"/>
            </a:xfrm>
            <a:custGeom>
              <a:avLst/>
              <a:gdLst/>
              <a:ahLst/>
              <a:cxnLst/>
              <a:rect l="l" t="t" r="r" b="b"/>
              <a:pathLst>
                <a:path w="9525" h="250507">
                  <a:moveTo>
                    <a:pt x="0" y="0"/>
                  </a:moveTo>
                  <a:lnTo>
                    <a:pt x="0" y="2505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511742" y="42090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4787265" y="3958590"/>
              <a:ext cx="580072" cy="301942"/>
            </a:xfrm>
            <a:custGeom>
              <a:avLst/>
              <a:gdLst/>
              <a:ahLst/>
              <a:cxnLst/>
              <a:rect l="l" t="t" r="r" b="b"/>
              <a:pathLst>
                <a:path w="580072" h="301942">
                  <a:moveTo>
                    <a:pt x="580072" y="0"/>
                  </a:moveTo>
                  <a:lnTo>
                    <a:pt x="0" y="3019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02492" y="4218622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0" y="85725"/>
                  </a:moveTo>
                  <a:lnTo>
                    <a:pt x="62865" y="0"/>
                  </a:lnTo>
                  <a:lnTo>
                    <a:pt x="106680" y="8382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5596890" y="3958590"/>
              <a:ext cx="9525" cy="250507"/>
            </a:xfrm>
            <a:custGeom>
              <a:avLst/>
              <a:gdLst/>
              <a:ahLst/>
              <a:cxnLst/>
              <a:rect l="l" t="t" r="r" b="b"/>
              <a:pathLst>
                <a:path w="9525" h="250507">
                  <a:moveTo>
                    <a:pt x="0" y="0"/>
                  </a:moveTo>
                  <a:lnTo>
                    <a:pt x="0" y="2505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5549265" y="42090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2008822" y="4544378"/>
              <a:ext cx="388620" cy="289560"/>
            </a:xfrm>
            <a:custGeom>
              <a:avLst/>
              <a:gdLst/>
              <a:ahLst/>
              <a:cxnLst/>
              <a:rect l="l" t="t" r="r" b="b"/>
              <a:pathLst>
                <a:path w="388620" h="289560">
                  <a:moveTo>
                    <a:pt x="388620" y="0"/>
                  </a:moveTo>
                  <a:lnTo>
                    <a:pt x="0" y="2895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932622" y="4795838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0" y="95250"/>
                  </a:moveTo>
                  <a:lnTo>
                    <a:pt x="47625" y="0"/>
                  </a:lnTo>
                  <a:lnTo>
                    <a:pt x="104775" y="7620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720340" y="4544378"/>
              <a:ext cx="388620" cy="289560"/>
            </a:xfrm>
            <a:custGeom>
              <a:avLst/>
              <a:gdLst/>
              <a:ahLst/>
              <a:cxnLst/>
              <a:rect l="l" t="t" r="r" b="b"/>
              <a:pathLst>
                <a:path w="388620" h="289560">
                  <a:moveTo>
                    <a:pt x="0" y="0"/>
                  </a:moveTo>
                  <a:lnTo>
                    <a:pt x="388620" y="2895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3080385" y="4795838"/>
              <a:ext cx="104775" cy="95250"/>
            </a:xfrm>
            <a:custGeom>
              <a:avLst/>
              <a:gdLst/>
              <a:ahLst/>
              <a:cxnLst/>
              <a:rect l="l" t="t" r="r" b="b"/>
              <a:pathLst>
                <a:path w="104775" h="95250">
                  <a:moveTo>
                    <a:pt x="104775" y="95250"/>
                  </a:moveTo>
                  <a:lnTo>
                    <a:pt x="0" y="76200"/>
                  </a:lnTo>
                  <a:lnTo>
                    <a:pt x="571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317308" y="5131118"/>
              <a:ext cx="305752" cy="247650"/>
            </a:xfrm>
            <a:custGeom>
              <a:avLst/>
              <a:gdLst/>
              <a:ahLst/>
              <a:cxnLst/>
              <a:rect l="l" t="t" r="r" b="b"/>
              <a:pathLst>
                <a:path w="305752" h="247650">
                  <a:moveTo>
                    <a:pt x="305752" y="0"/>
                  </a:moveTo>
                  <a:lnTo>
                    <a:pt x="0" y="2476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243965" y="5342572"/>
              <a:ext cx="103823" cy="96203"/>
            </a:xfrm>
            <a:custGeom>
              <a:avLst/>
              <a:gdLst/>
              <a:ahLst/>
              <a:cxnLst/>
              <a:rect l="l" t="t" r="r" b="b"/>
              <a:pathLst>
                <a:path w="103823" h="96203">
                  <a:moveTo>
                    <a:pt x="0" y="96203"/>
                  </a:moveTo>
                  <a:lnTo>
                    <a:pt x="43815" y="0"/>
                  </a:lnTo>
                  <a:lnTo>
                    <a:pt x="103823" y="7334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1919288" y="5131118"/>
              <a:ext cx="305752" cy="247650"/>
            </a:xfrm>
            <a:custGeom>
              <a:avLst/>
              <a:gdLst/>
              <a:ahLst/>
              <a:cxnLst/>
              <a:rect l="l" t="t" r="r" b="b"/>
              <a:pathLst>
                <a:path w="305752" h="247650">
                  <a:moveTo>
                    <a:pt x="0" y="0"/>
                  </a:moveTo>
                  <a:lnTo>
                    <a:pt x="305752" y="2476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2194560" y="5342572"/>
              <a:ext cx="103823" cy="96203"/>
            </a:xfrm>
            <a:custGeom>
              <a:avLst/>
              <a:gdLst/>
              <a:ahLst/>
              <a:cxnLst/>
              <a:rect l="l" t="t" r="r" b="b"/>
              <a:pathLst>
                <a:path w="103823" h="96203">
                  <a:moveTo>
                    <a:pt x="103823" y="96203"/>
                  </a:moveTo>
                  <a:lnTo>
                    <a:pt x="0" y="73343"/>
                  </a:lnTo>
                  <a:lnTo>
                    <a:pt x="6000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910840" y="1960245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910840" y="2546032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560195" y="313182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4261485" y="313182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0082" y="371856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123122" y="371856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698558" y="371856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5161598" y="3718560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123122" y="4304348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4035742" y="4304348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161598" y="4304348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335405" y="4891088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2910840" y="4891088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0082" y="5438775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2010728" y="5438775"/>
              <a:ext cx="871538" cy="240030"/>
            </a:xfrm>
            <a:prstGeom prst="roundRect">
              <a:avLst>
                <a:gd name="adj" fmla="val 3968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817557" y="2024062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(0,1,0,1,0,0,0)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817557" y="2609850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(0,0,1,1,0,0,1)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466912" y="3196590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(1,0,0,1,0,0,1)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167249" y="3196590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(0,0,1,0,1,0,0)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66799" y="3782378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(0,1,0,1,0,0,0)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029839" y="3782378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(1,0,0,0,1,0,0)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605274" y="3782378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(1,0,0,0,1,0,0)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067362" y="3782378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(0,0,1,0,0,1,1)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029839" y="436816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(1,0,0,0,0,1,1)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942459" y="436816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(1,0,0,0,0,1,1)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067362" y="436816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(0,0,1,1,0,0,1)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242122" y="495490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(0,1,0,0,0,1,0)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817557" y="495490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(1,0,0,1,0,0,1)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66799" y="550354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(0,1,0,1,0,0,0)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916492" y="5503545"/>
              <a:ext cx="105905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(0,0,1,0,0,1,1)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3250882" y="2294572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3281609" y="23236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2576512" y="288036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606286" y="291036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t5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3926205" y="288036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3955979" y="291036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1450658" y="346710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1480431" y="349615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2182178" y="346710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2211951" y="349615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t3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4320540" y="346710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4350314" y="349615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t5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052060" y="3467100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081834" y="349615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2463165" y="4052888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2493891" y="408193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t4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4939665" y="4052888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4969439" y="408193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t5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5501640" y="4052888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5531414" y="408193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t6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2069782" y="4638675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2099556" y="466867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t1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2857500" y="4638675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2887274" y="4668679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t6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1338262" y="5206365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1368036" y="523541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t6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2013585" y="5206365"/>
              <a:ext cx="19050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2043359" y="5235416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t2</a:t>
              </a:r>
            </a:p>
          </p:txBody>
        </p:sp>
      </p:grpSp>
      <p:grpSp>
        <p:nvGrpSpPr>
          <p:cNvPr id="104" name="c2-card-1"/>
          <p:cNvGrpSpPr/>
          <p:nvPr/>
        </p:nvGrpSpPr>
        <p:grpSpPr>
          <a:xfrm>
            <a:off x="6464618" y="1928812"/>
            <a:ext cx="5193982" cy="1485900"/>
            <a:chOff x="6464618" y="1928812"/>
            <a:chExt cx="5193982" cy="1485900"/>
          </a:xfrm>
        </p:grpSpPr>
        <p:sp>
          <p:nvSpPr>
            <p:cNvPr id="96" name="Rectangle 96"/>
            <p:cNvSpPr/>
            <p:nvPr/>
          </p:nvSpPr>
          <p:spPr>
            <a:xfrm>
              <a:off x="6464618" y="1928812"/>
              <a:ext cx="5193982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7" name="Rectangle 97"/>
            <p:cNvSpPr/>
            <p:nvPr/>
          </p:nvSpPr>
          <p:spPr>
            <a:xfrm>
              <a:off x="6474142" y="2062162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6689408" y="211550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6778028" y="214836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怎么画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6697980" y="251555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853999" y="245935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结点是标识，即各位置的令牌数；边上标激发的转移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6697980" y="281559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6853999" y="2759392"/>
              <a:ext cx="42828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M0 出发，每个可激发的转移画一条边；树上已有的标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识画成灰框，不再展开</a:t>
              </a:r>
            </a:p>
          </p:txBody>
        </p:sp>
      </p:grpSp>
      <p:grpSp>
        <p:nvGrpSpPr>
          <p:cNvPr id="110" name="c2-card-2"/>
          <p:cNvGrpSpPr/>
          <p:nvPr/>
        </p:nvGrpSpPr>
        <p:grpSpPr>
          <a:xfrm>
            <a:off x="6464618" y="3584258"/>
            <a:ext cx="5193982" cy="1185862"/>
            <a:chOff x="6464618" y="3584258"/>
            <a:chExt cx="5193982" cy="1185862"/>
          </a:xfrm>
        </p:grpSpPr>
        <p:sp>
          <p:nvSpPr>
            <p:cNvPr id="105" name="Rectangle 105"/>
            <p:cNvSpPr/>
            <p:nvPr/>
          </p:nvSpPr>
          <p:spPr>
            <a:xfrm>
              <a:off x="6464618" y="3584258"/>
              <a:ext cx="5193982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6474142" y="3717608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6689408" y="3770948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6770878" y="380380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跟着走一步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6682549" y="4115752"/>
              <a:ext cx="45571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M0 时 p7 没有令牌，t1、t3 都不能激发，只有 t2 可以：取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走 p2 的令牌，在 p3 和 p7 各放一个。</a:t>
              </a:r>
            </a:p>
          </p:txBody>
        </p:sp>
      </p:grpSp>
      <p:grpSp>
        <p:nvGrpSpPr>
          <p:cNvPr id="116" name="c2-callout-3"/>
          <p:cNvGrpSpPr/>
          <p:nvPr/>
        </p:nvGrpSpPr>
        <p:grpSpPr>
          <a:xfrm>
            <a:off x="6464618" y="4939665"/>
            <a:ext cx="5193982" cy="729615"/>
            <a:chOff x="6464618" y="4939665"/>
            <a:chExt cx="5193982" cy="729615"/>
          </a:xfrm>
        </p:grpSpPr>
        <p:sp>
          <p:nvSpPr>
            <p:cNvPr id="111" name="Rectangle 111"/>
            <p:cNvSpPr/>
            <p:nvPr/>
          </p:nvSpPr>
          <p:spPr>
            <a:xfrm>
              <a:off x="6464618" y="493966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14" name="Group 114"/>
            <p:cNvGrpSpPr/>
            <p:nvPr/>
          </p:nvGrpSpPr>
          <p:grpSpPr>
            <a:xfrm>
              <a:off x="6669405" y="5204462"/>
              <a:ext cx="200023" cy="200023"/>
              <a:chOff x="6669405" y="5204462"/>
              <a:chExt cx="200023" cy="200023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6669405" y="52044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3" name="Freeform 113"/>
              <p:cNvSpPr/>
              <p:nvPr/>
            </p:nvSpPr>
            <p:spPr>
              <a:xfrm>
                <a:off x="6802755" y="52711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15" name="TextBox 115"/>
            <p:cNvSpPr txBox="1"/>
            <p:nvPr/>
          </p:nvSpPr>
          <p:spPr>
            <a:xfrm>
              <a:off x="6972110" y="5086350"/>
              <a:ext cx="41713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本例 8 个不同标识都有能激发的转移，没有死标识；p2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 p5 从不同时为 1，R 不会被两个进程同时占用。</a:t>
              </a:r>
            </a:p>
          </p:txBody>
        </p:sp>
      </p:grpSp>
      <p:grpSp>
        <p:nvGrpSpPr>
          <p:cNvPr id="12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17" name="Rectangle 117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1" name="Group 121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118" name="Freeform 118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9" name="Freeform 119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0" name="Freeform 120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2" name="TextBox 122"/>
            <p:cNvSpPr txBox="1"/>
            <p:nvPr/>
          </p:nvSpPr>
          <p:spPr>
            <a:xfrm>
              <a:off x="1040892" y="6028373"/>
              <a:ext cx="6601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更正：原课件的树在 (0,0,1,0,1,0,0) 下漏画了同样能激发的 t5，本页已补上。</a:t>
              </a:r>
            </a:p>
          </p:txBody>
        </p:sp>
      </p:grpSp>
      <p:grpSp>
        <p:nvGrpSpPr>
          <p:cNvPr id="12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4" name="TextBox 12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3.8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358515" cy="3351847"/>
            <a:chOff x="667512" y="1835468"/>
            <a:chExt cx="3358515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第八节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验证软件需求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一致性、完整性、现实性、有效性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从四个方面验证正确性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三类验证方法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需求分析工具应满足的要求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0492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PSL 与 PSA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验证软件需求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从四个方面验证软件需求的正确性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276022" cy="4305300"/>
            <a:chOff x="533400" y="1524000"/>
            <a:chExt cx="6276022" cy="4305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8768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5818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83180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1681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怎样验证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41744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44015" y="2284095"/>
              <a:ext cx="2110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所有需求之间不能互相矛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54805" y="2150745"/>
              <a:ext cx="23012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需求量大时人工审查难以保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证，可用形式化的需求描述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语言配合自动分析工具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279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032760"/>
              <a:ext cx="6276022" cy="10210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34385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44015" y="3305175"/>
              <a:ext cx="2110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系统必须做的事都写进去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了，没有遗漏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54805" y="3171825"/>
              <a:ext cx="23012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只有系统真正运行起来用户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才能确认，所以常用快速原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型来暴露遗漏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04907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445960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44015" y="4326255"/>
              <a:ext cx="2110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用现有的硬件和软件技术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能够实现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54805" y="4192905"/>
              <a:ext cx="2301240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与硬件条件、技术水平和开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发周期对照，必要时做模拟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或性能仿真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50701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5074920"/>
              <a:ext cx="6276022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534733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44015" y="5213985"/>
              <a:ext cx="2110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确实能解决用户面对的问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54805" y="521398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逐条确认这条需求对应用户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的哪个实际问题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276022" cy="4305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532572" y="1524000"/>
              <a:ext cx="9525" cy="4305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043362" y="1524000"/>
              <a:ext cx="9525" cy="4305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c2-card-1"/>
          <p:cNvGrpSpPr/>
          <p:nvPr/>
        </p:nvGrpSpPr>
        <p:grpSpPr>
          <a:xfrm>
            <a:off x="7114222" y="1524000"/>
            <a:ext cx="4544378" cy="2232660"/>
            <a:chOff x="7114222" y="1524000"/>
            <a:chExt cx="4544378" cy="2232660"/>
          </a:xfrm>
        </p:grpSpPr>
        <p:sp>
          <p:nvSpPr>
            <p:cNvPr id="32" name="Rectangle 32"/>
            <p:cNvSpPr/>
            <p:nvPr/>
          </p:nvSpPr>
          <p:spPr>
            <a:xfrm>
              <a:off x="7114222" y="1524000"/>
              <a:ext cx="4544378" cy="2232660"/>
            </a:xfrm>
            <a:prstGeom prst="roundRect">
              <a:avLst>
                <a:gd name="adj" fmla="val 597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23772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388377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课件给的三类方法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29488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87602" y="211074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验证需求的一致性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29488" y="25088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87602" y="244602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验证需求的现实性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29488" y="28441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87602" y="278130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验证需求的完整性和有效性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17296" y="3113246"/>
              <a:ext cx="39143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完整性和有效性放在一起，因为两者都只能由用户对着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可运行的东西来确认。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7114222" y="3947160"/>
            <a:ext cx="4544378" cy="1882140"/>
            <a:chOff x="7114222" y="3947160"/>
            <a:chExt cx="4544378" cy="1882140"/>
          </a:xfrm>
        </p:grpSpPr>
        <p:sp>
          <p:nvSpPr>
            <p:cNvPr id="43" name="Rectangle 43"/>
            <p:cNvSpPr/>
            <p:nvPr/>
          </p:nvSpPr>
          <p:spPr>
            <a:xfrm>
              <a:off x="7114222" y="3947160"/>
              <a:ext cx="4544378" cy="1882140"/>
            </a:xfrm>
            <a:prstGeom prst="roundRect">
              <a:avLst>
                <a:gd name="adj" fmla="val 607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06952" y="4784526"/>
              <a:ext cx="224134" cy="192560"/>
              <a:chOff x="7306952" y="4784526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419023" y="485489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306952" y="478452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419023" y="493268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7620952" y="450723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按事实 5 的数据，人工检查能查出约 65%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的需求错误，是最有效的一种手段；评审时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要逐条问这条需求怎样验收。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验证软件需求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用于需求分析的软件工具：要求与两个例子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ard-1"/>
          <p:cNvGrpSpPr/>
          <p:nvPr/>
        </p:nvGrpSpPr>
        <p:grpSpPr>
          <a:xfrm>
            <a:off x="533400" y="1524000"/>
            <a:ext cx="5410200" cy="2475548"/>
            <a:chOff x="533400" y="1524000"/>
            <a:chExt cx="5410200" cy="24755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75548"/>
            </a:xfrm>
            <a:prstGeom prst="roundRect">
              <a:avLst>
                <a:gd name="adj" fmla="val 53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0884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9056" y="17564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工具应满足的四条要求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9620" y="207073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2796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0514" y="208264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必须有形式化的语法（或表），可以用计算机自动处理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用这种语法说明的内容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9620" y="265938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7965" y="26997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0514" y="2672239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使用这个软件工具能够导出详细的文档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9620" y="297751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27965" y="30178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0514" y="298942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必须提供分析规格说明书的不一致性和冗余性的手段，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并能产生指明完整性分析结果的报告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9620" y="356711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7965" y="36064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0514" y="357901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使用之后应该能够改进通信状况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4179570"/>
            <a:ext cx="5410200" cy="1274445"/>
            <a:chOff x="533400" y="4179570"/>
            <a:chExt cx="5410200" cy="1274445"/>
          </a:xfrm>
        </p:grpSpPr>
        <p:sp>
          <p:nvSpPr>
            <p:cNvPr id="24" name="Rectangle 24"/>
            <p:cNvSpPr/>
            <p:nvPr/>
          </p:nvSpPr>
          <p:spPr>
            <a:xfrm>
              <a:off x="533400" y="4179570"/>
              <a:ext cx="5410200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285875" y="430815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48659" y="430815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年份与出处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889" y="4732972"/>
              <a:ext cx="16002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RSL（需求陈述语言）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75166" y="4732972"/>
              <a:ext cx="33000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1977 年，与 ASSM（抽象系统语义模型）配套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024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5029200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889" y="5156835"/>
              <a:ext cx="8097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PSL / PSA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75166" y="5156835"/>
              <a:ext cx="34536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1977 年，密执安大学；CADSAT 的一个组成部分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179570"/>
              <a:ext cx="5410200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367915" y="417957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1840230"/>
            <a:chOff x="6248400" y="1524000"/>
            <a:chExt cx="5410200" cy="1840230"/>
          </a:xfrm>
        </p:grpSpPr>
        <p:sp>
          <p:nvSpPr>
            <p:cNvPr id="36" name="Rectangle 36"/>
            <p:cNvSpPr/>
            <p:nvPr/>
          </p:nvSpPr>
          <p:spPr>
            <a:xfrm>
              <a:off x="6248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57925" y="1657350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84620" y="1722120"/>
              <a:ext cx="888682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47630" y="1756410"/>
              <a:ext cx="7636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PSL 与 PSA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92240" y="21431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48831" y="2082641"/>
              <a:ext cx="445084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PSL（Problem Statement Language）是形式化描述语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言，形式与自然语言相近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92240" y="273177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48831" y="2672239"/>
              <a:ext cx="458609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PSA（Problem Statement Analyzer）按用户请求从数据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库取信息，生成各种分析报告，种类可达 30 余种</a:t>
              </a:r>
            </a:p>
          </p:txBody>
        </p:sp>
      </p:grpSp>
      <p:grpSp>
        <p:nvGrpSpPr>
          <p:cNvPr id="48" name="c2-code-2"/>
          <p:cNvGrpSpPr/>
          <p:nvPr/>
        </p:nvGrpSpPr>
        <p:grpSpPr>
          <a:xfrm>
            <a:off x="6248400" y="3544252"/>
            <a:ext cx="5410200" cy="1829752"/>
            <a:chOff x="6248400" y="3544252"/>
            <a:chExt cx="5410200" cy="1829752"/>
          </a:xfrm>
        </p:grpSpPr>
        <p:sp>
          <p:nvSpPr>
            <p:cNvPr id="45" name="Rectangle 45"/>
            <p:cNvSpPr/>
            <p:nvPr/>
          </p:nvSpPr>
          <p:spPr>
            <a:xfrm>
              <a:off x="6248400" y="3544252"/>
              <a:ext cx="5410200" cy="1829752"/>
            </a:xfrm>
            <a:prstGeom prst="roundRect">
              <a:avLst>
                <a:gd name="adj" fmla="val 52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76797" y="3696176"/>
              <a:ext cx="1526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工资处理系统的 PSL 片段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76416" y="3957638"/>
              <a:ext cx="3311081" cy="1342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DEFINE INTERFACE  department-employees;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GENERATES     employee-information;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RECEIVES      paysystem-output;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DEFINE PROCESS    payroll-processing;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RECEIVES      employee-information;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GENERATES     paysystem-output;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UPDATES       payroll-master-information;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9" name="Rectangle 4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511" y="6011704"/>
              <a:ext cx="105952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更正：原课件里 employee 多处误拼为 emplyee、employes，paysystem-output 一处写成 paysystem-out，这里已统一。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487575" y="2705100"/>
            <a:ext cx="2836850" cy="2305050"/>
            <a:chOff x="8487575" y="2705100"/>
            <a:chExt cx="2836850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487575" y="2705100"/>
              <a:ext cx="2836850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3.9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469130" cy="3351847"/>
            <a:chOff x="667512" y="1835468"/>
            <a:chExt cx="446913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附加材料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10035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可视化建模与 UML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课件后半部分的英文补充材料，考试要求了解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可视化建模解决什么问题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1534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课件列出的八种 UML 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812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9867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Rational Rose 的界面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93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258" y="407194"/>
              <a:ext cx="24969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可视化建模与 UML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可视化建模：用标准图形符号为系统建模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3640455"/>
            <a:chOff x="533400" y="1524000"/>
            <a:chExt cx="5410200" cy="36404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640455"/>
            </a:xfrm>
            <a:prstGeom prst="roundRect">
              <a:avLst>
                <a:gd name="adj" fmla="val 3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3737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128492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7069" y="1763554"/>
              <a:ext cx="1160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Visual Modeling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Visual modeling is modeling using standard graphical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notations：用一套标准的图形符号为系统建模。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2955" y="27527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9546" y="2692241"/>
              <a:ext cx="454101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捕获业务过程（captures business processes）：用例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分析从用户的视角描述业务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2955" y="334422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9546" y="3283744"/>
              <a:ext cx="45770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作为沟通工具（communication tool）：把业务领域的对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象和计算机领域的对象对应起来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2955" y="39357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9546" y="3875246"/>
              <a:ext cx="444182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管理复杂度（manages complexity）：人一次只能处理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加减 2 个概念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2955" y="45272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9546" y="4466749"/>
              <a:ext cx="445985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促进复用（promotes reuse）：同一批可重用构件用在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多个系统里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5350192"/>
            <a:ext cx="5410200" cy="756285"/>
            <a:chOff x="533400" y="5350192"/>
            <a:chExt cx="5410200" cy="756285"/>
          </a:xfrm>
        </p:grpSpPr>
        <p:sp>
          <p:nvSpPr>
            <p:cNvPr id="21" name="Rectangle 21"/>
            <p:cNvSpPr/>
            <p:nvPr/>
          </p:nvSpPr>
          <p:spPr>
            <a:xfrm>
              <a:off x="533400" y="535019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628323"/>
              <a:ext cx="200026" cy="200026"/>
              <a:chOff x="738188" y="5628323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6283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6949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57283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5497354"/>
              <a:ext cx="437870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课件引用 Rumbaugh 的一句话：建模捕获系统的本质部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分。图的价值在于取舍，把次要细节挡在外面。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2156460"/>
            <a:chOff x="6248400" y="1524000"/>
            <a:chExt cx="5410200" cy="2156460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2156460"/>
            </a:xfrm>
            <a:prstGeom prst="roundRect">
              <a:avLst>
                <a:gd name="adj" fmla="val 61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165735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0335" y="1727835"/>
              <a:ext cx="485775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2779" y="1763554"/>
              <a:ext cx="320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UML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83171" y="1767364"/>
              <a:ext cx="25318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Unified Modeling Language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83096" y="2119789"/>
              <a:ext cx="460413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是用来对软件密集型系统的制品进行可视化、详细描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述、构造和文档化的标准语言（visualizing, specifying,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constructing, documenting）。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97955" y="30422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4546" y="298275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它综合了数据建模、业务建模、对象建模、构件建模四方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面的长处</a:t>
              </a:r>
            </a:p>
          </p:txBody>
        </p:sp>
      </p:grpSp>
      <p:grpSp>
        <p:nvGrpSpPr>
          <p:cNvPr id="48" name="c2-bullets-2"/>
          <p:cNvGrpSpPr/>
          <p:nvPr/>
        </p:nvGrpSpPr>
        <p:grpSpPr>
          <a:xfrm>
            <a:off x="6241161" y="3889534"/>
            <a:ext cx="2177542" cy="1934147"/>
            <a:chOff x="6241161" y="3889534"/>
            <a:chExt cx="2177542" cy="1934147"/>
          </a:xfrm>
        </p:grpSpPr>
        <p:sp>
          <p:nvSpPr>
            <p:cNvPr id="37" name="TextBox 37"/>
            <p:cNvSpPr txBox="1"/>
            <p:nvPr/>
          </p:nvSpPr>
          <p:spPr>
            <a:xfrm>
              <a:off x="6241161" y="3889534"/>
              <a:ext cx="161741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UML 可以用来建模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248400" y="4257675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2621" y="422767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应用与外部世界的交互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248400" y="458724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2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2621" y="455723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应用的行为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248400" y="4915852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2621" y="488584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系统的结构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248400" y="524541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92621" y="5215414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企业的体系结构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248400" y="557498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92621" y="554497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系统中的构件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705233" cy="909257"/>
            <a:chOff x="520446" y="342900"/>
            <a:chExt cx="37052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93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258" y="407194"/>
              <a:ext cx="24969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可视化建模与 UML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7052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课件列出的八种 UML 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11125200" cy="4001453"/>
            <a:chOff x="533400" y="1524000"/>
            <a:chExt cx="11125200" cy="400145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481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43572" y="165163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中文名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02939" y="165163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英文名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84083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12492" y="2096452"/>
              <a:ext cx="15772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Use-Case Diagram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50052" y="209645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系统与外部世界（参与者）之间的交互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08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1363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54127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12492" y="2541270"/>
              <a:ext cx="14785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Activity Diagram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50052" y="254127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系统内部事件的流动顺序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527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29860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2492" y="2986088"/>
              <a:ext cx="1570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Sequence Diagram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50052" y="29860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实现一项功能时对象之间按时间先后传递的消息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9755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02318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2270" y="343090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协作图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12492" y="3430905"/>
              <a:ext cx="19327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Collaboration Diagram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50052" y="343090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围绕对象及对象之间的链接组织的对象交互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423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2270" y="387477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12492" y="3874770"/>
              <a:ext cx="12244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 Diagram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50052" y="387477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软件的静态结构：类、属性、操作与关系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871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191952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2270" y="43195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12492" y="4319588"/>
              <a:ext cx="17700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Statechart Diagram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50052" y="431958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单个类的生命周期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6320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2270" y="476440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12492" y="4764405"/>
              <a:ext cx="17066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Component Diagram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750052" y="476440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软件构件的组织以及构件之间的依赖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0758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080635"/>
              <a:ext cx="11125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2270" y="5209223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412492" y="5209223"/>
              <a:ext cx="17608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Deployment Diagram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750052" y="5209223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构件在企业各个节点上的分布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40014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308860" y="1524000"/>
              <a:ext cx="9525" cy="40014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646420" y="1524000"/>
              <a:ext cx="9525" cy="40014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0" name="Rectangle 5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3610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顺序图和协作图描述的是同一件事：前者强调消息的时间顺序，后者强调对象之间的链接关系。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35380" cy="909257"/>
            <a:chOff x="520446" y="342900"/>
            <a:chExt cx="53353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9365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258" y="407194"/>
              <a:ext cx="24969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 · 可视化建模与 UML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353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视图与 Rational Rose 的界面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graph-1"/>
          <p:cNvGrpSpPr/>
          <p:nvPr/>
        </p:nvGrpSpPr>
        <p:grpSpPr>
          <a:xfrm>
            <a:off x="821055" y="1787842"/>
            <a:ext cx="4834890" cy="2356485"/>
            <a:chOff x="821055" y="1787842"/>
            <a:chExt cx="4834890" cy="2356485"/>
          </a:xfrm>
        </p:grpSpPr>
        <p:sp>
          <p:nvSpPr>
            <p:cNvPr id="7" name="Freeform 7"/>
            <p:cNvSpPr/>
            <p:nvPr/>
          </p:nvSpPr>
          <p:spPr>
            <a:xfrm>
              <a:off x="1600200" y="2067878"/>
              <a:ext cx="1262062" cy="692468"/>
            </a:xfrm>
            <a:custGeom>
              <a:avLst/>
              <a:gdLst/>
              <a:ahLst/>
              <a:cxnLst/>
              <a:rect l="l" t="t" r="r" b="b"/>
              <a:pathLst>
                <a:path w="1262062" h="692468">
                  <a:moveTo>
                    <a:pt x="1262062" y="69246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614738" y="2067878"/>
              <a:ext cx="1262062" cy="692468"/>
            </a:xfrm>
            <a:custGeom>
              <a:avLst/>
              <a:gdLst/>
              <a:ahLst/>
              <a:cxnLst/>
              <a:rect l="l" t="t" r="r" b="b"/>
              <a:pathLst>
                <a:path w="1262062" h="692468">
                  <a:moveTo>
                    <a:pt x="0" y="692468"/>
                  </a:moveTo>
                  <a:lnTo>
                    <a:pt x="126206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600200" y="3171825"/>
              <a:ext cx="1262062" cy="692467"/>
            </a:xfrm>
            <a:custGeom>
              <a:avLst/>
              <a:gdLst/>
              <a:ahLst/>
              <a:cxnLst/>
              <a:rect l="l" t="t" r="r" b="b"/>
              <a:pathLst>
                <a:path w="1262062" h="692467">
                  <a:moveTo>
                    <a:pt x="1262062" y="0"/>
                  </a:moveTo>
                  <a:lnTo>
                    <a:pt x="0" y="69246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14738" y="3171825"/>
              <a:ext cx="1262062" cy="692467"/>
            </a:xfrm>
            <a:custGeom>
              <a:avLst/>
              <a:gdLst/>
              <a:ahLst/>
              <a:cxnLst/>
              <a:rect l="l" t="t" r="r" b="b"/>
              <a:pathLst>
                <a:path w="1262062" h="692467">
                  <a:moveTo>
                    <a:pt x="0" y="0"/>
                  </a:moveTo>
                  <a:lnTo>
                    <a:pt x="1262062" y="69246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2819400" y="2546985"/>
              <a:ext cx="838200" cy="8382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21055" y="1787842"/>
              <a:ext cx="104775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608195" y="1787842"/>
              <a:ext cx="104775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821055" y="3864292"/>
              <a:ext cx="104775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608195" y="3864292"/>
              <a:ext cx="104775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50464" y="29003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用例视图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39099" y="3419951"/>
              <a:ext cx="7988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最终用户 · 功能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6894" y="18621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逻辑视图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09002" y="2102644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分析设计人员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44034" y="18621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实现视图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61725" y="210264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56894" y="393858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过程视图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09002" y="3718084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系统集成人员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844034" y="393858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部署视图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06531" y="371808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系统工程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4598670"/>
            <a:ext cx="5410200" cy="1059180"/>
            <a:chOff x="533400" y="4598670"/>
            <a:chExt cx="5410200" cy="1059180"/>
          </a:xfrm>
        </p:grpSpPr>
        <p:sp>
          <p:nvSpPr>
            <p:cNvPr id="27" name="Rectangle 27"/>
            <p:cNvSpPr/>
            <p:nvPr/>
          </p:nvSpPr>
          <p:spPr>
            <a:xfrm>
              <a:off x="533400" y="459867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028250"/>
              <a:ext cx="200023" cy="200023"/>
              <a:chOff x="738188" y="5028250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0282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1538" y="50949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747260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视图是模型中对特定相关方有意义的一个侧面。用例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视图是其他视图的心脏，它规定了系统应该做什么，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用例一变，其余四个视图都要跟着改。</a:t>
              </a:r>
            </a:p>
          </p:txBody>
        </p:sp>
      </p:grpSp>
      <p:grpSp>
        <p:nvGrpSpPr>
          <p:cNvPr id="44" name="c2-kv-1"/>
          <p:cNvGrpSpPr/>
          <p:nvPr/>
        </p:nvGrpSpPr>
        <p:grpSpPr>
          <a:xfrm>
            <a:off x="6240780" y="1548765"/>
            <a:ext cx="5417820" cy="1895475"/>
            <a:chOff x="6240780" y="1548765"/>
            <a:chExt cx="5417820" cy="1895475"/>
          </a:xfrm>
        </p:grpSpPr>
        <p:sp>
          <p:nvSpPr>
            <p:cNvPr id="33" name="TextBox 33"/>
            <p:cNvSpPr txBox="1"/>
            <p:nvPr/>
          </p:nvSpPr>
          <p:spPr>
            <a:xfrm>
              <a:off x="624078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逻辑视图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81862" y="154876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支持系统的功能需求，关注结构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0780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实现视图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81862" y="1988820"/>
              <a:ext cx="39776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Rose 里叫构件视图，关注开发难易、软件资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产管理与复用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5908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40780" y="2710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过程视图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81862" y="27108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关注性能、可伸缩性与吞吐量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30308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40780" y="315087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部署视图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81862" y="315087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关注系统拓扑、交付、安装与通信</a:t>
              </a:r>
            </a:p>
          </p:txBody>
        </p:sp>
      </p:grpSp>
      <p:grpSp>
        <p:nvGrpSpPr>
          <p:cNvPr id="56" name="c2-table-2"/>
          <p:cNvGrpSpPr/>
          <p:nvPr/>
        </p:nvGrpSpPr>
        <p:grpSpPr>
          <a:xfrm>
            <a:off x="6248400" y="3575685"/>
            <a:ext cx="5410200" cy="1800225"/>
            <a:chOff x="6248400" y="3575685"/>
            <a:chExt cx="5410200" cy="1800225"/>
          </a:xfrm>
        </p:grpSpPr>
        <p:sp>
          <p:nvSpPr>
            <p:cNvPr id="45" name="Rectangle 45"/>
            <p:cNvSpPr/>
            <p:nvPr/>
          </p:nvSpPr>
          <p:spPr>
            <a:xfrm>
              <a:off x="6248400" y="3575685"/>
              <a:ext cx="5410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79464" y="3711416"/>
              <a:ext cx="1160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Rose 里的操作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586239" y="37114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356223" y="4160044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从浏览器中删除元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79283" y="4160044"/>
              <a:ext cx="34267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从模型中删掉它，删掉所有图中代表它的图标，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并删除它的规格说明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46948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48400" y="4699635"/>
              <a:ext cx="5410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56223" y="494871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从图中删除元素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79283" y="4835366"/>
              <a:ext cx="34267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只从当前图移走，模型不变；只有当该图标没有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命名且只出现在这张图里时，模型才跟着改变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575685"/>
              <a:ext cx="541020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66698" y="357568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7" name="Rectangle 5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130" y="5991225"/>
              <a:ext cx="84904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Rose 的 Options 窗口只影响以后新建的元素，改了默认设置，已有的模型元素不会跟着改变。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223135"/>
            <a:chOff x="533400" y="1524000"/>
            <a:chExt cx="3505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结构化分析要建立哪三类模型？各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用什么图描述？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731770"/>
              <a:ext cx="2872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数据模型（ER 图、数据字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典）、功能模型（数据流图、IPO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图）、行为模型（状态转换图）。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3505200" cy="1937385"/>
            <a:chOff x="533400" y="3937635"/>
            <a:chExt cx="3505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3505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逆向需求是什么？举一个例子。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859655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说明软件不应该做什么，例如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系统不保存用户口令的明文。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937385"/>
            <a:chOff x="4343400" y="1524000"/>
            <a:chExt cx="3505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5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4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45330" y="2110740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需求阶段与维护阶段修复同一个错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误，费用相差多少倍？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45330" y="2731770"/>
              <a:ext cx="2910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需求阶段 0.1 ～ 0.2，维护阶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 20，相差 100 到 200 倍。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651885"/>
            <a:ext cx="3505200" cy="2223135"/>
            <a:chOff x="4343400" y="3651885"/>
            <a:chExt cx="3505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4343400" y="3651885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52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40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45330" y="423862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情景分析技术有哪两个用处？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45330" y="4573905"/>
              <a:ext cx="2872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演示目标系统的行为便于用户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理解，并可能揭示分析员还不知道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的需求；让用户在需求分析中始终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主动参与。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223135"/>
            <a:chOff x="8153400" y="1524000"/>
            <a:chExt cx="3505200" cy="2223135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6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5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55330" y="2110740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系统能够对用户的身份进行快速验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证，这条需求坏在哪？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55330" y="2731770"/>
              <a:ext cx="2872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快速不可检验。改成可度量的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指标，例如 95% 的请求在 1 秒内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937635"/>
            <a:ext cx="3505200" cy="1937385"/>
            <a:chOff x="8153400" y="3937635"/>
            <a:chExt cx="3505200" cy="1937385"/>
          </a:xfrm>
        </p:grpSpPr>
        <p:sp>
          <p:nvSpPr>
            <p:cNvPr id="37" name="Rectangle 37"/>
            <p:cNvSpPr/>
            <p:nvPr/>
          </p:nvSpPr>
          <p:spPr>
            <a:xfrm>
              <a:off x="8153400" y="3937635"/>
              <a:ext cx="3505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6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5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55330" y="4524375"/>
              <a:ext cx="2872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简易的应用规格说明技术里，会议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要对哪四个议题形成一致的列表？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55330" y="514540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对象、服务、约束和性能。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408872"/>
            <a:chOff x="533400" y="1524000"/>
            <a:chExt cx="3505200" cy="240887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9996" y="2100739"/>
              <a:ext cx="298332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SelectCourse(学号, 姓名, 年龄,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课程名称, 成绩, 学分) 以 (学号, 课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程名称) 为关键字，满足第几范式？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9996" y="2963704"/>
              <a:ext cx="286385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只满足 1NF。存在部分依赖 (课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程名称) → (学分) 和 (学号) → (姓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名, 年龄)。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118610"/>
            <a:ext cx="3505200" cy="2137410"/>
            <a:chOff x="533400" y="4118610"/>
            <a:chExt cx="3505200" cy="2137410"/>
          </a:xfrm>
        </p:grpSpPr>
        <p:sp>
          <p:nvSpPr>
            <p:cNvPr id="13" name="Rectangle 13"/>
            <p:cNvSpPr/>
            <p:nvPr/>
          </p:nvSpPr>
          <p:spPr>
            <a:xfrm>
              <a:off x="533400" y="411861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7235" y="432244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4722" y="435816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9996" y="4695349"/>
              <a:ext cx="28890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Petri 网中一个转移在什么条件下才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能激发？激发后令牌怎样变化？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9996" y="5286851"/>
              <a:ext cx="27195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输入位置全部有令牌时才能激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发；激发后每个输入位置减一个令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牌，每个输出位置加一个。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951798"/>
            <a:chOff x="4343400" y="1524000"/>
            <a:chExt cx="3505200" cy="2951798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951798"/>
            </a:xfrm>
            <a:prstGeom prst="roundRect">
              <a:avLst>
                <a:gd name="adj" fmla="val 451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9996" y="2100739"/>
              <a:ext cx="295356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Student(学号, 姓名, 年龄, 所在学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院, 学院地点, 学院电话) 属于第几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范式？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9996" y="2963704"/>
              <a:ext cx="2890901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单关键字，满足 2NF；(所在学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院) → (学院地点, 学院电话) 是传递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依赖，不满足 3NF。拆成 Student(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学号, 姓名, 年龄, 所在学院) 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College(学院名称, 地点, 电话)。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4661535"/>
            <a:ext cx="3505200" cy="1594485"/>
            <a:chOff x="4343400" y="4661535"/>
            <a:chExt cx="3505200" cy="1594485"/>
          </a:xfrm>
        </p:grpSpPr>
        <p:sp>
          <p:nvSpPr>
            <p:cNvPr id="25" name="Rectangle 25"/>
            <p:cNvSpPr/>
            <p:nvPr/>
          </p:nvSpPr>
          <p:spPr>
            <a:xfrm>
              <a:off x="4343400" y="4661535"/>
              <a:ext cx="3505200" cy="1594485"/>
            </a:xfrm>
            <a:prstGeom prst="roundRect">
              <a:avLst>
                <a:gd name="adj" fmla="val 836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7235" y="486537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4722" y="490108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9996" y="5238274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验证软件需求要从哪四个方面进行？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9996" y="5558314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一致性、完整性、现实性、有效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37410"/>
            <a:chOff x="8153400" y="1524000"/>
            <a:chExt cx="3505200" cy="2137410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37410"/>
            </a:xfrm>
            <a:prstGeom prst="roundRect">
              <a:avLst>
                <a:gd name="adj" fmla="val 62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7235" y="17278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4722" y="17635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9996" y="210073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状态迁移表的一个格子里填什么？空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格表示什么？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9996" y="2692241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填当前状态遇到该事件后转到的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新状态；空格表示该状态不响应这个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47148"/>
            <a:ext cx="3505200" cy="2408872"/>
            <a:chOff x="8153400" y="3847148"/>
            <a:chExt cx="3505200" cy="2408872"/>
          </a:xfrm>
        </p:grpSpPr>
        <p:sp>
          <p:nvSpPr>
            <p:cNvPr id="37" name="Rectangle 37"/>
            <p:cNvSpPr/>
            <p:nvPr/>
          </p:nvSpPr>
          <p:spPr>
            <a:xfrm>
              <a:off x="8153400" y="3847148"/>
              <a:ext cx="3505200" cy="2408872"/>
            </a:xfrm>
            <a:prstGeom prst="roundRect">
              <a:avLst>
                <a:gd name="adj" fmla="val 553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7235" y="4050982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4722" y="408670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9996" y="4423886"/>
              <a:ext cx="283138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层次方框图与 Warnier 图有什么区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9996" y="5015389"/>
              <a:ext cx="291795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两者都用树形结构描述数据层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次；Warnier 图还能表示重复、选择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和互斥（⊕）。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第3章 需求分析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bullets-1"/>
          <p:cNvGrpSpPr/>
          <p:nvPr/>
        </p:nvGrpSpPr>
        <p:grpSpPr>
          <a:xfrm>
            <a:off x="533400" y="1535430"/>
            <a:ext cx="5769673" cy="3894868"/>
            <a:chOff x="533400" y="1535430"/>
            <a:chExt cx="5769673" cy="3894868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1745" y="157481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4293" y="1547336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需求分析回答做什么：建立数据、功能、行为三类模型，并用层次方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式分解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3550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1745" y="217584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24293" y="2148364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需求错误发现得越晚越贵，而且大部分错误的根源就在需求阶段，人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工检查最有效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36532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1745" y="27768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4293" y="2749391"/>
              <a:ext cx="54246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获取需求有四条路：访谈、面向数据流自顶向下求精、简易的应用规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格说明技术、快速原型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33756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1745" y="33778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4293" y="3349466"/>
              <a:ext cx="540664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ER 图描述数据；数据规范化用 1NF、2NF、3NF 衡量冗余，2NF 消部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分依赖，3NF 消传递依赖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93858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1745" y="397797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4293" y="3950494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状态转换图描述行为，与状态迁移表可以互相转换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26720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1745" y="430753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4293" y="4280059"/>
              <a:ext cx="547878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其他工具各管一段：层次方框图与 Warnier 图管数据层次，IPO 图管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加工，时序图管时间，Petri 网管并发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486822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1745" y="490856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4293" y="4880134"/>
              <a:ext cx="54156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验证需求看一致性、完整性、现实性、有效性，SRS 是本阶段的正式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</a:t>
              </a:r>
            </a:p>
          </p:txBody>
        </p:sp>
      </p:grpSp>
      <p:grpSp>
        <p:nvGrpSpPr>
          <p:cNvPr id="57" name="c2-table-1"/>
          <p:cNvGrpSpPr/>
          <p:nvPr/>
        </p:nvGrpSpPr>
        <p:grpSpPr>
          <a:xfrm>
            <a:off x="6898005" y="1524000"/>
            <a:ext cx="4760595" cy="4081462"/>
            <a:chOff x="6898005" y="1524000"/>
            <a:chExt cx="4760595" cy="4081462"/>
          </a:xfrm>
        </p:grpSpPr>
        <p:sp>
          <p:nvSpPr>
            <p:cNvPr id="29" name="Rectangle 29"/>
            <p:cNvSpPr/>
            <p:nvPr/>
          </p:nvSpPr>
          <p:spPr>
            <a:xfrm>
              <a:off x="6898005" y="1524000"/>
              <a:ext cx="4760595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282244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高频考点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582722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一句话答案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003352" y="21917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三类模型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1149" y="2085022"/>
              <a:ext cx="2907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数据模型 ER 图；功能模型 数据流图；行为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 状态转换图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898005" y="259270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98005" y="2597468"/>
              <a:ext cx="476059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003352" y="283559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综合要求八方面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31149" y="2728912"/>
              <a:ext cx="2907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功能、性能、可靠性可用性、出错处理、接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口、约束、逆向、将来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898005" y="323659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003352" y="3372802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2NF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431149" y="337280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消除非主属性对关键字的部分依赖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898005" y="366617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898005" y="3670935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003352" y="380238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3NF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31149" y="380238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消除非主属性对关键字的传递依赖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898005" y="409670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03352" y="4232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四类异常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431149" y="423291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数据冗余、更新异常、插入异常、删除异常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898005" y="45272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898005" y="4531995"/>
              <a:ext cx="476059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003352" y="4769167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状态图三要素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431149" y="4662488"/>
              <a:ext cx="2907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状态、事件、转换；状态框分状态名、状态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变量、活动表三栏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898005" y="517017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003352" y="530637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验证四方面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431149" y="5306378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一致性、完整性、现实性、有效性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898005" y="1524000"/>
              <a:ext cx="4760595" cy="4081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21040" y="1524000"/>
              <a:ext cx="9525" cy="4081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8" name="Rectangle 58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04084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复习时抓三条主线：三类模型与对应的图、三个范式的判断与分解、四个验证方面。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第3章 需求分析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03">
  <a:themeElements>
    <a:clrScheme name="se_ch0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0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0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2026-09-23T03:08:10Z</dcterms:created>
  <dcterms:modified xsi:type="dcterms:W3CDTF">2026-09-23T03:08:10Z</dcterms:modified>
  <cp:category/>
  <cp:contentStatus/>
</cp:coreProperties>
</file>