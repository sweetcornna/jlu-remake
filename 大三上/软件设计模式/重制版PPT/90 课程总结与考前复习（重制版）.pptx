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dp_90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dp_90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e684c5a540f098c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36c0b309f0682af.png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a8d2d4f356d708f.png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126736" cy="3437763"/>
            <a:chOff x="666750" y="1619250"/>
            <a:chExt cx="5126736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203132" cy="3429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5722" y="1718310"/>
              <a:ext cx="19842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软件设计模式 · 第二十九讲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512673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课程总结与考前复习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6045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28 讲按“哪里在变”重新排一遍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课程要求的七个动作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职责变化与实现变化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四组诱因查模式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全课总对照与答题范式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968613" cy="205359"/>
            <a:chOff x="680466" y="6192202"/>
            <a:chExt cx="5968613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9686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自学复习版｜据吉林大学《软件设计模式》张欣佳、陈伟两位老师总结课件合并整理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04489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7287" y="407194"/>
              <a:ext cx="836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考什么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课程要求的三条主线、七个具体动作、四种题型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一条主线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类上的十一种改动，职责变化与实现变化怎么分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创建型串讲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六讲合成一组：谁来决定造哪个类、造几个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接口变化串讲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桥接、适配器、外观、组合、迭代器、观察者、命令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实现变化串讲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装饰、策略、状态、模板方法、中介者、备忘录、享元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特殊目的与对照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代理、职责链、访问者，以及全课总对照表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82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用“职责变化 / 实现变化”给一个类上的任意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改动归类，并说出对应的适应手段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拿到一个业务场景，说出变化点在哪，给两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个候选模式并写出排除理由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默画出创建型六个、结构型七个、行为型十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一个模式的类图骨架与角色名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说出六组易混模式的区别，每组一句话，并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指出区别落在类图的哪个位置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对照课程要求的七个动作逐条自查，定位自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己还缺哪一条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024884" cy="2997517"/>
            <a:chOff x="667512" y="1835468"/>
            <a:chExt cx="402488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考什么，怎么复习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先看课程要求原文，再决定时间往哪里花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三条主线与七个具体动作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 讲的全景与讲次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四种题型的答题顺序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 · 考什么，怎么复习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课程要求：三条主线，第三条拆成七个动作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283196" cy="264033"/>
            <a:chOff x="526542" y="1545907"/>
            <a:chExt cx="728319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283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这一页是张欣佳老师总结课件的全部内容，也是本课程考核的准绳，复习时按它逐条打勾。</a:t>
              </a:r>
            </a:p>
          </p:txBody>
        </p:sp>
      </p:grpSp>
      <p:grpSp>
        <p:nvGrpSpPr>
          <p:cNvPr id="22" name="c1-steps-1"/>
          <p:cNvGrpSpPr/>
          <p:nvPr/>
        </p:nvGrpSpPr>
        <p:grpSpPr>
          <a:xfrm>
            <a:off x="533400" y="1938338"/>
            <a:ext cx="4291584" cy="1982723"/>
            <a:chOff x="533400" y="1938338"/>
            <a:chExt cx="4291584" cy="1982723"/>
          </a:xfrm>
        </p:grpSpPr>
        <p:sp>
          <p:nvSpPr>
            <p:cNvPr id="9" name="Rectangle 9"/>
            <p:cNvSpPr/>
            <p:nvPr/>
          </p:nvSpPr>
          <p:spPr>
            <a:xfrm>
              <a:off x="666750" y="2081212"/>
              <a:ext cx="19050" cy="14925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38338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8414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579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43090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047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6023" y="1968341"/>
              <a:ext cx="23767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掌握类间关系及 UML 表示方法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7166" y="2223135"/>
              <a:ext cx="387781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依赖、关联、聚合、组合、泛化、实现六种关系的线型、方向与判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别（第 01 讲）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271510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理解面向对象设计原则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7166" y="2969895"/>
              <a:ext cx="387781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开闭、里氏替换、单一职责、接口隔离、依赖倒置、迪米特、合成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复用（第 02 讲）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346186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理解和掌握各个设计模式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3715702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右边七条是这一项的展开，也是整份卷子的主要考点</a:t>
              </a:r>
            </a:p>
          </p:txBody>
        </p:sp>
      </p:grpSp>
      <p:grpSp>
        <p:nvGrpSpPr>
          <p:cNvPr id="29" name="c1-callout-2"/>
          <p:cNvGrpSpPr/>
          <p:nvPr/>
        </p:nvGrpSpPr>
        <p:grpSpPr>
          <a:xfrm>
            <a:off x="533400" y="4083368"/>
            <a:ext cx="4544378" cy="1632585"/>
            <a:chOff x="533400" y="4083368"/>
            <a:chExt cx="4544378" cy="1632585"/>
          </a:xfrm>
        </p:grpSpPr>
        <p:sp>
          <p:nvSpPr>
            <p:cNvPr id="23" name="Rectangle 23"/>
            <p:cNvSpPr/>
            <p:nvPr/>
          </p:nvSpPr>
          <p:spPr>
            <a:xfrm>
              <a:off x="533400" y="4083368"/>
              <a:ext cx="4544378" cy="1632585"/>
            </a:xfrm>
            <a:prstGeom prst="roundRect">
              <a:avLst>
                <a:gd name="adj" fmla="val 700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4799648"/>
              <a:ext cx="200026" cy="200026"/>
              <a:chOff x="738188" y="4799648"/>
              <a:chExt cx="200026" cy="2000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47996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38200" y="48663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27088" y="489966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1273" y="4692491"/>
              <a:ext cx="35892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前两条是工具，第三条是目标。类图画错方向或说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不清原则，后面的模式题也很难拿满分。</a:t>
              </a:r>
            </a:p>
          </p:txBody>
        </p:sp>
      </p:grpSp>
      <p:grpSp>
        <p:nvGrpSpPr>
          <p:cNvPr id="52" name="c2-bullets-1"/>
          <p:cNvGrpSpPr/>
          <p:nvPr/>
        </p:nvGrpSpPr>
        <p:grpSpPr>
          <a:xfrm>
            <a:off x="5376101" y="1949291"/>
            <a:ext cx="3736403" cy="2309622"/>
            <a:chOff x="5376101" y="1949291"/>
            <a:chExt cx="3736403" cy="2309622"/>
          </a:xfrm>
        </p:grpSpPr>
        <p:sp>
          <p:nvSpPr>
            <p:cNvPr id="30" name="TextBox 30"/>
            <p:cNvSpPr txBox="1"/>
            <p:nvPr/>
          </p:nvSpPr>
          <p:spPr>
            <a:xfrm>
              <a:off x="5376101" y="194929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第三条的七个具体动作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5382578" y="223932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434484" y="227495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53278" y="225123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给出业务场景能够选择合适的模式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5382578" y="253269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434484" y="256832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53278" y="254365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深刻理解模式的定义，能够区分各个模式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5382578" y="282606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434484" y="286169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653278" y="283702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掌握各模式的静态结构与组成角色及职责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5382578" y="311848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434484" y="315410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653278" y="313039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能够给出指定模式角色的典型代码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5382578" y="341185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434484" y="344747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653278" y="342280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熟知模式的优缺点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5382578" y="370522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434484" y="37408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653278" y="371617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了解模式的应用情况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5382578" y="399859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434484" y="403326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653278" y="400954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能够掌握模式的扩展，包括与其他模式的联用</a:t>
              </a:r>
            </a:p>
          </p:txBody>
        </p:sp>
      </p:grpSp>
      <p:grpSp>
        <p:nvGrpSpPr>
          <p:cNvPr id="64" name="c2-kv-2"/>
          <p:cNvGrpSpPr/>
          <p:nvPr/>
        </p:nvGrpSpPr>
        <p:grpSpPr>
          <a:xfrm>
            <a:off x="5376101" y="4394359"/>
            <a:ext cx="6282499" cy="1371409"/>
            <a:chOff x="5376101" y="4394359"/>
            <a:chExt cx="6282499" cy="1371409"/>
          </a:xfrm>
        </p:grpSpPr>
        <p:sp>
          <p:nvSpPr>
            <p:cNvPr id="53" name="TextBox 53"/>
            <p:cNvSpPr txBox="1"/>
            <p:nvPr/>
          </p:nvSpPr>
          <p:spPr>
            <a:xfrm>
              <a:off x="5376101" y="4394359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第 1 条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01028" y="4394359"/>
              <a:ext cx="3700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对应本讲第 11 页的查表法和第 42 页的答题范式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82578" y="466629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376101" y="4768691"/>
              <a:ext cx="8374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第 2、3 条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701028" y="4768691"/>
              <a:ext cx="39417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对应各讲的定义页与结构页，本讲第 40、41 页汇总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82578" y="504063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376101" y="5142071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第 4 条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701028" y="5142071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对应各讲的代码页，本讲每个模式保留最短的那一段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82578" y="54149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376101" y="5516404"/>
              <a:ext cx="11092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第 5、6、7 条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701028" y="551640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对应各讲的效果页、应用页与扩展页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5" name="Rectangle 6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1273" y="6039326"/>
              <a:ext cx="6603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七条里最难补的是第 1 条。它考的不是背诵，而是把一段业务描述翻译成“哪里会变”。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66308" cy="909257"/>
            <a:chOff x="520446" y="342900"/>
            <a:chExt cx="63663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 · 考什么，怎么复习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663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 讲的全景：模式落在哪一类，在第几讲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554278" cy="293370"/>
            <a:chOff x="525780" y="1548765"/>
            <a:chExt cx="7554278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5542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课程按 GoF 的三分法组织，本讲是最后一讲。下表的编号就是讲义文件名的前两位。</a:t>
              </a:r>
            </a:p>
          </p:txBody>
        </p:sp>
      </p:grpSp>
      <p:grpSp>
        <p:nvGrpSpPr>
          <p:cNvPr id="38" name="c1-table-1"/>
          <p:cNvGrpSpPr/>
          <p:nvPr/>
        </p:nvGrpSpPr>
        <p:grpSpPr>
          <a:xfrm>
            <a:off x="533400" y="1954530"/>
            <a:ext cx="11125200" cy="2581275"/>
            <a:chOff x="533400" y="1954530"/>
            <a:chExt cx="11125200" cy="258127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11125200" cy="43053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44905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板块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13685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讲次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54824" y="208597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包含的内容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8746" y="251555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96084" y="2515552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 – 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76307" y="2515552"/>
              <a:ext cx="63562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课程概述与面向对象设计复用、UML 类图与类间关系、面向对象设计原则、设计模式概述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098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14638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8746" y="294608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96084" y="2946082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– 15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976307" y="2946082"/>
              <a:ext cx="3889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简单工厂、工厂方法、抽象工厂、建造者、原型、单例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24040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8746" y="337661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96084" y="3376612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– 26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976307" y="3376612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适配器、桥接、组合、装饰、外观、享元、代理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6699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67474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8746" y="380619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196084" y="3806190"/>
              <a:ext cx="5839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 – 3A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76307" y="3806190"/>
              <a:ext cx="6635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职责链、命令、解释器、迭代器、中介者、备忘录、观察者、状态、策略、模板方法、访问者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1005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2925" y="4114800"/>
              <a:ext cx="1538288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8746" y="423672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总结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196084" y="423672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976307" y="4236720"/>
              <a:ext cx="33723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本讲：按“变化在哪里”把前面 28 讲重新串一遍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1954530"/>
              <a:ext cx="11125200" cy="2581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2085975" y="195453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866198" y="195453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c1-bullets-2"/>
          <p:cNvGrpSpPr/>
          <p:nvPr/>
        </p:nvGrpSpPr>
        <p:grpSpPr>
          <a:xfrm>
            <a:off x="533400" y="4743926"/>
            <a:ext cx="8148574" cy="937832"/>
            <a:chOff x="533400" y="4743926"/>
            <a:chExt cx="8148574" cy="937832"/>
          </a:xfrm>
        </p:grpSpPr>
        <p:sp>
          <p:nvSpPr>
            <p:cNvPr id="39" name="Freeform 39"/>
            <p:cNvSpPr/>
            <p:nvPr/>
          </p:nvSpPr>
          <p:spPr>
            <a:xfrm>
              <a:off x="533400" y="4773930"/>
              <a:ext cx="137160" cy="111442"/>
            </a:xfrm>
            <a:custGeom>
              <a:avLst/>
              <a:gdLst/>
              <a:ahLst/>
              <a:cxnLst/>
              <a:rect l="l" t="t" r="r" b="b"/>
              <a:pathLst>
                <a:path w="137160" h="111442">
                  <a:moveTo>
                    <a:pt x="0" y="59055"/>
                  </a:moveTo>
                  <a:lnTo>
                    <a:pt x="52388" y="111442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77621" y="4743926"/>
              <a:ext cx="79043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GoF 的 23 个模式 = 创建型 5 + 结构型 7 + 行为型 11，简单工厂不在其列，因常用而单列一讲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533400" y="5103495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9055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77621" y="5073491"/>
              <a:ext cx="72785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类模式只有四个：工厂方法、类适配器、解释器、模板方法，其余十九个都是对象模式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533400" y="5433060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77621" y="5403056"/>
              <a:ext cx="70874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本讲不重复各讲的完整例题，只保留每个模式最短的那段代码和最容易考的那条区别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6" name="Rectangle 46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511" y="6004084"/>
              <a:ext cx="70874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复习时先用这张表点名，说不出某一讲讲了什么，就回到那一讲的封面和小结两页。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 · 考什么，怎么复习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四种题型，各有固定的答题顺序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5951220" cy="2790825"/>
            <a:chOff x="533400" y="1524000"/>
            <a:chExt cx="5951220" cy="27908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3053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919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53256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答题顺序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8746" y="219170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画类图或补全类图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85606" y="2085022"/>
              <a:ext cx="3974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先列角色名，再按角色关系定线型，最后检查箭头方向和菱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形在哪一端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59270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597468"/>
              <a:ext cx="595122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8746" y="283559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写指定角色的代码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85606" y="2728912"/>
              <a:ext cx="3974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抽象角色写接口或抽象类，具体角色写实现，环境类写字段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加一行转发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23659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8746" y="347948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给场景选模式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089785" y="3250882"/>
              <a:ext cx="4385310" cy="6248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185606" y="3372802"/>
              <a:ext cx="37383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说出变化点 → 给两个候选 → 用适用条件排除一个 → 写角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色映射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87953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884295"/>
              <a:ext cx="595122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8746" y="401574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辨析两个模式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85606" y="401574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用途一句、绑定时机一句、类图差别一句，三句写完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5951220" cy="2790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075498" y="1524000"/>
              <a:ext cx="9525" cy="2790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1-callout-2"/>
          <p:cNvGrpSpPr/>
          <p:nvPr/>
        </p:nvGrpSpPr>
        <p:grpSpPr>
          <a:xfrm>
            <a:off x="533400" y="4500562"/>
            <a:ext cx="5951220" cy="1628775"/>
            <a:chOff x="533400" y="4500562"/>
            <a:chExt cx="5951220" cy="1628775"/>
          </a:xfrm>
        </p:grpSpPr>
        <p:sp>
          <p:nvSpPr>
            <p:cNvPr id="27" name="Rectangle 27"/>
            <p:cNvSpPr/>
            <p:nvPr/>
          </p:nvSpPr>
          <p:spPr>
            <a:xfrm>
              <a:off x="533400" y="4500562"/>
              <a:ext cx="5951220" cy="1628775"/>
            </a:xfrm>
            <a:prstGeom prst="roundRect">
              <a:avLst>
                <a:gd name="adj" fmla="val 7018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26129" y="5211246"/>
              <a:ext cx="224134" cy="192560"/>
              <a:chOff x="726129" y="5211246"/>
              <a:chExt cx="224134" cy="19256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38200" y="528161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26129" y="521124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38200" y="53594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511" y="5083969"/>
              <a:ext cx="48836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画类图时最常丢分的三处：实现关系画成了继承的实线、聚合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菱形画在了部分那一端、依赖画成了关联。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6789420" y="1524000"/>
            <a:ext cx="4869180" cy="2486025"/>
            <a:chOff x="6789420" y="1524000"/>
            <a:chExt cx="4869180" cy="2486025"/>
          </a:xfrm>
        </p:grpSpPr>
        <p:sp>
          <p:nvSpPr>
            <p:cNvPr id="34" name="Rectangle 34"/>
            <p:cNvSpPr/>
            <p:nvPr/>
          </p:nvSpPr>
          <p:spPr>
            <a:xfrm>
              <a:off x="6789420" y="1524000"/>
              <a:ext cx="4869180" cy="2486025"/>
            </a:xfrm>
            <a:prstGeom prst="roundRect">
              <a:avLst>
                <a:gd name="adj" fmla="val 53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798945" y="1657350"/>
              <a:ext cx="47625" cy="221932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031355" y="172783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117613" y="176355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代码题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74686" y="176736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最短能得分的写法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24116" y="2119789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抽象角色：一个接口，只写要考的那一两个方法。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24116" y="2439829"/>
              <a:ext cx="410819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具体角色：implements 后写方法体，用注释代替业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务细节。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24116" y="3031331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环境角色：一个接口类型的字段、一个注入用的构造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函数或 setter、一行转发调用。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25259" y="3618548"/>
              <a:ext cx="36873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三段写完，模式的骨架就完整了，不必补 main 方法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789420" y="4195762"/>
            <a:ext cx="4869180" cy="1933575"/>
            <a:chOff x="6789420" y="4195762"/>
            <a:chExt cx="4869180" cy="1933575"/>
          </a:xfrm>
        </p:grpSpPr>
        <p:sp>
          <p:nvSpPr>
            <p:cNvPr id="44" name="Rectangle 44"/>
            <p:cNvSpPr/>
            <p:nvPr/>
          </p:nvSpPr>
          <p:spPr>
            <a:xfrm>
              <a:off x="6789420" y="4195762"/>
              <a:ext cx="4869180" cy="1933575"/>
            </a:xfrm>
            <a:prstGeom prst="roundRect">
              <a:avLst>
                <a:gd name="adj" fmla="val 6897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993255" y="439959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79513" y="443531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辨析题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736586" y="443912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三句话模板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86016" y="4790599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第一句说用途：这个模式是为了解决什么问题。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86016" y="5110639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第二句说时机：绑定发生在编译期（继承）还是运行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期（组合）。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986016" y="5702141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第三句说结构：类图上多出或少掉的那条线是什么。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821424" cy="2997517"/>
            <a:chOff x="667512" y="1835468"/>
            <a:chExt cx="682142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8214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一条主线：类的变化与它的适应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陈伟老师的总结课件用这条线串起了全部模式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类上的十一种改动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白盒复用与黑盒复用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四组诱因对应四组模式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 · 一条主线：类的变化与它的适应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一个类身上的十一种改动，哪几种动了接口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696046" cy="278702"/>
            <a:chOff x="526161" y="1547336"/>
            <a:chExt cx="8696046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6960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把类 A 可能发生的改动逐条列出来，再问一句“调用方需要跟着改吗”，答案是“需要”的就是职责变化。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41195"/>
            <a:ext cx="6276022" cy="2641282"/>
            <a:chOff x="533400" y="1941195"/>
            <a:chExt cx="6276022" cy="264128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6276022" cy="2641282"/>
            </a:xfrm>
            <a:prstGeom prst="roundRect">
              <a:avLst>
                <a:gd name="adj" fmla="val 36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17613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 A 上可能发生的十一种改动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51484"/>
              <a:ext cx="3771900" cy="2141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func01() { }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1  改方法体      实现变化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func01(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 }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2  增加一个重载  职责变化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func02() { }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3  增加新方法    职责变化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void func03() 被删掉 */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4  删掉已有方法  职责变化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[] func04() { 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5  改返回类型    职责变化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[0];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func05() { }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6  改方法体      实现变化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func06() { }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7  增加新方法    见右侧更正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func07() { }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8  改方法体      实现变化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func08() { }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9  增加新方法    实现变化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data;     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10 改数据类型    实现变化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newData;    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11 增加数据成员  实现变化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4758690"/>
            <a:ext cx="6276022" cy="798195"/>
            <a:chOff x="533400" y="4758690"/>
            <a:chExt cx="6276022" cy="798195"/>
          </a:xfrm>
        </p:grpSpPr>
        <p:sp>
          <p:nvSpPr>
            <p:cNvPr id="13" name="Rectangle 13"/>
            <p:cNvSpPr/>
            <p:nvPr/>
          </p:nvSpPr>
          <p:spPr>
            <a:xfrm>
              <a:off x="533400" y="4758690"/>
              <a:ext cx="6276022" cy="798195"/>
            </a:xfrm>
            <a:prstGeom prst="roundRect">
              <a:avLst>
                <a:gd name="adj" fmla="val 1432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5056823"/>
              <a:ext cx="200026" cy="200025"/>
              <a:chOff x="738188" y="5056823"/>
              <a:chExt cx="200026" cy="2000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505682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77926" y="510127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12642" y="521239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892" y="4938712"/>
              <a:ext cx="476288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1、6、8 条都是“改方法体”，写在 public、protected 还是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private 区都一样：签名没变，调用方就不必跟着改。</a:t>
              </a:r>
            </a:p>
          </p:txBody>
        </p:sp>
      </p:grpSp>
      <p:grpSp>
        <p:nvGrpSpPr>
          <p:cNvPr id="25" name="c2-kv-1"/>
          <p:cNvGrpSpPr/>
          <p:nvPr/>
        </p:nvGrpSpPr>
        <p:grpSpPr>
          <a:xfrm>
            <a:off x="7107364" y="1964055"/>
            <a:ext cx="4551236" cy="1168908"/>
            <a:chOff x="7107364" y="1964055"/>
            <a:chExt cx="4551236" cy="1168908"/>
          </a:xfrm>
        </p:grpSpPr>
        <p:sp>
          <p:nvSpPr>
            <p:cNvPr id="20" name="TextBox 20"/>
            <p:cNvSpPr txBox="1"/>
            <p:nvPr/>
          </p:nvSpPr>
          <p:spPr>
            <a:xfrm>
              <a:off x="7107364" y="196405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职责变化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69389" y="1964055"/>
              <a:ext cx="32712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改的是对外承诺的那一份清单。调用方看得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见，必须一起改，也叫接口变化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114222" y="250602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107364" y="261556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实现变化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69389" y="2615565"/>
              <a:ext cx="32712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改的是兑现承诺的方式。调用方一行不动，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重新编译即可</a:t>
              </a:r>
            </a:p>
          </p:txBody>
        </p:sp>
      </p:grpSp>
      <p:grpSp>
        <p:nvGrpSpPr>
          <p:cNvPr id="33" name="c2-card-2"/>
          <p:cNvGrpSpPr/>
          <p:nvPr/>
        </p:nvGrpSpPr>
        <p:grpSpPr>
          <a:xfrm>
            <a:off x="7114222" y="3255645"/>
            <a:ext cx="4544378" cy="2301240"/>
            <a:chOff x="7114222" y="3255645"/>
            <a:chExt cx="4544378" cy="2301240"/>
          </a:xfrm>
        </p:grpSpPr>
        <p:sp>
          <p:nvSpPr>
            <p:cNvPr id="26" name="Rectangle 26"/>
            <p:cNvSpPr/>
            <p:nvPr/>
          </p:nvSpPr>
          <p:spPr>
            <a:xfrm>
              <a:off x="7114222" y="3255645"/>
              <a:ext cx="4544378" cy="2301240"/>
            </a:xfrm>
            <a:prstGeom prst="roundRect">
              <a:avLst>
                <a:gd name="adj" fmla="val 57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7123748" y="3388995"/>
              <a:ext cx="47625" cy="20345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344728" y="344709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436168" y="34813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28420" y="3487102"/>
              <a:ext cx="1868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7 条应当算职责变化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37870" y="3821430"/>
              <a:ext cx="3879913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protected 成员的增删标成实现变化（蓝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色）。protected 是留给派生类的接口，增删它会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让已有子类跟着改，对子类而言属 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职责变化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37870" y="4638675"/>
              <a:ext cx="383705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4 条注“删除原有 func03（面向对象不支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持）”，说的是派生子类删不掉父类已有方法，第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 讲已澄清。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4" name="Rectangle 3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892" y="6023610"/>
              <a:ext cx="6919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判据只有一句：改动能不能被类的边界挡住。挡得住是实现变化，挡不住是职责变化。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 · 一条主线：类的变化与它的适应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适应变化的三条路：白盒、黑盒、两者结合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5780" y="1548765"/>
            <a:ext cx="6067425" cy="2865120"/>
            <a:chOff x="525780" y="1548765"/>
            <a:chExt cx="6067425" cy="286512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539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子类型化（白盒复</a:t>
              </a:r>
              <a:br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用）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343150" y="1548765"/>
              <a:ext cx="40157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派生一个子类去覆盖父类行为。父类内部对子类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是敞开的，所以叫白盒。问题：子类数量按变化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维度相乘增长，而且要拿得到父类源码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43268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2552700"/>
              <a:ext cx="1539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水平关系（黑盒复</a:t>
              </a:r>
              <a:br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用）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43150" y="2552700"/>
              <a:ext cx="40157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把活委托给另一个对象，只通过它的接口调用。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内部看不见，所以叫黑盒。问题：委托对象和自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己类型不一致，顶替不了原来的对象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343662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355663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结合两者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43150" y="3556635"/>
              <a:ext cx="40157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先抽出一个接口让实现可以替换（解决类型不一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致），再用组合持有它（解决子类爆炸）。绝大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多数模式都站在这一步上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4545330"/>
            <a:ext cx="6059805" cy="1059180"/>
            <a:chOff x="533400" y="4545330"/>
            <a:chExt cx="6059805" cy="1059180"/>
          </a:xfrm>
        </p:grpSpPr>
        <p:sp>
          <p:nvSpPr>
            <p:cNvPr id="16" name="Rectangle 16"/>
            <p:cNvSpPr/>
            <p:nvPr/>
          </p:nvSpPr>
          <p:spPr>
            <a:xfrm>
              <a:off x="533400" y="4545330"/>
              <a:ext cx="6059805" cy="1059180"/>
            </a:xfrm>
            <a:prstGeom prst="roundRect">
              <a:avLst>
                <a:gd name="adj" fmla="val 10791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4974910"/>
              <a:ext cx="200023" cy="200023"/>
              <a:chOff x="738188" y="4974910"/>
              <a:chExt cx="200023" cy="200023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49749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71538" y="50415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130" y="4693920"/>
              <a:ext cx="49872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合成复用原则说“先想组合再想继承”，指的就是第三条路，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不是完全不用继承。第 02 讲给过 Coad 法则的四个判别条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件。</a:t>
              </a:r>
            </a:p>
          </p:txBody>
        </p:sp>
      </p:grpSp>
      <p:grpSp>
        <p:nvGrpSpPr>
          <p:cNvPr id="24" name="c2-image-1"/>
          <p:cNvGrpSpPr/>
          <p:nvPr/>
        </p:nvGrpSpPr>
        <p:grpSpPr>
          <a:xfrm>
            <a:off x="6898005" y="1524000"/>
            <a:ext cx="4760595" cy="2934177"/>
            <a:chOff x="6898005" y="1524000"/>
            <a:chExt cx="4760595" cy="2934177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rcRect l="0" t="13318" r="0" b="13319"/>
            <a:stretch>
              <a:fillRect/>
            </a:stretch>
          </p:blipFill>
          <p:spPr>
            <a:xfrm>
              <a:off x="6898005" y="1524000"/>
              <a:ext cx="4760595" cy="2619375"/>
            </a:xfrm>
            <a:prstGeom prst="roundRect">
              <a:avLst>
                <a:gd name="adj" fmla="val 5090"/>
              </a:avLst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7764843" y="4238149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左边能伸手进去改齿轮，右边只能从插口调用</a:t>
              </a:r>
            </a:p>
          </p:txBody>
        </p:sp>
      </p:grpSp>
      <p:grpSp>
        <p:nvGrpSpPr>
          <p:cNvPr id="30" name="c2-bullets-2"/>
          <p:cNvGrpSpPr/>
          <p:nvPr/>
        </p:nvGrpSpPr>
        <p:grpSpPr>
          <a:xfrm>
            <a:off x="6890385" y="4648200"/>
            <a:ext cx="4765929" cy="992505"/>
            <a:chOff x="6890385" y="4648200"/>
            <a:chExt cx="4765929" cy="992505"/>
          </a:xfrm>
        </p:grpSpPr>
        <p:sp>
          <p:nvSpPr>
            <p:cNvPr id="25" name="TextBox 25"/>
            <p:cNvSpPr txBox="1"/>
            <p:nvPr/>
          </p:nvSpPr>
          <p:spPr>
            <a:xfrm>
              <a:off x="6890385" y="464820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两条路单独使用时的毛病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6898005" y="503872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138035" y="500253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只用继承：三种形状配四种颜色就要写十二个子类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898005" y="538353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38035" y="5347335"/>
              <a:ext cx="45182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只用组合：ImpF 不是 Some，不能拿去当 Some 用</a:t>
              </a:r>
            </a:p>
          </p:txBody>
        </p:sp>
      </p:grpSp>
      <p:grpSp>
        <p:nvGrpSpPr>
          <p:cNvPr id="3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1" name="Rectangle 3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130" y="5991225"/>
              <a:ext cx="9909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第三条路写成代码只有两步：字段类型写成接口，构造函数把实现传进来。后面几乎每个模式都能看到这两行。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91939" cy="909257"/>
            <a:chOff x="520446" y="342900"/>
            <a:chExt cx="71919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 · 一条主线：类的变化与它的适应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919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把实现委托出去：Some 的三个方法各自换实现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853359" cy="308039"/>
            <a:chOff x="525399" y="1550194"/>
            <a:chExt cx="985335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85335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课件用 f、g、h 三个方法演示了第三条路。改造前后的对外接口一字未变，可换的部分从一处变成三处。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5410200" cy="1737360"/>
            <a:chOff x="533400" y="1967865"/>
            <a:chExt cx="5410200" cy="173736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1737360"/>
            </a:xfrm>
            <a:prstGeom prst="roundRect">
              <a:avLst>
                <a:gd name="adj" fmla="val 5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改造前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79821"/>
              <a:ext cx="2449322" cy="1247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Some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/* f、g、h 的实现都写死在类里，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任何一处要换实现都得改这个类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 {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实现 1 */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g() {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实现 2 */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h() {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实现 3 */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3894772"/>
            <a:ext cx="5410200" cy="1040130"/>
            <a:chOff x="533400" y="3894772"/>
            <a:chExt cx="5410200" cy="1040130"/>
          </a:xfrm>
        </p:grpSpPr>
        <p:sp>
          <p:nvSpPr>
            <p:cNvPr id="13" name="Rectangle 13"/>
            <p:cNvSpPr/>
            <p:nvPr/>
          </p:nvSpPr>
          <p:spPr>
            <a:xfrm>
              <a:off x="533400" y="3894772"/>
              <a:ext cx="5410200" cy="1040130"/>
            </a:xfrm>
            <a:prstGeom prst="roundRect">
              <a:avLst>
                <a:gd name="adj" fmla="val 1098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26129" y="4311133"/>
              <a:ext cx="224134" cy="192560"/>
              <a:chOff x="726129" y="4311133"/>
              <a:chExt cx="224134" cy="19256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38200" y="438150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26129" y="431113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38200" y="44592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130" y="4171950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三个方法各有多种实现时，用派生子类去组合它们，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子类个数是三者的乘积。</a:t>
              </a:r>
            </a:p>
          </p:txBody>
        </p:sp>
      </p:grpSp>
      <p:grpSp>
        <p:nvGrpSpPr>
          <p:cNvPr id="23" name="c2-code-1"/>
          <p:cNvGrpSpPr/>
          <p:nvPr/>
        </p:nvGrpSpPr>
        <p:grpSpPr>
          <a:xfrm>
            <a:off x="6248400" y="1967865"/>
            <a:ext cx="5410200" cy="2967990"/>
            <a:chOff x="6248400" y="1967865"/>
            <a:chExt cx="5410200" cy="2967990"/>
          </a:xfrm>
        </p:grpSpPr>
        <p:sp>
          <p:nvSpPr>
            <p:cNvPr id="20" name="Rectangle 20"/>
            <p:cNvSpPr/>
            <p:nvPr/>
          </p:nvSpPr>
          <p:spPr>
            <a:xfrm>
              <a:off x="6248400" y="1967865"/>
              <a:ext cx="5410200" cy="2967990"/>
            </a:xfrm>
            <a:prstGeom prst="roundRect">
              <a:avLst>
                <a:gd name="adj" fmla="val 320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76797" y="211978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改造后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76797" y="2379821"/>
              <a:ext cx="2916047" cy="2481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Some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ImpF impF;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三个方向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ImpG impG;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各自独立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ImpH impH;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地替换  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Some(ImpF f, ImpG g, ImpH h)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.impF = f;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.impG = g;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.impH = h;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 { impF.f();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g() { impG.g();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h() { impH.h();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24" name="Rectangle 2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130" y="5991225"/>
              <a:ext cx="96107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这段骨架同时是桥接（第 21 讲）、策略（第 38 讲）和 PImpl 的共同底座，区别只在抽出去的东西叫什么。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 · 一条主线：类的变化与它的适应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按变化重排课程：四组诱因，二十四个模式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231622" cy="264033"/>
            <a:chOff x="526542" y="1545907"/>
            <a:chExt cx="1023162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231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下面这张图是陈伟老师总结课件的组织方式。GoF 按“模式做什么”分类，这里按“什么东西在变”分组，两种分法对照着记更牢。</a:t>
              </a:r>
            </a:p>
          </p:txBody>
        </p:sp>
      </p:grpSp>
      <p:grpSp>
        <p:nvGrpSpPr>
          <p:cNvPr id="43" name="c1-flow-1"/>
          <p:cNvGrpSpPr/>
          <p:nvPr/>
        </p:nvGrpSpPr>
        <p:grpSpPr>
          <a:xfrm>
            <a:off x="727710" y="2140268"/>
            <a:ext cx="10735628" cy="2144077"/>
            <a:chOff x="727710" y="2140268"/>
            <a:chExt cx="10735628" cy="2144077"/>
          </a:xfrm>
        </p:grpSpPr>
        <p:sp>
          <p:nvSpPr>
            <p:cNvPr id="9" name="Freeform 9"/>
            <p:cNvSpPr/>
            <p:nvPr/>
          </p:nvSpPr>
          <p:spPr>
            <a:xfrm>
              <a:off x="1924050" y="2512695"/>
              <a:ext cx="4171950" cy="319088"/>
            </a:xfrm>
            <a:custGeom>
              <a:avLst/>
              <a:gdLst/>
              <a:ahLst/>
              <a:cxnLst/>
              <a:rect l="l" t="t" r="r" b="b"/>
              <a:pathLst>
                <a:path w="4171950" h="319088">
                  <a:moveTo>
                    <a:pt x="4171950" y="0"/>
                  </a:moveTo>
                  <a:lnTo>
                    <a:pt x="4171950" y="212408"/>
                  </a:lnTo>
                  <a:lnTo>
                    <a:pt x="0" y="212408"/>
                  </a:lnTo>
                  <a:lnTo>
                    <a:pt x="0" y="3190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871662" y="283178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705350" y="2512695"/>
              <a:ext cx="1390650" cy="319088"/>
            </a:xfrm>
            <a:custGeom>
              <a:avLst/>
              <a:gdLst/>
              <a:ahLst/>
              <a:cxnLst/>
              <a:rect l="l" t="t" r="r" b="b"/>
              <a:pathLst>
                <a:path w="1390650" h="319088">
                  <a:moveTo>
                    <a:pt x="1390650" y="0"/>
                  </a:moveTo>
                  <a:lnTo>
                    <a:pt x="1390650" y="212408"/>
                  </a:lnTo>
                  <a:lnTo>
                    <a:pt x="0" y="212408"/>
                  </a:lnTo>
                  <a:lnTo>
                    <a:pt x="0" y="3190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652962" y="283178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6096000" y="2512695"/>
              <a:ext cx="1390650" cy="319088"/>
            </a:xfrm>
            <a:custGeom>
              <a:avLst/>
              <a:gdLst/>
              <a:ahLst/>
              <a:cxnLst/>
              <a:rect l="l" t="t" r="r" b="b"/>
              <a:pathLst>
                <a:path w="1390650" h="319088">
                  <a:moveTo>
                    <a:pt x="0" y="0"/>
                  </a:moveTo>
                  <a:lnTo>
                    <a:pt x="0" y="212408"/>
                  </a:lnTo>
                  <a:lnTo>
                    <a:pt x="1390650" y="212408"/>
                  </a:lnTo>
                  <a:lnTo>
                    <a:pt x="1390650" y="3190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7434262" y="283178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6096000" y="2512695"/>
              <a:ext cx="4171950" cy="319088"/>
            </a:xfrm>
            <a:custGeom>
              <a:avLst/>
              <a:gdLst/>
              <a:ahLst/>
              <a:cxnLst/>
              <a:rect l="l" t="t" r="r" b="b"/>
              <a:pathLst>
                <a:path w="4171950" h="319088">
                  <a:moveTo>
                    <a:pt x="0" y="0"/>
                  </a:moveTo>
                  <a:lnTo>
                    <a:pt x="0" y="212408"/>
                  </a:lnTo>
                  <a:lnTo>
                    <a:pt x="4171950" y="212408"/>
                  </a:lnTo>
                  <a:lnTo>
                    <a:pt x="4171950" y="3190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0215562" y="283178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924050" y="3308985"/>
              <a:ext cx="9525" cy="139065"/>
            </a:xfrm>
            <a:custGeom>
              <a:avLst/>
              <a:gdLst/>
              <a:ahLst/>
              <a:cxnLst/>
              <a:rect l="l" t="t" r="r" b="b"/>
              <a:pathLst>
                <a:path w="9525" h="139065">
                  <a:moveTo>
                    <a:pt x="0" y="0"/>
                  </a:moveTo>
                  <a:lnTo>
                    <a:pt x="0" y="1390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871662" y="34480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705350" y="3308985"/>
              <a:ext cx="9525" cy="139065"/>
            </a:xfrm>
            <a:custGeom>
              <a:avLst/>
              <a:gdLst/>
              <a:ahLst/>
              <a:cxnLst/>
              <a:rect l="l" t="t" r="r" b="b"/>
              <a:pathLst>
                <a:path w="9525" h="139065">
                  <a:moveTo>
                    <a:pt x="0" y="0"/>
                  </a:moveTo>
                  <a:lnTo>
                    <a:pt x="0" y="1390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652962" y="34480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7486650" y="3308985"/>
              <a:ext cx="9525" cy="139065"/>
            </a:xfrm>
            <a:custGeom>
              <a:avLst/>
              <a:gdLst/>
              <a:ahLst/>
              <a:cxnLst/>
              <a:rect l="l" t="t" r="r" b="b"/>
              <a:pathLst>
                <a:path w="9525" h="139065">
                  <a:moveTo>
                    <a:pt x="0" y="0"/>
                  </a:moveTo>
                  <a:lnTo>
                    <a:pt x="0" y="1390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7434262" y="34480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0267950" y="3308985"/>
              <a:ext cx="9525" cy="139065"/>
            </a:xfrm>
            <a:custGeom>
              <a:avLst/>
              <a:gdLst/>
              <a:ahLst/>
              <a:cxnLst/>
              <a:rect l="l" t="t" r="r" b="b"/>
              <a:pathLst>
                <a:path w="9525" h="139065">
                  <a:moveTo>
                    <a:pt x="0" y="0"/>
                  </a:moveTo>
                  <a:lnTo>
                    <a:pt x="0" y="1390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0215562" y="34480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312545" y="2140268"/>
              <a:ext cx="9567862" cy="372428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27710" y="2936558"/>
              <a:ext cx="239172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509010" y="2936558"/>
              <a:ext cx="2391728" cy="372428"/>
            </a:xfrm>
            <a:prstGeom prst="roundRect">
              <a:avLst>
                <a:gd name="adj" fmla="val 25575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90310" y="2936558"/>
              <a:ext cx="2391728" cy="372428"/>
            </a:xfrm>
            <a:prstGeom prst="roundRect">
              <a:avLst>
                <a:gd name="adj" fmla="val 25575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9071610" y="2936558"/>
              <a:ext cx="239172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27710" y="3552825"/>
              <a:ext cx="2391728" cy="731520"/>
            </a:xfrm>
            <a:prstGeom prst="roundRect">
              <a:avLst>
                <a:gd name="adj" fmla="val 10417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509010" y="3552825"/>
              <a:ext cx="2391728" cy="731520"/>
            </a:xfrm>
            <a:prstGeom prst="roundRect">
              <a:avLst>
                <a:gd name="adj" fmla="val 10417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90310" y="3552825"/>
              <a:ext cx="2391728" cy="731520"/>
            </a:xfrm>
            <a:prstGeom prst="roundRect">
              <a:avLst>
                <a:gd name="adj" fmla="val 10417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9071610" y="3552825"/>
              <a:ext cx="2391728" cy="731520"/>
            </a:xfrm>
            <a:prstGeom prst="roundRect">
              <a:avLst>
                <a:gd name="adj" fmla="val 10417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595938" y="225361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类会发生的变化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423988" y="304990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对象怎么造出来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417314" y="304990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接口变化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98614" y="304990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实现变化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79914" y="304990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特殊目的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18641" y="3665220"/>
              <a:ext cx="1210818" cy="5654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简单工厂、工厂方法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抽象工厂、建造者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原型、单例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33266" y="3665220"/>
              <a:ext cx="1344168" cy="5654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桥接、适配器、外观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组合、迭代器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观察者、命令、解释器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47916" y="3665220"/>
              <a:ext cx="1077468" cy="5654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装饰、策略、状态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模板方法、中介者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备忘录、享元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99237" y="3665220"/>
              <a:ext cx="737426" cy="5654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代理、PImpl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职责链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访问者</a:t>
              </a:r>
            </a:p>
          </p:txBody>
        </p:sp>
      </p:grpSp>
      <p:grpSp>
        <p:nvGrpSpPr>
          <p:cNvPr id="58" name="c1-kv-2"/>
          <p:cNvGrpSpPr/>
          <p:nvPr/>
        </p:nvGrpSpPr>
        <p:grpSpPr>
          <a:xfrm>
            <a:off x="526923" y="4502944"/>
            <a:ext cx="11131677" cy="1745741"/>
            <a:chOff x="526923" y="4502944"/>
            <a:chExt cx="11131677" cy="1745741"/>
          </a:xfrm>
        </p:grpSpPr>
        <p:sp>
          <p:nvSpPr>
            <p:cNvPr id="44" name="TextBox 44"/>
            <p:cNvSpPr txBox="1"/>
            <p:nvPr/>
          </p:nvSpPr>
          <p:spPr>
            <a:xfrm>
              <a:off x="526923" y="450294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对象怎么造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621346" y="4502944"/>
              <a:ext cx="483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变的是用哪个具体类、造几个、怎么装配，也就是创建型那一组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7748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26923" y="487727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接口变化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621346" y="4877276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调用方要的接口和已有接口对不上，做法是插一层稳定的抽象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514921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26923" y="525065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实现变化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621346" y="5250656"/>
              <a:ext cx="483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接口不动，兑现方式在变，做法是把会变的那一段抽成独立对象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55225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26923" y="562498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特殊目的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621346" y="5624989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不为适应变化，而为隐藏细节、传递消息、两头同时扩展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58969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26923" y="599932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两种分法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621346" y="5999321"/>
              <a:ext cx="74801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同一个模式的位置可以不同：享元和代理按 GoF 属结构型，按变化分落在实现变化与特殊目的两组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821424" cy="2997517"/>
            <a:chOff x="667512" y="1835468"/>
            <a:chExt cx="682142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8214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创建型：把造对象这件事管起来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六讲合成一组，看清谁在做选择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六个模式让什么可以变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三种工厂的分水岭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选择流程图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 · 创建型：把造对象这件事管起来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创建型六讲：各自让什么可以变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131933" cy="293370"/>
            <a:chOff x="525780" y="1548765"/>
            <a:chExt cx="10131933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1319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创建型模式抽象了实例化过程，让系统不必关心对象是怎么造出来的。六个模式的差别，就在“让哪一样可以变”。</a:t>
              </a:r>
            </a:p>
          </p:txBody>
        </p:sp>
      </p:grpSp>
      <p:grpSp>
        <p:nvGrpSpPr>
          <p:cNvPr id="43" name="c1-table-1"/>
          <p:cNvGrpSpPr/>
          <p:nvPr/>
        </p:nvGrpSpPr>
        <p:grpSpPr>
          <a:xfrm>
            <a:off x="533400" y="1954530"/>
            <a:ext cx="11125200" cy="3011805"/>
            <a:chOff x="533400" y="1954530"/>
            <a:chExt cx="11125200" cy="301180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11125200" cy="43053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78077" y="208597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模式（讲次）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81310" y="208597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让什么可以变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90229" y="208597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一句话记法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8746" y="2515552"/>
              <a:ext cx="15929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简单工厂（第 10 讲）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308604" y="251555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具体产品的选择位置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46164" y="2515552"/>
              <a:ext cx="3638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把散在各处的 new 集中到一个方法里，靠参数分支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098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14638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8746" y="2946082"/>
              <a:ext cx="15929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工厂方法（第 11 讲）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08604" y="294608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被实例化的子类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46164" y="2946082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一个具体工厂只管一个产品等级，加产品就加一对类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24040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8746" y="3376612"/>
              <a:ext cx="15929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抽象工厂（第 12 讲）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212782" y="3254692"/>
              <a:ext cx="331851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308604" y="337661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整个产品族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46164" y="3376612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一个具体工厂一次交出一整套配套产品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6699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67474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8746" y="3806190"/>
              <a:ext cx="14313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建造者（第 13 讲）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08604" y="380619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复杂对象的装配步骤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46164" y="3806190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指挥者定顺序，建造者造部件，同样的顺序造出不同表示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1005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8746" y="4236720"/>
              <a:ext cx="1269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原型（第 14 讲）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308604" y="423672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运行期的产品类型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46164" y="423672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先备好样本，用的时候复制一份，换样本就换了类型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5310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453580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8746" y="4666298"/>
              <a:ext cx="1269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单例（第 15 讲）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308604" y="466629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实例的个数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46164" y="4666298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构造函数私有，静态方法交出唯一那一个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1954530"/>
              <a:ext cx="11125200" cy="3010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3198495" y="195453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536055" y="195453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1-callout-2"/>
          <p:cNvGrpSpPr/>
          <p:nvPr/>
        </p:nvGrpSpPr>
        <p:grpSpPr>
          <a:xfrm>
            <a:off x="533400" y="5151120"/>
            <a:ext cx="11125200" cy="521970"/>
            <a:chOff x="533400" y="5151120"/>
            <a:chExt cx="11125200" cy="521970"/>
          </a:xfrm>
        </p:grpSpPr>
        <p:sp>
          <p:nvSpPr>
            <p:cNvPr id="44" name="Rectangle 44"/>
            <p:cNvSpPr/>
            <p:nvPr/>
          </p:nvSpPr>
          <p:spPr>
            <a:xfrm>
              <a:off x="533400" y="5151120"/>
              <a:ext cx="11125200" cy="521970"/>
            </a:xfrm>
            <a:prstGeom prst="roundRect">
              <a:avLst>
                <a:gd name="adj" fmla="val 2189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5312093"/>
              <a:ext cx="200026" cy="200025"/>
              <a:chOff x="738188" y="5312093"/>
              <a:chExt cx="200026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31209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77926" y="535654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12642" y="546766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511" y="5312569"/>
              <a:ext cx="80814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前五个都在回答“造哪一个类”，只有单例在回答“造几个”。做选择题时先按这一刀把范围减半。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1" name="Rectangle 51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511" y="6004084"/>
              <a:ext cx="84446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课件把这一组概括成一句：各类型对象的静态创建以及动态切换。“动态切换”那一半指的就是原型。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 · 创建型：把造对象这件事管起来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工厂方法与抽象工厂的分水岭：一个工厂管几列产品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0047720" cy="278702"/>
            <a:chOff x="526161" y="1547336"/>
            <a:chExt cx="1004772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00477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课件用同一个 Factory 基类演示了两种情形。把产品摆成一张表就清楚了：一列是一个产品等级，一行是一个产品族。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41195"/>
            <a:ext cx="6167438" cy="2926080"/>
            <a:chOff x="533400" y="1941195"/>
            <a:chExt cx="6167438" cy="292608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6167438" cy="2926080"/>
            </a:xfrm>
            <a:prstGeom prst="roundRect">
              <a:avLst>
                <a:gd name="adj" fmla="val 32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抽象工厂：一个具体工厂交出一整族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51484"/>
              <a:ext cx="3596323" cy="2425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Factory { 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三个产品等级 */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Shape    createShape();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Fruit    createFruit();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DateInfo createDate();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S1Factory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Factory {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系列 1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Shape    createShape() {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Circle();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Fruit    createFruit() {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Apple();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DateInfo createDate()  {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ChineseDate();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S2Factory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Factory {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系列 2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Shape    createShape() {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Square();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Fruit    createFruit() {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Orange();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DateInfo createDate()  {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GregorianDate();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5" name="c2-image-1"/>
          <p:cNvGrpSpPr/>
          <p:nvPr/>
        </p:nvGrpSpPr>
        <p:grpSpPr>
          <a:xfrm>
            <a:off x="7005638" y="1941195"/>
            <a:ext cx="4652962" cy="1859852"/>
            <a:chOff x="7005638" y="1941195"/>
            <a:chExt cx="4652962" cy="1859852"/>
          </a:xfrm>
        </p:grpSpPr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rcRect l="0" t="27646" r="0" b="27646"/>
            <a:stretch>
              <a:fillRect/>
            </a:stretch>
          </p:blipFill>
          <p:spPr>
            <a:xfrm>
              <a:off x="7005638" y="1941195"/>
              <a:ext cx="4652962" cy="1560195"/>
            </a:xfrm>
            <a:prstGeom prst="roundRect">
              <a:avLst>
                <a:gd name="adj" fmla="val 8547"/>
              </a:avLst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8196453" y="3595688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行是一个产品等级，列是一族配套件</a:t>
              </a:r>
            </a:p>
          </p:txBody>
        </p:sp>
      </p:grpSp>
      <p:grpSp>
        <p:nvGrpSpPr>
          <p:cNvPr id="23" name="c2-card-2"/>
          <p:cNvGrpSpPr/>
          <p:nvPr/>
        </p:nvGrpSpPr>
        <p:grpSpPr>
          <a:xfrm>
            <a:off x="7005638" y="3953828"/>
            <a:ext cx="4652962" cy="1529715"/>
            <a:chOff x="7005638" y="3953828"/>
            <a:chExt cx="4652962" cy="1529715"/>
          </a:xfrm>
        </p:grpSpPr>
        <p:sp>
          <p:nvSpPr>
            <p:cNvPr id="16" name="Rectangle 16"/>
            <p:cNvSpPr/>
            <p:nvPr/>
          </p:nvSpPr>
          <p:spPr>
            <a:xfrm>
              <a:off x="7005638" y="3953828"/>
              <a:ext cx="4652962" cy="1529715"/>
            </a:xfrm>
            <a:prstGeom prst="roundRect">
              <a:avLst>
                <a:gd name="adj" fmla="val 87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015162" y="4087178"/>
              <a:ext cx="47625" cy="126301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236142" y="414623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27583" y="41805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19834" y="418528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源课件的两处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29284" y="4519612"/>
              <a:ext cx="4289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两个子工厂的注释都写“系列1”，第二个应为 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系列2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29284" y="4822508"/>
              <a:ext cx="37856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标题写工厂方法，代码却是一个工厂放三个创建方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法，那是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抽象工厂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的形状。</a:t>
              </a:r>
            </a:p>
          </p:txBody>
        </p:sp>
      </p:grpSp>
      <p:grpSp>
        <p:nvGrpSpPr>
          <p:cNvPr id="2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24" name="Rectangle 2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892" y="6023610"/>
              <a:ext cx="6556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分界只看一句：具体工厂交出来的是一件产品，还是一整套必须配套使用的产品。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 · 创建型：把造对象这件事管起来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产品种类稳定时，工厂可以退化成静态方法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842945" cy="278702"/>
            <a:chOff x="526161" y="1547336"/>
            <a:chExt cx="8842945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8429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课件在简单工厂这一页放了两个同名的 Factory，上面是带参数的工厂方法，下面是种类稳定后的写法。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41195"/>
            <a:ext cx="5842635" cy="2108835"/>
            <a:chOff x="533400" y="1941195"/>
            <a:chExt cx="5842635" cy="210883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842635" cy="2108835"/>
            </a:xfrm>
            <a:prstGeom prst="roundRect">
              <a:avLst>
                <a:gd name="adj" fmla="val 45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参数化的工厂方法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53342"/>
              <a:ext cx="3267329" cy="16135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FruitFactory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Fruit create(FruitType t)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switch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APPLE: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Apple();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case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ORANGE: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Orange();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default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: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IllegalArgumentException();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4225290"/>
            <a:ext cx="5842635" cy="1148715"/>
            <a:chOff x="533400" y="4225290"/>
            <a:chExt cx="5842635" cy="1148715"/>
          </a:xfrm>
        </p:grpSpPr>
        <p:sp>
          <p:nvSpPr>
            <p:cNvPr id="13" name="Rectangle 13"/>
            <p:cNvSpPr/>
            <p:nvPr/>
          </p:nvSpPr>
          <p:spPr>
            <a:xfrm>
              <a:off x="533400" y="4225290"/>
              <a:ext cx="5842635" cy="1148715"/>
            </a:xfrm>
            <a:prstGeom prst="roundRect">
              <a:avLst>
                <a:gd name="adj" fmla="val 82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4377214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种类稳定后：命名的静态创建方法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988" y="4636484"/>
              <a:ext cx="3882009" cy="6534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FruitFactory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Fruit createApple()  {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Apple();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Fruit createOrange() {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Orange();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5" name="c2-kv-1"/>
          <p:cNvGrpSpPr/>
          <p:nvPr/>
        </p:nvGrpSpPr>
        <p:grpSpPr>
          <a:xfrm>
            <a:off x="6673977" y="1964055"/>
            <a:ext cx="4984623" cy="1820418"/>
            <a:chOff x="6673977" y="1964055"/>
            <a:chExt cx="4984623" cy="1820418"/>
          </a:xfrm>
        </p:grpSpPr>
        <p:sp>
          <p:nvSpPr>
            <p:cNvPr id="17" name="TextBox 17"/>
            <p:cNvSpPr txBox="1"/>
            <p:nvPr/>
          </p:nvSpPr>
          <p:spPr>
            <a:xfrm>
              <a:off x="6673977" y="196405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上面这种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36002" y="1964055"/>
              <a:ext cx="3708463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客户端只传一个参数，加产品要回来改 switch，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违反开闭原则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680835" y="250602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73977" y="261556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下面这种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36002" y="2615565"/>
              <a:ext cx="37856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方法名就是产品名，编译期拼错会报错，加产品要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加一个静态方法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80835" y="31584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673977" y="32670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共同代价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36002" y="3267075"/>
              <a:ext cx="37856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工厂类集中了所有创建逻辑，它一改，所有调用方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都要重新编译</a:t>
              </a:r>
            </a:p>
          </p:txBody>
        </p:sp>
      </p:grpSp>
      <p:grpSp>
        <p:nvGrpSpPr>
          <p:cNvPr id="33" name="c2-card-2"/>
          <p:cNvGrpSpPr/>
          <p:nvPr/>
        </p:nvGrpSpPr>
        <p:grpSpPr>
          <a:xfrm>
            <a:off x="6680835" y="3907155"/>
            <a:ext cx="4977765" cy="1529715"/>
            <a:chOff x="6680835" y="3907155"/>
            <a:chExt cx="4977765" cy="1529715"/>
          </a:xfrm>
        </p:grpSpPr>
        <p:sp>
          <p:nvSpPr>
            <p:cNvPr id="26" name="Rectangle 26"/>
            <p:cNvSpPr/>
            <p:nvPr/>
          </p:nvSpPr>
          <p:spPr>
            <a:xfrm>
              <a:off x="6680835" y="3907155"/>
              <a:ext cx="4977765" cy="1529715"/>
            </a:xfrm>
            <a:prstGeom prst="roundRect">
              <a:avLst>
                <a:gd name="adj" fmla="val 87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690360" y="4040505"/>
              <a:ext cx="47625" cy="126301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911340" y="409956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94779" y="41338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对应关系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61732" y="413861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这两种写法在课程里的位置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04482" y="4472940"/>
              <a:ext cx="43428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下面那种在第 10 讲里叫“把重载的构造函数改成命名的创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建方法”，是简单工厂的一个变体。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04482" y="5033010"/>
              <a:ext cx="45844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它常和单例配合：静态方法里先查缓存，查不到再 new。</a:t>
              </a:r>
            </a:p>
          </p:txBody>
        </p:sp>
      </p:grpSp>
      <p:grpSp>
        <p:nvGrpSpPr>
          <p:cNvPr id="40" name="c2-callout-3"/>
          <p:cNvGrpSpPr/>
          <p:nvPr/>
        </p:nvGrpSpPr>
        <p:grpSpPr>
          <a:xfrm>
            <a:off x="6680835" y="5611178"/>
            <a:ext cx="4977765" cy="729615"/>
            <a:chOff x="6680835" y="5611178"/>
            <a:chExt cx="4977765" cy="729615"/>
          </a:xfrm>
        </p:grpSpPr>
        <p:sp>
          <p:nvSpPr>
            <p:cNvPr id="34" name="Rectangle 34"/>
            <p:cNvSpPr/>
            <p:nvPr/>
          </p:nvSpPr>
          <p:spPr>
            <a:xfrm>
              <a:off x="6680835" y="5611178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873564" y="5872281"/>
              <a:ext cx="224134" cy="192560"/>
              <a:chOff x="6873564" y="5872281"/>
              <a:chExt cx="224134" cy="19256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985635" y="59426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873564" y="58722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985635" y="60204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7188327" y="5756910"/>
              <a:ext cx="404279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简单工厂不在 GoF 的 23 个之列，填“它属于哪一类模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式”时写创建型，问“是不是 GoF 模式”时答不是。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 · 创建型：把造对象这件事管起来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建造者：指挥者定顺序，建造者造部件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773439" cy="264033"/>
            <a:chOff x="526542" y="1545907"/>
            <a:chExt cx="877343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7734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产品的字段很多、装配过程还会变时，把“造哪些部件”和“按什么顺序装”切给两个类。课件称它生成器模式。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626418" cy="2453640"/>
            <a:chOff x="533400" y="1928812"/>
            <a:chExt cx="5626418" cy="245364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2453640"/>
            </a:xfrm>
            <a:prstGeom prst="roundRect">
              <a:avLst>
                <a:gd name="adj" fmla="val 38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两个抽象角色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39816"/>
              <a:ext cx="3013964" cy="19564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Builder {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造部件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 result;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buildProduct();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buildSubPartA();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buildSubPartB();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 getProduct() {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result;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Director {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定顺序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Builder builder;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Director(Builder b) {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.builder = b;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 makeProduct();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1" name="c1-kv-2"/>
          <p:cNvGrpSpPr/>
          <p:nvPr/>
        </p:nvGrpSpPr>
        <p:grpSpPr>
          <a:xfrm>
            <a:off x="526923" y="4567714"/>
            <a:ext cx="5632895" cy="997076"/>
            <a:chOff x="526923" y="4567714"/>
            <a:chExt cx="5632895" cy="997076"/>
          </a:xfrm>
        </p:grpSpPr>
        <p:sp>
          <p:nvSpPr>
            <p:cNvPr id="13" name="TextBox 13"/>
            <p:cNvSpPr txBox="1"/>
            <p:nvPr/>
          </p:nvSpPr>
          <p:spPr>
            <a:xfrm>
              <a:off x="526923" y="456771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抽象建造者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21346" y="4567714"/>
              <a:ext cx="44826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声明造各部件的方法，外加一个交出成品的 getProduct()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483965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923" y="494204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指挥者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21346" y="4942046"/>
              <a:ext cx="44915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持有一个建造者引用，在 makeProduct() 里定下调用顺序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521398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6923" y="531542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两者都可换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21346" y="5315426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换建造者得到不同的产品，换指挥者得到不同的装配顺序</a:t>
              </a:r>
            </a:p>
          </p:txBody>
        </p:sp>
      </p:grpSp>
      <p:grpSp>
        <p:nvGrpSpPr>
          <p:cNvPr id="25" name="c2-code-1"/>
          <p:cNvGrpSpPr/>
          <p:nvPr/>
        </p:nvGrpSpPr>
        <p:grpSpPr>
          <a:xfrm>
            <a:off x="6464618" y="1928812"/>
            <a:ext cx="5193982" cy="2005012"/>
            <a:chOff x="6464618" y="1928812"/>
            <a:chExt cx="5193982" cy="2005012"/>
          </a:xfrm>
        </p:grpSpPr>
        <p:sp>
          <p:nvSpPr>
            <p:cNvPr id="22" name="Rectangle 22"/>
            <p:cNvSpPr/>
            <p:nvPr/>
          </p:nvSpPr>
          <p:spPr>
            <a:xfrm>
              <a:off x="6464618" y="1928812"/>
              <a:ext cx="5193982" cy="2005012"/>
            </a:xfrm>
            <a:prstGeom prst="roundRect">
              <a:avLst>
                <a:gd name="adj" fmla="val 475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93015" y="208073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一个具体指挥者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93205" y="2339816"/>
              <a:ext cx="2701544" cy="15078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Director123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Director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Director123(Builder b) {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(b);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 makeProduct()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builder.buildProduct();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builder.buildSubPartA();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builder.buildSubPartB();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builder.getProduct();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3" name="c2-card-2"/>
          <p:cNvGrpSpPr/>
          <p:nvPr/>
        </p:nvGrpSpPr>
        <p:grpSpPr>
          <a:xfrm>
            <a:off x="6464618" y="4098608"/>
            <a:ext cx="5193982" cy="1444942"/>
            <a:chOff x="6464618" y="4098608"/>
            <a:chExt cx="5193982" cy="1444942"/>
          </a:xfrm>
        </p:grpSpPr>
        <p:sp>
          <p:nvSpPr>
            <p:cNvPr id="26" name="Rectangle 26"/>
            <p:cNvSpPr/>
            <p:nvPr/>
          </p:nvSpPr>
          <p:spPr>
            <a:xfrm>
              <a:off x="6464618" y="4098608"/>
              <a:ext cx="5193982" cy="1444942"/>
            </a:xfrm>
            <a:prstGeom prst="roundRect">
              <a:avLst>
                <a:gd name="adj" fmla="val 92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74142" y="4231958"/>
              <a:ext cx="47625" cy="11782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683692" y="427958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76364" y="431244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50620" y="431911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源课件的三处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77216" y="4635341"/>
              <a:ext cx="46174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访问控制符写作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Protected: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，C++ 关键字是小写的；构造函数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 Builder 引用，字段却是 Builder 指针。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77216" y="5163026"/>
              <a:ext cx="4690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Director123 缺收尾的分号花括号，箭头中间还多了个空格。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4" name="Rectangle 3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1273" y="6039326"/>
              <a:ext cx="88009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换一个建造者，装配顺序一行不改，得到的是同一套流程装出来的另一种产品。这是建造者和抽象工厂最大的不同。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 · 创建型：把造对象这件事管起来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原型：换一个样本，就换了产品的类型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9782774" cy="278702"/>
            <a:chOff x="526161" y="1547336"/>
            <a:chExt cx="9782774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97827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其他创建型模式产出的类型在编译期就定死了。要在运行期整体换掉产出类型，就把“样本对象”本身做成可替换的。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41195"/>
            <a:ext cx="5842635" cy="3388995"/>
            <a:chOff x="533400" y="1941195"/>
            <a:chExt cx="5842635" cy="338899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842635" cy="3388995"/>
            </a:xfrm>
            <a:prstGeom prst="roundRect">
              <a:avLst>
                <a:gd name="adj" fmla="val 28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抽象原型、具体原型与原型管理器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53342"/>
              <a:ext cx="3965829" cy="2893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IClonable {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抽象原型 */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IClonable copy();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ProductA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IClonable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ProductA copy() {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ProductA();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ProductMgr {   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原型管理器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ProductA protoA =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ProductA();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changeSampleA(ProductA sample)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.protoA = sample;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换样本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ProductA createA()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protoA.copy();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换出来的类型跟着变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2-card-1"/>
          <p:cNvGrpSpPr/>
          <p:nvPr/>
        </p:nvGrpSpPr>
        <p:grpSpPr>
          <a:xfrm>
            <a:off x="6680835" y="1941195"/>
            <a:ext cx="4977765" cy="3072765"/>
            <a:chOff x="6680835" y="1941195"/>
            <a:chExt cx="4977765" cy="3072765"/>
          </a:xfrm>
        </p:grpSpPr>
        <p:sp>
          <p:nvSpPr>
            <p:cNvPr id="13" name="Rectangle 13"/>
            <p:cNvSpPr/>
            <p:nvPr/>
          </p:nvSpPr>
          <p:spPr>
            <a:xfrm>
              <a:off x="6680835" y="1941195"/>
              <a:ext cx="4977765" cy="3072765"/>
            </a:xfrm>
            <a:prstGeom prst="roundRect">
              <a:avLst>
                <a:gd name="adj" fmla="val 43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690360" y="2074545"/>
              <a:ext cx="47625" cy="28060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911340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002780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95032" y="217360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源课件的两处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04482" y="2507932"/>
              <a:ext cx="4385691" cy="1292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IClonable.clone() 声明返回 `Product *`，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ProductA.clone() 却返回 `ProductA *`。协变返回要求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ProductA 是 Product 的派生类，而课件里 ProductA 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派生自 IClonable，两处对不上。这里统一成返回接口类型</a:t>
              </a:r>
              <a:br/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IClonable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04482" y="3839527"/>
              <a:ext cx="4282821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方法名照搬 clone() 在 Java 里会撞上 Object 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protected clone()，需要同时实现 Cloneable 并处理受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检异常。第 14 讲讲过完整写法，本页改名 copy() 以突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出结构。</a:t>
              </a:r>
            </a:p>
          </p:txBody>
        </p:sp>
      </p:grpSp>
      <p:grpSp>
        <p:nvGrpSpPr>
          <p:cNvPr id="27" name="c2-callout-2"/>
          <p:cNvGrpSpPr/>
          <p:nvPr/>
        </p:nvGrpSpPr>
        <p:grpSpPr>
          <a:xfrm>
            <a:off x="6680835" y="5189220"/>
            <a:ext cx="4977765" cy="978218"/>
            <a:chOff x="6680835" y="5189220"/>
            <a:chExt cx="4977765" cy="978218"/>
          </a:xfrm>
        </p:grpSpPr>
        <p:sp>
          <p:nvSpPr>
            <p:cNvPr id="21" name="Rectangle 21"/>
            <p:cNvSpPr/>
            <p:nvPr/>
          </p:nvSpPr>
          <p:spPr>
            <a:xfrm>
              <a:off x="6680835" y="5189220"/>
              <a:ext cx="4977765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6885623" y="5577840"/>
              <a:ext cx="200026" cy="200025"/>
              <a:chOff x="6885623" y="5577840"/>
              <a:chExt cx="200026" cy="2000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885623" y="55778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925361" y="56222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960077" y="57334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7188327" y="5334952"/>
              <a:ext cx="39570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浅克隆只复制引用，深克隆连成员对象一起复制。考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题里给一段输出让你判断是浅还是深，看的就是两个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对象的成员地址是否相同。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8" name="TextBox 28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 · 创建型：把造对象这件事管起来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单例：把实例个数关进类自己手里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696046" cy="278702"/>
            <a:chOff x="526161" y="1547336"/>
            <a:chExt cx="8696046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6960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前面五个模式回答“造哪一个类”，单例回答“造几个”。限制成一个是单例，限制成至多 N 个就是多例。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41195"/>
            <a:ext cx="5410200" cy="1788795"/>
            <a:chOff x="533400" y="1941195"/>
            <a:chExt cx="5410200" cy="178879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1788795"/>
            </a:xfrm>
            <a:prstGeom prst="roundRect">
              <a:avLst>
                <a:gd name="adj" fmla="val 53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单例：饿汉式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53342"/>
              <a:ext cx="3077337" cy="1293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ProductMgr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ProductMgr INSTANCE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=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ProductMgr();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ProductMgr() { }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外部造不出来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ProductMgr getInstance()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INSTANCE;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905250"/>
            <a:ext cx="5410200" cy="1483995"/>
            <a:chOff x="533400" y="3905250"/>
            <a:chExt cx="5410200" cy="1483995"/>
          </a:xfrm>
        </p:grpSpPr>
        <p:sp>
          <p:nvSpPr>
            <p:cNvPr id="13" name="Rectangle 13"/>
            <p:cNvSpPr/>
            <p:nvPr/>
          </p:nvSpPr>
          <p:spPr>
            <a:xfrm>
              <a:off x="533400" y="3905250"/>
              <a:ext cx="5410200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4038600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3905" y="409765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5345" y="413194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47597" y="413766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源课件的返回类型写错了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7047" y="4471988"/>
              <a:ext cx="475430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getInstance() 声明返回 Product 的引用，函数体里建的也是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static Product，可这个类叫 ProductMgr。要交出的是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它自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己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，两处都应改。</a:t>
              </a:r>
            </a:p>
          </p:txBody>
        </p:sp>
      </p:grpSp>
      <p:grpSp>
        <p:nvGrpSpPr>
          <p:cNvPr id="23" name="c2-code-1"/>
          <p:cNvGrpSpPr/>
          <p:nvPr/>
        </p:nvGrpSpPr>
        <p:grpSpPr>
          <a:xfrm>
            <a:off x="6248400" y="1941195"/>
            <a:ext cx="5410200" cy="3228975"/>
            <a:chOff x="6248400" y="1941195"/>
            <a:chExt cx="5410200" cy="3228975"/>
          </a:xfrm>
        </p:grpSpPr>
        <p:sp>
          <p:nvSpPr>
            <p:cNvPr id="20" name="Rectangle 20"/>
            <p:cNvSpPr/>
            <p:nvPr/>
          </p:nvSpPr>
          <p:spPr>
            <a:xfrm>
              <a:off x="6248400" y="1941195"/>
              <a:ext cx="5410200" cy="3228975"/>
            </a:xfrm>
            <a:prstGeom prst="roundRect">
              <a:avLst>
                <a:gd name="adj" fmla="val 295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76797" y="2093119"/>
              <a:ext cx="9697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多例：至多 N 个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76988" y="2353342"/>
              <a:ext cx="302145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Connection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 = 3;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Connection[] POOL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=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Connection[N];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next = 0;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Connection() {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synchronized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Connection get()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next;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next = (next + 1) % N;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(POOL[i] ==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POOL[i] =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Connection();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POOL[i];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9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24" name="Rectangle 24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5897882"/>
              <a:ext cx="200023" cy="200023"/>
              <a:chOff x="738188" y="5897882"/>
              <a:chExt cx="200023" cy="200023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58978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71538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892" y="5779770"/>
              <a:ext cx="99578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课件里 C++ 那一串 = delete 的作用，是堵住拷贝构造和赋值这两条造副本的路。Java 里对应的是不实现 Cloneable、并在反序列化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时返回 readResolve 里的同一个实例。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080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2876" y="407194"/>
              <a:ext cx="3129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 · 创建型：把造对象这件事管起来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六个创建型模式的选择流程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940450" cy="278702"/>
            <a:chOff x="526161" y="1547336"/>
            <a:chExt cx="594045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9404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遇到创建类的题目，按下面的顺序问五句，基本能定位到唯一的模式。</a:t>
              </a:r>
            </a:p>
          </p:txBody>
        </p:sp>
      </p:grpSp>
      <p:grpSp>
        <p:nvGrpSpPr>
          <p:cNvPr id="19" name="c1-card-1"/>
          <p:cNvGrpSpPr/>
          <p:nvPr/>
        </p:nvGrpSpPr>
        <p:grpSpPr>
          <a:xfrm>
            <a:off x="533400" y="1941195"/>
            <a:ext cx="4328160" cy="2088832"/>
            <a:chOff x="533400" y="1941195"/>
            <a:chExt cx="4328160" cy="208883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4328160" cy="2088832"/>
            </a:xfrm>
            <a:prstGeom prst="roundRect">
              <a:avLst>
                <a:gd name="adj" fmla="val 6384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5805" y="213360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9244" y="216789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三种工厂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76197" y="217360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谁来做选择，就是它们的分界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34378" y="256413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90397" y="2507932"/>
              <a:ext cx="3702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简单工厂：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工厂类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按参数选，加产品要改工厂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34378" y="286702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90397" y="2810827"/>
              <a:ext cx="36141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工厂方法：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客户端选工厂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，工厂子类只造一种产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品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34378" y="342614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90397" y="3369945"/>
              <a:ext cx="34941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抽象工厂：客户端选工厂，工厂一次交出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一整</a:t>
              </a:r>
              <a:br/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族</a:t>
              </a:r>
            </a:p>
          </p:txBody>
        </p:sp>
      </p:grpSp>
      <p:grpSp>
        <p:nvGrpSpPr>
          <p:cNvPr id="26" name="c1-callout-2"/>
          <p:cNvGrpSpPr/>
          <p:nvPr/>
        </p:nvGrpSpPr>
        <p:grpSpPr>
          <a:xfrm>
            <a:off x="533400" y="4205288"/>
            <a:ext cx="4328160" cy="978218"/>
            <a:chOff x="533400" y="4205288"/>
            <a:chExt cx="4328160" cy="978218"/>
          </a:xfrm>
        </p:grpSpPr>
        <p:sp>
          <p:nvSpPr>
            <p:cNvPr id="20" name="Rectangle 20"/>
            <p:cNvSpPr/>
            <p:nvPr/>
          </p:nvSpPr>
          <p:spPr>
            <a:xfrm>
              <a:off x="533400" y="4205288"/>
              <a:ext cx="4328160" cy="978218"/>
            </a:xfrm>
            <a:prstGeom prst="roundRect">
              <a:avLst>
                <a:gd name="adj" fmla="val 1168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26129" y="4591168"/>
              <a:ext cx="224134" cy="192560"/>
              <a:chOff x="726129" y="4591168"/>
              <a:chExt cx="224134" cy="19256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38200" y="466153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26129" y="459116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47393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892" y="4351972"/>
              <a:ext cx="344271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建造者和抽象工厂都产出多个东西。区别在于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抽象工厂交出的是一族可以分开用的产品，建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造者交出的是拼好的一个整体。</a:t>
              </a:r>
            </a:p>
          </p:txBody>
        </p:sp>
      </p:grpSp>
      <p:grpSp>
        <p:nvGrpSpPr>
          <p:cNvPr id="33" name="c1-callout-3"/>
          <p:cNvGrpSpPr/>
          <p:nvPr/>
        </p:nvGrpSpPr>
        <p:grpSpPr>
          <a:xfrm>
            <a:off x="533400" y="5358765"/>
            <a:ext cx="4328160" cy="978218"/>
            <a:chOff x="533400" y="5358765"/>
            <a:chExt cx="4328160" cy="978218"/>
          </a:xfrm>
        </p:grpSpPr>
        <p:sp>
          <p:nvSpPr>
            <p:cNvPr id="27" name="Rectangle 27"/>
            <p:cNvSpPr/>
            <p:nvPr/>
          </p:nvSpPr>
          <p:spPr>
            <a:xfrm>
              <a:off x="533400" y="5358765"/>
              <a:ext cx="4328160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747385"/>
              <a:ext cx="200026" cy="200026"/>
              <a:chOff x="738188" y="5747385"/>
              <a:chExt cx="200026" cy="20002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74738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8200" y="581406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27088" y="584739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892" y="5504498"/>
              <a:ext cx="344271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原型和工厂方法都能换产品类型。区别在于原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型换的是对象（运行期换样本），工厂方法换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的是类（编译期定好的子类）。</a:t>
              </a:r>
            </a:p>
          </p:txBody>
        </p:sp>
      </p:grpSp>
      <p:grpSp>
        <p:nvGrpSpPr>
          <p:cNvPr id="96" name="c2-flow-1"/>
          <p:cNvGrpSpPr/>
          <p:nvPr/>
        </p:nvGrpSpPr>
        <p:grpSpPr>
          <a:xfrm>
            <a:off x="5317808" y="2117408"/>
            <a:ext cx="6189345" cy="4285297"/>
            <a:chOff x="5317808" y="2117408"/>
            <a:chExt cx="6189345" cy="4285297"/>
          </a:xfrm>
        </p:grpSpPr>
        <p:sp>
          <p:nvSpPr>
            <p:cNvPr id="34" name="Freeform 34"/>
            <p:cNvSpPr/>
            <p:nvPr/>
          </p:nvSpPr>
          <p:spPr>
            <a:xfrm>
              <a:off x="7178992" y="2405062"/>
              <a:ext cx="198120" cy="9525"/>
            </a:xfrm>
            <a:custGeom>
              <a:avLst/>
              <a:gdLst/>
              <a:ahLst/>
              <a:cxnLst/>
              <a:rect l="l" t="t" r="r" b="b"/>
              <a:pathLst>
                <a:path w="198120" h="9525">
                  <a:moveTo>
                    <a:pt x="0" y="0"/>
                  </a:moveTo>
                  <a:lnTo>
                    <a:pt x="1981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377112" y="23526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6248400" y="2692718"/>
              <a:ext cx="9525" cy="151448"/>
            </a:xfrm>
            <a:custGeom>
              <a:avLst/>
              <a:gdLst/>
              <a:ahLst/>
              <a:cxnLst/>
              <a:rect l="l" t="t" r="r" b="b"/>
              <a:pathLst>
                <a:path w="9525" h="151448">
                  <a:moveTo>
                    <a:pt x="0" y="0"/>
                  </a:moveTo>
                  <a:lnTo>
                    <a:pt x="0" y="15144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6196012" y="28441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7178992" y="3332798"/>
              <a:ext cx="198120" cy="9525"/>
            </a:xfrm>
            <a:custGeom>
              <a:avLst/>
              <a:gdLst/>
              <a:ahLst/>
              <a:cxnLst/>
              <a:rect l="l" t="t" r="r" b="b"/>
              <a:pathLst>
                <a:path w="198120" h="9525">
                  <a:moveTo>
                    <a:pt x="0" y="0"/>
                  </a:moveTo>
                  <a:lnTo>
                    <a:pt x="1981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377112" y="32804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6248400" y="3716655"/>
              <a:ext cx="9525" cy="151448"/>
            </a:xfrm>
            <a:custGeom>
              <a:avLst/>
              <a:gdLst/>
              <a:ahLst/>
              <a:cxnLst/>
              <a:rect l="l" t="t" r="r" b="b"/>
              <a:pathLst>
                <a:path w="9525" h="151448">
                  <a:moveTo>
                    <a:pt x="0" y="0"/>
                  </a:moveTo>
                  <a:lnTo>
                    <a:pt x="0" y="15144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6196012" y="38681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7178992" y="4260532"/>
              <a:ext cx="198120" cy="9525"/>
            </a:xfrm>
            <a:custGeom>
              <a:avLst/>
              <a:gdLst/>
              <a:ahLst/>
              <a:cxnLst/>
              <a:rect l="l" t="t" r="r" b="b"/>
              <a:pathLst>
                <a:path w="198120" h="9525">
                  <a:moveTo>
                    <a:pt x="0" y="0"/>
                  </a:moveTo>
                  <a:lnTo>
                    <a:pt x="1981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7377112" y="42081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6248400" y="4548188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6196012" y="47958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7178992" y="5188268"/>
              <a:ext cx="198120" cy="9525"/>
            </a:xfrm>
            <a:custGeom>
              <a:avLst/>
              <a:gdLst/>
              <a:ahLst/>
              <a:cxnLst/>
              <a:rect l="l" t="t" r="r" b="b"/>
              <a:pathLst>
                <a:path w="198120" h="9525">
                  <a:moveTo>
                    <a:pt x="0" y="0"/>
                  </a:moveTo>
                  <a:lnTo>
                    <a:pt x="1981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7377112" y="51358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6248400" y="5475922"/>
              <a:ext cx="9525" cy="246697"/>
            </a:xfrm>
            <a:custGeom>
              <a:avLst/>
              <a:gdLst/>
              <a:ahLst/>
              <a:cxnLst/>
              <a:rect l="l" t="t" r="r" b="b"/>
              <a:pathLst>
                <a:path w="9525" h="246697">
                  <a:moveTo>
                    <a:pt x="0" y="0"/>
                  </a:moveTo>
                  <a:lnTo>
                    <a:pt x="0" y="24669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6196012" y="57226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7178992" y="6115050"/>
              <a:ext cx="198120" cy="9525"/>
            </a:xfrm>
            <a:custGeom>
              <a:avLst/>
              <a:gdLst/>
              <a:ahLst/>
              <a:cxnLst/>
              <a:rect l="l" t="t" r="r" b="b"/>
              <a:pathLst>
                <a:path w="198120" h="9525">
                  <a:moveTo>
                    <a:pt x="0" y="0"/>
                  </a:moveTo>
                  <a:lnTo>
                    <a:pt x="1981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7377112" y="60626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7178992" y="6115050"/>
              <a:ext cx="2362200" cy="9525"/>
            </a:xfrm>
            <a:custGeom>
              <a:avLst/>
              <a:gdLst/>
              <a:ahLst/>
              <a:cxnLst/>
              <a:rect l="l" t="t" r="r" b="b"/>
              <a:pathLst>
                <a:path w="2362200" h="9525">
                  <a:moveTo>
                    <a:pt x="0" y="0"/>
                  </a:moveTo>
                  <a:lnTo>
                    <a:pt x="236220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9541192" y="60626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5317808" y="2117408"/>
              <a:ext cx="1861185" cy="575310"/>
            </a:xfrm>
            <a:custGeom>
              <a:avLst/>
              <a:gdLst/>
              <a:ahLst/>
              <a:cxnLst/>
              <a:rect l="l" t="t" r="r" b="b"/>
              <a:pathLst>
                <a:path w="1861185" h="575310">
                  <a:moveTo>
                    <a:pt x="930593" y="0"/>
                  </a:moveTo>
                  <a:lnTo>
                    <a:pt x="1861185" y="287655"/>
                  </a:lnTo>
                  <a:lnTo>
                    <a:pt x="930593" y="575310"/>
                  </a:lnTo>
                  <a:lnTo>
                    <a:pt x="0" y="28765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481888" y="2205990"/>
              <a:ext cx="1861185" cy="399098"/>
            </a:xfrm>
            <a:prstGeom prst="roundRect">
              <a:avLst>
                <a:gd name="adj" fmla="val 23866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5317808" y="2948940"/>
              <a:ext cx="1861185" cy="767715"/>
            </a:xfrm>
            <a:custGeom>
              <a:avLst/>
              <a:gdLst/>
              <a:ahLst/>
              <a:cxnLst/>
              <a:rect l="l" t="t" r="r" b="b"/>
              <a:pathLst>
                <a:path w="1861185" h="767715">
                  <a:moveTo>
                    <a:pt x="930593" y="0"/>
                  </a:moveTo>
                  <a:lnTo>
                    <a:pt x="1861185" y="383857"/>
                  </a:lnTo>
                  <a:lnTo>
                    <a:pt x="930593" y="767715"/>
                  </a:lnTo>
                  <a:lnTo>
                    <a:pt x="0" y="383857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7481888" y="3133725"/>
              <a:ext cx="1861185" cy="399098"/>
            </a:xfrm>
            <a:prstGeom prst="roundRect">
              <a:avLst>
                <a:gd name="adj" fmla="val 23866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5317808" y="3972878"/>
              <a:ext cx="1861185" cy="575310"/>
            </a:xfrm>
            <a:custGeom>
              <a:avLst/>
              <a:gdLst/>
              <a:ahLst/>
              <a:cxnLst/>
              <a:rect l="l" t="t" r="r" b="b"/>
              <a:pathLst>
                <a:path w="1861185" h="575310">
                  <a:moveTo>
                    <a:pt x="930593" y="0"/>
                  </a:moveTo>
                  <a:lnTo>
                    <a:pt x="1861185" y="287655"/>
                  </a:lnTo>
                  <a:lnTo>
                    <a:pt x="930593" y="575310"/>
                  </a:lnTo>
                  <a:lnTo>
                    <a:pt x="0" y="28765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481888" y="4060508"/>
              <a:ext cx="1861185" cy="399098"/>
            </a:xfrm>
            <a:prstGeom prst="roundRect">
              <a:avLst>
                <a:gd name="adj" fmla="val 23866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5317808" y="4900612"/>
              <a:ext cx="1861185" cy="575310"/>
            </a:xfrm>
            <a:custGeom>
              <a:avLst/>
              <a:gdLst/>
              <a:ahLst/>
              <a:cxnLst/>
              <a:rect l="l" t="t" r="r" b="b"/>
              <a:pathLst>
                <a:path w="1861185" h="575310">
                  <a:moveTo>
                    <a:pt x="930593" y="0"/>
                  </a:moveTo>
                  <a:lnTo>
                    <a:pt x="1861185" y="287655"/>
                  </a:lnTo>
                  <a:lnTo>
                    <a:pt x="930593" y="575310"/>
                  </a:lnTo>
                  <a:lnTo>
                    <a:pt x="0" y="28765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481888" y="4988242"/>
              <a:ext cx="1861185" cy="399098"/>
            </a:xfrm>
            <a:prstGeom prst="roundRect">
              <a:avLst>
                <a:gd name="adj" fmla="val 23866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5317808" y="5827395"/>
              <a:ext cx="1861185" cy="575310"/>
            </a:xfrm>
            <a:custGeom>
              <a:avLst/>
              <a:gdLst/>
              <a:ahLst/>
              <a:cxnLst/>
              <a:rect l="l" t="t" r="r" b="b"/>
              <a:pathLst>
                <a:path w="1861185" h="575310">
                  <a:moveTo>
                    <a:pt x="930593" y="0"/>
                  </a:moveTo>
                  <a:lnTo>
                    <a:pt x="1861185" y="287655"/>
                  </a:lnTo>
                  <a:lnTo>
                    <a:pt x="930593" y="575310"/>
                  </a:lnTo>
                  <a:lnTo>
                    <a:pt x="0" y="28765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7481888" y="5915978"/>
              <a:ext cx="1861185" cy="399098"/>
            </a:xfrm>
            <a:prstGeom prst="roundRect">
              <a:avLst>
                <a:gd name="adj" fmla="val 23866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9645968" y="5915978"/>
              <a:ext cx="1861185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639587" y="232648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只能有一个实例？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022290" y="2326481"/>
              <a:ext cx="7803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单例（15）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744845" y="3158014"/>
              <a:ext cx="100711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装配过程复杂多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变？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946903" y="3254216"/>
              <a:ext cx="931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建造者（13）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639587" y="418195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类型运行期才定？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022290" y="4181951"/>
              <a:ext cx="7803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原型（14）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639587" y="510968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产品要成族配套？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871516" y="5109686"/>
              <a:ext cx="1081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抽象工厂（12）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639587" y="60364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以后要加新产品？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871516" y="6036469"/>
              <a:ext cx="1081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工厂方法（11）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035596" y="6036469"/>
              <a:ext cx="1081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简单工厂（10）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7220902" y="2199322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259523" y="222361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276975" y="2735580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300597" y="275986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7220902" y="3127058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259523" y="315134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276975" y="3759518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300597" y="378380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7220902" y="4053840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7259523" y="407908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276975" y="4638675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300597" y="466296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7220902" y="4981575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259523" y="500681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6276975" y="5566410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300597" y="559069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7220902" y="5909310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7259523" y="593359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8302942" y="5688330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8341563" y="571357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9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7" name="TextBox 97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579745" cy="2997517"/>
            <a:chOff x="667512" y="1835468"/>
            <a:chExt cx="5579745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接口变化的适应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调用方要的接口和现有接口对不上时，插一层稳定的抽象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桥接适配器外观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组合迭代器观察者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命令与解释器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 · 接口变化的适应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接口变化长什么样：两个类做同一件事，签名不一样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9133911" cy="278702"/>
            <a:chOff x="526161" y="1547336"/>
            <a:chExt cx="9133911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91339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课件用 Foo1 和 Foo2 说明问题。两个类的职责相同，方法名却各带各的后缀，客户端只能写两套调用代码。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41195"/>
            <a:ext cx="5626418" cy="2268855"/>
            <a:chOff x="533400" y="1941195"/>
            <a:chExt cx="5626418" cy="226885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626418" cy="2268855"/>
            </a:xfrm>
            <a:prstGeom prst="roundRect">
              <a:avLst>
                <a:gd name="adj" fmla="val 419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同一件事的两副面孔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53342"/>
              <a:ext cx="1484757" cy="17735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Foo1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f1() {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g1() {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h1() {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Foo2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f2() {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g2() {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h2() {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4385310"/>
            <a:ext cx="5626418" cy="1190625"/>
            <a:chOff x="533400" y="4385310"/>
            <a:chExt cx="5626418" cy="1190625"/>
          </a:xfrm>
        </p:grpSpPr>
        <p:sp>
          <p:nvSpPr>
            <p:cNvPr id="13" name="Rectangle 13"/>
            <p:cNvSpPr/>
            <p:nvPr/>
          </p:nvSpPr>
          <p:spPr>
            <a:xfrm>
              <a:off x="533400" y="4385310"/>
              <a:ext cx="5626418" cy="1190625"/>
            </a:xfrm>
            <a:prstGeom prst="roundRect">
              <a:avLst>
                <a:gd name="adj" fmla="val 960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26129" y="4876918"/>
              <a:ext cx="224134" cy="192560"/>
              <a:chOff x="726129" y="4876918"/>
              <a:chExt cx="224134" cy="19256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38200" y="49472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26129" y="48769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38200" y="50250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892" y="4762500"/>
              <a:ext cx="470287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客户端只要写出 foo1.f1() 这样的调用，就把自己和 Foo1 绑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死了。换成 Foo2 要改的不是一处，是所有调用点。</a:t>
              </a:r>
            </a:p>
          </p:txBody>
        </p:sp>
      </p:grpSp>
      <p:grpSp>
        <p:nvGrpSpPr>
          <p:cNvPr id="37" name="c2-kv-1"/>
          <p:cNvGrpSpPr/>
          <p:nvPr/>
        </p:nvGrpSpPr>
        <p:grpSpPr>
          <a:xfrm>
            <a:off x="6457760" y="1964055"/>
            <a:ext cx="5200840" cy="2760535"/>
            <a:chOff x="6457760" y="1964055"/>
            <a:chExt cx="5200840" cy="2760535"/>
          </a:xfrm>
        </p:grpSpPr>
        <p:sp>
          <p:nvSpPr>
            <p:cNvPr id="20" name="TextBox 20"/>
            <p:cNvSpPr txBox="1"/>
            <p:nvPr/>
          </p:nvSpPr>
          <p:spPr>
            <a:xfrm>
              <a:off x="6457760" y="196405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分离接口和实现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19872" y="1964055"/>
              <a:ext cx="17765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桥接模式（第 21 讲）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464618" y="22526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57760" y="236124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适配接口的不同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19872" y="2361248"/>
              <a:ext cx="19583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适配器模式（第 20 讲）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464618" y="265080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57760" y="275939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简化接口的访问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19872" y="2759392"/>
              <a:ext cx="28669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外观模式（第 24 讲），课件称门面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64618" y="304895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57760" y="315753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一致地访问各对象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19872" y="3157538"/>
              <a:ext cx="3288411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组合模式（第 22 讲）、迭代器模式（第 33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讲）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64618" y="37004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57760" y="380904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一致地发送通知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19872" y="3809048"/>
              <a:ext cx="19583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观察者模式（第 36 讲）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64618" y="409765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57760" y="4207192"/>
              <a:ext cx="13853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让接口稳定而实现</a:t>
              </a:r>
              <a:br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可变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19872" y="4207192"/>
              <a:ext cx="3288411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命令模式（第 31 讲）、解释器模式（第 32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讲）</a:t>
              </a:r>
            </a:p>
          </p:txBody>
        </p:sp>
      </p:grpSp>
      <p:grpSp>
        <p:nvGrpSpPr>
          <p:cNvPr id="43" name="c2-callout-2"/>
          <p:cNvGrpSpPr/>
          <p:nvPr/>
        </p:nvGrpSpPr>
        <p:grpSpPr>
          <a:xfrm>
            <a:off x="6464618" y="4846320"/>
            <a:ext cx="5193982" cy="729615"/>
            <a:chOff x="6464618" y="4846320"/>
            <a:chExt cx="5193982" cy="729615"/>
          </a:xfrm>
        </p:grpSpPr>
        <p:sp>
          <p:nvSpPr>
            <p:cNvPr id="38" name="Rectangle 38"/>
            <p:cNvSpPr/>
            <p:nvPr/>
          </p:nvSpPr>
          <p:spPr>
            <a:xfrm>
              <a:off x="6464618" y="4846320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669405" y="5111117"/>
              <a:ext cx="200023" cy="200023"/>
              <a:chOff x="6669405" y="5111117"/>
              <a:chExt cx="200023" cy="20002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669405" y="51111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802755" y="51777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972110" y="4993005"/>
              <a:ext cx="42999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六条做法只有一个共同动作：在客户端和具体类之间插入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一层不会变的抽象，让客户端只认这一层。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4" name="Rectangle 4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892" y="6023610"/>
              <a:ext cx="9427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这六行就是陈伟老师总结课件第 14、15 页的原文顺序，考前可以照着默写一遍，检查自己是否还能把模式名填回去。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 · 接口变化的适应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桥接：把一条继承链拆成两条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555355" cy="264033"/>
            <a:chOff x="526542" y="1545907"/>
            <a:chExt cx="855535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5553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抽象部分和实现部分各自都会长。让它们分别继承，再用一条关联把两边连起来，两个方向就能独立扩展。</a:t>
              </a:r>
            </a:p>
          </p:txBody>
        </p:sp>
      </p:grpSp>
      <p:grpSp>
        <p:nvGrpSpPr>
          <p:cNvPr id="43" name="c1-uml-1"/>
          <p:cNvGrpSpPr/>
          <p:nvPr/>
        </p:nvGrpSpPr>
        <p:grpSpPr>
          <a:xfrm>
            <a:off x="1205865" y="2130742"/>
            <a:ext cx="3631883" cy="2036446"/>
            <a:chOff x="1205865" y="2130742"/>
            <a:chExt cx="3631883" cy="2036446"/>
          </a:xfrm>
        </p:grpSpPr>
        <p:sp>
          <p:nvSpPr>
            <p:cNvPr id="9" name="Freeform 9"/>
            <p:cNvSpPr/>
            <p:nvPr/>
          </p:nvSpPr>
          <p:spPr>
            <a:xfrm>
              <a:off x="2558415" y="2557462"/>
              <a:ext cx="1136332" cy="9525"/>
            </a:xfrm>
            <a:custGeom>
              <a:avLst/>
              <a:gdLst/>
              <a:ahLst/>
              <a:cxnLst/>
              <a:rect l="l" t="t" r="r" b="b"/>
              <a:pathLst>
                <a:path w="1136332" h="9525">
                  <a:moveTo>
                    <a:pt x="1136332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348865" y="2499360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8103"/>
                  </a:moveTo>
                  <a:lnTo>
                    <a:pt x="104775" y="0"/>
                  </a:lnTo>
                  <a:lnTo>
                    <a:pt x="209550" y="58103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777365" y="3109912"/>
              <a:ext cx="9525" cy="426720"/>
            </a:xfrm>
            <a:custGeom>
              <a:avLst/>
              <a:gdLst/>
              <a:ahLst/>
              <a:cxnLst/>
              <a:rect l="l" t="t" r="r" b="b"/>
              <a:pathLst>
                <a:path w="9525" h="426720">
                  <a:moveTo>
                    <a:pt x="0" y="42672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704022" y="298418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266248" y="3098482"/>
              <a:ext cx="9525" cy="363855"/>
            </a:xfrm>
            <a:custGeom>
              <a:avLst/>
              <a:gdLst/>
              <a:ahLst/>
              <a:cxnLst/>
              <a:rect l="l" t="t" r="r" b="b"/>
              <a:pathLst>
                <a:path w="9525" h="363855">
                  <a:moveTo>
                    <a:pt x="0" y="36385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4192905" y="297275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205865" y="2130742"/>
              <a:ext cx="1143000" cy="8543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213485" y="213741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205865" y="234315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1205865" y="258699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3694748" y="2142172"/>
              <a:ext cx="1143000" cy="83058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702368" y="2148840"/>
              <a:ext cx="1128712" cy="33528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694748" y="248031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694748" y="257556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205865" y="3536632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213485" y="354330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205865" y="374904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1205865" y="384429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694748" y="3462338"/>
              <a:ext cx="11430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702368" y="3469005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694748" y="367474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694748" y="376999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735638" y="218217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77302" y="2411254"/>
              <a:ext cx="62095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impl: Impl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77302" y="2655094"/>
              <a:ext cx="269875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f()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968686" y="2190750"/>
              <a:ext cx="59512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138920" y="2319338"/>
              <a:ext cx="2546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Impl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766185" y="2643664"/>
              <a:ext cx="269875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f()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g()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615623" y="3588068"/>
              <a:ext cx="3234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277302" y="3912394"/>
              <a:ext cx="2854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h()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102117" y="3513773"/>
              <a:ext cx="3282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ImplA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766185" y="3838099"/>
              <a:ext cx="269875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f()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g()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917508" y="2361248"/>
              <a:ext cx="2095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956941" y="2384108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桥</a:t>
              </a:r>
            </a:p>
          </p:txBody>
        </p:sp>
      </p:grpSp>
      <p:grpSp>
        <p:nvGrpSpPr>
          <p:cNvPr id="45" name="c1-text-2"/>
          <p:cNvGrpSpPr/>
          <p:nvPr/>
        </p:nvGrpSpPr>
        <p:grpSpPr>
          <a:xfrm>
            <a:off x="1418359" y="4631531"/>
            <a:ext cx="3207847" cy="220028"/>
            <a:chOff x="1418359" y="4631531"/>
            <a:chExt cx="3207847" cy="220028"/>
          </a:xfrm>
        </p:grpSpPr>
        <p:sp>
          <p:nvSpPr>
            <p:cNvPr id="44" name="TextBox 44"/>
            <p:cNvSpPr txBox="1"/>
            <p:nvPr/>
          </p:nvSpPr>
          <p:spPr>
            <a:xfrm>
              <a:off x="1418359" y="4631531"/>
              <a:ext cx="32078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左边一条链管“做什么”，右边一条链管“怎么做”</a:t>
              </a:r>
            </a:p>
          </p:txBody>
        </p:sp>
      </p:grpSp>
      <p:grpSp>
        <p:nvGrpSpPr>
          <p:cNvPr id="49" name="c2-code-1"/>
          <p:cNvGrpSpPr/>
          <p:nvPr/>
        </p:nvGrpSpPr>
        <p:grpSpPr>
          <a:xfrm>
            <a:off x="5815965" y="1928812"/>
            <a:ext cx="5842635" cy="2499360"/>
            <a:chOff x="5815965" y="1928812"/>
            <a:chExt cx="5842635" cy="2499360"/>
          </a:xfrm>
        </p:grpSpPr>
        <p:sp>
          <p:nvSpPr>
            <p:cNvPr id="46" name="Rectangle 46"/>
            <p:cNvSpPr/>
            <p:nvPr/>
          </p:nvSpPr>
          <p:spPr>
            <a:xfrm>
              <a:off x="5815965" y="1928812"/>
              <a:ext cx="5842635" cy="2499360"/>
            </a:xfrm>
            <a:prstGeom prst="roundRect">
              <a:avLst>
                <a:gd name="adj" fmla="val 38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944362" y="2080736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944552" y="2339102"/>
              <a:ext cx="2738501" cy="19997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Impl {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实现这一侧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g();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{     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抽象这一侧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Impl impl;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课件写 private */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A(Impl p) {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.impl = p;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 { impl.f();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g() { impl.g();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NewA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NewA(Impl p) {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(p);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h() { f(); g();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5815965" y="4598670"/>
            <a:ext cx="5842635" cy="1760220"/>
            <a:chOff x="5815965" y="4598670"/>
            <a:chExt cx="5842635" cy="1760220"/>
          </a:xfrm>
        </p:grpSpPr>
        <p:sp>
          <p:nvSpPr>
            <p:cNvPr id="50" name="Rectangle 50"/>
            <p:cNvSpPr/>
            <p:nvPr/>
          </p:nvSpPr>
          <p:spPr>
            <a:xfrm>
              <a:off x="5815965" y="4598670"/>
              <a:ext cx="5842635" cy="1760220"/>
            </a:xfrm>
            <a:prstGeom prst="roundRect">
              <a:avLst>
                <a:gd name="adj" fmla="val 75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825490" y="4732020"/>
              <a:ext cx="47625" cy="14935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040755" y="478536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132474" y="481822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06349" y="481965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源课件把构造函数写成了析构函数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033897" y="5146358"/>
              <a:ext cx="5221510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带参数和初始化列表的那一行应是 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构造函数 A(ImpA *p)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，课件写成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了析构函数，virtual 拼成 virutal、括号用了全角；NewA 那行同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样，public 拼成 pubic。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033897" y="5960745"/>
              <a:ext cx="45452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impA 在 private 区，子类够不着，应改为 protected。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 · 接口变化的适应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适配器：声乐学生把歌手装进学生的接口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131537" cy="264033"/>
            <a:chOff x="526542" y="1545907"/>
            <a:chExt cx="913153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131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课件的例子很直白：教务系统只认 Student 接口，而唱歌这件事只有 Singer 会做，于是造一个类两边都占一点。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6059805" cy="3200400"/>
            <a:chOff x="533400" y="1928812"/>
            <a:chExt cx="6059805" cy="320040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059805" cy="3200400"/>
            </a:xfrm>
            <a:prstGeom prst="roundRect">
              <a:avLst>
                <a:gd name="adj" fmla="val 29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对象适配器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39816"/>
              <a:ext cx="3102483" cy="27041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 {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目标接口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attendClass();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rest();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Singer {  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适配者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sing() {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play() {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VocalStudent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Singer singer;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持有适配者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VocalStudent(Singer s) {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.singer = s;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attendClass() { singer.sing();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rest()        { singer.play();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2-card-1"/>
          <p:cNvGrpSpPr/>
          <p:nvPr/>
        </p:nvGrpSpPr>
        <p:grpSpPr>
          <a:xfrm>
            <a:off x="6898005" y="1928812"/>
            <a:ext cx="4760595" cy="1403032"/>
            <a:chOff x="6898005" y="1928812"/>
            <a:chExt cx="4760595" cy="1403032"/>
          </a:xfrm>
        </p:grpSpPr>
        <p:sp>
          <p:nvSpPr>
            <p:cNvPr id="13" name="Rectangle 13"/>
            <p:cNvSpPr/>
            <p:nvPr/>
          </p:nvSpPr>
          <p:spPr>
            <a:xfrm>
              <a:off x="6898005" y="1928812"/>
              <a:ext cx="4760595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907530" y="2062162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117080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208799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83056" y="214931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指针成员用点号调用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10603" y="2465546"/>
              <a:ext cx="411190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课件的字段是 `Singer * ss;`，方法体里却写 `ss.唱歌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();`。C++ 里通过指针调成员要用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ss-&gt;唱歌()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，写成点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号编译不过。</a:t>
              </a:r>
            </a:p>
          </p:txBody>
        </p:sp>
      </p:grpSp>
      <p:grpSp>
        <p:nvGrpSpPr>
          <p:cNvPr id="25" name="c2-kv-2"/>
          <p:cNvGrpSpPr/>
          <p:nvPr/>
        </p:nvGrpSpPr>
        <p:grpSpPr>
          <a:xfrm>
            <a:off x="6891528" y="3518059"/>
            <a:ext cx="4767072" cy="1102804"/>
            <a:chOff x="6891528" y="3518059"/>
            <a:chExt cx="4767072" cy="1102804"/>
          </a:xfrm>
        </p:grpSpPr>
        <p:sp>
          <p:nvSpPr>
            <p:cNvPr id="20" name="TextBox 20"/>
            <p:cNvSpPr txBox="1"/>
            <p:nvPr/>
          </p:nvSpPr>
          <p:spPr>
            <a:xfrm>
              <a:off x="6891528" y="35180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类适配器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84998" y="3518059"/>
              <a:ext cx="3296666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适配器同时继承适配者、实现目标接口。Java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只能单继承，适配者必须是接口才写得出来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898005" y="402907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91528" y="413146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对象适配器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84998" y="4131469"/>
              <a:ext cx="342671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适配器持有适配者对象，转发调用。课件给的就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是这一种，工程上也常用这一种</a:t>
              </a:r>
            </a:p>
          </p:txBody>
        </p:sp>
      </p:grpSp>
      <p:grpSp>
        <p:nvGrpSpPr>
          <p:cNvPr id="31" name="c2-callout-3"/>
          <p:cNvGrpSpPr/>
          <p:nvPr/>
        </p:nvGrpSpPr>
        <p:grpSpPr>
          <a:xfrm>
            <a:off x="6898005" y="4734878"/>
            <a:ext cx="4760595" cy="702945"/>
            <a:chOff x="6898005" y="4734878"/>
            <a:chExt cx="4760595" cy="702945"/>
          </a:xfrm>
        </p:grpSpPr>
        <p:sp>
          <p:nvSpPr>
            <p:cNvPr id="26" name="Rectangle 26"/>
            <p:cNvSpPr/>
            <p:nvPr/>
          </p:nvSpPr>
          <p:spPr>
            <a:xfrm>
              <a:off x="6898005" y="4734878"/>
              <a:ext cx="4760595" cy="702945"/>
            </a:xfrm>
            <a:prstGeom prst="roundRect">
              <a:avLst>
                <a:gd name="adj" fmla="val 1626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102793" y="4986340"/>
              <a:ext cx="200023" cy="200023"/>
              <a:chOff x="7102793" y="4986340"/>
              <a:chExt cx="200023" cy="200023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102793" y="498634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236143" y="50530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7405878" y="4880134"/>
              <a:ext cx="37518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适配器是事后弥合，两边的接口都已经定死了；桥接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是事前分离，两边的接口都还由你来定。</a:t>
              </a:r>
            </a:p>
          </p:txBody>
        </p:sp>
      </p:grpSp>
      <p:grpSp>
        <p:nvGrpSpPr>
          <p:cNvPr id="3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2" name="Rectangle 3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1273" y="6039326"/>
              <a:ext cx="75947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判断一道题该用适配器还是桥接，问一句：那个不匹配的接口是既成事实，还是你自己设计出来的。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 · 接口变化的适应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外观：两个用户，本来要认识四个子系统类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9946884" cy="278702"/>
            <a:chOff x="526161" y="1547336"/>
            <a:chExt cx="9946884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9946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课件称它门面模式。子系统里 A、B、C、D 之间本来就有调用关系，客户端再直接去用，就得同时知道类和调用顺序。</a:t>
              </a:r>
            </a:p>
          </p:txBody>
        </p:sp>
      </p:grpSp>
      <p:grpSp>
        <p:nvGrpSpPr>
          <p:cNvPr id="35" name="c1-graph-1"/>
          <p:cNvGrpSpPr/>
          <p:nvPr/>
        </p:nvGrpSpPr>
        <p:grpSpPr>
          <a:xfrm>
            <a:off x="905828" y="2055495"/>
            <a:ext cx="4769167" cy="3605213"/>
            <a:chOff x="905828" y="2055495"/>
            <a:chExt cx="4769167" cy="3605213"/>
          </a:xfrm>
        </p:grpSpPr>
        <p:sp>
          <p:nvSpPr>
            <p:cNvPr id="9" name="Freeform 9"/>
            <p:cNvSpPr/>
            <p:nvPr/>
          </p:nvSpPr>
          <p:spPr>
            <a:xfrm>
              <a:off x="1961198" y="2602230"/>
              <a:ext cx="761048" cy="981075"/>
            </a:xfrm>
            <a:custGeom>
              <a:avLst/>
              <a:gdLst/>
              <a:ahLst/>
              <a:cxnLst/>
              <a:rect l="l" t="t" r="r" b="b"/>
              <a:pathLst>
                <a:path w="761048" h="981075">
                  <a:moveTo>
                    <a:pt x="0" y="0"/>
                  </a:moveTo>
                  <a:lnTo>
                    <a:pt x="761048" y="9810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684145" y="3554730"/>
              <a:ext cx="96202" cy="103823"/>
            </a:xfrm>
            <a:custGeom>
              <a:avLst/>
              <a:gdLst/>
              <a:ahLst/>
              <a:cxnLst/>
              <a:rect l="l" t="t" r="r" b="b"/>
              <a:pathLst>
                <a:path w="96202" h="103823">
                  <a:moveTo>
                    <a:pt x="96202" y="103823"/>
                  </a:moveTo>
                  <a:lnTo>
                    <a:pt x="0" y="58103"/>
                  </a:lnTo>
                  <a:lnTo>
                    <a:pt x="7524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070860" y="2602230"/>
              <a:ext cx="761048" cy="981075"/>
            </a:xfrm>
            <a:custGeom>
              <a:avLst/>
              <a:gdLst/>
              <a:ahLst/>
              <a:cxnLst/>
              <a:rect l="l" t="t" r="r" b="b"/>
              <a:pathLst>
                <a:path w="761048" h="981075">
                  <a:moveTo>
                    <a:pt x="761048" y="0"/>
                  </a:moveTo>
                  <a:lnTo>
                    <a:pt x="0" y="9810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012758" y="3554730"/>
              <a:ext cx="96202" cy="103823"/>
            </a:xfrm>
            <a:custGeom>
              <a:avLst/>
              <a:gdLst/>
              <a:ahLst/>
              <a:cxnLst/>
              <a:rect l="l" t="t" r="r" b="b"/>
              <a:pathLst>
                <a:path w="96202" h="103823">
                  <a:moveTo>
                    <a:pt x="0" y="103823"/>
                  </a:moveTo>
                  <a:lnTo>
                    <a:pt x="20955" y="0"/>
                  </a:lnTo>
                  <a:lnTo>
                    <a:pt x="96202" y="5810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323975" y="3958590"/>
              <a:ext cx="1413510" cy="1336357"/>
            </a:xfrm>
            <a:custGeom>
              <a:avLst/>
              <a:gdLst/>
              <a:ahLst/>
              <a:cxnLst/>
              <a:rect l="l" t="t" r="r" b="b"/>
              <a:pathLst>
                <a:path w="1413510" h="1336357">
                  <a:moveTo>
                    <a:pt x="1413510" y="0"/>
                  </a:moveTo>
                  <a:lnTo>
                    <a:pt x="0" y="133635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254442" y="5260658"/>
              <a:ext cx="101918" cy="100012"/>
            </a:xfrm>
            <a:custGeom>
              <a:avLst/>
              <a:gdLst/>
              <a:ahLst/>
              <a:cxnLst/>
              <a:rect l="l" t="t" r="r" b="b"/>
              <a:pathLst>
                <a:path w="101918" h="100012">
                  <a:moveTo>
                    <a:pt x="0" y="100012"/>
                  </a:moveTo>
                  <a:lnTo>
                    <a:pt x="37148" y="0"/>
                  </a:lnTo>
                  <a:lnTo>
                    <a:pt x="101918" y="6858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559368" y="3958590"/>
              <a:ext cx="302895" cy="1308735"/>
            </a:xfrm>
            <a:custGeom>
              <a:avLst/>
              <a:gdLst/>
              <a:ahLst/>
              <a:cxnLst/>
              <a:rect l="l" t="t" r="r" b="b"/>
              <a:pathLst>
                <a:path w="302895" h="1308735">
                  <a:moveTo>
                    <a:pt x="302895" y="0"/>
                  </a:moveTo>
                  <a:lnTo>
                    <a:pt x="0" y="13087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512695" y="5256848"/>
              <a:ext cx="92392" cy="103822"/>
            </a:xfrm>
            <a:custGeom>
              <a:avLst/>
              <a:gdLst/>
              <a:ahLst/>
              <a:cxnLst/>
              <a:rect l="l" t="t" r="r" b="b"/>
              <a:pathLst>
                <a:path w="92392" h="103822">
                  <a:moveTo>
                    <a:pt x="24765" y="103822"/>
                  </a:moveTo>
                  <a:lnTo>
                    <a:pt x="0" y="0"/>
                  </a:lnTo>
                  <a:lnTo>
                    <a:pt x="92392" y="2190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125152" y="3958590"/>
              <a:ext cx="2089785" cy="1374457"/>
            </a:xfrm>
            <a:custGeom>
              <a:avLst/>
              <a:gdLst/>
              <a:ahLst/>
              <a:cxnLst/>
              <a:rect l="l" t="t" r="r" b="b"/>
              <a:pathLst>
                <a:path w="2089785" h="1374457">
                  <a:moveTo>
                    <a:pt x="0" y="0"/>
                  </a:moveTo>
                  <a:lnTo>
                    <a:pt x="2089785" y="137445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188268" y="5293042"/>
              <a:ext cx="105727" cy="92392"/>
            </a:xfrm>
            <a:custGeom>
              <a:avLst/>
              <a:gdLst/>
              <a:ahLst/>
              <a:cxnLst/>
              <a:rect l="l" t="t" r="r" b="b"/>
              <a:pathLst>
                <a:path w="105727" h="92392">
                  <a:moveTo>
                    <a:pt x="105727" y="92392"/>
                  </a:moveTo>
                  <a:lnTo>
                    <a:pt x="0" y="80010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286828" y="5510212"/>
              <a:ext cx="1025843" cy="9525"/>
            </a:xfrm>
            <a:custGeom>
              <a:avLst/>
              <a:gdLst/>
              <a:ahLst/>
              <a:cxnLst/>
              <a:rect l="l" t="t" r="r" b="b"/>
              <a:pathLst>
                <a:path w="1025843" h="9525">
                  <a:moveTo>
                    <a:pt x="0" y="0"/>
                  </a:moveTo>
                  <a:lnTo>
                    <a:pt x="102584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4099560" y="5510212"/>
              <a:ext cx="1194435" cy="9525"/>
            </a:xfrm>
            <a:custGeom>
              <a:avLst/>
              <a:gdLst/>
              <a:ahLst/>
              <a:cxnLst/>
              <a:rect l="l" t="t" r="r" b="b"/>
              <a:pathLst>
                <a:path w="1194435" h="9525">
                  <a:moveTo>
                    <a:pt x="0" y="0"/>
                  </a:moveTo>
                  <a:lnTo>
                    <a:pt x="11944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21" name="Ellipse 21"/>
            <p:cNvSpPr/>
            <p:nvPr/>
          </p:nvSpPr>
          <p:spPr>
            <a:xfrm>
              <a:off x="1470660" y="2055495"/>
              <a:ext cx="601980" cy="6019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3720465" y="2055495"/>
              <a:ext cx="601980" cy="6019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420302" y="3658552"/>
              <a:ext cx="953452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905828" y="5360670"/>
              <a:ext cx="38100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312670" y="5360670"/>
              <a:ext cx="38100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718560" y="5360670"/>
              <a:ext cx="38100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293995" y="5360670"/>
              <a:ext cx="38100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547878" y="2286476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 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97683" y="2286476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 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740063" y="37390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门面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4612" y="544020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51455" y="544020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857345" y="544020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432780" y="544020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</p:grpSp>
      <p:grpSp>
        <p:nvGrpSpPr>
          <p:cNvPr id="39" name="c2-code-1"/>
          <p:cNvGrpSpPr/>
          <p:nvPr/>
        </p:nvGrpSpPr>
        <p:grpSpPr>
          <a:xfrm>
            <a:off x="6464618" y="1941195"/>
            <a:ext cx="5193982" cy="2268855"/>
            <a:chOff x="6464618" y="1941195"/>
            <a:chExt cx="5193982" cy="2268855"/>
          </a:xfrm>
        </p:grpSpPr>
        <p:sp>
          <p:nvSpPr>
            <p:cNvPr id="36" name="Rectangle 36"/>
            <p:cNvSpPr/>
            <p:nvPr/>
          </p:nvSpPr>
          <p:spPr>
            <a:xfrm>
              <a:off x="6464618" y="1941195"/>
              <a:ext cx="5193982" cy="2268855"/>
            </a:xfrm>
            <a:prstGeom prst="roundRect">
              <a:avLst>
                <a:gd name="adj" fmla="val 419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93015" y="2093119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93205" y="2353342"/>
              <a:ext cx="3004693" cy="17735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Facade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a =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 b =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 c =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serve() {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一次调用顶三次 */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a.op();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b.op();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c.op();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4" name="c2-bullets-2"/>
          <p:cNvGrpSpPr/>
          <p:nvPr/>
        </p:nvGrpSpPr>
        <p:grpSpPr>
          <a:xfrm>
            <a:off x="6464618" y="4407218"/>
            <a:ext cx="5157596" cy="832675"/>
            <a:chOff x="6464618" y="4407218"/>
            <a:chExt cx="5157596" cy="832675"/>
          </a:xfrm>
        </p:grpSpPr>
        <p:sp>
          <p:nvSpPr>
            <p:cNvPr id="40" name="Freeform 40"/>
            <p:cNvSpPr/>
            <p:nvPr/>
          </p:nvSpPr>
          <p:spPr>
            <a:xfrm>
              <a:off x="6464618" y="4435792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6198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01599" y="4407218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客户端只依赖门面一个类，子系统内部怎么改都挡在门面后面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6464618" y="4747260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01599" y="4718685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门面不禁止客户端绕过它直接用子系统，需要强制时才加抽象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</a:t>
              </a:r>
            </a:p>
          </p:txBody>
        </p:sp>
      </p:grpSp>
      <p:grpSp>
        <p:nvGrpSpPr>
          <p:cNvPr id="51" name="c2-callout-3"/>
          <p:cNvGrpSpPr/>
          <p:nvPr/>
        </p:nvGrpSpPr>
        <p:grpSpPr>
          <a:xfrm>
            <a:off x="6464618" y="5361622"/>
            <a:ext cx="5193982" cy="729615"/>
            <a:chOff x="6464618" y="5361622"/>
            <a:chExt cx="5193982" cy="729615"/>
          </a:xfrm>
        </p:grpSpPr>
        <p:sp>
          <p:nvSpPr>
            <p:cNvPr id="45" name="Rectangle 45"/>
            <p:cNvSpPr/>
            <p:nvPr/>
          </p:nvSpPr>
          <p:spPr>
            <a:xfrm>
              <a:off x="6464618" y="5361622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657347" y="5622726"/>
              <a:ext cx="224134" cy="192560"/>
              <a:chOff x="6657347" y="5622726"/>
              <a:chExt cx="224134" cy="19256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769418" y="569309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657347" y="562272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769418" y="577088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972110" y="5508308"/>
              <a:ext cx="431711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外观让依赖变少，不是让功能变少。子系统的类仍然是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public 的，门面只是把最常用的那条调用路径固定下来。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 · 接口变化的适应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组合：以一致的方式访问整体与部分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565435" cy="264033"/>
            <a:chOff x="526542" y="1545907"/>
            <a:chExt cx="1056543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5654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课件的例子是计算机配件。软盘、CPU 是叶子，机箱是容器，而机箱里还可以再装一个机箱。客户端不该为这两种情况写两套代码。</a:t>
              </a:r>
            </a:p>
          </p:txBody>
        </p:sp>
      </p:grpSp>
      <p:grpSp>
        <p:nvGrpSpPr>
          <p:cNvPr id="43" name="c1-uml-1"/>
          <p:cNvGrpSpPr/>
          <p:nvPr/>
        </p:nvGrpSpPr>
        <p:grpSpPr>
          <a:xfrm>
            <a:off x="863918" y="2156460"/>
            <a:ext cx="4861560" cy="2887980"/>
            <a:chOff x="863918" y="2156460"/>
            <a:chExt cx="4861560" cy="2887980"/>
          </a:xfrm>
        </p:grpSpPr>
        <p:sp>
          <p:nvSpPr>
            <p:cNvPr id="9" name="Freeform 9"/>
            <p:cNvSpPr/>
            <p:nvPr/>
          </p:nvSpPr>
          <p:spPr>
            <a:xfrm>
              <a:off x="1435418" y="3402330"/>
              <a:ext cx="1612582" cy="1011555"/>
            </a:xfrm>
            <a:custGeom>
              <a:avLst/>
              <a:gdLst/>
              <a:ahLst/>
              <a:cxnLst/>
              <a:rect l="l" t="t" r="r" b="b"/>
              <a:pathLst>
                <a:path w="1612582" h="1011555">
                  <a:moveTo>
                    <a:pt x="0" y="1011555"/>
                  </a:moveTo>
                  <a:lnTo>
                    <a:pt x="0" y="442912"/>
                  </a:lnTo>
                  <a:lnTo>
                    <a:pt x="1612582" y="442912"/>
                  </a:lnTo>
                  <a:lnTo>
                    <a:pt x="161258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974658" y="327660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238500" y="3402330"/>
              <a:ext cx="9525" cy="1011555"/>
            </a:xfrm>
            <a:custGeom>
              <a:avLst/>
              <a:gdLst/>
              <a:ahLst/>
              <a:cxnLst/>
              <a:rect l="l" t="t" r="r" b="b"/>
              <a:pathLst>
                <a:path w="9525" h="1011555">
                  <a:moveTo>
                    <a:pt x="0" y="1011555"/>
                  </a:moveTo>
                  <a:lnTo>
                    <a:pt x="0" y="442912"/>
                  </a:lnTo>
                  <a:lnTo>
                    <a:pt x="0" y="44291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165158" y="327660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429000" y="3402330"/>
              <a:ext cx="1707832" cy="937260"/>
            </a:xfrm>
            <a:custGeom>
              <a:avLst/>
              <a:gdLst/>
              <a:ahLst/>
              <a:cxnLst/>
              <a:rect l="l" t="t" r="r" b="b"/>
              <a:pathLst>
                <a:path w="1707832" h="937260">
                  <a:moveTo>
                    <a:pt x="1707832" y="937260"/>
                  </a:moveTo>
                  <a:lnTo>
                    <a:pt x="1707832" y="405765"/>
                  </a:lnTo>
                  <a:lnTo>
                    <a:pt x="0" y="405765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355658" y="327660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238500" y="2156460"/>
              <a:ext cx="1707832" cy="1973580"/>
            </a:xfrm>
            <a:custGeom>
              <a:avLst/>
              <a:gdLst/>
              <a:ahLst/>
              <a:cxnLst/>
              <a:rect l="l" t="t" r="r" b="b"/>
              <a:pathLst>
                <a:path w="1707832" h="1973580">
                  <a:moveTo>
                    <a:pt x="0" y="266700"/>
                  </a:moveTo>
                  <a:lnTo>
                    <a:pt x="0" y="0"/>
                  </a:lnTo>
                  <a:lnTo>
                    <a:pt x="1707832" y="0"/>
                  </a:lnTo>
                  <a:lnTo>
                    <a:pt x="1707832" y="197358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889182" y="4130040"/>
              <a:ext cx="115253" cy="209550"/>
            </a:xfrm>
            <a:custGeom>
              <a:avLst/>
              <a:gdLst/>
              <a:ahLst/>
              <a:cxnLst/>
              <a:rect l="l" t="t" r="r" b="b"/>
              <a:pathLst>
                <a:path w="115253" h="209550">
                  <a:moveTo>
                    <a:pt x="57150" y="209550"/>
                  </a:moveTo>
                  <a:lnTo>
                    <a:pt x="0" y="104775"/>
                  </a:lnTo>
                  <a:lnTo>
                    <a:pt x="57150" y="0"/>
                  </a:lnTo>
                  <a:lnTo>
                    <a:pt x="115253" y="104775"/>
                  </a:lnTo>
                  <a:close/>
                </a:path>
              </a:pathLst>
            </a:custGeom>
            <a:solidFill>
              <a:srgbClr val="1F2937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623185" y="2423160"/>
              <a:ext cx="1230630" cy="8543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630805" y="2429828"/>
              <a:ext cx="121634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2623185" y="2635568"/>
              <a:ext cx="123063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2623185" y="2730818"/>
              <a:ext cx="123063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63918" y="4413885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70585" y="4421505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63918" y="462629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63918" y="472154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2667000" y="4413885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674620" y="4421505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2667000" y="462629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2667000" y="472154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358640" y="4339590"/>
              <a:ext cx="1366838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365308" y="4347210"/>
              <a:ext cx="1352550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358640" y="4551998"/>
              <a:ext cx="136683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358640" y="4647248"/>
              <a:ext cx="136683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920098" y="2474595"/>
              <a:ext cx="63680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Equipment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94622" y="2798921"/>
              <a:ext cx="1087374" cy="459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price()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add(Equipment)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remove(Equipment)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234821" y="4465320"/>
              <a:ext cx="4011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Floppy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35355" y="4789646"/>
              <a:ext cx="50075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price()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122844" y="4465320"/>
              <a:ext cx="2313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738438" y="4789646"/>
              <a:ext cx="50075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price()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09542" y="4391025"/>
              <a:ext cx="126408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CompositeEquipment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430078" y="4715351"/>
              <a:ext cx="894715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price()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add(Equipment)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74908" y="3168968"/>
              <a:ext cx="158115" cy="165735"/>
            </a:xfrm>
            <a:prstGeom prst="roundRect">
              <a:avLst>
                <a:gd name="adj" fmla="val 2409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998720" y="319182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</p:grpSp>
      <p:grpSp>
        <p:nvGrpSpPr>
          <p:cNvPr id="47" name="c2-code-1"/>
          <p:cNvGrpSpPr/>
          <p:nvPr/>
        </p:nvGrpSpPr>
        <p:grpSpPr>
          <a:xfrm>
            <a:off x="6248400" y="1928812"/>
            <a:ext cx="5410200" cy="2602230"/>
            <a:chOff x="6248400" y="1928812"/>
            <a:chExt cx="5410200" cy="2602230"/>
          </a:xfrm>
        </p:grpSpPr>
        <p:sp>
          <p:nvSpPr>
            <p:cNvPr id="44" name="Rectangle 44"/>
            <p:cNvSpPr/>
            <p:nvPr/>
          </p:nvSpPr>
          <p:spPr>
            <a:xfrm>
              <a:off x="6248400" y="1928812"/>
              <a:ext cx="5410200" cy="2602230"/>
            </a:xfrm>
            <a:prstGeom prst="roundRect">
              <a:avLst>
                <a:gd name="adj" fmla="val 36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76797" y="2080736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容器构件把请求递归分发下去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76988" y="2339816"/>
              <a:ext cx="3352419" cy="2105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CompositeEquipment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Equipment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List&lt;Equipment&gt; parts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=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ArrayList&lt;&gt;();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add(Equipment e) { parts.add(e);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price()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sum = 0;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(Equipment e : parts)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sum += e.price();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叶子和容器一视同仁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sum;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6248400" y="4695825"/>
            <a:ext cx="5410200" cy="917258"/>
            <a:chOff x="6248400" y="4695825"/>
            <a:chExt cx="5410200" cy="917258"/>
          </a:xfrm>
        </p:grpSpPr>
        <p:sp>
          <p:nvSpPr>
            <p:cNvPr id="48" name="Rectangle 48"/>
            <p:cNvSpPr/>
            <p:nvPr/>
          </p:nvSpPr>
          <p:spPr>
            <a:xfrm>
              <a:off x="6248400" y="4695825"/>
              <a:ext cx="5410200" cy="917258"/>
            </a:xfrm>
            <a:prstGeom prst="roundRect">
              <a:avLst>
                <a:gd name="adj" fmla="val 145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57925" y="4829175"/>
              <a:ext cx="47625" cy="6505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67475" y="487680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60147" y="490966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33451" y="491632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类图里的拼写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60998" y="5233511"/>
              <a:ext cx="50255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课件类图的方法名写作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RemvoeChild()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，应为 RemoveChild()。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5" name="Rectangle 5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1273" y="6039326"/>
              <a:ext cx="77670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组合的菱形画在容器这一端，而且是实心的：机箱没了，装在里面的配件在这个结构里也就不存在了。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 · 接口变化的适应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迭代器：以一致的方式遍历不同容器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896252" cy="278702"/>
            <a:chOff x="526161" y="1547336"/>
            <a:chExt cx="689625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8962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容器负责存，迭代器负责走。容器换了内部结构，客户端的遍历循环一行不用改。</a:t>
              </a:r>
            </a:p>
          </p:txBody>
        </p:sp>
      </p:grpSp>
      <p:grpSp>
        <p:nvGrpSpPr>
          <p:cNvPr id="37" name="c1-uml-1"/>
          <p:cNvGrpSpPr/>
          <p:nvPr/>
        </p:nvGrpSpPr>
        <p:grpSpPr>
          <a:xfrm>
            <a:off x="1205865" y="2232660"/>
            <a:ext cx="3631883" cy="2552700"/>
            <a:chOff x="1205865" y="2232660"/>
            <a:chExt cx="3631883" cy="2552700"/>
          </a:xfrm>
        </p:grpSpPr>
        <p:sp>
          <p:nvSpPr>
            <p:cNvPr id="9" name="Freeform 9"/>
            <p:cNvSpPr/>
            <p:nvPr/>
          </p:nvSpPr>
          <p:spPr>
            <a:xfrm>
              <a:off x="2348865" y="2796540"/>
              <a:ext cx="1345882" cy="9525"/>
            </a:xfrm>
            <a:custGeom>
              <a:avLst/>
              <a:gdLst/>
              <a:ahLst/>
              <a:cxnLst/>
              <a:rect l="l" t="t" r="r" b="b"/>
              <a:pathLst>
                <a:path w="1345882" h="9525">
                  <a:moveTo>
                    <a:pt x="0" y="0"/>
                  </a:moveTo>
                  <a:lnTo>
                    <a:pt x="134588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3589972" y="2739390"/>
              <a:ext cx="104775" cy="115252"/>
            </a:xfrm>
            <a:custGeom>
              <a:avLst/>
              <a:gdLst/>
              <a:ahLst/>
              <a:cxnLst/>
              <a:rect l="l" t="t" r="r" b="b"/>
              <a:pathLst>
                <a:path w="104775" h="115252">
                  <a:moveTo>
                    <a:pt x="0" y="115252"/>
                  </a:moveTo>
                  <a:lnTo>
                    <a:pt x="104775" y="571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682115" y="3212782"/>
              <a:ext cx="95250" cy="1016317"/>
            </a:xfrm>
            <a:custGeom>
              <a:avLst/>
              <a:gdLst/>
              <a:ahLst/>
              <a:cxnLst/>
              <a:rect l="l" t="t" r="r" b="b"/>
              <a:pathLst>
                <a:path w="95250" h="1016317">
                  <a:moveTo>
                    <a:pt x="0" y="1016317"/>
                  </a:moveTo>
                  <a:lnTo>
                    <a:pt x="0" y="507683"/>
                  </a:lnTo>
                  <a:lnTo>
                    <a:pt x="95250" y="507683"/>
                  </a:lnTo>
                  <a:lnTo>
                    <a:pt x="952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1720215" y="3212782"/>
              <a:ext cx="115252" cy="104775"/>
            </a:xfrm>
            <a:custGeom>
              <a:avLst/>
              <a:gdLst/>
              <a:ahLst/>
              <a:cxnLst/>
              <a:rect l="l" t="t" r="r" b="b"/>
              <a:pathLst>
                <a:path w="115252" h="104775">
                  <a:moveTo>
                    <a:pt x="115252" y="104775"/>
                  </a:moveTo>
                  <a:lnTo>
                    <a:pt x="57150" y="0"/>
                  </a:lnTo>
                  <a:lnTo>
                    <a:pt x="0" y="10477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872615" y="3361372"/>
              <a:ext cx="2393632" cy="867728"/>
            </a:xfrm>
            <a:custGeom>
              <a:avLst/>
              <a:gdLst/>
              <a:ahLst/>
              <a:cxnLst/>
              <a:rect l="l" t="t" r="r" b="b"/>
              <a:pathLst>
                <a:path w="2393632" h="867728">
                  <a:moveTo>
                    <a:pt x="0" y="867728"/>
                  </a:moveTo>
                  <a:lnTo>
                    <a:pt x="0" y="434340"/>
                  </a:lnTo>
                  <a:lnTo>
                    <a:pt x="2393632" y="434340"/>
                  </a:lnTo>
                  <a:lnTo>
                    <a:pt x="239363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4209098" y="3361372"/>
              <a:ext cx="115253" cy="104775"/>
            </a:xfrm>
            <a:custGeom>
              <a:avLst/>
              <a:gdLst/>
              <a:ahLst/>
              <a:cxnLst/>
              <a:rect l="l" t="t" r="r" b="b"/>
              <a:pathLst>
                <a:path w="115253" h="104775">
                  <a:moveTo>
                    <a:pt x="115253" y="104775"/>
                  </a:moveTo>
                  <a:lnTo>
                    <a:pt x="57150" y="0"/>
                  </a:lnTo>
                  <a:lnTo>
                    <a:pt x="0" y="10477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205865" y="2381250"/>
              <a:ext cx="1143000" cy="83058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213485" y="2388870"/>
              <a:ext cx="1128712" cy="33528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205865" y="271938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1205865" y="281463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3694748" y="2232660"/>
              <a:ext cx="1143000" cy="112871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702368" y="2240280"/>
              <a:ext cx="1128712" cy="33528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694748" y="257079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694748" y="266604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205865" y="4229100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213485" y="423672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205865" y="444150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1205865" y="453675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479804" y="2429828"/>
              <a:ext cx="59512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71765" y="2558415"/>
              <a:ext cx="6112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Container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77302" y="2882741"/>
              <a:ext cx="988441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add(Item)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createIterator()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968686" y="2281238"/>
              <a:ext cx="59512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995644" y="2409825"/>
              <a:ext cx="5412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Iterator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766185" y="2734151"/>
              <a:ext cx="613537" cy="607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first()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isEnd()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next()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current()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92820" y="4280535"/>
              <a:ext cx="3690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77302" y="4604861"/>
              <a:ext cx="7104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traverse()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849880" y="2590800"/>
              <a:ext cx="34385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885402" y="261508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创建</a:t>
              </a:r>
            </a:p>
          </p:txBody>
        </p:sp>
      </p:grpSp>
      <p:grpSp>
        <p:nvGrpSpPr>
          <p:cNvPr id="41" name="c2-code-1"/>
          <p:cNvGrpSpPr/>
          <p:nvPr/>
        </p:nvGrpSpPr>
        <p:grpSpPr>
          <a:xfrm>
            <a:off x="5815965" y="1941195"/>
            <a:ext cx="5842635" cy="2108835"/>
            <a:chOff x="5815965" y="1941195"/>
            <a:chExt cx="5842635" cy="2108835"/>
          </a:xfrm>
        </p:grpSpPr>
        <p:sp>
          <p:nvSpPr>
            <p:cNvPr id="38" name="Rectangle 38"/>
            <p:cNvSpPr/>
            <p:nvPr/>
          </p:nvSpPr>
          <p:spPr>
            <a:xfrm>
              <a:off x="5815965" y="1941195"/>
              <a:ext cx="5842635" cy="2108835"/>
            </a:xfrm>
            <a:prstGeom prst="roundRect">
              <a:avLst>
                <a:gd name="adj" fmla="val 45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44362" y="209311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客户端的遍历循环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944552" y="2353342"/>
              <a:ext cx="3082925" cy="16135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Client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traverse(Container c)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Iterator it = c.createIterator();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(it.first(); !it.isEnd(); it.next())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Item item = it.current();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process(item);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process(Item item) {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9" name="c2-card-2"/>
          <p:cNvGrpSpPr/>
          <p:nvPr/>
        </p:nvGrpSpPr>
        <p:grpSpPr>
          <a:xfrm>
            <a:off x="5815965" y="4225290"/>
            <a:ext cx="5842635" cy="1786890"/>
            <a:chOff x="5815965" y="4225290"/>
            <a:chExt cx="5842635" cy="1786890"/>
          </a:xfrm>
        </p:grpSpPr>
        <p:sp>
          <p:nvSpPr>
            <p:cNvPr id="42" name="Rectangle 42"/>
            <p:cNvSpPr/>
            <p:nvPr/>
          </p:nvSpPr>
          <p:spPr>
            <a:xfrm>
              <a:off x="5815965" y="4225290"/>
              <a:ext cx="5842635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5825490" y="4358640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46470" y="441769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37910" y="445198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30162" y="445770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源课件的两处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039612" y="4792028"/>
              <a:ext cx="506291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两个版本都用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类名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Container 去调实例方法 createIterator()，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应当写成容器对象，例如 c.createIterator()。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039612" y="5351145"/>
              <a:ext cx="50714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左边那版把 first()、next() 当成返回元素用；类图里它们只移动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游标，取元素靠 current()，右边那版才和类图一致。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 · 接口变化的适应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观察者：以一致的方式发送通知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9957626" cy="293370"/>
            <a:chOff x="525780" y="1548765"/>
            <a:chExt cx="9957626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9576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目标的事件触发后自动通知所有登记者。登记者有几个、是谁，目标一概不知道，它只认 Observer 这个接口。</a:t>
              </a:r>
            </a:p>
          </p:txBody>
        </p:sp>
      </p:grpSp>
      <p:grpSp>
        <p:nvGrpSpPr>
          <p:cNvPr id="45" name="c1-uml-1"/>
          <p:cNvGrpSpPr/>
          <p:nvPr/>
        </p:nvGrpSpPr>
        <p:grpSpPr>
          <a:xfrm>
            <a:off x="1281112" y="2546032"/>
            <a:ext cx="3945255" cy="3040380"/>
            <a:chOff x="1281112" y="2546032"/>
            <a:chExt cx="3945255" cy="3040380"/>
          </a:xfrm>
        </p:grpSpPr>
        <p:sp>
          <p:nvSpPr>
            <p:cNvPr id="9" name="Freeform 9"/>
            <p:cNvSpPr/>
            <p:nvPr/>
          </p:nvSpPr>
          <p:spPr>
            <a:xfrm>
              <a:off x="2700338" y="3048000"/>
              <a:ext cx="1319212" cy="9525"/>
            </a:xfrm>
            <a:custGeom>
              <a:avLst/>
              <a:gdLst/>
              <a:ahLst/>
              <a:cxnLst/>
              <a:rect l="l" t="t" r="r" b="b"/>
              <a:pathLst>
                <a:path w="1319212" h="9525">
                  <a:moveTo>
                    <a:pt x="1319212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490788" y="2989898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8103"/>
                  </a:moveTo>
                  <a:lnTo>
                    <a:pt x="104775" y="0"/>
                  </a:lnTo>
                  <a:lnTo>
                    <a:pt x="209550" y="58103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885950" y="3674745"/>
              <a:ext cx="9525" cy="1206818"/>
            </a:xfrm>
            <a:custGeom>
              <a:avLst/>
              <a:gdLst/>
              <a:ahLst/>
              <a:cxnLst/>
              <a:rect l="l" t="t" r="r" b="b"/>
              <a:pathLst>
                <a:path w="9525" h="1206818">
                  <a:moveTo>
                    <a:pt x="0" y="120681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812608" y="354901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591050" y="3514725"/>
              <a:ext cx="9525" cy="1366838"/>
            </a:xfrm>
            <a:custGeom>
              <a:avLst/>
              <a:gdLst/>
              <a:ahLst/>
              <a:cxnLst/>
              <a:rect l="l" t="t" r="r" b="b"/>
              <a:pathLst>
                <a:path w="9525" h="1366838">
                  <a:moveTo>
                    <a:pt x="0" y="136683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4517708" y="338899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281112" y="2546032"/>
              <a:ext cx="1209675" cy="100298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288732" y="2553652"/>
              <a:ext cx="1195388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281112" y="2758440"/>
              <a:ext cx="120967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1281112" y="3002280"/>
              <a:ext cx="120967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019550" y="2707005"/>
              <a:ext cx="1143000" cy="68199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027170" y="2713672"/>
              <a:ext cx="1128712" cy="33528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019550" y="304514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019550" y="314039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310640" y="4881562"/>
              <a:ext cx="115062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317308" y="4888230"/>
              <a:ext cx="113633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310640" y="5093970"/>
              <a:ext cx="115062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1310640" y="5337810"/>
              <a:ext cx="115062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955732" y="4881562"/>
              <a:ext cx="1270635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963352" y="4888230"/>
              <a:ext cx="1256348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955732" y="5093970"/>
              <a:ext cx="127063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955732" y="5337810"/>
              <a:ext cx="127063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650347" y="2597468"/>
              <a:ext cx="4712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Subject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52550" y="2826544"/>
              <a:ext cx="96299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observers: List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52550" y="3070384"/>
              <a:ext cx="1066546" cy="459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attach(Observer)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detach(Observer)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notifyObservers()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93489" y="2755582"/>
              <a:ext cx="59512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91621" y="2884170"/>
              <a:ext cx="5988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Observer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090988" y="3208496"/>
              <a:ext cx="58906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update()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68483" y="4932998"/>
              <a:ext cx="10349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ConcreteSubject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82078" y="5162074"/>
              <a:ext cx="10566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subjectState: int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82078" y="5405914"/>
              <a:ext cx="71545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getState()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09765" y="4932998"/>
              <a:ext cx="11625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ConcreteObserver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027170" y="5162074"/>
              <a:ext cx="11450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observerState: int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027170" y="5405914"/>
              <a:ext cx="58906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update()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020378" y="2841308"/>
              <a:ext cx="468630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051848" y="28665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登记表</a:t>
              </a:r>
            </a:p>
          </p:txBody>
        </p:sp>
      </p:grpSp>
      <p:grpSp>
        <p:nvGrpSpPr>
          <p:cNvPr id="49" name="c2-code-1"/>
          <p:cNvGrpSpPr/>
          <p:nvPr/>
        </p:nvGrpSpPr>
        <p:grpSpPr>
          <a:xfrm>
            <a:off x="6248400" y="1954530"/>
            <a:ext cx="5410200" cy="2326005"/>
            <a:chOff x="6248400" y="1954530"/>
            <a:chExt cx="5410200" cy="2326005"/>
          </a:xfrm>
        </p:grpSpPr>
        <p:sp>
          <p:nvSpPr>
            <p:cNvPr id="46" name="Rectangle 46"/>
            <p:cNvSpPr/>
            <p:nvPr/>
          </p:nvSpPr>
          <p:spPr>
            <a:xfrm>
              <a:off x="6248400" y="1954530"/>
              <a:ext cx="5410200" cy="2326005"/>
            </a:xfrm>
            <a:prstGeom prst="roundRect">
              <a:avLst>
                <a:gd name="adj" fmla="val 40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76797" y="210645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两个关键方法（片段）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76988" y="2366296"/>
              <a:ext cx="2837053" cy="18364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Subject：挨个通知，不问对方是谁 */</a:t>
              </a:r>
              <a:br/>
              <a:r>
                <a:rPr lang="en-US" sz="9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notifyObservers() {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(Observer o : observers) {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o.update();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ConcreteObserver：收到通知后回头拉数据 */</a:t>
              </a:r>
              <a:br/>
              <a:r>
                <a:rPr lang="en-US" sz="9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update() {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.observerState = subject.getState();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5" name="c2-kv-2"/>
          <p:cNvGrpSpPr/>
          <p:nvPr/>
        </p:nvGrpSpPr>
        <p:grpSpPr>
          <a:xfrm>
            <a:off x="6241161" y="4483894"/>
            <a:ext cx="5417439" cy="962596"/>
            <a:chOff x="6241161" y="4483894"/>
            <a:chExt cx="5417439" cy="962596"/>
          </a:xfrm>
        </p:grpSpPr>
        <p:sp>
          <p:nvSpPr>
            <p:cNvPr id="50" name="TextBox 50"/>
            <p:cNvSpPr txBox="1"/>
            <p:nvPr/>
          </p:nvSpPr>
          <p:spPr>
            <a:xfrm>
              <a:off x="6241161" y="448389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推模型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52691" y="4483894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目标把数据当参数一起送过去，观察者拿到就能用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48400" y="47872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241161" y="490013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拉模型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052691" y="4900136"/>
              <a:ext cx="4198366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目标只说“我变了”，观察者再调 getState() 取自己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要的那部分。课件给的是拉模型</a:t>
              </a:r>
            </a:p>
          </p:txBody>
        </p:sp>
      </p:grpSp>
      <p:grpSp>
        <p:nvGrpSpPr>
          <p:cNvPr id="61" name="c2-callout-3"/>
          <p:cNvGrpSpPr/>
          <p:nvPr/>
        </p:nvGrpSpPr>
        <p:grpSpPr>
          <a:xfrm>
            <a:off x="6248400" y="5571172"/>
            <a:ext cx="5410200" cy="756285"/>
            <a:chOff x="6248400" y="5571172"/>
            <a:chExt cx="5410200" cy="756285"/>
          </a:xfrm>
        </p:grpSpPr>
        <p:sp>
          <p:nvSpPr>
            <p:cNvPr id="56" name="Rectangle 56"/>
            <p:cNvSpPr/>
            <p:nvPr/>
          </p:nvSpPr>
          <p:spPr>
            <a:xfrm>
              <a:off x="6248400" y="5571172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453188" y="5849305"/>
              <a:ext cx="200023" cy="200023"/>
              <a:chOff x="6453188" y="5849305"/>
              <a:chExt cx="200023" cy="200023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453188" y="584930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586538" y="59159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755511" y="5718334"/>
              <a:ext cx="437870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聚合菱形画在 Subject 这一端：登记表是目标的，观察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者离开这张表照样活着。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 · 接口变化的适应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命令与解释器：把要变的东西做成一个参数对象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516493" cy="293370"/>
            <a:chOff x="525780" y="1548765"/>
            <a:chExt cx="8516493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5164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一个类的方法越加越多时，反过来想：能不能只留一个方法，把“具体做什么”做成参数传进来。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54530"/>
            <a:ext cx="5626418" cy="1499235"/>
            <a:chOff x="533400" y="1954530"/>
            <a:chExt cx="5626418" cy="149923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626418" cy="1499235"/>
            </a:xfrm>
            <a:prstGeom prst="roundRect">
              <a:avLst>
                <a:gd name="adj" fmla="val 635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改造前：接口随需求不断长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66296"/>
              <a:ext cx="2258695" cy="1007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Target {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procedure1() { }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procedure1(A a) { }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procedure2() { }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procedure3(B b) { }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3633788"/>
            <a:ext cx="5626418" cy="2656522"/>
            <a:chOff x="533400" y="3633788"/>
            <a:chExt cx="5626418" cy="2656522"/>
          </a:xfrm>
        </p:grpSpPr>
        <p:sp>
          <p:nvSpPr>
            <p:cNvPr id="13" name="Rectangle 13"/>
            <p:cNvSpPr/>
            <p:nvPr/>
          </p:nvSpPr>
          <p:spPr>
            <a:xfrm>
              <a:off x="533400" y="3633788"/>
              <a:ext cx="5626418" cy="2656522"/>
            </a:xfrm>
            <a:prstGeom prst="roundRect">
              <a:avLst>
                <a:gd name="adj" fmla="val 358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3785711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改造后：接口固定成一个方法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988" y="4046506"/>
              <a:ext cx="3432937" cy="21678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Target {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procedure(Command cmd) {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cmd.execute(</a:t>
              </a:r>
              <a:r>
                <a:rPr lang="en-US" sz="9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Command {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execute(Target obj);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XyzCommand </a:t>
              </a:r>
              <a:r>
                <a:rPr lang="en-US" sz="9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Command {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execute(Target obj) {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具体动作 */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464618" y="1954530"/>
            <a:ext cx="5193982" cy="1586865"/>
            <a:chOff x="6464618" y="1954530"/>
            <a:chExt cx="5193982" cy="1586865"/>
          </a:xfrm>
        </p:grpSpPr>
        <p:sp>
          <p:nvSpPr>
            <p:cNvPr id="17" name="Rectangle 17"/>
            <p:cNvSpPr/>
            <p:nvPr/>
          </p:nvSpPr>
          <p:spPr>
            <a:xfrm>
              <a:off x="6464618" y="1954530"/>
              <a:ext cx="5193982" cy="1586865"/>
            </a:xfrm>
            <a:prstGeom prst="roundRect">
              <a:avLst>
                <a:gd name="adj" fmla="val 84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474142" y="2087880"/>
              <a:ext cx="47625" cy="13201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700838" y="21526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92278" y="21869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84148" y="218741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源课件的两处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93598" y="2531269"/>
              <a:ext cx="44235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方法名写作 </a:t>
              </a:r>
              <a:r>
                <a:rPr lang="en-US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excute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，少了一个 e，应为 execute。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93598" y="2849404"/>
              <a:ext cx="440801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类名用的是 </a:t>
              </a:r>
              <a:r>
                <a:rPr lang="en-US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Object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。Java 里 java.lang.Object 是所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有类的根，重名会带来歧义，本页改名 Target。</a:t>
              </a:r>
            </a:p>
          </p:txBody>
        </p:sp>
      </p:grpSp>
      <p:grpSp>
        <p:nvGrpSpPr>
          <p:cNvPr id="30" name="c2-kv-2"/>
          <p:cNvGrpSpPr/>
          <p:nvPr/>
        </p:nvGrpSpPr>
        <p:grpSpPr>
          <a:xfrm>
            <a:off x="6457379" y="3744754"/>
            <a:ext cx="5201221" cy="1230249"/>
            <a:chOff x="6457379" y="3744754"/>
            <a:chExt cx="5201221" cy="1230249"/>
          </a:xfrm>
        </p:grpSpPr>
        <p:sp>
          <p:nvSpPr>
            <p:cNvPr id="25" name="TextBox 25"/>
            <p:cNvSpPr txBox="1"/>
            <p:nvPr/>
          </p:nvSpPr>
          <p:spPr>
            <a:xfrm>
              <a:off x="6457379" y="3744754"/>
              <a:ext cx="73583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命令（第</a:t>
              </a:r>
              <a:br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31 讲）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00379" y="3744754"/>
              <a:ext cx="3819652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参数是“做一件事”。接收者、动作、参数打包成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对象，于是能排队、记日志、撤销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464618" y="431577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57379" y="4428649"/>
              <a:ext cx="91617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解释器（第</a:t>
              </a:r>
              <a:br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32 讲）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00379" y="4428649"/>
              <a:ext cx="3819652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参数是“一句话”。把文法的每条规则做成一个表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达式类，解释就是在表达式树上递归求值</a:t>
              </a:r>
            </a:p>
          </p:txBody>
        </p:sp>
      </p:grpSp>
      <p:grpSp>
        <p:nvGrpSpPr>
          <p:cNvPr id="37" name="c2-callout-3"/>
          <p:cNvGrpSpPr/>
          <p:nvPr/>
        </p:nvGrpSpPr>
        <p:grpSpPr>
          <a:xfrm>
            <a:off x="6464618" y="5099685"/>
            <a:ext cx="5193982" cy="1190625"/>
            <a:chOff x="6464618" y="5099685"/>
            <a:chExt cx="5193982" cy="1190625"/>
          </a:xfrm>
        </p:grpSpPr>
        <p:sp>
          <p:nvSpPr>
            <p:cNvPr id="31" name="Rectangle 31"/>
            <p:cNvSpPr/>
            <p:nvPr/>
          </p:nvSpPr>
          <p:spPr>
            <a:xfrm>
              <a:off x="6464618" y="5099685"/>
              <a:ext cx="5193982" cy="1190625"/>
            </a:xfrm>
            <a:prstGeom prst="roundRect">
              <a:avLst>
                <a:gd name="adj" fmla="val 960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669405" y="5594985"/>
              <a:ext cx="200026" cy="200025"/>
              <a:chOff x="6669405" y="5594985"/>
              <a:chExt cx="200026" cy="2000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669405" y="55949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709144" y="56394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743859" y="57505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6971729" y="5333524"/>
              <a:ext cx="416229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两者形状很像，差别在参数对象的粒度：命令对象是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一个动作，表达式对象是文法里的一个结点，结点之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间还能组成树。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429000" cy="2997517"/>
            <a:chOff x="667512" y="1835468"/>
            <a:chExt cx="342900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实现变化的适应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接口一个字没动，兑现方式全换了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先分析原因差异后果与数据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装饰策略状态模板方法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中介者备忘录享元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 · 实现变化的适应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实现变化：接口没动，代码块和数据全换了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9381338" cy="278702"/>
            <a:chOff x="526161" y="1547336"/>
            <a:chExt cx="9381338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93813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课件给的对照很干净：类名、方法签名一模一样，方法体从代码块 1 换成代码块 2，字段从数据 1 换成数据 2。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41195"/>
            <a:ext cx="5193982" cy="1948815"/>
            <a:chOff x="533400" y="1941195"/>
            <a:chExt cx="5193982" cy="194881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193982" cy="1948815"/>
            </a:xfrm>
            <a:prstGeom prst="roundRect">
              <a:avLst>
                <a:gd name="adj" fmla="val 488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前后两个版本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53342"/>
              <a:ext cx="2311781" cy="1453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Foo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 {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代码块 1 */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data1;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Foo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 {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代码块 2 */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data2;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6" name="c1-bullets-2"/>
          <p:cNvGrpSpPr/>
          <p:nvPr/>
        </p:nvGrpSpPr>
        <p:grpSpPr>
          <a:xfrm>
            <a:off x="526542" y="4087177"/>
            <a:ext cx="4844796" cy="1517524"/>
            <a:chOff x="526542" y="4087177"/>
            <a:chExt cx="4844796" cy="1517524"/>
          </a:xfrm>
        </p:grpSpPr>
        <p:sp>
          <p:nvSpPr>
            <p:cNvPr id="13" name="TextBox 13"/>
            <p:cNvSpPr txBox="1"/>
            <p:nvPr/>
          </p:nvSpPr>
          <p:spPr>
            <a:xfrm>
              <a:off x="526542" y="4087177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课件给的四步分析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4394835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89078" y="443417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4197" y="4407218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变化的原因：算法换了、状态换了，还是只有某一步换了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470630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89078" y="474468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4197" y="4718685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变化前后的差异：两版之间到底有几处不同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5017770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89078" y="505615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4197" y="5030152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变化的后果：谁会受牵连，调用方还是子类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33400" y="532923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89078" y="536762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4197" y="534066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数据的处理：数据跟着代码走，还是留在原对象里</a:t>
              </a:r>
            </a:p>
          </p:txBody>
        </p:sp>
      </p:grpSp>
      <p:grpSp>
        <p:nvGrpSpPr>
          <p:cNvPr id="65" name="c2-table-1"/>
          <p:cNvGrpSpPr/>
          <p:nvPr/>
        </p:nvGrpSpPr>
        <p:grpSpPr>
          <a:xfrm>
            <a:off x="6032182" y="1941195"/>
            <a:ext cx="5626418" cy="3446145"/>
            <a:chOff x="6032182" y="1941195"/>
            <a:chExt cx="5626418" cy="3446145"/>
          </a:xfrm>
        </p:grpSpPr>
        <p:sp>
          <p:nvSpPr>
            <p:cNvPr id="27" name="Rectangle 27"/>
            <p:cNvSpPr/>
            <p:nvPr/>
          </p:nvSpPr>
          <p:spPr>
            <a:xfrm>
              <a:off x="6032182" y="1941195"/>
              <a:ext cx="5626418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81052" y="20654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变化的原因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37297" y="206549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模式（讲次）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867735" y="206549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抽出去的那样东西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32195" y="2471261"/>
              <a:ext cx="11493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扩充已有对象的功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95235" y="2571274"/>
              <a:ext cx="11723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装饰（第 23 讲）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95460" y="257127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一层可以叠加的附加职责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032182" y="29479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032182" y="295275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32195" y="307705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算法不同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95235" y="3077051"/>
              <a:ext cx="11723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策略（第 38 讲）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95460" y="307705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一整套可替换的算法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032182" y="335375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32195" y="348281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状态不同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95235" y="3482816"/>
              <a:ext cx="11723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状态（第 37 讲）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95460" y="348281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每个状态下的一组行为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032182" y="375951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32182" y="376428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32195" y="388858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子步骤不同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95235" y="3888581"/>
              <a:ext cx="14739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模板方法（第 39 讲）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395460" y="388858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骨架中的某几步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032182" y="416528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041708" y="4179570"/>
              <a:ext cx="1443990" cy="38671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132195" y="429434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交互过于复杂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595235" y="4294346"/>
              <a:ext cx="1323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中介者（第 34 讲）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395460" y="429434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对象之间的交互逻辑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032182" y="457104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032182" y="457581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132195" y="470011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数据要存档和恢复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595235" y="4700111"/>
              <a:ext cx="1323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备忘录（第 35 讲）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395460" y="470011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某一时刻的内部状态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032182" y="497681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132195" y="510587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数据要共享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595235" y="5105876"/>
              <a:ext cx="11723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享元（第 25 讲）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395460" y="510587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可以被多处共用的那部分数据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032182" y="1941195"/>
              <a:ext cx="5626418" cy="34461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7490460" y="1941195"/>
              <a:ext cx="9525" cy="34461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9290685" y="1941195"/>
              <a:ext cx="9525" cy="34461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6" name="Rectangle 6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0892" y="6023610"/>
              <a:ext cx="85735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第四步“数据的处理”最容易被忽略。备忘录和享元之所以单列，就是因为它们抽出去的不是行为而是数据。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 · 实现变化的适应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装饰与策略：加一层功能，还是换一套算法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698230" cy="293370"/>
            <a:chOff x="525780" y="1548765"/>
            <a:chExt cx="869823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6982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两者都持有一个接口类型的字段，区别在于装饰器自己也实现同一个接口，因而能一层层往外包。</a:t>
              </a:r>
            </a:p>
          </p:txBody>
        </p:sp>
      </p:grpSp>
      <p:grpSp>
        <p:nvGrpSpPr>
          <p:cNvPr id="34" name="c1-uml-1"/>
          <p:cNvGrpSpPr/>
          <p:nvPr/>
        </p:nvGrpSpPr>
        <p:grpSpPr>
          <a:xfrm>
            <a:off x="766762" y="2258378"/>
            <a:ext cx="5113020" cy="1794510"/>
            <a:chOff x="766762" y="2258378"/>
            <a:chExt cx="5113020" cy="1794510"/>
          </a:xfrm>
        </p:grpSpPr>
        <p:sp>
          <p:nvSpPr>
            <p:cNvPr id="9" name="Freeform 9"/>
            <p:cNvSpPr/>
            <p:nvPr/>
          </p:nvSpPr>
          <p:spPr>
            <a:xfrm>
              <a:off x="1435418" y="2940368"/>
              <a:ext cx="1707832" cy="481965"/>
            </a:xfrm>
            <a:custGeom>
              <a:avLst/>
              <a:gdLst/>
              <a:ahLst/>
              <a:cxnLst/>
              <a:rect l="l" t="t" r="r" b="b"/>
              <a:pathLst>
                <a:path w="1707832" h="481965">
                  <a:moveTo>
                    <a:pt x="0" y="481965"/>
                  </a:moveTo>
                  <a:lnTo>
                    <a:pt x="0" y="178117"/>
                  </a:lnTo>
                  <a:lnTo>
                    <a:pt x="1707832" y="178117"/>
                  </a:lnTo>
                  <a:lnTo>
                    <a:pt x="170783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069908" y="281463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333750" y="2940368"/>
              <a:ext cx="1707832" cy="407670"/>
            </a:xfrm>
            <a:custGeom>
              <a:avLst/>
              <a:gdLst/>
              <a:ahLst/>
              <a:cxnLst/>
              <a:rect l="l" t="t" r="r" b="b"/>
              <a:pathLst>
                <a:path w="1707832" h="407670">
                  <a:moveTo>
                    <a:pt x="1707832" y="407670"/>
                  </a:moveTo>
                  <a:lnTo>
                    <a:pt x="1707832" y="140970"/>
                  </a:lnTo>
                  <a:lnTo>
                    <a:pt x="0" y="14097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260408" y="281463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810000" y="2536508"/>
              <a:ext cx="2069782" cy="1163955"/>
            </a:xfrm>
            <a:custGeom>
              <a:avLst/>
              <a:gdLst/>
              <a:ahLst/>
              <a:cxnLst/>
              <a:rect l="l" t="t" r="r" b="b"/>
              <a:pathLst>
                <a:path w="2069782" h="1163955">
                  <a:moveTo>
                    <a:pt x="0" y="0"/>
                  </a:moveTo>
                  <a:lnTo>
                    <a:pt x="2069782" y="0"/>
                  </a:lnTo>
                  <a:lnTo>
                    <a:pt x="2069782" y="1163955"/>
                  </a:lnTo>
                  <a:lnTo>
                    <a:pt x="2012632" y="116395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613082" y="3642360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8103"/>
                  </a:moveTo>
                  <a:lnTo>
                    <a:pt x="104775" y="0"/>
                  </a:lnTo>
                  <a:lnTo>
                    <a:pt x="209550" y="58103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2667000" y="2258378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674620" y="2265045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667000" y="247078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667000" y="256603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66762" y="3422332"/>
              <a:ext cx="1336358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74382" y="3429000"/>
              <a:ext cx="1322070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66762" y="3634740"/>
              <a:ext cx="133635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66762" y="3729990"/>
              <a:ext cx="133635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470082" y="3348038"/>
              <a:ext cx="11430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477702" y="3354705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470082" y="356044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470082" y="380428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904096" y="2309812"/>
              <a:ext cx="6688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Component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38438" y="2634139"/>
              <a:ext cx="74360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9154" y="3473768"/>
              <a:ext cx="12325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ConcreteComponent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8200" y="3798094"/>
              <a:ext cx="74360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19980" y="3399473"/>
              <a:ext cx="6432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Decorator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41520" y="3628549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component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41520" y="3872389"/>
              <a:ext cx="74360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</a:p>
          </p:txBody>
        </p:sp>
      </p:grpSp>
      <p:grpSp>
        <p:nvGrpSpPr>
          <p:cNvPr id="36" name="c1-text-2"/>
          <p:cNvGrpSpPr/>
          <p:nvPr/>
        </p:nvGrpSpPr>
        <p:grpSpPr>
          <a:xfrm>
            <a:off x="1778508" y="4482465"/>
            <a:ext cx="2919984" cy="234696"/>
            <a:chOff x="1778508" y="4482465"/>
            <a:chExt cx="2919984" cy="234696"/>
          </a:xfrm>
        </p:grpSpPr>
        <p:sp>
          <p:nvSpPr>
            <p:cNvPr id="35" name="TextBox 35"/>
            <p:cNvSpPr txBox="1"/>
            <p:nvPr/>
          </p:nvSpPr>
          <p:spPr>
            <a:xfrm>
              <a:off x="1778508" y="4482465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装饰器与被装饰者同类型，所以能反复包</a:t>
              </a:r>
            </a:p>
          </p:txBody>
        </p:sp>
      </p:grpSp>
      <p:grpSp>
        <p:nvGrpSpPr>
          <p:cNvPr id="43" name="c1-callout-3"/>
          <p:cNvGrpSpPr/>
          <p:nvPr/>
        </p:nvGrpSpPr>
        <p:grpSpPr>
          <a:xfrm>
            <a:off x="533400" y="4850130"/>
            <a:ext cx="5410200" cy="756285"/>
            <a:chOff x="533400" y="4850130"/>
            <a:chExt cx="5410200" cy="756285"/>
          </a:xfrm>
        </p:grpSpPr>
        <p:sp>
          <p:nvSpPr>
            <p:cNvPr id="37" name="Rectangle 37"/>
            <p:cNvSpPr/>
            <p:nvPr/>
          </p:nvSpPr>
          <p:spPr>
            <a:xfrm>
              <a:off x="533400" y="4850130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128260"/>
              <a:ext cx="200026" cy="200025"/>
              <a:chOff x="738188" y="5128260"/>
              <a:chExt cx="200026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512826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77926" y="517271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12642" y="528383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511" y="4997291"/>
              <a:ext cx="371144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operation() 的实现是：先调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component.operation()，再加自己那一点。</a:t>
              </a:r>
            </a:p>
          </p:txBody>
        </p:sp>
      </p:grpSp>
      <p:grpSp>
        <p:nvGrpSpPr>
          <p:cNvPr id="76" name="c2-uml-1"/>
          <p:cNvGrpSpPr/>
          <p:nvPr/>
        </p:nvGrpSpPr>
        <p:grpSpPr>
          <a:xfrm>
            <a:off x="7029450" y="2184082"/>
            <a:ext cx="3848100" cy="1794510"/>
            <a:chOff x="7029450" y="2184082"/>
            <a:chExt cx="3848100" cy="1794510"/>
          </a:xfrm>
        </p:grpSpPr>
        <p:sp>
          <p:nvSpPr>
            <p:cNvPr id="44" name="Freeform 44"/>
            <p:cNvSpPr/>
            <p:nvPr/>
          </p:nvSpPr>
          <p:spPr>
            <a:xfrm>
              <a:off x="8382000" y="2536508"/>
              <a:ext cx="1352550" cy="9525"/>
            </a:xfrm>
            <a:custGeom>
              <a:avLst/>
              <a:gdLst/>
              <a:ahLst/>
              <a:cxnLst/>
              <a:rect l="l" t="t" r="r" b="b"/>
              <a:pathLst>
                <a:path w="1352550" h="9525">
                  <a:moveTo>
                    <a:pt x="135255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8172450" y="2478405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8103"/>
                  </a:moveTo>
                  <a:lnTo>
                    <a:pt x="104775" y="0"/>
                  </a:lnTo>
                  <a:lnTo>
                    <a:pt x="209550" y="58103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7600950" y="3003232"/>
              <a:ext cx="2609850" cy="419100"/>
            </a:xfrm>
            <a:custGeom>
              <a:avLst/>
              <a:gdLst/>
              <a:ahLst/>
              <a:cxnLst/>
              <a:rect l="l" t="t" r="r" b="b"/>
              <a:pathLst>
                <a:path w="2609850" h="419100">
                  <a:moveTo>
                    <a:pt x="0" y="419100"/>
                  </a:moveTo>
                  <a:lnTo>
                    <a:pt x="0" y="146685"/>
                  </a:lnTo>
                  <a:lnTo>
                    <a:pt x="2609850" y="146685"/>
                  </a:lnTo>
                  <a:lnTo>
                    <a:pt x="26098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47" name="Freeform 47"/>
            <p:cNvSpPr/>
            <p:nvPr/>
          </p:nvSpPr>
          <p:spPr>
            <a:xfrm>
              <a:off x="10137458" y="287750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0306050" y="3003232"/>
              <a:ext cx="95250" cy="419100"/>
            </a:xfrm>
            <a:custGeom>
              <a:avLst/>
              <a:gdLst/>
              <a:ahLst/>
              <a:cxnLst/>
              <a:rect l="l" t="t" r="r" b="b"/>
              <a:pathLst>
                <a:path w="95250" h="419100">
                  <a:moveTo>
                    <a:pt x="0" y="419100"/>
                  </a:moveTo>
                  <a:lnTo>
                    <a:pt x="0" y="146685"/>
                  </a:lnTo>
                  <a:lnTo>
                    <a:pt x="95250" y="146685"/>
                  </a:lnTo>
                  <a:lnTo>
                    <a:pt x="952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49" name="Freeform 49"/>
            <p:cNvSpPr/>
            <p:nvPr/>
          </p:nvSpPr>
          <p:spPr>
            <a:xfrm>
              <a:off x="10327958" y="287750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029450" y="2184082"/>
              <a:ext cx="11430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037070" y="219075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029450" y="239649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029450" y="264033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9734550" y="2195512"/>
              <a:ext cx="1143000" cy="68199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9742170" y="2202180"/>
              <a:ext cx="1128712" cy="33528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734550" y="253365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734550" y="262890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029450" y="3422332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037070" y="342900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029450" y="363474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029450" y="372999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734550" y="3422332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9742170" y="342900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9734550" y="363474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9734550" y="372999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349317" y="2235518"/>
              <a:ext cx="5032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Context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100888" y="2464594"/>
              <a:ext cx="58906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strategy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100888" y="2708434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request()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008489" y="2244090"/>
              <a:ext cx="59512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019432" y="2372678"/>
              <a:ext cx="57323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Strategy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805988" y="2697004"/>
              <a:ext cx="7380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algorithm()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277368" y="3473768"/>
              <a:ext cx="6471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StrategyA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100888" y="3798094"/>
              <a:ext cx="7380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algorithm()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982468" y="3473768"/>
              <a:ext cx="6471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StrategyB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805988" y="3798094"/>
              <a:ext cx="7380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algorithm()</a:t>
              </a:r>
            </a:p>
          </p:txBody>
        </p:sp>
      </p:grpSp>
      <p:grpSp>
        <p:nvGrpSpPr>
          <p:cNvPr id="78" name="c2-text-2"/>
          <p:cNvGrpSpPr/>
          <p:nvPr/>
        </p:nvGrpSpPr>
        <p:grpSpPr>
          <a:xfrm>
            <a:off x="7257911" y="4482465"/>
            <a:ext cx="3391178" cy="234696"/>
            <a:chOff x="7257911" y="4482465"/>
            <a:chExt cx="3391178" cy="234696"/>
          </a:xfrm>
        </p:grpSpPr>
        <p:sp>
          <p:nvSpPr>
            <p:cNvPr id="77" name="TextBox 77"/>
            <p:cNvSpPr txBox="1"/>
            <p:nvPr/>
          </p:nvSpPr>
          <p:spPr>
            <a:xfrm>
              <a:off x="7257911" y="4482465"/>
              <a:ext cx="33911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Context 不是 Strategy，所以一次只能装一个</a:t>
              </a:r>
            </a:p>
          </p:txBody>
        </p:sp>
      </p:grpSp>
      <p:grpSp>
        <p:nvGrpSpPr>
          <p:cNvPr id="85" name="c2-callout-3"/>
          <p:cNvGrpSpPr/>
          <p:nvPr/>
        </p:nvGrpSpPr>
        <p:grpSpPr>
          <a:xfrm>
            <a:off x="6248400" y="4850130"/>
            <a:ext cx="5410200" cy="756285"/>
            <a:chOff x="6248400" y="4850130"/>
            <a:chExt cx="5410200" cy="756285"/>
          </a:xfrm>
        </p:grpSpPr>
        <p:sp>
          <p:nvSpPr>
            <p:cNvPr id="79" name="Rectangle 79"/>
            <p:cNvSpPr/>
            <p:nvPr/>
          </p:nvSpPr>
          <p:spPr>
            <a:xfrm>
              <a:off x="6248400" y="4850130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3" name="Group 83"/>
            <p:cNvGrpSpPr/>
            <p:nvPr/>
          </p:nvGrpSpPr>
          <p:grpSpPr>
            <a:xfrm>
              <a:off x="6453188" y="5128260"/>
              <a:ext cx="200026" cy="200025"/>
              <a:chOff x="6453188" y="5128260"/>
              <a:chExt cx="200026" cy="200025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6453188" y="512826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6492926" y="517271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6527642" y="528383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4" name="TextBox 84"/>
            <p:cNvSpPr txBox="1"/>
            <p:nvPr/>
          </p:nvSpPr>
          <p:spPr>
            <a:xfrm>
              <a:off x="6755511" y="4997291"/>
              <a:ext cx="338683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request() 的实现是：直接把活交给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strategy.algorithm()，自己不加东西。</a:t>
              </a:r>
            </a:p>
          </p:txBody>
        </p:sp>
      </p:grpSp>
      <p:grpSp>
        <p:nvGrpSpPr>
          <p:cNvPr id="91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86" name="Rectangle 86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89" name="Group 89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1040511" y="6011704"/>
              <a:ext cx="83012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一句话分：装饰是“原来的 + 一点”，可以多层叠加；策略是“换一整套”，同一时刻只有一套生效。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2" name="TextBox 92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 · 实现变化的适应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状态：状态一变，行为整体切换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800700" cy="264033"/>
            <a:chOff x="526542" y="1545907"/>
            <a:chExt cx="880070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8007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不同状态导致不同的行为后果，而且状态自己会切换。把每个状态做成一个类，环境类只留一个 state 字段。</a:t>
              </a:r>
            </a:p>
          </p:txBody>
        </p:sp>
      </p:grpSp>
      <p:grpSp>
        <p:nvGrpSpPr>
          <p:cNvPr id="40" name="c1-uml-1"/>
          <p:cNvGrpSpPr/>
          <p:nvPr/>
        </p:nvGrpSpPr>
        <p:grpSpPr>
          <a:xfrm>
            <a:off x="1097280" y="2293620"/>
            <a:ext cx="3858404" cy="2290762"/>
            <a:chOff x="1097280" y="2293620"/>
            <a:chExt cx="3858404" cy="2290762"/>
          </a:xfrm>
        </p:grpSpPr>
        <p:sp>
          <p:nvSpPr>
            <p:cNvPr id="9" name="Freeform 9"/>
            <p:cNvSpPr/>
            <p:nvPr/>
          </p:nvSpPr>
          <p:spPr>
            <a:xfrm>
              <a:off x="2558415" y="2721292"/>
              <a:ext cx="1027747" cy="9525"/>
            </a:xfrm>
            <a:custGeom>
              <a:avLst/>
              <a:gdLst/>
              <a:ahLst/>
              <a:cxnLst/>
              <a:rect l="l" t="t" r="r" b="b"/>
              <a:pathLst>
                <a:path w="1027747" h="9525">
                  <a:moveTo>
                    <a:pt x="1027747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348865" y="2663190"/>
              <a:ext cx="209550" cy="115252"/>
            </a:xfrm>
            <a:custGeom>
              <a:avLst/>
              <a:gdLst/>
              <a:ahLst/>
              <a:cxnLst/>
              <a:rect l="l" t="t" r="r" b="b"/>
              <a:pathLst>
                <a:path w="209550" h="115252">
                  <a:moveTo>
                    <a:pt x="0" y="58102"/>
                  </a:moveTo>
                  <a:lnTo>
                    <a:pt x="104775" y="0"/>
                  </a:lnTo>
                  <a:lnTo>
                    <a:pt x="209550" y="58102"/>
                  </a:lnTo>
                  <a:lnTo>
                    <a:pt x="104775" y="115252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777365" y="3125152"/>
              <a:ext cx="2393632" cy="902970"/>
            </a:xfrm>
            <a:custGeom>
              <a:avLst/>
              <a:gdLst/>
              <a:ahLst/>
              <a:cxnLst/>
              <a:rect l="l" t="t" r="r" b="b"/>
              <a:pathLst>
                <a:path w="2393632" h="902970">
                  <a:moveTo>
                    <a:pt x="0" y="902970"/>
                  </a:moveTo>
                  <a:lnTo>
                    <a:pt x="0" y="388620"/>
                  </a:lnTo>
                  <a:lnTo>
                    <a:pt x="2393632" y="388620"/>
                  </a:lnTo>
                  <a:lnTo>
                    <a:pt x="239363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097655" y="299942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266248" y="3125152"/>
              <a:ext cx="95250" cy="902970"/>
            </a:xfrm>
            <a:custGeom>
              <a:avLst/>
              <a:gdLst/>
              <a:ahLst/>
              <a:cxnLst/>
              <a:rect l="l" t="t" r="r" b="b"/>
              <a:pathLst>
                <a:path w="95250" h="902970">
                  <a:moveTo>
                    <a:pt x="0" y="902970"/>
                  </a:moveTo>
                  <a:lnTo>
                    <a:pt x="0" y="388620"/>
                  </a:lnTo>
                  <a:lnTo>
                    <a:pt x="95250" y="388620"/>
                  </a:lnTo>
                  <a:lnTo>
                    <a:pt x="952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288155" y="299942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205865" y="2293620"/>
              <a:ext cx="1143000" cy="8543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213485" y="230124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205865" y="250602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1205865" y="275082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3586162" y="2443162"/>
              <a:ext cx="136017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593782" y="2449830"/>
              <a:ext cx="134588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586162" y="2655570"/>
              <a:ext cx="13601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586162" y="2750820"/>
              <a:ext cx="13601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097280" y="4028122"/>
              <a:ext cx="136017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104900" y="4034790"/>
              <a:ext cx="134588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097280" y="4240530"/>
              <a:ext cx="13601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1097280" y="4335780"/>
              <a:ext cx="13601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586162" y="4028122"/>
              <a:ext cx="136017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593782" y="4034790"/>
              <a:ext cx="134588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586162" y="4240530"/>
              <a:ext cx="13601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586162" y="4335780"/>
              <a:ext cx="13601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348830" y="2345055"/>
              <a:ext cx="8570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StateContext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77302" y="2574131"/>
              <a:ext cx="80882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state: State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77302" y="2818924"/>
              <a:ext cx="957199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setState(State)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084583" y="2494598"/>
              <a:ext cx="36332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State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657600" y="2818924"/>
              <a:ext cx="129808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handle(StateContext)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278556" y="4079558"/>
              <a:ext cx="99761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ConcreteState1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68718" y="4403884"/>
              <a:ext cx="129808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handle(StateContext)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767439" y="4079558"/>
              <a:ext cx="99761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ConcreteState2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657600" y="4403884"/>
              <a:ext cx="129808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handle(StateContext)</a:t>
              </a:r>
            </a:p>
          </p:txBody>
        </p:sp>
      </p:grpSp>
      <p:grpSp>
        <p:nvGrpSpPr>
          <p:cNvPr id="44" name="c2-code-1"/>
          <p:cNvGrpSpPr/>
          <p:nvPr/>
        </p:nvGrpSpPr>
        <p:grpSpPr>
          <a:xfrm>
            <a:off x="5815965" y="1928812"/>
            <a:ext cx="5842635" cy="2304098"/>
            <a:chOff x="5815965" y="1928812"/>
            <a:chExt cx="5842635" cy="2304098"/>
          </a:xfrm>
        </p:grpSpPr>
        <p:sp>
          <p:nvSpPr>
            <p:cNvPr id="41" name="Rectangle 41"/>
            <p:cNvSpPr/>
            <p:nvPr/>
          </p:nvSpPr>
          <p:spPr>
            <a:xfrm>
              <a:off x="5815965" y="1928812"/>
              <a:ext cx="5842635" cy="2304098"/>
            </a:xfrm>
            <a:prstGeom prst="roundRect">
              <a:avLst>
                <a:gd name="adj" fmla="val 41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44362" y="2080736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944552" y="2339816"/>
              <a:ext cx="3045206" cy="18068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StateContext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State state;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setState(State s) {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.state = s;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oper()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state.handle(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转发给当前状态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ConcreteState1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State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handle(StateContext c)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c.setState(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ConcreteState2());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5815965" y="4396740"/>
            <a:ext cx="5842635" cy="1160145"/>
            <a:chOff x="5815965" y="4396740"/>
            <a:chExt cx="5842635" cy="1160145"/>
          </a:xfrm>
        </p:grpSpPr>
        <p:sp>
          <p:nvSpPr>
            <p:cNvPr id="45" name="Rectangle 45"/>
            <p:cNvSpPr/>
            <p:nvPr/>
          </p:nvSpPr>
          <p:spPr>
            <a:xfrm>
              <a:off x="5815965" y="4396740"/>
              <a:ext cx="5842635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825490" y="4530090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035040" y="457771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126759" y="461057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01016" y="461819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源课件的两处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028563" y="4934426"/>
              <a:ext cx="512302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类名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ConcreateState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应为 ConcreteState；方法名 Operator() 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C++ 关键字 operator 只差一个大写字母，标准写法是 handle()。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2" name="Rectangle 5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1273" y="6039326"/>
              <a:ext cx="86286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状态切换写在哪里决定了模式的味道：写在具体状态类里就是状态模式，写在环境类里就退回成了一串条件判断。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 · 实现变化的适应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模板方法：骨架固定，子步骤交给子类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282303" cy="264033"/>
            <a:chOff x="526542" y="1545907"/>
            <a:chExt cx="928230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2823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处理文件的顺序永远是打开、处理、关闭，变的只是每一步怎么做。把顺序写死在父类，把步骤留成可覆盖的方法。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951220" cy="3050858"/>
            <a:chOff x="533400" y="1928812"/>
            <a:chExt cx="5951220" cy="305085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951220" cy="3050858"/>
            </a:xfrm>
            <a:prstGeom prst="roundRect">
              <a:avLst>
                <a:gd name="adj" fmla="val 312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39816"/>
              <a:ext cx="3440938" cy="25546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ProcessFile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process() {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模板方法：加 final */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openFile();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doFile();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closeFile();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openFile()  { }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钩子，子类可换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doFile()    {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closeFile() {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MyProcessFile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ProcessFile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openFile() {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换一种打开 */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doFile()   {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换一种处理 */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5144452"/>
            <a:ext cx="5951220" cy="1202055"/>
            <a:chOff x="533400" y="5144452"/>
            <a:chExt cx="5951220" cy="1202055"/>
          </a:xfrm>
        </p:grpSpPr>
        <p:sp>
          <p:nvSpPr>
            <p:cNvPr id="13" name="Rectangle 13"/>
            <p:cNvSpPr/>
            <p:nvPr/>
          </p:nvSpPr>
          <p:spPr>
            <a:xfrm>
              <a:off x="533400" y="5144452"/>
              <a:ext cx="5951220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5277802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2475" y="532542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5147" y="535828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提炼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18450" y="536495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怎么把一段流程改成模板方法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52475" y="567023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04382" y="570585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2223" y="5682139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几个子类里完全相同的那几步抽到父类，拼成模板方法的骨架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52475" y="595598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4382" y="599065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22223" y="5966936"/>
              <a:ext cx="47601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各不相同的步骤声明成 protected 方法，父类给空实现或钩子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6789420" y="1928812"/>
            <a:ext cx="4869180" cy="2459355"/>
            <a:chOff x="6789420" y="1928812"/>
            <a:chExt cx="4869180" cy="2459355"/>
          </a:xfrm>
        </p:grpSpPr>
        <p:sp>
          <p:nvSpPr>
            <p:cNvPr id="25" name="Rectangle 25"/>
            <p:cNvSpPr/>
            <p:nvPr/>
          </p:nvSpPr>
          <p:spPr>
            <a:xfrm>
              <a:off x="6789420" y="1928812"/>
              <a:ext cx="4869180" cy="2459355"/>
            </a:xfrm>
            <a:prstGeom prst="roundRect">
              <a:avLst>
                <a:gd name="adj" fmla="val 54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798945" y="2062162"/>
              <a:ext cx="47625" cy="2192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008495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10116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74470" y="214931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源课件的三处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02018" y="2465546"/>
              <a:ext cx="42720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p28 与 p29 内容完全相同，是动画分步造成的重复页，本讲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合并成一页。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02018" y="2994184"/>
              <a:ext cx="41907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`class MyProcessFile：public ProcessFile` 用了全角冒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号，并且缺少类体的左花括号。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02018" y="3521869"/>
              <a:ext cx="423138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模板方法 Process() 没有加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final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。不加的话子类可以整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个覆盖掉骨架，模式就失效了；C++ 里对应的做法是不把它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声明为 virtual。</a:t>
              </a:r>
            </a:p>
          </p:txBody>
        </p:sp>
      </p:grpSp>
      <p:grpSp>
        <p:nvGrpSpPr>
          <p:cNvPr id="39" name="c2-kv-2"/>
          <p:cNvGrpSpPr/>
          <p:nvPr/>
        </p:nvGrpSpPr>
        <p:grpSpPr>
          <a:xfrm>
            <a:off x="6782943" y="4573429"/>
            <a:ext cx="4875657" cy="863726"/>
            <a:chOff x="6782943" y="4573429"/>
            <a:chExt cx="4875657" cy="863726"/>
          </a:xfrm>
        </p:grpSpPr>
        <p:sp>
          <p:nvSpPr>
            <p:cNvPr id="34" name="TextBox 34"/>
            <p:cNvSpPr txBox="1"/>
            <p:nvPr/>
          </p:nvSpPr>
          <p:spPr>
            <a:xfrm>
              <a:off x="6782943" y="457342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模板方法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07820" y="457342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只此一个，写在父类，定死调用顺序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789420" y="484536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82943" y="494776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基本方法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07820" y="4947761"/>
              <a:ext cx="342671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抽象方法要求子类必须实现，具体方法父类已写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好，钩子方法给空实现让子类选做</a:t>
              </a:r>
            </a:p>
          </p:txBody>
        </p:sp>
      </p:grpSp>
      <p:grpSp>
        <p:nvGrpSpPr>
          <p:cNvPr id="45" name="c2-callout-3"/>
          <p:cNvGrpSpPr/>
          <p:nvPr/>
        </p:nvGrpSpPr>
        <p:grpSpPr>
          <a:xfrm>
            <a:off x="6789420" y="5551170"/>
            <a:ext cx="4869180" cy="795338"/>
            <a:chOff x="6789420" y="5551170"/>
            <a:chExt cx="4869180" cy="795338"/>
          </a:xfrm>
        </p:grpSpPr>
        <p:sp>
          <p:nvSpPr>
            <p:cNvPr id="40" name="Rectangle 40"/>
            <p:cNvSpPr/>
            <p:nvPr/>
          </p:nvSpPr>
          <p:spPr>
            <a:xfrm>
              <a:off x="6789420" y="5551170"/>
              <a:ext cx="4869180" cy="795338"/>
            </a:xfrm>
            <a:prstGeom prst="roundRect">
              <a:avLst>
                <a:gd name="adj" fmla="val 14371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994208" y="5849305"/>
              <a:ext cx="200023" cy="200023"/>
              <a:chOff x="6994208" y="5849305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994208" y="584930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127558" y="59159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7297293" y="5742146"/>
              <a:ext cx="39143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控制权在父类手里，子类只被回调。这是它和策略最大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的不同，策略的控制权在客户端手里。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 · 实现变化的适应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中介者：四个类两两相连，改成星形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1093846" cy="278702"/>
            <a:chOff x="526161" y="1547336"/>
            <a:chExt cx="11093846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1093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的一个方法里要同时用到 B、C、D，而且还得知道三者的调用顺序。这种网状引用一旦成形，改任何一个类都要回头看另外三个。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41195"/>
            <a:ext cx="5626418" cy="1628775"/>
            <a:chOff x="533400" y="1941195"/>
            <a:chExt cx="5626418" cy="162877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626418" cy="1628775"/>
            </a:xfrm>
            <a:prstGeom prst="roundRect">
              <a:avLst>
                <a:gd name="adj" fmla="val 584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14751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改造前：A 认识 B、C、D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53342"/>
              <a:ext cx="2099437" cy="11334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f(B b, C c, D d)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b.xxx(c,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c.yyy(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d);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d.zzz(c);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3745230"/>
            <a:ext cx="5626418" cy="2588895"/>
            <a:chOff x="533400" y="3745230"/>
            <a:chExt cx="5626418" cy="2588895"/>
          </a:xfrm>
        </p:grpSpPr>
        <p:sp>
          <p:nvSpPr>
            <p:cNvPr id="13" name="Rectangle 13"/>
            <p:cNvSpPr/>
            <p:nvPr/>
          </p:nvSpPr>
          <p:spPr>
            <a:xfrm>
              <a:off x="533400" y="3745230"/>
              <a:ext cx="5626418" cy="2588895"/>
            </a:xfrm>
            <a:prstGeom prst="roundRect">
              <a:avLst>
                <a:gd name="adj" fmla="val 367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389715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改造后：只认识中介者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988" y="4156424"/>
              <a:ext cx="2959989" cy="2093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Colleague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mediator.handle(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ConcreteMediator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Mediator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 b;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 c;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 d;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handle(Colleague from)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b.xxx();  c.yyy();  d.zzz();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7" name="c2-graph-1"/>
          <p:cNvGrpSpPr/>
          <p:nvPr/>
        </p:nvGrpSpPr>
        <p:grpSpPr>
          <a:xfrm>
            <a:off x="6727508" y="1997392"/>
            <a:ext cx="4772024" cy="2513172"/>
            <a:chOff x="6727508" y="1997392"/>
            <a:chExt cx="4772024" cy="2513172"/>
          </a:xfrm>
        </p:grpSpPr>
        <p:sp>
          <p:nvSpPr>
            <p:cNvPr id="17" name="Freeform 17"/>
            <p:cNvSpPr/>
            <p:nvPr/>
          </p:nvSpPr>
          <p:spPr>
            <a:xfrm>
              <a:off x="7041832" y="2306002"/>
              <a:ext cx="1183005" cy="9525"/>
            </a:xfrm>
            <a:custGeom>
              <a:avLst/>
              <a:gdLst/>
              <a:ahLst/>
              <a:cxnLst/>
              <a:rect l="l" t="t" r="r" b="b"/>
              <a:pathLst>
                <a:path w="1183005" h="9525">
                  <a:moveTo>
                    <a:pt x="0" y="0"/>
                  </a:moveTo>
                  <a:lnTo>
                    <a:pt x="11830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6879908" y="2467928"/>
              <a:ext cx="9525" cy="1183957"/>
            </a:xfrm>
            <a:custGeom>
              <a:avLst/>
              <a:gdLst/>
              <a:ahLst/>
              <a:cxnLst/>
              <a:rect l="l" t="t" r="r" b="b"/>
              <a:pathLst>
                <a:path w="9525" h="1183957">
                  <a:moveTo>
                    <a:pt x="0" y="0"/>
                  </a:moveTo>
                  <a:lnTo>
                    <a:pt x="0" y="118395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6995160" y="2420302"/>
              <a:ext cx="1277303" cy="1279207"/>
            </a:xfrm>
            <a:custGeom>
              <a:avLst/>
              <a:gdLst/>
              <a:ahLst/>
              <a:cxnLst/>
              <a:rect l="l" t="t" r="r" b="b"/>
              <a:pathLst>
                <a:path w="1277303" h="1279207">
                  <a:moveTo>
                    <a:pt x="0" y="0"/>
                  </a:moveTo>
                  <a:lnTo>
                    <a:pt x="1277303" y="12792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995160" y="2420302"/>
              <a:ext cx="1277303" cy="1279207"/>
            </a:xfrm>
            <a:custGeom>
              <a:avLst/>
              <a:gdLst/>
              <a:ahLst/>
              <a:cxnLst/>
              <a:rect l="l" t="t" r="r" b="b"/>
              <a:pathLst>
                <a:path w="1277303" h="1279207">
                  <a:moveTo>
                    <a:pt x="1277303" y="0"/>
                  </a:moveTo>
                  <a:lnTo>
                    <a:pt x="0" y="12792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8386762" y="2467928"/>
              <a:ext cx="9525" cy="1183957"/>
            </a:xfrm>
            <a:custGeom>
              <a:avLst/>
              <a:gdLst/>
              <a:ahLst/>
              <a:cxnLst/>
              <a:rect l="l" t="t" r="r" b="b"/>
              <a:pathLst>
                <a:path w="9525" h="1183957">
                  <a:moveTo>
                    <a:pt x="0" y="0"/>
                  </a:moveTo>
                  <a:lnTo>
                    <a:pt x="0" y="118395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7041832" y="3813810"/>
              <a:ext cx="1183005" cy="9525"/>
            </a:xfrm>
            <a:custGeom>
              <a:avLst/>
              <a:gdLst/>
              <a:ahLst/>
              <a:cxnLst/>
              <a:rect l="l" t="t" r="r" b="b"/>
              <a:pathLst>
                <a:path w="1183005" h="9525">
                  <a:moveTo>
                    <a:pt x="0" y="0"/>
                  </a:moveTo>
                  <a:lnTo>
                    <a:pt x="11830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9794558" y="2268855"/>
              <a:ext cx="612457" cy="671512"/>
            </a:xfrm>
            <a:custGeom>
              <a:avLst/>
              <a:gdLst/>
              <a:ahLst/>
              <a:cxnLst/>
              <a:rect l="l" t="t" r="r" b="b"/>
              <a:pathLst>
                <a:path w="612457" h="671512">
                  <a:moveTo>
                    <a:pt x="0" y="0"/>
                  </a:moveTo>
                  <a:lnTo>
                    <a:pt x="612457" y="6715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0625138" y="2268855"/>
              <a:ext cx="612457" cy="671512"/>
            </a:xfrm>
            <a:custGeom>
              <a:avLst/>
              <a:gdLst/>
              <a:ahLst/>
              <a:cxnLst/>
              <a:rect l="l" t="t" r="r" b="b"/>
              <a:pathLst>
                <a:path w="612457" h="671512">
                  <a:moveTo>
                    <a:pt x="612457" y="0"/>
                  </a:moveTo>
                  <a:lnTo>
                    <a:pt x="0" y="6715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9794558" y="3179445"/>
              <a:ext cx="612457" cy="670560"/>
            </a:xfrm>
            <a:custGeom>
              <a:avLst/>
              <a:gdLst/>
              <a:ahLst/>
              <a:cxnLst/>
              <a:rect l="l" t="t" r="r" b="b"/>
              <a:pathLst>
                <a:path w="612457" h="670560">
                  <a:moveTo>
                    <a:pt x="0" y="670560"/>
                  </a:moveTo>
                  <a:lnTo>
                    <a:pt x="61245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0625138" y="3179445"/>
              <a:ext cx="612457" cy="670560"/>
            </a:xfrm>
            <a:custGeom>
              <a:avLst/>
              <a:gdLst/>
              <a:ahLst/>
              <a:cxnLst/>
              <a:rect l="l" t="t" r="r" b="b"/>
              <a:pathLst>
                <a:path w="612457" h="670560">
                  <a:moveTo>
                    <a:pt x="612457" y="67056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6727508" y="215360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8234362" y="215360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6727508" y="366141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8234362" y="366141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10363200" y="2907030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9532620" y="199739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1194732" y="199739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9532620" y="381762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11194732" y="381762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28192" y="223599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35047" y="223599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28192" y="37438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35047" y="37438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47157" y="2989421"/>
              <a:ext cx="136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633305" y="207978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95417" y="207978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633305" y="390001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295417" y="390001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85500" y="4290536"/>
              <a:ext cx="10442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两两相连：6 条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144257" y="4290536"/>
              <a:ext cx="7426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星形：4 条</a:t>
              </a:r>
            </a:p>
          </p:txBody>
        </p:sp>
      </p:grpSp>
      <p:grpSp>
        <p:nvGrpSpPr>
          <p:cNvPr id="54" name="c2-callout-2"/>
          <p:cNvGrpSpPr/>
          <p:nvPr/>
        </p:nvGrpSpPr>
        <p:grpSpPr>
          <a:xfrm>
            <a:off x="6464618" y="4716780"/>
            <a:ext cx="5193982" cy="1617345"/>
            <a:chOff x="6464618" y="4716780"/>
            <a:chExt cx="5193982" cy="1617345"/>
          </a:xfrm>
        </p:grpSpPr>
        <p:sp>
          <p:nvSpPr>
            <p:cNvPr id="48" name="Rectangle 48"/>
            <p:cNvSpPr/>
            <p:nvPr/>
          </p:nvSpPr>
          <p:spPr>
            <a:xfrm>
              <a:off x="6464618" y="4716780"/>
              <a:ext cx="5193982" cy="1617345"/>
            </a:xfrm>
            <a:prstGeom prst="roundRect">
              <a:avLst>
                <a:gd name="adj" fmla="val 7067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657347" y="5421748"/>
              <a:ext cx="224134" cy="192560"/>
              <a:chOff x="6657347" y="5421748"/>
              <a:chExt cx="224134" cy="19256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769418" y="549211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657347" y="542174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769418" y="5569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972110" y="5307330"/>
              <a:ext cx="42999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 个对象两两相连是 n(n-1)/2 条，改成星形是 n 条。代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价是中介者自己变得庞大，它成了新的易变点。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 · 实现变化的适应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备忘录与享元：数据的存档与共享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234375" cy="278702"/>
            <a:chOff x="526161" y="1547336"/>
            <a:chExt cx="8234375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2343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这两个模式抽出去的不是行为而是数据。一个把状态搬出去存档，一个把重复的数据合并成一份。</a:t>
              </a:r>
            </a:p>
          </p:txBody>
        </p:sp>
      </p:grpSp>
      <p:grpSp>
        <p:nvGrpSpPr>
          <p:cNvPr id="35" name="c1-uml-1"/>
          <p:cNvGrpSpPr/>
          <p:nvPr/>
        </p:nvGrpSpPr>
        <p:grpSpPr>
          <a:xfrm>
            <a:off x="1232535" y="2088832"/>
            <a:ext cx="3768090" cy="1853566"/>
            <a:chOff x="1232535" y="2088832"/>
            <a:chExt cx="3768090" cy="1853566"/>
          </a:xfrm>
        </p:grpSpPr>
        <p:sp>
          <p:nvSpPr>
            <p:cNvPr id="9" name="Freeform 9"/>
            <p:cNvSpPr/>
            <p:nvPr/>
          </p:nvSpPr>
          <p:spPr>
            <a:xfrm>
              <a:off x="2431732" y="2515552"/>
              <a:ext cx="1425892" cy="9525"/>
            </a:xfrm>
            <a:custGeom>
              <a:avLst/>
              <a:gdLst/>
              <a:ahLst/>
              <a:cxnLst/>
              <a:rect l="l" t="t" r="r" b="b"/>
              <a:pathLst>
                <a:path w="1425892" h="9525">
                  <a:moveTo>
                    <a:pt x="0" y="0"/>
                  </a:moveTo>
                  <a:lnTo>
                    <a:pt x="142589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3752850" y="2458402"/>
              <a:ext cx="104775" cy="115252"/>
            </a:xfrm>
            <a:custGeom>
              <a:avLst/>
              <a:gdLst/>
              <a:ahLst/>
              <a:cxnLst/>
              <a:rect l="l" t="t" r="r" b="b"/>
              <a:pathLst>
                <a:path w="104775" h="115252">
                  <a:moveTo>
                    <a:pt x="0" y="115252"/>
                  </a:moveTo>
                  <a:lnTo>
                    <a:pt x="104775" y="571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429125" y="2867978"/>
              <a:ext cx="9525" cy="308610"/>
            </a:xfrm>
            <a:custGeom>
              <a:avLst/>
              <a:gdLst/>
              <a:ahLst/>
              <a:cxnLst/>
              <a:rect l="l" t="t" r="r" b="b"/>
              <a:pathLst>
                <a:path w="9525" h="308610">
                  <a:moveTo>
                    <a:pt x="0" y="0"/>
                  </a:moveTo>
                  <a:lnTo>
                    <a:pt x="0" y="30861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371022" y="3176588"/>
              <a:ext cx="115253" cy="209550"/>
            </a:xfrm>
            <a:custGeom>
              <a:avLst/>
              <a:gdLst/>
              <a:ahLst/>
              <a:cxnLst/>
              <a:rect l="l" t="t" r="r" b="b"/>
              <a:pathLst>
                <a:path w="115253" h="209550">
                  <a:moveTo>
                    <a:pt x="58103" y="209550"/>
                  </a:moveTo>
                  <a:lnTo>
                    <a:pt x="0" y="104775"/>
                  </a:lnTo>
                  <a:lnTo>
                    <a:pt x="58103" y="0"/>
                  </a:lnTo>
                  <a:lnTo>
                    <a:pt x="115253" y="104775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232535" y="2088832"/>
              <a:ext cx="1199198" cy="8543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239202" y="2095500"/>
              <a:ext cx="1184910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232535" y="2301240"/>
              <a:ext cx="119919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232535" y="2545080"/>
              <a:ext cx="119919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3857625" y="2163128"/>
              <a:ext cx="11430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864292" y="2170748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3857625" y="237553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3857625" y="261937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857625" y="3386138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864292" y="3392805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3857625" y="359854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857625" y="384238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494261" y="2140268"/>
              <a:ext cx="67479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Originator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03972" y="2369344"/>
              <a:ext cx="40692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state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03972" y="2613184"/>
              <a:ext cx="1056132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createMemento()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restore(Memento)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51843" y="2214562"/>
              <a:ext cx="5545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Memento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29062" y="2443639"/>
              <a:ext cx="40692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state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929062" y="2687479"/>
              <a:ext cx="71545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getState()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107523" y="3437573"/>
              <a:ext cx="6432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Caretaker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29062" y="3666649"/>
              <a:ext cx="57250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memento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971800" y="2309812"/>
              <a:ext cx="34385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007322" y="233410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创建</a:t>
              </a:r>
            </a:p>
          </p:txBody>
        </p:sp>
      </p:grpSp>
      <p:grpSp>
        <p:nvGrpSpPr>
          <p:cNvPr id="42" name="c1-callout-2"/>
          <p:cNvGrpSpPr/>
          <p:nvPr/>
        </p:nvGrpSpPr>
        <p:grpSpPr>
          <a:xfrm>
            <a:off x="533400" y="4413885"/>
            <a:ext cx="5193982" cy="1267778"/>
            <a:chOff x="533400" y="4413885"/>
            <a:chExt cx="5193982" cy="1267778"/>
          </a:xfrm>
        </p:grpSpPr>
        <p:sp>
          <p:nvSpPr>
            <p:cNvPr id="36" name="Rectangle 36"/>
            <p:cNvSpPr/>
            <p:nvPr/>
          </p:nvSpPr>
          <p:spPr>
            <a:xfrm>
              <a:off x="533400" y="4413885"/>
              <a:ext cx="5193982" cy="1267778"/>
            </a:xfrm>
            <a:prstGeom prst="roundRect">
              <a:avLst>
                <a:gd name="adj" fmla="val 901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4947285"/>
              <a:ext cx="200026" cy="200026"/>
              <a:chOff x="738188" y="4947285"/>
              <a:chExt cx="200026" cy="20002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494728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38200" y="501396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27088" y="504729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892" y="4704398"/>
              <a:ext cx="42999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负责人只负责保管，不许读也不许改备忘录里的内容。课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件类图把 getState()、setState() 都画成了公有，和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“不破坏封装”这条相抵，第 35 讲讲过窄接口的做法。</a:t>
              </a:r>
            </a:p>
          </p:txBody>
        </p:sp>
      </p:grpSp>
      <p:grpSp>
        <p:nvGrpSpPr>
          <p:cNvPr id="63" name="c2-table-1"/>
          <p:cNvGrpSpPr/>
          <p:nvPr/>
        </p:nvGrpSpPr>
        <p:grpSpPr>
          <a:xfrm>
            <a:off x="6032182" y="1941195"/>
            <a:ext cx="5626418" cy="1823085"/>
            <a:chOff x="6032182" y="1941195"/>
            <a:chExt cx="5626418" cy="1823085"/>
          </a:xfrm>
        </p:grpSpPr>
        <p:sp>
          <p:nvSpPr>
            <p:cNvPr id="43" name="Rectangle 43"/>
            <p:cNvSpPr/>
            <p:nvPr/>
          </p:nvSpPr>
          <p:spPr>
            <a:xfrm>
              <a:off x="6032182" y="1941195"/>
              <a:ext cx="5626418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22111" y="206549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文字编辑器里的一项数据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575612" y="20654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属于哪一类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263442" y="20654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能不能共享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32195" y="2471261"/>
              <a:ext cx="10912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字符的 ASCII 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82952" y="24712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内蕴状态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732645" y="247126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能，存进享元对象里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032182" y="27479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032182" y="2752725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132195" y="287702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行位置、列位置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292465" y="2762250"/>
              <a:ext cx="133159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382952" y="287702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外蕴状态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732645" y="287702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不能，调用时由客户端传入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032182" y="31537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132195" y="338280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字体、字号、颜色、斜体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382952" y="338280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外蕴状态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732645" y="3282791"/>
              <a:ext cx="17183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不能，也可另做一个格式享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032182" y="1941195"/>
              <a:ext cx="5626418" cy="18230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8278178" y="1941195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627870" y="1941195"/>
              <a:ext cx="9525" cy="18230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0" name="c2-card-2"/>
          <p:cNvGrpSpPr/>
          <p:nvPr/>
        </p:nvGrpSpPr>
        <p:grpSpPr>
          <a:xfrm>
            <a:off x="6032182" y="3939540"/>
            <a:ext cx="5626418" cy="1741170"/>
            <a:chOff x="6032182" y="3939540"/>
            <a:chExt cx="5626418" cy="1741170"/>
          </a:xfrm>
        </p:grpSpPr>
        <p:sp>
          <p:nvSpPr>
            <p:cNvPr id="64" name="Rectangle 64"/>
            <p:cNvSpPr/>
            <p:nvPr/>
          </p:nvSpPr>
          <p:spPr>
            <a:xfrm>
              <a:off x="6032182" y="3939540"/>
              <a:ext cx="5626418" cy="1741170"/>
            </a:xfrm>
            <a:prstGeom prst="roundRect">
              <a:avLst>
                <a:gd name="adj" fmla="val 76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041708" y="4072890"/>
              <a:ext cx="47625" cy="14744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262688" y="413194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354128" y="41662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846380" y="417195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源课件把位置划进了内蕴状态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255830" y="4506278"/>
              <a:ext cx="4960048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课件的 Character 类里，内蕴状态列了行位置、列位置和字符的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ASCII 码。位置随每个字符不同，放进内蕴状态就 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没有两个对象能</a:t>
              </a:r>
              <a:br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共享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了，享元也就失去意义。正确划分是：不随使用环境变化的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才是内蕴状态。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1" name="Rectangle 71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0892" y="6023610"/>
              <a:ext cx="83736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内蕴与外蕴的判据只有一句：把这项数据设成共享的，两个使用者会不会互相干扰。会，就是外蕴状态。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135499" cy="2997517"/>
            <a:chOff x="667512" y="1835468"/>
            <a:chExt cx="5135499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特殊目的与全课对照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不为适应变化，而为隐藏细节、传递消息、两头扩展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188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PImpl 与代理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职责链与访问者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全课总对照与答题范式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34927" cy="909257"/>
            <a:chOff x="520446" y="342900"/>
            <a:chExt cx="57349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 · 特殊目的与全课对照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349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PImpl：只为隐藏实现细节的半个桥接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794288" cy="264033"/>
            <a:chOff x="526542" y="1545907"/>
            <a:chExt cx="779428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7942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桥接是为了让两个维度独立变化，PImpl 只借用它的形状，目的是让调用方看不见类的私有成员。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626418" cy="2453640"/>
            <a:chOff x="533400" y="1928812"/>
            <a:chExt cx="5626418" cy="245364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2453640"/>
            </a:xfrm>
            <a:prstGeom prst="roundRect">
              <a:avLst>
                <a:gd name="adj" fmla="val 38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39816"/>
              <a:ext cx="3524250" cy="19564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Foo {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对外只剩接口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FooImp imp =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FooImp();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 { imp.f();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g() { imp.g();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FooImp {   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不写 public，只在包内可见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data;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数据全在这里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f() {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真正的实现 */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g() {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真正的实现 */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4" name="c1-kv-2"/>
          <p:cNvGrpSpPr/>
          <p:nvPr/>
        </p:nvGrpSpPr>
        <p:grpSpPr>
          <a:xfrm>
            <a:off x="526923" y="4567714"/>
            <a:ext cx="5632895" cy="1611439"/>
            <a:chOff x="526923" y="4567714"/>
            <a:chExt cx="5632895" cy="1611439"/>
          </a:xfrm>
        </p:grpSpPr>
        <p:sp>
          <p:nvSpPr>
            <p:cNvPr id="13" name="TextBox 13"/>
            <p:cNvSpPr txBox="1"/>
            <p:nvPr/>
          </p:nvSpPr>
          <p:spPr>
            <a:xfrm>
              <a:off x="526923" y="45677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和桥接的分别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90890" y="4567714"/>
              <a:ext cx="403631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桥接的实现一侧有继承树，运行期可换；PImpl 只有一个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实现类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507968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923" y="518112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和代理的分别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90890" y="5181124"/>
              <a:ext cx="42547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代理与真对象同接口，可以换着用；FooImp 不对外露面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54530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6923" y="555545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和外观的分别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90890" y="5555456"/>
              <a:ext cx="41161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外观把多个类收进一个入口，PImpl 把一个类劈成两半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582739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6923" y="592978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共同的一问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90890" y="592978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那一层是为了可替换，还是只为挡住视线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464618" y="1928812"/>
            <a:ext cx="5193982" cy="1687830"/>
            <a:chOff x="6464618" y="1928812"/>
            <a:chExt cx="5193982" cy="1687830"/>
          </a:xfrm>
        </p:grpSpPr>
        <p:sp>
          <p:nvSpPr>
            <p:cNvPr id="25" name="Rectangle 25"/>
            <p:cNvSpPr/>
            <p:nvPr/>
          </p:nvSpPr>
          <p:spPr>
            <a:xfrm>
              <a:off x="6464618" y="1928812"/>
              <a:ext cx="5193982" cy="1687830"/>
            </a:xfrm>
            <a:prstGeom prst="roundRect">
              <a:avLst>
                <a:gd name="adj" fmla="val 7901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645592" y="2109788"/>
              <a:ext cx="1250632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05989" y="2142649"/>
              <a:ext cx="11307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 C++ 需要它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04048" y="214931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头文件会把私有成员也暴露出去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39116" y="2465546"/>
              <a:ext cx="45565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C++ 的类声明必须写在头文件里，私有字段也在其中。改一个私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有字段的类型，所有包含这个头文件的文件都要重新编译。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39116" y="2994184"/>
              <a:ext cx="46540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把字段搬进 FooImp、头文件只留一个指针，实现怎么改，调用方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都不必重编。</a:t>
              </a:r>
            </a:p>
          </p:txBody>
        </p:sp>
      </p:grpSp>
      <p:grpSp>
        <p:nvGrpSpPr>
          <p:cNvPr id="38" name="c2-card-2"/>
          <p:cNvGrpSpPr/>
          <p:nvPr/>
        </p:nvGrpSpPr>
        <p:grpSpPr>
          <a:xfrm>
            <a:off x="6464618" y="3781425"/>
            <a:ext cx="5193982" cy="1403032"/>
            <a:chOff x="6464618" y="3781425"/>
            <a:chExt cx="5193982" cy="1403032"/>
          </a:xfrm>
        </p:grpSpPr>
        <p:sp>
          <p:nvSpPr>
            <p:cNvPr id="32" name="Rectangle 32"/>
            <p:cNvSpPr/>
            <p:nvPr/>
          </p:nvSpPr>
          <p:spPr>
            <a:xfrm>
              <a:off x="6464618" y="3781425"/>
              <a:ext cx="5193982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74142" y="3914775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683692" y="3962400"/>
              <a:ext cx="78486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63637" y="3995261"/>
              <a:ext cx="6249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对到 Java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77328" y="400192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没有头文件，动机就变了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77216" y="4319111"/>
              <a:ext cx="461340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的私有成员本来就不出现在调用方的编译单元里，这条动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机不成立。对应做法是把实现类写成包内可见，目的变成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限制可</a:t>
              </a:r>
              <a:br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见范围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而不是减少重编译。</a:t>
              </a:r>
            </a:p>
          </p:txBody>
        </p:sp>
      </p:grpSp>
      <p:grpSp>
        <p:nvGrpSpPr>
          <p:cNvPr id="45" name="c2-callout-3"/>
          <p:cNvGrpSpPr/>
          <p:nvPr/>
        </p:nvGrpSpPr>
        <p:grpSpPr>
          <a:xfrm>
            <a:off x="6464618" y="5349240"/>
            <a:ext cx="5193982" cy="779145"/>
            <a:chOff x="6464618" y="5349240"/>
            <a:chExt cx="5193982" cy="779145"/>
          </a:xfrm>
        </p:grpSpPr>
        <p:sp>
          <p:nvSpPr>
            <p:cNvPr id="39" name="Rectangle 39"/>
            <p:cNvSpPr/>
            <p:nvPr/>
          </p:nvSpPr>
          <p:spPr>
            <a:xfrm>
              <a:off x="6464618" y="5349240"/>
              <a:ext cx="5193982" cy="779145"/>
            </a:xfrm>
            <a:prstGeom prst="roundRect">
              <a:avLst>
                <a:gd name="adj" fmla="val 1467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669405" y="5638800"/>
              <a:ext cx="200026" cy="200025"/>
              <a:chOff x="6669405" y="5638800"/>
              <a:chExt cx="200026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669405" y="563880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709144" y="568325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743859" y="579437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972491" y="5532596"/>
              <a:ext cx="42476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问 PImpl 属于哪个模式，答桥接的退化形式：只有实现这一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侧分离出去，抽象这一侧没有继承树。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 · 特殊目的与全课对照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代理与职责链：控制访问，和沿链找人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234375" cy="278702"/>
            <a:chOff x="526161" y="1547336"/>
            <a:chExt cx="8234375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2343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代理替真正的对象出面，客户端分不出真假；职责链让请求沿一串对象往下走，谁能处理谁处理。</a:t>
              </a:r>
            </a:p>
          </p:txBody>
        </p:sp>
      </p:grpSp>
      <p:grpSp>
        <p:nvGrpSpPr>
          <p:cNvPr id="37" name="c1-uml-1"/>
          <p:cNvGrpSpPr/>
          <p:nvPr/>
        </p:nvGrpSpPr>
        <p:grpSpPr>
          <a:xfrm>
            <a:off x="1314450" y="2196465"/>
            <a:ext cx="3848100" cy="1884997"/>
            <a:chOff x="1314450" y="2196465"/>
            <a:chExt cx="3848100" cy="1884997"/>
          </a:xfrm>
        </p:grpSpPr>
        <p:sp>
          <p:nvSpPr>
            <p:cNvPr id="9" name="Freeform 9"/>
            <p:cNvSpPr/>
            <p:nvPr/>
          </p:nvSpPr>
          <p:spPr>
            <a:xfrm>
              <a:off x="1885950" y="3004185"/>
              <a:ext cx="2609850" cy="446723"/>
            </a:xfrm>
            <a:custGeom>
              <a:avLst/>
              <a:gdLst/>
              <a:ahLst/>
              <a:cxnLst/>
              <a:rect l="l" t="t" r="r" b="b"/>
              <a:pathLst>
                <a:path w="2609850" h="446723">
                  <a:moveTo>
                    <a:pt x="0" y="446723"/>
                  </a:moveTo>
                  <a:lnTo>
                    <a:pt x="0" y="160973"/>
                  </a:lnTo>
                  <a:lnTo>
                    <a:pt x="2609850" y="160973"/>
                  </a:lnTo>
                  <a:lnTo>
                    <a:pt x="26098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4422458" y="287845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591050" y="3004185"/>
              <a:ext cx="95250" cy="372428"/>
            </a:xfrm>
            <a:custGeom>
              <a:avLst/>
              <a:gdLst/>
              <a:ahLst/>
              <a:cxnLst/>
              <a:rect l="l" t="t" r="r" b="b"/>
              <a:pathLst>
                <a:path w="95250" h="372428">
                  <a:moveTo>
                    <a:pt x="0" y="372428"/>
                  </a:moveTo>
                  <a:lnTo>
                    <a:pt x="0" y="123825"/>
                  </a:lnTo>
                  <a:lnTo>
                    <a:pt x="95250" y="123825"/>
                  </a:lnTo>
                  <a:lnTo>
                    <a:pt x="952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4612958" y="287845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457450" y="3729038"/>
              <a:ext cx="1562100" cy="9525"/>
            </a:xfrm>
            <a:custGeom>
              <a:avLst/>
              <a:gdLst/>
              <a:ahLst/>
              <a:cxnLst/>
              <a:rect l="l" t="t" r="r" b="b"/>
              <a:pathLst>
                <a:path w="1562100" h="9525">
                  <a:moveTo>
                    <a:pt x="156210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457450" y="3671888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104775" y="0"/>
                  </a:moveTo>
                  <a:lnTo>
                    <a:pt x="0" y="57150"/>
                  </a:lnTo>
                  <a:lnTo>
                    <a:pt x="104775" y="11525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019550" y="2196465"/>
              <a:ext cx="1143000" cy="68199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027170" y="2203132"/>
              <a:ext cx="1128712" cy="33528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019550" y="253460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019550" y="262985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314450" y="3450908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322070" y="3458528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314450" y="366331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1314450" y="375856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019550" y="3376612"/>
              <a:ext cx="11430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027170" y="3384232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019550" y="358902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019550" y="383286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293489" y="2245042"/>
              <a:ext cx="59512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55447" y="2373630"/>
              <a:ext cx="4712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Subject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90988" y="2697956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request()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24530" y="3502342"/>
              <a:ext cx="72284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RealSubject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85888" y="3826669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request()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09385" y="3428048"/>
              <a:ext cx="36332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Proxy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090988" y="3657124"/>
              <a:ext cx="10327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real: RealSubject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090988" y="3900964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request()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845118" y="3523298"/>
              <a:ext cx="78581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865564" y="3547586"/>
              <a:ext cx="7458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realSubject</a:t>
              </a:r>
            </a:p>
          </p:txBody>
        </p:sp>
      </p:grpSp>
      <p:grpSp>
        <p:nvGrpSpPr>
          <p:cNvPr id="39" name="c1-text-2"/>
          <p:cNvGrpSpPr/>
          <p:nvPr/>
        </p:nvGrpSpPr>
        <p:grpSpPr>
          <a:xfrm>
            <a:off x="1649654" y="4519136"/>
            <a:ext cx="3177692" cy="220028"/>
            <a:chOff x="1649654" y="4519136"/>
            <a:chExt cx="3177692" cy="220028"/>
          </a:xfrm>
        </p:grpSpPr>
        <p:sp>
          <p:nvSpPr>
            <p:cNvPr id="38" name="TextBox 38"/>
            <p:cNvSpPr txBox="1"/>
            <p:nvPr/>
          </p:nvSpPr>
          <p:spPr>
            <a:xfrm>
              <a:off x="1649654" y="4519136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代理和真对象实现同一个接口，客户端只认接口</a:t>
              </a:r>
            </a:p>
          </p:txBody>
        </p:sp>
      </p:grpSp>
      <p:grpSp>
        <p:nvGrpSpPr>
          <p:cNvPr id="46" name="c1-callout-3"/>
          <p:cNvGrpSpPr/>
          <p:nvPr/>
        </p:nvGrpSpPr>
        <p:grpSpPr>
          <a:xfrm>
            <a:off x="533400" y="4869180"/>
            <a:ext cx="5410200" cy="729615"/>
            <a:chOff x="533400" y="4869180"/>
            <a:chExt cx="5410200" cy="729615"/>
          </a:xfrm>
        </p:grpSpPr>
        <p:sp>
          <p:nvSpPr>
            <p:cNvPr id="40" name="Rectangle 40"/>
            <p:cNvSpPr/>
            <p:nvPr/>
          </p:nvSpPr>
          <p:spPr>
            <a:xfrm>
              <a:off x="533400" y="4869180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133975"/>
              <a:ext cx="200026" cy="200025"/>
              <a:chOff x="738188" y="5133975"/>
              <a:chExt cx="200026" cy="20002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1339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77926" y="51784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12642" y="52895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892" y="5015865"/>
              <a:ext cx="434282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request() 里先做控制（权限、计费、延迟创建、远程转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发），再调 real.request()。</a:t>
              </a:r>
            </a:p>
          </p:txBody>
        </p:sp>
      </p:grpSp>
      <p:grpSp>
        <p:nvGrpSpPr>
          <p:cNvPr id="66" name="c2-uml-1"/>
          <p:cNvGrpSpPr/>
          <p:nvPr/>
        </p:nvGrpSpPr>
        <p:grpSpPr>
          <a:xfrm>
            <a:off x="8343900" y="2176462"/>
            <a:ext cx="1737360" cy="1830706"/>
            <a:chOff x="8343900" y="2176462"/>
            <a:chExt cx="1737360" cy="1830706"/>
          </a:xfrm>
        </p:grpSpPr>
        <p:sp>
          <p:nvSpPr>
            <p:cNvPr id="47" name="Freeform 47"/>
            <p:cNvSpPr/>
            <p:nvPr/>
          </p:nvSpPr>
          <p:spPr>
            <a:xfrm>
              <a:off x="9563100" y="2382202"/>
              <a:ext cx="323850" cy="310515"/>
            </a:xfrm>
            <a:custGeom>
              <a:avLst/>
              <a:gdLst/>
              <a:ahLst/>
              <a:cxnLst/>
              <a:rect l="l" t="t" r="r" b="b"/>
              <a:pathLst>
                <a:path w="323850" h="310515">
                  <a:moveTo>
                    <a:pt x="0" y="310515"/>
                  </a:moveTo>
                  <a:lnTo>
                    <a:pt x="323850" y="310515"/>
                  </a:lnTo>
                  <a:lnTo>
                    <a:pt x="323850" y="0"/>
                  </a:lnTo>
                  <a:lnTo>
                    <a:pt x="2095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9563100" y="2325052"/>
              <a:ext cx="209550" cy="115252"/>
            </a:xfrm>
            <a:custGeom>
              <a:avLst/>
              <a:gdLst/>
              <a:ahLst/>
              <a:cxnLst/>
              <a:rect l="l" t="t" r="r" b="b"/>
              <a:pathLst>
                <a:path w="209550" h="115252">
                  <a:moveTo>
                    <a:pt x="0" y="57150"/>
                  </a:moveTo>
                  <a:lnTo>
                    <a:pt x="104775" y="0"/>
                  </a:lnTo>
                  <a:lnTo>
                    <a:pt x="209550" y="57150"/>
                  </a:lnTo>
                  <a:lnTo>
                    <a:pt x="104775" y="115252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8953500" y="3015615"/>
              <a:ext cx="9525" cy="435292"/>
            </a:xfrm>
            <a:custGeom>
              <a:avLst/>
              <a:gdLst/>
              <a:ahLst/>
              <a:cxnLst/>
              <a:rect l="l" t="t" r="r" b="b"/>
              <a:pathLst>
                <a:path w="9525" h="435292">
                  <a:moveTo>
                    <a:pt x="0" y="435292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8880158" y="288988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343900" y="2185035"/>
              <a:ext cx="1220152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8350568" y="2191702"/>
              <a:ext cx="1205865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8343900" y="2397442"/>
              <a:ext cx="122015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8343900" y="2641282"/>
              <a:ext cx="122015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378190" y="3450908"/>
              <a:ext cx="115062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385810" y="3458528"/>
              <a:ext cx="113633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378190" y="3663315"/>
              <a:ext cx="115062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8378190" y="3758565"/>
              <a:ext cx="115062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717897" y="2236470"/>
              <a:ext cx="4712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Handler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415338" y="2465546"/>
              <a:ext cx="11450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successor: Handler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415338" y="2709386"/>
              <a:ext cx="9907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handleRequest()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436033" y="3502342"/>
              <a:ext cx="10349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ConcreteHandler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449628" y="3826669"/>
              <a:ext cx="9907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handleRequest()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369742" y="2176462"/>
              <a:ext cx="71151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393551" y="2200751"/>
              <a:ext cx="6629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successor</a:t>
              </a:r>
            </a:p>
          </p:txBody>
        </p:sp>
      </p:grpSp>
      <p:grpSp>
        <p:nvGrpSpPr>
          <p:cNvPr id="68" name="c2-text-2"/>
          <p:cNvGrpSpPr/>
          <p:nvPr/>
        </p:nvGrpSpPr>
        <p:grpSpPr>
          <a:xfrm>
            <a:off x="7195033" y="4519136"/>
            <a:ext cx="3516935" cy="220028"/>
            <a:chOff x="7195033" y="4519136"/>
            <a:chExt cx="3516935" cy="220028"/>
          </a:xfrm>
        </p:grpSpPr>
        <p:sp>
          <p:nvSpPr>
            <p:cNvPr id="67" name="TextBox 67"/>
            <p:cNvSpPr txBox="1"/>
            <p:nvPr/>
          </p:nvSpPr>
          <p:spPr>
            <a:xfrm>
              <a:off x="7195033" y="4519136"/>
              <a:ext cx="35169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successor 指向自己这个类型，链就是这样串起来的</a:t>
              </a:r>
            </a:p>
          </p:txBody>
        </p:sp>
      </p:grpSp>
      <p:grpSp>
        <p:nvGrpSpPr>
          <p:cNvPr id="75" name="c2-callout-3"/>
          <p:cNvGrpSpPr/>
          <p:nvPr/>
        </p:nvGrpSpPr>
        <p:grpSpPr>
          <a:xfrm>
            <a:off x="6248400" y="4869180"/>
            <a:ext cx="5410200" cy="729615"/>
            <a:chOff x="6248400" y="4869180"/>
            <a:chExt cx="5410200" cy="729615"/>
          </a:xfrm>
        </p:grpSpPr>
        <p:sp>
          <p:nvSpPr>
            <p:cNvPr id="69" name="Rectangle 69"/>
            <p:cNvSpPr/>
            <p:nvPr/>
          </p:nvSpPr>
          <p:spPr>
            <a:xfrm>
              <a:off x="6248400" y="4869180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6453188" y="5133975"/>
              <a:ext cx="200026" cy="200025"/>
              <a:chOff x="6453188" y="5133975"/>
              <a:chExt cx="200026" cy="200025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6453188" y="51339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492926" y="51784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527642" y="52895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6755892" y="5015865"/>
              <a:ext cx="417995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handleRequest() 里先判断自己能不能处理，不能就调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successor.handleRequest()。</a:t>
              </a:r>
            </a:p>
          </p:txBody>
        </p:sp>
      </p:grpSp>
      <p:grpSp>
        <p:nvGrpSpPr>
          <p:cNvPr id="8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6" name="Rectangle 7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1040892" y="6023610"/>
              <a:ext cx="103727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两者都在客户端和真正干活的对象之间插了一层。代理那一层只有一个且处理者确定，职责链那一层有一串且运行期才知道是谁。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 · 特殊目的与全课对照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访问者：两个方向同时变，必须有一边稳定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794167" cy="264033"/>
            <a:chOff x="526542" y="1545907"/>
            <a:chExt cx="979416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7941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课件用动物吃食物举例。Animal 的子类会增加，Food 的子类也会增加，还要不断增加新的行为，f() 的实现就稳不下来。</a:t>
              </a:r>
            </a:p>
          </p:txBody>
        </p:sp>
      </p:grpSp>
      <p:grpSp>
        <p:nvGrpSpPr>
          <p:cNvPr id="50" name="c1-uml-1"/>
          <p:cNvGrpSpPr/>
          <p:nvPr/>
        </p:nvGrpSpPr>
        <p:grpSpPr>
          <a:xfrm>
            <a:off x="791528" y="2332672"/>
            <a:ext cx="4461510" cy="2406968"/>
            <a:chOff x="791528" y="2332672"/>
            <a:chExt cx="4461510" cy="2406968"/>
          </a:xfrm>
        </p:grpSpPr>
        <p:sp>
          <p:nvSpPr>
            <p:cNvPr id="9" name="Freeform 9"/>
            <p:cNvSpPr/>
            <p:nvPr/>
          </p:nvSpPr>
          <p:spPr>
            <a:xfrm>
              <a:off x="1363028" y="3152775"/>
              <a:ext cx="1564005" cy="957262"/>
            </a:xfrm>
            <a:custGeom>
              <a:avLst/>
              <a:gdLst/>
              <a:ahLst/>
              <a:cxnLst/>
              <a:rect l="l" t="t" r="r" b="b"/>
              <a:pathLst>
                <a:path w="1564005" h="957262">
                  <a:moveTo>
                    <a:pt x="0" y="957262"/>
                  </a:moveTo>
                  <a:lnTo>
                    <a:pt x="0" y="415290"/>
                  </a:lnTo>
                  <a:lnTo>
                    <a:pt x="1564005" y="415290"/>
                  </a:lnTo>
                  <a:lnTo>
                    <a:pt x="156400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853690" y="302704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022282" y="3152775"/>
              <a:ext cx="95250" cy="957262"/>
            </a:xfrm>
            <a:custGeom>
              <a:avLst/>
              <a:gdLst/>
              <a:ahLst/>
              <a:cxnLst/>
              <a:rect l="l" t="t" r="r" b="b"/>
              <a:pathLst>
                <a:path w="95250" h="957262">
                  <a:moveTo>
                    <a:pt x="0" y="957262"/>
                  </a:moveTo>
                  <a:lnTo>
                    <a:pt x="0" y="415290"/>
                  </a:lnTo>
                  <a:lnTo>
                    <a:pt x="95250" y="415290"/>
                  </a:lnTo>
                  <a:lnTo>
                    <a:pt x="952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044190" y="302704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681538" y="3289935"/>
              <a:ext cx="9525" cy="744855"/>
            </a:xfrm>
            <a:custGeom>
              <a:avLst/>
              <a:gdLst/>
              <a:ahLst/>
              <a:cxnLst/>
              <a:rect l="l" t="t" r="r" b="b"/>
              <a:pathLst>
                <a:path w="9525" h="744855">
                  <a:moveTo>
                    <a:pt x="0" y="74485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4608195" y="316420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593782" y="2747962"/>
              <a:ext cx="516255" cy="9525"/>
            </a:xfrm>
            <a:custGeom>
              <a:avLst/>
              <a:gdLst/>
              <a:ahLst/>
              <a:cxnLst/>
              <a:rect l="l" t="t" r="r" b="b"/>
              <a:pathLst>
                <a:path w="516255" h="9525">
                  <a:moveTo>
                    <a:pt x="0" y="0"/>
                  </a:moveTo>
                  <a:lnTo>
                    <a:pt x="51625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4005262" y="2690812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0" y="115253"/>
                  </a:moveTo>
                  <a:lnTo>
                    <a:pt x="104775" y="571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450782" y="2469832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457450" y="2477452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2450782" y="268224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2450782" y="277749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110038" y="2332672"/>
              <a:ext cx="1143000" cy="83058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116705" y="2340292"/>
              <a:ext cx="1128712" cy="33528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110038" y="267081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4110038" y="276606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91528" y="4110038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798195" y="4116705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91528" y="432244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91528" y="441769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2450782" y="4110038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457450" y="4116705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450782" y="432244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2450782" y="441769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110038" y="4034790"/>
              <a:ext cx="11430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116705" y="404241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110038" y="424719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110038" y="434244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875602" y="2521268"/>
              <a:ext cx="2933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Food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522220" y="2845594"/>
              <a:ext cx="96299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accept(Visitor)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383976" y="2381250"/>
              <a:ext cx="59512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461965" y="2509838"/>
              <a:ext cx="4391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Visitor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181475" y="2834164"/>
              <a:ext cx="696849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visit(Meat)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visit(Bone)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203446" y="4161473"/>
              <a:ext cx="3191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Meat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62965" y="4485799"/>
              <a:ext cx="96299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accept(Visitor)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875602" y="4161473"/>
              <a:ext cx="2933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Bone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522220" y="4485799"/>
              <a:ext cx="96299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accept(Visitor)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355135" y="4086225"/>
              <a:ext cx="6528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EatVisitor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181475" y="4410551"/>
              <a:ext cx="696849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visit(Meat)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visit(Bone)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3689985" y="2551748"/>
              <a:ext cx="3238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725989" y="257460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回调</a:t>
              </a:r>
            </a:p>
          </p:txBody>
        </p:sp>
      </p:grpSp>
      <p:grpSp>
        <p:nvGrpSpPr>
          <p:cNvPr id="54" name="c2-code-1"/>
          <p:cNvGrpSpPr/>
          <p:nvPr/>
        </p:nvGrpSpPr>
        <p:grpSpPr>
          <a:xfrm>
            <a:off x="5815965" y="1928812"/>
            <a:ext cx="5842635" cy="2901315"/>
            <a:chOff x="5815965" y="1928812"/>
            <a:chExt cx="5842635" cy="2901315"/>
          </a:xfrm>
        </p:grpSpPr>
        <p:sp>
          <p:nvSpPr>
            <p:cNvPr id="51" name="Rectangle 51"/>
            <p:cNvSpPr/>
            <p:nvPr/>
          </p:nvSpPr>
          <p:spPr>
            <a:xfrm>
              <a:off x="5815965" y="1928812"/>
              <a:ext cx="5842635" cy="2901315"/>
            </a:xfrm>
            <a:prstGeom prst="roundRect">
              <a:avLst>
                <a:gd name="adj" fmla="val 328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944362" y="2080736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双分派：两次虚调用定位到一个组合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944552" y="2339816"/>
              <a:ext cx="3034792" cy="2405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Food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accept(Visitor v);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Meat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Food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accept(Visitor v)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v.visit(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第二步：按自身类型选重载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Visitor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visit(Meat m);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visit(Bone b);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EatVisitor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Visitor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visit(Meat m) {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吃肉 */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visit(Bone b) {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啃骨头 */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61" name="c2-callout-2"/>
          <p:cNvGrpSpPr/>
          <p:nvPr/>
        </p:nvGrpSpPr>
        <p:grpSpPr>
          <a:xfrm>
            <a:off x="5815965" y="4994910"/>
            <a:ext cx="5842635" cy="702945"/>
            <a:chOff x="5815965" y="4994910"/>
            <a:chExt cx="5842635" cy="702945"/>
          </a:xfrm>
        </p:grpSpPr>
        <p:sp>
          <p:nvSpPr>
            <p:cNvPr id="55" name="Rectangle 55"/>
            <p:cNvSpPr/>
            <p:nvPr/>
          </p:nvSpPr>
          <p:spPr>
            <a:xfrm>
              <a:off x="5815965" y="4994910"/>
              <a:ext cx="5842635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008694" y="5242678"/>
              <a:ext cx="224134" cy="192560"/>
              <a:chOff x="6008694" y="5242678"/>
              <a:chExt cx="224134" cy="19256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120765" y="531304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008694" y="524267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120765" y="53908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323838" y="5140166"/>
              <a:ext cx="48084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课件的原话是“各方妥协”：需求方要保证 Animal 和 Food 至少一边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的子类数量稳定。稳定的那一边做元素，会长的那一边做访问者。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2" name="Rectangle 6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1273" y="6039326"/>
              <a:ext cx="98667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元素类里的 accept() 是第一次分派（定下是哪种 Food），visit() 的重载是第二次分派（定下是哪种行为），合起来叫双分派。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 · 特殊目的与全课对照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全课总对照（上）：接口变化的七个入口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5" name="c1-table-1"/>
          <p:cNvGrpSpPr/>
          <p:nvPr/>
        </p:nvGrpSpPr>
        <p:grpSpPr>
          <a:xfrm>
            <a:off x="533400" y="1524000"/>
            <a:ext cx="11125200" cy="3050858"/>
            <a:chOff x="533400" y="1524000"/>
            <a:chExt cx="11125200" cy="30508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38100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10094" y="1641157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变化在哪里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857560" y="1641157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不用模式时的症状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227058" y="1641157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模式（讲次）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078" y="202311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已有类能干活但签名不对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297936" y="202311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接口不兼容，源码还改不了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48016" y="2023110"/>
              <a:ext cx="8729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适配器（20）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2821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286952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078" y="240411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抽象与实现两个维度同时变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97936" y="240411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子类数量按乘法增长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62862" y="2296478"/>
              <a:ext cx="3986212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48016" y="2404110"/>
              <a:ext cx="731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桥接（21）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6631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278511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整体与部分要一致对待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97936" y="278511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客户端要分别处理单个对象和容器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48016" y="2785110"/>
              <a:ext cx="731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组合（22）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045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04990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8078" y="316706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子系统入口太多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97936" y="316706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要认识一堆类，还要知道调用顺序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48016" y="3167062"/>
              <a:ext cx="731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外观（24）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426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8078" y="354806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遍历方式要统一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97936" y="354806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换一种容器，遍历代码就得重写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48016" y="3548062"/>
              <a:ext cx="8729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迭代器（33）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807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81190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078" y="393001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通知方式要统一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297936" y="3930015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状态一变要挨个去调别人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48016" y="3930015"/>
              <a:ext cx="8729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观察者（36）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1890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28078" y="431101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调用接口要长期稳定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297936" y="4311015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每加一种操作就往类上加一个方法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48016" y="4311015"/>
              <a:ext cx="17351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命令（31）、解释器（32）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1524000"/>
              <a:ext cx="11125200" cy="3050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3198495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648575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1-card-2"/>
          <p:cNvGrpSpPr/>
          <p:nvPr/>
        </p:nvGrpSpPr>
        <p:grpSpPr>
          <a:xfrm>
            <a:off x="533400" y="4739640"/>
            <a:ext cx="11125200" cy="1623060"/>
            <a:chOff x="533400" y="4739640"/>
            <a:chExt cx="11125200" cy="1623060"/>
          </a:xfrm>
        </p:grpSpPr>
        <p:sp>
          <p:nvSpPr>
            <p:cNvPr id="46" name="Rectangle 46"/>
            <p:cNvSpPr/>
            <p:nvPr/>
          </p:nvSpPr>
          <p:spPr>
            <a:xfrm>
              <a:off x="533400" y="4739640"/>
              <a:ext cx="11125200" cy="1623060"/>
            </a:xfrm>
            <a:prstGeom prst="roundRect">
              <a:avLst>
                <a:gd name="adj" fmla="val 821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14375" y="492061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02996" y="495347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共同点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405128" y="496014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七行做的是同一件事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07898" y="5277326"/>
              <a:ext cx="90938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都在客户端和具体类之间插一层不会变的抽象，区别只在那一层叫什么、朝哪个方向连。创建型那一组已列在第 13 页。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23900" y="561498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79348" y="5562124"/>
              <a:ext cx="5182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适配器与桥接：一个事后弥合既成接口，一个事前分开两个变化维度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23900" y="589978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79348" y="5846921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组合与装饰：一个是树形的整体与部分，一个是单向包装链，只为增强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 · 特殊目的与全课对照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全课总对照（下）：实现变化与特殊目的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0" name="c1-table-1"/>
          <p:cNvGrpSpPr/>
          <p:nvPr/>
        </p:nvGrpSpPr>
        <p:grpSpPr>
          <a:xfrm>
            <a:off x="528066" y="1524000"/>
            <a:ext cx="11130534" cy="4743069"/>
            <a:chOff x="528066" y="1524000"/>
            <a:chExt cx="11130534" cy="474306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86154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变化在哪里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819485" y="164830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不用模式时的症状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198407" y="164830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模式（讲次）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05406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要给对象加功能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03270" y="2054066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用派生子类去组合功能，类的数量爆炸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53350" y="2054066"/>
              <a:ext cx="7803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装饰（23）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30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3553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4598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算法不同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03270" y="2459831"/>
              <a:ext cx="27178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一串 if-else 在选算法，加一种就改一次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53350" y="2459831"/>
              <a:ext cx="7803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策略（38）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365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28655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状态不同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03270" y="2865596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每个方法开头都在判断当前是哪个状态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53350" y="2865596"/>
              <a:ext cx="7803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状态（37）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422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4706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327136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子步骤不同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303270" y="327136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流程完全一样，只有中间一两步要换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53350" y="3271361"/>
              <a:ext cx="1081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模板方法（39）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5480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367712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交互过于复杂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303270" y="367712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对象两两相连成网，改一个牵动一片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53350" y="3677126"/>
              <a:ext cx="931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中介者（34）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9538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95859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3412" y="408289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数据要存档和回滚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303270" y="408289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想撤销，可私有状态又不该暴露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53350" y="4082891"/>
              <a:ext cx="931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备忘录（35）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3595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3412" y="44886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数据要共享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303270" y="4488656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同类细粒度对象数量巨大，内存撑不住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662862" y="4373880"/>
              <a:ext cx="398621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753350" y="4488656"/>
              <a:ext cx="7803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享元（25）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4765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3400" y="477012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3412" y="489442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隐藏实现细节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303270" y="489442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不想让调用方看见内部类和数据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753350" y="4894421"/>
              <a:ext cx="22738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代理（26）、PImpl（21 的退化）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51711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3412" y="530018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消息沿对象链传递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303270" y="530018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谁来处理这个请求，运行期才知道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53350" y="5300186"/>
              <a:ext cx="931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职责链（30）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55768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33400" y="558165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3412" y="570595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多个方向同时变化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303270" y="5705951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元素类要增加，作用其上的操作也要增加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753350" y="5705951"/>
              <a:ext cx="9405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访问者（3A）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3400" y="1524000"/>
              <a:ext cx="11125200" cy="44634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3198495" y="1524000"/>
              <a:ext cx="9525" cy="44634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648575" y="1524000"/>
              <a:ext cx="9525" cy="44634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28066" y="6061710"/>
              <a:ext cx="6088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前七行属实现变化，后三行属特殊目的：不为适应变化，而为隐藏细节、传递消息、两头同时扩展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 · 特殊目的与全课对照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答题范式：给一个场景，四步写出答案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010144" cy="264033"/>
            <a:chOff x="526542" y="1545907"/>
            <a:chExt cx="801014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0101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选模式题的分数大多给在推理过程上。按下面四步写，即使模式选得不是最优，前三步也能拿到分。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38338"/>
            <a:ext cx="3548291" cy="2342768"/>
            <a:chOff x="533400" y="1938338"/>
            <a:chExt cx="3548291" cy="2342768"/>
          </a:xfrm>
        </p:grpSpPr>
        <p:sp>
          <p:nvSpPr>
            <p:cNvPr id="9" name="Rectangle 9"/>
            <p:cNvSpPr/>
            <p:nvPr/>
          </p:nvSpPr>
          <p:spPr>
            <a:xfrm>
              <a:off x="666750" y="2081212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38338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490788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044190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18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59759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6714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196834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说出变化点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7166" y="2223135"/>
              <a:ext cx="31345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用一句话指出“以后什么东西会变，会变几个方向”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252174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给两个候选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2776538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从总对照表的左列定位，写出两个模式名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307514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排除一个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166" y="3328988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用被排除那个模式的适用条件说明它为什么不合适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62759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写角色映射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166" y="3882390"/>
              <a:ext cx="307771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把题目里的类名填进选中模式的角色表，一个角色一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</a:t>
              </a:r>
            </a:p>
          </p:txBody>
        </p:sp>
      </p:grpSp>
      <p:grpSp>
        <p:nvGrpSpPr>
          <p:cNvPr id="33" name="c1-callout-2"/>
          <p:cNvGrpSpPr/>
          <p:nvPr/>
        </p:nvGrpSpPr>
        <p:grpSpPr>
          <a:xfrm>
            <a:off x="533400" y="4442460"/>
            <a:ext cx="3678555" cy="902018"/>
            <a:chOff x="533400" y="4442460"/>
            <a:chExt cx="3678555" cy="902018"/>
          </a:xfrm>
        </p:grpSpPr>
        <p:sp>
          <p:nvSpPr>
            <p:cNvPr id="27" name="Rectangle 27"/>
            <p:cNvSpPr/>
            <p:nvPr/>
          </p:nvSpPr>
          <p:spPr>
            <a:xfrm>
              <a:off x="533400" y="4442460"/>
              <a:ext cx="3678555" cy="902018"/>
            </a:xfrm>
            <a:prstGeom prst="roundRect">
              <a:avLst>
                <a:gd name="adj" fmla="val 1267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26129" y="4790241"/>
              <a:ext cx="224134" cy="192560"/>
              <a:chOff x="726129" y="4790241"/>
              <a:chExt cx="224134" cy="19256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38200" y="486060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26129" y="479024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38200" y="493839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1273" y="4687729"/>
              <a:ext cx="27764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不要跳过第三步。只写结论不写排除理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由，阅卷时和猜的没有区别。</a:t>
              </a:r>
            </a:p>
          </p:txBody>
        </p:sp>
      </p:grpSp>
      <p:grpSp>
        <p:nvGrpSpPr>
          <p:cNvPr id="69" name="c2-table-1"/>
          <p:cNvGrpSpPr/>
          <p:nvPr/>
        </p:nvGrpSpPr>
        <p:grpSpPr>
          <a:xfrm>
            <a:off x="4516755" y="1928812"/>
            <a:ext cx="7141845" cy="3416618"/>
            <a:chOff x="4516755" y="1928812"/>
            <a:chExt cx="7141845" cy="3416618"/>
          </a:xfrm>
        </p:grpSpPr>
        <p:sp>
          <p:nvSpPr>
            <p:cNvPr id="34" name="Rectangle 34"/>
            <p:cNvSpPr/>
            <p:nvPr/>
          </p:nvSpPr>
          <p:spPr>
            <a:xfrm>
              <a:off x="4516755" y="1928812"/>
              <a:ext cx="7141845" cy="38100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870133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81572" y="204597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示范一：日志系统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269730" y="204597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示范二：文本编辑器的撤销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11434" y="25203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题干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611559" y="2426970"/>
              <a:ext cx="26776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要支持写文件、写数据库、写远程服务，以后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还会加新目标，客户端不应知道用的是哪一种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82418" y="2426970"/>
              <a:ext cx="26776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要支持不限步数的撤销，被撤销的内容是编辑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器的私有字段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516755" y="2873692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516755" y="2878455"/>
              <a:ext cx="714184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611434" y="299561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变化点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11559" y="299561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产品类型会增加，只有一个产品等级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682418" y="299561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需要保存并恢复对象在某一时刻的私有状态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4516755" y="3254692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611434" y="337661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候选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611559" y="3376612"/>
              <a:ext cx="21592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工厂方法（11）、抽象工厂（12）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682418" y="3376612"/>
              <a:ext cx="17351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备忘录（35）、命令（31）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516755" y="3635692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4516755" y="3640455"/>
              <a:ext cx="7141845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611434" y="38519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排除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611559" y="3758565"/>
              <a:ext cx="26776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抽象工厂用于一族配套产品，这里只有日志一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个产品等级，用不上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82418" y="3758565"/>
              <a:ext cx="269100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命令靠逆操作撤销，而“全文替换”这类操作没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有现成的逆操作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516755" y="4204335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611434" y="432625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选中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526405" y="4218622"/>
              <a:ext cx="305181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611559" y="4326255"/>
              <a:ext cx="10142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工厂方法（11）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597265" y="4218622"/>
              <a:ext cx="305181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682418" y="4326255"/>
              <a:ext cx="24419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备忘录（35），撤销栈配合命令（31）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4516755" y="4585335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4516755" y="4590098"/>
              <a:ext cx="7141845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611434" y="489394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角色映射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611559" y="4707255"/>
              <a:ext cx="2530983" cy="578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Logger 抽象产品｜FileLogger 具体产品｜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LoggerFactory 抽象工厂｜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FileLoggerFactory 具体工厂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682418" y="4800600"/>
              <a:ext cx="2537650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Editor 原发器｜EditorMemento 备忘录｜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History 负责人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4516755" y="1928812"/>
              <a:ext cx="7141845" cy="34166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5512118" y="1928812"/>
              <a:ext cx="9525" cy="34166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8582978" y="1928812"/>
              <a:ext cx="9525" cy="34166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0" name="Rectangle 7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1273" y="6039326"/>
              <a:ext cx="79393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角色映射这一行是拿满分的关键，它同时证明了你记得该模式有几个角色，也证明你读懂了题目里的类。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04489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7287" y="407194"/>
              <a:ext cx="836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自测（一）：主线与创建型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465826" cy="264033"/>
            <a:chOff x="526542" y="1545907"/>
            <a:chExt cx="546582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先自己答，再看答案。答不上来的，回到括号里标出的那一讲重读。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5410200" cy="1428750"/>
            <a:chOff x="533400" y="1928812"/>
            <a:chExt cx="5410200" cy="142875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职责变化和实现变化怎么区分？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735104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动了对外接口叫职责变化，只改方法体和私有数据叫实现变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522345"/>
            <a:ext cx="5410200" cy="1185862"/>
            <a:chOff x="533400" y="3522345"/>
            <a:chExt cx="5410200" cy="1185862"/>
          </a:xfrm>
        </p:grpSpPr>
        <p:sp>
          <p:nvSpPr>
            <p:cNvPr id="15" name="Rectangle 15"/>
            <p:cNvSpPr/>
            <p:nvPr/>
          </p:nvSpPr>
          <p:spPr>
            <a:xfrm>
              <a:off x="533400" y="3522345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370332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373618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043839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只用继承适应变化，会碰到什么问题？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4328636"/>
              <a:ext cx="483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子类数量按变化维度相乘增长，而且必须拿得到父类源码。</a:t>
              </a:r>
            </a:p>
          </p:txBody>
        </p:sp>
      </p:grpSp>
      <p:grpSp>
        <p:nvGrpSpPr>
          <p:cNvPr id="26" name="c1-card-3"/>
          <p:cNvGrpSpPr/>
          <p:nvPr/>
        </p:nvGrpSpPr>
        <p:grpSpPr>
          <a:xfrm>
            <a:off x="533400" y="4873942"/>
            <a:ext cx="5410200" cy="1185862"/>
            <a:chOff x="533400" y="4873942"/>
            <a:chExt cx="5410200" cy="1185862"/>
          </a:xfrm>
        </p:grpSpPr>
        <p:sp>
          <p:nvSpPr>
            <p:cNvPr id="21" name="Rectangle 21"/>
            <p:cNvSpPr/>
            <p:nvPr/>
          </p:nvSpPr>
          <p:spPr>
            <a:xfrm>
              <a:off x="533400" y="4873942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14375" y="505491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03832" y="508777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7898" y="5394484"/>
              <a:ext cx="33136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“结合水平关系与子类型化”具体是哪两步？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7898" y="5679281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先抽出接口让实现可替换，再用组合持有这个接口。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248400" y="1928812"/>
            <a:ext cx="5410200" cy="1185862"/>
            <a:chOff x="6248400" y="1928812"/>
            <a:chExt cx="5410200" cy="1185862"/>
          </a:xfrm>
        </p:grpSpPr>
        <p:sp>
          <p:nvSpPr>
            <p:cNvPr id="27" name="Rectangle 27"/>
            <p:cNvSpPr/>
            <p:nvPr/>
          </p:nvSpPr>
          <p:spPr>
            <a:xfrm>
              <a:off x="6248400" y="1928812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29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18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2898" y="244935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白盒复用和黑盒复用各指什么？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2898" y="2735104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白盒是继承，看得见父类内部；黑盒是组合，只用对方接口。</a:t>
              </a:r>
            </a:p>
          </p:txBody>
        </p:sp>
      </p:grpSp>
      <p:grpSp>
        <p:nvGrpSpPr>
          <p:cNvPr id="38" name="c2-card-2"/>
          <p:cNvGrpSpPr/>
          <p:nvPr/>
        </p:nvGrpSpPr>
        <p:grpSpPr>
          <a:xfrm>
            <a:off x="6248400" y="3279458"/>
            <a:ext cx="5410200" cy="1185862"/>
            <a:chOff x="6248400" y="3279458"/>
            <a:chExt cx="5410200" cy="1185862"/>
          </a:xfrm>
        </p:grpSpPr>
        <p:sp>
          <p:nvSpPr>
            <p:cNvPr id="33" name="Rectangle 33"/>
            <p:cNvSpPr/>
            <p:nvPr/>
          </p:nvSpPr>
          <p:spPr>
            <a:xfrm>
              <a:off x="6248400" y="3279458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29375" y="346043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18832" y="349329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22898" y="380095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只用组合委托，又会碰到什么问题？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22898" y="4085749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受托对象和自己类型不一致，顶替不了原来那个对象。</a:t>
              </a:r>
            </a:p>
          </p:txBody>
        </p:sp>
      </p:grpSp>
      <p:grpSp>
        <p:nvGrpSpPr>
          <p:cNvPr id="44" name="c2-card-3"/>
          <p:cNvGrpSpPr/>
          <p:nvPr/>
        </p:nvGrpSpPr>
        <p:grpSpPr>
          <a:xfrm>
            <a:off x="6248400" y="4631055"/>
            <a:ext cx="5410200" cy="1428750"/>
            <a:chOff x="6248400" y="4631055"/>
            <a:chExt cx="5410200" cy="1428750"/>
          </a:xfrm>
        </p:grpSpPr>
        <p:sp>
          <p:nvSpPr>
            <p:cNvPr id="39" name="Rectangle 39"/>
            <p:cNvSpPr/>
            <p:nvPr/>
          </p:nvSpPr>
          <p:spPr>
            <a:xfrm>
              <a:off x="6248400" y="4631055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29375" y="481203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18832" y="484489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22898" y="515159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创建型模式统一在解决什么？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22898" y="5436394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各类型对象的静态创建与动态切换，也就是用哪个类、造几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04489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7287" y="407194"/>
              <a:ext cx="836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自测（二）：辨析与查表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185862"/>
            <a:chOff x="533400" y="1524000"/>
            <a:chExt cx="5410200" cy="11858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7898" y="204549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工厂方法和抽象工厂的分水岭在哪？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7898" y="2330291"/>
              <a:ext cx="483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具体工厂交出的是一件产品，还是一整族必须配套的产品。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874645"/>
            <a:ext cx="5410200" cy="1185862"/>
            <a:chOff x="533400" y="2874645"/>
            <a:chExt cx="5410200" cy="1185862"/>
          </a:xfrm>
        </p:grpSpPr>
        <p:sp>
          <p:nvSpPr>
            <p:cNvPr id="13" name="Rectangle 13"/>
            <p:cNvSpPr/>
            <p:nvPr/>
          </p:nvSpPr>
          <p:spPr>
            <a:xfrm>
              <a:off x="533400" y="2874645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14375" y="305562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3832" y="308848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7898" y="339613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装饰和代理都包一层，区别在哪？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7898" y="3680936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装饰为加功能且可多层叠加，代理为控制访问且通常只一层。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226242"/>
            <a:ext cx="5410200" cy="1185862"/>
            <a:chOff x="533400" y="4226242"/>
            <a:chExt cx="5410200" cy="1185862"/>
          </a:xfrm>
        </p:grpSpPr>
        <p:sp>
          <p:nvSpPr>
            <p:cNvPr id="19" name="Rectangle 19"/>
            <p:cNvSpPr/>
            <p:nvPr/>
          </p:nvSpPr>
          <p:spPr>
            <a:xfrm>
              <a:off x="533400" y="4226242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14375" y="440721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3832" y="444007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7898" y="474678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享元的内蕴状态和外蕴状态怎么分？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7898" y="5032534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不随使用环境变化、能被共享的是内蕴，其余都是外蕴。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185862"/>
            <a:chOff x="6248400" y="1524000"/>
            <a:chExt cx="5410200" cy="118586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29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18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2898" y="204549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桥接和适配器的区别是什么？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2898" y="2330291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桥接事前把两个维度分开，适配器事后弥合既成的接口。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874645"/>
            <a:ext cx="5410200" cy="1185862"/>
            <a:chOff x="6248400" y="2874645"/>
            <a:chExt cx="5410200" cy="1185862"/>
          </a:xfrm>
        </p:grpSpPr>
        <p:sp>
          <p:nvSpPr>
            <p:cNvPr id="31" name="Rectangle 31"/>
            <p:cNvSpPr/>
            <p:nvPr/>
          </p:nvSpPr>
          <p:spPr>
            <a:xfrm>
              <a:off x="6248400" y="2874645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29375" y="305562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18832" y="308848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2898" y="3396139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状态和策略类图几乎一样，靠什么分？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2898" y="3680936"/>
              <a:ext cx="483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策略由客户端挑算法，状态由状态对象自己决定切到哪个。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226242"/>
            <a:ext cx="5410200" cy="1185862"/>
            <a:chOff x="6248400" y="4226242"/>
            <a:chExt cx="5410200" cy="1185862"/>
          </a:xfrm>
        </p:grpSpPr>
        <p:sp>
          <p:nvSpPr>
            <p:cNvPr id="37" name="Rectangle 37"/>
            <p:cNvSpPr/>
            <p:nvPr/>
          </p:nvSpPr>
          <p:spPr>
            <a:xfrm>
              <a:off x="6248400" y="4226242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29375" y="440721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18832" y="444007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22898" y="474678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访问者要求哪一边必须稳定？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22898" y="5032534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被访问的元素类层次要稳定，新增操作才能只加访问者。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3" name="Rectangle 4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1273" y="6039326"/>
              <a:ext cx="69054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六道辨析题的答法都是同一个模板：先说用途差别，再说绑定时机或结构差别，两句写完。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04489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7287" y="407194"/>
              <a:ext cx="836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90 课程总结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3525"/>
            <a:ext cx="5452110" cy="2161508"/>
            <a:chOff x="533400" y="1533525"/>
            <a:chExt cx="5452110" cy="2161508"/>
          </a:xfrm>
        </p:grpSpPr>
        <p:sp>
          <p:nvSpPr>
            <p:cNvPr id="7" name="Ellipse 7"/>
            <p:cNvSpPr/>
            <p:nvPr/>
          </p:nvSpPr>
          <p:spPr>
            <a:xfrm>
              <a:off x="533400" y="153352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5307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3148" y="1545431"/>
              <a:ext cx="48845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课程要求三条：类间关系与 UML、七条设计原则、各个设计模式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2689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5307" y="1862519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3148" y="1837849"/>
              <a:ext cx="50523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一个类上的改动分两类，动了对外接口的是职责变化，只动方法体和私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有成员的是实现变化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36315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5307" y="23987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148" y="2374106"/>
              <a:ext cx="50523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适应变化有三条路，单用继承会子类爆炸，单用组合会类型不一致，两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者结合才站得住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89941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5307" y="293408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3148" y="2910364"/>
              <a:ext cx="50523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全部模式按变化归成四组：对象怎么造、接口变化、实现变化、特殊目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43471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5307" y="347033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3148" y="3445669"/>
              <a:ext cx="5182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选模式题按四步答：说变化点、给两个候选、排除一个、写角色映射</a:t>
              </a:r>
            </a:p>
          </p:txBody>
        </p:sp>
      </p:grpSp>
      <p:grpSp>
        <p:nvGrpSpPr>
          <p:cNvPr id="31" name="c1-kv-2"/>
          <p:cNvGrpSpPr/>
          <p:nvPr/>
        </p:nvGrpSpPr>
        <p:grpSpPr>
          <a:xfrm>
            <a:off x="526923" y="3831431"/>
            <a:ext cx="5632895" cy="1716214"/>
            <a:chOff x="526923" y="3831431"/>
            <a:chExt cx="5632895" cy="1716214"/>
          </a:xfrm>
        </p:grpSpPr>
        <p:sp>
          <p:nvSpPr>
            <p:cNvPr id="23" name="TextBox 23"/>
            <p:cNvSpPr txBox="1"/>
            <p:nvPr/>
          </p:nvSpPr>
          <p:spPr>
            <a:xfrm>
              <a:off x="526923" y="38314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最该带走的三页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59483" y="3831431"/>
              <a:ext cx="383311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11 页的四组图、第 40 与 41 页的总对照表、第 42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页的答题范式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34244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6923" y="444484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动手的部分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959483" y="4444841"/>
              <a:ext cx="391439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合上讲义默画四组图，再挑两个模式默写类图和最短代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95681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6923" y="505825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还剩时间就做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59483" y="5058251"/>
              <a:ext cx="3938778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把第 4 页那七个动作逐条打勾，缺哪一条就回到对应的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讲义页</a:t>
              </a:r>
            </a:p>
          </p:txBody>
        </p:sp>
      </p:grpSp>
      <p:grpSp>
        <p:nvGrpSpPr>
          <p:cNvPr id="54" name="c2-table-1"/>
          <p:cNvGrpSpPr/>
          <p:nvPr/>
        </p:nvGrpSpPr>
        <p:grpSpPr>
          <a:xfrm>
            <a:off x="6464618" y="1524000"/>
            <a:ext cx="5193982" cy="2287905"/>
            <a:chOff x="6464618" y="1524000"/>
            <a:chExt cx="5193982" cy="2287905"/>
          </a:xfrm>
        </p:grpSpPr>
        <p:sp>
          <p:nvSpPr>
            <p:cNvPr id="32" name="Rectangle 32"/>
            <p:cNvSpPr/>
            <p:nvPr/>
          </p:nvSpPr>
          <p:spPr>
            <a:xfrm>
              <a:off x="6464618" y="1524000"/>
              <a:ext cx="5193982" cy="38100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45908" y="1641157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要记住的数字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595800" y="1641157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值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59296" y="2023110"/>
              <a:ext cx="13004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GoF 编目的设计模式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779698" y="2023110"/>
              <a:ext cx="349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 个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64618" y="22821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64618" y="2286952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59296" y="2404110"/>
              <a:ext cx="16241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创建型 / 结构型 / 行为型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694545" y="2296478"/>
              <a:ext cx="1954530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779698" y="2404110"/>
              <a:ext cx="6467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/ 7 / 11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64618" y="26631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59296" y="27851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类模式的个数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779698" y="2785110"/>
              <a:ext cx="272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个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464618" y="304514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64618" y="304990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59296" y="316706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课程讲次（含本讲）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779698" y="3167062"/>
              <a:ext cx="349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 讲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64618" y="342614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59296" y="354806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两张总对照表的变化点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779698" y="3548062"/>
              <a:ext cx="349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 个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64618" y="1524000"/>
              <a:ext cx="5193982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9680258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2-card-2"/>
          <p:cNvGrpSpPr/>
          <p:nvPr/>
        </p:nvGrpSpPr>
        <p:grpSpPr>
          <a:xfrm>
            <a:off x="6464618" y="3976688"/>
            <a:ext cx="5193982" cy="1687830"/>
            <a:chOff x="6464618" y="3976688"/>
            <a:chExt cx="5193982" cy="1687830"/>
          </a:xfrm>
        </p:grpSpPr>
        <p:sp>
          <p:nvSpPr>
            <p:cNvPr id="55" name="Rectangle 55"/>
            <p:cNvSpPr/>
            <p:nvPr/>
          </p:nvSpPr>
          <p:spPr>
            <a:xfrm>
              <a:off x="6464618" y="3976688"/>
              <a:ext cx="5193982" cy="1687830"/>
            </a:xfrm>
            <a:prstGeom prst="roundRect">
              <a:avLst>
                <a:gd name="adj" fmla="val 79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74142" y="4110038"/>
              <a:ext cx="47625" cy="142113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683692" y="415766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76364" y="41905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收尾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250620" y="419814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这门课真正留下的东西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77216" y="4514374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类图会随时间淡忘，留下来的是那一问：这段代码以后哪里会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变，我要把它关进哪一层抽象。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77216" y="5042059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读新框架的源码时，先找抽象层在哪个包，再看具体实现被谁注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入进来。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3" name="Rectangle 6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1273" y="6039326"/>
              <a:ext cx="68538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把第 11 页那张四组图默画一遍，能填回每组的模式名，这门课的知识结构就算搭起来了。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课程总结与考前复习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dp_90">
  <a:themeElements>
    <a:clrScheme name="sdp_9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dp_90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dp_9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2026-09-19T10:02:20Z</dcterms:created>
  <dcterms:modified xsi:type="dcterms:W3CDTF">2026-09-19T10:02:20Z</dcterms:modified>
  <cp:category/>
  <cp:contentStatus/>
</cp:coreProperties>
</file>