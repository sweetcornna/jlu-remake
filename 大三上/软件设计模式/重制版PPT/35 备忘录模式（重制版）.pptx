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dp_35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dp_35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c02071edfec9d9f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a6b948f2fec39d2.pn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47bbe5172dfa24c.png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3662934" cy="3437763"/>
            <a:chOff x="666750" y="1619250"/>
            <a:chExt cx="3662934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203132" cy="3429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95722" y="1718310"/>
              <a:ext cx="19842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软件设计模式 · 第二十三讲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86512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备忘录模式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给对象存一个档，以后还能读回来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三个角色与封装的底线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骨架代码与两个完整实例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多次撤销与重做怎么写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与命令、原型模式的配合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5685911" cy="205359"/>
            <a:chOff x="680466" y="6192202"/>
            <a:chExt cx="5685911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56859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自学复习版｜据吉林大学《软件设计模式》张欣佳、陈伟两位老师课件合并整理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0297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2189" y="407194"/>
              <a:ext cx="685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35 备忘录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49111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Ctrl+Z 要能回到误操作之前，就得有人替对象记住它从前的样子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在不破坏封装的前提下捕获内部状态，并在该对象之外保存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结构与角色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45621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原发器 Originator、备忘录 Memento、负责人 Caretaker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封装的底线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47028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宽接口与窄接口，以及 C++ 和 Java 各自怎么把备忘录关起来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两个实例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用户信息操作撤销；中国象棋悔棋，带多次撤销与重做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评价与分界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优缺点、适用环境，以及和命令、原型、状态模式的关系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默画出三个角色的标准类图，说清哪条是依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赖线、哪条是聚合线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596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Java 写全三个类，并指出哪一句保证了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外人碰不到备忘录里的状态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7490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独立实现带 undo 和 redo 的负责人，说清游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标怎么前后移动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判断一段保存状态的代码是存了副本还是存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了引用，会改成深拷贝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说出备忘录与命令、原型两个模式的配合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点，以及和状态模式的区别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备忘录模式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821424" cy="3351847"/>
            <a:chOff x="667512" y="1835468"/>
            <a:chExt cx="682142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82142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动机：对象得有人替它记住从前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067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 Ctrl+Z 讲到探洞者的返回点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误操作要能回退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历史状态存在哪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探洞的返回点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三个要求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备忘录模式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660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826" y="407194"/>
              <a:ext cx="2978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35 备忘录 · 动机：对象得有人替它记住从前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撤销要成立，先得有人存下历史状态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608754" cy="308039"/>
            <a:chOff x="525399" y="1550194"/>
            <a:chExt cx="9608754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60875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张欣佳老师的课件从“后悔药”讲起。软件要允许用户犯错，就得在每次操作之前把当时的状态留一份。</a:t>
              </a:r>
            </a:p>
          </p:txBody>
        </p:sp>
      </p:grpSp>
      <p:grpSp>
        <p:nvGrpSpPr>
          <p:cNvPr id="32" name="c1-cells-1"/>
          <p:cNvGrpSpPr/>
          <p:nvPr/>
        </p:nvGrpSpPr>
        <p:grpSpPr>
          <a:xfrm>
            <a:off x="526923" y="2016442"/>
            <a:ext cx="5097590" cy="1243585"/>
            <a:chOff x="526923" y="2016442"/>
            <a:chExt cx="5097590" cy="1243585"/>
          </a:xfrm>
        </p:grpSpPr>
        <p:sp>
          <p:nvSpPr>
            <p:cNvPr id="9" name="TextBox 9"/>
            <p:cNvSpPr txBox="1"/>
            <p:nvPr/>
          </p:nvSpPr>
          <p:spPr>
            <a:xfrm>
              <a:off x="526923" y="24122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历史状态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317308" y="2282190"/>
              <a:ext cx="7181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19762" y="2412206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 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034540" y="2282190"/>
              <a:ext cx="7181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137947" y="2412206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 2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752725" y="2282190"/>
              <a:ext cx="7181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856132" y="2412206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 3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470910" y="2282190"/>
              <a:ext cx="7181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573364" y="2412206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 4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188142" y="2282190"/>
              <a:ext cx="71818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291549" y="2412206"/>
              <a:ext cx="511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 5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906328" y="2282190"/>
              <a:ext cx="71818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086629" y="24122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34214" y="275796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352399" y="275796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070584" y="275796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87817" y="275796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06002" y="275796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24187" y="275796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5227320" y="292036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977384" y="305466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正在编辑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328988" y="201644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撤销两次到这里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3790950" y="218694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34" name="c1-text-2"/>
          <p:cNvGrpSpPr/>
          <p:nvPr/>
        </p:nvGrpSpPr>
        <p:grpSpPr>
          <a:xfrm>
            <a:off x="1422730" y="3439001"/>
            <a:ext cx="3631540" cy="249364"/>
            <a:chOff x="1422730" y="3439001"/>
            <a:chExt cx="3631540" cy="249364"/>
          </a:xfrm>
        </p:grpSpPr>
        <p:sp>
          <p:nvSpPr>
            <p:cNvPr id="33" name="TextBox 33"/>
            <p:cNvSpPr txBox="1"/>
            <p:nvPr/>
          </p:nvSpPr>
          <p:spPr>
            <a:xfrm>
              <a:off x="1422730" y="3439001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每操作一次存一份，撤销就是把游标往回挪一格</a:t>
              </a:r>
            </a:p>
          </p:txBody>
        </p:sp>
      </p:grpSp>
      <p:grpSp>
        <p:nvGrpSpPr>
          <p:cNvPr id="41" name="c1-card-3"/>
          <p:cNvGrpSpPr/>
          <p:nvPr/>
        </p:nvGrpSpPr>
        <p:grpSpPr>
          <a:xfrm>
            <a:off x="533400" y="3829050"/>
            <a:ext cx="5410200" cy="1621155"/>
            <a:chOff x="533400" y="3829050"/>
            <a:chExt cx="5410200" cy="1621155"/>
          </a:xfrm>
        </p:grpSpPr>
        <p:sp>
          <p:nvSpPr>
            <p:cNvPr id="35" name="Rectangle 35"/>
            <p:cNvSpPr/>
            <p:nvPr/>
          </p:nvSpPr>
          <p:spPr>
            <a:xfrm>
              <a:off x="533400" y="3829050"/>
              <a:ext cx="5410200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42925" y="396240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81050" y="403860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1258" y="40743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观察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382078" y="407384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撤销关掉软件就没了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3430" y="4434840"/>
              <a:ext cx="46539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几乎所有编辑软件都能 Ctrl+Z，但关掉再打开就退不回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去了。这说明这些历史状态一直留在内存里，进程一结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束就跟着销毁。</a:t>
              </a:r>
            </a:p>
          </p:txBody>
        </p:sp>
      </p:grpSp>
      <p:grpSp>
        <p:nvGrpSpPr>
          <p:cNvPr id="55" name="c2-bullets-1"/>
          <p:cNvGrpSpPr/>
          <p:nvPr/>
        </p:nvGrpSpPr>
        <p:grpSpPr>
          <a:xfrm>
            <a:off x="6240780" y="1992630"/>
            <a:ext cx="4683887" cy="2103405"/>
            <a:chOff x="6240780" y="1992630"/>
            <a:chExt cx="4683887" cy="2103405"/>
          </a:xfrm>
        </p:grpSpPr>
        <p:sp>
          <p:nvSpPr>
            <p:cNvPr id="42" name="TextBox 42"/>
            <p:cNvSpPr txBox="1"/>
            <p:nvPr/>
          </p:nvSpPr>
          <p:spPr>
            <a:xfrm>
              <a:off x="6240780" y="199263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源课件给出的三句话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254115" y="24098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412230" y="234696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软件要对误操作留余地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419850" y="271272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603873" y="2639854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需要一种回到误操作之前的机制，让系统退回上一个状态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254115" y="3012758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412230" y="2949892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办法是把每次操作前的状态存下来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19850" y="3316605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603873" y="3242786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一旦出错，把存好的历史状态取出来写回去就行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254115" y="361569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412230" y="35528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这件事被做成了一个模式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419850" y="3919538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603873" y="3846671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备忘录模式就是给软件提供这颗后悔药的标准做法</a:t>
              </a:r>
            </a:p>
          </p:txBody>
        </p:sp>
      </p:grpSp>
      <p:grpSp>
        <p:nvGrpSpPr>
          <p:cNvPr id="61" name="c2-callout-2"/>
          <p:cNvGrpSpPr/>
          <p:nvPr/>
        </p:nvGrpSpPr>
        <p:grpSpPr>
          <a:xfrm>
            <a:off x="6248400" y="4235768"/>
            <a:ext cx="5410200" cy="1214438"/>
            <a:chOff x="6248400" y="4235768"/>
            <a:chExt cx="5410200" cy="1214438"/>
          </a:xfrm>
        </p:grpSpPr>
        <p:sp>
          <p:nvSpPr>
            <p:cNvPr id="56" name="Rectangle 56"/>
            <p:cNvSpPr/>
            <p:nvPr/>
          </p:nvSpPr>
          <p:spPr>
            <a:xfrm>
              <a:off x="6248400" y="4235768"/>
              <a:ext cx="5410200" cy="1214438"/>
            </a:xfrm>
            <a:prstGeom prst="roundRect">
              <a:avLst>
                <a:gd name="adj" fmla="val 941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6453188" y="4743452"/>
              <a:ext cx="200023" cy="200023"/>
              <a:chOff x="6453188" y="4743452"/>
              <a:chExt cx="200023" cy="200023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6453188" y="474345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586538" y="48101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6755130" y="4600575"/>
              <a:ext cx="44157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难点不在“存”，在于存下来的东西既要够用，又不能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让别人看见和改动。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备忘录模式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660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826" y="407194"/>
              <a:ext cx="2978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35 备忘录 · 动机：对象得有人替它记住从前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换一个说法：探洞的人要沿路放返回点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247788" cy="308039"/>
            <a:chOff x="525399" y="1550194"/>
            <a:chExt cx="724778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2477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陈伟老师的课件用探险山洞打比方。这个比方把三条要求说得比撤销更清楚。</a:t>
              </a:r>
            </a:p>
          </p:txBody>
        </p:sp>
      </p:grpSp>
      <p:grpSp>
        <p:nvGrpSpPr>
          <p:cNvPr id="27" name="c1-flow-1"/>
          <p:cNvGrpSpPr/>
          <p:nvPr/>
        </p:nvGrpSpPr>
        <p:grpSpPr>
          <a:xfrm>
            <a:off x="862012" y="2563178"/>
            <a:ext cx="5027296" cy="1214056"/>
            <a:chOff x="862012" y="2563178"/>
            <a:chExt cx="5027296" cy="1214056"/>
          </a:xfrm>
        </p:grpSpPr>
        <p:sp>
          <p:nvSpPr>
            <p:cNvPr id="9" name="Freeform 9"/>
            <p:cNvSpPr/>
            <p:nvPr/>
          </p:nvSpPr>
          <p:spPr>
            <a:xfrm>
              <a:off x="2081212" y="2987040"/>
              <a:ext cx="356235" cy="9525"/>
            </a:xfrm>
            <a:custGeom>
              <a:avLst/>
              <a:gdLst/>
              <a:ahLst/>
              <a:cxnLst/>
              <a:rect l="l" t="t" r="r" b="b"/>
              <a:pathLst>
                <a:path w="356235" h="9525">
                  <a:moveTo>
                    <a:pt x="0" y="0"/>
                  </a:moveTo>
                  <a:lnTo>
                    <a:pt x="35623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437448" y="293465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150995" y="2987040"/>
              <a:ext cx="300038" cy="9525"/>
            </a:xfrm>
            <a:custGeom>
              <a:avLst/>
              <a:gdLst/>
              <a:ahLst/>
              <a:cxnLst/>
              <a:rect l="l" t="t" r="r" b="b"/>
              <a:pathLst>
                <a:path w="300038" h="9525">
                  <a:moveTo>
                    <a:pt x="0" y="0"/>
                  </a:moveTo>
                  <a:lnTo>
                    <a:pt x="30003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451032" y="293465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347085" y="3410902"/>
              <a:ext cx="1875472" cy="350520"/>
            </a:xfrm>
            <a:custGeom>
              <a:avLst/>
              <a:gdLst/>
              <a:ahLst/>
              <a:cxnLst/>
              <a:rect l="l" t="t" r="r" b="b"/>
              <a:pathLst>
                <a:path w="1875472" h="350520">
                  <a:moveTo>
                    <a:pt x="1875472" y="0"/>
                  </a:moveTo>
                  <a:lnTo>
                    <a:pt x="1875472" y="209550"/>
                  </a:lnTo>
                  <a:lnTo>
                    <a:pt x="1875472" y="350520"/>
                  </a:lnTo>
                  <a:lnTo>
                    <a:pt x="674370" y="350520"/>
                  </a:lnTo>
                  <a:lnTo>
                    <a:pt x="0" y="350520"/>
                  </a:lnTo>
                  <a:lnTo>
                    <a:pt x="0" y="209550"/>
                  </a:lnTo>
                  <a:lnTo>
                    <a:pt x="0" y="1047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294698" y="34109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862012" y="2671762"/>
              <a:ext cx="1219200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542222" y="2563178"/>
              <a:ext cx="1608772" cy="847725"/>
            </a:xfrm>
            <a:prstGeom prst="roundRect">
              <a:avLst>
                <a:gd name="adj" fmla="val 11236"/>
              </a:avLst>
            </a:prstGeom>
            <a:solidFill>
              <a:srgbClr val="EEEAF7"/>
            </a:solidFill>
            <a:ln w="19050">
              <a:solidFill>
                <a:srgbClr val="5B3FA0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555808" y="2563178"/>
              <a:ext cx="1333500" cy="847725"/>
            </a:xfrm>
            <a:prstGeom prst="roundRect">
              <a:avLst>
                <a:gd name="adj" fmla="val 11236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40016" y="2788444"/>
              <a:ext cx="6631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Client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探洞的人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747264" y="2678906"/>
              <a:ext cx="1199642" cy="687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对象行为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探险 · 记录 · 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· 回撤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28400" y="2678906"/>
              <a:ext cx="988314" cy="687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返回点 1…n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按先后顺序排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好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130742" y="2770822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165032" y="279749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171950" y="2770822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206240" y="279749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记录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241482" y="3545205"/>
              <a:ext cx="7620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263771" y="357187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读取并回撤</a:t>
              </a:r>
            </a:p>
          </p:txBody>
        </p:sp>
      </p:grpSp>
      <p:grpSp>
        <p:nvGrpSpPr>
          <p:cNvPr id="34" name="c1-callout-2"/>
          <p:cNvGrpSpPr/>
          <p:nvPr/>
        </p:nvGrpSpPr>
        <p:grpSpPr>
          <a:xfrm>
            <a:off x="533400" y="4196715"/>
            <a:ext cx="5626418" cy="1903095"/>
            <a:chOff x="533400" y="4196715"/>
            <a:chExt cx="5626418" cy="1903095"/>
          </a:xfrm>
        </p:grpSpPr>
        <p:sp>
          <p:nvSpPr>
            <p:cNvPr id="28" name="Rectangle 28"/>
            <p:cNvSpPr/>
            <p:nvPr/>
          </p:nvSpPr>
          <p:spPr>
            <a:xfrm>
              <a:off x="533400" y="4196715"/>
              <a:ext cx="5626418" cy="1903095"/>
            </a:xfrm>
            <a:prstGeom prst="roundRect">
              <a:avLst>
                <a:gd name="adj" fmla="val 600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5048250"/>
              <a:ext cx="200026" cy="200026"/>
              <a:chOff x="738188" y="5048250"/>
              <a:chExt cx="200026" cy="20002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504825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38200" y="51149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27088" y="514826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130" y="4905375"/>
              <a:ext cx="47110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更正：源课件这张图里四个返回点框都写成“回撤点1”，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按图意应当依次编号。</a:t>
              </a:r>
            </a:p>
          </p:txBody>
        </p:sp>
      </p:grpSp>
      <p:grpSp>
        <p:nvGrpSpPr>
          <p:cNvPr id="43" name="c2-kv-1"/>
          <p:cNvGrpSpPr/>
          <p:nvPr/>
        </p:nvGrpSpPr>
        <p:grpSpPr>
          <a:xfrm>
            <a:off x="6456998" y="1992630"/>
            <a:ext cx="5201602" cy="2019300"/>
            <a:chOff x="6456998" y="1992630"/>
            <a:chExt cx="5201602" cy="2019300"/>
          </a:xfrm>
        </p:grpSpPr>
        <p:sp>
          <p:nvSpPr>
            <p:cNvPr id="35" name="TextBox 35"/>
            <p:cNvSpPr txBox="1"/>
            <p:nvPr/>
          </p:nvSpPr>
          <p:spPr>
            <a:xfrm>
              <a:off x="6456998" y="199263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返回点可记录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15288" y="1992630"/>
              <a:ext cx="3444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走到某处就能留下一个标记，把此刻的位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置原样记下来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64618" y="259461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56998" y="27146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管理多个返回点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15288" y="2714625"/>
              <a:ext cx="3444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标记不止一个，要按顺序存好，还要能挑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出想回的那一个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64618" y="331660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56998" y="343662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限制访问人群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15288" y="3436620"/>
              <a:ext cx="3444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标记只对放它的人有意义，别人不能看，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更不能挪动</a:t>
              </a:r>
            </a:p>
          </p:txBody>
        </p:sp>
      </p:grpSp>
      <p:grpSp>
        <p:nvGrpSpPr>
          <p:cNvPr id="50" name="c2-card-2"/>
          <p:cNvGrpSpPr/>
          <p:nvPr/>
        </p:nvGrpSpPr>
        <p:grpSpPr>
          <a:xfrm>
            <a:off x="6464618" y="4143375"/>
            <a:ext cx="5193982" cy="1956435"/>
            <a:chOff x="6464618" y="4143375"/>
            <a:chExt cx="5193982" cy="1956435"/>
          </a:xfrm>
        </p:grpSpPr>
        <p:sp>
          <p:nvSpPr>
            <p:cNvPr id="44" name="Rectangle 44"/>
            <p:cNvSpPr/>
            <p:nvPr/>
          </p:nvSpPr>
          <p:spPr>
            <a:xfrm>
              <a:off x="6464618" y="4143375"/>
              <a:ext cx="5193982" cy="1956435"/>
            </a:xfrm>
            <a:prstGeom prst="roundRect">
              <a:avLst>
                <a:gd name="adj" fmla="val 681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674168" y="4352925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30873" y="438864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三条要求对应三个角色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13432" y="4388168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这三句话就是后面的类图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66548" y="4749165"/>
              <a:ext cx="4453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能记录、能恢复的那个人是 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原发器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；被记下来的那份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位置是 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备忘录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；替他收着一串标记的是 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负责人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66548" y="5370195"/>
              <a:ext cx="4415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第三条“限制访问人群”是这个模式和随手存个变量的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真正分界。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备忘录模式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660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826" y="407194"/>
              <a:ext cx="2978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35 备忘录 · 动机：对象得有人替它记住从前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定义：不破坏封装地捕获并外置内部状态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951220" cy="1803082"/>
            <a:chOff x="533400" y="1524000"/>
            <a:chExt cx="5951220" cy="18030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803082"/>
            </a:xfrm>
            <a:prstGeom prst="roundRect">
              <a:avLst>
                <a:gd name="adj" fmla="val 73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36382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3784" y="1745932"/>
              <a:ext cx="29017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备忘录模式（Memento Pattern）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071688"/>
              <a:ext cx="53286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在不破坏封装的前提下，捕获一个对象的内部状态，并在该对象之外保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存这个状态，这样可以在以后将对象恢复到原先保存的状态。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6762" y="2685098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2782" y="2628900"/>
              <a:ext cx="48653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别名 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令牌模式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（Token）、</a:t>
              </a: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快照模式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（Snapshot Pattern）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6762" y="298513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782" y="2928938"/>
              <a:ext cx="17583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属于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对象行为型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模式</a:t>
              </a:r>
            </a:p>
          </p:txBody>
        </p:sp>
      </p:grpSp>
      <p:grpSp>
        <p:nvGrpSpPr>
          <p:cNvPr id="29" name="c1-kv-2"/>
          <p:cNvGrpSpPr/>
          <p:nvPr/>
        </p:nvGrpSpPr>
        <p:grpSpPr>
          <a:xfrm>
            <a:off x="526542" y="3519488"/>
            <a:ext cx="5958078" cy="2202370"/>
            <a:chOff x="526542" y="3519488"/>
            <a:chExt cx="5958078" cy="2202370"/>
          </a:xfrm>
        </p:grpSpPr>
        <p:sp>
          <p:nvSpPr>
            <p:cNvPr id="18" name="TextBox 18"/>
            <p:cNvSpPr txBox="1"/>
            <p:nvPr/>
          </p:nvSpPr>
          <p:spPr>
            <a:xfrm>
              <a:off x="526542" y="351948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不破坏封装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90597" y="3519488"/>
              <a:ext cx="36141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状态被打成一个包交出去，外人拿得到这个包却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读不出里面的字段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05955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6542" y="416528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捕获内部状态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90597" y="4165282"/>
              <a:ext cx="36141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复制的是此刻各个成员变量的值，可以是全部，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也可以只取一部分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70535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6542" y="481107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在该对象之外保存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490597" y="4811078"/>
              <a:ext cx="36141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谁来保管是另一个角色的事，原发器自己不攒历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史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535114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6542" y="545782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恢复到原先保存的状态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490597" y="5457825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把包交回原发器，由原发器自己把字段写回去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6789420" y="1524000"/>
            <a:ext cx="4869180" cy="2014538"/>
            <a:chOff x="6789420" y="1524000"/>
            <a:chExt cx="4869180" cy="2014538"/>
          </a:xfrm>
        </p:grpSpPr>
        <p:sp>
          <p:nvSpPr>
            <p:cNvPr id="30" name="Rectangle 30"/>
            <p:cNvSpPr/>
            <p:nvPr/>
          </p:nvSpPr>
          <p:spPr>
            <a:xfrm>
              <a:off x="6789420" y="1524000"/>
              <a:ext cx="4869180" cy="2014538"/>
            </a:xfrm>
            <a:prstGeom prst="roundRect">
              <a:avLst>
                <a:gd name="adj" fmla="val 66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798945" y="1657350"/>
              <a:ext cx="47625" cy="17478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014210" y="1710690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080428" y="1743551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陈伟老师课件的说法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51342" y="174593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同一件事的三句话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022782" y="212788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178802" y="207168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记录并保存对象的内部状态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022782" y="2427922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178802" y="23717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方便恢复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022782" y="272796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178802" y="267176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不希望暴露内部状态细节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08495" y="2968466"/>
              <a:ext cx="427863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前两句说的是功能，第三句说的是约束。只做到前两句的，是一个普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通的历史记录，不是这个模式。</a:t>
              </a:r>
            </a:p>
          </p:txBody>
        </p:sp>
      </p:grpSp>
      <p:grpSp>
        <p:nvGrpSpPr>
          <p:cNvPr id="45" name="c2-image-2"/>
          <p:cNvGrpSpPr/>
          <p:nvPr/>
        </p:nvGrpSpPr>
        <p:grpSpPr>
          <a:xfrm>
            <a:off x="6789420" y="3708082"/>
            <a:ext cx="4869180" cy="1925669"/>
            <a:chOff x="6789420" y="3708082"/>
            <a:chExt cx="4869180" cy="1925669"/>
          </a:xfrm>
        </p:grpSpPr>
        <p:pic>
          <p:nvPicPr>
            <p:cNvPr id="43" name="Image 43"/>
            <p:cNvPicPr>
              <a:picLocks noChangeAspect="1"/>
            </p:cNvPicPr>
            <p:nvPr/>
          </p:nvPicPr>
          <p:blipFill>
            <a:blip r:embed="rId2"/>
            <a:srcRect l="0" t="27504" r="0" b="27504"/>
            <a:stretch>
              <a:fillRect/>
            </a:stretch>
          </p:blipFill>
          <p:spPr>
            <a:xfrm>
              <a:off x="6789420" y="3708082"/>
              <a:ext cx="4869180" cy="1643062"/>
            </a:xfrm>
            <a:prstGeom prst="roundRect">
              <a:avLst>
                <a:gd name="adj" fmla="val 8115"/>
              </a:avLst>
            </a:prstGeom>
          </p:spPr>
        </p:pic>
        <p:sp>
          <p:nvSpPr>
            <p:cNvPr id="44" name="TextBox 44"/>
            <p:cNvSpPr txBox="1"/>
            <p:nvPr/>
          </p:nvSpPr>
          <p:spPr>
            <a:xfrm>
              <a:off x="7701890" y="5443061"/>
              <a:ext cx="30442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历史状态像一叠快照，撤销就是把最上面那张抽回来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46" name="Rectangle 46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892" y="6028373"/>
              <a:ext cx="63745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判定题眼：要恢复对象的历史状态，又不肯把状态细节暴露给保存它的那个人。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备忘录模式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6336792" cy="3706177"/>
            <a:chOff x="667512" y="1835468"/>
            <a:chExt cx="6336792" cy="37061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3367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结构、三个角色与封装的底线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类图上只有两条线，难的是第三个角色能看到什么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标准类图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三个角色的职责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一次存档一次读档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宽接口与窄接口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各语言的实现手段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备忘录模式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35 备忘录 · 结构、三个角色与封装的底线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结构：一条依赖线，一条聚合线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374784" cy="308039"/>
            <a:chOff x="525399" y="1550194"/>
            <a:chExt cx="9374784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37478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原发器创建并使用备忘录，这是依赖；负责人收着备忘录，这是聚合。原发器和负责人之间没有线。</a:t>
              </a:r>
            </a:p>
          </p:txBody>
        </p:sp>
      </p:grpSp>
      <p:grpSp>
        <p:nvGrpSpPr>
          <p:cNvPr id="38" name="c1-uml-1"/>
          <p:cNvGrpSpPr/>
          <p:nvPr/>
        </p:nvGrpSpPr>
        <p:grpSpPr>
          <a:xfrm>
            <a:off x="609600" y="2185035"/>
            <a:ext cx="6106477" cy="3061335"/>
            <a:chOff x="609600" y="2185035"/>
            <a:chExt cx="6106477" cy="3061335"/>
          </a:xfrm>
        </p:grpSpPr>
        <p:sp>
          <p:nvSpPr>
            <p:cNvPr id="9" name="Freeform 9"/>
            <p:cNvSpPr/>
            <p:nvPr/>
          </p:nvSpPr>
          <p:spPr>
            <a:xfrm>
              <a:off x="2548890" y="2888932"/>
              <a:ext cx="2307907" cy="9525"/>
            </a:xfrm>
            <a:custGeom>
              <a:avLst/>
              <a:gdLst/>
              <a:ahLst/>
              <a:cxnLst/>
              <a:rect l="l" t="t" r="r" b="b"/>
              <a:pathLst>
                <a:path w="2307907" h="9525">
                  <a:moveTo>
                    <a:pt x="0" y="0"/>
                  </a:moveTo>
                  <a:lnTo>
                    <a:pt x="2307907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4752022" y="2831782"/>
              <a:ext cx="104775" cy="115252"/>
            </a:xfrm>
            <a:custGeom>
              <a:avLst/>
              <a:gdLst/>
              <a:ahLst/>
              <a:cxnLst/>
              <a:rect l="l" t="t" r="r" b="b"/>
              <a:pathLst>
                <a:path w="104775" h="115252">
                  <a:moveTo>
                    <a:pt x="0" y="115252"/>
                  </a:moveTo>
                  <a:lnTo>
                    <a:pt x="104775" y="5715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5763578" y="3404235"/>
              <a:ext cx="9525" cy="602933"/>
            </a:xfrm>
            <a:custGeom>
              <a:avLst/>
              <a:gdLst/>
              <a:ahLst/>
              <a:cxnLst/>
              <a:rect l="l" t="t" r="r" b="b"/>
              <a:pathLst>
                <a:path w="9525" h="602933">
                  <a:moveTo>
                    <a:pt x="0" y="0"/>
                  </a:moveTo>
                  <a:lnTo>
                    <a:pt x="0" y="602933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705475" y="4007168"/>
              <a:ext cx="115253" cy="209550"/>
            </a:xfrm>
            <a:custGeom>
              <a:avLst/>
              <a:gdLst/>
              <a:ahLst/>
              <a:cxnLst/>
              <a:rect l="l" t="t" r="r" b="b"/>
              <a:pathLst>
                <a:path w="115253" h="209550">
                  <a:moveTo>
                    <a:pt x="58103" y="209550"/>
                  </a:moveTo>
                  <a:lnTo>
                    <a:pt x="0" y="104775"/>
                  </a:lnTo>
                  <a:lnTo>
                    <a:pt x="58103" y="0"/>
                  </a:lnTo>
                  <a:lnTo>
                    <a:pt x="115253" y="104775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" y="2185035"/>
              <a:ext cx="1939290" cy="140874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17220" y="2191702"/>
              <a:ext cx="1925002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09600" y="2451735"/>
              <a:ext cx="193929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609600" y="2735580"/>
              <a:ext cx="193929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856798" y="2373630"/>
              <a:ext cx="1812608" cy="102965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864418" y="2381250"/>
              <a:ext cx="1798320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856798" y="2640330"/>
              <a:ext cx="181260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856798" y="2925128"/>
              <a:ext cx="181260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810125" y="4216718"/>
              <a:ext cx="1905952" cy="102965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817745" y="4224338"/>
              <a:ext cx="1891665" cy="26479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810125" y="4483418"/>
              <a:ext cx="190595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4810125" y="4768215"/>
              <a:ext cx="190595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59586" y="2249329"/>
              <a:ext cx="8393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Originator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0466" y="2524125"/>
              <a:ext cx="10762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state: String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0466" y="2807970"/>
              <a:ext cx="2057591" cy="7740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createMemento(): Memento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restoreMemento(Memento m)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setState(String state)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getState(): String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18727" y="2437924"/>
              <a:ext cx="6897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Memento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927664" y="2712720"/>
              <a:ext cx="10762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state: String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927664" y="2997518"/>
              <a:ext cx="1670876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getState(): String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setState(String state)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363573" y="4281011"/>
              <a:ext cx="800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Caretaker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880991" y="4555808"/>
              <a:ext cx="14582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memento: Memento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880991" y="4840605"/>
              <a:ext cx="1764221" cy="3949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getMemento(): Memento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setMemento(Memento m)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322320" y="2672715"/>
              <a:ext cx="7620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344608" y="269938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创建并使用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792152" y="3718560"/>
              <a:ext cx="661988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815394" y="3745230"/>
              <a:ext cx="6114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memento</a:t>
              </a:r>
            </a:p>
          </p:txBody>
        </p:sp>
      </p:grpSp>
      <p:grpSp>
        <p:nvGrpSpPr>
          <p:cNvPr id="46" name="c2-bullets-1"/>
          <p:cNvGrpSpPr/>
          <p:nvPr/>
        </p:nvGrpSpPr>
        <p:grpSpPr>
          <a:xfrm>
            <a:off x="7106602" y="1992630"/>
            <a:ext cx="4311968" cy="1908810"/>
            <a:chOff x="7106602" y="1992630"/>
            <a:chExt cx="4311968" cy="1908810"/>
          </a:xfrm>
        </p:grpSpPr>
        <p:sp>
          <p:nvSpPr>
            <p:cNvPr id="39" name="TextBox 39"/>
            <p:cNvSpPr txBox="1"/>
            <p:nvPr/>
          </p:nvSpPr>
          <p:spPr>
            <a:xfrm>
              <a:off x="7106602" y="199263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读这张图的三个落点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7114222" y="2378392"/>
              <a:ext cx="143828" cy="116205"/>
            </a:xfrm>
            <a:custGeom>
              <a:avLst/>
              <a:gdLst/>
              <a:ahLst/>
              <a:cxnLst/>
              <a:rect l="l" t="t" r="r" b="b"/>
              <a:pathLst>
                <a:path w="143828" h="116205">
                  <a:moveTo>
                    <a:pt x="0" y="61912"/>
                  </a:moveTo>
                  <a:lnTo>
                    <a:pt x="54293" y="116205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364730" y="2346960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原发器到备忘录是虚线依赖，它只在方法里创建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和使用，不长期持有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7114222" y="3008948"/>
              <a:ext cx="143828" cy="116205"/>
            </a:xfrm>
            <a:custGeom>
              <a:avLst/>
              <a:gdLst/>
              <a:ahLst/>
              <a:cxnLst/>
              <a:rect l="l" t="t" r="r" b="b"/>
              <a:pathLst>
                <a:path w="143828" h="116205">
                  <a:moveTo>
                    <a:pt x="0" y="61912"/>
                  </a:moveTo>
                  <a:lnTo>
                    <a:pt x="54293" y="116205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364730" y="2977515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负责人到备忘录是聚合，菱形在负责人这一端，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它把备忘录攒起来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7114222" y="3639502"/>
              <a:ext cx="143828" cy="116205"/>
            </a:xfrm>
            <a:custGeom>
              <a:avLst/>
              <a:gdLst/>
              <a:ahLst/>
              <a:cxnLst/>
              <a:rect l="l" t="t" r="r" b="b"/>
              <a:pathLst>
                <a:path w="143828" h="116205">
                  <a:moveTo>
                    <a:pt x="0" y="61912"/>
                  </a:moveTo>
                  <a:lnTo>
                    <a:pt x="54293" y="116205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364730" y="360807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原发器和负责人之间没有连线，谁也不认识谁</a:t>
              </a:r>
            </a:p>
          </p:txBody>
        </p:sp>
      </p:grpSp>
      <p:grpSp>
        <p:nvGrpSpPr>
          <p:cNvPr id="53" name="c2-card-2"/>
          <p:cNvGrpSpPr/>
          <p:nvPr/>
        </p:nvGrpSpPr>
        <p:grpSpPr>
          <a:xfrm>
            <a:off x="7114222" y="4032885"/>
            <a:ext cx="4544378" cy="1621155"/>
            <a:chOff x="7114222" y="4032885"/>
            <a:chExt cx="4544378" cy="1621155"/>
          </a:xfrm>
        </p:grpSpPr>
        <p:sp>
          <p:nvSpPr>
            <p:cNvPr id="47" name="Rectangle 47"/>
            <p:cNvSpPr/>
            <p:nvPr/>
          </p:nvSpPr>
          <p:spPr>
            <a:xfrm>
              <a:off x="7114222" y="4032885"/>
              <a:ext cx="4544378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123748" y="4166235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361872" y="42424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452081" y="42781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961948" y="427767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菱形别画反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354252" y="4638675"/>
              <a:ext cx="39300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聚合的菱形在“整体”一端。收着备忘录的是负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责人，所以菱形画在 Caretaker 上，箭头指向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Memento。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4" name="Rectangle 5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130" y="5991225"/>
              <a:ext cx="79914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想存多份历史时，把负责人的这条聚合改成 0..*，字段换成集合，类图其余部分不用动。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备忘录模式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936176" cy="909257"/>
            <a:chOff x="520446" y="342900"/>
            <a:chExt cx="29361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35 备忘录 · 结构、三个角色与封装的底线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三个角色各管什么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6276022" cy="2475548"/>
            <a:chOff x="533400" y="1524000"/>
            <a:chExt cx="6276022" cy="24755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0803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角色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9308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它是什么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91036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里面有什么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111429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Originator 原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47126" y="2108359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需要保存状态的那个业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务类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155948" y="2108359"/>
              <a:ext cx="2288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存成员数据的属性，加上创建和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恢复两个方法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627602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783681"/>
              <a:ext cx="111470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Memento 备忘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47126" y="2783681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原发器某一时刻状态的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一份副本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55948" y="2783681"/>
              <a:ext cx="2288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与原发器对应的属性，可以是全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部也可以是部分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94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459004"/>
              <a:ext cx="107162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Caretaker 负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责人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47126" y="3459004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备忘录的保管者，又叫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管理者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55948" y="3459004"/>
              <a:ext cx="2288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一个或一组备忘录对象，加上存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取方法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6276022" cy="24755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034540" y="1524000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043362" y="1524000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2" name="c1-callout-2"/>
          <p:cNvGrpSpPr/>
          <p:nvPr/>
        </p:nvGrpSpPr>
        <p:grpSpPr>
          <a:xfrm>
            <a:off x="533400" y="4190048"/>
            <a:ext cx="6276022" cy="1102042"/>
            <a:chOff x="533400" y="4190048"/>
            <a:chExt cx="6276022" cy="1102042"/>
          </a:xfrm>
        </p:grpSpPr>
        <p:sp>
          <p:nvSpPr>
            <p:cNvPr id="27" name="Rectangle 27"/>
            <p:cNvSpPr/>
            <p:nvPr/>
          </p:nvSpPr>
          <p:spPr>
            <a:xfrm>
              <a:off x="533400" y="4190048"/>
              <a:ext cx="6276022" cy="1102042"/>
            </a:xfrm>
            <a:prstGeom prst="roundRect">
              <a:avLst>
                <a:gd name="adj" fmla="val 1037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4640582"/>
              <a:ext cx="200023" cy="200023"/>
              <a:chOff x="738188" y="4640582"/>
              <a:chExt cx="200023" cy="200023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464058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71538" y="47072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130" y="4497705"/>
              <a:ext cx="5349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负责人只负责存取，不能对备忘录的内容进行操作或检查，也无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须知道它的实现细节。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7114222" y="1524000"/>
            <a:ext cx="4544378" cy="1956435"/>
            <a:chOff x="7114222" y="1524000"/>
            <a:chExt cx="4544378" cy="1956435"/>
          </a:xfrm>
        </p:grpSpPr>
        <p:sp>
          <p:nvSpPr>
            <p:cNvPr id="33" name="Rectangle 33"/>
            <p:cNvSpPr/>
            <p:nvPr/>
          </p:nvSpPr>
          <p:spPr>
            <a:xfrm>
              <a:off x="7114222" y="1524000"/>
              <a:ext cx="4544378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123748" y="1657350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设计顺序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46745" y="1768792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先有原发器，再照着它设计备忘录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54252" y="212979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原发器是真实业务里的类，备忘录的属性照着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它挑。要恢复哪几项，备忘录里就放哪几项。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54252" y="275082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剩下的力气全花在负责人和备忘录的访问控制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上，这一步定不好，模式就白用了。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7114222" y="3670935"/>
            <a:ext cx="4544378" cy="1621155"/>
            <a:chOff x="7114222" y="3670935"/>
            <a:chExt cx="4544378" cy="1621155"/>
          </a:xfrm>
        </p:grpSpPr>
        <p:sp>
          <p:nvSpPr>
            <p:cNvPr id="41" name="Rectangle 41"/>
            <p:cNvSpPr/>
            <p:nvPr/>
          </p:nvSpPr>
          <p:spPr>
            <a:xfrm>
              <a:off x="7114222" y="3670935"/>
              <a:ext cx="4544378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123748" y="3804285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361872" y="388048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439279" y="391620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一句话判断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88668" y="3915728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负责人看不懂它保管的是什么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54252" y="4276725"/>
              <a:ext cx="3825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它手里拿着的应该是一个不透明的对象。它知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道该把这个对象收在哪一格，但不知道这一格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里装的是账号还是坐标。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备忘录模式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35 备忘录 · 结构、三个角色与封装的底线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一次存档和一次读档，对象之间怎么走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366969" cy="278702"/>
            <a:chOff x="526161" y="1547336"/>
            <a:chExt cx="5366969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3669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整个过程里，负责人始终没有调用过备忘录里读写状态的方法。</a:t>
              </a:r>
            </a:p>
          </p:txBody>
        </p:sp>
      </p:grpSp>
      <p:grpSp>
        <p:nvGrpSpPr>
          <p:cNvPr id="27" name="c1-flow-1"/>
          <p:cNvGrpSpPr/>
          <p:nvPr/>
        </p:nvGrpSpPr>
        <p:grpSpPr>
          <a:xfrm>
            <a:off x="787718" y="2318385"/>
            <a:ext cx="4901564" cy="1168431"/>
            <a:chOff x="787718" y="2318385"/>
            <a:chExt cx="4901564" cy="1168431"/>
          </a:xfrm>
        </p:grpSpPr>
        <p:sp>
          <p:nvSpPr>
            <p:cNvPr id="9" name="Freeform 9"/>
            <p:cNvSpPr/>
            <p:nvPr/>
          </p:nvSpPr>
          <p:spPr>
            <a:xfrm>
              <a:off x="2083118" y="2834640"/>
              <a:ext cx="441008" cy="9525"/>
            </a:xfrm>
            <a:custGeom>
              <a:avLst/>
              <a:gdLst/>
              <a:ahLst/>
              <a:cxnLst/>
              <a:rect l="l" t="t" r="r" b="b"/>
              <a:pathLst>
                <a:path w="441008" h="9525">
                  <a:moveTo>
                    <a:pt x="0" y="0"/>
                  </a:moveTo>
                  <a:lnTo>
                    <a:pt x="44100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524125" y="278225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848100" y="2834640"/>
              <a:ext cx="441008" cy="9525"/>
            </a:xfrm>
            <a:custGeom>
              <a:avLst/>
              <a:gdLst/>
              <a:ahLst/>
              <a:cxnLst/>
              <a:rect l="l" t="t" r="r" b="b"/>
              <a:pathLst>
                <a:path w="441008" h="9525">
                  <a:moveTo>
                    <a:pt x="0" y="0"/>
                  </a:moveTo>
                  <a:lnTo>
                    <a:pt x="44100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289108" y="278225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435418" y="3123248"/>
              <a:ext cx="3606165" cy="354330"/>
            </a:xfrm>
            <a:custGeom>
              <a:avLst/>
              <a:gdLst/>
              <a:ahLst/>
              <a:cxnLst/>
              <a:rect l="l" t="t" r="r" b="b"/>
              <a:pathLst>
                <a:path w="3606165" h="354330">
                  <a:moveTo>
                    <a:pt x="3606165" y="0"/>
                  </a:moveTo>
                  <a:lnTo>
                    <a:pt x="3606165" y="209550"/>
                  </a:lnTo>
                  <a:lnTo>
                    <a:pt x="3606165" y="354330"/>
                  </a:lnTo>
                  <a:lnTo>
                    <a:pt x="1803082" y="354330"/>
                  </a:lnTo>
                  <a:lnTo>
                    <a:pt x="0" y="354330"/>
                  </a:lnTo>
                  <a:lnTo>
                    <a:pt x="0" y="209550"/>
                  </a:lnTo>
                  <a:lnTo>
                    <a:pt x="0" y="1047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383030" y="312324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87718" y="2545080"/>
              <a:ext cx="1295400" cy="578168"/>
            </a:xfrm>
            <a:prstGeom prst="roundRect">
              <a:avLst>
                <a:gd name="adj" fmla="val 16474"/>
              </a:avLst>
            </a:prstGeom>
            <a:solidFill>
              <a:srgbClr val="EEEAF7"/>
            </a:solidFill>
            <a:ln w="19050">
              <a:solidFill>
                <a:srgbClr val="5B3FA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628900" y="2545080"/>
              <a:ext cx="1219200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393882" y="2545080"/>
              <a:ext cx="1295400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59878" y="2658904"/>
              <a:ext cx="751078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原发器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Originator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30525" y="2658904"/>
              <a:ext cx="61595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备忘录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Memento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83823" y="2658904"/>
              <a:ext cx="715518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负责人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Caretaker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130742" y="2627948"/>
              <a:ext cx="449580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162583" y="2653189"/>
              <a:ext cx="3859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① 创建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771900" y="2318385"/>
              <a:ext cx="699135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796590" y="2342674"/>
              <a:ext cx="6497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② 交出保管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728085" y="3270885"/>
              <a:ext cx="822960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749676" y="3296126"/>
              <a:ext cx="781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③ 取回并恢复</a:t>
              </a:r>
            </a:p>
          </p:txBody>
        </p:sp>
      </p:grpSp>
      <p:grpSp>
        <p:nvGrpSpPr>
          <p:cNvPr id="34" name="c1-callout-2"/>
          <p:cNvGrpSpPr/>
          <p:nvPr/>
        </p:nvGrpSpPr>
        <p:grpSpPr>
          <a:xfrm>
            <a:off x="533400" y="3902392"/>
            <a:ext cx="5410200" cy="729615"/>
            <a:chOff x="533400" y="3902392"/>
            <a:chExt cx="5410200" cy="729615"/>
          </a:xfrm>
        </p:grpSpPr>
        <p:sp>
          <p:nvSpPr>
            <p:cNvPr id="28" name="Rectangle 28"/>
            <p:cNvSpPr/>
            <p:nvPr/>
          </p:nvSpPr>
          <p:spPr>
            <a:xfrm>
              <a:off x="533400" y="3902392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4167188"/>
              <a:ext cx="200026" cy="200025"/>
              <a:chOff x="738188" y="4167188"/>
              <a:chExt cx="200026" cy="20002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41671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77926" y="42116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12642" y="43227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892" y="4048125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第三步取回的是同一个对象，写回字段这一步由原发器自己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完成。</a:t>
              </a:r>
            </a:p>
          </p:txBody>
        </p:sp>
      </p:grpSp>
      <p:grpSp>
        <p:nvGrpSpPr>
          <p:cNvPr id="41" name="c1-card-3"/>
          <p:cNvGrpSpPr/>
          <p:nvPr/>
        </p:nvGrpSpPr>
        <p:grpSpPr>
          <a:xfrm>
            <a:off x="533400" y="4806315"/>
            <a:ext cx="5410200" cy="1498282"/>
            <a:chOff x="533400" y="4806315"/>
            <a:chExt cx="5410200" cy="1498282"/>
          </a:xfrm>
        </p:grpSpPr>
        <p:sp>
          <p:nvSpPr>
            <p:cNvPr id="35" name="Rectangle 35"/>
            <p:cNvSpPr/>
            <p:nvPr/>
          </p:nvSpPr>
          <p:spPr>
            <a:xfrm>
              <a:off x="533400" y="4806315"/>
              <a:ext cx="5410200" cy="1498282"/>
            </a:xfrm>
            <a:prstGeom prst="roundRect">
              <a:avLst>
                <a:gd name="adj" fmla="val 89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42925" y="4939665"/>
              <a:ext cx="47625" cy="123158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63905" y="499872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43343" y="50330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注意第三步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747647" y="503872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恢复的动作发生在原发器内部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7047" y="5373052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负责人只把备忘录交回去，真正往字段里写值的是原发器自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己。以后备忘录多加几项，要改的也只有原发器一个类。</a:t>
              </a:r>
            </a:p>
          </p:txBody>
        </p:sp>
      </p:grpSp>
      <p:grpSp>
        <p:nvGrpSpPr>
          <p:cNvPr id="59" name="c2-steps-1"/>
          <p:cNvGrpSpPr/>
          <p:nvPr/>
        </p:nvGrpSpPr>
        <p:grpSpPr>
          <a:xfrm>
            <a:off x="6248400" y="1950720"/>
            <a:ext cx="5189855" cy="2695098"/>
            <a:chOff x="6248400" y="1950720"/>
            <a:chExt cx="5189855" cy="2695098"/>
          </a:xfrm>
        </p:grpSpPr>
        <p:sp>
          <p:nvSpPr>
            <p:cNvPr id="42" name="Rectangle 42"/>
            <p:cNvSpPr/>
            <p:nvPr/>
          </p:nvSpPr>
          <p:spPr>
            <a:xfrm>
              <a:off x="6381750" y="2093595"/>
              <a:ext cx="19050" cy="19678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6248400" y="1950720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42024" y="20245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248400" y="274510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42024" y="28189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248400" y="333184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42024" y="34056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248400" y="3919538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42024" y="39933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60642" y="198310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状态改变之前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61785" y="2250281"/>
              <a:ext cx="477647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客户端先调 originator.createMemento()，原发器把当前字段值打包成一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个备忘录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60642" y="277749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交给负责人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61785" y="3044666"/>
              <a:ext cx="44272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caretaker.setMemento(m)，负责人把它收进自己的字段或集合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660642" y="336423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业务照常进行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61785" y="3631406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原发器继续被修改，备忘录里的那一份不受影响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60642" y="395097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用户点了撤销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61785" y="4218146"/>
              <a:ext cx="296291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取出 caretaker.getMemento()，交给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originator.restoreMemento()，字段被写回</a:t>
              </a:r>
            </a:p>
          </p:txBody>
        </p:sp>
      </p:grpSp>
      <p:grpSp>
        <p:nvGrpSpPr>
          <p:cNvPr id="66" name="c2-card-2"/>
          <p:cNvGrpSpPr/>
          <p:nvPr/>
        </p:nvGrpSpPr>
        <p:grpSpPr>
          <a:xfrm>
            <a:off x="6248400" y="4814888"/>
            <a:ext cx="5410200" cy="1490662"/>
            <a:chOff x="6248400" y="4814888"/>
            <a:chExt cx="5410200" cy="1490662"/>
          </a:xfrm>
        </p:grpSpPr>
        <p:sp>
          <p:nvSpPr>
            <p:cNvPr id="60" name="Rectangle 60"/>
            <p:cNvSpPr/>
            <p:nvPr/>
          </p:nvSpPr>
          <p:spPr>
            <a:xfrm>
              <a:off x="6248400" y="4814888"/>
              <a:ext cx="5410200" cy="1490662"/>
            </a:xfrm>
            <a:prstGeom prst="roundRect">
              <a:avLst>
                <a:gd name="adj" fmla="val 894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440805" y="500729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532245" y="504158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时机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024497" y="504634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存档要赶在状态改变之前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33947" y="5380673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改完再存，存下来的已经是新状态，撤销就回不去了。所以第一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步一定排在业务修改之前。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435090" y="5936456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这四步里没有任何一步是负责人在读备忘录的内容。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备忘录模式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35 备忘录 · 结构、三个角色与封装的底线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封装的底线：同一个备忘录，两种人看到的不一样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890510" cy="293370"/>
            <a:chOff x="525780" y="1548765"/>
            <a:chExt cx="789051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8905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这是备忘录模式里唯一需要动脑筋的地方。两个角色对同一个对象拥有不同宽度的接口。</a:t>
              </a:r>
            </a:p>
          </p:txBody>
        </p:sp>
      </p:grpSp>
      <p:grpSp>
        <p:nvGrpSpPr>
          <p:cNvPr id="33" name="c1-compare-1"/>
          <p:cNvGrpSpPr/>
          <p:nvPr/>
        </p:nvGrpSpPr>
        <p:grpSpPr>
          <a:xfrm>
            <a:off x="533400" y="1954530"/>
            <a:ext cx="5627370" cy="2746058"/>
            <a:chOff x="533400" y="1954530"/>
            <a:chExt cx="5627370" cy="2746058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2604135" cy="2746058"/>
            </a:xfrm>
            <a:prstGeom prst="roundRect">
              <a:avLst>
                <a:gd name="adj" fmla="val 51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247935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381" y="217598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宽接口（给原发器）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7240" y="2571750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3831" y="2512219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能读出备忘录里的每一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个字段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7240" y="3161348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3831" y="310086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能构造出新的备忘录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77240" y="3478530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3831" y="3418999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因为恢复这件事只能由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它来做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77240" y="4068128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3831" y="4007644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它本来就知道这些字段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的含义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556635" y="1954530"/>
              <a:ext cx="2604135" cy="2746058"/>
            </a:xfrm>
            <a:prstGeom prst="roundRect">
              <a:avLst>
                <a:gd name="adj" fmla="val 51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566160" y="2087880"/>
              <a:ext cx="47625" cy="247935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785616" y="217598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窄接口（给负责人）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800475" y="2571750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957066" y="2512219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只能把这个对象整体存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起来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800475" y="3161348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957066" y="3100864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只能整体取出来交还原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发器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3800475" y="3749992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957066" y="3690461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读不到里面任何一个字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3800475" y="4339590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957066" y="427910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更不能修改里面的状态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3185160" y="3165158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1631" y="326659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39" name="c1-callout-2"/>
          <p:cNvGrpSpPr/>
          <p:nvPr/>
        </p:nvGrpSpPr>
        <p:grpSpPr>
          <a:xfrm>
            <a:off x="533400" y="4880610"/>
            <a:ext cx="5626418" cy="1394460"/>
            <a:chOff x="533400" y="4880610"/>
            <a:chExt cx="5626418" cy="1394460"/>
          </a:xfrm>
        </p:grpSpPr>
        <p:sp>
          <p:nvSpPr>
            <p:cNvPr id="34" name="Rectangle 34"/>
            <p:cNvSpPr/>
            <p:nvPr/>
          </p:nvSpPr>
          <p:spPr>
            <a:xfrm>
              <a:off x="533400" y="4880610"/>
              <a:ext cx="5626418" cy="1394460"/>
            </a:xfrm>
            <a:prstGeom prst="roundRect">
              <a:avLst>
                <a:gd name="adj" fmla="val 8197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5477830"/>
              <a:ext cx="200023" cy="200023"/>
              <a:chOff x="738188" y="5477830"/>
              <a:chExt cx="200023" cy="20002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54778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71538" y="55445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511" y="5346859"/>
              <a:ext cx="470331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负责人能改备忘录，撤销出来的就不是真实的历史状态，这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个模式也就失去了意义。</a:t>
              </a:r>
            </a:p>
          </p:txBody>
        </p:sp>
      </p:grpSp>
      <p:grpSp>
        <p:nvGrpSpPr>
          <p:cNvPr id="42" name="c2-image-1"/>
          <p:cNvGrpSpPr/>
          <p:nvPr/>
        </p:nvGrpSpPr>
        <p:grpSpPr>
          <a:xfrm>
            <a:off x="6464618" y="1954530"/>
            <a:ext cx="5193982" cy="2304669"/>
            <a:chOff x="6464618" y="1954530"/>
            <a:chExt cx="5193982" cy="2304669"/>
          </a:xfrm>
        </p:grpSpPr>
        <p:pic>
          <p:nvPicPr>
            <p:cNvPr id="40" name="Image 40"/>
            <p:cNvPicPr>
              <a:picLocks noChangeAspect="1"/>
            </p:cNvPicPr>
            <p:nvPr/>
          </p:nvPicPr>
          <p:blipFill>
            <a:blip r:embed="rId2"/>
            <a:srcRect l="0" t="24252" r="0" b="24253"/>
            <a:stretch>
              <a:fillRect/>
            </a:stretch>
          </p:blipFill>
          <p:spPr>
            <a:xfrm>
              <a:off x="6464618" y="1954530"/>
              <a:ext cx="5193982" cy="2005965"/>
            </a:xfrm>
            <a:prstGeom prst="roundRect">
              <a:avLst>
                <a:gd name="adj" fmla="val 6647"/>
              </a:avLst>
            </a:prstGeom>
          </p:spPr>
        </p:pic>
        <p:sp>
          <p:nvSpPr>
            <p:cNvPr id="41" name="TextBox 41"/>
            <p:cNvSpPr txBox="1"/>
            <p:nvPr/>
          </p:nvSpPr>
          <p:spPr>
            <a:xfrm>
              <a:off x="6795135" y="4053840"/>
              <a:ext cx="45339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保管的人只碰盒子外面，盒子里装了什么、怎么摆的，只有存它的人知道</a:t>
              </a:r>
            </a:p>
          </p:txBody>
        </p:sp>
      </p:grpSp>
      <p:grpSp>
        <p:nvGrpSpPr>
          <p:cNvPr id="50" name="c2-card-2"/>
          <p:cNvGrpSpPr/>
          <p:nvPr/>
        </p:nvGrpSpPr>
        <p:grpSpPr>
          <a:xfrm>
            <a:off x="6464618" y="4416742"/>
            <a:ext cx="5193982" cy="1858328"/>
            <a:chOff x="6464618" y="4416742"/>
            <a:chExt cx="5193982" cy="1858328"/>
          </a:xfrm>
        </p:grpSpPr>
        <p:sp>
          <p:nvSpPr>
            <p:cNvPr id="43" name="Rectangle 43"/>
            <p:cNvSpPr/>
            <p:nvPr/>
          </p:nvSpPr>
          <p:spPr>
            <a:xfrm>
              <a:off x="6464618" y="4416742"/>
              <a:ext cx="5193982" cy="1858328"/>
            </a:xfrm>
            <a:prstGeom prst="roundRect">
              <a:avLst>
                <a:gd name="adj" fmla="val 71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74142" y="4550092"/>
              <a:ext cx="47625" cy="159162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700838" y="4614862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76276" y="46491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源课件的提醒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817548" y="4650581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关键在于备忘录类和负责人类怎么设计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93598" y="4993481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备忘录里存的是原发器的中间状态，因此要防止原发器以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外的其他对象访问它，特别是不允许其他对象修改它。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93598" y="5583079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原发器与备忘录之间要分享信息而又不让其他类知道，具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体做法因编程语言而异。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备忘录模式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35 备忘录 · 结构、三个角色与封装的底线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各语言怎么把备忘录关起来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6059805" cy="4621530"/>
            <a:chOff x="533400" y="1524000"/>
            <a:chExt cx="6059805" cy="46215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621530"/>
            </a:xfrm>
            <a:prstGeom prst="roundRect">
              <a:avLst>
                <a:gd name="adj" fmla="val 206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做法三：备忘录当原发器的静态内部类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681288"/>
              <a:ext cx="6021705" cy="1962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268980"/>
              <a:ext cx="6021705" cy="1962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226" y="1938099"/>
              <a:ext cx="5603621" cy="41369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45"/>
                </a:lnSpc>
              </a:pP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Originator {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state;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0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外界只拿得到这个类型，拿不到它的任何成员 */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Memento {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state;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Memento(String state) {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.state = state; }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getState() {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.state; }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Memento createMemento() {      </a:t>
              </a:r>
              <a:r>
                <a:rPr lang="zh-CN" sz="10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外部类可以用内部类的私有成员 */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Memento(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.state);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restoreMemento(Memento m) {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.state = m.getState();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setState(String state) {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.state = state; }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getState() {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9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.state; }</a:t>
              </a:r>
              <a:br/>
              <a:r>
                <a:rPr lang="zh-CN" sz="10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1" name="c2-kv-1"/>
          <p:cNvGrpSpPr/>
          <p:nvPr/>
        </p:nvGrpSpPr>
        <p:grpSpPr>
          <a:xfrm>
            <a:off x="6890385" y="1548765"/>
            <a:ext cx="4768215" cy="2301240"/>
            <a:chOff x="6890385" y="1548765"/>
            <a:chExt cx="4768215" cy="2301240"/>
          </a:xfrm>
        </p:grpSpPr>
        <p:sp>
          <p:nvSpPr>
            <p:cNvPr id="13" name="TextBox 13"/>
            <p:cNvSpPr txBox="1"/>
            <p:nvPr/>
          </p:nvSpPr>
          <p:spPr>
            <a:xfrm>
              <a:off x="6890385" y="1548765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C++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27683" y="1548765"/>
              <a:ext cx="3263265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把原发器和备忘录声明为友元类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（friend），两者互相访问对方的私有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属性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898005" y="243268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890385" y="2552700"/>
              <a:ext cx="9566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Java 同包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27683" y="2552700"/>
              <a:ext cx="32727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备忘录类不写 public，用默认访问标识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符，只有同一个 package 里看得见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898005" y="315468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890385" y="3274695"/>
              <a:ext cx="896302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Java 内部</a:t>
              </a:r>
              <a:br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27683" y="3274695"/>
              <a:ext cx="3253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把备忘录做成原发器的内部类，构造函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数和读写方法都设为私有</a:t>
              </a:r>
            </a:p>
          </p:txBody>
        </p:sp>
      </p:grpSp>
      <p:grpSp>
        <p:nvGrpSpPr>
          <p:cNvPr id="28" name="c2-card-2"/>
          <p:cNvGrpSpPr/>
          <p:nvPr/>
        </p:nvGrpSpPr>
        <p:grpSpPr>
          <a:xfrm>
            <a:off x="6898005" y="3981450"/>
            <a:ext cx="4760595" cy="2164080"/>
            <a:chOff x="6898005" y="3981450"/>
            <a:chExt cx="4760595" cy="2164080"/>
          </a:xfrm>
        </p:grpSpPr>
        <p:sp>
          <p:nvSpPr>
            <p:cNvPr id="22" name="Rectangle 22"/>
            <p:cNvSpPr/>
            <p:nvPr/>
          </p:nvSpPr>
          <p:spPr>
            <a:xfrm>
              <a:off x="6898005" y="3981450"/>
              <a:ext cx="4760595" cy="2164080"/>
            </a:xfrm>
            <a:prstGeom prst="roundRect">
              <a:avLst>
                <a:gd name="adj" fmla="val 6162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107555" y="4191000"/>
              <a:ext cx="177450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159358" y="4226719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为什么内部类这一档最严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987790" y="422624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同包做法挡不住同包的类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99935" y="4587240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默认访问标识符只把包外挡住了。负责人如果和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它们在同一个包里，照样调得到 </a:t>
              </a:r>
              <a:r>
                <a:rPr lang="en-US" sz="150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setState()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99935" y="5208270"/>
              <a:ext cx="38061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内部类做法把成员降到 private，只有外部类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Originator 能碰，谁都绕不过去。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9" name="TextBox 2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备忘录模式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913376" cy="3351847"/>
            <a:chOff x="667512" y="1835468"/>
            <a:chExt cx="491337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骨架代码：三个类写全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先按源课件的同包写法写一遍，再看客户端怎么调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原发器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备忘录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负责人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客户端与运行结果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备忘录模式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95668" cy="909257"/>
            <a:chOff x="520446" y="342900"/>
            <a:chExt cx="579566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35 备忘录 · 骨架代码：三个类写全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9566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骨架代码（一）：原发器 Originator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197303" cy="264033"/>
            <a:chOff x="526542" y="1545907"/>
            <a:chExt cx="719730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1973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两个方法撑起整个模式：createMemento() 负责打包，restoreMemento() 负责写回。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6059805" cy="3670935"/>
            <a:chOff x="533400" y="1928812"/>
            <a:chExt cx="6059805" cy="367093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059805" cy="3670935"/>
            </a:xfrm>
            <a:prstGeom prst="roundRect">
              <a:avLst>
                <a:gd name="adj" fmla="val 259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7343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Originator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340769"/>
              <a:ext cx="4253992" cy="31863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package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dp.memento;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Originator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state;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创建一个备忘录对象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Memento createMemento()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Memento(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更正：原课件写 state = m.state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restoreMemento(Memento m)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.state = m.getState();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setState(String state)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.state = state;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getState()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.state;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c2-card-1"/>
          <p:cNvGrpSpPr/>
          <p:nvPr/>
        </p:nvGrpSpPr>
        <p:grpSpPr>
          <a:xfrm>
            <a:off x="6898005" y="1928812"/>
            <a:ext cx="4760595" cy="1930718"/>
            <a:chOff x="6898005" y="1928812"/>
            <a:chExt cx="4760595" cy="1930718"/>
          </a:xfrm>
        </p:grpSpPr>
        <p:sp>
          <p:nvSpPr>
            <p:cNvPr id="13" name="Rectangle 13"/>
            <p:cNvSpPr/>
            <p:nvPr/>
          </p:nvSpPr>
          <p:spPr>
            <a:xfrm>
              <a:off x="6898005" y="1928812"/>
              <a:ext cx="4760595" cy="1930718"/>
            </a:xfrm>
            <a:prstGeom prst="roundRect">
              <a:avLst>
                <a:gd name="adj" fmla="val 69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907530" y="2062162"/>
              <a:ext cx="47625" cy="166401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117080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208799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83056" y="2149316"/>
              <a:ext cx="25944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原课件这一句在 Java 里编译不过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10603" y="2465546"/>
              <a:ext cx="398754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源课件第 8 页写的是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state = m.state;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state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Memento 里声明为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private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，跨类访问私有字段编译报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错，同一个包里也不行。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10603" y="3237071"/>
              <a:ext cx="40769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改成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m.getState()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。同包可见的 getter 既能拿到值，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又没有放开写入。</a:t>
              </a:r>
            </a:p>
          </p:txBody>
        </p:sp>
      </p:grpSp>
      <p:grpSp>
        <p:nvGrpSpPr>
          <p:cNvPr id="28" name="c2-card-2"/>
          <p:cNvGrpSpPr/>
          <p:nvPr/>
        </p:nvGrpSpPr>
        <p:grpSpPr>
          <a:xfrm>
            <a:off x="6898005" y="4024312"/>
            <a:ext cx="4760595" cy="2173605"/>
            <a:chOff x="6898005" y="4024312"/>
            <a:chExt cx="4760595" cy="2173605"/>
          </a:xfrm>
        </p:grpSpPr>
        <p:sp>
          <p:nvSpPr>
            <p:cNvPr id="21" name="Rectangle 21"/>
            <p:cNvSpPr/>
            <p:nvPr/>
          </p:nvSpPr>
          <p:spPr>
            <a:xfrm>
              <a:off x="6898005" y="4024312"/>
              <a:ext cx="4760595" cy="2173605"/>
            </a:xfrm>
            <a:prstGeom prst="roundRect">
              <a:avLst>
                <a:gd name="adj" fmla="val 61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907530" y="4157662"/>
              <a:ext cx="47625" cy="19069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117080" y="4205288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194499" y="42381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另一处对不上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81213" y="4244816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结构图的注释和代码用了两种构造函数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10603" y="4561999"/>
              <a:ext cx="3784346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第 5 页结构图的注释写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return new</a:t>
              </a:r>
              <a:br/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Memento(state);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，对应的是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Memento(String</a:t>
              </a:r>
              <a:br/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state)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；第 8 页代码写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new Memento(this)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，对应</a:t>
              </a:r>
              <a:br/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Memento(Originator o)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10603" y="5575459"/>
              <a:ext cx="40769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两种写法都行，但构造函数签名要和调用处一致。本讲统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一按第 8 页的写法。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9" name="TextBox 2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备忘录模式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35 备忘录 · 骨架代码：三个类写全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骨架代码（二）：备忘录与负责人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120169" cy="308039"/>
            <a:chOff x="525399" y="1550194"/>
            <a:chExt cx="7120169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12016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这两个类加起来不到三十行，封装性全靠第一行那个没有 public 的类声明。</a:t>
              </a:r>
            </a:p>
          </p:txBody>
        </p:sp>
      </p:grpSp>
      <p:grpSp>
        <p:nvGrpSpPr>
          <p:cNvPr id="14" name="c1-code-1"/>
          <p:cNvGrpSpPr/>
          <p:nvPr/>
        </p:nvGrpSpPr>
        <p:grpSpPr>
          <a:xfrm>
            <a:off x="533400" y="1967865"/>
            <a:ext cx="6276022" cy="4356735"/>
            <a:chOff x="533400" y="1967865"/>
            <a:chExt cx="6276022" cy="435673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6276022" cy="4356735"/>
            </a:xfrm>
            <a:prstGeom prst="roundRect">
              <a:avLst>
                <a:gd name="adj" fmla="val 218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15090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Memento 与 Caretaker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2745105"/>
              <a:ext cx="6237922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5585460"/>
              <a:ext cx="6237922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035" y="2381726"/>
              <a:ext cx="4989830" cy="38719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package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dp.memento;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Memento { 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不写 public，只有本包可见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state;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Memento(Originator o) {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构造时立刻取值，存的是副本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.state = o.getState();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String getState()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.state;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setState(String state)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.state = state;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Caretaker {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同在 dp.memento 包中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Memento memento;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只认这个对象，不看里面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Memento getMemento()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.memento;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setMemento(Memento m) {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.memento = m;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8" name="c2-bullets-1"/>
          <p:cNvGrpSpPr/>
          <p:nvPr/>
        </p:nvGrpSpPr>
        <p:grpSpPr>
          <a:xfrm>
            <a:off x="7106602" y="1992630"/>
            <a:ext cx="4526948" cy="2103405"/>
            <a:chOff x="7106602" y="1992630"/>
            <a:chExt cx="4526948" cy="2103405"/>
          </a:xfrm>
        </p:grpSpPr>
        <p:sp>
          <p:nvSpPr>
            <p:cNvPr id="15" name="TextBox 15"/>
            <p:cNvSpPr txBox="1"/>
            <p:nvPr/>
          </p:nvSpPr>
          <p:spPr>
            <a:xfrm>
              <a:off x="7106602" y="199263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三处写法都有讲究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119938" y="24098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78052" y="2346960"/>
              <a:ext cx="16508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类声明不带 public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285672" y="271272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469696" y="2639854"/>
              <a:ext cx="41638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dp.memento 包之外的代码写不出 Memento 这个类型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119938" y="3012758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278052" y="294989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构造函数里立刻取值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285672" y="3316605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469696" y="3242786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存下来的是那一刻的字符串，不是原发器的引用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119938" y="361569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78052" y="35528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负责人字段是私有的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285672" y="3919538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469696" y="3846671"/>
              <a:ext cx="40349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它只在 get 和 set 里整体搬运，从不调 setState()</a:t>
              </a:r>
            </a:p>
          </p:txBody>
        </p:sp>
      </p:grpSp>
      <p:grpSp>
        <p:nvGrpSpPr>
          <p:cNvPr id="35" name="c2-callout-2"/>
          <p:cNvGrpSpPr/>
          <p:nvPr/>
        </p:nvGrpSpPr>
        <p:grpSpPr>
          <a:xfrm>
            <a:off x="7114222" y="4235768"/>
            <a:ext cx="4544378" cy="2087880"/>
            <a:chOff x="7114222" y="4235768"/>
            <a:chExt cx="4544378" cy="2087880"/>
          </a:xfrm>
        </p:grpSpPr>
        <p:sp>
          <p:nvSpPr>
            <p:cNvPr id="29" name="Rectangle 29"/>
            <p:cNvSpPr/>
            <p:nvPr/>
          </p:nvSpPr>
          <p:spPr>
            <a:xfrm>
              <a:off x="7114222" y="4235768"/>
              <a:ext cx="4544378" cy="2087880"/>
            </a:xfrm>
            <a:prstGeom prst="roundRect">
              <a:avLst>
                <a:gd name="adj" fmla="val 547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06952" y="5176003"/>
              <a:ext cx="224134" cy="192560"/>
              <a:chOff x="7306952" y="5176003"/>
              <a:chExt cx="224134" cy="19256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419023" y="52463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306952" y="51760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419023" y="53241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7620952" y="4898708"/>
              <a:ext cx="36728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源课件把 Memento 的构造函数和读写方法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都写成 public，和“不允许其他类调用”的说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法对不上，本讲降成包内可见。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备忘录模式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35 备忘录 · 骨架代码：三个类写全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客户端与运行结果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678930" cy="293370"/>
            <a:chOff x="525780" y="1548765"/>
            <a:chExt cx="667893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客户端负责三件事：让原发器干活、在关键时刻存档、在用户后悔时读档。</a:t>
              </a:r>
            </a:p>
          </p:txBody>
        </p:sp>
      </p:grpSp>
      <p:grpSp>
        <p:nvGrpSpPr>
          <p:cNvPr id="14" name="c1-code-1"/>
          <p:cNvGrpSpPr/>
          <p:nvPr/>
        </p:nvGrpSpPr>
        <p:grpSpPr>
          <a:xfrm>
            <a:off x="533400" y="1954530"/>
            <a:ext cx="5842635" cy="4153852"/>
            <a:chOff x="533400" y="1954530"/>
            <a:chExt cx="5842635" cy="4153852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842635" cy="4153852"/>
            </a:xfrm>
            <a:prstGeom prst="roundRect">
              <a:avLst>
                <a:gd name="adj" fmla="val 229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4014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Client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4354830"/>
              <a:ext cx="5804535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5166360"/>
              <a:ext cx="5804535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035" y="2368391"/>
              <a:ext cx="4179062" cy="3669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package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dp.memento;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Client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Originator o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Originator();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Caretaker c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Caretaker();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o.setState(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"状态一"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"当前："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o.getState());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c.setMemento(o.createMemento());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存档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o.setState(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"状态二"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"修改后："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o.getState());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o.restoreMemento(c.getMemento());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读档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"撤销后："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o.getState());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2-code-1"/>
          <p:cNvGrpSpPr/>
          <p:nvPr/>
        </p:nvGrpSpPr>
        <p:grpSpPr>
          <a:xfrm>
            <a:off x="6680835" y="1954530"/>
            <a:ext cx="4977765" cy="1110615"/>
            <a:chOff x="6680835" y="1954530"/>
            <a:chExt cx="4977765" cy="1110615"/>
          </a:xfrm>
        </p:grpSpPr>
        <p:sp>
          <p:nvSpPr>
            <p:cNvPr id="15" name="Rectangle 15"/>
            <p:cNvSpPr/>
            <p:nvPr/>
          </p:nvSpPr>
          <p:spPr>
            <a:xfrm>
              <a:off x="6680835" y="1954530"/>
              <a:ext cx="4977765" cy="1110615"/>
            </a:xfrm>
            <a:prstGeom prst="roundRect">
              <a:avLst>
                <a:gd name="adj" fmla="val 8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809232" y="210645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运行结果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808470" y="2368391"/>
              <a:ext cx="1007110" cy="625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当前：状态一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修改后：状态二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撤销后：状态一</a:t>
              </a:r>
            </a:p>
          </p:txBody>
        </p:sp>
      </p:grpSp>
      <p:grpSp>
        <p:nvGrpSpPr>
          <p:cNvPr id="26" name="c2-card-2"/>
          <p:cNvGrpSpPr/>
          <p:nvPr/>
        </p:nvGrpSpPr>
        <p:grpSpPr>
          <a:xfrm>
            <a:off x="6680835" y="3250882"/>
            <a:ext cx="4977765" cy="1623060"/>
            <a:chOff x="6680835" y="3250882"/>
            <a:chExt cx="4977765" cy="1623060"/>
          </a:xfrm>
        </p:grpSpPr>
        <p:sp>
          <p:nvSpPr>
            <p:cNvPr id="19" name="Rectangle 19"/>
            <p:cNvSpPr/>
            <p:nvPr/>
          </p:nvSpPr>
          <p:spPr>
            <a:xfrm>
              <a:off x="6680835" y="3250882"/>
              <a:ext cx="4977765" cy="1623060"/>
            </a:xfrm>
            <a:prstGeom prst="roundRect">
              <a:avLst>
                <a:gd name="adj" fmla="val 821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884670" y="3454718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966979" y="349043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对照类图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70876" y="3494246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这段代码走了类图上的两条线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77431" y="3845719"/>
              <a:ext cx="44282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o.createMemento()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是原发器到备忘录的依赖线。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77431" y="4165759"/>
              <a:ext cx="44303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c.setMemento(...)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是负责人到备忘录的聚合线。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78574" y="4482465"/>
              <a:ext cx="4535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客户端把两条线接上，原发器和负责人之间仍然没有直接调用。</a:t>
              </a:r>
            </a:p>
          </p:txBody>
        </p:sp>
      </p:grpSp>
      <p:grpSp>
        <p:nvGrpSpPr>
          <p:cNvPr id="32" name="c2-kv-3"/>
          <p:cNvGrpSpPr/>
          <p:nvPr/>
        </p:nvGrpSpPr>
        <p:grpSpPr>
          <a:xfrm>
            <a:off x="6673596" y="5082064"/>
            <a:ext cx="4985004" cy="1235964"/>
            <a:chOff x="6673596" y="5082064"/>
            <a:chExt cx="4985004" cy="1235964"/>
          </a:xfrm>
        </p:grpSpPr>
        <p:sp>
          <p:nvSpPr>
            <p:cNvPr id="27" name="TextBox 27"/>
            <p:cNvSpPr txBox="1"/>
            <p:nvPr/>
          </p:nvSpPr>
          <p:spPr>
            <a:xfrm>
              <a:off x="6673596" y="508206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存档那一行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61364" y="5082064"/>
              <a:ext cx="3431921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createMemento() 的返回值直接交给负责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人，客户端自己不留引用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680835" y="565594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73596" y="577167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读档那一行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61364" y="5771674"/>
              <a:ext cx="353110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取出来马上交给 restoreMemento()，负责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人手里那份不受影响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3" name="TextBox 33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备忘录模式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367528" cy="3351847"/>
            <a:chOff x="667512" y="1835468"/>
            <a:chExt cx="536752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实例：用户信息操作撤销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一个三个类的完整例子，从需求写到运行结果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需求与角色对应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实例类图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两段实现代码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客户端与输出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备忘录模式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35 备忘录 · 实例：用户信息操作撤销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实例需求：改错了要能退回去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977765" cy="2044065"/>
            <a:chOff x="533400" y="1524000"/>
            <a:chExt cx="4977765" cy="20440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044065"/>
            </a:xfrm>
            <a:prstGeom prst="roundRect">
              <a:avLst>
                <a:gd name="adj" fmla="val 65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773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用户信息操作模块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某系统提供了用户信息操作模块，用户可以修改自己的各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项信息。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7047" y="2649855"/>
              <a:ext cx="42999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为了使操作过程更加人性化，现使用备忘录模式对系统进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行改进，使得用户在进行了错误操作之后可以恢复到操作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之前的状态。</a:t>
              </a:r>
            </a:p>
          </p:txBody>
        </p:sp>
      </p:grpSp>
      <p:grpSp>
        <p:nvGrpSpPr>
          <p:cNvPr id="21" name="c1-callout-2"/>
          <p:cNvGrpSpPr/>
          <p:nvPr/>
        </p:nvGrpSpPr>
        <p:grpSpPr>
          <a:xfrm>
            <a:off x="533400" y="3742372"/>
            <a:ext cx="4977765" cy="729615"/>
            <a:chOff x="533400" y="3742372"/>
            <a:chExt cx="4977765" cy="729615"/>
          </a:xfrm>
        </p:grpSpPr>
        <p:sp>
          <p:nvSpPr>
            <p:cNvPr id="15" name="Rectangle 15"/>
            <p:cNvSpPr/>
            <p:nvPr/>
          </p:nvSpPr>
          <p:spPr>
            <a:xfrm>
              <a:off x="533400" y="3742372"/>
              <a:ext cx="4977765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4007168"/>
              <a:ext cx="200026" cy="200025"/>
              <a:chOff x="738188" y="4007168"/>
              <a:chExt cx="200026" cy="20002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400716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77926" y="405161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12642" y="416274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892" y="3889058"/>
              <a:ext cx="39570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先问一句：账号、密码、电话三项，撤销时要一起退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回，还是可以只退一项？</a:t>
              </a:r>
            </a:p>
          </p:txBody>
        </p:sp>
      </p:grpSp>
      <p:grpSp>
        <p:nvGrpSpPr>
          <p:cNvPr id="28" name="c1-card-3"/>
          <p:cNvGrpSpPr/>
          <p:nvPr/>
        </p:nvGrpSpPr>
        <p:grpSpPr>
          <a:xfrm>
            <a:off x="533400" y="4647248"/>
            <a:ext cx="4977765" cy="1615440"/>
            <a:chOff x="533400" y="4647248"/>
            <a:chExt cx="4977765" cy="1615440"/>
          </a:xfrm>
        </p:grpSpPr>
        <p:sp>
          <p:nvSpPr>
            <p:cNvPr id="22" name="Rectangle 22"/>
            <p:cNvSpPr/>
            <p:nvPr/>
          </p:nvSpPr>
          <p:spPr>
            <a:xfrm>
              <a:off x="533400" y="4647248"/>
              <a:ext cx="4977765" cy="1615440"/>
            </a:xfrm>
            <a:prstGeom prst="roundRect">
              <a:avLst>
                <a:gd name="adj" fmla="val 82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4780598"/>
              <a:ext cx="47625" cy="13487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63905" y="4839652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5342" y="487394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回答上面那一问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014347" y="487965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备忘录存的是一个时刻的整份状态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7047" y="5213985"/>
              <a:ext cx="432568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 saveMemento() 把三项一起打包。想只退一项，那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是另一种设计（把每一项做成一条命令），不是备忘录模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式要解决的问题。</a:t>
              </a:r>
            </a:p>
          </p:txBody>
        </p:sp>
      </p:grpSp>
      <p:grpSp>
        <p:nvGrpSpPr>
          <p:cNvPr id="49" name="c2-table-1"/>
          <p:cNvGrpSpPr/>
          <p:nvPr/>
        </p:nvGrpSpPr>
        <p:grpSpPr>
          <a:xfrm>
            <a:off x="5815965" y="1524000"/>
            <a:ext cx="5842635" cy="2023110"/>
            <a:chOff x="5815965" y="1524000"/>
            <a:chExt cx="5842635" cy="2023110"/>
          </a:xfrm>
        </p:grpSpPr>
        <p:sp>
          <p:nvSpPr>
            <p:cNvPr id="29" name="Rectangle 29"/>
            <p:cNvSpPr/>
            <p:nvPr/>
          </p:nvSpPr>
          <p:spPr>
            <a:xfrm>
              <a:off x="5815965" y="1524000"/>
              <a:ext cx="5842635" cy="40576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209741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模式角色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94536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本例中的类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814814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它负责什么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915978" y="2154079"/>
              <a:ext cx="8393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Originator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227570" y="1939290"/>
              <a:ext cx="1500188" cy="5867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318058" y="2154079"/>
              <a:ext cx="939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UserInfoDTO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37295" y="2054066"/>
              <a:ext cx="25717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存账号、密码、电话，并提供存档和读档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两个方法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815965" y="25307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815965" y="2535555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915978" y="2659856"/>
              <a:ext cx="6897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Memento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18058" y="2659856"/>
              <a:ext cx="6574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Memento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837295" y="265985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原样复制三项信息，只给出读取方法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815965" y="293655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915978" y="3165634"/>
              <a:ext cx="800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Caretaker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18058" y="3165634"/>
              <a:ext cx="7624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Caretaker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837295" y="3065621"/>
              <a:ext cx="25717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收着一个备忘录对象，负责存进来和取出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815965" y="1524000"/>
              <a:ext cx="5842635" cy="20231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213282" y="1524000"/>
              <a:ext cx="9525" cy="2023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8732520" y="1524000"/>
              <a:ext cx="9525" cy="2023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2-kv-2"/>
          <p:cNvGrpSpPr/>
          <p:nvPr/>
        </p:nvGrpSpPr>
        <p:grpSpPr>
          <a:xfrm>
            <a:off x="5809107" y="3744277"/>
            <a:ext cx="5849493" cy="1168909"/>
            <a:chOff x="5809107" y="3744277"/>
            <a:chExt cx="5849493" cy="1168909"/>
          </a:xfrm>
        </p:grpSpPr>
        <p:sp>
          <p:nvSpPr>
            <p:cNvPr id="50" name="TextBox 50"/>
            <p:cNvSpPr txBox="1"/>
            <p:nvPr/>
          </p:nvSpPr>
          <p:spPr>
            <a:xfrm>
              <a:off x="5809107" y="3744277"/>
              <a:ext cx="11741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为什么叫 DTO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174039" y="3744277"/>
              <a:ext cx="4205668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 Transfer Object，装数据的传输对象。这里它同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时充当原发器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815965" y="42872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809107" y="439578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备忘录存几项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174039" y="4395788"/>
              <a:ext cx="41285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三项全存。恢复时要让整个对象回到那一刻，少存一项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就退不干净</a:t>
              </a:r>
            </a:p>
          </p:txBody>
        </p:sp>
      </p:grpSp>
      <p:grpSp>
        <p:nvGrpSpPr>
          <p:cNvPr id="62" name="c2-card-3"/>
          <p:cNvGrpSpPr/>
          <p:nvPr/>
        </p:nvGrpSpPr>
        <p:grpSpPr>
          <a:xfrm>
            <a:off x="5815965" y="5035868"/>
            <a:ext cx="5842635" cy="1226820"/>
            <a:chOff x="5815965" y="5035868"/>
            <a:chExt cx="5842635" cy="1226820"/>
          </a:xfrm>
        </p:grpSpPr>
        <p:sp>
          <p:nvSpPr>
            <p:cNvPr id="56" name="Rectangle 56"/>
            <p:cNvSpPr/>
            <p:nvPr/>
          </p:nvSpPr>
          <p:spPr>
            <a:xfrm>
              <a:off x="5815965" y="5035868"/>
              <a:ext cx="5842635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5825490" y="5169218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046470" y="5228272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129909" y="52625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命名说明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896862" y="5268278"/>
              <a:ext cx="27063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这个例子里备忘录就叫 Memento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039612" y="5602605"/>
              <a:ext cx="5157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放在自己的包里不会和别人冲突，所以不加业务前缀。下一节象棋的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例子要和棋子对上，就改叫 ChessmanMemento。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备忘录模式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35 备忘录 · 实例：用户信息操作撤销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实例类图：把标准结构套进业务类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100090" cy="264033"/>
            <a:chOff x="526542" y="1545907"/>
            <a:chExt cx="810009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1000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和第 8 页的标准结构一模一样，只是把 Originator 换成了 UserInfoDTO，state 换成了三个字段。</a:t>
              </a:r>
            </a:p>
          </p:txBody>
        </p:sp>
      </p:grpSp>
      <p:grpSp>
        <p:nvGrpSpPr>
          <p:cNvPr id="38" name="c1-uml-1"/>
          <p:cNvGrpSpPr/>
          <p:nvPr/>
        </p:nvGrpSpPr>
        <p:grpSpPr>
          <a:xfrm>
            <a:off x="664845" y="2269808"/>
            <a:ext cx="6242685" cy="3283266"/>
            <a:chOff x="664845" y="2269808"/>
            <a:chExt cx="6242685" cy="3283266"/>
          </a:xfrm>
        </p:grpSpPr>
        <p:sp>
          <p:nvSpPr>
            <p:cNvPr id="9" name="Freeform 9"/>
            <p:cNvSpPr/>
            <p:nvPr/>
          </p:nvSpPr>
          <p:spPr>
            <a:xfrm>
              <a:off x="2566035" y="2994660"/>
              <a:ext cx="2413635" cy="9525"/>
            </a:xfrm>
            <a:custGeom>
              <a:avLst/>
              <a:gdLst/>
              <a:ahLst/>
              <a:cxnLst/>
              <a:rect l="l" t="t" r="r" b="b"/>
              <a:pathLst>
                <a:path w="2413635" h="9525">
                  <a:moveTo>
                    <a:pt x="0" y="0"/>
                  </a:moveTo>
                  <a:lnTo>
                    <a:pt x="241363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4874895" y="2936558"/>
              <a:ext cx="104775" cy="115252"/>
            </a:xfrm>
            <a:custGeom>
              <a:avLst/>
              <a:gdLst/>
              <a:ahLst/>
              <a:cxnLst/>
              <a:rect l="l" t="t" r="r" b="b"/>
              <a:pathLst>
                <a:path w="104775" h="115252">
                  <a:moveTo>
                    <a:pt x="0" y="115252"/>
                  </a:moveTo>
                  <a:lnTo>
                    <a:pt x="104775" y="58102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5943600" y="3718560"/>
              <a:ext cx="9525" cy="770573"/>
            </a:xfrm>
            <a:custGeom>
              <a:avLst/>
              <a:gdLst/>
              <a:ahLst/>
              <a:cxnLst/>
              <a:rect l="l" t="t" r="r" b="b"/>
              <a:pathLst>
                <a:path w="9525" h="770573">
                  <a:moveTo>
                    <a:pt x="0" y="0"/>
                  </a:moveTo>
                  <a:lnTo>
                    <a:pt x="0" y="770573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886450" y="4489132"/>
              <a:ext cx="114300" cy="209550"/>
            </a:xfrm>
            <a:custGeom>
              <a:avLst/>
              <a:gdLst/>
              <a:ahLst/>
              <a:cxnLst/>
              <a:rect l="l" t="t" r="r" b="b"/>
              <a:pathLst>
                <a:path w="114300" h="209550">
                  <a:moveTo>
                    <a:pt x="57150" y="209550"/>
                  </a:moveTo>
                  <a:lnTo>
                    <a:pt x="0" y="104775"/>
                  </a:lnTo>
                  <a:lnTo>
                    <a:pt x="57150" y="0"/>
                  </a:lnTo>
                  <a:lnTo>
                    <a:pt x="114300" y="104775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64845" y="2344102"/>
              <a:ext cx="1902142" cy="130016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71512" y="2350770"/>
              <a:ext cx="1887855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64845" y="2556510"/>
              <a:ext cx="190214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664845" y="3098482"/>
              <a:ext cx="190214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79670" y="2269808"/>
              <a:ext cx="1927860" cy="144875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986338" y="2276475"/>
              <a:ext cx="191357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979670" y="2482215"/>
              <a:ext cx="192786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979670" y="3023235"/>
              <a:ext cx="192786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000625" y="4698682"/>
              <a:ext cx="1885950" cy="8543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007292" y="4705350"/>
              <a:ext cx="187166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000625" y="4911090"/>
              <a:ext cx="188595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000625" y="5154930"/>
              <a:ext cx="188595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219210" y="2395538"/>
              <a:ext cx="7924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UserInfoDTO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6282" y="2624614"/>
              <a:ext cx="983234" cy="459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account: String</a:t>
              </a:r>
            </a:p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password: String</a:t>
              </a:r>
            </a:p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telNo: String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6282" y="3166586"/>
              <a:ext cx="1759077" cy="459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saveMemento(): Memento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restoreMemento(Memento user)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show()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66318" y="2321242"/>
              <a:ext cx="5545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Memento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51108" y="2550319"/>
              <a:ext cx="983234" cy="459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account: String</a:t>
              </a:r>
            </a:p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password: String</a:t>
              </a:r>
            </a:p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telNo: String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051108" y="3091339"/>
              <a:ext cx="1785112" cy="6076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Memento(String, String, String)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getAccount(): String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getPassword(): String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getTelNo(): String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621998" y="4750118"/>
              <a:ext cx="6432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Caretaker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072062" y="4979194"/>
              <a:ext cx="11400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memento: Memento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072062" y="5223034"/>
              <a:ext cx="1743456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getMemento(): Memento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setMemento(Memento memento)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439478" y="2798445"/>
              <a:ext cx="6667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465195" y="282130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创建并使用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972175" y="4130040"/>
              <a:ext cx="581025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95988" y="4152900"/>
              <a:ext cx="52444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memento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7330440" y="1928812"/>
            <a:ext cx="4328160" cy="2173605"/>
            <a:chOff x="7330440" y="1928812"/>
            <a:chExt cx="4328160" cy="2173605"/>
          </a:xfrm>
        </p:grpSpPr>
        <p:sp>
          <p:nvSpPr>
            <p:cNvPr id="39" name="Rectangle 39"/>
            <p:cNvSpPr/>
            <p:nvPr/>
          </p:nvSpPr>
          <p:spPr>
            <a:xfrm>
              <a:off x="7330440" y="1928812"/>
              <a:ext cx="4328160" cy="2173605"/>
            </a:xfrm>
            <a:prstGeom prst="roundRect">
              <a:avLst>
                <a:gd name="adj" fmla="val 61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339965" y="2062162"/>
              <a:ext cx="47625" cy="19069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549515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42187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115491" y="2149316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原类图给构造函数标了返回类型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43038" y="2465546"/>
              <a:ext cx="353237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源课件第 14 页把备忘录的构造函数写成 </a:t>
              </a:r>
              <a:r>
                <a:rPr lang="zh-CN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+</a:t>
              </a:r>
              <a:br/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Memento (String account, String password,</a:t>
              </a:r>
              <a:br/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String telNo) : void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43038" y="3237071"/>
              <a:ext cx="366242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构造函数没有返回类型，UML 里不写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: void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，Java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里写了 void 就变成一个普通方法，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new</a:t>
              </a:r>
              <a:br/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Memento(...)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会找不到构造函数。</a:t>
              </a:r>
            </a:p>
          </p:txBody>
        </p:sp>
      </p:grpSp>
      <p:grpSp>
        <p:nvGrpSpPr>
          <p:cNvPr id="54" name="c2-bullets-2"/>
          <p:cNvGrpSpPr/>
          <p:nvPr/>
        </p:nvGrpSpPr>
        <p:grpSpPr>
          <a:xfrm>
            <a:off x="7323963" y="4288631"/>
            <a:ext cx="4351191" cy="1136142"/>
            <a:chOff x="7323963" y="4288631"/>
            <a:chExt cx="4351191" cy="1136142"/>
          </a:xfrm>
        </p:grpSpPr>
        <p:sp>
          <p:nvSpPr>
            <p:cNvPr id="47" name="TextBox 47"/>
            <p:cNvSpPr txBox="1"/>
            <p:nvPr/>
          </p:nvSpPr>
          <p:spPr>
            <a:xfrm>
              <a:off x="7323963" y="428863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图上省掉了什么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7330440" y="4616768"/>
              <a:ext cx="122872" cy="99060"/>
            </a:xfrm>
            <a:custGeom>
              <a:avLst/>
              <a:gdLst/>
              <a:ahLst/>
              <a:cxnLst/>
              <a:rect l="l" t="t" r="r" b="b"/>
              <a:pathLst>
                <a:path w="122872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2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561136" y="4589621"/>
              <a:ext cx="41140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三对 getter 和 setter 都在，画图时省略不影响读图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7330440" y="4909185"/>
              <a:ext cx="122872" cy="99060"/>
            </a:xfrm>
            <a:custGeom>
              <a:avLst/>
              <a:gdLst/>
              <a:ahLst/>
              <a:cxnLst/>
              <a:rect l="l" t="t" r="r" b="b"/>
              <a:pathLst>
                <a:path w="122872" h="99060">
                  <a:moveTo>
                    <a:pt x="0" y="53340"/>
                  </a:moveTo>
                  <a:lnTo>
                    <a:pt x="46672" y="99060"/>
                  </a:lnTo>
                  <a:lnTo>
                    <a:pt x="122872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561136" y="4882991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备忘录只画读取方法，写入方法在本例里根本不需要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7330440" y="5202555"/>
              <a:ext cx="122872" cy="99060"/>
            </a:xfrm>
            <a:custGeom>
              <a:avLst/>
              <a:gdLst/>
              <a:ahLst/>
              <a:cxnLst/>
              <a:rect l="l" t="t" r="r" b="b"/>
              <a:pathLst>
                <a:path w="122872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2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561136" y="5175409"/>
              <a:ext cx="35079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Caretaker 一个字都没改，它和具体业务无关</a:t>
              </a:r>
            </a:p>
          </p:txBody>
        </p:sp>
      </p:grpSp>
      <p:grpSp>
        <p:nvGrpSpPr>
          <p:cNvPr id="60" name="c2-callout-3"/>
          <p:cNvGrpSpPr/>
          <p:nvPr/>
        </p:nvGrpSpPr>
        <p:grpSpPr>
          <a:xfrm>
            <a:off x="7330440" y="5539740"/>
            <a:ext cx="4328160" cy="702945"/>
            <a:chOff x="7330440" y="5539740"/>
            <a:chExt cx="4328160" cy="702945"/>
          </a:xfrm>
        </p:grpSpPr>
        <p:sp>
          <p:nvSpPr>
            <p:cNvPr id="55" name="Rectangle 55"/>
            <p:cNvSpPr/>
            <p:nvPr/>
          </p:nvSpPr>
          <p:spPr>
            <a:xfrm>
              <a:off x="7330440" y="5539740"/>
              <a:ext cx="4328160" cy="702945"/>
            </a:xfrm>
            <a:prstGeom prst="roundRect">
              <a:avLst>
                <a:gd name="adj" fmla="val 1626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535228" y="5791202"/>
              <a:ext cx="200023" cy="200023"/>
              <a:chOff x="7535228" y="5791202"/>
              <a:chExt cx="200023" cy="200023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535228" y="579120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668578" y="58578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7838313" y="5684996"/>
              <a:ext cx="34267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把标准结构套到业务上，先找谁是原发器：谁的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状态要被撤销，谁就是。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备忘录模式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31228" cy="909257"/>
            <a:chOff x="520446" y="342900"/>
            <a:chExt cx="61312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35 备忘录 · 实例：用户信息操作撤销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312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实例代码（一）：原发器 UserInfoDTO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6276022" cy="4829175"/>
            <a:chOff x="533400" y="1524000"/>
            <a:chExt cx="6276022" cy="48291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829175"/>
            </a:xfrm>
            <a:prstGeom prst="roundRect">
              <a:avLst>
                <a:gd name="adj" fmla="val 197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8624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UserInfoDTO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181350"/>
              <a:ext cx="6237922" cy="16002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821430"/>
              <a:ext cx="6237922" cy="16002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988" y="1935194"/>
              <a:ext cx="3820541" cy="4333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package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dp.userinfo;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UserInfoDTO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account, password, telNo;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UserInfoDTO(String a, String p, String t)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.account = a;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.password = p;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.telNo = t;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Memento saveMemento() { 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存档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Memento(account, password, telNo);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restoreMemento(Memento user) {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读档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.account = user.getAccount();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.password = user.getPassword();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.telNo = user.getTelNo();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setPassword(String p) {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.password = p;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setTelNo(String t) {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.telNo = t;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show()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8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"账号 "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account + </a:t>
              </a:r>
              <a:r>
                <a:rPr lang="zh-CN" sz="8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"｜密码 "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+ password + </a:t>
              </a:r>
              <a:r>
                <a:rPr lang="zh-CN" sz="8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"｜电话 "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telNo);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9" name="c2-bullets-1"/>
          <p:cNvGrpSpPr/>
          <p:nvPr/>
        </p:nvGrpSpPr>
        <p:grpSpPr>
          <a:xfrm>
            <a:off x="7107364" y="1545907"/>
            <a:ext cx="3354490" cy="1884522"/>
            <a:chOff x="7107364" y="1545907"/>
            <a:chExt cx="3354490" cy="1884522"/>
          </a:xfrm>
        </p:grpSpPr>
        <p:sp>
          <p:nvSpPr>
            <p:cNvPr id="13" name="TextBox 13"/>
            <p:cNvSpPr txBox="1"/>
            <p:nvPr/>
          </p:nvSpPr>
          <p:spPr>
            <a:xfrm>
              <a:off x="7107364" y="1545907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这个类做了三件事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114222" y="1853565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169901" y="189290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94067" y="1865947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装业务数据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400925" y="2193608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85710" y="2130266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三个字段就是这个模块真正要管的东西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114222" y="2393632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169901" y="243297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94067" y="240601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打包成备忘录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400925" y="2733675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85710" y="2670334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把三个字段的当前值传进备忘录的构造函数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114222" y="2934652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169901" y="297303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94067" y="294608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按备忘录写回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400925" y="3273742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585710" y="3210401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逐项取出来赋值，三项一起回到同一个时刻</a:t>
              </a:r>
            </a:p>
          </p:txBody>
        </p:sp>
      </p:grpSp>
      <p:grpSp>
        <p:nvGrpSpPr>
          <p:cNvPr id="35" name="c2-callout-2"/>
          <p:cNvGrpSpPr/>
          <p:nvPr/>
        </p:nvGrpSpPr>
        <p:grpSpPr>
          <a:xfrm>
            <a:off x="7114222" y="3561398"/>
            <a:ext cx="4544378" cy="729615"/>
            <a:chOff x="7114222" y="3561398"/>
            <a:chExt cx="4544378" cy="729615"/>
          </a:xfrm>
        </p:grpSpPr>
        <p:sp>
          <p:nvSpPr>
            <p:cNvPr id="30" name="Rectangle 30"/>
            <p:cNvSpPr/>
            <p:nvPr/>
          </p:nvSpPr>
          <p:spPr>
            <a:xfrm>
              <a:off x="7114222" y="3561398"/>
              <a:ext cx="4544378" cy="729615"/>
            </a:xfrm>
            <a:prstGeom prst="roundRect">
              <a:avLst>
                <a:gd name="adj" fmla="val 15666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19010" y="3826195"/>
              <a:ext cx="200023" cy="200023"/>
              <a:chOff x="7319010" y="3826195"/>
              <a:chExt cx="200023" cy="200023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19010" y="382619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452360" y="38928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7621714" y="3707130"/>
              <a:ext cx="36141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只有这个类能读懂备忘录里的三项分别是什么。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这就是宽接口。</a:t>
              </a:r>
            </a:p>
          </p:txBody>
        </p:sp>
      </p:grpSp>
      <p:grpSp>
        <p:nvGrpSpPr>
          <p:cNvPr id="43" name="c2-card-3"/>
          <p:cNvGrpSpPr/>
          <p:nvPr/>
        </p:nvGrpSpPr>
        <p:grpSpPr>
          <a:xfrm>
            <a:off x="7114222" y="4466272"/>
            <a:ext cx="4544378" cy="1886902"/>
            <a:chOff x="7114222" y="4466272"/>
            <a:chExt cx="4544378" cy="1886902"/>
          </a:xfrm>
        </p:grpSpPr>
        <p:sp>
          <p:nvSpPr>
            <p:cNvPr id="36" name="Rectangle 36"/>
            <p:cNvSpPr/>
            <p:nvPr/>
          </p:nvSpPr>
          <p:spPr>
            <a:xfrm>
              <a:off x="7114222" y="4466272"/>
              <a:ext cx="4544378" cy="1886902"/>
            </a:xfrm>
            <a:prstGeom prst="roundRect">
              <a:avLst>
                <a:gd name="adj" fmla="val 70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123748" y="4599622"/>
              <a:ext cx="47625" cy="162020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344728" y="465867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436168" y="469296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28420" y="4697730"/>
              <a:ext cx="2675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saveMemento() 不要返回 this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37870" y="5032058"/>
              <a:ext cx="39570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返回原发器自己，等于把整个对象交了出去，外面拿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到引用就能直接改它的字段，封装这一条就没了。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39012" y="5587841"/>
              <a:ext cx="387324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构造函数和两个 setter 的参数写成 a、p、t 只是为了让这一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页排得下，实际工程里仍写完整的名字。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备忘录模式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35 备忘录 · 实例：用户信息操作撤销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实例代码（二）：备忘录与负责人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513932" cy="278702"/>
            <a:chOff x="526161" y="1547336"/>
            <a:chExt cx="6513932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5139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备忘录这次只给读取方法。存进去之后谁也改不了，连原发器自己也改不了。</a:t>
              </a:r>
            </a:p>
          </p:txBody>
        </p:sp>
      </p:grpSp>
      <p:grpSp>
        <p:nvGrpSpPr>
          <p:cNvPr id="15" name="c1-code-1"/>
          <p:cNvGrpSpPr/>
          <p:nvPr/>
        </p:nvGrpSpPr>
        <p:grpSpPr>
          <a:xfrm>
            <a:off x="533400" y="1941195"/>
            <a:ext cx="6276022" cy="4029075"/>
            <a:chOff x="533400" y="1941195"/>
            <a:chExt cx="6276022" cy="402907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6276022" cy="4029075"/>
            </a:xfrm>
            <a:prstGeom prst="roundRect">
              <a:avLst>
                <a:gd name="adj" fmla="val 236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93119"/>
              <a:ext cx="15090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Memento 与 Caretaker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2799398"/>
              <a:ext cx="6237922" cy="16002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2959418"/>
              <a:ext cx="6237922" cy="16002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52450" y="3119438"/>
              <a:ext cx="6237922" cy="16002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988" y="2353342"/>
              <a:ext cx="3775837" cy="3533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package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dp.userinfo;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Memento {       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包内可见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account;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password;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telNo;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Memento(String account, String password, String telNo)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.account = account;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.password = password;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.telNo = telNo;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String getAccount() {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.account; }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String getPassword() {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.password; }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String getTelNo() {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.telNo;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Caretaker {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同在 dp.userinfo 包中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Memento memento;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Memento getMemento() {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.memento;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setMemento(Memento m) { </a:t>
              </a:r>
              <a:r>
                <a:rPr lang="en-US" sz="8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.memento = m;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1" name="c2-card-1"/>
          <p:cNvGrpSpPr/>
          <p:nvPr/>
        </p:nvGrpSpPr>
        <p:grpSpPr>
          <a:xfrm>
            <a:off x="7114222" y="1941195"/>
            <a:ext cx="4544378" cy="1483995"/>
            <a:chOff x="7114222" y="1941195"/>
            <a:chExt cx="4544378" cy="1483995"/>
          </a:xfrm>
        </p:grpSpPr>
        <p:sp>
          <p:nvSpPr>
            <p:cNvPr id="16" name="Rectangle 16"/>
            <p:cNvSpPr/>
            <p:nvPr/>
          </p:nvSpPr>
          <p:spPr>
            <a:xfrm>
              <a:off x="7114222" y="1941195"/>
              <a:ext cx="4544378" cy="1483995"/>
            </a:xfrm>
            <a:prstGeom prst="roundRect">
              <a:avLst>
                <a:gd name="adj" fmla="val 898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06628" y="2133600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366064" y="216789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比骨架代码多做的一步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957120" y="2173605"/>
              <a:ext cx="17724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三个字段都加了 final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99770" y="2507932"/>
              <a:ext cx="397421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备忘录一旦建好就不再变化。加上 </a:t>
              </a:r>
              <a:r>
                <a:rPr lang="en-US" sz="135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final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之后，连包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内的代码也写不进去，编译期就把“历史被改写”这条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路堵死。</a:t>
              </a:r>
            </a:p>
          </p:txBody>
        </p:sp>
      </p:grpSp>
      <p:grpSp>
        <p:nvGrpSpPr>
          <p:cNvPr id="29" name="c2-card-2"/>
          <p:cNvGrpSpPr/>
          <p:nvPr/>
        </p:nvGrpSpPr>
        <p:grpSpPr>
          <a:xfrm>
            <a:off x="7114222" y="3600450"/>
            <a:ext cx="4544378" cy="1747838"/>
            <a:chOff x="7114222" y="3600450"/>
            <a:chExt cx="4544378" cy="1747838"/>
          </a:xfrm>
        </p:grpSpPr>
        <p:sp>
          <p:nvSpPr>
            <p:cNvPr id="22" name="Rectangle 22"/>
            <p:cNvSpPr/>
            <p:nvPr/>
          </p:nvSpPr>
          <p:spPr>
            <a:xfrm>
              <a:off x="7114222" y="3600450"/>
              <a:ext cx="4544378" cy="1747838"/>
            </a:xfrm>
            <a:prstGeom prst="roundRect">
              <a:avLst>
                <a:gd name="adj" fmla="val 76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7123748" y="3733800"/>
              <a:ext cx="47625" cy="14811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344728" y="3792855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408164" y="382714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什么时候不能这样写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861870" y="3832860"/>
              <a:ext cx="2556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字段是可变对象时 final 不够用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37870" y="4167188"/>
              <a:ext cx="39570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final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只保证引用不变。如果字段是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List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或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Date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外面拿到引用照样能改内容，这时要在构造函数里做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一次拷贝。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39012" y="4980146"/>
              <a:ext cx="3584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这一条第 34 页还会再讲一遍，是自学最容易踩的坑。</a:t>
              </a:r>
            </a:p>
          </p:txBody>
        </p:sp>
      </p:grpSp>
      <p:grpSp>
        <p:nvGrpSpPr>
          <p:cNvPr id="35" name="c2-callout-3"/>
          <p:cNvGrpSpPr/>
          <p:nvPr/>
        </p:nvGrpSpPr>
        <p:grpSpPr>
          <a:xfrm>
            <a:off x="7114222" y="5523548"/>
            <a:ext cx="4544378" cy="729615"/>
            <a:chOff x="7114222" y="5523548"/>
            <a:chExt cx="4544378" cy="729615"/>
          </a:xfrm>
        </p:grpSpPr>
        <p:sp>
          <p:nvSpPr>
            <p:cNvPr id="30" name="Rectangle 30"/>
            <p:cNvSpPr/>
            <p:nvPr/>
          </p:nvSpPr>
          <p:spPr>
            <a:xfrm>
              <a:off x="7114222" y="5523548"/>
              <a:ext cx="4544378" cy="729615"/>
            </a:xfrm>
            <a:prstGeom prst="roundRect">
              <a:avLst>
                <a:gd name="adj" fmla="val 15666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19010" y="5788345"/>
              <a:ext cx="200023" cy="200023"/>
              <a:chOff x="7319010" y="5788345"/>
              <a:chExt cx="200023" cy="200023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19010" y="578834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452360" y="58550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7621714" y="5669280"/>
              <a:ext cx="36141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备忘录只给读取方法，连原发器也改不了它。要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换状态，去改原发器，再存一份新的。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备忘录模式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35 备忘录 · 实例：用户信息操作撤销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客户端与运行结果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513663" cy="308039"/>
            <a:chOff x="525399" y="1550194"/>
            <a:chExt cx="7513663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51366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修改之前先存档，用户后悔时读档。中间的两次 set 不影响已经存好的那一份。</a:t>
              </a:r>
            </a:p>
          </p:txBody>
        </p:sp>
      </p:grpSp>
      <p:grpSp>
        <p:nvGrpSpPr>
          <p:cNvPr id="14" name="c1-code-1"/>
          <p:cNvGrpSpPr/>
          <p:nvPr/>
        </p:nvGrpSpPr>
        <p:grpSpPr>
          <a:xfrm>
            <a:off x="533400" y="1967865"/>
            <a:ext cx="5842635" cy="3670935"/>
            <a:chOff x="533400" y="1967865"/>
            <a:chExt cx="5842635" cy="367093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842635" cy="3670935"/>
            </a:xfrm>
            <a:prstGeom prst="roundRect">
              <a:avLst>
                <a:gd name="adj" fmla="val 259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4014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Client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925252"/>
              <a:ext cx="580453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4804410"/>
              <a:ext cx="580453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797" y="2379821"/>
              <a:ext cx="4459351" cy="31863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package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dp.userinfo;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Client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UserInfoDTO user =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UserInfoDTO(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"zhangsan"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"123456"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"13512345678"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Caretaker c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Caretaker();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"原始信息："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 user.show();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c.setMemento(user.saveMemento());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改之前先存档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user.setPassword(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"abcdef"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user.setTelNo(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"13698765432"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"修改之后："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 user.show();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user.restoreMemento(c.getMemento());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用户后悔了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"撤销之后："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 user.show();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2-code-1"/>
          <p:cNvGrpSpPr/>
          <p:nvPr/>
        </p:nvGrpSpPr>
        <p:grpSpPr>
          <a:xfrm>
            <a:off x="6680835" y="1967865"/>
            <a:ext cx="4977765" cy="1033462"/>
            <a:chOff x="6680835" y="1967865"/>
            <a:chExt cx="4977765" cy="1033462"/>
          </a:xfrm>
        </p:grpSpPr>
        <p:sp>
          <p:nvSpPr>
            <p:cNvPr id="15" name="Rectangle 15"/>
            <p:cNvSpPr/>
            <p:nvPr/>
          </p:nvSpPr>
          <p:spPr>
            <a:xfrm>
              <a:off x="6680835" y="1967865"/>
              <a:ext cx="4977765" cy="1033462"/>
            </a:xfrm>
            <a:prstGeom prst="roundRect">
              <a:avLst>
                <a:gd name="adj" fmla="val 92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809232" y="211978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运行结果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809232" y="2379821"/>
              <a:ext cx="3544570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原始信息：账号 zhangsan｜密码 123456｜电话 13512345678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修改之后：账号 zhangsan｜密码 abcdef｜电话 13698765432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撤销之后：账号 zhangsan｜密码 123456｜电话 13512345678</a:t>
              </a:r>
            </a:p>
          </p:txBody>
        </p:sp>
      </p:grpSp>
      <p:grpSp>
        <p:nvGrpSpPr>
          <p:cNvPr id="24" name="c2-kv-2"/>
          <p:cNvGrpSpPr/>
          <p:nvPr/>
        </p:nvGrpSpPr>
        <p:grpSpPr>
          <a:xfrm>
            <a:off x="6673215" y="3216592"/>
            <a:ext cx="4985385" cy="1297306"/>
            <a:chOff x="6673215" y="3216592"/>
            <a:chExt cx="4985385" cy="1297306"/>
          </a:xfrm>
        </p:grpSpPr>
        <p:sp>
          <p:nvSpPr>
            <p:cNvPr id="19" name="TextBox 19"/>
            <p:cNvSpPr txBox="1"/>
            <p:nvPr/>
          </p:nvSpPr>
          <p:spPr>
            <a:xfrm>
              <a:off x="6673215" y="3216592"/>
              <a:ext cx="1158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第一行与第三</a:t>
              </a:r>
              <a:br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66735" y="3216592"/>
              <a:ext cx="3253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完全一致，说明三项一起退回到了存档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那一刻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680835" y="381857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673215" y="3938588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账号没被改过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66735" y="3938588"/>
              <a:ext cx="3253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它也照样被存进备忘录。存的是整份状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态，不是改动清单</a:t>
              </a:r>
            </a:p>
          </p:txBody>
        </p:sp>
      </p:grpSp>
      <p:grpSp>
        <p:nvGrpSpPr>
          <p:cNvPr id="3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25" name="Rectangle 2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130" y="5991225"/>
              <a:ext cx="8496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把高亮的那一行存档去掉再跑一次，撤销那一步会抛空指针，因为负责人手里根本没有备忘录。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2" name="TextBox 32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备忘录模式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882896" cy="3351847"/>
            <a:chOff x="667512" y="1835468"/>
            <a:chExt cx="488289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扩展：多次撤销与重做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一个备忘录变成一串备忘录，再加一个游标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象棋悔棋类图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负责人的三个方法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游标轨迹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备忘录模式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35 备忘录 · 扩展：多次撤销与重做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多次撤销：把一个字段换成一个集合加一个游标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616696" cy="278702"/>
            <a:chOff x="526161" y="1547336"/>
            <a:chExt cx="8616696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6166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源课件的做法是在负责人类中定义一个集合来存多个备忘录，逆向遍历实现撤销，正向遍历实现重做。</a:t>
              </a:r>
            </a:p>
          </p:txBody>
        </p:sp>
      </p:grpSp>
      <p:grpSp>
        <p:nvGrpSpPr>
          <p:cNvPr id="24" name="c1-cells-1"/>
          <p:cNvGrpSpPr/>
          <p:nvPr/>
        </p:nvGrpSpPr>
        <p:grpSpPr>
          <a:xfrm>
            <a:off x="527685" y="1941195"/>
            <a:ext cx="3701415" cy="889635"/>
            <a:chOff x="527685" y="1941195"/>
            <a:chExt cx="3701415" cy="889635"/>
          </a:xfrm>
        </p:grpSpPr>
        <p:sp>
          <p:nvSpPr>
            <p:cNvPr id="9" name="TextBox 9"/>
            <p:cNvSpPr txBox="1"/>
            <p:nvPr/>
          </p:nvSpPr>
          <p:spPr>
            <a:xfrm>
              <a:off x="527685" y="2062639"/>
              <a:ext cx="9980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mementoList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592580" y="1941195"/>
              <a:ext cx="65913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98373" y="206263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 0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251710" y="1941195"/>
              <a:ext cx="65913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357503" y="206263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 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910840" y="1941195"/>
              <a:ext cx="65913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016633" y="206263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 2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569970" y="1941195"/>
              <a:ext cx="65913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675763" y="2062639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 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87026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546156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205286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864416" y="23769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3861435" y="252317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735753" y="2654618"/>
              <a:ext cx="3275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index</a:t>
              </a:r>
            </a:p>
          </p:txBody>
        </p:sp>
      </p:grpSp>
      <p:grpSp>
        <p:nvGrpSpPr>
          <p:cNvPr id="26" name="c1-text-2"/>
          <p:cNvGrpSpPr/>
          <p:nvPr/>
        </p:nvGrpSpPr>
        <p:grpSpPr>
          <a:xfrm>
            <a:off x="1785351" y="2997041"/>
            <a:ext cx="2906298" cy="220028"/>
            <a:chOff x="1785351" y="2997041"/>
            <a:chExt cx="2906298" cy="220028"/>
          </a:xfrm>
        </p:grpSpPr>
        <p:sp>
          <p:nvSpPr>
            <p:cNvPr id="25" name="TextBox 25"/>
            <p:cNvSpPr txBox="1"/>
            <p:nvPr/>
          </p:nvSpPr>
          <p:spPr>
            <a:xfrm>
              <a:off x="1785351" y="2997041"/>
              <a:ext cx="29062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撤销把 index 往左挪，重做把 index 往右挪</a:t>
              </a:r>
            </a:p>
          </p:txBody>
        </p:sp>
      </p:grpSp>
      <p:grpSp>
        <p:nvGrpSpPr>
          <p:cNvPr id="33" name="c1-card-3"/>
          <p:cNvGrpSpPr/>
          <p:nvPr/>
        </p:nvGrpSpPr>
        <p:grpSpPr>
          <a:xfrm>
            <a:off x="533400" y="3347085"/>
            <a:ext cx="5410200" cy="1483995"/>
            <a:chOff x="533400" y="3347085"/>
            <a:chExt cx="5410200" cy="1483995"/>
          </a:xfrm>
        </p:grpSpPr>
        <p:sp>
          <p:nvSpPr>
            <p:cNvPr id="27" name="Rectangle 27"/>
            <p:cNvSpPr/>
            <p:nvPr/>
          </p:nvSpPr>
          <p:spPr>
            <a:xfrm>
              <a:off x="533400" y="3347085"/>
              <a:ext cx="5410200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3480435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63905" y="3539490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39343" y="357378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容易漏的一步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80997" y="357949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撤销之后又走了新的一步怎么办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7047" y="3913822"/>
              <a:ext cx="466001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这时候 index 右边那些备忘录已经作废了，必须先丢掉，再把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新状态追加进来。不清掉的话，重做会跳到一段根本没发生过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的历史上。</a:t>
              </a:r>
            </a:p>
          </p:txBody>
        </p:sp>
      </p:grpSp>
      <p:grpSp>
        <p:nvGrpSpPr>
          <p:cNvPr id="40" name="c1-card-4"/>
          <p:cNvGrpSpPr/>
          <p:nvPr/>
        </p:nvGrpSpPr>
        <p:grpSpPr>
          <a:xfrm>
            <a:off x="533400" y="5006340"/>
            <a:ext cx="5410200" cy="1295400"/>
            <a:chOff x="533400" y="5006340"/>
            <a:chExt cx="5410200" cy="1295400"/>
          </a:xfrm>
        </p:grpSpPr>
        <p:sp>
          <p:nvSpPr>
            <p:cNvPr id="34" name="Rectangle 34"/>
            <p:cNvSpPr/>
            <p:nvPr/>
          </p:nvSpPr>
          <p:spPr>
            <a:xfrm>
              <a:off x="533400" y="5006340"/>
              <a:ext cx="5410200" cy="1295400"/>
            </a:xfrm>
            <a:prstGeom prst="roundRect">
              <a:avLst>
                <a:gd name="adj" fmla="val 102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925" y="5139690"/>
              <a:ext cx="47625" cy="10287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63905" y="519874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47344" y="523303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两种存法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614297" y="523875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用栈也行，但只够做撤销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7047" y="5573078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栈存备忘录，撤销就是出栈，写起来最简单。可是出栈之后那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一份就丢了，没法再重做。要重做就得用列表加游标。</a:t>
              </a:r>
            </a:p>
          </p:txBody>
        </p:sp>
      </p:grpSp>
      <p:grpSp>
        <p:nvGrpSpPr>
          <p:cNvPr id="49" name="c2-kv-1"/>
          <p:cNvGrpSpPr/>
          <p:nvPr/>
        </p:nvGrpSpPr>
        <p:grpSpPr>
          <a:xfrm>
            <a:off x="6241542" y="1964055"/>
            <a:ext cx="5417058" cy="1820418"/>
            <a:chOff x="6241542" y="1964055"/>
            <a:chExt cx="5417058" cy="1820418"/>
          </a:xfrm>
        </p:grpSpPr>
        <p:sp>
          <p:nvSpPr>
            <p:cNvPr id="41" name="TextBox 41"/>
            <p:cNvSpPr txBox="1"/>
            <p:nvPr/>
          </p:nvSpPr>
          <p:spPr>
            <a:xfrm>
              <a:off x="6241542" y="1964055"/>
              <a:ext cx="8610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撤销 Undo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15010" y="1964055"/>
              <a:ext cx="375132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index 减一，取出前一个备忘录交给原发器恢复。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index 已经在 0 就不能再退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48400" y="25060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241542" y="2615565"/>
              <a:ext cx="8610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重做 Redo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15010" y="2615565"/>
              <a:ext cx="392277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index 加一，取出后一个备忘录。它的作用是取消撤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销，让状态再回去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31584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41542" y="3267075"/>
              <a:ext cx="8610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存档 Save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15010" y="3267075"/>
              <a:ext cx="3802761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先清掉 index 右边作废的记录，再追加新备忘录，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index 跟着加一</a:t>
              </a:r>
            </a:p>
          </p:txBody>
        </p:sp>
      </p:grpSp>
      <p:grpSp>
        <p:nvGrpSpPr>
          <p:cNvPr id="55" name="c2-callout-2"/>
          <p:cNvGrpSpPr/>
          <p:nvPr/>
        </p:nvGrpSpPr>
        <p:grpSpPr>
          <a:xfrm>
            <a:off x="6248400" y="3907155"/>
            <a:ext cx="5410200" cy="729615"/>
            <a:chOff x="6248400" y="3907155"/>
            <a:chExt cx="5410200" cy="729615"/>
          </a:xfrm>
        </p:grpSpPr>
        <p:sp>
          <p:nvSpPr>
            <p:cNvPr id="50" name="Rectangle 50"/>
            <p:cNvSpPr/>
            <p:nvPr/>
          </p:nvSpPr>
          <p:spPr>
            <a:xfrm>
              <a:off x="6248400" y="3907155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453188" y="4171952"/>
              <a:ext cx="200023" cy="200023"/>
              <a:chOff x="6453188" y="4171952"/>
              <a:chExt cx="200023" cy="20002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453188" y="417195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586538" y="42386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755892" y="4052888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撤销次数有限的软件，就是给这个集合设了上限，满了就把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最旧的那一条挤出去。</a:t>
              </a:r>
            </a:p>
          </p:txBody>
        </p:sp>
      </p:grpSp>
      <p:grpSp>
        <p:nvGrpSpPr>
          <p:cNvPr id="63" name="c2-card-3"/>
          <p:cNvGrpSpPr/>
          <p:nvPr/>
        </p:nvGrpSpPr>
        <p:grpSpPr>
          <a:xfrm>
            <a:off x="6248400" y="4811078"/>
            <a:ext cx="5410200" cy="1490662"/>
            <a:chOff x="6248400" y="4811078"/>
            <a:chExt cx="5410200" cy="1490662"/>
          </a:xfrm>
        </p:grpSpPr>
        <p:sp>
          <p:nvSpPr>
            <p:cNvPr id="56" name="Rectangle 56"/>
            <p:cNvSpPr/>
            <p:nvPr/>
          </p:nvSpPr>
          <p:spPr>
            <a:xfrm>
              <a:off x="6248400" y="4811078"/>
              <a:ext cx="5410200" cy="1490662"/>
            </a:xfrm>
            <a:prstGeom prst="roundRect">
              <a:avLst>
                <a:gd name="adj" fmla="val 89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257925" y="4944428"/>
              <a:ext cx="47625" cy="122396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478905" y="500348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570345" y="503777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边界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062597" y="504348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游标的两个端点都要判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72047" y="5377815"/>
              <a:ext cx="46000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index 等于 0 时不能再撤销，index 等于列表末尾时不能再重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做。这两处判断漏掉就会下标越界。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473190" y="5933599"/>
              <a:ext cx="3630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游标放在负责人里，原发器不该知道自己被存过几次。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备忘录模式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35 备忘录 · 扩展：多次撤销与重做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实例：中国象棋的悔棋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513932" cy="278702"/>
            <a:chOff x="526161" y="1547336"/>
            <a:chExt cx="6513932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5139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棋子是原发器，棋子的位置是要保存的状态，负责人这次收的是一串备忘录。</a:t>
              </a:r>
            </a:p>
          </p:txBody>
        </p:sp>
      </p:grpSp>
      <p:grpSp>
        <p:nvGrpSpPr>
          <p:cNvPr id="38" name="c1-uml-1"/>
          <p:cNvGrpSpPr/>
          <p:nvPr/>
        </p:nvGrpSpPr>
        <p:grpSpPr>
          <a:xfrm>
            <a:off x="721995" y="2218372"/>
            <a:ext cx="6227445" cy="3303270"/>
            <a:chOff x="721995" y="2218372"/>
            <a:chExt cx="6227445" cy="3303270"/>
          </a:xfrm>
        </p:grpSpPr>
        <p:sp>
          <p:nvSpPr>
            <p:cNvPr id="9" name="Freeform 9"/>
            <p:cNvSpPr/>
            <p:nvPr/>
          </p:nvSpPr>
          <p:spPr>
            <a:xfrm>
              <a:off x="2508885" y="2943225"/>
              <a:ext cx="2428875" cy="9525"/>
            </a:xfrm>
            <a:custGeom>
              <a:avLst/>
              <a:gdLst/>
              <a:ahLst/>
              <a:cxnLst/>
              <a:rect l="l" t="t" r="r" b="b"/>
              <a:pathLst>
                <a:path w="2428875" h="9525">
                  <a:moveTo>
                    <a:pt x="0" y="0"/>
                  </a:moveTo>
                  <a:lnTo>
                    <a:pt x="242887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4832985" y="2885122"/>
              <a:ext cx="104775" cy="115253"/>
            </a:xfrm>
            <a:custGeom>
              <a:avLst/>
              <a:gdLst/>
              <a:ahLst/>
              <a:cxnLst/>
              <a:rect l="l" t="t" r="r" b="b"/>
              <a:pathLst>
                <a:path w="104775" h="115253">
                  <a:moveTo>
                    <a:pt x="0" y="115253"/>
                  </a:moveTo>
                  <a:lnTo>
                    <a:pt x="104775" y="58103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5943600" y="3667125"/>
              <a:ext cx="9525" cy="493395"/>
            </a:xfrm>
            <a:custGeom>
              <a:avLst/>
              <a:gdLst/>
              <a:ahLst/>
              <a:cxnLst/>
              <a:rect l="l" t="t" r="r" b="b"/>
              <a:pathLst>
                <a:path w="9525" h="493395">
                  <a:moveTo>
                    <a:pt x="0" y="0"/>
                  </a:moveTo>
                  <a:lnTo>
                    <a:pt x="0" y="49339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886450" y="4160520"/>
              <a:ext cx="114300" cy="209550"/>
            </a:xfrm>
            <a:custGeom>
              <a:avLst/>
              <a:gdLst/>
              <a:ahLst/>
              <a:cxnLst/>
              <a:rect l="l" t="t" r="r" b="b"/>
              <a:pathLst>
                <a:path w="114300" h="209550">
                  <a:moveTo>
                    <a:pt x="57150" y="209550"/>
                  </a:moveTo>
                  <a:lnTo>
                    <a:pt x="0" y="104775"/>
                  </a:lnTo>
                  <a:lnTo>
                    <a:pt x="57150" y="0"/>
                  </a:lnTo>
                  <a:lnTo>
                    <a:pt x="114300" y="104775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721995" y="2292668"/>
              <a:ext cx="1787842" cy="130016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8662" y="2300288"/>
              <a:ext cx="1773555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21995" y="2505075"/>
              <a:ext cx="178784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1995" y="3047048"/>
              <a:ext cx="178784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37760" y="2218372"/>
              <a:ext cx="2011680" cy="144875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945380" y="2225040"/>
              <a:ext cx="199739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937760" y="2430780"/>
              <a:ext cx="201168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937760" y="2972752"/>
              <a:ext cx="201168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071110" y="4370070"/>
              <a:ext cx="1745932" cy="115157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077778" y="4376738"/>
              <a:ext cx="1731645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071110" y="4582478"/>
              <a:ext cx="174593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071110" y="4974908"/>
              <a:ext cx="174593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316011" y="2344102"/>
              <a:ext cx="5988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Chessman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3432" y="2573179"/>
              <a:ext cx="738505" cy="459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label: String</a:t>
              </a:r>
            </a:p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x: int</a:t>
              </a:r>
            </a:p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y: int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3432" y="3115151"/>
              <a:ext cx="1644523" cy="459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save(): ChessmanMemento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restore(ChessmanMemento m)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display()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371659" y="2269808"/>
              <a:ext cx="11438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ChessmanMemento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09198" y="2498884"/>
              <a:ext cx="738505" cy="459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label: String</a:t>
              </a:r>
            </a:p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x: int</a:t>
              </a:r>
            </a:p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y: int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009198" y="3040856"/>
              <a:ext cx="1920494" cy="6076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ChessmanMemento(String, int, int)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getLabel(): String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getX(): int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getY(): int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349504" y="4421505"/>
              <a:ext cx="118819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MementoCaretaker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142548" y="4650581"/>
              <a:ext cx="1602867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list: List&lt;ChessmanMemento&gt;</a:t>
              </a:r>
            </a:p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index: int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142548" y="5043011"/>
              <a:ext cx="1472692" cy="459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save(ChessmanMemento m)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undo(): ChessmanMemento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redo(): ChessmanMemento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364230" y="2736532"/>
              <a:ext cx="71723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388550" y="276177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创建并使用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972175" y="3932872"/>
              <a:ext cx="36861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95797" y="3958114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0..*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7330440" y="1941195"/>
            <a:ext cx="4328160" cy="2044065"/>
            <a:chOff x="7330440" y="1941195"/>
            <a:chExt cx="4328160" cy="2044065"/>
          </a:xfrm>
        </p:grpSpPr>
        <p:sp>
          <p:nvSpPr>
            <p:cNvPr id="39" name="Rectangle 39"/>
            <p:cNvSpPr/>
            <p:nvPr/>
          </p:nvSpPr>
          <p:spPr>
            <a:xfrm>
              <a:off x="7330440" y="1941195"/>
              <a:ext cx="4328160" cy="2044065"/>
            </a:xfrm>
            <a:prstGeom prst="roundRect">
              <a:avLst>
                <a:gd name="adj" fmla="val 65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339965" y="2074545"/>
              <a:ext cx="47625" cy="17773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560945" y="2133600"/>
              <a:ext cx="1647825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17288" y="2167890"/>
              <a:ext cx="15351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和第 19 页那张图的差别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316212" y="217360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只有负责人变了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54087" y="2507932"/>
              <a:ext cx="36141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原发器和备忘录这两个类的写法和上一个实例完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全一样，换了字段名而已。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54087" y="3068002"/>
              <a:ext cx="34427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变化全在负责人：字段从一个对象换成一个集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合，方法从存取两个换成存档、撤销、重做三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个。</a:t>
              </a:r>
            </a:p>
          </p:txBody>
        </p:sp>
      </p:grpSp>
      <p:grpSp>
        <p:nvGrpSpPr>
          <p:cNvPr id="54" name="c2-card-2"/>
          <p:cNvGrpSpPr/>
          <p:nvPr/>
        </p:nvGrpSpPr>
        <p:grpSpPr>
          <a:xfrm>
            <a:off x="7330440" y="4160520"/>
            <a:ext cx="4328160" cy="1786890"/>
            <a:chOff x="7330440" y="4160520"/>
            <a:chExt cx="4328160" cy="1786890"/>
          </a:xfrm>
        </p:grpSpPr>
        <p:sp>
          <p:nvSpPr>
            <p:cNvPr id="47" name="Rectangle 47"/>
            <p:cNvSpPr/>
            <p:nvPr/>
          </p:nvSpPr>
          <p:spPr>
            <a:xfrm>
              <a:off x="7330440" y="4160520"/>
              <a:ext cx="4328160" cy="178689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339965" y="4293870"/>
              <a:ext cx="47625" cy="152019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560945" y="435292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652385" y="43872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144637" y="4392930"/>
              <a:ext cx="22519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原类图用的是裸 ArrayList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554087" y="4726305"/>
              <a:ext cx="37256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源课件第 22 页写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- mementolist : ArrayList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取元素还要强制转换成 ChessmanMemento。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54087" y="5286375"/>
              <a:ext cx="36484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本讲写成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List&lt;ChessmanMemento&gt;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，类型错了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在编译期就能发现。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备忘录模式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35 备忘录 · 扩展：多次撤销与重做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象棋代码（一）：棋子与棋子备忘录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6276022" cy="4726305"/>
            <a:chOff x="533400" y="1524000"/>
            <a:chExt cx="6276022" cy="47263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726305"/>
            </a:xfrm>
            <a:prstGeom prst="roundRect">
              <a:avLst>
                <a:gd name="adj" fmla="val 201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6516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Chessman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481388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4009072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797" y="1935956"/>
              <a:ext cx="4627372" cy="4243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package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dp.chess;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Chessman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label;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x, y;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Chessman(String label,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x,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y)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.label = label;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.x = x;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.y = y;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ChessmanMemento save() {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存档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ChessmanMemento(label, x, y);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restore(ChessmanMemento m) {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读档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.label = m.getLabel();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.x = m.getX();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.y = m.getY();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setX(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.x = x;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setY(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y)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.y = y;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display()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System.out.println(label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 第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x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 行 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y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 列"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2-code-1"/>
          <p:cNvGrpSpPr/>
          <p:nvPr/>
        </p:nvGrpSpPr>
        <p:grpSpPr>
          <a:xfrm>
            <a:off x="7114222" y="1524000"/>
            <a:ext cx="4544378" cy="3495675"/>
            <a:chOff x="7114222" y="1524000"/>
            <a:chExt cx="4544378" cy="3495675"/>
          </a:xfrm>
        </p:grpSpPr>
        <p:sp>
          <p:nvSpPr>
            <p:cNvPr id="13" name="Rectangle 13"/>
            <p:cNvSpPr/>
            <p:nvPr/>
          </p:nvSpPr>
          <p:spPr>
            <a:xfrm>
              <a:off x="7114222" y="1524000"/>
              <a:ext cx="4544378" cy="3495675"/>
            </a:xfrm>
            <a:prstGeom prst="roundRect">
              <a:avLst>
                <a:gd name="adj" fmla="val 272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242620" y="1675924"/>
              <a:ext cx="12450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ChessmanMemento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42620" y="1935956"/>
              <a:ext cx="3364103" cy="30100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package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dp.chess;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ChessmanMemento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label;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y;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ChessmanMemento(String label,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x,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y)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.label = label;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.x = x;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.y = y;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String getLabel()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.label;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getX()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.x;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getY()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.y;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3" name="c2-callout-2"/>
          <p:cNvGrpSpPr/>
          <p:nvPr/>
        </p:nvGrpSpPr>
        <p:grpSpPr>
          <a:xfrm>
            <a:off x="7114222" y="5210175"/>
            <a:ext cx="4544378" cy="1040130"/>
            <a:chOff x="7114222" y="5210175"/>
            <a:chExt cx="4544378" cy="1040130"/>
          </a:xfrm>
        </p:grpSpPr>
        <p:sp>
          <p:nvSpPr>
            <p:cNvPr id="17" name="Rectangle 17"/>
            <p:cNvSpPr/>
            <p:nvPr/>
          </p:nvSpPr>
          <p:spPr>
            <a:xfrm>
              <a:off x="7114222" y="5210175"/>
              <a:ext cx="4544378" cy="1040130"/>
            </a:xfrm>
            <a:prstGeom prst="roundRect">
              <a:avLst>
                <a:gd name="adj" fmla="val 1098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19010" y="5630228"/>
              <a:ext cx="200026" cy="200025"/>
              <a:chOff x="7319010" y="5630228"/>
              <a:chExt cx="200026" cy="20002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19010" y="5630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358749" y="5674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393464" y="5785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7620952" y="5487352"/>
              <a:ext cx="3634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三个字段是基本类型和字符串，都不可变，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所以直接赋值就是一份安全的副本。</a:t>
              </a:r>
            </a:p>
          </p:txBody>
        </p:sp>
      </p:grpSp>
      <p:grpSp>
        <p:nvGrpSpPr>
          <p:cNvPr id="2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4" name="TextBox 24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备忘录模式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35 备忘录 · 扩展：多次撤销与重做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象棋代码（二）：带撤销和重做的负责人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896210" cy="308039"/>
            <a:chOff x="525399" y="1550194"/>
            <a:chExt cx="889621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89621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三个方法围着同一个游标转。save() 里那个 while 循环，就是上一页说的“先丢掉作废记录”。</a:t>
              </a:r>
            </a:p>
          </p:txBody>
        </p:sp>
      </p:grpSp>
      <p:grpSp>
        <p:nvGrpSpPr>
          <p:cNvPr id="15" name="c1-code-1"/>
          <p:cNvGrpSpPr/>
          <p:nvPr/>
        </p:nvGrpSpPr>
        <p:grpSpPr>
          <a:xfrm>
            <a:off x="533400" y="1967865"/>
            <a:ext cx="6276022" cy="4374832"/>
            <a:chOff x="533400" y="1967865"/>
            <a:chExt cx="6276022" cy="4374832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6276022" cy="4374832"/>
            </a:xfrm>
            <a:prstGeom prst="roundRect">
              <a:avLst>
                <a:gd name="adj" fmla="val 217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12933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MementoCaretaker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573780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4804410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52450" y="5507355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2379821"/>
              <a:ext cx="5417693" cy="38911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import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java.util.ArrayList;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MementoCaretaker {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同在 dp.chess 包中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ArrayList&lt;ChessmanMemento&gt; list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ArrayList&lt;ChessmanMemento&gt;();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index = -1;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当前状态在列表中的位置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save(ChessmanMemento m)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(list.size() &gt; index + 1) {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丢掉作废的重做记录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list.remove(list.size() - 1);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list.add(m);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index++;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ChessmanMemento undo() {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逆向遍历，到头返回 null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(index &lt;= 0)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list.get(--index);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ChessmanMemento redo() {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正向遍历，到头返回 null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(index &gt;= list.size() - 1)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list.get(++index);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9" name="c2-bullets-1"/>
          <p:cNvGrpSpPr/>
          <p:nvPr/>
        </p:nvGrpSpPr>
        <p:grpSpPr>
          <a:xfrm>
            <a:off x="7106602" y="1992630"/>
            <a:ext cx="4339261" cy="2103405"/>
            <a:chOff x="7106602" y="1992630"/>
            <a:chExt cx="4339261" cy="2103405"/>
          </a:xfrm>
        </p:grpSpPr>
        <p:sp>
          <p:nvSpPr>
            <p:cNvPr id="16" name="TextBox 16"/>
            <p:cNvSpPr txBox="1"/>
            <p:nvPr/>
          </p:nvSpPr>
          <p:spPr>
            <a:xfrm>
              <a:off x="7106602" y="199263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三个判断分别防什么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119938" y="24098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278052" y="2346960"/>
              <a:ext cx="9744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while 循环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285672" y="271272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69696" y="2639854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撤销之后又走了新棋，把游标右边作废的记录先清掉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119938" y="3012758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78052" y="2949892"/>
              <a:ext cx="9744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index &lt;= 0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285672" y="3316605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469696" y="3242786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已经退到开局，再退就越界，返回 null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119938" y="361569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278052" y="3552825"/>
              <a:ext cx="1600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index &gt;= size − 1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285672" y="3919538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469696" y="384667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已经在最新一步，没有可重做的记录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7114222" y="4235768"/>
            <a:ext cx="4544378" cy="2105978"/>
            <a:chOff x="7114222" y="4235768"/>
            <a:chExt cx="4544378" cy="2105978"/>
          </a:xfrm>
        </p:grpSpPr>
        <p:sp>
          <p:nvSpPr>
            <p:cNvPr id="30" name="Rectangle 30"/>
            <p:cNvSpPr/>
            <p:nvPr/>
          </p:nvSpPr>
          <p:spPr>
            <a:xfrm>
              <a:off x="7114222" y="4235768"/>
              <a:ext cx="4544378" cy="2105978"/>
            </a:xfrm>
            <a:prstGeom prst="roundRect">
              <a:avLst>
                <a:gd name="adj" fmla="val 633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7123748" y="4369118"/>
              <a:ext cx="47625" cy="183927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361872" y="4445318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435329" y="448103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调用前要判空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31542" y="4480560"/>
              <a:ext cx="14489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到头了返回 null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54252" y="4841558"/>
              <a:ext cx="39300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真实的界面会在这两种情况下把撤销、重做按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钮置灰。命令行里直接把 null 传给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restore()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会抛空指针。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备忘录模式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35 备忘录 · 扩展：多次撤销与重做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客户端、运行结果与游标轨迹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3495675"/>
            <a:chOff x="533400" y="1524000"/>
            <a:chExt cx="5410200" cy="34956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495675"/>
            </a:xfrm>
            <a:prstGeom prst="roundRect">
              <a:avLst>
                <a:gd name="adj" fmla="val 272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4014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Client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4534027" cy="30100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Client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MementoCaretaker mc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MementoCaretaker();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Chessman chess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Chessman(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"车"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1, 1);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mc.save(chess.save());  chess.display();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开局存一次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chess.setY(4);  mc.save(chess.save());  chess.display();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chess.setX(5);  mc.save(chess.save());  chess.display();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"---- 悔棋两次 ----"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chess.restore(mc.undo());  chess.display();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chess.restore(mc.undo());  chess.display();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"---- 撤销悔棋 ----"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chess.restore(mc.redo());  chess.display();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5210175"/>
            <a:ext cx="5410200" cy="1001078"/>
            <a:chOff x="533400" y="5210175"/>
            <a:chExt cx="5410200" cy="1001078"/>
          </a:xfrm>
        </p:grpSpPr>
        <p:sp>
          <p:nvSpPr>
            <p:cNvPr id="11" name="Rectangle 11"/>
            <p:cNvSpPr/>
            <p:nvPr/>
          </p:nvSpPr>
          <p:spPr>
            <a:xfrm>
              <a:off x="533400" y="5210175"/>
              <a:ext cx="5410200" cy="1001078"/>
            </a:xfrm>
            <a:prstGeom prst="roundRect">
              <a:avLst>
                <a:gd name="adj" fmla="val 1141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5610225"/>
              <a:ext cx="200026" cy="200026"/>
              <a:chOff x="738188" y="5610225"/>
              <a:chExt cx="200026" cy="20002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61022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8200" y="56769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27088" y="571023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130" y="5467350"/>
              <a:ext cx="41967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悔棋两次之后 index 已经是 0，那一刻再点撤销，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undo() 只能返回 null。</a:t>
              </a:r>
            </a:p>
          </p:txBody>
        </p:sp>
      </p:grpSp>
      <p:grpSp>
        <p:nvGrpSpPr>
          <p:cNvPr id="21" name="c2-code-1"/>
          <p:cNvGrpSpPr/>
          <p:nvPr/>
        </p:nvGrpSpPr>
        <p:grpSpPr>
          <a:xfrm>
            <a:off x="6248400" y="1524000"/>
            <a:ext cx="5410200" cy="1912620"/>
            <a:chOff x="6248400" y="1524000"/>
            <a:chExt cx="5410200" cy="1912620"/>
          </a:xfrm>
        </p:grpSpPr>
        <p:sp>
          <p:nvSpPr>
            <p:cNvPr id="18" name="Rectangle 18"/>
            <p:cNvSpPr/>
            <p:nvPr/>
          </p:nvSpPr>
          <p:spPr>
            <a:xfrm>
              <a:off x="6248400" y="1524000"/>
              <a:ext cx="5410200" cy="1912620"/>
            </a:xfrm>
            <a:prstGeom prst="roundRect">
              <a:avLst>
                <a:gd name="adj" fmla="val 49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6797" y="1675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运行结果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76797" y="1935956"/>
              <a:ext cx="1192276" cy="1424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车 第 1 行 1 列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车 第 1 行 4 列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车 第 5 行 4 列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---- 悔棋两次 ----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车 第 1 行 4 列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车 第 1 行 1 列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---- 撤销悔棋 ----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车 第 1 行 4 列</a:t>
              </a:r>
            </a:p>
          </p:txBody>
        </p:sp>
      </p:grpSp>
      <p:grpSp>
        <p:nvGrpSpPr>
          <p:cNvPr id="58" name="c2-cells-2"/>
          <p:cNvGrpSpPr/>
          <p:nvPr/>
        </p:nvGrpSpPr>
        <p:grpSpPr>
          <a:xfrm>
            <a:off x="6242685" y="3627120"/>
            <a:ext cx="2683193" cy="2610802"/>
            <a:chOff x="6242685" y="3627120"/>
            <a:chExt cx="2683193" cy="2610802"/>
          </a:xfrm>
        </p:grpSpPr>
        <p:sp>
          <p:nvSpPr>
            <p:cNvPr id="22" name="TextBox 22"/>
            <p:cNvSpPr txBox="1"/>
            <p:nvPr/>
          </p:nvSpPr>
          <p:spPr>
            <a:xfrm>
              <a:off x="6242685" y="369046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走完三步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950392" y="3627120"/>
              <a:ext cx="658178" cy="2667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056562" y="3690461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(1,1)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09522" y="3627120"/>
              <a:ext cx="658178" cy="2667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714739" y="3690461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(1,4)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267700" y="3627120"/>
              <a:ext cx="658178" cy="2667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72917" y="3690461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(5,4)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44838" y="394763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03016" y="394763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561193" y="394763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8558212" y="409384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32530" y="4225290"/>
              <a:ext cx="3275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index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42685" y="460867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悔棋两次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950392" y="4545330"/>
              <a:ext cx="658178" cy="2667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056562" y="4608671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(1,1)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609522" y="4545330"/>
              <a:ext cx="658178" cy="2667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714739" y="4608671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(1,4)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267700" y="4545330"/>
              <a:ext cx="658178" cy="2667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372917" y="4608671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(5,4)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244838" y="48658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903016" y="48658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561193" y="48658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7241858" y="501205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116175" y="5143500"/>
              <a:ext cx="3275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index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42685" y="55268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重做一次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950392" y="5463540"/>
              <a:ext cx="658178" cy="2667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056562" y="5526881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(1,1)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609522" y="5463540"/>
              <a:ext cx="658178" cy="2667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714739" y="5526881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(1,4)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267700" y="5463540"/>
              <a:ext cx="658178" cy="2667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372917" y="5526881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(5,4)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244838" y="578405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903016" y="578405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561193" y="578405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6" name="Freeform 56"/>
            <p:cNvSpPr/>
            <p:nvPr/>
          </p:nvSpPr>
          <p:spPr>
            <a:xfrm>
              <a:off x="7900035" y="593026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774353" y="6061710"/>
              <a:ext cx="3275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index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备忘录模式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6336792" cy="3706177"/>
            <a:chOff x="667512" y="1835468"/>
            <a:chExt cx="6336792" cy="37061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3367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效果、应用与模式之间的分界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它换来了什么，又付出了什么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缺点与适用环境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工程中的两处应用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与命令和原型的配合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自测与小结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备忘录模式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35 备忘录 · 效果、应用与模式之间的分界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优点：恢复机制和信息封装，各占一半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bullets-1"/>
          <p:cNvGrpSpPr/>
          <p:nvPr/>
        </p:nvGrpSpPr>
        <p:grpSpPr>
          <a:xfrm>
            <a:off x="525780" y="1548765"/>
            <a:ext cx="5682615" cy="1734788"/>
            <a:chOff x="525780" y="1548765"/>
            <a:chExt cx="5682615" cy="1734788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源课件给出的两条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533400" y="188976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5249" y="193205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4390" y="190309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提供了一种状态恢复的实现机制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42010" y="2269808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26033" y="2196941"/>
              <a:ext cx="50523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用户可以方便地回到一个特定的历史步骤；新状态无效或有问题时，用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暂存的备忘录把状态复原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72796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5249" y="277025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4390" y="274129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实现了对信息的封装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42010" y="3107055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26033" y="3034189"/>
              <a:ext cx="51823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一个备忘录对象是原发器某一时刻状态的表示，不会被其他代码改动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3424238"/>
            <a:ext cx="5842635" cy="1335405"/>
            <a:chOff x="533400" y="3424238"/>
            <a:chExt cx="5842635" cy="1335405"/>
          </a:xfrm>
        </p:grpSpPr>
        <p:sp>
          <p:nvSpPr>
            <p:cNvPr id="19" name="Rectangle 19"/>
            <p:cNvSpPr/>
            <p:nvPr/>
          </p:nvSpPr>
          <p:spPr>
            <a:xfrm>
              <a:off x="533400" y="3424238"/>
              <a:ext cx="5842635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3557588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81050" y="363378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71258" y="36695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82078" y="366903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第三条：原发器自己变简单了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3430" y="4030028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历史状态不再由原发器自己攒着。它只管生成和吃进备忘录，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攒多少、留多久、什么时候丢，全是负责人的事。</a:t>
              </a:r>
            </a:p>
          </p:txBody>
        </p:sp>
      </p:grpSp>
      <p:grpSp>
        <p:nvGrpSpPr>
          <p:cNvPr id="32" name="c1-callout-3"/>
          <p:cNvGrpSpPr/>
          <p:nvPr/>
        </p:nvGrpSpPr>
        <p:grpSpPr>
          <a:xfrm>
            <a:off x="533400" y="4950142"/>
            <a:ext cx="5842635" cy="1203008"/>
            <a:chOff x="533400" y="4950142"/>
            <a:chExt cx="5842635" cy="1203008"/>
          </a:xfrm>
        </p:grpSpPr>
        <p:sp>
          <p:nvSpPr>
            <p:cNvPr id="26" name="Rectangle 26"/>
            <p:cNvSpPr/>
            <p:nvPr/>
          </p:nvSpPr>
          <p:spPr>
            <a:xfrm>
              <a:off x="533400" y="4950142"/>
              <a:ext cx="5842635" cy="1203008"/>
            </a:xfrm>
            <a:prstGeom prst="roundRect">
              <a:avLst>
                <a:gd name="adj" fmla="val 950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5451158"/>
              <a:ext cx="200026" cy="200025"/>
              <a:chOff x="738188" y="5451158"/>
              <a:chExt cx="200026" cy="20002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38188" y="54511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77926" y="54956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12642" y="56067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130" y="5308282"/>
              <a:ext cx="4777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两条优点要合起来看：既能恢复，而且恢复出来的一定是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当时那一份。</a:t>
              </a:r>
            </a:p>
          </p:txBody>
        </p:sp>
      </p:grpSp>
      <p:grpSp>
        <p:nvGrpSpPr>
          <p:cNvPr id="38" name="c2-card-1"/>
          <p:cNvGrpSpPr/>
          <p:nvPr/>
        </p:nvGrpSpPr>
        <p:grpSpPr>
          <a:xfrm>
            <a:off x="6680835" y="1524000"/>
            <a:ext cx="4977765" cy="1621155"/>
            <a:chOff x="6680835" y="1524000"/>
            <a:chExt cx="4977765" cy="1621155"/>
          </a:xfrm>
        </p:grpSpPr>
        <p:sp>
          <p:nvSpPr>
            <p:cNvPr id="33" name="Rectangle 33"/>
            <p:cNvSpPr/>
            <p:nvPr/>
          </p:nvSpPr>
          <p:spPr>
            <a:xfrm>
              <a:off x="6680835" y="1524000"/>
              <a:ext cx="4977765" cy="1621155"/>
            </a:xfrm>
            <a:prstGeom prst="roundRect">
              <a:avLst>
                <a:gd name="adj" fmla="val 822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890385" y="17335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963842" y="17692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这两条合起来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60055" y="1768792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用列表或堆栈存备忘录就能多次撤销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82765" y="2129790"/>
              <a:ext cx="4206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因为备忘录是不可变的副本，多存几份不会互相干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扰；因为它对外不透明，存在负责人手里也不怕被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改。</a:t>
              </a:r>
            </a:p>
          </p:txBody>
        </p:sp>
      </p:grpSp>
      <p:grpSp>
        <p:nvGrpSpPr>
          <p:cNvPr id="59" name="c2-compare-2"/>
          <p:cNvGrpSpPr/>
          <p:nvPr/>
        </p:nvGrpSpPr>
        <p:grpSpPr>
          <a:xfrm>
            <a:off x="6680835" y="3335655"/>
            <a:ext cx="4977765" cy="2817495"/>
            <a:chOff x="6680835" y="3335655"/>
            <a:chExt cx="4977765" cy="2817495"/>
          </a:xfrm>
        </p:grpSpPr>
        <p:sp>
          <p:nvSpPr>
            <p:cNvPr id="39" name="Rectangle 39"/>
            <p:cNvSpPr/>
            <p:nvPr/>
          </p:nvSpPr>
          <p:spPr>
            <a:xfrm>
              <a:off x="6680835" y="3335655"/>
              <a:ext cx="2279332" cy="2817495"/>
            </a:xfrm>
            <a:prstGeom prst="roundRect">
              <a:avLst>
                <a:gd name="adj" fmla="val 58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690360" y="3469005"/>
              <a:ext cx="47625" cy="25507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20865" y="3569970"/>
              <a:ext cx="1729740" cy="550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历史状态存成公开字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934200" y="424434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92315" y="4181475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谁都能改，撤销出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来的不一定是真的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934200" y="486537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092315" y="4802505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想存第二份要再加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一组字段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934200" y="548640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092315" y="5423535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字段一多原发器自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己先乱了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379268" y="3335655"/>
              <a:ext cx="2279332" cy="2817495"/>
            </a:xfrm>
            <a:prstGeom prst="roundRect">
              <a:avLst>
                <a:gd name="adj" fmla="val 58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9388792" y="3469005"/>
              <a:ext cx="47625" cy="25507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619298" y="356997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历史状态封成备忘录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9632632" y="398716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790748" y="3924300"/>
              <a:ext cx="134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只有原发器读得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懂，别人改不了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9632632" y="460819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790748" y="4545330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想存多份只要把字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段换成集合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9632632" y="52292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790748" y="5166360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原发器只管生成和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吃进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9007792" y="4582478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078133" y="467868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备忘录模式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936176" cy="909257"/>
            <a:chOff x="520446" y="342900"/>
            <a:chExt cx="29361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35 备忘录 · 效果、应用与模式之间的分界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缺点与适用环境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564958"/>
            <a:chOff x="533400" y="1524000"/>
            <a:chExt cx="4977765" cy="15649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564958"/>
            </a:xfrm>
            <a:prstGeom prst="roundRect">
              <a:avLst>
                <a:gd name="adj" fmla="val 85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9825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资源消耗过大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434263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需要保存的原发器成员变量太多时，不可避免要占用大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量存储空间。每保存一次对象的状态都要消耗一定的系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统资源。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3273742"/>
            <a:ext cx="4977765" cy="1884998"/>
            <a:chOff x="533400" y="3273742"/>
            <a:chExt cx="4977765" cy="1884998"/>
          </a:xfrm>
        </p:grpSpPr>
        <p:sp>
          <p:nvSpPr>
            <p:cNvPr id="14" name="Rectangle 14"/>
            <p:cNvSpPr/>
            <p:nvPr/>
          </p:nvSpPr>
          <p:spPr>
            <a:xfrm>
              <a:off x="533400" y="3273742"/>
              <a:ext cx="4977765" cy="1884998"/>
            </a:xfrm>
            <a:prstGeom prst="roundRect">
              <a:avLst>
                <a:gd name="adj" fmla="val 7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407092"/>
              <a:ext cx="47625" cy="161829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75335" y="3477578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7644" y="35132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补充两条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60588" y="3518059"/>
              <a:ext cx="15676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GoF 还提到的代价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75335" y="3857625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3680" y="389701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228" y="3869531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保存和恢复本身可能很贵。状态很大时，一次拷贝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的时间成本不能忽略。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75335" y="4449128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3680" y="448851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6228" y="4461034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负责人看不见备忘录的内容，也就估不出它占多少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内存，没法做容量规划。</a:t>
              </a:r>
            </a:p>
          </p:txBody>
        </p:sp>
      </p:grpSp>
      <p:grpSp>
        <p:nvGrpSpPr>
          <p:cNvPr id="32" name="c1-callout-3"/>
          <p:cNvGrpSpPr/>
          <p:nvPr/>
        </p:nvGrpSpPr>
        <p:grpSpPr>
          <a:xfrm>
            <a:off x="533400" y="5344478"/>
            <a:ext cx="4977765" cy="966788"/>
            <a:chOff x="533400" y="5344478"/>
            <a:chExt cx="4977765" cy="966788"/>
          </a:xfrm>
        </p:grpSpPr>
        <p:sp>
          <p:nvSpPr>
            <p:cNvPr id="26" name="Rectangle 26"/>
            <p:cNvSpPr/>
            <p:nvPr/>
          </p:nvSpPr>
          <p:spPr>
            <a:xfrm>
              <a:off x="533400" y="5344478"/>
              <a:ext cx="4977765" cy="966788"/>
            </a:xfrm>
            <a:prstGeom prst="roundRect">
              <a:avLst>
                <a:gd name="adj" fmla="val 1182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5727383"/>
              <a:ext cx="200026" cy="200025"/>
              <a:chOff x="738188" y="5727383"/>
              <a:chExt cx="200026" cy="20002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38188" y="572738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77926" y="577183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12642" y="588295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511" y="5597366"/>
              <a:ext cx="39819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常见对策：限制撤销次数、只存变化的那部分（增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量式记录）。</a:t>
              </a:r>
            </a:p>
          </p:txBody>
        </p:sp>
      </p:grpSp>
      <p:grpSp>
        <p:nvGrpSpPr>
          <p:cNvPr id="42" name="c2-bullets-1"/>
          <p:cNvGrpSpPr/>
          <p:nvPr/>
        </p:nvGrpSpPr>
        <p:grpSpPr>
          <a:xfrm>
            <a:off x="5808726" y="1547336"/>
            <a:ext cx="4169854" cy="1426750"/>
            <a:chOff x="5808726" y="1547336"/>
            <a:chExt cx="4169854" cy="1426750"/>
          </a:xfrm>
        </p:grpSpPr>
        <p:sp>
          <p:nvSpPr>
            <p:cNvPr id="33" name="TextBox 33"/>
            <p:cNvSpPr txBox="1"/>
            <p:nvPr/>
          </p:nvSpPr>
          <p:spPr>
            <a:xfrm>
              <a:off x="5808726" y="154733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什么时候该用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5815965" y="1916430"/>
              <a:ext cx="136207" cy="110490"/>
            </a:xfrm>
            <a:custGeom>
              <a:avLst/>
              <a:gdLst/>
              <a:ahLst/>
              <a:cxnLst/>
              <a:rect l="l" t="t" r="r" b="b"/>
              <a:pathLst>
                <a:path w="136207" h="110490">
                  <a:moveTo>
                    <a:pt x="0" y="58103"/>
                  </a:moveTo>
                  <a:lnTo>
                    <a:pt x="51435" y="110490"/>
                  </a:lnTo>
                  <a:lnTo>
                    <a:pt x="13620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059234" y="1886426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要保存某一时刻的全部或部分状态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066472" y="2233612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50876" y="2165032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以后需要时能恢复到先前的状态，从而实现撤销操作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5815965" y="2489835"/>
              <a:ext cx="136207" cy="110490"/>
            </a:xfrm>
            <a:custGeom>
              <a:avLst/>
              <a:gdLst/>
              <a:ahLst/>
              <a:cxnLst/>
              <a:rect l="l" t="t" r="r" b="b"/>
              <a:pathLst>
                <a:path w="136207" h="110490">
                  <a:moveTo>
                    <a:pt x="0" y="58103"/>
                  </a:moveTo>
                  <a:lnTo>
                    <a:pt x="51435" y="110490"/>
                  </a:lnTo>
                  <a:lnTo>
                    <a:pt x="13620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059234" y="245983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不想把状态细节暴露给外界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066472" y="2807018"/>
              <a:ext cx="6858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250876" y="273939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防止外界对象破坏一个对象历史状态的封装性</a:t>
              </a:r>
            </a:p>
          </p:txBody>
        </p:sp>
      </p:grpSp>
      <p:grpSp>
        <p:nvGrpSpPr>
          <p:cNvPr id="63" name="c2-table-2"/>
          <p:cNvGrpSpPr/>
          <p:nvPr/>
        </p:nvGrpSpPr>
        <p:grpSpPr>
          <a:xfrm>
            <a:off x="5815965" y="3111818"/>
            <a:ext cx="5842635" cy="1720215"/>
            <a:chOff x="5815965" y="3111818"/>
            <a:chExt cx="5842635" cy="1720215"/>
          </a:xfrm>
        </p:grpSpPr>
        <p:sp>
          <p:nvSpPr>
            <p:cNvPr id="43" name="Rectangle 43"/>
            <p:cNvSpPr/>
            <p:nvPr/>
          </p:nvSpPr>
          <p:spPr>
            <a:xfrm>
              <a:off x="5815965" y="3111818"/>
              <a:ext cx="5842635" cy="43053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35318" y="324326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问自己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942832" y="324326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695432" y="324326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921312" y="367284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要回到历史状态吗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57794" y="367284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继续往下看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011346" y="367284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不用这个模式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815965" y="396716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815965" y="3971925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921312" y="410337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状态能不能公开给保管者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57794" y="410337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直接存字段更简单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9915525" y="3981450"/>
              <a:ext cx="1733550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011346" y="410337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用备忘录模式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815965" y="43976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921312" y="4532948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要回到的历史不止一个吗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257794" y="4532948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负责人里换成集合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011346" y="453294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一个字段就够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815965" y="3111818"/>
              <a:ext cx="5842635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8147685" y="3111818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9901238" y="3111818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0" name="c2-card-3"/>
          <p:cNvGrpSpPr/>
          <p:nvPr/>
        </p:nvGrpSpPr>
        <p:grpSpPr>
          <a:xfrm>
            <a:off x="5815965" y="5017770"/>
            <a:ext cx="5842635" cy="1293495"/>
            <a:chOff x="5815965" y="5017770"/>
            <a:chExt cx="5842635" cy="1293495"/>
          </a:xfrm>
        </p:grpSpPr>
        <p:sp>
          <p:nvSpPr>
            <p:cNvPr id="64" name="Rectangle 64"/>
            <p:cNvSpPr/>
            <p:nvPr/>
          </p:nvSpPr>
          <p:spPr>
            <a:xfrm>
              <a:off x="5815965" y="5017770"/>
              <a:ext cx="5842635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5825490" y="5151120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057900" y="522160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139256" y="525732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反过来想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943154" y="526113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什么时候不该用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050661" y="5613559"/>
              <a:ext cx="50639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状态本来就是公开的、谁改都无所谓，直接存几个字段更省事。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这个模式的成本全花在“不让别人看见”这一条上。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备忘录模式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35 备忘录 · 效果、应用与模式之间的分界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工程里的备忘录：编辑器撤销与事务回滚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311286" cy="308039"/>
            <a:chOff x="525399" y="1550194"/>
            <a:chExt cx="8311286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31128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源课件给出的两个应用，一个在内存里，一个在数据库里，共同点是都要回到某个时刻。</a:t>
              </a:r>
            </a:p>
          </p:txBody>
        </p:sp>
      </p:grpSp>
      <p:grpSp>
        <p:nvGrpSpPr>
          <p:cNvPr id="17" name="c1-card-1"/>
          <p:cNvGrpSpPr/>
          <p:nvPr/>
        </p:nvGrpSpPr>
        <p:grpSpPr>
          <a:xfrm>
            <a:off x="533400" y="1967865"/>
            <a:ext cx="5410200" cy="2252662"/>
            <a:chOff x="533400" y="1967865"/>
            <a:chExt cx="5410200" cy="2252662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410200" cy="2252662"/>
            </a:xfrm>
            <a:prstGeom prst="roundRect">
              <a:avLst>
                <a:gd name="adj" fmla="val 592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19859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7308" y="221313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应用一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24000" y="2212658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文字和图像编辑软件的撤销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257365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几乎所有编辑软件都提供撤销功能。编辑文件的同时保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存一些内部状态，这些状态在软件关闭时从内存销毁。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3430" y="319468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所以关掉再打开就撤销不了，而且很多软件只提供有限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次撤销。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4573" y="3811429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对应到代码上：备忘录集合是进程内的对象，且长度有上限。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4411028"/>
            <a:ext cx="5410200" cy="877252"/>
            <a:chOff x="533400" y="4411028"/>
            <a:chExt cx="5410200" cy="877252"/>
          </a:xfrm>
        </p:grpSpPr>
        <p:sp>
          <p:nvSpPr>
            <p:cNvPr id="18" name="Rectangle 18"/>
            <p:cNvSpPr/>
            <p:nvPr/>
          </p:nvSpPr>
          <p:spPr>
            <a:xfrm>
              <a:off x="533400" y="4411028"/>
              <a:ext cx="5410200" cy="877252"/>
            </a:xfrm>
            <a:prstGeom prst="roundRect">
              <a:avLst>
                <a:gd name="adj" fmla="val 130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4749165"/>
              <a:ext cx="200026" cy="200026"/>
              <a:chOff x="738188" y="4749165"/>
              <a:chExt cx="200026" cy="20002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474916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38200" y="48158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27088" y="484917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130" y="4606290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想关机后还能撤销，就得把备忘录写到磁盘，那已经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是持久化的问题了。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248400" y="1967865"/>
            <a:ext cx="5410200" cy="1866900"/>
            <a:chOff x="6248400" y="1967865"/>
            <a:chExt cx="5410200" cy="1866900"/>
          </a:xfrm>
        </p:grpSpPr>
        <p:sp>
          <p:nvSpPr>
            <p:cNvPr id="25" name="Rectangle 25"/>
            <p:cNvSpPr/>
            <p:nvPr/>
          </p:nvSpPr>
          <p:spPr>
            <a:xfrm>
              <a:off x="6248400" y="1967865"/>
              <a:ext cx="5410200" cy="18669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57925" y="2101215"/>
              <a:ext cx="47625" cy="16002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96050" y="217741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82308" y="221313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应用二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39000" y="2212658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数据库管理系统的事务回滚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88430" y="2573655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事务中某一条数据操作语句执行失败时，整个事务进行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回滚，系统回到事务执行之前的状态。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89573" y="3190399"/>
              <a:ext cx="445084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这里的备忘录就是日志里那份操作前映像（before image），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DBMS 是负责人，被改的数据页是原发器。</a:t>
              </a:r>
            </a:p>
          </p:txBody>
        </p:sp>
      </p:grpSp>
      <p:grpSp>
        <p:nvGrpSpPr>
          <p:cNvPr id="38" name="c2-kv-2"/>
          <p:cNvGrpSpPr/>
          <p:nvPr/>
        </p:nvGrpSpPr>
        <p:grpSpPr>
          <a:xfrm>
            <a:off x="6240780" y="4049078"/>
            <a:ext cx="5417820" cy="1297304"/>
            <a:chOff x="6240780" y="4049078"/>
            <a:chExt cx="5417820" cy="1297304"/>
          </a:xfrm>
        </p:grpSpPr>
        <p:sp>
          <p:nvSpPr>
            <p:cNvPr id="33" name="TextBox 33"/>
            <p:cNvSpPr txBox="1"/>
            <p:nvPr/>
          </p:nvSpPr>
          <p:spPr>
            <a:xfrm>
              <a:off x="6240780" y="4049078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两者的共同点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79055" y="4049078"/>
              <a:ext cx="3634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都在改动之前先留一份，改砸了就拿这一份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写回去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48400" y="46510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40780" y="477107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两者的差别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79055" y="4771072"/>
              <a:ext cx="3444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编辑器的备忘录在内存里，事务日志要落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盘，进程崩了也得能恢复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备忘录模式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35 备忘录 · 效果、应用与模式之间的分界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与相关模式的分界和配合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table-1"/>
          <p:cNvGrpSpPr/>
          <p:nvPr/>
        </p:nvGrpSpPr>
        <p:grpSpPr>
          <a:xfrm>
            <a:off x="533400" y="1524000"/>
            <a:ext cx="11125200" cy="2434590"/>
            <a:chOff x="533400" y="1524000"/>
            <a:chExt cx="11125200" cy="24345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0576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0087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933126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它封装什么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20990" y="164830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和备忘录的关系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054066"/>
              <a:ext cx="11852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命令（第 31 讲）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81338" y="20540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一次请求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660708" y="1939290"/>
              <a:ext cx="5988368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751195" y="2054066"/>
              <a:ext cx="4534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常组合：命令在执行前后各记一份备忘录，撤销重做时直接拿来恢复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3307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33553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3412" y="2459831"/>
              <a:ext cx="11852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原型（第 14 讲）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81338" y="245983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对象的复制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660708" y="2345055"/>
              <a:ext cx="5988368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51195" y="2459831"/>
              <a:ext cx="5590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常组合：大部分状态都要存时，直接克隆原发器，备忘录里放的就是一个原发器实例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273653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3412" y="2865596"/>
              <a:ext cx="11852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状态（第 37 讲）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081338" y="286559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状态引起的行为变化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51195" y="2865596"/>
              <a:ext cx="393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状态模式管的是此刻该怎么做，备忘录管的是从前长什么样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1422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14706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3412" y="3271361"/>
              <a:ext cx="13359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迭代器（第 33 讲）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81338" y="327136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遍历过程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751195" y="3271361"/>
              <a:ext cx="48362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都有一个游标，但迭代器在集合元素上走，备忘录的游标在历史列表上走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5480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3412" y="367712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对象序列化（不是模式）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081338" y="367712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对象到字节流的转换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51195" y="3677126"/>
              <a:ext cx="4233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序列化写到外部存储且内容可读，备忘录留在内存且对外不透明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1524000"/>
              <a:ext cx="11125200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976562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646420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2" name="c1-compare-2"/>
          <p:cNvGrpSpPr/>
          <p:nvPr/>
        </p:nvGrpSpPr>
        <p:grpSpPr>
          <a:xfrm>
            <a:off x="533400" y="4133850"/>
            <a:ext cx="11125200" cy="2228850"/>
            <a:chOff x="533400" y="4133850"/>
            <a:chExt cx="11125200" cy="2228850"/>
          </a:xfrm>
        </p:grpSpPr>
        <p:sp>
          <p:nvSpPr>
            <p:cNvPr id="38" name="Rectangle 38"/>
            <p:cNvSpPr/>
            <p:nvPr/>
          </p:nvSpPr>
          <p:spPr>
            <a:xfrm>
              <a:off x="533400" y="4133850"/>
              <a:ext cx="5353050" cy="2228850"/>
            </a:xfrm>
            <a:prstGeom prst="roundRect">
              <a:avLst>
                <a:gd name="adj" fmla="val 59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42925" y="4267200"/>
              <a:ext cx="47625" cy="19621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7047" y="434816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增量式记录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72478" y="472440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28497" y="466820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只记这一步改了哪几个字段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72478" y="502729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28497" y="497109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撤销和重做的顺序可控时才行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72478" y="5329238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28497" y="527304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能显著减少缓存的数据量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72478" y="5632132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28497" y="557593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源课件在讲命令模式配合时提到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305550" y="4133850"/>
              <a:ext cx="5353050" cy="2228850"/>
            </a:xfrm>
            <a:prstGeom prst="roundRect">
              <a:avLst>
                <a:gd name="adj" fmla="val 59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315075" y="4267200"/>
              <a:ext cx="47625" cy="1962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29197" y="434816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全量快照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544628" y="472440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00647" y="466820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每次把整份状态复制一遍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544628" y="502729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00647" y="497109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任意跳到某个历史点都可以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544628" y="5329238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700647" y="527304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实现简单但吃内存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544628" y="5632132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00647" y="557593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本讲两个实例用的都是这一种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5934075" y="508635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010546" y="5187791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备忘录模式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35 备忘录 · 效果、应用与模式之间的分界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模式本质与四个易错点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544378" cy="1956435"/>
            <a:chOff x="533400" y="1524000"/>
            <a:chExt cx="4544378" cy="19564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1956435"/>
            </a:xfrm>
            <a:prstGeom prst="roundRect">
              <a:avLst>
                <a:gd name="adj" fmla="val 681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31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43978" y="176879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保存和恢复内部状态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12979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源课件的原话是：保存是手段，恢复才是目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5330" y="275082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照这句话做设计检查：存下来的东西如果根本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没法用来恢复，那这份备忘录就白存了。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670935"/>
            <a:ext cx="4544378" cy="2623185"/>
            <a:chOff x="533400" y="3670935"/>
            <a:chExt cx="4544378" cy="2623185"/>
          </a:xfrm>
        </p:grpSpPr>
        <p:sp>
          <p:nvSpPr>
            <p:cNvPr id="14" name="Rectangle 14"/>
            <p:cNvSpPr/>
            <p:nvPr/>
          </p:nvSpPr>
          <p:spPr>
            <a:xfrm>
              <a:off x="533400" y="3670935"/>
              <a:ext cx="4544378" cy="2623185"/>
            </a:xfrm>
            <a:prstGeom prst="roundRect">
              <a:avLst>
                <a:gd name="adj" fmla="val 50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804285"/>
              <a:ext cx="47625" cy="23564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388048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8457" y="391620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一句话记法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08797" y="3915728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三个角色的分工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3430" y="4276725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原发器只会存和取，负责人只会收和给，备忘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录什么也不会做。</a:t>
              </a:r>
            </a:p>
          </p:txBody>
        </p:sp>
      </p:grpSp>
      <p:grpSp>
        <p:nvGrpSpPr>
          <p:cNvPr id="27" name="c2-card-1"/>
          <p:cNvGrpSpPr/>
          <p:nvPr/>
        </p:nvGrpSpPr>
        <p:grpSpPr>
          <a:xfrm>
            <a:off x="5382578" y="1524000"/>
            <a:ext cx="6276022" cy="1049655"/>
            <a:chOff x="5382578" y="1524000"/>
            <a:chExt cx="6276022" cy="1049655"/>
          </a:xfrm>
        </p:grpSpPr>
        <p:sp>
          <p:nvSpPr>
            <p:cNvPr id="21" name="Rectangle 21"/>
            <p:cNvSpPr/>
            <p:nvPr/>
          </p:nvSpPr>
          <p:spPr>
            <a:xfrm>
              <a:off x="5382578" y="1524000"/>
              <a:ext cx="6276022" cy="1049655"/>
            </a:xfrm>
            <a:prstGeom prst="roundRect">
              <a:avLst>
                <a:gd name="adj" fmla="val 127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92102" y="1657350"/>
              <a:ext cx="47625" cy="7829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630228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716486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易错一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73178" y="1768792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备忘录存的是引用不是副本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22608" y="2129790"/>
              <a:ext cx="57261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交出去的是同一个 List，原发器一改历史跟着变，要拷贝一份。</a:t>
              </a:r>
            </a:p>
          </p:txBody>
        </p:sp>
      </p:grpSp>
      <p:grpSp>
        <p:nvGrpSpPr>
          <p:cNvPr id="34" name="c2-card-2"/>
          <p:cNvGrpSpPr/>
          <p:nvPr/>
        </p:nvGrpSpPr>
        <p:grpSpPr>
          <a:xfrm>
            <a:off x="5382578" y="2764155"/>
            <a:ext cx="6276022" cy="1049655"/>
            <a:chOff x="5382578" y="2764155"/>
            <a:chExt cx="6276022" cy="1049655"/>
          </a:xfrm>
        </p:grpSpPr>
        <p:sp>
          <p:nvSpPr>
            <p:cNvPr id="28" name="Rectangle 28"/>
            <p:cNvSpPr/>
            <p:nvPr/>
          </p:nvSpPr>
          <p:spPr>
            <a:xfrm>
              <a:off x="5382578" y="2764155"/>
              <a:ext cx="6276022" cy="1049655"/>
            </a:xfrm>
            <a:prstGeom prst="roundRect">
              <a:avLst>
                <a:gd name="adj" fmla="val 127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92102" y="2897505"/>
              <a:ext cx="47625" cy="7829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630228" y="297370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716486" y="300942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73178" y="3008948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把备忘录的写方法开放给负责人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622608" y="3369945"/>
              <a:ext cx="48290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负责人能调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setState()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，保存的历史就可能被改写。</a:t>
              </a:r>
            </a:p>
          </p:txBody>
        </p:sp>
      </p:grpSp>
      <p:grpSp>
        <p:nvGrpSpPr>
          <p:cNvPr id="41" name="c2-card-3"/>
          <p:cNvGrpSpPr/>
          <p:nvPr/>
        </p:nvGrpSpPr>
        <p:grpSpPr>
          <a:xfrm>
            <a:off x="5382578" y="4004310"/>
            <a:ext cx="6276022" cy="1049655"/>
            <a:chOff x="5382578" y="4004310"/>
            <a:chExt cx="6276022" cy="1049655"/>
          </a:xfrm>
        </p:grpSpPr>
        <p:sp>
          <p:nvSpPr>
            <p:cNvPr id="35" name="Rectangle 35"/>
            <p:cNvSpPr/>
            <p:nvPr/>
          </p:nvSpPr>
          <p:spPr>
            <a:xfrm>
              <a:off x="5382578" y="4004310"/>
              <a:ext cx="6276022" cy="1049655"/>
            </a:xfrm>
            <a:prstGeom prst="roundRect">
              <a:avLst>
                <a:gd name="adj" fmla="val 127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92102" y="4137660"/>
              <a:ext cx="47625" cy="7829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630228" y="421386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716486" y="424957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73178" y="424910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让原发器自己攒历史列表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622608" y="4610100"/>
              <a:ext cx="5265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攒历史是负责人的活，原发器自己攒就丢掉了第二条优点。</a:t>
              </a:r>
            </a:p>
          </p:txBody>
        </p:sp>
      </p:grpSp>
      <p:grpSp>
        <p:nvGrpSpPr>
          <p:cNvPr id="48" name="c2-card-4"/>
          <p:cNvGrpSpPr/>
          <p:nvPr/>
        </p:nvGrpSpPr>
        <p:grpSpPr>
          <a:xfrm>
            <a:off x="5382578" y="5244465"/>
            <a:ext cx="6276022" cy="1049655"/>
            <a:chOff x="5382578" y="5244465"/>
            <a:chExt cx="6276022" cy="1049655"/>
          </a:xfrm>
        </p:grpSpPr>
        <p:sp>
          <p:nvSpPr>
            <p:cNvPr id="42" name="Rectangle 42"/>
            <p:cNvSpPr/>
            <p:nvPr/>
          </p:nvSpPr>
          <p:spPr>
            <a:xfrm>
              <a:off x="5382578" y="5244465"/>
              <a:ext cx="6276022" cy="1049655"/>
            </a:xfrm>
            <a:prstGeom prst="roundRect">
              <a:avLst>
                <a:gd name="adj" fmla="val 127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5392102" y="5377815"/>
              <a:ext cx="47625" cy="7829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630228" y="545401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716486" y="548973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易错四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73178" y="5489258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以为关机后还能撤销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622608" y="585025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备忘录活在内存里，关机后还想撤销得另做持久化。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备忘录模式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备忘录模式的定义怎么说？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不破坏封装地捕获内部状态并外置，以后可恢复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它属于哪一类模式？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对象行为型模式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负责人能对备忘录做什么？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只能整体存取，不能查看或修改里面的状态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它的两个别名是什么？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40505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令牌模式（Token）、快照模式（Snapshot）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三个角色分别是什么？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原发器、备忘录、负责人（管理者）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类图上那两条线分别是什么？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原发器到备忘录是依赖，负责人到备忘录是聚合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6023610"/>
              <a:ext cx="5284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答不上来的题，回到对应正文页把那张类图或那段代码再读一遍。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备忘录模式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6783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里怎么限制备忘录的访问？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用默认访问标识符只让同包可见，或做成内部类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怎么实现多次撤销和重做？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负责人用集合存备忘录，游标逆向、正向移动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这个模式最主要的缺点是什么？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资源消耗大，状态多又存得勤就吃内存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宽接口和窄接口分别给谁？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宽接口给原发器，窄接口给负责人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撤销后又走新的一步要做什么？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先丢掉游标右边作废的备忘录，再追加新的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存了可变对象的引用会怎样？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原发器一改历史跟着变，构造时要做拷贝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892" y="6023610"/>
              <a:ext cx="63745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判定题眼：要回到对象的历史状态，又不肯把状态细节暴露给保存它的那个人。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备忘录模式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0297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2189" y="407194"/>
              <a:ext cx="685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35 备忘录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bullets-1"/>
          <p:cNvGrpSpPr/>
          <p:nvPr/>
        </p:nvGrpSpPr>
        <p:grpSpPr>
          <a:xfrm>
            <a:off x="533400" y="1534478"/>
            <a:ext cx="7983252" cy="1520380"/>
            <a:chOff x="533400" y="1534478"/>
            <a:chExt cx="7983252" cy="1520380"/>
          </a:xfrm>
        </p:grpSpPr>
        <p:sp>
          <p:nvSpPr>
            <p:cNvPr id="7" name="Ellipse 7"/>
            <p:cNvSpPr/>
            <p:nvPr/>
          </p:nvSpPr>
          <p:spPr>
            <a:xfrm>
              <a:off x="533400" y="153447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9078" y="15728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4197" y="1545907"/>
              <a:ext cx="7464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定义：在不破坏封装的前提下捕获一个对象的内部状态，并在该对象之外保存，以便以后恢复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44993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9078" y="188433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4197" y="1857375"/>
              <a:ext cx="77024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三个角色：原发器 Originator 存取状态，备忘录 Memento 装状态，负责人 Caretaker 只保管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156460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9078" y="219484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4197" y="2168842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类图上只有两条线：原发器到备忘录的依赖，负责人到备忘录的聚合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467927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9078" y="250631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4197" y="2479358"/>
              <a:ext cx="52106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封装靠宽窄两种接口，Java 用包内可见或内部类，C++ 用友元类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778442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9078" y="281778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4197" y="2790825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负责人换成集合加一个游标就是多次撤销，代价是保存状态很吃内存</a:t>
              </a:r>
            </a:p>
          </p:txBody>
        </p:sp>
      </p:grpSp>
      <p:grpSp>
        <p:nvGrpSpPr>
          <p:cNvPr id="28" name="c1-kv-2"/>
          <p:cNvGrpSpPr/>
          <p:nvPr/>
        </p:nvGrpSpPr>
        <p:grpSpPr>
          <a:xfrm>
            <a:off x="526542" y="3199448"/>
            <a:ext cx="11132058" cy="662177"/>
            <a:chOff x="526542" y="3199448"/>
            <a:chExt cx="11132058" cy="662177"/>
          </a:xfrm>
        </p:grpSpPr>
        <p:sp>
          <p:nvSpPr>
            <p:cNvPr id="23" name="TextBox 23"/>
            <p:cNvSpPr txBox="1"/>
            <p:nvPr/>
          </p:nvSpPr>
          <p:spPr>
            <a:xfrm>
              <a:off x="526542" y="319944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两个实例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88567" y="3199448"/>
              <a:ext cx="5338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用户信息操作撤销存一份；中国象棋悔棋存一串，带 undo 和 redo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48805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6542" y="35975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三个近邻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88567" y="3597592"/>
              <a:ext cx="67561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命令（第 31 讲）和原型（第 14 讲）常与它组合，状态（第 37 讲）管的是另一件事</a:t>
              </a:r>
            </a:p>
          </p:txBody>
        </p:sp>
      </p:grpSp>
      <p:grpSp>
        <p:nvGrpSpPr>
          <p:cNvPr id="43" name="c1-card-3"/>
          <p:cNvGrpSpPr/>
          <p:nvPr/>
        </p:nvGrpSpPr>
        <p:grpSpPr>
          <a:xfrm>
            <a:off x="533400" y="3983355"/>
            <a:ext cx="11125200" cy="1719262"/>
            <a:chOff x="533400" y="3983355"/>
            <a:chExt cx="11125200" cy="1719262"/>
          </a:xfrm>
        </p:grpSpPr>
        <p:sp>
          <p:nvSpPr>
            <p:cNvPr id="29" name="Rectangle 29"/>
            <p:cNvSpPr/>
            <p:nvPr/>
          </p:nvSpPr>
          <p:spPr>
            <a:xfrm>
              <a:off x="533400" y="3983355"/>
              <a:ext cx="11125200" cy="1719262"/>
            </a:xfrm>
            <a:prstGeom prst="roundRect">
              <a:avLst>
                <a:gd name="adj" fmla="val 775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116705"/>
              <a:ext cx="47625" cy="14525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63905" y="417576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7344" y="42100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更正汇总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614297" y="421576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本讲订正的源课件问题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63905" y="4537710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19583" y="457609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44702" y="4549140"/>
              <a:ext cx="69911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张欣佳第 8 页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state = m.state;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跨类访问私有字段，编译不过，应写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m.getState()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63905" y="4839652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19583" y="487803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44702" y="4852035"/>
              <a:ext cx="83480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第 14 页类图给构造函数标了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: void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；第 22 页用裸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ArrayList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；第 5 页与第 8 页的构造函数签名不一致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63905" y="514254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19583" y="518093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44702" y="5154930"/>
              <a:ext cx="82827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9、10 页把备忘录成员写成 public，与正文矛盾，本讲降为包内可见；陈伟第 3 页四个返回点框同名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4" name="Rectangle 4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6023610"/>
              <a:ext cx="65562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判定题眼：要回到对象的历史状态，而这个状态又不能让保管它的人看见或改动。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备忘录模式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dp_35">
  <a:themeElements>
    <a:clrScheme name="sdp_3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dp_35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dp_3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2026-09-19T09:26:23Z</dcterms:created>
  <dcterms:modified xsi:type="dcterms:W3CDTF">2026-09-19T09:26:23Z</dcterms:modified>
  <cp:category/>
  <cp:contentStatus/>
</cp:coreProperties>
</file>