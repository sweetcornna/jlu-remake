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2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2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8e46918f0e9934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8e46918f0e99346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1a0ac8c32cb03e4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a06bff082e79207.png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05250" cy="3437763"/>
            <a:chOff x="666750" y="1619250"/>
            <a:chExt cx="390525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第十一讲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两头的接口都不改，中间加一层转换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结构型模式的第一个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类适配器与对象适配器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四个课件实例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缺省与双向适配器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403209" cy="205359"/>
            <a:chOff x="680466" y="6192202"/>
            <a:chExt cx="540320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403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现有类能干这件事，接口却对不上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四个角色，类适配器与对象适配器两张图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086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两种结构的 Java 标准写法与各自的限制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仿生机器人、加密适配器、声乐学生、绘图程序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模式扩展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缺省适配器、双向适配器、智能适配器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优缺点、适用场景、与桥接装饰外观的分界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画出类适配器与对象适配器两张类图，实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现、继承、聚合三种线的方向都不画反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分别写出两种适配器，并说清 Java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里类适配器为什么只有一种写法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拿到一个接口对不上的场景，选出该用哪种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适配器并给出理由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认出缺省适配器和双向适配器，说出它们各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自多解决了什么问题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说清适配器与桥接、装饰、外观的分界，不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把凡是包一层都叫适配器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结构型模式与适配器的动机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先看清接口对不上又改不了时的两难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结构型模式在解决什么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学生与歌手对不上的接口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定义与模式本质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结构型模式与适配器的动机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结构型模式：把已有的类和对象拼成更大的结构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749290" cy="278702"/>
            <a:chOff x="526161" y="1547336"/>
            <a:chExt cx="574929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适配器是七个结构型模式里的第一个，先看清这一族模式在做什么。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41195"/>
            <a:ext cx="4760595" cy="1226820"/>
            <a:chOff x="533400" y="1941195"/>
            <a:chExt cx="4760595" cy="122682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76059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3091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结构型模式（Structural Pattern）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描述如何将类或者对象结合在一起形成更大的结构，像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搭积木一样，用简单积木组合出功能更多的结构。</a:t>
              </a:r>
            </a:p>
          </p:txBody>
        </p:sp>
      </p:grpSp>
      <p:grpSp>
        <p:nvGrpSpPr>
          <p:cNvPr id="36" name="c1-compare-2"/>
          <p:cNvGrpSpPr/>
          <p:nvPr/>
        </p:nvGrpSpPr>
        <p:grpSpPr>
          <a:xfrm>
            <a:off x="533400" y="3343275"/>
            <a:ext cx="4761547" cy="2314575"/>
            <a:chOff x="533400" y="3343275"/>
            <a:chExt cx="4761547" cy="2314575"/>
          </a:xfrm>
        </p:grpSpPr>
        <p:sp>
          <p:nvSpPr>
            <p:cNvPr id="16" name="Rectangle 16"/>
            <p:cNvSpPr/>
            <p:nvPr/>
          </p:nvSpPr>
          <p:spPr>
            <a:xfrm>
              <a:off x="533400" y="3343275"/>
              <a:ext cx="2142172" cy="2314575"/>
            </a:xfrm>
            <a:prstGeom prst="roundRect">
              <a:avLst>
                <a:gd name="adj" fmla="val 62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476625"/>
              <a:ext cx="47625" cy="20478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7047" y="355854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类结构型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2478" y="393382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497" y="387762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关心类与类的组合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2478" y="423672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8497" y="4180522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只用继承和实现关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2478" y="479679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8497" y="4740592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结构在编译期就定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152775" y="3343275"/>
              <a:ext cx="2142172" cy="2314575"/>
            </a:xfrm>
            <a:prstGeom prst="roundRect">
              <a:avLst>
                <a:gd name="adj" fmla="val 62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162300" y="3476625"/>
              <a:ext cx="47625" cy="20478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76422" y="355854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对象结构型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3391852" y="393382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47872" y="3877627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关心类与对象的组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391852" y="449389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47872" y="4437698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用关联关系持有另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391852" y="505396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47872" y="4997768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运行期才决定接哪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2722245" y="4309110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76817" y="44400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两类</a:t>
              </a:r>
            </a:p>
          </p:txBody>
        </p:sp>
      </p:grpSp>
      <p:grpSp>
        <p:nvGrpSpPr>
          <p:cNvPr id="57" name="c2-kv-1"/>
          <p:cNvGrpSpPr/>
          <p:nvPr/>
        </p:nvGrpSpPr>
        <p:grpSpPr>
          <a:xfrm>
            <a:off x="5591937" y="1964055"/>
            <a:ext cx="6066663" cy="2650998"/>
            <a:chOff x="5591937" y="1964055"/>
            <a:chExt cx="6066663" cy="2650998"/>
          </a:xfrm>
        </p:grpSpPr>
        <p:sp>
          <p:nvSpPr>
            <p:cNvPr id="37" name="TextBox 37"/>
            <p:cNvSpPr txBox="1"/>
            <p:nvPr/>
          </p:nvSpPr>
          <p:spPr>
            <a:xfrm>
              <a:off x="5591937" y="19640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适配器（本讲）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30237" y="196405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转换接口，让本来不兼容的类能一起工作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22526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91937" y="2361248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桥接（第 21 讲）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30237" y="236124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抽象与实现各自独立变化，用组合把两个维度接起来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26508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591937" y="2759392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组合（第 22 讲）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30237" y="275939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树形结构，让客户对单个对象和组合对象一视同仁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30489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591937" y="3157538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装饰（第 23 讲）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30237" y="315753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接口不变的前提下，运行期给对象叠加职责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98795" y="34461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591937" y="3555682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外观（第 24 讲）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30237" y="355568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给一组子系统做一个统一入口，降低客户的使用成本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38442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591937" y="3952875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享元（第 25 讲）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30237" y="395287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共享大量细粒度对象，把重复的内部状态省下来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598795" y="42424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591937" y="4351020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代理（第 26 讲）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30237" y="435102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接口不变，替身对象控制对真实对象的访问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5598795" y="4736782"/>
            <a:ext cx="6059805" cy="921068"/>
            <a:chOff x="5598795" y="4736782"/>
            <a:chExt cx="6059805" cy="921068"/>
          </a:xfrm>
        </p:grpSpPr>
        <p:sp>
          <p:nvSpPr>
            <p:cNvPr id="58" name="Rectangle 58"/>
            <p:cNvSpPr/>
            <p:nvPr/>
          </p:nvSpPr>
          <p:spPr>
            <a:xfrm>
              <a:off x="5598795" y="4736782"/>
              <a:ext cx="6059805" cy="921068"/>
            </a:xfrm>
            <a:prstGeom prst="roundRect">
              <a:avLst>
                <a:gd name="adj" fmla="val 1241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5803583" y="5097780"/>
              <a:ext cx="200026" cy="200025"/>
              <a:chOff x="5803583" y="5097780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5803583" y="50977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843321" y="51422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5878037" y="52533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106287" y="4978718"/>
              <a:ext cx="51572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按合成复用原则，能用关联就不用继承，所以七个里大部分都是对象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结构型。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5" name="Rectangle 6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3610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适配器特殊在它既能写成类结构型，也能写成对象结构型，两种结构都要会画。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结构型模式与适配器的动机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动机：现有类能干这件事，可它的接口不是客户要的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14167" cy="264033"/>
            <a:chOff x="526542" y="1545907"/>
            <a:chExt cx="731416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141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陈伟老师课件的开场例子。已经有 Student 和 Singer 两个类簇，现在要加一类声乐学生。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735002" cy="2440305"/>
            <a:chOff x="533400" y="1928812"/>
            <a:chExt cx="5735002" cy="24403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735002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已有的两个类簇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10940"/>
              <a:ext cx="569690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3681476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学生类簇：本科生、硕士生都是它的实现类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attendClass();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上课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rest();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休息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歌手类：能唱能玩，可方法名和学生对不上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"唱歌"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"玩"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533900"/>
            <a:ext cx="5735002" cy="1160145"/>
            <a:chOff x="533400" y="4533900"/>
            <a:chExt cx="5735002" cy="1160145"/>
          </a:xfrm>
        </p:grpSpPr>
        <p:sp>
          <p:nvSpPr>
            <p:cNvPr id="14" name="Rectangle 14"/>
            <p:cNvSpPr/>
            <p:nvPr/>
          </p:nvSpPr>
          <p:spPr>
            <a:xfrm>
              <a:off x="533400" y="4533900"/>
              <a:ext cx="5735002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6672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47148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47477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8450" y="47544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对不上的到底是什么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5070634"/>
              <a:ext cx="5141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系统调用的是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attendClass()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，真正能唱的方法却叫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sing()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。参数和返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回值都一样，就是名字对不上，编译器不认这笔账。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573202" y="1928812"/>
            <a:ext cx="5085398" cy="1406842"/>
            <a:chOff x="6573202" y="1928812"/>
            <a:chExt cx="5085398" cy="1406842"/>
          </a:xfrm>
        </p:grpSpPr>
        <p:sp>
          <p:nvSpPr>
            <p:cNvPr id="21" name="Rectangle 21"/>
            <p:cNvSpPr/>
            <p:nvPr/>
          </p:nvSpPr>
          <p:spPr>
            <a:xfrm>
              <a:off x="6573202" y="1928812"/>
              <a:ext cx="5085398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582728" y="2062162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92278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8399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8253" y="21493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新增一类声乐学生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85801" y="246554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声乐学生本身就是歌手，他的上课就是唱歌，休息就是玩。系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统别处只按 Student 接口调用，不认识 Singer。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6944" y="298989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怎么才能把歌手当学生来使用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573202" y="3499485"/>
            <a:ext cx="5085398" cy="2194560"/>
            <a:chOff x="6573202" y="3499485"/>
            <a:chExt cx="5085398" cy="2194560"/>
          </a:xfrm>
        </p:grpSpPr>
        <p:sp>
          <p:nvSpPr>
            <p:cNvPr id="29" name="Rectangle 29"/>
            <p:cNvSpPr/>
            <p:nvPr/>
          </p:nvSpPr>
          <p:spPr>
            <a:xfrm>
              <a:off x="6573202" y="3499485"/>
              <a:ext cx="5085398" cy="2194560"/>
            </a:xfrm>
            <a:prstGeom prst="roundRect">
              <a:avLst>
                <a:gd name="adj" fmla="val 6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582728" y="3632835"/>
              <a:ext cx="47625" cy="192786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92278" y="36804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83997" y="37133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8253" y="372094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卡住的是这两条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792278" y="402621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44184" y="40618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62026" y="4037171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接口的不一致性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：同一件事，两边的方法名和参数都不一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92278" y="455390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44184" y="458952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62026" y="4564856"/>
              <a:ext cx="41338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原接口的不可更改性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：Singer 已在别处大量使用，甚至只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class 文件，改不动。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1" name="Rectangle 4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1273" y="6039326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两个类都不能改，又要它们配合，只剩一条路：在中间补一个专门做转换的类。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结构型模式与适配器的动机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中间那个包装类，就是适配器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678930" cy="293370"/>
            <a:chOff x="525780" y="1548765"/>
            <a:chExt cx="66789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生活里的电源适配器做的也是同一件事，插头和插座都不改，中间接一层。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54530"/>
            <a:ext cx="4977765" cy="2376107"/>
            <a:chOff x="533400" y="1954530"/>
            <a:chExt cx="4977765" cy="2376107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12904" r="0" b="12903"/>
            <a:stretch>
              <a:fillRect/>
            </a:stretch>
          </p:blipFill>
          <p:spPr>
            <a:xfrm>
              <a:off x="533400" y="1954530"/>
              <a:ext cx="4977765" cy="2077402"/>
            </a:xfrm>
            <a:prstGeom prst="roundRect">
              <a:avLst>
                <a:gd name="adj" fmla="val 6419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462088" y="4125278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两头的插口形状都不动，转换发生在中间那一件上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488180"/>
            <a:ext cx="4977765" cy="1169670"/>
            <a:chOff x="533400" y="4488180"/>
            <a:chExt cx="4977765" cy="1169670"/>
          </a:xfrm>
        </p:grpSpPr>
        <p:sp>
          <p:nvSpPr>
            <p:cNvPr id="12" name="Rectangle 12"/>
            <p:cNvSpPr/>
            <p:nvPr/>
          </p:nvSpPr>
          <p:spPr>
            <a:xfrm>
              <a:off x="533400" y="4488180"/>
              <a:ext cx="4977765" cy="1169670"/>
            </a:xfrm>
            <a:prstGeom prst="roundRect">
              <a:avLst>
                <a:gd name="adj" fmla="val 977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4973003"/>
              <a:ext cx="200026" cy="200026"/>
              <a:chOff x="738188" y="4973003"/>
              <a:chExt cx="200026" cy="2000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49730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5039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7088" y="50730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511" y="4842986"/>
              <a:ext cx="395490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被包装的对象叫适配者（Adaptee），包装它的那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个类就是适配器（Adapter）。</a:t>
              </a:r>
            </a:p>
          </p:txBody>
        </p:sp>
      </p:grpSp>
      <p:grpSp>
        <p:nvGrpSpPr>
          <p:cNvPr id="33" name="c2-flow-1"/>
          <p:cNvGrpSpPr/>
          <p:nvPr/>
        </p:nvGrpSpPr>
        <p:grpSpPr>
          <a:xfrm>
            <a:off x="5949315" y="2485072"/>
            <a:ext cx="5575935" cy="603885"/>
            <a:chOff x="5949315" y="2485072"/>
            <a:chExt cx="5575935" cy="603885"/>
          </a:xfrm>
        </p:grpSpPr>
        <p:sp>
          <p:nvSpPr>
            <p:cNvPr id="19" name="Freeform 19"/>
            <p:cNvSpPr/>
            <p:nvPr/>
          </p:nvSpPr>
          <p:spPr>
            <a:xfrm>
              <a:off x="6850380" y="2787015"/>
              <a:ext cx="1330642" cy="9525"/>
            </a:xfrm>
            <a:custGeom>
              <a:avLst/>
              <a:gdLst/>
              <a:ahLst/>
              <a:cxnLst/>
              <a:rect l="l" t="t" r="r" b="b"/>
              <a:pathLst>
                <a:path w="1330642" h="9525">
                  <a:moveTo>
                    <a:pt x="0" y="0"/>
                  </a:moveTo>
                  <a:lnTo>
                    <a:pt x="133064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181022" y="27346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187815" y="2787015"/>
              <a:ext cx="1330642" cy="9525"/>
            </a:xfrm>
            <a:custGeom>
              <a:avLst/>
              <a:gdLst/>
              <a:ahLst/>
              <a:cxnLst/>
              <a:rect l="l" t="t" r="r" b="b"/>
              <a:pathLst>
                <a:path w="1330642" h="9525">
                  <a:moveTo>
                    <a:pt x="0" y="0"/>
                  </a:moveTo>
                  <a:lnTo>
                    <a:pt x="133064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518458" y="27346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49315" y="2485072"/>
              <a:ext cx="902018" cy="60388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285798" y="2485072"/>
              <a:ext cx="902018" cy="603885"/>
            </a:xfrm>
            <a:prstGeom prst="roundRect">
              <a:avLst>
                <a:gd name="adj" fmla="val 15773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623232" y="2485072"/>
              <a:ext cx="902018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65152" y="2600325"/>
              <a:ext cx="4693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客户类</a:t>
              </a:r>
              <a:br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7816" y="2600325"/>
              <a:ext cx="5989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Adapter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75252" y="2600325"/>
              <a:ext cx="5989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适配者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Adaptee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13282" y="2581275"/>
              <a:ext cx="7115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37091" y="2605564"/>
              <a:ext cx="6629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request()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306878" y="2581275"/>
              <a:ext cx="119634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15064" y="2605564"/>
              <a:ext cx="11818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specificRequest()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5815965" y="3800475"/>
            <a:ext cx="5842635" cy="1858328"/>
            <a:chOff x="5815965" y="3800475"/>
            <a:chExt cx="5842635" cy="1858328"/>
          </a:xfrm>
        </p:grpSpPr>
        <p:sp>
          <p:nvSpPr>
            <p:cNvPr id="34" name="Rectangle 34"/>
            <p:cNvSpPr/>
            <p:nvPr/>
          </p:nvSpPr>
          <p:spPr>
            <a:xfrm>
              <a:off x="5815965" y="3800475"/>
              <a:ext cx="5842635" cy="1858328"/>
            </a:xfrm>
            <a:prstGeom prst="roundRect">
              <a:avLst>
                <a:gd name="adj" fmla="val 7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25490" y="3933825"/>
              <a:ext cx="47625" cy="15916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52185" y="39985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43625" y="40328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35496" y="403336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转换过程对客户是透明的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44946" y="4377214"/>
              <a:ext cx="51090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客户调用的是适配器提供的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request()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，适配器内部再去调适配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者的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specificRequest()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44946" y="496585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客户类始终不直接访问适配者，也不知道自己用的功能是转手来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2" name="Rectangle 4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6011704"/>
              <a:ext cx="6131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适配器只负责转换调用，不负责实现业务功能，真正干活的仍是适配者。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结构型模式与适配器的动机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定义：把一个接口转换成客户希望的另一个接口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6059805" cy="2302192"/>
            <a:chOff x="533400" y="1524000"/>
            <a:chExt cx="6059805" cy="2302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302192"/>
            </a:xfrm>
            <a:prstGeom prst="roundRect">
              <a:avLst>
                <a:gd name="adj" fmla="val 57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3549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1386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适配器模式（Adapter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将一个接口转换成客户希望的另一个接口，使接口不兼容的那些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类可以一起工作。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2455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别名：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包装器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（Wrapper）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既可以作为类结构型模式，也可以作为对象结构型模式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3418046"/>
              <a:ext cx="45594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注意别和装饰模式的别名混，装饰模式也常被叫作 Wrapper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016692"/>
            <a:ext cx="6059805" cy="1335405"/>
            <a:chOff x="533400" y="4016692"/>
            <a:chExt cx="6059805" cy="1335405"/>
          </a:xfrm>
        </p:grpSpPr>
        <p:sp>
          <p:nvSpPr>
            <p:cNvPr id="19" name="Rectangle 19"/>
            <p:cNvSpPr/>
            <p:nvPr/>
          </p:nvSpPr>
          <p:spPr>
            <a:xfrm>
              <a:off x="533400" y="4016692"/>
              <a:ext cx="6059805" cy="1335405"/>
            </a:xfrm>
            <a:prstGeom prst="roundRect">
              <a:avLst>
                <a:gd name="adj" fmla="val 9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2950" y="42262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158" y="42619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3978" y="42614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转换匹配，复用功能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330" y="4622482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转换匹配是手段，复用已有的实现才是目的。适配器通过转换调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用，把已有实现匹配成客户需要的接口。</a:t>
              </a:r>
            </a:p>
          </p:txBody>
        </p:sp>
      </p:grpSp>
      <p:grpSp>
        <p:nvGrpSpPr>
          <p:cNvPr id="32" name="c2-bullets-1"/>
          <p:cNvGrpSpPr/>
          <p:nvPr/>
        </p:nvGrpSpPr>
        <p:grpSpPr>
          <a:xfrm>
            <a:off x="6890385" y="1548765"/>
            <a:ext cx="3338893" cy="1337310"/>
            <a:chOff x="6890385" y="1548765"/>
            <a:chExt cx="3338893" cy="1337310"/>
          </a:xfrm>
        </p:grpSpPr>
        <p:sp>
          <p:nvSpPr>
            <p:cNvPr id="25" name="TextBox 25"/>
            <p:cNvSpPr txBox="1"/>
            <p:nvPr/>
          </p:nvSpPr>
          <p:spPr>
            <a:xfrm>
              <a:off x="6890385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用一句话对上三个名字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898005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48512" y="1903095"/>
              <a:ext cx="29697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客户想要的那个接口，叫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Target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898005" y="2279332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4292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48512" y="2247900"/>
              <a:ext cx="30807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已经能干活的那个类，叫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Adaptee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898005" y="262413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48512" y="2592705"/>
              <a:ext cx="30807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中间做转换的那个类，叫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Adapter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6898005" y="3017520"/>
            <a:ext cx="4760595" cy="782955"/>
            <a:chOff x="6898005" y="3017520"/>
            <a:chExt cx="4760595" cy="782955"/>
          </a:xfrm>
        </p:grpSpPr>
        <p:sp>
          <p:nvSpPr>
            <p:cNvPr id="33" name="Rectangle 33"/>
            <p:cNvSpPr/>
            <p:nvPr/>
          </p:nvSpPr>
          <p:spPr>
            <a:xfrm>
              <a:off x="6898005" y="301752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090734" y="3305293"/>
              <a:ext cx="224134" cy="192560"/>
              <a:chOff x="7090734" y="3305293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202805" y="33756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90734" y="33052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02805" y="34534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404735" y="316611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判断一段代码是不是适配器，看它有没有改变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接口；只转发不改接口的，多半是代理。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69010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定义里的“客户希望的接口”是已经定死的，适配器要迁就它，而不是反过来。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398264" cy="2997517"/>
            <a:chOff x="667512" y="1835468"/>
            <a:chExt cx="439826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两种结构与标准代码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同一个目的，继承和组合两条路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类适配器靠继承适配者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对象适配器靠持有适配者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四个角色与典型代码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两种结构与标准代码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类适配器：适配器继承适配者，同时实现目标接口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337713" cy="308039"/>
            <a:chOff x="525399" y="1550194"/>
            <a:chExt cx="733771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3377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适配器一身两役，对上满足 Target 的约定，对下直接拿到 Adaptee 的方法。</a:t>
              </a:r>
            </a:p>
          </p:txBody>
        </p:sp>
      </p:grpSp>
      <p:grpSp>
        <p:nvGrpSpPr>
          <p:cNvPr id="32" name="c1-uml-1"/>
          <p:cNvGrpSpPr/>
          <p:nvPr/>
        </p:nvGrpSpPr>
        <p:grpSpPr>
          <a:xfrm>
            <a:off x="900112" y="2484120"/>
            <a:ext cx="5057311" cy="2576512"/>
            <a:chOff x="900112" y="2484120"/>
            <a:chExt cx="5057311" cy="2576512"/>
          </a:xfrm>
        </p:grpSpPr>
        <p:sp>
          <p:nvSpPr>
            <p:cNvPr id="9" name="Freeform 9"/>
            <p:cNvSpPr/>
            <p:nvPr/>
          </p:nvSpPr>
          <p:spPr>
            <a:xfrm>
              <a:off x="1471612" y="3421380"/>
              <a:ext cx="1875472" cy="987742"/>
            </a:xfrm>
            <a:custGeom>
              <a:avLst/>
              <a:gdLst/>
              <a:ahLst/>
              <a:cxnLst/>
              <a:rect l="l" t="t" r="r" b="b"/>
              <a:pathLst>
                <a:path w="1875472" h="987742">
                  <a:moveTo>
                    <a:pt x="1875472" y="987742"/>
                  </a:moveTo>
                  <a:lnTo>
                    <a:pt x="1875472" y="431483"/>
                  </a:lnTo>
                  <a:lnTo>
                    <a:pt x="0" y="43148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398270" y="329565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347085" y="3341370"/>
              <a:ext cx="1875472" cy="1067752"/>
            </a:xfrm>
            <a:custGeom>
              <a:avLst/>
              <a:gdLst/>
              <a:ahLst/>
              <a:cxnLst/>
              <a:rect l="l" t="t" r="r" b="b"/>
              <a:pathLst>
                <a:path w="1875472" h="1067752">
                  <a:moveTo>
                    <a:pt x="0" y="1067752"/>
                  </a:moveTo>
                  <a:lnTo>
                    <a:pt x="0" y="471488"/>
                  </a:lnTo>
                  <a:lnTo>
                    <a:pt x="1875472" y="471488"/>
                  </a:lnTo>
                  <a:lnTo>
                    <a:pt x="187547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49215" y="32156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00112" y="2484120"/>
              <a:ext cx="1143000" cy="8115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06780" y="2491740"/>
              <a:ext cx="1128712" cy="423862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00112" y="29108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00112" y="30060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99610" y="2564130"/>
              <a:ext cx="1445895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506278" y="2571750"/>
              <a:ext cx="143160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99610" y="2830830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99610" y="2926080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775585" y="4409122"/>
              <a:ext cx="114300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782252" y="4416742"/>
              <a:ext cx="1128712" cy="26479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75585" y="467582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75585" y="477107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84069" y="2545556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2217" y="2708434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Target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0978" y="3078480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09625" y="2628424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Adaptee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0476" y="2998470"/>
              <a:ext cx="1386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specificRequest()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34153" y="4473416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Adapter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46451" y="4844415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464618" y="1967865"/>
            <a:ext cx="5193982" cy="1956435"/>
            <a:chOff x="6464618" y="1967865"/>
            <a:chExt cx="5193982" cy="1956435"/>
          </a:xfrm>
        </p:grpSpPr>
        <p:sp>
          <p:nvSpPr>
            <p:cNvPr id="33" name="Rectangle 33"/>
            <p:cNvSpPr/>
            <p:nvPr/>
          </p:nvSpPr>
          <p:spPr>
            <a:xfrm>
              <a:off x="6464618" y="1967865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210121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1226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0342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3295" y="221265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两条线的方向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04648" y="25736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虚线加空心三角是实现，实线加空心三角是继承，三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角都画在父类或接口那一端。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4648" y="3194685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Adapter 的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request()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里直接调用从 Adaptee 继承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来的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specificRequest()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，不需要任何成员变量。</a:t>
              </a:r>
            </a:p>
          </p:txBody>
        </p:sp>
      </p:grpSp>
      <p:grpSp>
        <p:nvGrpSpPr>
          <p:cNvPr id="46" name="c2-bullets-2"/>
          <p:cNvGrpSpPr/>
          <p:nvPr/>
        </p:nvGrpSpPr>
        <p:grpSpPr>
          <a:xfrm>
            <a:off x="6456998" y="4139565"/>
            <a:ext cx="4834890" cy="1564005"/>
            <a:chOff x="6456998" y="4139565"/>
            <a:chExt cx="4834890" cy="1564005"/>
          </a:xfrm>
        </p:grpSpPr>
        <p:sp>
          <p:nvSpPr>
            <p:cNvPr id="41" name="TextBox 41"/>
            <p:cNvSpPr txBox="1"/>
            <p:nvPr/>
          </p:nvSpPr>
          <p:spPr>
            <a:xfrm>
              <a:off x="6456998" y="41395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两条绕不开的限制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464618" y="45300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04648" y="4493895"/>
              <a:ext cx="4196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单继承：Adapter 已经 extends Adaptee，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 只能写成接口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464618" y="516064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04648" y="512445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一次只能适配一个适配者，也不能把适配者的子类一起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适配进来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68686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课件说“目标抽象类只能为抽象类”，在 Java 里更准确的说法是只能为接口。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两种结构与标准代码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对象适配器：适配器持有一个适配者对象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971591" cy="308039"/>
            <a:chOff x="525399" y="1550194"/>
            <a:chExt cx="59715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把继承换成关联，适配器里多一个成员变量，限制少了一大半。</a:t>
              </a:r>
            </a:p>
          </p:txBody>
        </p:sp>
      </p:grpSp>
      <p:grpSp>
        <p:nvGrpSpPr>
          <p:cNvPr id="35" name="c1-uml-1"/>
          <p:cNvGrpSpPr/>
          <p:nvPr/>
        </p:nvGrpSpPr>
        <p:grpSpPr>
          <a:xfrm>
            <a:off x="900112" y="2484120"/>
            <a:ext cx="5057311" cy="2671763"/>
            <a:chOff x="900112" y="2484120"/>
            <a:chExt cx="5057311" cy="2671763"/>
          </a:xfrm>
        </p:grpSpPr>
        <p:sp>
          <p:nvSpPr>
            <p:cNvPr id="9" name="Freeform 9"/>
            <p:cNvSpPr/>
            <p:nvPr/>
          </p:nvSpPr>
          <p:spPr>
            <a:xfrm>
              <a:off x="1471612" y="3421380"/>
              <a:ext cx="1875472" cy="893445"/>
            </a:xfrm>
            <a:custGeom>
              <a:avLst/>
              <a:gdLst/>
              <a:ahLst/>
              <a:cxnLst/>
              <a:rect l="l" t="t" r="r" b="b"/>
              <a:pathLst>
                <a:path w="1875472" h="893445">
                  <a:moveTo>
                    <a:pt x="1875472" y="893445"/>
                  </a:moveTo>
                  <a:lnTo>
                    <a:pt x="1875472" y="383858"/>
                  </a:lnTo>
                  <a:lnTo>
                    <a:pt x="0" y="38385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398270" y="329565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347085" y="3215640"/>
              <a:ext cx="1875472" cy="889635"/>
            </a:xfrm>
            <a:custGeom>
              <a:avLst/>
              <a:gdLst/>
              <a:ahLst/>
              <a:cxnLst/>
              <a:rect l="l" t="t" r="r" b="b"/>
              <a:pathLst>
                <a:path w="1875472" h="889635">
                  <a:moveTo>
                    <a:pt x="1875472" y="0"/>
                  </a:moveTo>
                  <a:lnTo>
                    <a:pt x="1875472" y="549592"/>
                  </a:lnTo>
                  <a:lnTo>
                    <a:pt x="0" y="549592"/>
                  </a:lnTo>
                  <a:lnTo>
                    <a:pt x="0" y="88963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88982" y="4105275"/>
              <a:ext cx="115252" cy="209550"/>
            </a:xfrm>
            <a:custGeom>
              <a:avLst/>
              <a:gdLst/>
              <a:ahLst/>
              <a:cxnLst/>
              <a:rect l="l" t="t" r="r" b="b"/>
              <a:pathLst>
                <a:path w="115252" h="209550">
                  <a:moveTo>
                    <a:pt x="58102" y="209550"/>
                  </a:moveTo>
                  <a:lnTo>
                    <a:pt x="0" y="104775"/>
                  </a:lnTo>
                  <a:lnTo>
                    <a:pt x="58102" y="0"/>
                  </a:lnTo>
                  <a:lnTo>
                    <a:pt x="115252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00112" y="2484120"/>
              <a:ext cx="1143000" cy="8115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06780" y="2491740"/>
              <a:ext cx="1128712" cy="423862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00112" y="29108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00112" y="30060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99610" y="2564130"/>
              <a:ext cx="1445895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506278" y="2571750"/>
              <a:ext cx="143160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99610" y="2830830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99610" y="2926080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44140" y="4314825"/>
              <a:ext cx="140589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50808" y="4322445"/>
              <a:ext cx="1391602" cy="26479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44140" y="4581525"/>
              <a:ext cx="14058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44140" y="4866322"/>
              <a:ext cx="14058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84069" y="2545556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2217" y="2708434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Target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0978" y="3078480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09625" y="2628424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Adaptee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0476" y="2998470"/>
              <a:ext cx="1386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specificRequest()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34153" y="4379119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Adapter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15006" y="4653915"/>
              <a:ext cx="13447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adaptee: Adaptee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15006" y="4938712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980498" y="3549015"/>
              <a:ext cx="60864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006910" y="357568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adaptee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464618" y="1967865"/>
            <a:ext cx="5193982" cy="1956435"/>
            <a:chOff x="6464618" y="1967865"/>
            <a:chExt cx="5193982" cy="1956435"/>
          </a:xfrm>
        </p:grpSpPr>
        <p:sp>
          <p:nvSpPr>
            <p:cNvPr id="36" name="Rectangle 36"/>
            <p:cNvSpPr/>
            <p:nvPr/>
          </p:nvSpPr>
          <p:spPr>
            <a:xfrm>
              <a:off x="6464618" y="1967865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210121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1226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0342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3295" y="221265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菱形画在适配器这一端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4648" y="25736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适配者对象由客户端传进来、适配器只是引用它时，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画成聚合（空心菱形）。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04648" y="319468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适配者对象由适配器自己创建并独占，生命周期跟着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适配器走时，画成组合（实心菱形）。</a:t>
              </a:r>
            </a:p>
          </p:txBody>
        </p:sp>
      </p:grpSp>
      <p:grpSp>
        <p:nvGrpSpPr>
          <p:cNvPr id="49" name="c2-bullets-2"/>
          <p:cNvGrpSpPr/>
          <p:nvPr/>
        </p:nvGrpSpPr>
        <p:grpSpPr>
          <a:xfrm>
            <a:off x="6456998" y="4139565"/>
            <a:ext cx="3908107" cy="992505"/>
            <a:chOff x="6456998" y="4139565"/>
            <a:chExt cx="3908107" cy="992505"/>
          </a:xfrm>
        </p:grpSpPr>
        <p:sp>
          <p:nvSpPr>
            <p:cNvPr id="44" name="TextBox 44"/>
            <p:cNvSpPr txBox="1"/>
            <p:nvPr/>
          </p:nvSpPr>
          <p:spPr>
            <a:xfrm>
              <a:off x="6456998" y="41395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换成组合之后多出来的自由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464618" y="4525328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15125" y="449389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同一个适配器可以适配多个不同的适配者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464618" y="4870132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15125" y="48387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传进来的是适配者的子类对象也照样能用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合成复用原则的结论在这里也成立：没有特别理由时，优先用对象适配器。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两种结构与标准代码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738878" cy="264033"/>
            <a:chOff x="526542" y="1545907"/>
            <a:chExt cx="47388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类图上只画三个类，加上使用它的客户类，一共四个角色。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923" y="1949291"/>
            <a:ext cx="6498717" cy="2330577"/>
            <a:chOff x="526923" y="1949291"/>
            <a:chExt cx="6498717" cy="2330577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1532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Target 目标抽象类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14753" y="1949291"/>
              <a:ext cx="42395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定义客户所需的接口。可以是接口、抽象类，也可以是具体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类；类适配器里在 Java 中只能是接口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46126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563654"/>
              <a:ext cx="14591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Adapter 适配器类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14753" y="2563654"/>
              <a:ext cx="39143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模式的核心，它把客户的请求转成对适配者的调用，对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Adaptee 和 Target 做适配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7467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923" y="3177064"/>
              <a:ext cx="14591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Adaptee 适配者类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14753" y="3177064"/>
              <a:ext cx="44020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被适配的角色，一般是已经存在的具体类，包含客户真正想用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的业务方法，有时没有源代码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6890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923" y="3790474"/>
              <a:ext cx="1096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Client 客户类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14753" y="3790474"/>
              <a:ext cx="4532122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只针对 Target 编程，调用 Target 里声明的方法，全程不认识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Adaptee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394835"/>
            <a:ext cx="6492240" cy="1160145"/>
            <a:chOff x="533400" y="4394835"/>
            <a:chExt cx="6492240" cy="1160145"/>
          </a:xfrm>
        </p:grpSpPr>
        <p:sp>
          <p:nvSpPr>
            <p:cNvPr id="21" name="Rectangle 21"/>
            <p:cNvSpPr/>
            <p:nvPr/>
          </p:nvSpPr>
          <p:spPr>
            <a:xfrm>
              <a:off x="533400" y="4394835"/>
              <a:ext cx="649224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52818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5758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5147" y="46086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18450" y="461533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用电源适配器把四个角色对一遍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4931569"/>
              <a:ext cx="5865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笔记本电脑是客户类，它只认圆孔插头这个规格，这个规格就是目标接口；墙上的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扁脚插座是适配者，电早就在那里；中间的转换头是适配器。</a:t>
              </a:r>
            </a:p>
          </p:txBody>
        </p:sp>
      </p:grpSp>
      <p:grpSp>
        <p:nvGrpSpPr>
          <p:cNvPr id="34" name="c2-callout-1"/>
          <p:cNvGrpSpPr/>
          <p:nvPr/>
        </p:nvGrpSpPr>
        <p:grpSpPr>
          <a:xfrm>
            <a:off x="7330440" y="1928812"/>
            <a:ext cx="4328160" cy="702945"/>
            <a:chOff x="7330440" y="1928812"/>
            <a:chExt cx="4328160" cy="702945"/>
          </a:xfrm>
        </p:grpSpPr>
        <p:sp>
          <p:nvSpPr>
            <p:cNvPr id="28" name="Rectangle 28"/>
            <p:cNvSpPr/>
            <p:nvPr/>
          </p:nvSpPr>
          <p:spPr>
            <a:xfrm>
              <a:off x="7330440" y="1928812"/>
              <a:ext cx="432816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535228" y="2180273"/>
              <a:ext cx="200026" cy="200025"/>
              <a:chOff x="7535228" y="2180273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535228" y="21802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574966" y="22247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609682" y="23358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838313" y="2073116"/>
              <a:ext cx="33373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四个角色里只有 Adapter 是新写的类，另外三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个在动手之前就已经存在。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7330440" y="2796540"/>
            <a:ext cx="4328160" cy="2758440"/>
            <a:chOff x="7330440" y="2796540"/>
            <a:chExt cx="4328160" cy="2758440"/>
          </a:xfrm>
        </p:grpSpPr>
        <p:sp>
          <p:nvSpPr>
            <p:cNvPr id="35" name="Rectangle 35"/>
            <p:cNvSpPr/>
            <p:nvPr/>
          </p:nvSpPr>
          <p:spPr>
            <a:xfrm>
              <a:off x="7330440" y="2796540"/>
              <a:ext cx="4328160" cy="2758440"/>
            </a:xfrm>
            <a:prstGeom prst="roundRect">
              <a:avLst>
                <a:gd name="adj" fmla="val 48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339965" y="2929890"/>
              <a:ext cx="47625" cy="24917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549515" y="29775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42187" y="30103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15491" y="301704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谁是适配者不要认反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43038" y="3333274"/>
              <a:ext cx="37518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适配者是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已经存在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的那一个，目标是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客户要的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个。题目里给出的第三方类库、遗留模块，一定是适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配者。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2" name="Rectangle 4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6039326"/>
              <a:ext cx="6138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客户类只在“针对抽象编程”时才有意义；客户直接 new 适配者，模式就失效了。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两种结构与标准代码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类适配器的标准写法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3950970"/>
            <a:chOff x="533400" y="1524000"/>
            <a:chExt cx="6276022" cy="3950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三个类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127182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4392422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 {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客户只认这个接口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request();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Adaptee {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已有的类，一行不改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specificRequest()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"适配者原有的业务方法"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类适配器：继承适配者 + 实现目标接口 */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Adapter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Adaptee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request()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specificRequest();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调用继承来的方法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2-code-1"/>
          <p:cNvGrpSpPr/>
          <p:nvPr/>
        </p:nvGrpSpPr>
        <p:grpSpPr>
          <a:xfrm>
            <a:off x="7114222" y="1524000"/>
            <a:ext cx="4544378" cy="1110615"/>
            <a:chOff x="7114222" y="1524000"/>
            <a:chExt cx="4544378" cy="1110615"/>
          </a:xfrm>
        </p:grpSpPr>
        <p:sp>
          <p:nvSpPr>
            <p:cNvPr id="12" name="Rectangle 12"/>
            <p:cNvSpPr/>
            <p:nvPr/>
          </p:nvSpPr>
          <p:spPr>
            <a:xfrm>
              <a:off x="7114222" y="1524000"/>
              <a:ext cx="4544378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42620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41858" y="1937861"/>
              <a:ext cx="232994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Target t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Adapter();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t.request();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输出：适配者原有的业务方法 */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7114222" y="2825115"/>
            <a:ext cx="4544378" cy="2649855"/>
            <a:chOff x="7114222" y="2825115"/>
            <a:chExt cx="4544378" cy="2649855"/>
          </a:xfrm>
        </p:grpSpPr>
        <p:sp>
          <p:nvSpPr>
            <p:cNvPr id="16" name="Rectangle 16"/>
            <p:cNvSpPr/>
            <p:nvPr/>
          </p:nvSpPr>
          <p:spPr>
            <a:xfrm>
              <a:off x="7114222" y="2825115"/>
              <a:ext cx="4544378" cy="2649855"/>
            </a:xfrm>
            <a:prstGeom prst="roundRect">
              <a:avLst>
                <a:gd name="adj" fmla="val 50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23748" y="2958465"/>
              <a:ext cx="47625" cy="2383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61872" y="30346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52081" y="30703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61948" y="3069908"/>
              <a:ext cx="2465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Target 必须是接口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54252" y="3430905"/>
              <a:ext cx="3844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extends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 Java 里只能写一个。Adapter 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唯一的继承名额给了 Adaptee，Target 就只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能靠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implements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接上。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5396" y="4334351"/>
              <a:ext cx="38412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C++ 允许多重继承，所以张欣佳老师课件里的 Target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可以是抽象类</a:t>
              </a:r>
            </a:p>
          </p:txBody>
        </p:sp>
      </p:grpSp>
      <p:grpSp>
        <p:nvGrpSpPr>
          <p:cNvPr id="3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4" name="Rectangle 2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9912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类适配器还能顺手覆盖适配者的方法，这是它相对对象适配器唯一明显的便利。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两种结构与标准代码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对象适配器的标准写法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276022" cy="2936558"/>
            <a:chOff x="533400" y="1524000"/>
            <a:chExt cx="6276022" cy="2936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适配器类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98358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721418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4620006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Adapter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Adaptee adaptee;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持有适配者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Adapter(Adaptee adaptee) {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从外部传进来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.adaptee = adaptee;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request()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adaptee.specificRequest();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转发给适配者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651058"/>
            <a:ext cx="6276022" cy="533400"/>
            <a:chOff x="533400" y="4651058"/>
            <a:chExt cx="6276022" cy="533400"/>
          </a:xfrm>
        </p:grpSpPr>
        <p:sp>
          <p:nvSpPr>
            <p:cNvPr id="13" name="Rectangle 13"/>
            <p:cNvSpPr/>
            <p:nvPr/>
          </p:nvSpPr>
          <p:spPr>
            <a:xfrm>
              <a:off x="533400" y="4651058"/>
              <a:ext cx="6276022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817745"/>
              <a:ext cx="200026" cy="200025"/>
              <a:chOff x="738188" y="4817745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8177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48621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49733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812982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固定三步：声明适配者字段，构造方法注入，目标方法里转发。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7114222" y="1524000"/>
            <a:ext cx="4544378" cy="1110615"/>
            <a:chOff x="7114222" y="1524000"/>
            <a:chExt cx="4544378" cy="1110615"/>
          </a:xfrm>
        </p:grpSpPr>
        <p:sp>
          <p:nvSpPr>
            <p:cNvPr id="20" name="Rectangle 20"/>
            <p:cNvSpPr/>
            <p:nvPr/>
          </p:nvSpPr>
          <p:spPr>
            <a:xfrm>
              <a:off x="7114222" y="1524000"/>
              <a:ext cx="4544378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42620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41858" y="1937861"/>
              <a:ext cx="2201926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Adaptee old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Adaptee();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Target t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Adapter(old);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t.request();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7114222" y="2825115"/>
            <a:ext cx="4544378" cy="2359342"/>
            <a:chOff x="7114222" y="2825115"/>
            <a:chExt cx="4544378" cy="2359342"/>
          </a:xfrm>
        </p:grpSpPr>
        <p:sp>
          <p:nvSpPr>
            <p:cNvPr id="24" name="Rectangle 24"/>
            <p:cNvSpPr/>
            <p:nvPr/>
          </p:nvSpPr>
          <p:spPr>
            <a:xfrm>
              <a:off x="7114222" y="2825115"/>
              <a:ext cx="4544378" cy="2359342"/>
            </a:xfrm>
            <a:prstGeom prst="roundRect">
              <a:avLst>
                <a:gd name="adj" fmla="val 56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23748" y="2958465"/>
              <a:ext cx="47625" cy="20926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61872" y="30346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52081" y="30703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61948" y="3069908"/>
              <a:ext cx="2675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extends Target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4252" y="3430905"/>
              <a:ext cx="3920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张欣佳老师课件的典型代码写成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 class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Adapter extends Target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，那是把 Target 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抽象类的版本。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54252" y="4337685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 若是接口，Java 里必须写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implements Target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，否则编译不过。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适配者通过构造方法注入，换一个适配者就换一个入参，适配器本身不用改。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两种结构与标准代码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两种结构怎么选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609690" cy="308039"/>
            <a:chOff x="525399" y="1550194"/>
            <a:chExt cx="66096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609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差别全部来自一件事：适配者是被继承下来的，还是被持有在手里的。</a:t>
              </a:r>
            </a:p>
          </p:txBody>
        </p:sp>
      </p:grpSp>
      <p:grpSp>
        <p:nvGrpSpPr>
          <p:cNvPr id="46" name="c1-table-1"/>
          <p:cNvGrpSpPr/>
          <p:nvPr/>
        </p:nvGrpSpPr>
        <p:grpSpPr>
          <a:xfrm>
            <a:off x="533400" y="1967865"/>
            <a:ext cx="6276022" cy="3141345"/>
            <a:chOff x="533400" y="1967865"/>
            <a:chExt cx="6276022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9567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6362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类适配器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73929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对象适配器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24316" y="25512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继承适配者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20780" y="25512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持有适配者对象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0851"/>
              <a:ext cx="1015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 形式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426018" y="2874645"/>
              <a:ext cx="217741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524316" y="3000851"/>
              <a:ext cx="14837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里只能是接口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20780" y="30008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接口或抽象类都行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089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44947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能适配几个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24316" y="344947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一次一个适配者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22482" y="3323272"/>
              <a:ext cx="217741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20780" y="344947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多个适配者都能适配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576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6237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8981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适配者的子类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24316" y="38981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不能一起适配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22482" y="3771900"/>
              <a:ext cx="217741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20780" y="38981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传子类对象就行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071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3467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置换适配者方法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426018" y="4221480"/>
              <a:ext cx="217741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524316" y="43467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直接覆盖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20780" y="43467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先做适配者的子类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65582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66058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47953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语言要求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524316" y="479536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需要多继承或接口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20780" y="479536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没有特殊要求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967865"/>
              <a:ext cx="6276022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41173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60819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image-1"/>
          <p:cNvGrpSpPr/>
          <p:nvPr/>
        </p:nvGrpSpPr>
        <p:grpSpPr>
          <a:xfrm>
            <a:off x="7114222" y="1967865"/>
            <a:ext cx="4544378" cy="2372202"/>
            <a:chOff x="7114222" y="1967865"/>
            <a:chExt cx="4544378" cy="2372202"/>
          </a:xfrm>
        </p:grpSpPr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2"/>
            <a:srcRect l="0" t="19818" r="0" b="19817"/>
            <a:stretch>
              <a:fillRect/>
            </a:stretch>
          </p:blipFill>
          <p:spPr>
            <a:xfrm>
              <a:off x="7114222" y="1967865"/>
              <a:ext cx="4544378" cy="2057400"/>
            </a:xfrm>
            <a:prstGeom prst="roundRect">
              <a:avLst>
                <a:gd name="adj" fmla="val 6481"/>
              </a:avLst>
            </a:prstGeom>
          </p:spPr>
        </p:pic>
        <p:sp>
          <p:nvSpPr>
            <p:cNvPr id="48" name="TextBox 48"/>
            <p:cNvSpPr txBox="1"/>
            <p:nvPr/>
          </p:nvSpPr>
          <p:spPr>
            <a:xfrm>
              <a:off x="7721702" y="412003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左边铸成一体，右边握住一个可以随时换掉的零件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7114222" y="4505325"/>
            <a:ext cx="4544378" cy="782955"/>
            <a:chOff x="7114222" y="4505325"/>
            <a:chExt cx="4544378" cy="782955"/>
          </a:xfrm>
        </p:grpSpPr>
        <p:sp>
          <p:nvSpPr>
            <p:cNvPr id="50" name="Rectangle 50"/>
            <p:cNvSpPr/>
            <p:nvPr/>
          </p:nvSpPr>
          <p:spPr>
            <a:xfrm>
              <a:off x="7114222" y="4505325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19010" y="4796792"/>
              <a:ext cx="200023" cy="200023"/>
              <a:chOff x="7319010" y="4796792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19010" y="47967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452360" y="48634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620952" y="4653915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默认选对象适配器；只有在确实要改写适配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者行为时，才考虑类适配器。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6" name="Rectangle 5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991225"/>
              <a:ext cx="7642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里两种都常见，Java、C# 里类适配器受单继承限制，用得比对象适配器少得多。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课件里的四个实例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两种结构各看两个完整例子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仿生机器人与加密适配器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声乐学生的语言差异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绘图程序加三角形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实例一：让机器人像狗一样叫、一样跑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132380" cy="293370"/>
            <a:chOff x="525780" y="1548765"/>
            <a:chExt cx="91323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132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机器人接口里已经定义了 cry() 和 move()，现在不改任何已有代码，让它发出狗叫、按狗的方式跑。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4869180" cy="1884998"/>
            <a:chOff x="533400" y="1954530"/>
            <a:chExt cx="4869180" cy="188499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86918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仿生机器人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设计一个可以模拟各种动物行为的机器人。机器人中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定义了叫喊方法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cry()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和移动方法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move()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096" y="314182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要求在不修改已有代码的基础上，使机器人能够像狗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一样叫、像狗一样跑。</a:t>
              </a:r>
            </a:p>
          </p:txBody>
        </p:sp>
      </p:grpSp>
      <p:grpSp>
        <p:nvGrpSpPr>
          <p:cNvPr id="27" name="c1-bullets-2"/>
          <p:cNvGrpSpPr/>
          <p:nvPr/>
        </p:nvGrpSpPr>
        <p:grpSpPr>
          <a:xfrm>
            <a:off x="526161" y="4048601"/>
            <a:ext cx="4771156" cy="1275017"/>
            <a:chOff x="526161" y="4048601"/>
            <a:chExt cx="4771156" cy="1275017"/>
          </a:xfrm>
        </p:grpSpPr>
        <p:sp>
          <p:nvSpPr>
            <p:cNvPr id="17" name="TextBox 17"/>
            <p:cNvSpPr txBox="1"/>
            <p:nvPr/>
          </p:nvSpPr>
          <p:spPr>
            <a:xfrm>
              <a:off x="526161" y="404860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先把三个角色对号入座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37483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1745" y="4414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293" y="4386739"/>
              <a:ext cx="3343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Target：Robot 接口，客户只按它调用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703445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1745" y="47437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4293" y="4716304"/>
              <a:ext cx="44730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Adaptee：已有的 Dog 类，方法叫 wang() 和 run()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503301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1745" y="50733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293" y="5044916"/>
              <a:ext cx="26423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Adapter：新写的 DogAdapter</a:t>
              </a:r>
            </a:p>
          </p:txBody>
        </p:sp>
      </p:grpSp>
      <p:grpSp>
        <p:nvGrpSpPr>
          <p:cNvPr id="51" name="c2-uml-1"/>
          <p:cNvGrpSpPr/>
          <p:nvPr/>
        </p:nvGrpSpPr>
        <p:grpSpPr>
          <a:xfrm>
            <a:off x="6127432" y="2384108"/>
            <a:ext cx="5111116" cy="2779395"/>
            <a:chOff x="6127432" y="2384108"/>
            <a:chExt cx="5111116" cy="2779395"/>
          </a:xfrm>
        </p:grpSpPr>
        <p:sp>
          <p:nvSpPr>
            <p:cNvPr id="28" name="Freeform 28"/>
            <p:cNvSpPr/>
            <p:nvPr/>
          </p:nvSpPr>
          <p:spPr>
            <a:xfrm>
              <a:off x="6698932" y="3509962"/>
              <a:ext cx="1984058" cy="812483"/>
            </a:xfrm>
            <a:custGeom>
              <a:avLst/>
              <a:gdLst/>
              <a:ahLst/>
              <a:cxnLst/>
              <a:rect l="l" t="t" r="r" b="b"/>
              <a:pathLst>
                <a:path w="1984058" h="812483">
                  <a:moveTo>
                    <a:pt x="1984058" y="812483"/>
                  </a:moveTo>
                  <a:lnTo>
                    <a:pt x="1984058" y="343853"/>
                  </a:lnTo>
                  <a:lnTo>
                    <a:pt x="0" y="34385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6625590" y="33842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682990" y="3429952"/>
              <a:ext cx="1984058" cy="892492"/>
            </a:xfrm>
            <a:custGeom>
              <a:avLst/>
              <a:gdLst/>
              <a:ahLst/>
              <a:cxnLst/>
              <a:rect l="l" t="t" r="r" b="b"/>
              <a:pathLst>
                <a:path w="1984058" h="892492">
                  <a:moveTo>
                    <a:pt x="0" y="892492"/>
                  </a:moveTo>
                  <a:lnTo>
                    <a:pt x="0" y="383857"/>
                  </a:lnTo>
                  <a:lnTo>
                    <a:pt x="1984058" y="383857"/>
                  </a:lnTo>
                  <a:lnTo>
                    <a:pt x="198405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593705" y="33042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127432" y="2384108"/>
              <a:ext cx="1143000" cy="1001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135052" y="2390775"/>
              <a:ext cx="1128712" cy="423862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27432" y="28108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127432" y="29060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095548" y="2464118"/>
              <a:ext cx="114300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102215" y="2470785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095548" y="27308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095548" y="28260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11490" y="4322445"/>
              <a:ext cx="114300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19110" y="4330065"/>
              <a:ext cx="1128712" cy="26479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11490" y="45891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111490" y="46843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11389" y="2445544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3073" y="2608421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Robot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98298" y="2978468"/>
              <a:ext cx="590740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cry()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move()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28260" y="2528411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66414" y="2898458"/>
              <a:ext cx="590740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wang()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run()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36985" y="4386739"/>
              <a:ext cx="892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DogAdapter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82356" y="4756785"/>
              <a:ext cx="590740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cry()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move()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2" name="Rectangle 5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04084"/>
              <a:ext cx="62359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这是一张类适配器的图：DogAdapter 对 Robot 是实现，对 Dog 是继承。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实例一的代码：两个方法各转发一次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167438" cy="3748088"/>
            <a:chOff x="533400" y="1524000"/>
            <a:chExt cx="6167438" cy="37480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804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DogAdapter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924300"/>
              <a:ext cx="612933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5060950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Robot {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目标接口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cry();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move();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 {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适配者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wang() {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"狗叫：汪汪汪"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 {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"狗跑：四条腿飞奔"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DogAdapter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Robot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cry()  { wang(); 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move() { run();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2-code-1"/>
          <p:cNvGrpSpPr/>
          <p:nvPr/>
        </p:nvGrpSpPr>
        <p:grpSpPr>
          <a:xfrm>
            <a:off x="7005638" y="1524000"/>
            <a:ext cx="4652962" cy="1516380"/>
            <a:chOff x="7005638" y="1524000"/>
            <a:chExt cx="4652962" cy="1516380"/>
          </a:xfrm>
        </p:grpSpPr>
        <p:sp>
          <p:nvSpPr>
            <p:cNvPr id="12" name="Rectangle 12"/>
            <p:cNvSpPr/>
            <p:nvPr/>
          </p:nvSpPr>
          <p:spPr>
            <a:xfrm>
              <a:off x="7005638" y="1524000"/>
              <a:ext cx="4652962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34034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客户端与输出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33272" y="1937861"/>
              <a:ext cx="2436622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Robot robot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DogAdapter();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robot.cry();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robot.move();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狗叫：汪汪汪   */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狗跑：四条腿飞奔 */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7005638" y="3230880"/>
            <a:ext cx="4652962" cy="2041208"/>
            <a:chOff x="7005638" y="3230880"/>
            <a:chExt cx="4652962" cy="2041208"/>
          </a:xfrm>
        </p:grpSpPr>
        <p:sp>
          <p:nvSpPr>
            <p:cNvPr id="16" name="Rectangle 16"/>
            <p:cNvSpPr/>
            <p:nvPr/>
          </p:nvSpPr>
          <p:spPr>
            <a:xfrm>
              <a:off x="7005638" y="3230880"/>
              <a:ext cx="4652962" cy="2041208"/>
            </a:xfrm>
            <a:prstGeom prst="roundRect">
              <a:avLst>
                <a:gd name="adj" fmla="val 65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15162" y="3364230"/>
              <a:ext cx="47625" cy="17745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53288" y="34404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44448" y="3476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改造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54315" y="347567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换成对象适配器要动两处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253288" y="382333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15137" y="38656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4278" y="3836670"/>
              <a:ext cx="2701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类声明去掉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extends Dog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，只留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implements Robot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253288" y="444436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15137" y="44866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4278" y="445770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加一个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private Dog dog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字段，方法体改成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dog.wang()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8" name="Rectangle 2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再想适配猫、适配鸟时，类适配器要各写一个类，对象适配器只要换传进去的对象。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实例二：重用第三方加密算法，不碰它的源码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098587" cy="308039"/>
            <a:chOff x="525399" y="1550194"/>
            <a:chExt cx="80985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0985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系统已经定好了数据库操作类的接口，加密算法却来自第三方，有些连源代码都没有。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67865"/>
            <a:ext cx="4977765" cy="2242185"/>
            <a:chOff x="533400" y="1967865"/>
            <a:chExt cx="4977765" cy="224218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977765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加密适配器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某系统要把用户密码加密后再存进数据库，数据操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作类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DataOperator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已经定义好，其中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doEncrypt()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是抽象方法。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48043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现在要重用第三方提供的加密类，在不修改现有类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的前提下完成加密。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400550"/>
            <a:ext cx="4977765" cy="1059180"/>
            <a:chOff x="533400" y="4400550"/>
            <a:chExt cx="4977765" cy="1059180"/>
          </a:xfrm>
        </p:grpSpPr>
        <p:sp>
          <p:nvSpPr>
            <p:cNvPr id="17" name="Rectangle 17"/>
            <p:cNvSpPr/>
            <p:nvPr/>
          </p:nvSpPr>
          <p:spPr>
            <a:xfrm>
              <a:off x="533400" y="440055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830128"/>
              <a:ext cx="200026" cy="200026"/>
              <a:chOff x="738188" y="4830128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8301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48968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49301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549140"/>
              <a:ext cx="40633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第三方类的方法名恰好也叫 doEncrypt，但它不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DataOperator 的继承树上，客户仍然用不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49" name="c2-uml-1"/>
          <p:cNvGrpSpPr/>
          <p:nvPr/>
        </p:nvGrpSpPr>
        <p:grpSpPr>
          <a:xfrm>
            <a:off x="5899785" y="2469832"/>
            <a:ext cx="5712587" cy="2686051"/>
            <a:chOff x="5899785" y="2469832"/>
            <a:chExt cx="5712587" cy="2686051"/>
          </a:xfrm>
        </p:grpSpPr>
        <p:sp>
          <p:nvSpPr>
            <p:cNvPr id="24" name="Freeform 24"/>
            <p:cNvSpPr/>
            <p:nvPr/>
          </p:nvSpPr>
          <p:spPr>
            <a:xfrm>
              <a:off x="6789420" y="3436620"/>
              <a:ext cx="1947862" cy="878205"/>
            </a:xfrm>
            <a:custGeom>
              <a:avLst/>
              <a:gdLst/>
              <a:ahLst/>
              <a:cxnLst/>
              <a:rect l="l" t="t" r="r" b="b"/>
              <a:pathLst>
                <a:path w="1947862" h="878205">
                  <a:moveTo>
                    <a:pt x="0" y="878205"/>
                  </a:moveTo>
                  <a:lnTo>
                    <a:pt x="0" y="376238"/>
                  </a:lnTo>
                  <a:lnTo>
                    <a:pt x="1947862" y="376238"/>
                  </a:lnTo>
                  <a:lnTo>
                    <a:pt x="194786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663940" y="331089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737282" y="3436620"/>
              <a:ext cx="1947862" cy="878205"/>
            </a:xfrm>
            <a:custGeom>
              <a:avLst/>
              <a:gdLst/>
              <a:ahLst/>
              <a:cxnLst/>
              <a:rect l="l" t="t" r="r" b="b"/>
              <a:pathLst>
                <a:path w="1947862" h="878205">
                  <a:moveTo>
                    <a:pt x="1947862" y="878205"/>
                  </a:moveTo>
                  <a:lnTo>
                    <a:pt x="1947862" y="376238"/>
                  </a:lnTo>
                  <a:lnTo>
                    <a:pt x="0" y="37623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663940" y="331089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47648" y="2469832"/>
              <a:ext cx="177927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54315" y="2476500"/>
              <a:ext cx="176498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47648" y="2736532"/>
              <a:ext cx="1779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47648" y="3021330"/>
              <a:ext cx="1779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99785" y="4314825"/>
              <a:ext cx="177927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906452" y="4322445"/>
              <a:ext cx="1764982" cy="26479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99785" y="4581525"/>
              <a:ext cx="1779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99785" y="4866322"/>
              <a:ext cx="1779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795510" y="4314825"/>
              <a:ext cx="177927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802178" y="4322445"/>
              <a:ext cx="176498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795510" y="4581525"/>
              <a:ext cx="1779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795510" y="4866322"/>
              <a:ext cx="1779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88225" y="2534126"/>
              <a:ext cx="1098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DataOperator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18514" y="2808923"/>
              <a:ext cx="13376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password: String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18514" y="3093720"/>
              <a:ext cx="17459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doEncrypt(int, String)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32768" y="4379119"/>
              <a:ext cx="11133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CipherAdapter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70651" y="4653915"/>
              <a:ext cx="1153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cipher: Caesar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70651" y="4938712"/>
              <a:ext cx="17459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doEncrypt(int, String)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79459" y="4379119"/>
              <a:ext cx="1411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NewCipherAdapter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66376" y="4653915"/>
              <a:ext cx="138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cipher: NewCipher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66376" y="4938712"/>
              <a:ext cx="17459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doEncrypt(int, String)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一个目标抽象类可以挂多个适配器，各自包一种第三方算法，客户端一行都不用改。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实例二的代码：适配器只做一次转发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3143250"/>
            <a:chOff x="533400" y="1524000"/>
            <a:chExt cx="5626418" cy="3143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目标抽象类与适配器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306128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4390898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DataOperator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目标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password;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setPassword(String pwd)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.password = pwd;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getPassword()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password;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doEncrypt(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key, String ps);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CipherAdapter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DataOperator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Caesar cipher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Caesar();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组合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doEncrypt(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key, String ps)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cipher.doEncrypt(key, ps);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4837748"/>
            <a:ext cx="5626418" cy="858202"/>
            <a:chOff x="533400" y="4837748"/>
            <a:chExt cx="5626418" cy="858202"/>
          </a:xfrm>
        </p:grpSpPr>
        <p:sp>
          <p:nvSpPr>
            <p:cNvPr id="12" name="Rectangle 12"/>
            <p:cNvSpPr/>
            <p:nvPr/>
          </p:nvSpPr>
          <p:spPr>
            <a:xfrm>
              <a:off x="533400" y="4837748"/>
              <a:ext cx="5626418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498967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797" y="5249704"/>
              <a:ext cx="2816479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DataOperator dao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CipherAdapter();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es = dao.doEncrypt(6,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"sunnyday"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19" name="c2-code-1"/>
          <p:cNvGrpSpPr/>
          <p:nvPr/>
        </p:nvGrpSpPr>
        <p:grpSpPr>
          <a:xfrm>
            <a:off x="6464618" y="1524000"/>
            <a:ext cx="5193982" cy="2791778"/>
            <a:chOff x="6464618" y="1524000"/>
            <a:chExt cx="5193982" cy="2791778"/>
          </a:xfrm>
        </p:grpSpPr>
        <p:sp>
          <p:nvSpPr>
            <p:cNvPr id="16" name="Rectangle 16"/>
            <p:cNvSpPr/>
            <p:nvPr/>
          </p:nvSpPr>
          <p:spPr>
            <a:xfrm>
              <a:off x="6464618" y="1524000"/>
              <a:ext cx="5193982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93015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第三方适配者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93015" y="1935956"/>
              <a:ext cx="3519678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Caesar {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只有 class 文件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doEncrypt(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key, String ps)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StringBuilder es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StringBuilder();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: ps.toCharArray())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 &gt;=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c &lt;=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'z'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c += key % 26;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 &gt;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'z'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 c -= 26;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es.append(c);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es.toString();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6464618" y="4486275"/>
            <a:ext cx="5193982" cy="1209675"/>
            <a:chOff x="6464618" y="4486275"/>
            <a:chExt cx="5193982" cy="1209675"/>
          </a:xfrm>
        </p:grpSpPr>
        <p:sp>
          <p:nvSpPr>
            <p:cNvPr id="20" name="Rectangle 20"/>
            <p:cNvSpPr/>
            <p:nvPr/>
          </p:nvSpPr>
          <p:spPr>
            <a:xfrm>
              <a:off x="6464618" y="4486275"/>
              <a:ext cx="519398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4142" y="461962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89408" y="46729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2079" y="47058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5954" y="470725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适配器里只有转发，没有算法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82549" y="5033962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加密逻辑全部留在 Caesar 里，换成 NewCipher 时只要再写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一个适配器，DataOperator 和客户端都不动。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7" name="Rectangle 2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6028373"/>
              <a:ext cx="7192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复核：key 取 6、ps 取 sunnyday 时逐位右移六位，u 越过 z 回到 a，结果是 yattejge。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1304" cy="909257"/>
            <a:chOff x="520446" y="342900"/>
            <a:chExt cx="69413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13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实例三：C++ 的多重继承，到 Java 该怎么写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070731" cy="278702"/>
            <a:chOff x="526161" y="1547336"/>
            <a:chExt cx="707073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0707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回到开头的声乐学生。陈伟老师课件用的是 C++ 多重继承，Java 里要换一种落法。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410200" cy="1450658"/>
            <a:chOff x="533400" y="1941195"/>
            <a:chExt cx="5410200" cy="145065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1749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课件原写法（C++）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3551111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声乐学生 :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Student,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Singer {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virtual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上课() { 唱歌();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virtual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休息() { 玩();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567112"/>
            <a:ext cx="5410200" cy="2019300"/>
            <a:chOff x="533400" y="3567112"/>
            <a:chExt cx="5410200" cy="2019300"/>
          </a:xfrm>
        </p:grpSpPr>
        <p:sp>
          <p:nvSpPr>
            <p:cNvPr id="13" name="Rectangle 13"/>
            <p:cNvSpPr/>
            <p:nvPr/>
          </p:nvSpPr>
          <p:spPr>
            <a:xfrm>
              <a:off x="533400" y="3567112"/>
              <a:ext cx="5410200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719036"/>
              <a:ext cx="888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类适配器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16" y="3980498"/>
              <a:ext cx="3137726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Java 只能继承一个类，Student 必须是接口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VocalStudent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Singer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attendClass() { sing();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rest() { play();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248400" y="1941195"/>
            <a:ext cx="5410200" cy="2044065"/>
            <a:chOff x="6248400" y="1941195"/>
            <a:chExt cx="5410200" cy="2044065"/>
          </a:xfrm>
        </p:grpSpPr>
        <p:sp>
          <p:nvSpPr>
            <p:cNvPr id="17" name="Rectangle 17"/>
            <p:cNvSpPr/>
            <p:nvPr/>
          </p:nvSpPr>
          <p:spPr>
            <a:xfrm>
              <a:off x="6248400" y="1941195"/>
              <a:ext cx="5410200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57925" y="2074545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78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70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差异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62597" y="217360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两处不能照搬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478905" y="249555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34583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59702" y="2507932"/>
              <a:ext cx="44028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C++ 用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private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继承 Singer，外界不能把声乐学生当歌手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用；Java 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extends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相当于公有继承，VocalStudent 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以被当成 Singer 传出去。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78905" y="331279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34583" y="33511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59702" y="3325177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里 Student 是纯虚类也行；Java 里它必须是接口，否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则两个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extends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编译不过。</a:t>
              </a:r>
            </a:p>
          </p:txBody>
        </p:sp>
      </p:grpSp>
      <p:grpSp>
        <p:nvGrpSpPr>
          <p:cNvPr id="32" name="c2-code-2"/>
          <p:cNvGrpSpPr/>
          <p:nvPr/>
        </p:nvGrpSpPr>
        <p:grpSpPr>
          <a:xfrm>
            <a:off x="6248400" y="4160520"/>
            <a:ext cx="5410200" cy="1450658"/>
            <a:chOff x="6248400" y="4160520"/>
            <a:chExt cx="5410200" cy="1450658"/>
          </a:xfrm>
        </p:grpSpPr>
        <p:sp>
          <p:nvSpPr>
            <p:cNvPr id="29" name="Rectangle 29"/>
            <p:cNvSpPr/>
            <p:nvPr/>
          </p:nvSpPr>
          <p:spPr>
            <a:xfrm>
              <a:off x="6248400" y="4160520"/>
              <a:ext cx="5410200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797" y="431244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想彻底挡住这层关系就用组合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416" y="4573905"/>
              <a:ext cx="3531108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VocalStudent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Singer singer;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attendClass() { singer.sing();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rest() { singer.play();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6023610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判断题常考这一条：类适配器要求语言支持多继承或接口，对象适配器没有这个前提。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实例四：给绘图程序加一种三角形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255604" cy="264033"/>
            <a:chOff x="526542" y="1545907"/>
            <a:chExt cx="925560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255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程序里已有 Rect 和 Ellipse，都实现了 Shape。第三方类库提供的 XTriangle 功能够用，可它不是 Shape 的子类。</a:t>
              </a:r>
            </a:p>
          </p:txBody>
        </p:sp>
      </p:grpSp>
      <p:grpSp>
        <p:nvGrpSpPr>
          <p:cNvPr id="35" name="c1-uml-1"/>
          <p:cNvGrpSpPr/>
          <p:nvPr/>
        </p:nvGrpSpPr>
        <p:grpSpPr>
          <a:xfrm>
            <a:off x="827722" y="2514600"/>
            <a:ext cx="4605338" cy="2635568"/>
            <a:chOff x="827722" y="2514600"/>
            <a:chExt cx="4605338" cy="2635568"/>
          </a:xfrm>
        </p:grpSpPr>
        <p:sp>
          <p:nvSpPr>
            <p:cNvPr id="9" name="Freeform 9"/>
            <p:cNvSpPr/>
            <p:nvPr/>
          </p:nvSpPr>
          <p:spPr>
            <a:xfrm>
              <a:off x="3129915" y="3365182"/>
              <a:ext cx="1731645" cy="1034415"/>
            </a:xfrm>
            <a:custGeom>
              <a:avLst/>
              <a:gdLst/>
              <a:ahLst/>
              <a:cxnLst/>
              <a:rect l="l" t="t" r="r" b="b"/>
              <a:pathLst>
                <a:path w="1731645" h="1034415">
                  <a:moveTo>
                    <a:pt x="0" y="1034415"/>
                  </a:moveTo>
                  <a:lnTo>
                    <a:pt x="0" y="454342"/>
                  </a:lnTo>
                  <a:lnTo>
                    <a:pt x="1731645" y="454342"/>
                  </a:lnTo>
                  <a:lnTo>
                    <a:pt x="173164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788218" y="323945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99222" y="3171825"/>
              <a:ext cx="1730693" cy="1018222"/>
            </a:xfrm>
            <a:custGeom>
              <a:avLst/>
              <a:gdLst/>
              <a:ahLst/>
              <a:cxnLst/>
              <a:rect l="l" t="t" r="r" b="b"/>
              <a:pathLst>
                <a:path w="1730693" h="1018222">
                  <a:moveTo>
                    <a:pt x="0" y="0"/>
                  </a:moveTo>
                  <a:lnTo>
                    <a:pt x="0" y="613410"/>
                  </a:lnTo>
                  <a:lnTo>
                    <a:pt x="1730693" y="613410"/>
                  </a:lnTo>
                  <a:lnTo>
                    <a:pt x="1730693" y="101822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72765" y="4190048"/>
              <a:ext cx="115252" cy="209550"/>
            </a:xfrm>
            <a:custGeom>
              <a:avLst/>
              <a:gdLst/>
              <a:ahLst/>
              <a:cxnLst/>
              <a:rect l="l" t="t" r="r" b="b"/>
              <a:pathLst>
                <a:path w="115252" h="209550">
                  <a:moveTo>
                    <a:pt x="57150" y="209550"/>
                  </a:moveTo>
                  <a:lnTo>
                    <a:pt x="0" y="104775"/>
                  </a:lnTo>
                  <a:lnTo>
                    <a:pt x="57150" y="0"/>
                  </a:lnTo>
                  <a:lnTo>
                    <a:pt x="115252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27722" y="2583180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4390" y="259080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27722" y="28136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27722" y="29089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290060" y="2514600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96728" y="2522220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90060" y="288226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90060" y="297751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558415" y="4399598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566035" y="4406265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558415" y="46301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558415" y="48872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82177" y="2638901"/>
              <a:ext cx="6340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XTriangle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9160" y="2978468"/>
              <a:ext cx="6454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drawIt()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36671" y="256746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63980" y="2707481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Shape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61498" y="3047048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52929" y="4455319"/>
              <a:ext cx="553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Triangle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29852" y="4699635"/>
              <a:ext cx="8969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xt: XTriangle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29852" y="4956810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154555" y="3589020"/>
              <a:ext cx="22098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193646" y="361188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xt</a:t>
              </a:r>
            </a:p>
          </p:txBody>
        </p:sp>
      </p:grpSp>
      <p:grpSp>
        <p:nvGrpSpPr>
          <p:cNvPr id="39" name="c2-code-1"/>
          <p:cNvGrpSpPr/>
          <p:nvPr/>
        </p:nvGrpSpPr>
        <p:grpSpPr>
          <a:xfrm>
            <a:off x="6032182" y="1928812"/>
            <a:ext cx="5626418" cy="1737360"/>
            <a:chOff x="6032182" y="1928812"/>
            <a:chExt cx="5626418" cy="1737360"/>
          </a:xfrm>
        </p:grpSpPr>
        <p:sp>
          <p:nvSpPr>
            <p:cNvPr id="36" name="Rectangle 36"/>
            <p:cNvSpPr/>
            <p:nvPr/>
          </p:nvSpPr>
          <p:spPr>
            <a:xfrm>
              <a:off x="6032182" y="1928812"/>
              <a:ext cx="5626418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60580" y="20807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对象适配器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60580" y="2340769"/>
              <a:ext cx="3544570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Triangle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XTriangle xt;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Triangle(XTriangle xt)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.xt = xt;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draw() { xt.drawIt(); }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转发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032182" y="3830002"/>
            <a:ext cx="5626418" cy="1730692"/>
            <a:chOff x="6032182" y="3830002"/>
            <a:chExt cx="5626418" cy="1730692"/>
          </a:xfrm>
        </p:grpSpPr>
        <p:sp>
          <p:nvSpPr>
            <p:cNvPr id="40" name="Rectangle 40"/>
            <p:cNvSpPr/>
            <p:nvPr/>
          </p:nvSpPr>
          <p:spPr>
            <a:xfrm>
              <a:off x="6032182" y="3830002"/>
              <a:ext cx="5626418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1708" y="3963352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1258" y="40109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977" y="40438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17233" y="40514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原课件代码里的三处笔误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51258" y="435673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03164" y="43923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21006" y="4367689"/>
              <a:ext cx="46377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class Circle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的析构函数写成了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~Rect()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；正文说椭圆 Ellipse，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代码给的却是 Circle。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51258" y="488442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03164" y="492004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21006" y="4895374"/>
              <a:ext cx="44672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构造函数形参类型写成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pXtriangle *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，应为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XTriangle *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251258" y="516921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03164" y="52048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21006" y="5180171"/>
              <a:ext cx="49908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成员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mpXtriangle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draw()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mpXTriangle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大小写不一致。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5" name="Rectangle 5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1273" y="6039326"/>
              <a:ext cx="7592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课件说没有源代码就不能派生；更准确的理由是即便能派生，Java 也腾不出第二个 extends 名额。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398264" cy="2997517"/>
            <a:chOff x="667512" y="1835468"/>
            <a:chExt cx="439826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三种常见的扩展形式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59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考试里问“它还是不是适配器”的那几个变体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缺省适配器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双向适配器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智能适配器与多适配者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三种常见的扩展形式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缺省适配器：接口方法太多，不想全部实现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234375" cy="278702"/>
            <a:chOff x="526161" y="1547336"/>
            <a:chExt cx="823437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又叫默认适配器、接口适配器、单接口适配器。它适配的不是两个类，而是一个方法太多的接口。</a:t>
              </a:r>
            </a:p>
          </p:txBody>
        </p:sp>
      </p:grpSp>
      <p:grpSp>
        <p:nvGrpSpPr>
          <p:cNvPr id="32" name="c1-uml-1"/>
          <p:cNvGrpSpPr/>
          <p:nvPr/>
        </p:nvGrpSpPr>
        <p:grpSpPr>
          <a:xfrm>
            <a:off x="1971675" y="2078355"/>
            <a:ext cx="1450658" cy="3275647"/>
            <a:chOff x="1971675" y="2078355"/>
            <a:chExt cx="1450658" cy="3275647"/>
          </a:xfrm>
        </p:grpSpPr>
        <p:sp>
          <p:nvSpPr>
            <p:cNvPr id="9" name="Freeform 9"/>
            <p:cNvSpPr/>
            <p:nvPr/>
          </p:nvSpPr>
          <p:spPr>
            <a:xfrm>
              <a:off x="2697480" y="3184208"/>
              <a:ext cx="9525" cy="210502"/>
            </a:xfrm>
            <a:custGeom>
              <a:avLst/>
              <a:gdLst/>
              <a:ahLst/>
              <a:cxnLst/>
              <a:rect l="l" t="t" r="r" b="b"/>
              <a:pathLst>
                <a:path w="9525" h="210502">
                  <a:moveTo>
                    <a:pt x="0" y="21050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624138" y="305847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697480" y="4374832"/>
              <a:ext cx="9525" cy="422910"/>
            </a:xfrm>
            <a:custGeom>
              <a:avLst/>
              <a:gdLst/>
              <a:ahLst/>
              <a:cxnLst/>
              <a:rect l="l" t="t" r="r" b="b"/>
              <a:pathLst>
                <a:path w="9525" h="422910">
                  <a:moveTo>
                    <a:pt x="0" y="4229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24138" y="424910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104072" y="2078355"/>
              <a:ext cx="1186815" cy="98012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111692" y="2085975"/>
              <a:ext cx="1172528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104072" y="2416492"/>
              <a:ext cx="11868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104072" y="2511742"/>
              <a:ext cx="11868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971675" y="3394710"/>
              <a:ext cx="1450658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79295" y="3402330"/>
              <a:ext cx="1436370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971675" y="3607118"/>
              <a:ext cx="14506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71675" y="3702368"/>
              <a:ext cx="14506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971675" y="4797742"/>
              <a:ext cx="1450658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79295" y="4804410"/>
              <a:ext cx="143637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971675" y="5010150"/>
              <a:ext cx="14506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71675" y="5105400"/>
              <a:ext cx="14506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399919" y="2126932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61036" y="2255520"/>
              <a:ext cx="10728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ServiceInterface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75510" y="2579846"/>
              <a:ext cx="1009269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serviceMethod1()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serviceMethod2()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serviceMethod3()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19163" y="3446145"/>
              <a:ext cx="13566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AbstractServiceClass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43112" y="3770471"/>
              <a:ext cx="1009269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serviceMethod1()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serviceMethod2()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serviceMethod3()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19163" y="4849178"/>
              <a:ext cx="13566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ConcreteServiceClass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43112" y="5173504"/>
              <a:ext cx="10738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serviceMethod2()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5166360" y="1941195"/>
            <a:ext cx="6492240" cy="1226820"/>
            <a:chOff x="5166360" y="1941195"/>
            <a:chExt cx="6492240" cy="1226820"/>
          </a:xfrm>
        </p:grpSpPr>
        <p:sp>
          <p:nvSpPr>
            <p:cNvPr id="33" name="Rectangle 33"/>
            <p:cNvSpPr/>
            <p:nvPr/>
          </p:nvSpPr>
          <p:spPr>
            <a:xfrm>
              <a:off x="5166360" y="1941195"/>
              <a:ext cx="649224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175885" y="207454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9686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830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80557" y="2173605"/>
              <a:ext cx="3938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缺省适配器模式（Default Adapter Pattern）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90007" y="2507932"/>
              <a:ext cx="58430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当不需要实现接口提供的全部方法时，先设计一个抽象类实现该接口，并为每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个方法提供一个默认的空实现，子类再有选择地覆盖自己需要的方法。</a:t>
              </a:r>
            </a:p>
          </p:txBody>
        </p:sp>
      </p:grpSp>
      <p:grpSp>
        <p:nvGrpSpPr>
          <p:cNvPr id="48" name="c2-kv-2"/>
          <p:cNvGrpSpPr/>
          <p:nvPr/>
        </p:nvGrpSpPr>
        <p:grpSpPr>
          <a:xfrm>
            <a:off x="5159502" y="3366135"/>
            <a:ext cx="6499098" cy="1312736"/>
            <a:chOff x="5159502" y="3366135"/>
            <a:chExt cx="6499098" cy="1312736"/>
          </a:xfrm>
        </p:grpSpPr>
        <p:sp>
          <p:nvSpPr>
            <p:cNvPr id="40" name="TextBox 40"/>
            <p:cNvSpPr txBox="1"/>
            <p:nvPr/>
          </p:nvSpPr>
          <p:spPr>
            <a:xfrm>
              <a:off x="5159502" y="336613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适配者接口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8714" y="336613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声明了大量方法的接口，实现它就得把方法写全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166360" y="36547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159502" y="376332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默认适配器类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8714" y="3763327"/>
              <a:ext cx="48143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模式的核心，用空方法实现接口里的全部方法，通常定义为抽象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类，因为实例化它没有意义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66360" y="43062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159502" y="441483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具体业务类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8714" y="441483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继承默认适配器，只覆盖真正要用的那几个方法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5166360" y="4801552"/>
            <a:ext cx="6492240" cy="729615"/>
            <a:chOff x="5166360" y="4801552"/>
            <a:chExt cx="6492240" cy="729615"/>
          </a:xfrm>
        </p:grpSpPr>
        <p:sp>
          <p:nvSpPr>
            <p:cNvPr id="49" name="Rectangle 49"/>
            <p:cNvSpPr/>
            <p:nvPr/>
          </p:nvSpPr>
          <p:spPr>
            <a:xfrm>
              <a:off x="5166360" y="4801552"/>
              <a:ext cx="649224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371148" y="5066348"/>
              <a:ext cx="200026" cy="200025"/>
              <a:chOff x="5371148" y="506634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371148" y="50663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410886" y="51107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445602" y="52219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5673852" y="4947285"/>
              <a:ext cx="55172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它把“必须实现全部方法”的负担挪到了抽象类里，子类只管自己关心的那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几个。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3610"/>
              <a:ext cx="7486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它是单接口适配器，Target 和 Adaptee 合成了一个接口，所以有人不把它算作标准适配器。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13069" cy="909257"/>
            <a:chOff x="520446" y="342900"/>
            <a:chExt cx="73130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三种常见的扩展形式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13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缺省适配器在 JDK 里的原型：WindowAdapter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45973" cy="264033"/>
            <a:chOff x="526542" y="1545907"/>
            <a:chExt cx="734597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45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java.awt.event 包里的 WindowAdapter、KeyAdapter、MouseAdapter 都是这么来的。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951220" cy="2616518"/>
            <a:chOff x="533400" y="1928812"/>
            <a:chExt cx="5951220" cy="261651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两种写法对照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10940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4390898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直接实现接口：七个方法一个都不能少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MyHandler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WindowListener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windowClosing(WindowEvent e) { System.exit(0);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windowOpened(WindowEvent e)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余下五个方法也要写出空实现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继承缺省适配器：只写要用的那一个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MyHandler2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WindowAdapter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windowClosing(WindowEvent e) { System.exit(0);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4714875"/>
            <a:ext cx="5951220" cy="995362"/>
            <a:chOff x="533400" y="4714875"/>
            <a:chExt cx="5951220" cy="995362"/>
          </a:xfrm>
        </p:grpSpPr>
        <p:sp>
          <p:nvSpPr>
            <p:cNvPr id="14" name="Rectangle 14"/>
            <p:cNvSpPr/>
            <p:nvPr/>
          </p:nvSpPr>
          <p:spPr>
            <a:xfrm>
              <a:off x="533400" y="4714875"/>
              <a:ext cx="5951220" cy="995362"/>
            </a:xfrm>
            <a:prstGeom prst="roundRect">
              <a:avLst>
                <a:gd name="adj" fmla="val 1148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112068"/>
              <a:ext cx="200026" cy="200025"/>
              <a:chOff x="738188" y="5112068"/>
              <a:chExt cx="200026" cy="2000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1120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7926" y="51565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12642" y="52676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5117783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上面要把七个方法写满，下面只写一个，其余由适配器顶上。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789420" y="1928812"/>
            <a:ext cx="4869180" cy="1459230"/>
            <a:chOff x="6789420" y="1928812"/>
            <a:chExt cx="4869180" cy="1459230"/>
          </a:xfrm>
        </p:grpSpPr>
        <p:sp>
          <p:nvSpPr>
            <p:cNvPr id="21" name="Rectangle 21"/>
            <p:cNvSpPr/>
            <p:nvPr/>
          </p:nvSpPr>
          <p:spPr>
            <a:xfrm>
              <a:off x="6789420" y="1928812"/>
              <a:ext cx="486918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98945" y="206216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1421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0688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澄清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79804" y="215074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七个方法还是十个方法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07352" y="2476500"/>
              <a:ext cx="414180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课件正文说的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个方法来自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WindowListener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；图里的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WindowAdapter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有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个空方法，因为它还实现了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WindowStateListener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WindowFocusListener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0" name="c2-image-2"/>
          <p:cNvGrpSpPr/>
          <p:nvPr/>
        </p:nvGrpSpPr>
        <p:grpSpPr>
          <a:xfrm>
            <a:off x="6789420" y="3558540"/>
            <a:ext cx="4869180" cy="1271301"/>
            <a:chOff x="6789420" y="3558540"/>
            <a:chExt cx="4869180" cy="1271301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0" t="36463" r="0" b="36463"/>
            <a:stretch>
              <a:fillRect/>
            </a:stretch>
          </p:blipFill>
          <p:spPr>
            <a:xfrm>
              <a:off x="6789420" y="3558540"/>
              <a:ext cx="4869180" cy="988695"/>
            </a:xfrm>
            <a:prstGeom prst="roundRect">
              <a:avLst>
                <a:gd name="adj" fmla="val 13487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899781" y="4639151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七个孔先用空盖板封住，只换掉要用的那一个</a:t>
              </a:r>
            </a:p>
          </p:txBody>
        </p:sp>
      </p:grpSp>
      <p:grpSp>
        <p:nvGrpSpPr>
          <p:cNvPr id="37" name="c2-callout-3"/>
          <p:cNvGrpSpPr/>
          <p:nvPr/>
        </p:nvGrpSpPr>
        <p:grpSpPr>
          <a:xfrm>
            <a:off x="6789420" y="4980622"/>
            <a:ext cx="4869180" cy="729615"/>
            <a:chOff x="6789420" y="4980622"/>
            <a:chExt cx="4869180" cy="729615"/>
          </a:xfrm>
        </p:grpSpPr>
        <p:sp>
          <p:nvSpPr>
            <p:cNvPr id="31" name="Rectangle 31"/>
            <p:cNvSpPr/>
            <p:nvPr/>
          </p:nvSpPr>
          <p:spPr>
            <a:xfrm>
              <a:off x="6789420" y="4980622"/>
              <a:ext cx="486918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994208" y="5245418"/>
              <a:ext cx="200026" cy="200025"/>
              <a:chOff x="6994208" y="5245418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994208" y="52454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33946" y="52898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068662" y="54009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296912" y="5127308"/>
              <a:ext cx="3879913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Java 8 起接口可写 default 空实现，缺省适配器类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已不是必需。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8" name="Rectangle 3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6028373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判断缺省适配器只看一点：有没有一个只提供空实现、专门给人继承的抽象类。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三种常见的扩展形式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双向适配器：两个方向的转换合在一个类里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60488" cy="308039"/>
            <a:chOff x="525399" y="1550194"/>
            <a:chExt cx="74604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604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适配器同时持有目标类和适配者类的引用，两边的使用者都能通过它调用对方。</a:t>
              </a:r>
            </a:p>
          </p:txBody>
        </p:sp>
      </p:grpSp>
      <p:grpSp>
        <p:nvGrpSpPr>
          <p:cNvPr id="34" name="c1-uml-1"/>
          <p:cNvGrpSpPr/>
          <p:nvPr/>
        </p:nvGrpSpPr>
        <p:grpSpPr>
          <a:xfrm>
            <a:off x="863918" y="2484120"/>
            <a:ext cx="4912530" cy="2860358"/>
            <a:chOff x="863918" y="2484120"/>
            <a:chExt cx="4912530" cy="2860358"/>
          </a:xfrm>
        </p:grpSpPr>
        <p:sp>
          <p:nvSpPr>
            <p:cNvPr id="9" name="Freeform 9"/>
            <p:cNvSpPr/>
            <p:nvPr/>
          </p:nvSpPr>
          <p:spPr>
            <a:xfrm>
              <a:off x="1435418" y="3421380"/>
              <a:ext cx="1803082" cy="703898"/>
            </a:xfrm>
            <a:custGeom>
              <a:avLst/>
              <a:gdLst/>
              <a:ahLst/>
              <a:cxnLst/>
              <a:rect l="l" t="t" r="r" b="b"/>
              <a:pathLst>
                <a:path w="1803082" h="703898">
                  <a:moveTo>
                    <a:pt x="1803082" y="703898"/>
                  </a:moveTo>
                  <a:lnTo>
                    <a:pt x="1803082" y="289560"/>
                  </a:lnTo>
                  <a:lnTo>
                    <a:pt x="0" y="28956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362075" y="329565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3421380"/>
              <a:ext cx="1803082" cy="703898"/>
            </a:xfrm>
            <a:custGeom>
              <a:avLst/>
              <a:gdLst/>
              <a:ahLst/>
              <a:cxnLst/>
              <a:rect l="l" t="t" r="r" b="b"/>
              <a:pathLst>
                <a:path w="1803082" h="703898">
                  <a:moveTo>
                    <a:pt x="0" y="703898"/>
                  </a:moveTo>
                  <a:lnTo>
                    <a:pt x="0" y="289560"/>
                  </a:lnTo>
                  <a:lnTo>
                    <a:pt x="1803082" y="289560"/>
                  </a:lnTo>
                  <a:lnTo>
                    <a:pt x="18030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968240" y="329565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3918" y="2484120"/>
              <a:ext cx="1143000" cy="8115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70585" y="2491740"/>
              <a:ext cx="1128712" cy="423862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63918" y="29108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63918" y="30060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18635" y="2484120"/>
              <a:ext cx="1445895" cy="8115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26255" y="2491740"/>
              <a:ext cx="1431608" cy="423862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18635" y="2910840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18635" y="3006090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515552" y="4125278"/>
              <a:ext cx="1445895" cy="12192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523172" y="4132898"/>
              <a:ext cx="1431608" cy="26479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515552" y="4391978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515552" y="4866322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7874" y="2545556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66022" y="2708434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Target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4784" y="3078480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4039" y="2545556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28650" y="2708434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Adaptee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89501" y="3078480"/>
              <a:ext cx="1386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specificRequest()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25568" y="4189571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Adapter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86418" y="4464368"/>
              <a:ext cx="1264158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target: Target</a:t>
              </a:r>
            </a:p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adaptee: Adaptee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86418" y="4938712"/>
              <a:ext cx="1304163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specificRequest()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967865"/>
            <a:ext cx="5410200" cy="2242185"/>
            <a:chOff x="6248400" y="1967865"/>
            <a:chExt cx="5410200" cy="2242185"/>
          </a:xfrm>
        </p:grpSpPr>
        <p:sp>
          <p:nvSpPr>
            <p:cNvPr id="35" name="Rectangle 35"/>
            <p:cNvSpPr/>
            <p:nvPr/>
          </p:nvSpPr>
          <p:spPr>
            <a:xfrm>
              <a:off x="6248400" y="1967865"/>
              <a:ext cx="5410200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2101215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6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7078" y="2212658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两个接口都要实现，两个对象都要持有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8430" y="2573655"/>
              <a:ext cx="4358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request()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内部调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adaptee.specificRequest()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specificRequest()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内部调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target.request()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8430" y="319468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图上还各有一个具体类：ConcreteTarget 实现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Target，ConcreteAdaptee 实现 Adaptee，它们才是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真正干活的对象。</a:t>
              </a:r>
            </a:p>
          </p:txBody>
        </p:sp>
      </p:grpSp>
      <p:grpSp>
        <p:nvGrpSpPr>
          <p:cNvPr id="48" name="c2-bullets-2"/>
          <p:cNvGrpSpPr/>
          <p:nvPr/>
        </p:nvGrpSpPr>
        <p:grpSpPr>
          <a:xfrm>
            <a:off x="6240780" y="4425315"/>
            <a:ext cx="5119688" cy="992505"/>
            <a:chOff x="6240780" y="4425315"/>
            <a:chExt cx="5119688" cy="992505"/>
          </a:xfrm>
        </p:grpSpPr>
        <p:sp>
          <p:nvSpPr>
            <p:cNvPr id="43" name="TextBox 43"/>
            <p:cNvSpPr txBox="1"/>
            <p:nvPr/>
          </p:nvSpPr>
          <p:spPr>
            <a:xfrm>
              <a:off x="6240780" y="4425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248400" y="481107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98908" y="477964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系统新旧两版接口并存一段时间，双方都要互相调用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248400" y="515588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98908" y="512445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老界面调第一版接口，却要把日志写进第二版的数据库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双向适配器只能用组合实现：要同时握住两边的对象，继承给不了两个名额。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三种常见的扩展形式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双向适配器的代码与一处常见写错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77000" cy="293370"/>
            <a:chOff x="525780" y="1548765"/>
            <a:chExt cx="64770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历年题资料里的狼羊双向适配器：一件衣服正面是羊皮，翻过来是狼皮。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54530"/>
            <a:ext cx="5951220" cy="3545205"/>
            <a:chOff x="533400" y="1954530"/>
            <a:chExt cx="5951220" cy="354520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951220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正确写法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137535"/>
              <a:ext cx="591312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2368391"/>
              <a:ext cx="5117846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TwoFaceAdapter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ISheep, IWolf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ISheep sheep;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IWolf wolf;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TwoFaceAdapter(ISheep sheep, IWolf wolf)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.sheep = sheep;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两个引用一起传进来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.wolf = wolf;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sheepLooks() {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"我看着像羊"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eatGrass()   { wolf.eatMeat(); }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其实吃肉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wolfLooks()  {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"我看着像狼"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eatMeat()    { sheep.eatGrass(); }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其实吃草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6789420" y="1954530"/>
            <a:ext cx="4869180" cy="2437448"/>
            <a:chOff x="6789420" y="1954530"/>
            <a:chExt cx="4869180" cy="2437448"/>
          </a:xfrm>
        </p:grpSpPr>
        <p:sp>
          <p:nvSpPr>
            <p:cNvPr id="14" name="Rectangle 14"/>
            <p:cNvSpPr/>
            <p:nvPr/>
          </p:nvSpPr>
          <p:spPr>
            <a:xfrm>
              <a:off x="6789420" y="1954530"/>
              <a:ext cx="4869180" cy="2437448"/>
            </a:xfrm>
            <a:prstGeom prst="roundRect">
              <a:avLst>
                <a:gd name="adj" fmla="val 54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798945" y="2087880"/>
              <a:ext cx="47625" cy="21707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03135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2156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32764" y="219789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原资料写了两个单参构造方法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4116" y="2550319"/>
              <a:ext cx="37745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原代码给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ATwoFaceAdapter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写了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(ISheep)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(IWolf)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两个构造方法，各自只赋值一个字段。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24116" y="3141821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用哪个构造方法，另一个字段就是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null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，走反方向的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eatGrass()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eatMeat()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会抛</a:t>
              </a:r>
              <a:br/>
              <a:r>
                <a:rPr lang="en-US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NullPointerException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25259" y="400050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那其实是两个单向适配器合写在一个类里</a:t>
              </a:r>
            </a:p>
          </p:txBody>
        </p:sp>
      </p:grpSp>
      <p:grpSp>
        <p:nvGrpSpPr>
          <p:cNvPr id="28" name="c2-callout-2"/>
          <p:cNvGrpSpPr/>
          <p:nvPr/>
        </p:nvGrpSpPr>
        <p:grpSpPr>
          <a:xfrm>
            <a:off x="6789420" y="4577715"/>
            <a:ext cx="4869180" cy="1018222"/>
            <a:chOff x="6789420" y="4577715"/>
            <a:chExt cx="4869180" cy="1018222"/>
          </a:xfrm>
        </p:grpSpPr>
        <p:sp>
          <p:nvSpPr>
            <p:cNvPr id="23" name="Rectangle 23"/>
            <p:cNvSpPr/>
            <p:nvPr/>
          </p:nvSpPr>
          <p:spPr>
            <a:xfrm>
              <a:off x="6789420" y="4577715"/>
              <a:ext cx="4869180" cy="1018222"/>
            </a:xfrm>
            <a:prstGeom prst="roundRect">
              <a:avLst>
                <a:gd name="adj" fmla="val 11225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994208" y="4986340"/>
              <a:ext cx="200023" cy="200023"/>
              <a:chOff x="6994208" y="4986340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994208" y="49863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127558" y="50530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296531" y="4724876"/>
              <a:ext cx="381063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对照课件结构图：Adapter 里同时有 target 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adaptee 两个字段，也提供 setTarget 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setAdaptee。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29" name="Rectangle 2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6004084"/>
              <a:ext cx="689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一个对象既能当羊又能当狼，才算双向；只能当其中一个，说明构造时漏了一半。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05154" cy="909257"/>
            <a:chOff x="520446" y="342900"/>
            <a:chExt cx="74051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三种常见的扩展形式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051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智能适配器、多适配者，以及 JDK 里的真实用法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6542" y="1545907"/>
            <a:ext cx="4984623" cy="1164146"/>
            <a:chOff x="526542" y="1545907"/>
            <a:chExt cx="4984623" cy="116414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智能适配器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20062" y="1545907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转换调用的前后再做一点处理，还可以按需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换用不同的适配者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859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21926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适配多个适配者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20062" y="2192655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实现一个目标方法要调多个模块，适配器同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时持有几个适配者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2827020"/>
            <a:ext cx="4977765" cy="729615"/>
            <a:chOff x="533400" y="2827020"/>
            <a:chExt cx="4977765" cy="729615"/>
          </a:xfrm>
        </p:grpSpPr>
        <p:sp>
          <p:nvSpPr>
            <p:cNvPr id="13" name="Rectangle 13"/>
            <p:cNvSpPr/>
            <p:nvPr/>
          </p:nvSpPr>
          <p:spPr>
            <a:xfrm>
              <a:off x="533400" y="2827020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3088123"/>
              <a:ext cx="224134" cy="192560"/>
              <a:chOff x="726129" y="3088123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31584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30881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32362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2972752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前后加的处理一旦变成可叠加的职责，就该用装饰模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式了，适配器只管转换。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5815965" y="1524000"/>
            <a:ext cx="5842635" cy="1760220"/>
            <a:chOff x="5815965" y="1524000"/>
            <a:chExt cx="5842635" cy="1760220"/>
          </a:xfrm>
        </p:grpSpPr>
        <p:sp>
          <p:nvSpPr>
            <p:cNvPr id="20" name="Rectangle 20"/>
            <p:cNvSpPr/>
            <p:nvPr/>
          </p:nvSpPr>
          <p:spPr>
            <a:xfrm>
              <a:off x="5815965" y="1524000"/>
              <a:ext cx="5842635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825490" y="165735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4075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32474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06349" y="1745932"/>
              <a:ext cx="3018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驱动与 InputStreamAdapter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33897" y="2071688"/>
              <a:ext cx="50714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给客户端一个统一接口，每种数据库引擎的驱动都是介于它和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引擎 API 之间的适配器。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3897" y="2628900"/>
              <a:ext cx="44199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JDK 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InputStreamAdapter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ImageInputStream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包成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InputStream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1" name="c2-code-2"/>
          <p:cNvGrpSpPr/>
          <p:nvPr/>
        </p:nvGrpSpPr>
        <p:grpSpPr>
          <a:xfrm>
            <a:off x="5815965" y="3453765"/>
            <a:ext cx="5842635" cy="1561148"/>
            <a:chOff x="5815965" y="3453765"/>
            <a:chExt cx="5842635" cy="1561148"/>
          </a:xfrm>
        </p:grpSpPr>
        <p:sp>
          <p:nvSpPr>
            <p:cNvPr id="28" name="Rectangle 28"/>
            <p:cNvSpPr/>
            <p:nvPr/>
          </p:nvSpPr>
          <p:spPr>
            <a:xfrm>
              <a:off x="5815965" y="3453765"/>
              <a:ext cx="5842635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44362" y="3605689"/>
              <a:ext cx="2088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InputStreamAdapter 的核心两行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44362" y="3866674"/>
              <a:ext cx="3669030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InputStreamAdapter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InputStream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ImageInputStream stream;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适配者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read()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stream.read();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转发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8" name="c2-callout-3"/>
          <p:cNvGrpSpPr/>
          <p:nvPr/>
        </p:nvGrpSpPr>
        <p:grpSpPr>
          <a:xfrm>
            <a:off x="5815965" y="5184458"/>
            <a:ext cx="5842635" cy="481012"/>
            <a:chOff x="5815965" y="5184458"/>
            <a:chExt cx="5842635" cy="481012"/>
          </a:xfrm>
        </p:grpSpPr>
        <p:sp>
          <p:nvSpPr>
            <p:cNvPr id="32" name="Rectangle 32"/>
            <p:cNvSpPr/>
            <p:nvPr/>
          </p:nvSpPr>
          <p:spPr>
            <a:xfrm>
              <a:off x="5815965" y="5184458"/>
              <a:ext cx="5842635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020753" y="5325428"/>
              <a:ext cx="200026" cy="200026"/>
              <a:chOff x="6020753" y="532542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020753" y="53254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20765" y="5392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109653" y="54254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323457" y="5331142"/>
              <a:ext cx="51133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 InputStream，持有 ImageInputStream，转发 read()。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9" name="Rectangle 3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6028373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换一种数据库只换驱动、不改业务代码，靠的就是驱动这一层适配器。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效果、适用与边界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什么时候该用，什么时候不该用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优点集中在解耦与复用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两种结构各自的缺点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适用场景与它的边界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效果、适用与边界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优点：把改造关在一个新类里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4861560" cy="293370"/>
            <a:chOff x="525780" y="1548765"/>
            <a:chExt cx="48615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三条通用优点对两种结构都成立，另外两条各自专属。</a:t>
              </a:r>
            </a:p>
          </p:txBody>
        </p:sp>
      </p:grpSp>
      <p:grpSp>
        <p:nvGrpSpPr>
          <p:cNvPr id="22" name="c1-bullets-1"/>
          <p:cNvGrpSpPr/>
          <p:nvPr/>
        </p:nvGrpSpPr>
        <p:grpSpPr>
          <a:xfrm>
            <a:off x="526161" y="1977866"/>
            <a:ext cx="5463159" cy="2000155"/>
            <a:chOff x="526161" y="1977866"/>
            <a:chExt cx="5463159" cy="2000155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通用优点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34696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7621" y="23169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4860" y="266414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69264" y="2595562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目标类和适配者类互不认识，重用适配者而不用改它的代码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292036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7621" y="28903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透明与复用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84860" y="323754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9264" y="316992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具体实现封装在适配者里，对客户端不可见，适配者的复用性提高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349377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7621" y="346376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灵活与可扩展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4860" y="381095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9264" y="3743325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配合配置文件就能换适配器，新增适配器不动原有代码，符合开闭原则</a:t>
              </a:r>
            </a:p>
          </p:txBody>
        </p:sp>
      </p:grpSp>
      <p:grpSp>
        <p:nvGrpSpPr>
          <p:cNvPr id="26" name="c1-code-2"/>
          <p:cNvGrpSpPr/>
          <p:nvPr/>
        </p:nvGrpSpPr>
        <p:grpSpPr>
          <a:xfrm>
            <a:off x="533400" y="4115752"/>
            <a:ext cx="5626418" cy="1313498"/>
            <a:chOff x="533400" y="4115752"/>
            <a:chExt cx="5626418" cy="1313498"/>
          </a:xfrm>
        </p:grpSpPr>
        <p:sp>
          <p:nvSpPr>
            <p:cNvPr id="23" name="Rectangle 23"/>
            <p:cNvSpPr/>
            <p:nvPr/>
          </p:nvSpPr>
          <p:spPr>
            <a:xfrm>
              <a:off x="533400" y="4115752"/>
              <a:ext cx="5626418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" y="426767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第三条优点落到代码上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035" y="4530566"/>
              <a:ext cx="4776470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 cls = props.getProperty(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"adapter"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配置里的类名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Target t = (Target) Class.forName(cls)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.getDeclaredConstructor().newInstance();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t.request();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换一个适配器，这里一行不用改 */</a:t>
              </a:r>
            </a:p>
          </p:txBody>
        </p:sp>
      </p:grpSp>
      <p:grpSp>
        <p:nvGrpSpPr>
          <p:cNvPr id="47" name="c2-compare-1"/>
          <p:cNvGrpSpPr/>
          <p:nvPr/>
        </p:nvGrpSpPr>
        <p:grpSpPr>
          <a:xfrm>
            <a:off x="6464618" y="1954530"/>
            <a:ext cx="5193982" cy="3474720"/>
            <a:chOff x="6464618" y="1954530"/>
            <a:chExt cx="5193982" cy="3474720"/>
          </a:xfrm>
        </p:grpSpPr>
        <p:sp>
          <p:nvSpPr>
            <p:cNvPr id="27" name="Rectangle 27"/>
            <p:cNvSpPr/>
            <p:nvPr/>
          </p:nvSpPr>
          <p:spPr>
            <a:xfrm>
              <a:off x="6464618" y="1954530"/>
              <a:ext cx="2348865" cy="3474720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2087880"/>
              <a:ext cx="47625" cy="32080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99314" y="218170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类适配器还多一条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714172" y="25803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70764" y="252079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适配器是适配者的子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714172" y="31718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70764" y="311229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可以直接覆盖适配者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的方法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714172" y="376332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70764" y="370379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转换逻辑写起来最短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309735" y="1954530"/>
              <a:ext cx="2348865" cy="3474720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319260" y="2087880"/>
              <a:ext cx="47625" cy="32080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44431" y="218170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对象适配器还多一条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559290" y="25803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15881" y="252079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一个适配器能适配多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个适配者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9559290" y="31718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15881" y="311229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适配者的子类对象也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能适配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9559290" y="376332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15881" y="3703796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换适配者只换构造入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862060" y="349186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15400" y="36261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各自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8" name="Rectangle 4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04084"/>
              <a:ext cx="6533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“符合开闭原则”指的是新增适配器不改旧代码，不是说适配器本身不用维护。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25612" cy="909257"/>
            <a:chOff x="520446" y="342900"/>
            <a:chExt cx="22256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效果、适用与边界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缺点与代价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842636" cy="4166235"/>
            <a:chOff x="533400" y="1524000"/>
            <a:chExt cx="5842636" cy="41662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692718" cy="4166235"/>
            </a:xfrm>
            <a:prstGeom prst="roundRect">
              <a:avLst>
                <a:gd name="adj" fmla="val 49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995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5998" y="17264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类适配器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2000" y="207930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7448" y="2027396"/>
              <a:ext cx="19636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Java、C# 不支持多重继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承，一次只能适配一个适配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85083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797969"/>
              <a:ext cx="1963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目标只能是接口，不能是具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33785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3325654"/>
              <a:ext cx="1963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适配者及其子类不能一起适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683318" y="1524000"/>
              <a:ext cx="2692718" cy="4166235"/>
            </a:xfrm>
            <a:prstGeom prst="roundRect">
              <a:avLst>
                <a:gd name="adj" fmla="val 49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692842" y="1657350"/>
              <a:ext cx="47625" cy="38995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95916" y="17264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对象适配器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911918" y="207930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67366" y="2027396"/>
              <a:ext cx="1963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想置换适配者的方法很不容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911918" y="260794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67366" y="2555081"/>
              <a:ext cx="1963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要先派生适配者的子类，替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换掉方法，再拿子类去适配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911918" y="313563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67366" y="308276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实现过程绕，类也多了一层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273742" y="3426142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328797" y="35509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680835" y="1524000"/>
            <a:ext cx="4977765" cy="1444942"/>
            <a:chOff x="6680835" y="1524000"/>
            <a:chExt cx="4977765" cy="1444942"/>
          </a:xfrm>
        </p:grpSpPr>
        <p:sp>
          <p:nvSpPr>
            <p:cNvPr id="28" name="Rectangle 28"/>
            <p:cNvSpPr/>
            <p:nvPr/>
          </p:nvSpPr>
          <p:spPr>
            <a:xfrm>
              <a:off x="6680835" y="1524000"/>
              <a:ext cx="4977765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90360" y="1657350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99910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85432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共同代价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15441" y="174450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系统里多出一层看不见的转手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3433" y="206168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调用链变长，出错时要多翻一层；类的数量也在增加。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93433" y="234648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适配器堆多了以后，客户看到的接口和真正执行的代码之间会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隔着好几层，定位问题变慢。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680835" y="3133725"/>
            <a:ext cx="4977765" cy="1687830"/>
            <a:chOff x="6680835" y="3133725"/>
            <a:chExt cx="4977765" cy="1687830"/>
          </a:xfrm>
        </p:grpSpPr>
        <p:sp>
          <p:nvSpPr>
            <p:cNvPr id="36" name="Rectangle 36"/>
            <p:cNvSpPr/>
            <p:nvPr/>
          </p:nvSpPr>
          <p:spPr>
            <a:xfrm>
              <a:off x="6680835" y="3133725"/>
              <a:ext cx="497776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90360" y="3267075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99910" y="33147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2582" y="33475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66838" y="33551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两个缺点各自的绕法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93433" y="367141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类适配器一次只能适配一个：改用对象适配器，或者给每个适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配者各写一个适配器类。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93433" y="419909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对象适配器改不动适配者的方法：先派生适配者的子类把方法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覆盖掉，再把子类对象传给适配器。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6680835" y="4987290"/>
            <a:ext cx="4977765" cy="702945"/>
            <a:chOff x="6680835" y="4987290"/>
            <a:chExt cx="4977765" cy="702945"/>
          </a:xfrm>
        </p:grpSpPr>
        <p:sp>
          <p:nvSpPr>
            <p:cNvPr id="44" name="Rectangle 44"/>
            <p:cNvSpPr/>
            <p:nvPr/>
          </p:nvSpPr>
          <p:spPr>
            <a:xfrm>
              <a:off x="6680835" y="4987290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885623" y="5238750"/>
              <a:ext cx="200026" cy="200025"/>
              <a:chOff x="6885623" y="5238750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885623" y="52387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925361" y="52832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960077" y="53943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188708" y="5131594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能在设计阶段统一接口时就别留给适配器，它本来是给既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成事实收尾用的。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1" name="Rectangle 5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6039326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两种结构的缺点正好互补：类适配器败在数量，对象适配器败在改写。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效果、适用与边界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什么情况下用它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bullets-1"/>
          <p:cNvGrpSpPr/>
          <p:nvPr/>
        </p:nvGrpSpPr>
        <p:grpSpPr>
          <a:xfrm>
            <a:off x="526161" y="1547336"/>
            <a:ext cx="5186743" cy="1426750"/>
            <a:chOff x="526161" y="1547336"/>
            <a:chExt cx="5186743" cy="1426750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课件给的两条适用环境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7356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1745" y="19139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4293" y="188642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现有类的接口不符合需要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1532" y="223361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5936" y="2165032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系统需要使用这些现有的类，可它们的接口对不上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44697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4873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45983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适配器本身也要能复用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31532" y="280701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5936" y="273939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用它和一些彼此没有太大关联的类一起工作，包括将来才引进的类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3111818"/>
            <a:ext cx="5410200" cy="756285"/>
            <a:chOff x="533400" y="3111818"/>
            <a:chExt cx="5410200" cy="756285"/>
          </a:xfrm>
        </p:grpSpPr>
        <p:sp>
          <p:nvSpPr>
            <p:cNvPr id="19" name="Rectangle 19"/>
            <p:cNvSpPr/>
            <p:nvPr/>
          </p:nvSpPr>
          <p:spPr>
            <a:xfrm>
              <a:off x="533400" y="311181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3389948"/>
              <a:ext cx="200026" cy="200026"/>
              <a:chOff x="738188" y="338994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33899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34566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34899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3258979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第二条说的是适配器本身也要能被重复使用，而不是每接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一个类就手写一个一次性的转换。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052888"/>
            <a:ext cx="5410200" cy="1564958"/>
            <a:chOff x="533400" y="4052888"/>
            <a:chExt cx="5410200" cy="1564958"/>
          </a:xfrm>
        </p:grpSpPr>
        <p:sp>
          <p:nvSpPr>
            <p:cNvPr id="26" name="Rectangle 26"/>
            <p:cNvSpPr/>
            <p:nvPr/>
          </p:nvSpPr>
          <p:spPr>
            <a:xfrm>
              <a:off x="533400" y="4052888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186238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75335" y="425672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0445" y="42924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33869" y="429720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一个够典型的场景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8096" y="4648676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老系统用外购的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FileLog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写日志文件，新系统统一要求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LogApi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接口。接口是规范改不了，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FileLog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是外购件也改不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了，写一个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FileLogAdapter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就能让两边接上。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1662112"/>
            <a:chOff x="6248400" y="1524000"/>
            <a:chExt cx="5410200" cy="1662112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165735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0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2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常见落点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75588" y="176736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现实里最常遇到的三种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97955" y="217932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4546" y="211978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引入第三方类库或遗留模块，接口和自家规范对不上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97955" y="249936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4546" y="243982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同一件事有多家实现，想统一到一个接口后面随时替换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7955" y="281940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4546" y="275986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新旧两版接口并存过渡期，两边都要能互相调用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248400" y="3370898"/>
            <a:ext cx="5410200" cy="2246948"/>
            <a:chOff x="6248400" y="3370898"/>
            <a:chExt cx="5410200" cy="2246948"/>
          </a:xfrm>
        </p:grpSpPr>
        <p:sp>
          <p:nvSpPr>
            <p:cNvPr id="45" name="Rectangle 45"/>
            <p:cNvSpPr/>
            <p:nvPr/>
          </p:nvSpPr>
          <p:spPr>
            <a:xfrm>
              <a:off x="6248400" y="3370898"/>
              <a:ext cx="5410200" cy="2246948"/>
            </a:xfrm>
            <a:prstGeom prst="roundRect">
              <a:avLst>
                <a:gd name="adj" fmla="val 59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3504248"/>
              <a:ext cx="47625" cy="19802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90335" y="357473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6593" y="36104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不该用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33666" y="361521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这两种情况别硬套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97955" y="402717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4546" y="396668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接口改得动：直接改接口比留一层转换更省事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97955" y="434721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54546" y="428672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差异不只在接口：两边的语义、事务边界都不一样时，转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换会把问题藏起来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5" name="Rectangle 5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511" y="6004084"/>
              <a:ext cx="46214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先问一句“能不能直接改”，改不动时再请适配器出场。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模式辨析与自测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结构型模式里长得像的几个放在一起分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与桥接装饰外观的分界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五个易错点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道自测题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模式辨析与自测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同样是包一层，它们分在哪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758891" cy="308039"/>
            <a:chOff x="525399" y="1550194"/>
            <a:chExt cx="57588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四个模式都会在中间加一个类，区别在这一层到底动了什么。</a:t>
              </a:r>
            </a:p>
          </p:txBody>
        </p:sp>
      </p:grpSp>
      <p:grpSp>
        <p:nvGrpSpPr>
          <p:cNvPr id="47" name="c1-table-1"/>
          <p:cNvGrpSpPr/>
          <p:nvPr/>
        </p:nvGrpSpPr>
        <p:grpSpPr>
          <a:xfrm>
            <a:off x="533400" y="1967865"/>
            <a:ext cx="11125200" cy="2244090"/>
            <a:chOff x="533400" y="1967865"/>
            <a:chExt cx="11125200" cy="224409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4424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71813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适配器（本讲）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40662" y="2102644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桥接（第 21 讲）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7145" y="2102644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装饰（第 23 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13627" y="2102644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外观（第 24 讲）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223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21446" y="25512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接口对不上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57928" y="255127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抽象与实现都要变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3458" y="25512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要加新职责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29940" y="25512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子系统太难用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0008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接口变不变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323148" y="2874645"/>
              <a:ext cx="231743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421446" y="300085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换成另一个接口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57928" y="30008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两个维度各自的接口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995160" y="2874645"/>
              <a:ext cx="231743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93458" y="30008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和被包的保持一致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29940" y="30008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提供更高层的新接口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34494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什么时候介入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21446" y="34494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事后补救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7928" y="344947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设计之初就规划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3458" y="344947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运行期动态叠加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29940" y="34494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事前事后都行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38981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包几个对象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21446" y="38981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一个（对象适配器可多个）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57928" y="38981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一个实现对象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93458" y="38981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可以层层嵌套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29940" y="38981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一个门面对一组子系统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967865"/>
              <a:ext cx="11125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308860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64534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80872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317355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allout-2"/>
          <p:cNvGrpSpPr/>
          <p:nvPr/>
        </p:nvGrpSpPr>
        <p:grpSpPr>
          <a:xfrm>
            <a:off x="533400" y="4402455"/>
            <a:ext cx="11125200" cy="1255395"/>
            <a:chOff x="533400" y="4402455"/>
            <a:chExt cx="11125200" cy="1255395"/>
          </a:xfrm>
        </p:grpSpPr>
        <p:sp>
          <p:nvSpPr>
            <p:cNvPr id="48" name="Rectangle 48"/>
            <p:cNvSpPr/>
            <p:nvPr/>
          </p:nvSpPr>
          <p:spPr>
            <a:xfrm>
              <a:off x="533400" y="4402455"/>
              <a:ext cx="11125200" cy="1255395"/>
            </a:xfrm>
            <a:prstGeom prst="roundRect">
              <a:avLst>
                <a:gd name="adj" fmla="val 910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26129" y="4926448"/>
              <a:ext cx="224134" cy="192560"/>
              <a:chOff x="726129" y="4926448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38200" y="49968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6129" y="49264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50746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4925378"/>
              <a:ext cx="88395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代理模式（第 26 讲）也在中间加一层，但它不改接口，只控制对真实对象的访问，别和适配器混。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一句话区分：适配器改接口，装饰加职责，代理管访问，外观降门槛，桥接拆维度。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 · 模式辨析与自测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五个一考就错的地方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ard-1"/>
          <p:cNvGrpSpPr/>
          <p:nvPr/>
        </p:nvGrpSpPr>
        <p:grpSpPr>
          <a:xfrm>
            <a:off x="533400" y="1524000"/>
            <a:ext cx="6059805" cy="3819525"/>
            <a:chOff x="533400" y="1524000"/>
            <a:chExt cx="6059805" cy="3819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9525"/>
            </a:xfrm>
            <a:prstGeom prst="roundRect">
              <a:avLst>
                <a:gd name="adj" fmla="val 34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5528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写代码和做判断题时按这五条自查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4939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把类适配器的 Target 写成抽象类。Java 里 Adapter 已经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extends Adaptee，再 extends Target 编不过。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374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7508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对象适配器想改写适配者的方法。必须先派生适配者的子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类，不能直接覆盖。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3585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37185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适配器里塞业务逻辑。转换之外的加工属于智能适配器，可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叠加的职责该交给装饰模式。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397954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40218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399288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双向适配器只传了一边的对象。另一边为 null，反方向调用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就崩。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1050" y="460057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899" y="46428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040" y="4613910"/>
              <a:ext cx="4987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把“没有源码就不能继承”当成用对象适配器的理由。真正卡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住类适配器的是单继承和第三方类可能被 final 修饰。</a:t>
              </a:r>
            </a:p>
          </p:txBody>
        </p:sp>
      </p:grpSp>
      <p:grpSp>
        <p:nvGrpSpPr>
          <p:cNvPr id="45" name="c2-steps-1"/>
          <p:cNvGrpSpPr/>
          <p:nvPr/>
        </p:nvGrpSpPr>
        <p:grpSpPr>
          <a:xfrm>
            <a:off x="6898005" y="1533525"/>
            <a:ext cx="4044163" cy="2529173"/>
            <a:chOff x="6898005" y="1533525"/>
            <a:chExt cx="4044163" cy="2529173"/>
          </a:xfrm>
        </p:grpSpPr>
        <p:sp>
          <p:nvSpPr>
            <p:cNvPr id="28" name="Rectangle 28"/>
            <p:cNvSpPr/>
            <p:nvPr/>
          </p:nvSpPr>
          <p:spPr>
            <a:xfrm>
              <a:off x="703135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898005" y="218408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9162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898005" y="283464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9162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898005" y="348615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9162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09485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0628" y="186166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客户要的接口是哪一个，它能不能改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09485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0628" y="251221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已有的功能在哪个类里，它能不能改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09485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0628" y="316277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要不要覆盖已有类的方法，要就考虑类适配器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09485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10628" y="381333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会不会有多个适配者或子类，会就用对象适配器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898005" y="4241482"/>
            <a:ext cx="4760595" cy="1102042"/>
            <a:chOff x="6898005" y="4241482"/>
            <a:chExt cx="4760595" cy="1102042"/>
          </a:xfrm>
        </p:grpSpPr>
        <p:sp>
          <p:nvSpPr>
            <p:cNvPr id="46" name="Rectangle 46"/>
            <p:cNvSpPr/>
            <p:nvPr/>
          </p:nvSpPr>
          <p:spPr>
            <a:xfrm>
              <a:off x="6898005" y="4241482"/>
              <a:ext cx="4760595" cy="1102042"/>
            </a:xfrm>
            <a:prstGeom prst="roundRect">
              <a:avLst>
                <a:gd name="adj" fmla="val 1037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102793" y="4692015"/>
              <a:ext cx="200026" cy="200025"/>
              <a:chOff x="7102793" y="4692015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102793" y="46920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142531" y="47364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177247" y="48475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404735" y="454914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四问过完还拿不定，就按默认答案选对象适配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器。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67395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题干里出现“第三方类库”“没有源代码”“遗留系统”，几乎都是在指适配器。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适配器模式的别名是什么？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17193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包装器 Wrapper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类适配器靠什么复用适配者？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继承适配者类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30661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里类适配器的 Target 只能是？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接口，继承名额已给适配者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它包含哪四个角色？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3452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Target、Adapter、Adaptee、Client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对象适配器靠什么复用适配者？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持有一个适配者对象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适配器模式的本质是什么？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转换匹配，复用功能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答不上来的题，回到对应正文页再看一遍那张类图或那段代码。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要适配多个适配者，选哪种？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对象适配器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缺省适配器解决什么问题？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接口方法太多，不想全实现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双向适配器为何只能用组合？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要同时持有两边的对象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要覆盖适配者的方法，选哪种？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类适配器，直接重写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748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WindowAdapter 属于哪种扩展？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缺省（默认）适配器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适配器与装饰在接口上的差别？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适配器换接口，装饰不换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53658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11 题还要能说出双向适配器的两个字段：target 和 adaptee。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20 适配器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8290941" cy="1509903"/>
            <a:chOff x="533400" y="1534478"/>
            <a:chExt cx="8290941" cy="1509903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适配器把一个接口转换成客户希望的另一个接口，让接口不兼容的类一起工作，别名包装器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308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1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4518"/>
              <a:ext cx="79673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四个角色：Target 是客户要的接口，Adaptee 是已有的类，Adapter 做转换，Client 只认 Target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169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008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312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类适配器继承适配者，受单继承限制，好处是能直接覆盖适配者的方法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030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4986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173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对象适配器持有适配者对象，能适配多个适配者及其子类，是默认选择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689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073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80348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三个扩展：缺省适配器给接口方法配空实现，双向适配器两边都能调，智能适配器在转换前后加处理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3161348"/>
            <a:ext cx="11125200" cy="1845945"/>
            <a:chOff x="533400" y="3161348"/>
            <a:chExt cx="11125200" cy="1845945"/>
          </a:xfrm>
        </p:grpSpPr>
        <p:sp>
          <p:nvSpPr>
            <p:cNvPr id="23" name="Rectangle 23"/>
            <p:cNvSpPr/>
            <p:nvPr/>
          </p:nvSpPr>
          <p:spPr>
            <a:xfrm>
              <a:off x="533400" y="3161348"/>
              <a:ext cx="11125200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294698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8190" y="334803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759" y="33808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73340" y="33832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8190" y="369665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3868" y="37359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8987" y="3709035"/>
              <a:ext cx="8129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绘图例：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Circle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的析构函数误写成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~Rect()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，构造函数形参写成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pXtriangle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，成员大小写也不一致。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8190" y="39976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3868" y="40360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8987" y="4009072"/>
              <a:ext cx="6999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结构图里 Target 拼成 Tagert，方法名 Request 与后文的 specificRequest 不统一。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8190" y="429768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3868" y="43360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8987" y="4310062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历年题的双向适配器写了两个单参构造方法，另一半字段为 null，反方向调用会抛空指针。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8190" y="45977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3868" y="46361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8987" y="4610100"/>
              <a:ext cx="4746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“目标抽象类只能为抽象类”在 Java 中应为“只能为接口”。</a:t>
              </a:r>
            </a:p>
          </p:txBody>
        </p:sp>
      </p:grpSp>
      <p:grpSp>
        <p:nvGrpSpPr>
          <p:cNvPr id="47" name="c1-callout-3"/>
          <p:cNvGrpSpPr/>
          <p:nvPr/>
        </p:nvGrpSpPr>
        <p:grpSpPr>
          <a:xfrm>
            <a:off x="533400" y="5177790"/>
            <a:ext cx="11125200" cy="533400"/>
            <a:chOff x="533400" y="517779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17779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343525"/>
              <a:ext cx="200026" cy="200025"/>
              <a:chOff x="738188" y="534352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3435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3879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54991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5349240"/>
              <a:ext cx="5229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下一步：抽象和实现两个维度都在变时，看第 21 讲的桥接模式。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8" name="Rectangle 4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8373"/>
              <a:ext cx="5847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遇到“功能已经有了，接口对不上，两边都改不动”的场景，先想适配器。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适配器模式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20">
  <a:themeElements>
    <a:clrScheme name="sdp_2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2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2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2026-09-19T08:22:51Z</dcterms:created>
  <dcterms:modified xsi:type="dcterms:W3CDTF">2026-09-19T08:22:51Z</dcterms:modified>
  <cp:category/>
  <cp:contentStatus/>
</cp:coreProperties>
</file>