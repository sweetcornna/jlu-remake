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sdp_24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sdp_24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66c687171a14c3d8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e90457439d5cd59.png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019cb0a71208e82f.png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3662934" cy="3437763"/>
            <a:chOff x="666750" y="1619250"/>
            <a:chExt cx="3662934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2050732" cy="3429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00294" y="1718310"/>
              <a:ext cx="18226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软件设计模式 · 第十五讲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229971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外观模式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给一整个子系统装上一扇统一的门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调用关系从网状变星状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两个角色与标准结构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四个课件实例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抽象外观与模式辨析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5403209" cy="205359"/>
            <a:chOff x="680466" y="6192202"/>
            <a:chExt cx="5403209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54032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自学复习版｜据吉林大学《软件设计模式》张欣佳、陈伟老师课件合并整理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76009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6139" y="40719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0" name="c1-agenda-1"/>
          <p:cNvGrpSpPr/>
          <p:nvPr/>
        </p:nvGrpSpPr>
        <p:grpSpPr>
          <a:xfrm>
            <a:off x="521970" y="1515428"/>
            <a:ext cx="6287453" cy="4461795"/>
            <a:chOff x="521970" y="1515428"/>
            <a:chExt cx="6287453" cy="4461795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46101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客户端为什么被迫认识子系统里的每个类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定义与结构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外观角色、子系统角色，一张只有关联线的类图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代码实现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28622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Java 写出子系统类、外观类和客户端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课件实例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4592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电器总开关、文件加密、财务接口、游戏引擎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效果与扩展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优缺点、适用环境、多个外观与抽象外观类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73468" y="5269230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1970" y="537495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65086" y="541115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模式辨析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66990" y="5727859"/>
              <a:ext cx="25976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和适配器、中介者、代理各管什么</a:t>
              </a:r>
            </a:p>
          </p:txBody>
        </p:sp>
      </p:grpSp>
      <p:grpSp>
        <p:nvGrpSpPr>
          <p:cNvPr id="45" name="c2-card-1"/>
          <p:cNvGrpSpPr/>
          <p:nvPr/>
        </p:nvGrpSpPr>
        <p:grpSpPr>
          <a:xfrm>
            <a:off x="7114222" y="1524000"/>
            <a:ext cx="4544378" cy="4402455"/>
            <a:chOff x="7114222" y="1524000"/>
            <a:chExt cx="4544378" cy="4402455"/>
          </a:xfrm>
        </p:grpSpPr>
        <p:sp>
          <p:nvSpPr>
            <p:cNvPr id="31" name="Rectangle 31"/>
            <p:cNvSpPr/>
            <p:nvPr/>
          </p:nvSpPr>
          <p:spPr>
            <a:xfrm>
              <a:off x="7114222" y="1524000"/>
              <a:ext cx="4544378" cy="4402455"/>
            </a:xfrm>
            <a:prstGeom prst="roundRect">
              <a:avLst>
                <a:gd name="adj" fmla="val 30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7123748" y="1657350"/>
              <a:ext cx="47625" cy="413575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画出外观模式的标准类图，说清外观类与子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系统之间是哪种关系、为什么没有继承线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273177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Java 写出子系统类、外观类和客户端，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把调用顺序和转发关系写对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335280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把一段直接调用多个子系统的客户端代码改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写成外观模式，并数清依赖条数的变化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525702" y="397383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说清外观模式为什么被称为迪米特法则的具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体实现，以及它在哪一点上不符合开闭原则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525702" y="459486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区分外观、适配器、中介者、代理四个模式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各自解决什么问题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从一次子系统调用说起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先看清客户端是被什么拖住的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组装电脑的两个方案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调用关系从网状到星状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定义与迪米特法则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从一次子系统调用说起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动机：自己跑电子市场，还是找装机公司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557141" cy="264033"/>
            <a:chOff x="526542" y="1545907"/>
            <a:chExt cx="455714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两个方案都能装出电脑，差别在于客户得认识多少家店。</a:t>
              </a:r>
            </a:p>
          </p:txBody>
        </p:sp>
      </p:grpSp>
      <p:grpSp>
        <p:nvGrpSpPr>
          <p:cNvPr id="33" name="c1-compare-1"/>
          <p:cNvGrpSpPr/>
          <p:nvPr/>
        </p:nvGrpSpPr>
        <p:grpSpPr>
          <a:xfrm>
            <a:off x="533400" y="1928812"/>
            <a:ext cx="5410200" cy="3595688"/>
            <a:chOff x="533400" y="1928812"/>
            <a:chExt cx="5410200" cy="3595688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2495550" cy="3595688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62162"/>
              <a:ext cx="47625" cy="332898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5998" y="213026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方案一：自己组装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2000" y="248412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17448" y="243220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挨家跑遍卖配件的公司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2000" y="276891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17448" y="271700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要熟悉每一种配件的型号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2000" y="305466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17448" y="3001804"/>
              <a:ext cx="18011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还得自己判断配件之间的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兼容性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2000" y="358235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7448" y="352948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装不好只能自己返工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48050" y="1928812"/>
              <a:ext cx="2495550" cy="3595688"/>
            </a:xfrm>
            <a:prstGeom prst="roundRect">
              <a:avLst>
                <a:gd name="adj" fmla="val 53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457575" y="2062162"/>
              <a:ext cx="47625" cy="332898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660648" y="2130266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方案二：找装机公司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3676650" y="2484120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832098" y="243220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只跟一家公司讲清要求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3676650" y="276891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832098" y="271700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不必认识任何一家配件店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3676650" y="305466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832098" y="300180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兼容性由装机公司负责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3676650" y="333946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832098" y="3286601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到时候直接拿整机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3076575" y="356425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159808" y="3670935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0" name="c2-card-1"/>
          <p:cNvGrpSpPr/>
          <p:nvPr/>
        </p:nvGrpSpPr>
        <p:grpSpPr>
          <a:xfrm>
            <a:off x="6248400" y="1928812"/>
            <a:ext cx="5410200" cy="1403032"/>
            <a:chOff x="6248400" y="1928812"/>
            <a:chExt cx="5410200" cy="1403032"/>
          </a:xfrm>
        </p:grpSpPr>
        <p:sp>
          <p:nvSpPr>
            <p:cNvPr id="34" name="Rectangle 34"/>
            <p:cNvSpPr/>
            <p:nvPr/>
          </p:nvSpPr>
          <p:spPr>
            <a:xfrm>
              <a:off x="6248400" y="1928812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257925" y="2062162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467475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60147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动机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33451" y="2149316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电子市场就是一个子系统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0998" y="2465546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把电子市场看成一个系统，各家卖配件的公司就是它的子系统。客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户端为了完成一件事要去调用子系统 A、B、C，既得知道三者各自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的功能，还得知道怎么把它们组合起来才能实现自己要的功能。</a:t>
              </a:r>
            </a:p>
          </p:txBody>
        </p:sp>
      </p:grpSp>
      <p:grpSp>
        <p:nvGrpSpPr>
          <p:cNvPr id="47" name="c2-callout-2"/>
          <p:cNvGrpSpPr/>
          <p:nvPr/>
        </p:nvGrpSpPr>
        <p:grpSpPr>
          <a:xfrm>
            <a:off x="6248400" y="3496628"/>
            <a:ext cx="5410200" cy="702945"/>
            <a:chOff x="6248400" y="3496628"/>
            <a:chExt cx="5410200" cy="702945"/>
          </a:xfrm>
        </p:grpSpPr>
        <p:sp>
          <p:nvSpPr>
            <p:cNvPr id="41" name="Rectangle 41"/>
            <p:cNvSpPr/>
            <p:nvPr/>
          </p:nvSpPr>
          <p:spPr>
            <a:xfrm>
              <a:off x="6248400" y="3496628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6453188" y="3748088"/>
              <a:ext cx="200026" cy="200026"/>
              <a:chOff x="6453188" y="3748088"/>
              <a:chExt cx="200026" cy="200026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453188" y="37480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553200" y="38147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6542088" y="38481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6756273" y="3641884"/>
              <a:ext cx="44020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课件里还有一个例子：去餐厅和茶馆，客人只对服务员说要什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么，不会直接去指挥厨师和茶艺师。</a:t>
              </a:r>
            </a:p>
          </p:txBody>
        </p:sp>
      </p:grpSp>
      <p:grpSp>
        <p:nvGrpSpPr>
          <p:cNvPr id="53" name="c2-card-3"/>
          <p:cNvGrpSpPr/>
          <p:nvPr/>
        </p:nvGrpSpPr>
        <p:grpSpPr>
          <a:xfrm>
            <a:off x="6248400" y="4364355"/>
            <a:ext cx="5410200" cy="1160145"/>
            <a:chOff x="6248400" y="4364355"/>
            <a:chExt cx="5410200" cy="1160145"/>
          </a:xfrm>
        </p:grpSpPr>
        <p:sp>
          <p:nvSpPr>
            <p:cNvPr id="48" name="Rectangle 48"/>
            <p:cNvSpPr/>
            <p:nvPr/>
          </p:nvSpPr>
          <p:spPr>
            <a:xfrm>
              <a:off x="6248400" y="4364355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29375" y="454533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22047" y="45781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落点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95351" y="458485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方案二多出来的那家公司，就是外观角色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22898" y="4901089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用户只与装机公司交互，用户与各家配件店之间的复杂关系由它来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实现，系统的耦合度因此降了下来。</a:t>
              </a:r>
            </a:p>
          </p:txBody>
        </p:sp>
      </p:grpSp>
      <p:grpSp>
        <p:nvGrpSpPr>
          <p:cNvPr id="5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4" name="Rectangle 5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1273" y="6039326"/>
              <a:ext cx="5526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要不要用外观，先看客户是不是被迫记住了一堆它本来不关心的子系统。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234809" cy="909257"/>
            <a:chOff x="520446" y="342900"/>
            <a:chExt cx="723480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从一次子系统调用说起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23480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抽象一下：两个用户认识四个类，就有八条依赖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131611" cy="278702"/>
            <a:chOff x="526161" y="1547336"/>
            <a:chExt cx="6131611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1316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陈伟老师课件里的这张图把问题画得很直白，红线越多，客户端越难改。</a:t>
              </a:r>
            </a:p>
          </p:txBody>
        </p:sp>
      </p:grpSp>
      <p:grpSp>
        <p:nvGrpSpPr>
          <p:cNvPr id="37" name="c1-graph-1"/>
          <p:cNvGrpSpPr/>
          <p:nvPr/>
        </p:nvGrpSpPr>
        <p:grpSpPr>
          <a:xfrm>
            <a:off x="865822" y="1958340"/>
            <a:ext cx="4961572" cy="1924050"/>
            <a:chOff x="865822" y="1958340"/>
            <a:chExt cx="4961572" cy="1924050"/>
          </a:xfrm>
        </p:grpSpPr>
        <p:sp>
          <p:nvSpPr>
            <p:cNvPr id="9" name="Freeform 9"/>
            <p:cNvSpPr/>
            <p:nvPr/>
          </p:nvSpPr>
          <p:spPr>
            <a:xfrm>
              <a:off x="1288732" y="2409825"/>
              <a:ext cx="790575" cy="1153478"/>
            </a:xfrm>
            <a:custGeom>
              <a:avLst/>
              <a:gdLst/>
              <a:ahLst/>
              <a:cxnLst/>
              <a:rect l="l" t="t" r="r" b="b"/>
              <a:pathLst>
                <a:path w="790575" h="1153478">
                  <a:moveTo>
                    <a:pt x="790575" y="0"/>
                  </a:moveTo>
                  <a:lnTo>
                    <a:pt x="0" y="11534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234440" y="3536632"/>
              <a:ext cx="93345" cy="104775"/>
            </a:xfrm>
            <a:custGeom>
              <a:avLst/>
              <a:gdLst/>
              <a:ahLst/>
              <a:cxnLst/>
              <a:rect l="l" t="t" r="r" b="b"/>
              <a:pathLst>
                <a:path w="93345" h="104775">
                  <a:moveTo>
                    <a:pt x="0" y="104775"/>
                  </a:moveTo>
                  <a:lnTo>
                    <a:pt x="14288" y="0"/>
                  </a:lnTo>
                  <a:lnTo>
                    <a:pt x="93345" y="5334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2283142" y="2446020"/>
              <a:ext cx="278130" cy="1102995"/>
            </a:xfrm>
            <a:custGeom>
              <a:avLst/>
              <a:gdLst/>
              <a:ahLst/>
              <a:cxnLst/>
              <a:rect l="l" t="t" r="r" b="b"/>
              <a:pathLst>
                <a:path w="278130" h="1102995">
                  <a:moveTo>
                    <a:pt x="0" y="0"/>
                  </a:moveTo>
                  <a:lnTo>
                    <a:pt x="278130" y="11029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2515552" y="3537585"/>
              <a:ext cx="92392" cy="103823"/>
            </a:xfrm>
            <a:custGeom>
              <a:avLst/>
              <a:gdLst/>
              <a:ahLst/>
              <a:cxnLst/>
              <a:rect l="l" t="t" r="r" b="b"/>
              <a:pathLst>
                <a:path w="92392" h="103823">
                  <a:moveTo>
                    <a:pt x="69532" y="103823"/>
                  </a:moveTo>
                  <a:lnTo>
                    <a:pt x="0" y="23812"/>
                  </a:lnTo>
                  <a:lnTo>
                    <a:pt x="92392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2414588" y="2364105"/>
              <a:ext cx="1447800" cy="1216342"/>
            </a:xfrm>
            <a:custGeom>
              <a:avLst/>
              <a:gdLst/>
              <a:ahLst/>
              <a:cxnLst/>
              <a:rect l="l" t="t" r="r" b="b"/>
              <a:pathLst>
                <a:path w="1447800" h="1216342">
                  <a:moveTo>
                    <a:pt x="0" y="0"/>
                  </a:moveTo>
                  <a:lnTo>
                    <a:pt x="1447800" y="12163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831908" y="3544252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103822" y="97155"/>
                  </a:moveTo>
                  <a:lnTo>
                    <a:pt x="0" y="72390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449830" y="2308860"/>
              <a:ext cx="2749868" cy="1292543"/>
            </a:xfrm>
            <a:custGeom>
              <a:avLst/>
              <a:gdLst/>
              <a:ahLst/>
              <a:cxnLst/>
              <a:rect l="l" t="t" r="r" b="b"/>
              <a:pathLst>
                <a:path w="2749868" h="1292543">
                  <a:moveTo>
                    <a:pt x="0" y="0"/>
                  </a:moveTo>
                  <a:lnTo>
                    <a:pt x="2749868" y="129254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5179695" y="3558540"/>
              <a:ext cx="105728" cy="85725"/>
            </a:xfrm>
            <a:custGeom>
              <a:avLst/>
              <a:gdLst/>
              <a:ahLst/>
              <a:cxnLst/>
              <a:rect l="l" t="t" r="r" b="b"/>
              <a:pathLst>
                <a:path w="105728" h="85725">
                  <a:moveTo>
                    <a:pt x="105728" y="82867"/>
                  </a:moveTo>
                  <a:lnTo>
                    <a:pt x="0" y="85725"/>
                  </a:lnTo>
                  <a:lnTo>
                    <a:pt x="4000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493520" y="2308860"/>
              <a:ext cx="2750820" cy="1292543"/>
            </a:xfrm>
            <a:custGeom>
              <a:avLst/>
              <a:gdLst/>
              <a:ahLst/>
              <a:cxnLst/>
              <a:rect l="l" t="t" r="r" b="b"/>
              <a:pathLst>
                <a:path w="2750820" h="1292543">
                  <a:moveTo>
                    <a:pt x="2750820" y="0"/>
                  </a:moveTo>
                  <a:lnTo>
                    <a:pt x="0" y="1292543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1407795" y="3558540"/>
              <a:ext cx="106680" cy="85725"/>
            </a:xfrm>
            <a:custGeom>
              <a:avLst/>
              <a:gdLst/>
              <a:ahLst/>
              <a:cxnLst/>
              <a:rect l="l" t="t" r="r" b="b"/>
              <a:pathLst>
                <a:path w="106680" h="85725">
                  <a:moveTo>
                    <a:pt x="0" y="82867"/>
                  </a:moveTo>
                  <a:lnTo>
                    <a:pt x="65722" y="0"/>
                  </a:lnTo>
                  <a:lnTo>
                    <a:pt x="106680" y="8572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2830830" y="2364105"/>
              <a:ext cx="1447800" cy="1216342"/>
            </a:xfrm>
            <a:custGeom>
              <a:avLst/>
              <a:gdLst/>
              <a:ahLst/>
              <a:cxnLst/>
              <a:rect l="l" t="t" r="r" b="b"/>
              <a:pathLst>
                <a:path w="1447800" h="1216342">
                  <a:moveTo>
                    <a:pt x="1447800" y="0"/>
                  </a:moveTo>
                  <a:lnTo>
                    <a:pt x="0" y="1216342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2758440" y="3544252"/>
              <a:ext cx="102870" cy="97155"/>
            </a:xfrm>
            <a:custGeom>
              <a:avLst/>
              <a:gdLst/>
              <a:ahLst/>
              <a:cxnLst/>
              <a:rect l="l" t="t" r="r" b="b"/>
              <a:pathLst>
                <a:path w="102870" h="97155">
                  <a:moveTo>
                    <a:pt x="0" y="97155"/>
                  </a:moveTo>
                  <a:lnTo>
                    <a:pt x="41910" y="0"/>
                  </a:lnTo>
                  <a:lnTo>
                    <a:pt x="102870" y="7239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4131945" y="2446020"/>
              <a:ext cx="278130" cy="1102995"/>
            </a:xfrm>
            <a:custGeom>
              <a:avLst/>
              <a:gdLst/>
              <a:ahLst/>
              <a:cxnLst/>
              <a:rect l="l" t="t" r="r" b="b"/>
              <a:pathLst>
                <a:path w="278130" h="1102995">
                  <a:moveTo>
                    <a:pt x="278130" y="0"/>
                  </a:moveTo>
                  <a:lnTo>
                    <a:pt x="0" y="1102995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4085272" y="3537585"/>
              <a:ext cx="92393" cy="103823"/>
            </a:xfrm>
            <a:custGeom>
              <a:avLst/>
              <a:gdLst/>
              <a:ahLst/>
              <a:cxnLst/>
              <a:rect l="l" t="t" r="r" b="b"/>
              <a:pathLst>
                <a:path w="92393" h="103823">
                  <a:moveTo>
                    <a:pt x="22860" y="103823"/>
                  </a:moveTo>
                  <a:lnTo>
                    <a:pt x="0" y="0"/>
                  </a:lnTo>
                  <a:lnTo>
                    <a:pt x="92393" y="23812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4614862" y="2409825"/>
              <a:ext cx="790575" cy="1153478"/>
            </a:xfrm>
            <a:custGeom>
              <a:avLst/>
              <a:gdLst/>
              <a:ahLst/>
              <a:cxnLst/>
              <a:rect l="l" t="t" r="r" b="b"/>
              <a:pathLst>
                <a:path w="790575" h="1153478">
                  <a:moveTo>
                    <a:pt x="0" y="0"/>
                  </a:moveTo>
                  <a:lnTo>
                    <a:pt x="790575" y="115347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5365432" y="3536632"/>
              <a:ext cx="93345" cy="104775"/>
            </a:xfrm>
            <a:custGeom>
              <a:avLst/>
              <a:gdLst/>
              <a:ahLst/>
              <a:cxnLst/>
              <a:rect l="l" t="t" r="r" b="b"/>
              <a:pathLst>
                <a:path w="93345" h="104775">
                  <a:moveTo>
                    <a:pt x="93345" y="104775"/>
                  </a:moveTo>
                  <a:lnTo>
                    <a:pt x="0" y="53340"/>
                  </a:lnTo>
                  <a:lnTo>
                    <a:pt x="7905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978342" y="1958340"/>
              <a:ext cx="485775" cy="4857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4229100" y="1958340"/>
              <a:ext cx="485775" cy="485775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865822" y="3641408"/>
              <a:ext cx="572452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328862" y="3641408"/>
              <a:ext cx="572452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3791902" y="3641408"/>
              <a:ext cx="572452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254942" y="3641408"/>
              <a:ext cx="572452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2060325" y="2145982"/>
              <a:ext cx="3218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311083" y="2145982"/>
              <a:ext cx="32181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10798" y="370617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73838" y="370617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036878" y="370617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98965" y="3706178"/>
              <a:ext cx="834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</p:grpSp>
      <p:grpSp>
        <p:nvGrpSpPr>
          <p:cNvPr id="44" name="c1-callout-2"/>
          <p:cNvGrpSpPr/>
          <p:nvPr/>
        </p:nvGrpSpPr>
        <p:grpSpPr>
          <a:xfrm>
            <a:off x="533400" y="4283392"/>
            <a:ext cx="5626418" cy="1156335"/>
            <a:chOff x="533400" y="4283392"/>
            <a:chExt cx="5626418" cy="1156335"/>
          </a:xfrm>
        </p:grpSpPr>
        <p:sp>
          <p:nvSpPr>
            <p:cNvPr id="38" name="Rectangle 38"/>
            <p:cNvSpPr/>
            <p:nvPr/>
          </p:nvSpPr>
          <p:spPr>
            <a:xfrm>
              <a:off x="533400" y="4283392"/>
              <a:ext cx="5626418" cy="1156335"/>
            </a:xfrm>
            <a:prstGeom prst="roundRect">
              <a:avLst>
                <a:gd name="adj" fmla="val 988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4761548"/>
              <a:ext cx="200026" cy="200026"/>
              <a:chOff x="738188" y="4761548"/>
              <a:chExt cx="200026" cy="200026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38188" y="47615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48282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27088" y="48615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892" y="4643438"/>
              <a:ext cx="46428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下面四个方框是同一个子系统里的四个类，用户要用到哪个就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直接调哪个。</a:t>
              </a:r>
            </a:p>
          </p:txBody>
        </p:sp>
      </p:grpSp>
      <p:grpSp>
        <p:nvGrpSpPr>
          <p:cNvPr id="53" name="c2-kv-1"/>
          <p:cNvGrpSpPr/>
          <p:nvPr/>
        </p:nvGrpSpPr>
        <p:grpSpPr>
          <a:xfrm>
            <a:off x="6457760" y="1964055"/>
            <a:ext cx="5200840" cy="1567053"/>
            <a:chOff x="6457760" y="1964055"/>
            <a:chExt cx="5200840" cy="1567053"/>
          </a:xfrm>
        </p:grpSpPr>
        <p:sp>
          <p:nvSpPr>
            <p:cNvPr id="45" name="TextBox 45"/>
            <p:cNvSpPr txBox="1"/>
            <p:nvPr/>
          </p:nvSpPr>
          <p:spPr>
            <a:xfrm>
              <a:off x="6457760" y="196405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要清楚职责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76972" y="1964055"/>
              <a:ext cx="36141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用户必须知道子系统里每个类各管什么，才挑得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出该调用谁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6464618" y="25060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457760" y="261556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不关心实现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776972" y="2615565"/>
              <a:ext cx="361416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用户想要的只是子系统已有的功能，不是它内部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怎么分的类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464618" y="315849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457760" y="326707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访问是单向的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76972" y="3267075"/>
              <a:ext cx="38301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用户调用子系统，子系统不需要反过来认识用户</a:t>
              </a:r>
            </a:p>
          </p:txBody>
        </p:sp>
      </p:grpSp>
      <p:grpSp>
        <p:nvGrpSpPr>
          <p:cNvPr id="61" name="c2-card-2"/>
          <p:cNvGrpSpPr/>
          <p:nvPr/>
        </p:nvGrpSpPr>
        <p:grpSpPr>
          <a:xfrm>
            <a:off x="6464618" y="3652838"/>
            <a:ext cx="5193982" cy="1786890"/>
            <a:chOff x="6464618" y="3652838"/>
            <a:chExt cx="5193982" cy="1786890"/>
          </a:xfrm>
        </p:grpSpPr>
        <p:sp>
          <p:nvSpPr>
            <p:cNvPr id="54" name="Rectangle 54"/>
            <p:cNvSpPr/>
            <p:nvPr/>
          </p:nvSpPr>
          <p:spPr>
            <a:xfrm>
              <a:off x="6464618" y="3652838"/>
              <a:ext cx="5193982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6474142" y="3786188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695122" y="384524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86562" y="387953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278814" y="388524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依赖的条数是乘出来的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688264" y="4219575"/>
              <a:ext cx="43685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 个客户端对上 n 个子系统类，直接调用就是 m × n 条依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赖。2 × 4 已经是 8 条，5 个客户端对 8 个类就是 40 条。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688264" y="4778692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子系统里改一个类名、调整一次调用顺序，所有认识它的客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户端都要跟着改。</a:t>
              </a:r>
            </a:p>
          </p:txBody>
        </p:sp>
      </p:grpSp>
      <p:grpSp>
        <p:nvGrpSpPr>
          <p:cNvPr id="6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62" name="Rectangle 6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040892" y="6023610"/>
              <a:ext cx="54749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外观模式要削掉的正是这 m × n 条线，而不是帮子系统少写几个类。</a:t>
              </a:r>
            </a:p>
          </p:txBody>
        </p:sp>
      </p:grpSp>
      <p:grpSp>
        <p:nvGrpSpPr>
          <p:cNvPr id="7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8" name="TextBox 68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从一次子系统调用说起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引入外观之后：八条线变成六条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6609690" cy="308039"/>
            <a:chOff x="525399" y="1550194"/>
            <a:chExt cx="6609690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660969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用户只认识门户，子系统的类由门户去调，子系统自己一行都不用改。</a:t>
              </a:r>
            </a:p>
          </p:txBody>
        </p:sp>
      </p:grpSp>
      <p:grpSp>
        <p:nvGrpSpPr>
          <p:cNvPr id="35" name="c1-graph-1"/>
          <p:cNvGrpSpPr/>
          <p:nvPr/>
        </p:nvGrpSpPr>
        <p:grpSpPr>
          <a:xfrm>
            <a:off x="838200" y="1950720"/>
            <a:ext cx="5016818" cy="2218372"/>
            <a:chOff x="838200" y="1950720"/>
            <a:chExt cx="5016818" cy="2218372"/>
          </a:xfrm>
        </p:grpSpPr>
        <p:sp>
          <p:nvSpPr>
            <p:cNvPr id="9" name="Freeform 9"/>
            <p:cNvSpPr/>
            <p:nvPr/>
          </p:nvSpPr>
          <p:spPr>
            <a:xfrm>
              <a:off x="2427922" y="2371725"/>
              <a:ext cx="682943" cy="548640"/>
            </a:xfrm>
            <a:custGeom>
              <a:avLst/>
              <a:gdLst/>
              <a:ahLst/>
              <a:cxnLst/>
              <a:rect l="l" t="t" r="r" b="b"/>
              <a:pathLst>
                <a:path w="682943" h="548640">
                  <a:moveTo>
                    <a:pt x="0" y="0"/>
                  </a:moveTo>
                  <a:lnTo>
                    <a:pt x="682943" y="5486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081338" y="2883218"/>
              <a:ext cx="103822" cy="97155"/>
            </a:xfrm>
            <a:custGeom>
              <a:avLst/>
              <a:gdLst/>
              <a:ahLst/>
              <a:cxnLst/>
              <a:rect l="l" t="t" r="r" b="b"/>
              <a:pathLst>
                <a:path w="103822" h="97155">
                  <a:moveTo>
                    <a:pt x="103822" y="97155"/>
                  </a:moveTo>
                  <a:lnTo>
                    <a:pt x="0" y="74295"/>
                  </a:lnTo>
                  <a:lnTo>
                    <a:pt x="5905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3582352" y="2371725"/>
              <a:ext cx="682942" cy="548640"/>
            </a:xfrm>
            <a:custGeom>
              <a:avLst/>
              <a:gdLst/>
              <a:ahLst/>
              <a:cxnLst/>
              <a:rect l="l" t="t" r="r" b="b"/>
              <a:pathLst>
                <a:path w="682942" h="548640">
                  <a:moveTo>
                    <a:pt x="682942" y="0"/>
                  </a:moveTo>
                  <a:lnTo>
                    <a:pt x="0" y="54864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508058" y="2883218"/>
              <a:ext cx="104775" cy="97155"/>
            </a:xfrm>
            <a:custGeom>
              <a:avLst/>
              <a:gdLst/>
              <a:ahLst/>
              <a:cxnLst/>
              <a:rect l="l" t="t" r="r" b="b"/>
              <a:pathLst>
                <a:path w="104775" h="97155">
                  <a:moveTo>
                    <a:pt x="0" y="97155"/>
                  </a:moveTo>
                  <a:lnTo>
                    <a:pt x="44767" y="0"/>
                  </a:lnTo>
                  <a:lnTo>
                    <a:pt x="104775" y="74295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546860" y="3240405"/>
              <a:ext cx="1492568" cy="631508"/>
            </a:xfrm>
            <a:custGeom>
              <a:avLst/>
              <a:gdLst/>
              <a:ahLst/>
              <a:cxnLst/>
              <a:rect l="l" t="t" r="r" b="b"/>
              <a:pathLst>
                <a:path w="1492568" h="631508">
                  <a:moveTo>
                    <a:pt x="1492568" y="0"/>
                  </a:moveTo>
                  <a:lnTo>
                    <a:pt x="0" y="6315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459230" y="3828098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0" y="80962"/>
                  </a:moveTo>
                  <a:lnTo>
                    <a:pt x="69533" y="0"/>
                  </a:lnTo>
                  <a:lnTo>
                    <a:pt x="106680" y="8763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2776538" y="3240405"/>
              <a:ext cx="467678" cy="594360"/>
            </a:xfrm>
            <a:custGeom>
              <a:avLst/>
              <a:gdLst/>
              <a:ahLst/>
              <a:cxnLst/>
              <a:rect l="l" t="t" r="r" b="b"/>
              <a:pathLst>
                <a:path w="467678" h="594360">
                  <a:moveTo>
                    <a:pt x="467678" y="0"/>
                  </a:moveTo>
                  <a:lnTo>
                    <a:pt x="0" y="5943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2717482" y="3805238"/>
              <a:ext cx="96202" cy="103822"/>
            </a:xfrm>
            <a:custGeom>
              <a:avLst/>
              <a:gdLst/>
              <a:ahLst/>
              <a:cxnLst/>
              <a:rect l="l" t="t" r="r" b="b"/>
              <a:pathLst>
                <a:path w="96202" h="103822">
                  <a:moveTo>
                    <a:pt x="0" y="103822"/>
                  </a:moveTo>
                  <a:lnTo>
                    <a:pt x="21908" y="0"/>
                  </a:lnTo>
                  <a:lnTo>
                    <a:pt x="96202" y="58103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3449002" y="3240405"/>
              <a:ext cx="467677" cy="594360"/>
            </a:xfrm>
            <a:custGeom>
              <a:avLst/>
              <a:gdLst/>
              <a:ahLst/>
              <a:cxnLst/>
              <a:rect l="l" t="t" r="r" b="b"/>
              <a:pathLst>
                <a:path w="467677" h="594360">
                  <a:moveTo>
                    <a:pt x="0" y="0"/>
                  </a:moveTo>
                  <a:lnTo>
                    <a:pt x="467677" y="59436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879532" y="3805238"/>
              <a:ext cx="96202" cy="103822"/>
            </a:xfrm>
            <a:custGeom>
              <a:avLst/>
              <a:gdLst/>
              <a:ahLst/>
              <a:cxnLst/>
              <a:rect l="l" t="t" r="r" b="b"/>
              <a:pathLst>
                <a:path w="96202" h="103822">
                  <a:moveTo>
                    <a:pt x="96202" y="103822"/>
                  </a:moveTo>
                  <a:lnTo>
                    <a:pt x="0" y="58103"/>
                  </a:lnTo>
                  <a:lnTo>
                    <a:pt x="7429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653790" y="3240405"/>
              <a:ext cx="1492567" cy="631508"/>
            </a:xfrm>
            <a:custGeom>
              <a:avLst/>
              <a:gdLst/>
              <a:ahLst/>
              <a:cxnLst/>
              <a:rect l="l" t="t" r="r" b="b"/>
              <a:pathLst>
                <a:path w="1492567" h="631508">
                  <a:moveTo>
                    <a:pt x="0" y="0"/>
                  </a:moveTo>
                  <a:lnTo>
                    <a:pt x="1492567" y="631508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127308" y="3828098"/>
              <a:ext cx="106680" cy="87630"/>
            </a:xfrm>
            <a:custGeom>
              <a:avLst/>
              <a:gdLst/>
              <a:ahLst/>
              <a:cxnLst/>
              <a:rect l="l" t="t" r="r" b="b"/>
              <a:pathLst>
                <a:path w="106680" h="87630">
                  <a:moveTo>
                    <a:pt x="106680" y="80962"/>
                  </a:moveTo>
                  <a:lnTo>
                    <a:pt x="0" y="87630"/>
                  </a:lnTo>
                  <a:lnTo>
                    <a:pt x="37148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1965960" y="1950720"/>
              <a:ext cx="510540" cy="5105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4216718" y="1950720"/>
              <a:ext cx="510540" cy="510540"/>
            </a:xfrm>
            <a:prstGeom prst="ellipse">
              <a:avLst/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2889885" y="2980372"/>
              <a:ext cx="914400" cy="260032"/>
            </a:xfrm>
            <a:prstGeom prst="roundRect">
              <a:avLst>
                <a:gd name="adj" fmla="val 36630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838200" y="3909060"/>
              <a:ext cx="62865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301240" y="3909060"/>
              <a:ext cx="62865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764280" y="3909060"/>
              <a:ext cx="62865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226368" y="3909060"/>
              <a:ext cx="628650" cy="260032"/>
            </a:xfrm>
            <a:prstGeom prst="roundRect">
              <a:avLst>
                <a:gd name="adj" fmla="val 36630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046255" y="2144554"/>
              <a:ext cx="3499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97013" y="2144554"/>
              <a:ext cx="34994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用户2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210204" y="30494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门户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7322" y="39781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570362" y="39781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033402" y="39781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495489" y="3978116"/>
              <a:ext cx="904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</p:grpSp>
      <p:grpSp>
        <p:nvGrpSpPr>
          <p:cNvPr id="42" name="c1-callout-2"/>
          <p:cNvGrpSpPr/>
          <p:nvPr/>
        </p:nvGrpSpPr>
        <p:grpSpPr>
          <a:xfrm>
            <a:off x="533400" y="4539615"/>
            <a:ext cx="5626418" cy="1042035"/>
            <a:chOff x="533400" y="4539615"/>
            <a:chExt cx="5626418" cy="1042035"/>
          </a:xfrm>
        </p:grpSpPr>
        <p:sp>
          <p:nvSpPr>
            <p:cNvPr id="36" name="Rectangle 36"/>
            <p:cNvSpPr/>
            <p:nvPr/>
          </p:nvSpPr>
          <p:spPr>
            <a:xfrm>
              <a:off x="533400" y="4539615"/>
              <a:ext cx="5626418" cy="1042035"/>
            </a:xfrm>
            <a:prstGeom prst="roundRect">
              <a:avLst>
                <a:gd name="adj" fmla="val 1096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738188" y="4960620"/>
              <a:ext cx="200026" cy="200025"/>
              <a:chOff x="738188" y="4960620"/>
              <a:chExt cx="200026" cy="200025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738188" y="49606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77926" y="50050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12642" y="51161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1040130" y="481774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再来一个用户，直接调用要多 4 条线，走门户只多 1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条。</a:t>
              </a:r>
            </a:p>
          </p:txBody>
        </p:sp>
      </p:grpSp>
      <p:grpSp>
        <p:nvGrpSpPr>
          <p:cNvPr id="51" name="c2-kv-1"/>
          <p:cNvGrpSpPr/>
          <p:nvPr/>
        </p:nvGrpSpPr>
        <p:grpSpPr>
          <a:xfrm>
            <a:off x="6456998" y="1992630"/>
            <a:ext cx="5201602" cy="1737360"/>
            <a:chOff x="6456998" y="1992630"/>
            <a:chExt cx="5201602" cy="1737360"/>
          </a:xfrm>
        </p:grpSpPr>
        <p:sp>
          <p:nvSpPr>
            <p:cNvPr id="43" name="TextBox 43"/>
            <p:cNvSpPr txBox="1"/>
            <p:nvPr/>
          </p:nvSpPr>
          <p:spPr>
            <a:xfrm>
              <a:off x="6456998" y="199263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直接调用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499033" y="1992630"/>
              <a:ext cx="37966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个用户 × 4 个类 = 8 条依赖，而且每个用户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都得懂 A 到 D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6464618" y="2594610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456998" y="27146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引入外观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99033" y="2714625"/>
              <a:ext cx="3796665" cy="5753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条用户到门户 + 4 条门户到类 = 6 条，用户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只懂门户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464618" y="3316605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56998" y="343662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换个说法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499033" y="3436620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网状的调用关系收成星状，中心是外观角色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464618" y="3861435"/>
            <a:ext cx="5193982" cy="1720215"/>
            <a:chOff x="6464618" y="3861435"/>
            <a:chExt cx="5193982" cy="1720215"/>
          </a:xfrm>
        </p:grpSpPr>
        <p:sp>
          <p:nvSpPr>
            <p:cNvPr id="52" name="Rectangle 52"/>
            <p:cNvSpPr/>
            <p:nvPr/>
          </p:nvSpPr>
          <p:spPr>
            <a:xfrm>
              <a:off x="6464618" y="3861435"/>
              <a:ext cx="5193982" cy="1720215"/>
            </a:xfrm>
            <a:prstGeom prst="roundRect">
              <a:avLst>
                <a:gd name="adj" fmla="val 775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74142" y="3994785"/>
              <a:ext cx="47625" cy="14535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712268" y="4070985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85724" y="410670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没变的三件事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881938" y="4106228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外观是加出来的一层，不是改出来的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717983" y="453009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76098" y="44672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子系统里的类一行代码都没有改动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717983" y="486537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76098" y="480250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子系统仍然可以被别的客户端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直接调用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717983" y="5200650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76098" y="5137785"/>
              <a:ext cx="44577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外观类自己不实现业务，只负责把请求转给子系统</a:t>
              </a:r>
            </a:p>
          </p:txBody>
        </p:sp>
      </p:grpSp>
      <p:grpSp>
        <p:nvGrpSpPr>
          <p:cNvPr id="7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64" name="Rectangle 6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130" y="5991225"/>
              <a:ext cx="71696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这张图里门户和 A 到 D 之间是调用关系，不是继承，外观类不是子系统的父类。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1" name="TextBox 7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从一次子系统调用说起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定义：为子系统中的一组接口提供一个统一的入口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951220" cy="2005965"/>
            <a:chOff x="533400" y="1524000"/>
            <a:chExt cx="5951220" cy="20059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2005965"/>
            </a:xfrm>
            <a:prstGeom prst="roundRect">
              <a:avLst>
                <a:gd name="adj" fmla="val 66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73926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2820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外观模式（Facade Pattern）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为子系统中的一组接口提供一个统一的入口。外观模式定义了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一个高层接口，这个接口使得这一子系统更加容易使用。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86765" y="281368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44880" y="2750820"/>
              <a:ext cx="23639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又称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门面模式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（Facade）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86765" y="3148965"/>
              <a:ext cx="64770" cy="6477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4880" y="3086100"/>
              <a:ext cx="19537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属于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对象结构型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模式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720465"/>
            <a:ext cx="5951220" cy="1866900"/>
            <a:chOff x="533400" y="3720465"/>
            <a:chExt cx="5951220" cy="1866900"/>
          </a:xfrm>
        </p:grpSpPr>
        <p:sp>
          <p:nvSpPr>
            <p:cNvPr id="18" name="Rectangle 18"/>
            <p:cNvSpPr/>
            <p:nvPr/>
          </p:nvSpPr>
          <p:spPr>
            <a:xfrm>
              <a:off x="533400" y="3720465"/>
              <a:ext cx="5951220" cy="1866900"/>
            </a:xfrm>
            <a:prstGeom prst="roundRect">
              <a:avLst>
                <a:gd name="adj" fmla="val 7143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42950" y="39300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3158" y="39657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43978" y="3965258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封装交互，简化调用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5330" y="4326255"/>
              <a:ext cx="5158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一个子系统的外部与其内部的通信，通过一个统一的外观类进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行。外观类把客户类与子系统的内部复杂性分隔开，客户类只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需要与外观角色打交道。</a:t>
              </a:r>
            </a:p>
          </p:txBody>
        </p:sp>
      </p:grpSp>
      <p:grpSp>
        <p:nvGrpSpPr>
          <p:cNvPr id="26" name="c2-image-1"/>
          <p:cNvGrpSpPr/>
          <p:nvPr/>
        </p:nvGrpSpPr>
        <p:grpSpPr>
          <a:xfrm>
            <a:off x="6789420" y="1524000"/>
            <a:ext cx="4869180" cy="2276952"/>
            <a:chOff x="6789420" y="1524000"/>
            <a:chExt cx="4869180" cy="2276952"/>
          </a:xfrm>
        </p:grpSpPr>
        <p:pic>
          <p:nvPicPr>
            <p:cNvPr id="24" name="Image 24"/>
            <p:cNvPicPr>
              <a:picLocks noChangeAspect="1"/>
            </p:cNvPicPr>
            <p:nvPr/>
          </p:nvPicPr>
          <p:blipFill>
            <a:blip r:embed="rId2"/>
            <a:srcRect l="0" t="23135" r="0" b="23135"/>
            <a:stretch>
              <a:fillRect/>
            </a:stretch>
          </p:blipFill>
          <p:spPr>
            <a:xfrm>
              <a:off x="6789420" y="1524000"/>
              <a:ext cx="4869180" cy="1962150"/>
            </a:xfrm>
            <a:prstGeom prst="roundRect">
              <a:avLst>
                <a:gd name="adj" fmla="val 6796"/>
              </a:avLst>
            </a:prstGeom>
          </p:spPr>
        </p:pic>
        <p:sp>
          <p:nvSpPr>
            <p:cNvPr id="25" name="TextBox 25"/>
            <p:cNvSpPr txBox="1"/>
            <p:nvPr/>
          </p:nvSpPr>
          <p:spPr>
            <a:xfrm>
              <a:off x="6881292" y="3580924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左边六扇门各进各的，右边只留一个接待台，里面照样是那几间办公室</a:t>
              </a:r>
            </a:p>
          </p:txBody>
        </p:sp>
      </p:grpSp>
      <p:grpSp>
        <p:nvGrpSpPr>
          <p:cNvPr id="33" name="c2-card-2"/>
          <p:cNvGrpSpPr/>
          <p:nvPr/>
        </p:nvGrpSpPr>
        <p:grpSpPr>
          <a:xfrm>
            <a:off x="6789420" y="3966210"/>
            <a:ext cx="4869180" cy="1621155"/>
            <a:chOff x="6789420" y="3966210"/>
            <a:chExt cx="4869180" cy="1621155"/>
          </a:xfrm>
        </p:grpSpPr>
        <p:sp>
          <p:nvSpPr>
            <p:cNvPr id="27" name="Rectangle 27"/>
            <p:cNvSpPr/>
            <p:nvPr/>
          </p:nvSpPr>
          <p:spPr>
            <a:xfrm>
              <a:off x="6789420" y="3966210"/>
              <a:ext cx="486918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6798945" y="409956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037070" y="417576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27278" y="42114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归属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38098" y="421100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它是迪米特法则的一种具体实现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29450" y="4572000"/>
              <a:ext cx="4206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迪米特法则要求一个对象尽量少地认识别的对象。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引入一个新的外观角色，既降低了原有系统的复杂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度，也降低了客户类与子系统的耦合度。</a:t>
              </a:r>
            </a:p>
          </p:txBody>
        </p:sp>
      </p:grpSp>
      <p:grpSp>
        <p:nvGrpSpPr>
          <p:cNvPr id="4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4" name="Rectangle 3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991225"/>
              <a:ext cx="70222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迪米特法则的完整表述见第 02 讲，那里把它和另外六条设计原则放在一起讲。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1" name="TextBox 4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882896" cy="2997517"/>
            <a:chOff x="667512" y="1835468"/>
            <a:chExt cx="488289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88289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结构、角色与模式分析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两个角色，一张只有关联线的类图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标准类图的读法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外观角色与子系统角色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子系统的广义含义与开闭原则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结构、角色与模式分析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标准结构：客户端只依赖外观类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063490" cy="293370"/>
            <a:chOff x="525780" y="1548765"/>
            <a:chExt cx="506349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整张图里没有一条继承线，外观与子系统之间全是关联。</a:t>
              </a:r>
            </a:p>
          </p:txBody>
        </p:sp>
      </p:grpSp>
      <p:grpSp>
        <p:nvGrpSpPr>
          <p:cNvPr id="53" name="c1-uml-1"/>
          <p:cNvGrpSpPr/>
          <p:nvPr/>
        </p:nvGrpSpPr>
        <p:grpSpPr>
          <a:xfrm>
            <a:off x="856298" y="2352675"/>
            <a:ext cx="4764404" cy="2952749"/>
            <a:chOff x="856298" y="2352675"/>
            <a:chExt cx="4764404" cy="2952749"/>
          </a:xfrm>
        </p:grpSpPr>
        <p:sp>
          <p:nvSpPr>
            <p:cNvPr id="9" name="Freeform 9"/>
            <p:cNvSpPr/>
            <p:nvPr/>
          </p:nvSpPr>
          <p:spPr>
            <a:xfrm>
              <a:off x="3238500" y="2778442"/>
              <a:ext cx="9525" cy="472440"/>
            </a:xfrm>
            <a:custGeom>
              <a:avLst/>
              <a:gdLst/>
              <a:ahLst/>
              <a:cxnLst/>
              <a:rect l="l" t="t" r="r" b="b"/>
              <a:pathLst>
                <a:path w="9525" h="472440">
                  <a:moveTo>
                    <a:pt x="0" y="0"/>
                  </a:moveTo>
                  <a:lnTo>
                    <a:pt x="0" y="47244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180398" y="3146108"/>
              <a:ext cx="116205" cy="104775"/>
            </a:xfrm>
            <a:custGeom>
              <a:avLst/>
              <a:gdLst/>
              <a:ahLst/>
              <a:cxnLst/>
              <a:rect l="l" t="t" r="r" b="b"/>
              <a:pathLst>
                <a:path w="116205" h="104775">
                  <a:moveTo>
                    <a:pt x="0" y="0"/>
                  </a:moveTo>
                  <a:lnTo>
                    <a:pt x="58103" y="104775"/>
                  </a:lnTo>
                  <a:lnTo>
                    <a:pt x="11620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435418" y="4326255"/>
              <a:ext cx="1803082" cy="391478"/>
            </a:xfrm>
            <a:custGeom>
              <a:avLst/>
              <a:gdLst/>
              <a:ahLst/>
              <a:cxnLst/>
              <a:rect l="l" t="t" r="r" b="b"/>
              <a:pathLst>
                <a:path w="1803082" h="391478">
                  <a:moveTo>
                    <a:pt x="1803082" y="0"/>
                  </a:moveTo>
                  <a:lnTo>
                    <a:pt x="1803082" y="195262"/>
                  </a:lnTo>
                  <a:lnTo>
                    <a:pt x="0" y="195262"/>
                  </a:lnTo>
                  <a:lnTo>
                    <a:pt x="0" y="391478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377315" y="4612958"/>
              <a:ext cx="115252" cy="104775"/>
            </a:xfrm>
            <a:custGeom>
              <a:avLst/>
              <a:gdLst/>
              <a:ahLst/>
              <a:cxnLst/>
              <a:rect l="l" t="t" r="r" b="b"/>
              <a:pathLst>
                <a:path w="115252" h="104775">
                  <a:moveTo>
                    <a:pt x="0" y="0"/>
                  </a:moveTo>
                  <a:lnTo>
                    <a:pt x="58102" y="104775"/>
                  </a:lnTo>
                  <a:lnTo>
                    <a:pt x="11525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238500" y="4326255"/>
              <a:ext cx="9525" cy="391478"/>
            </a:xfrm>
            <a:custGeom>
              <a:avLst/>
              <a:gdLst/>
              <a:ahLst/>
              <a:cxnLst/>
              <a:rect l="l" t="t" r="r" b="b"/>
              <a:pathLst>
                <a:path w="9525" h="391478">
                  <a:moveTo>
                    <a:pt x="0" y="0"/>
                  </a:moveTo>
                  <a:lnTo>
                    <a:pt x="0" y="391478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3180398" y="4612958"/>
              <a:ext cx="116205" cy="104775"/>
            </a:xfrm>
            <a:custGeom>
              <a:avLst/>
              <a:gdLst/>
              <a:ahLst/>
              <a:cxnLst/>
              <a:rect l="l" t="t" r="r" b="b"/>
              <a:pathLst>
                <a:path w="116205" h="104775">
                  <a:moveTo>
                    <a:pt x="0" y="0"/>
                  </a:moveTo>
                  <a:lnTo>
                    <a:pt x="58103" y="104775"/>
                  </a:lnTo>
                  <a:lnTo>
                    <a:pt x="116205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238500" y="4326255"/>
              <a:ext cx="1803082" cy="391478"/>
            </a:xfrm>
            <a:custGeom>
              <a:avLst/>
              <a:gdLst/>
              <a:ahLst/>
              <a:cxnLst/>
              <a:rect l="l" t="t" r="r" b="b"/>
              <a:pathLst>
                <a:path w="1803082" h="391478">
                  <a:moveTo>
                    <a:pt x="0" y="0"/>
                  </a:moveTo>
                  <a:lnTo>
                    <a:pt x="0" y="195262"/>
                  </a:lnTo>
                  <a:lnTo>
                    <a:pt x="1803082" y="195262"/>
                  </a:lnTo>
                  <a:lnTo>
                    <a:pt x="1803082" y="391478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984432" y="4612958"/>
              <a:ext cx="115253" cy="104775"/>
            </a:xfrm>
            <a:custGeom>
              <a:avLst/>
              <a:gdLst/>
              <a:ahLst/>
              <a:cxnLst/>
              <a:rect l="l" t="t" r="r" b="b"/>
              <a:pathLst>
                <a:path w="115253" h="104775">
                  <a:moveTo>
                    <a:pt x="0" y="0"/>
                  </a:moveTo>
                  <a:lnTo>
                    <a:pt x="57150" y="104775"/>
                  </a:lnTo>
                  <a:lnTo>
                    <a:pt x="11525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2667000" y="2352675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674620" y="2360295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2667000" y="258318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2667000" y="267843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627948" y="3250882"/>
              <a:ext cx="1221105" cy="107537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635568" y="3258502"/>
              <a:ext cx="1206818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627948" y="3481388"/>
              <a:ext cx="122110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627948" y="4064318"/>
              <a:ext cx="122110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56298" y="4717732"/>
              <a:ext cx="115824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862965" y="4724400"/>
              <a:ext cx="114395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56298" y="4948238"/>
              <a:ext cx="11582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56298" y="5043488"/>
              <a:ext cx="11582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659380" y="4717732"/>
              <a:ext cx="115824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2666048" y="4724400"/>
              <a:ext cx="114395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659380" y="4948238"/>
              <a:ext cx="11582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2659380" y="5043488"/>
              <a:ext cx="11582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462462" y="4717732"/>
              <a:ext cx="1158240" cy="58769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470082" y="4724400"/>
              <a:ext cx="114395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462462" y="4948238"/>
              <a:ext cx="11582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462462" y="5043488"/>
              <a:ext cx="115824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3037784" y="2408396"/>
              <a:ext cx="4014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02826" y="3306604"/>
              <a:ext cx="47134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Facade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699385" y="3550920"/>
              <a:ext cx="1078230" cy="5000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obj1: SubSystemA</a:t>
              </a:r>
            </a:p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obj2: SubSystemB</a:t>
              </a:r>
            </a:p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obj3: SubSystemC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99385" y="4133850"/>
              <a:ext cx="10090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method(): void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28967" y="4773454"/>
              <a:ext cx="8129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SubSystemA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27735" y="5113020"/>
              <a:ext cx="10812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methodA(): void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832050" y="4773454"/>
              <a:ext cx="8129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SubSystemB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730818" y="5113020"/>
              <a:ext cx="10812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methodB(): void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35132" y="4773454"/>
              <a:ext cx="8129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SubSystemC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533900" y="5113020"/>
              <a:ext cx="108120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methodC(): void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159318" y="4305300"/>
              <a:ext cx="35528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193331" y="4331970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obj1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267075" y="4430078"/>
              <a:ext cx="35528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290316" y="4456748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obj2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962400" y="4305300"/>
              <a:ext cx="355282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997366" y="4331970"/>
              <a:ext cx="2863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obj3</a:t>
              </a:r>
            </a:p>
          </p:txBody>
        </p:sp>
      </p:grpSp>
      <p:grpSp>
        <p:nvGrpSpPr>
          <p:cNvPr id="62" name="c2-kv-1"/>
          <p:cNvGrpSpPr/>
          <p:nvPr/>
        </p:nvGrpSpPr>
        <p:grpSpPr>
          <a:xfrm>
            <a:off x="6241161" y="1977866"/>
            <a:ext cx="5417439" cy="1657922"/>
            <a:chOff x="6241161" y="1977866"/>
            <a:chExt cx="5417439" cy="1657922"/>
          </a:xfrm>
        </p:grpSpPr>
        <p:sp>
          <p:nvSpPr>
            <p:cNvPr id="54" name="TextBox 54"/>
            <p:cNvSpPr txBox="1"/>
            <p:nvPr/>
          </p:nvSpPr>
          <p:spPr>
            <a:xfrm>
              <a:off x="6241161" y="1977866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一条向下的线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15618" y="1977866"/>
              <a:ext cx="3729482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客户端只认识 Facade，箭头指向外观类，客户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端里不出现任何子系统类名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255174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241161" y="266747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三条关联线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615618" y="2667476"/>
              <a:ext cx="36212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外观类持有子系统对象的引用，箭头指向子系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统，一个菱形都没有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6248400" y="324135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241161" y="3357086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没有继承线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615618" y="3357086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外观类既不是子系统的父类，也不是它们的子类</a:t>
              </a:r>
            </a:p>
          </p:txBody>
        </p:sp>
      </p:grpSp>
      <p:grpSp>
        <p:nvGrpSpPr>
          <p:cNvPr id="68" name="c2-card-2"/>
          <p:cNvGrpSpPr/>
          <p:nvPr/>
        </p:nvGrpSpPr>
        <p:grpSpPr>
          <a:xfrm>
            <a:off x="6248400" y="3765232"/>
            <a:ext cx="5410200" cy="1858328"/>
            <a:chOff x="6248400" y="3765232"/>
            <a:chExt cx="5410200" cy="1858328"/>
          </a:xfrm>
        </p:grpSpPr>
        <p:sp>
          <p:nvSpPr>
            <p:cNvPr id="63" name="Rectangle 63"/>
            <p:cNvSpPr/>
            <p:nvPr/>
          </p:nvSpPr>
          <p:spPr>
            <a:xfrm>
              <a:off x="6248400" y="3765232"/>
              <a:ext cx="5410200" cy="1858328"/>
            </a:xfrm>
            <a:prstGeom prst="roundRect">
              <a:avLst>
                <a:gd name="adj" fmla="val 717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452235" y="396906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42443" y="40047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53644" y="4008596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子系统并不知道外观的存在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444996" y="4360069"/>
              <a:ext cx="470331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对子系统而言，外观角色仅仅是另外一个客户端。子系统的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代码里不会出现指向 Facade 的引用，把外观类删掉，子系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统照常编译运行。</a:t>
              </a:r>
            </a:p>
          </p:txBody>
        </p:sp>
      </p:grpSp>
      <p:grpSp>
        <p:nvGrpSpPr>
          <p:cNvPr id="7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9" name="Rectangle 6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3" name="Group 73"/>
            <p:cNvGrpSpPr/>
            <p:nvPr/>
          </p:nvGrpSpPr>
          <p:grpSpPr>
            <a:xfrm>
              <a:off x="726129" y="5999916"/>
              <a:ext cx="224134" cy="192560"/>
              <a:chOff x="726129" y="5999916"/>
              <a:chExt cx="224134" cy="19256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838200" y="607028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726129" y="599991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38200" y="614807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4" name="TextBox 74"/>
            <p:cNvSpPr txBox="1"/>
            <p:nvPr/>
          </p:nvSpPr>
          <p:spPr>
            <a:xfrm>
              <a:off x="1040511" y="6004084"/>
              <a:ext cx="707533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常见错画法是把 Facade 画成子系统的父类，或者在它们之间画菱形，两种都不对。</a:t>
              </a:r>
            </a:p>
          </p:txBody>
        </p:sp>
      </p:grpSp>
      <p:grpSp>
        <p:nvGrpSpPr>
          <p:cNvPr id="7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6" name="TextBox 7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结构、角色与模式分析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两个角色，各管什么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6923" y="1545431"/>
            <a:ext cx="6282499" cy="2435352"/>
            <a:chOff x="526923" y="1545431"/>
            <a:chExt cx="6282499" cy="2435352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13596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Facade 外观角色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95690" y="1545431"/>
              <a:ext cx="4402074" cy="7294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客户端可以调用它的方法。它知道相关的一个或多个子系统的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功能和责任，正常情况下把客户端发来的请求委派到相应的子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系统去，交给子系统对象处理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29647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923" y="2397919"/>
              <a:ext cx="126832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SubSystem 子系</a:t>
              </a:r>
              <a:br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统角色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095690" y="2397919"/>
              <a:ext cx="4402074" cy="9694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系统中可以有一个或多个子系统角色。每一个子系统不一定是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一个单独的类，而可以是一个类的集合，它实现子系统的功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能；每个子系统都可以被客户端直接调用，也可以被外观角色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调用，它处理由外观类传过来的请求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338899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923" y="3491389"/>
              <a:ext cx="1096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Client 客户类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95690" y="3491389"/>
              <a:ext cx="440207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结构图里画出来的那个调用方。它只和外观角色打交道，不必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知道子系统里有几个类、叫什么名字</a:t>
              </a:r>
            </a:p>
          </p:txBody>
        </p:sp>
      </p:grpSp>
      <p:grpSp>
        <p:nvGrpSpPr>
          <p:cNvPr id="36" name="c1-compare-2"/>
          <p:cNvGrpSpPr/>
          <p:nvPr/>
        </p:nvGrpSpPr>
        <p:grpSpPr>
          <a:xfrm>
            <a:off x="533400" y="4094798"/>
            <a:ext cx="6275070" cy="1453515"/>
            <a:chOff x="533400" y="4094798"/>
            <a:chExt cx="6275070" cy="1453515"/>
          </a:xfrm>
        </p:grpSpPr>
        <p:sp>
          <p:nvSpPr>
            <p:cNvPr id="16" name="Rectangle 16"/>
            <p:cNvSpPr/>
            <p:nvPr/>
          </p:nvSpPr>
          <p:spPr>
            <a:xfrm>
              <a:off x="533400" y="4094798"/>
              <a:ext cx="2927985" cy="1453515"/>
            </a:xfrm>
            <a:prstGeom prst="roundRect">
              <a:avLst>
                <a:gd name="adj" fmla="val 9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228148"/>
              <a:ext cx="47625" cy="118681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5998" y="429720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外观角色负责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2000" y="465105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17448" y="459819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知道每个子系统能做什么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2000" y="493585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7448" y="4882991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决定调用哪几个、按什么顺序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2000" y="522065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7448" y="5167789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把客户端的请求委派下去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880485" y="4094798"/>
              <a:ext cx="2927985" cy="1453515"/>
            </a:xfrm>
            <a:prstGeom prst="roundRect">
              <a:avLst>
                <a:gd name="adj" fmla="val 91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3890010" y="4228148"/>
              <a:ext cx="47625" cy="118681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093083" y="429720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外观角色不负责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4109085" y="4651058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264533" y="459819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实现任何一段业务逻辑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4109085" y="4935855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264533" y="4882991"/>
              <a:ext cx="20807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拦住客户端不让它直接访问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4109085" y="5220652"/>
              <a:ext cx="57150" cy="571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4264533" y="516778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改变子系统原有的行为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3509010" y="465963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592243" y="476535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7114222" y="1524000"/>
            <a:ext cx="4544378" cy="1403032"/>
            <a:chOff x="7114222" y="1524000"/>
            <a:chExt cx="4544378" cy="1403032"/>
          </a:xfrm>
        </p:grpSpPr>
        <p:sp>
          <p:nvSpPr>
            <p:cNvPr id="37" name="Rectangle 37"/>
            <p:cNvSpPr/>
            <p:nvPr/>
          </p:nvSpPr>
          <p:spPr>
            <a:xfrm>
              <a:off x="7114222" y="1524000"/>
              <a:ext cx="4544378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123748" y="165735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333298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2501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常错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899273" y="174450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外观类里不写业务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26820" y="2061686"/>
              <a:ext cx="39143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外观类只做转发和编排，方法体通常就是几次子系统调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用。一旦在里面写起了业务逻辑，它就变成了一个新的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子系统类，客户端反而要依赖它的实现。</a:t>
              </a:r>
            </a:p>
          </p:txBody>
        </p:sp>
      </p:grpSp>
      <p:grpSp>
        <p:nvGrpSpPr>
          <p:cNvPr id="50" name="c2-card-2"/>
          <p:cNvGrpSpPr/>
          <p:nvPr/>
        </p:nvGrpSpPr>
        <p:grpSpPr>
          <a:xfrm>
            <a:off x="7114222" y="3091815"/>
            <a:ext cx="4544378" cy="2456498"/>
            <a:chOff x="7114222" y="3091815"/>
            <a:chExt cx="4544378" cy="2456498"/>
          </a:xfrm>
        </p:grpSpPr>
        <p:sp>
          <p:nvSpPr>
            <p:cNvPr id="44" name="Rectangle 44"/>
            <p:cNvSpPr/>
            <p:nvPr/>
          </p:nvSpPr>
          <p:spPr>
            <a:xfrm>
              <a:off x="7114222" y="3091815"/>
              <a:ext cx="4544378" cy="2456498"/>
            </a:xfrm>
            <a:prstGeom prst="roundRect">
              <a:avLst>
                <a:gd name="adj" fmla="val 54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7123748" y="3225165"/>
              <a:ext cx="47625" cy="218979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333298" y="32727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425017" y="33056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899273" y="331231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三个角色对上装机公司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26820" y="3629501"/>
              <a:ext cx="39225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Facade 对应装机公司，SubSystem 对应各家配件店，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Client 就是那位只想拿到整机的客户。</a:t>
              </a:r>
            </a:p>
          </p:txBody>
        </p:sp>
      </p:grpSp>
      <p:grpSp>
        <p:nvGrpSpPr>
          <p:cNvPr id="56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51" name="Rectangle 51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1041273" y="6039326"/>
              <a:ext cx="60439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判断一个类是不是外观角色，看它的方法体是不是只由若干次子系统调用组成。</a:t>
              </a:r>
            </a:p>
          </p:txBody>
        </p:sp>
      </p:grpSp>
      <p:grpSp>
        <p:nvGrpSpPr>
          <p:cNvPr id="5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7" name="TextBox 5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9294495" cy="909257"/>
            <a:chOff x="520446" y="342900"/>
            <a:chExt cx="9294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35458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8479" y="407194"/>
              <a:ext cx="2224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结构、角色与模式分析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9294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模式分析：子系统是个广义概念，外观也不完全符合开闭原则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403032"/>
            <a:chOff x="533400" y="1524000"/>
            <a:chExt cx="5410200" cy="14030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范围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子系统可大可小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外观模式里所指的子系统是一个广义的概念，它可以是一个类、一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个功能模块、系统的一个组成部分，也可以是一个完整的系统。子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系统类通常是一些业务类，实现具体的、独立的业务功能。</a:t>
              </a:r>
            </a:p>
          </p:txBody>
        </p:sp>
      </p:grpSp>
      <p:grpSp>
        <p:nvGrpSpPr>
          <p:cNvPr id="21" name="c1-bullets-2"/>
          <p:cNvGrpSpPr/>
          <p:nvPr/>
        </p:nvGrpSpPr>
        <p:grpSpPr>
          <a:xfrm>
            <a:off x="526923" y="3113246"/>
            <a:ext cx="3351772" cy="1136142"/>
            <a:chOff x="526923" y="3113246"/>
            <a:chExt cx="3351772" cy="1136142"/>
          </a:xfrm>
        </p:grpSpPr>
        <p:sp>
          <p:nvSpPr>
            <p:cNvPr id="14" name="TextBox 14"/>
            <p:cNvSpPr txBox="1"/>
            <p:nvPr/>
          </p:nvSpPr>
          <p:spPr>
            <a:xfrm>
              <a:off x="526923" y="3113246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引入外观之后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33400" y="3441382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4096" y="3414236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增加新的子系统或者移除子系统都很方便</a:t>
              </a:r>
            </a:p>
          </p:txBody>
        </p:sp>
        <p:sp>
          <p:nvSpPr>
            <p:cNvPr id="17" name="Freeform 17"/>
            <p:cNvSpPr/>
            <p:nvPr/>
          </p:nvSpPr>
          <p:spPr>
            <a:xfrm>
              <a:off x="533400" y="3733800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3340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4096" y="3707606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客户类无须修改，或者只做极少的修改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33400" y="4027170"/>
              <a:ext cx="122873" cy="99060"/>
            </a:xfrm>
            <a:custGeom>
              <a:avLst/>
              <a:gdLst/>
              <a:ahLst/>
              <a:cxnLst/>
              <a:rect l="l" t="t" r="r" b="b"/>
              <a:pathLst>
                <a:path w="122873" h="99060">
                  <a:moveTo>
                    <a:pt x="0" y="52388"/>
                  </a:moveTo>
                  <a:lnTo>
                    <a:pt x="46672" y="99060"/>
                  </a:lnTo>
                  <a:lnTo>
                    <a:pt x="122873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64096" y="400002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改动集中在外观类里增删对子系统的引用</a:t>
              </a:r>
            </a:p>
          </p:txBody>
        </p:sp>
      </p:grpSp>
      <p:grpSp>
        <p:nvGrpSpPr>
          <p:cNvPr id="28" name="c1-card-3"/>
          <p:cNvGrpSpPr/>
          <p:nvPr/>
        </p:nvGrpSpPr>
        <p:grpSpPr>
          <a:xfrm>
            <a:off x="533400" y="4364355"/>
            <a:ext cx="5410200" cy="1160145"/>
            <a:chOff x="533400" y="4364355"/>
            <a:chExt cx="5410200" cy="1160145"/>
          </a:xfrm>
        </p:grpSpPr>
        <p:sp>
          <p:nvSpPr>
            <p:cNvPr id="22" name="Rectangle 22"/>
            <p:cNvSpPr/>
            <p:nvPr/>
          </p:nvSpPr>
          <p:spPr>
            <a:xfrm>
              <a:off x="533400" y="4364355"/>
              <a:ext cx="5410200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497705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52475" y="454533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5147" y="457819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举例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18450" y="458485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三种粒度都可能出现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5998" y="4902041"/>
              <a:ext cx="47271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连接管理是一个类，报表模块是一个功能模块，整套支付网关是一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个完整系统，三者都能当子系统。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248400" y="1524000"/>
            <a:ext cx="5410200" cy="1403032"/>
            <a:chOff x="6248400" y="1524000"/>
            <a:chExt cx="5410200" cy="1403032"/>
          </a:xfrm>
        </p:grpSpPr>
        <p:sp>
          <p:nvSpPr>
            <p:cNvPr id="29" name="Rectangle 29"/>
            <p:cNvSpPr/>
            <p:nvPr/>
          </p:nvSpPr>
          <p:spPr>
            <a:xfrm>
              <a:off x="6248400" y="1524000"/>
              <a:ext cx="5410200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257925" y="1657350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67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60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33451" y="174450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在这一点上并不符合开闭原则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60998" y="2061686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增加新的子系统需要对原有系统进行一定的修改，也就是改外观类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的源代码，虽然这个修改工作量通常不大。后面第 28 页的抽象外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观类能缓解这个问题。</a:t>
              </a:r>
            </a:p>
          </p:txBody>
        </p:sp>
      </p:grpSp>
      <p:grpSp>
        <p:nvGrpSpPr>
          <p:cNvPr id="41" name="c2-card-2"/>
          <p:cNvGrpSpPr/>
          <p:nvPr/>
        </p:nvGrpSpPr>
        <p:grpSpPr>
          <a:xfrm>
            <a:off x="6248400" y="3091815"/>
            <a:ext cx="5410200" cy="2432685"/>
            <a:chOff x="6248400" y="3091815"/>
            <a:chExt cx="5410200" cy="2432685"/>
          </a:xfrm>
        </p:grpSpPr>
        <p:sp>
          <p:nvSpPr>
            <p:cNvPr id="36" name="Rectangle 36"/>
            <p:cNvSpPr/>
            <p:nvPr/>
          </p:nvSpPr>
          <p:spPr>
            <a:xfrm>
              <a:off x="6248400" y="3091815"/>
              <a:ext cx="5410200" cy="2432685"/>
            </a:xfrm>
            <a:prstGeom prst="roundRect">
              <a:avLst>
                <a:gd name="adj" fmla="val 5482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429375" y="32727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22047" y="33056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观念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95351" y="3312319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类与类之间关系越多，不等于设计得越好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22898" y="3629501"/>
              <a:ext cx="4727194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关系多意味着耦合度大，一个类的改动会导致多个类跟着变，系统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在维护和修改时都缺乏灵活性。外观模式的引入把这类关系压到了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最少。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2" name="Rectangle 4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1273" y="6039326"/>
              <a:ext cx="69054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外观模式降低的是客户端与子系统之间的耦合，子系统内部类之间原有的关系一条也没少。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358515" cy="2997517"/>
            <a:chOff x="667512" y="1835468"/>
            <a:chExt cx="3358515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典型代码实现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34860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子系统、外观类、客户端三段代码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子系统类与外观类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客户端调用与执行顺序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9933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 C# 写法的改写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典型代码实现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典型代码（一）：子系统类与外观类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4861560" cy="293370"/>
            <a:chOff x="525780" y="1548765"/>
            <a:chExt cx="486156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子系统类各写各的业务，外观类把它们按顺序串起来。</a:t>
              </a:r>
            </a:p>
          </p:txBody>
        </p:sp>
      </p:grpSp>
      <p:grpSp>
        <p:nvGrpSpPr>
          <p:cNvPr id="13" name="c1-code-1"/>
          <p:cNvGrpSpPr/>
          <p:nvPr/>
        </p:nvGrpSpPr>
        <p:grpSpPr>
          <a:xfrm>
            <a:off x="533400" y="1954530"/>
            <a:ext cx="6059805" cy="3723322"/>
            <a:chOff x="533400" y="1954530"/>
            <a:chExt cx="6059805" cy="372332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6059805" cy="3723322"/>
            </a:xfrm>
            <a:prstGeom prst="roundRect">
              <a:avLst>
                <a:gd name="adj" fmla="val 255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子系统类与外观类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52450" y="4411028"/>
              <a:ext cx="6021705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416" y="2367915"/>
              <a:ext cx="4917948" cy="32381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三个子系统类，彼此之间可以毫无关系 */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SubSystemA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methodA() { System.out.println(</a:t>
              </a:r>
              <a:r>
                <a:rPr lang="zh-CN" sz="105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"子系统 A 的业务"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SubSystemB、SubSystemC 同理，各有一个 methodB()、methodC()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Facade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SubSystemA obj1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SubSystemA();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SubSystemB obj2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SubSystemB();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SubSystemC obj3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SubSystemC();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method() {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客户端要的那一件事 */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obj1.methodA();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obj2.methodB();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obj3.methodC();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0" name="c2-card-1"/>
          <p:cNvGrpSpPr/>
          <p:nvPr/>
        </p:nvGrpSpPr>
        <p:grpSpPr>
          <a:xfrm>
            <a:off x="6898005" y="1954530"/>
            <a:ext cx="4760595" cy="1811655"/>
            <a:chOff x="6898005" y="1954530"/>
            <a:chExt cx="4760595" cy="1811655"/>
          </a:xfrm>
        </p:grpSpPr>
        <p:sp>
          <p:nvSpPr>
            <p:cNvPr id="14" name="Rectangle 14"/>
            <p:cNvSpPr/>
            <p:nvPr/>
          </p:nvSpPr>
          <p:spPr>
            <a:xfrm>
              <a:off x="6898005" y="1954530"/>
              <a:ext cx="4760595" cy="1811655"/>
            </a:xfrm>
            <a:prstGeom prst="roundRect">
              <a:avLst>
                <a:gd name="adj" fmla="val 73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907530" y="2087880"/>
              <a:ext cx="47625" cy="15449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34225" y="21526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225665" y="21869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17536" y="2187416"/>
              <a:ext cx="190429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原课件给的是 C# 写法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26986" y="2531269"/>
              <a:ext cx="407212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课件里方法名写成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MethodA()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，客户端入口是</a:t>
              </a:r>
              <a:br/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static void Main(string[] args)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，都是 C# 写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法。本讲统一改写成 Java：方法名首字母小写，入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口是 </a:t>
              </a:r>
              <a:r>
                <a:rPr lang="en-US" sz="142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main(String[] args)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7" name="c2-card-2"/>
          <p:cNvGrpSpPr/>
          <p:nvPr/>
        </p:nvGrpSpPr>
        <p:grpSpPr>
          <a:xfrm>
            <a:off x="6898005" y="3946208"/>
            <a:ext cx="4760595" cy="1730692"/>
            <a:chOff x="6898005" y="3946208"/>
            <a:chExt cx="4760595" cy="1730692"/>
          </a:xfrm>
        </p:grpSpPr>
        <p:sp>
          <p:nvSpPr>
            <p:cNvPr id="21" name="Rectangle 21"/>
            <p:cNvSpPr/>
            <p:nvPr/>
          </p:nvSpPr>
          <p:spPr>
            <a:xfrm>
              <a:off x="6898005" y="3946208"/>
              <a:ext cx="4760595" cy="1730692"/>
            </a:xfrm>
            <a:prstGeom prst="roundRect">
              <a:avLst>
                <a:gd name="adj" fmla="val 7705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096125" y="4144328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187565" y="4178618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落点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79436" y="418004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外观类不实现任何业务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88886" y="4522946"/>
              <a:ext cx="416229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它只决定调用哪几个子系统、按什么顺序调。业务代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码仍然留在 SubSystemA 到 SubSystemC 里。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90029" y="5109210"/>
              <a:ext cx="44465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子系统对象也可以由构造方法传进来，外观类连 new 都不用写</a:t>
              </a:r>
            </a:p>
          </p:txBody>
        </p:sp>
      </p:grpSp>
      <p:grpSp>
        <p:nvGrpSpPr>
          <p:cNvPr id="33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28" name="Rectangle 28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040511" y="6011704"/>
              <a:ext cx="632277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外观类的字段列表就是它管辖的子系统清单，看字段就知道它包了哪几个。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4" name="TextBox 3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78593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5231" y="407194"/>
              <a:ext cx="16213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典型代码实现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典型代码（二）：客户端只剩两行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669280" cy="293370"/>
            <a:chOff x="525780" y="1548765"/>
            <a:chExt cx="566928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6692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客户端建一个外观对象，调一次方法，三个子系统按顺序跑完。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54530"/>
            <a:ext cx="5193982" cy="1719262"/>
            <a:chOff x="533400" y="1954530"/>
            <a:chExt cx="5193982" cy="1719262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193982" cy="1719262"/>
            </a:xfrm>
            <a:prstGeom prst="roundRect">
              <a:avLst>
                <a:gd name="adj" fmla="val 554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10645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035" y="2368391"/>
              <a:ext cx="4385310" cy="1234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Client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main(String[] args)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Facade facade = </a:t>
              </a:r>
              <a:r>
                <a:rPr lang="en-US" sz="11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Facade();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只认识外观类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facade.method();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只调一次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6" name="c1-code-2"/>
          <p:cNvGrpSpPr/>
          <p:nvPr/>
        </p:nvGrpSpPr>
        <p:grpSpPr>
          <a:xfrm>
            <a:off x="533400" y="3859530"/>
            <a:ext cx="5193982" cy="1110615"/>
            <a:chOff x="533400" y="3859530"/>
            <a:chExt cx="5193982" cy="1110615"/>
          </a:xfrm>
        </p:grpSpPr>
        <p:sp>
          <p:nvSpPr>
            <p:cNvPr id="13" name="Rectangle 13"/>
            <p:cNvSpPr/>
            <p:nvPr/>
          </p:nvSpPr>
          <p:spPr>
            <a:xfrm>
              <a:off x="533400" y="3859530"/>
              <a:ext cx="5193982" cy="1110615"/>
            </a:xfrm>
            <a:prstGeom prst="roundRect">
              <a:avLst>
                <a:gd name="adj" fmla="val 8576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797" y="401145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运行输出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035" y="4273391"/>
              <a:ext cx="1099566" cy="6257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子系统 A 的业务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子系统 B 的业务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Microsoft YaHei"/>
                  <a:cs typeface="Consolas"/>
                </a:rPr>
                <a:t>子系统 C 的业务</a:t>
              </a:r>
            </a:p>
          </p:txBody>
        </p:sp>
      </p:grpSp>
      <p:grpSp>
        <p:nvGrpSpPr>
          <p:cNvPr id="41" name="c2-flow-1"/>
          <p:cNvGrpSpPr/>
          <p:nvPr/>
        </p:nvGrpSpPr>
        <p:grpSpPr>
          <a:xfrm>
            <a:off x="6165532" y="2006918"/>
            <a:ext cx="5359718" cy="2020252"/>
            <a:chOff x="6165532" y="2006918"/>
            <a:chExt cx="5359718" cy="2020252"/>
          </a:xfrm>
        </p:grpSpPr>
        <p:sp>
          <p:nvSpPr>
            <p:cNvPr id="17" name="Freeform 17"/>
            <p:cNvSpPr/>
            <p:nvPr/>
          </p:nvSpPr>
          <p:spPr>
            <a:xfrm>
              <a:off x="7774305" y="301752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7936230" y="29641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3340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8844915" y="2663190"/>
              <a:ext cx="1875472" cy="52388"/>
            </a:xfrm>
            <a:custGeom>
              <a:avLst/>
              <a:gdLst/>
              <a:ahLst/>
              <a:cxnLst/>
              <a:rect l="l" t="t" r="r" b="b"/>
              <a:pathLst>
                <a:path w="1875472" h="52388">
                  <a:moveTo>
                    <a:pt x="0" y="52388"/>
                  </a:moveTo>
                  <a:lnTo>
                    <a:pt x="0" y="0"/>
                  </a:lnTo>
                  <a:lnTo>
                    <a:pt x="1875472" y="0"/>
                  </a:lnTo>
                  <a:lnTo>
                    <a:pt x="1875472" y="52388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10668000" y="261080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0"/>
                  </a:moveTo>
                  <a:lnTo>
                    <a:pt x="104775" y="104775"/>
                  </a:lnTo>
                  <a:lnTo>
                    <a:pt x="0" y="104775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Freeform 21"/>
            <p:cNvSpPr/>
            <p:nvPr/>
          </p:nvSpPr>
          <p:spPr>
            <a:xfrm>
              <a:off x="9649778" y="3017520"/>
              <a:ext cx="161925" cy="9525"/>
            </a:xfrm>
            <a:custGeom>
              <a:avLst/>
              <a:gdLst/>
              <a:ahLst/>
              <a:cxnLst/>
              <a:rect l="l" t="t" r="r" b="b"/>
              <a:pathLst>
                <a:path w="161925" h="9525">
                  <a:moveTo>
                    <a:pt x="0" y="0"/>
                  </a:moveTo>
                  <a:lnTo>
                    <a:pt x="16192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811702" y="29641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3340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3" name="Freeform 23"/>
            <p:cNvSpPr/>
            <p:nvPr/>
          </p:nvSpPr>
          <p:spPr>
            <a:xfrm>
              <a:off x="8844915" y="3318510"/>
              <a:ext cx="1875472" cy="52388"/>
            </a:xfrm>
            <a:custGeom>
              <a:avLst/>
              <a:gdLst/>
              <a:ahLst/>
              <a:cxnLst/>
              <a:rect l="l" t="t" r="r" b="b"/>
              <a:pathLst>
                <a:path w="1875472" h="52388">
                  <a:moveTo>
                    <a:pt x="0" y="0"/>
                  </a:moveTo>
                  <a:lnTo>
                    <a:pt x="0" y="52388"/>
                  </a:lnTo>
                  <a:lnTo>
                    <a:pt x="1875472" y="52388"/>
                  </a:lnTo>
                  <a:lnTo>
                    <a:pt x="187547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4" name="Freeform 24"/>
            <p:cNvSpPr/>
            <p:nvPr/>
          </p:nvSpPr>
          <p:spPr>
            <a:xfrm>
              <a:off x="10668000" y="331851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165532" y="2804160"/>
              <a:ext cx="1608772" cy="424815"/>
            </a:xfrm>
            <a:prstGeom prst="roundRect">
              <a:avLst>
                <a:gd name="adj" fmla="val 50000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041005" y="2715578"/>
              <a:ext cx="1608772" cy="603885"/>
            </a:xfrm>
            <a:prstGeom prst="roundRect">
              <a:avLst>
                <a:gd name="adj" fmla="val 15773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9916478" y="2006918"/>
              <a:ext cx="1608772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9916478" y="2715578"/>
              <a:ext cx="1608772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9916478" y="3423285"/>
              <a:ext cx="1608772" cy="603885"/>
            </a:xfrm>
            <a:prstGeom prst="roundRect">
              <a:avLst>
                <a:gd name="adj" fmla="val 15773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723637" y="2933700"/>
              <a:ext cx="491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88299" y="2830830"/>
              <a:ext cx="71323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Facade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method()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279952" y="2122170"/>
              <a:ext cx="88087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SubSystemA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methodA()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279952" y="2830830"/>
              <a:ext cx="88087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SubSystemB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methodB()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279952" y="3538538"/>
              <a:ext cx="880872" cy="440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620"/>
                </a:lnSpc>
              </a:pPr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SubSystemC</a:t>
              </a:r>
              <a:br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methodC()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9698355" y="2446972"/>
              <a:ext cx="168592" cy="193358"/>
            </a:xfrm>
            <a:prstGeom prst="roundRect">
              <a:avLst>
                <a:gd name="adj" fmla="val 2259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738922" y="247364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9698355" y="2801302"/>
              <a:ext cx="168592" cy="193358"/>
            </a:xfrm>
            <a:prstGeom prst="roundRect">
              <a:avLst>
                <a:gd name="adj" fmla="val 2259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738922" y="282702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698355" y="3154680"/>
              <a:ext cx="168592" cy="193358"/>
            </a:xfrm>
            <a:prstGeom prst="roundRect">
              <a:avLst>
                <a:gd name="adj" fmla="val 2259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738922" y="318135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032182" y="4265295"/>
            <a:ext cx="5626418" cy="1293495"/>
            <a:chOff x="6032182" y="4265295"/>
            <a:chExt cx="5626418" cy="1293495"/>
          </a:xfrm>
        </p:grpSpPr>
        <p:sp>
          <p:nvSpPr>
            <p:cNvPr id="42" name="Rectangle 42"/>
            <p:cNvSpPr/>
            <p:nvPr/>
          </p:nvSpPr>
          <p:spPr>
            <a:xfrm>
              <a:off x="6032182" y="4265295"/>
              <a:ext cx="5626418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041708" y="4398645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274118" y="446913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64326" y="450484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74574" y="4508659"/>
              <a:ext cx="23084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客户端里没有子系统的名字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66879" y="4860131"/>
              <a:ext cx="48836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引入外观类后客户端代码变得非常简单，与之关联的对象也很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少。三个子系统类一个都没有出现在这段代码里。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49" name="Rectangle 49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0511" y="6004084"/>
              <a:ext cx="557977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哪天要改成先调 C 再调 A，只改外观类一处，所有客户端跟着变。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691253" cy="2997517"/>
            <a:chOff x="667512" y="1835468"/>
            <a:chExt cx="4691253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课件里的四个实例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681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两位老师的例子合起来，正好覆盖四种常见形态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电器总开关与文件加密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子系统之间的财务接口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分层结构里的游戏引擎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实例一：一个总开关控制七台电器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035089" cy="308039"/>
            <a:chOff x="525399" y="1550194"/>
            <a:chExt cx="7035089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03508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四盏灯、一个风扇、一台空调、一台电视，按一下总开关全部启动或关闭。</a:t>
              </a:r>
            </a:p>
          </p:txBody>
        </p:sp>
      </p:grpSp>
      <p:grpSp>
        <p:nvGrpSpPr>
          <p:cNvPr id="64" name="c1-uml-1"/>
          <p:cNvGrpSpPr/>
          <p:nvPr/>
        </p:nvGrpSpPr>
        <p:grpSpPr>
          <a:xfrm>
            <a:off x="800100" y="2044065"/>
            <a:ext cx="6175058" cy="2707958"/>
            <a:chOff x="800100" y="2044065"/>
            <a:chExt cx="6175058" cy="2707958"/>
          </a:xfrm>
        </p:grpSpPr>
        <p:sp>
          <p:nvSpPr>
            <p:cNvPr id="9" name="Freeform 9"/>
            <p:cNvSpPr/>
            <p:nvPr/>
          </p:nvSpPr>
          <p:spPr>
            <a:xfrm>
              <a:off x="1943100" y="2743200"/>
              <a:ext cx="347662" cy="9525"/>
            </a:xfrm>
            <a:custGeom>
              <a:avLst/>
              <a:gdLst/>
              <a:ahLst/>
              <a:cxnLst/>
              <a:rect l="l" t="t" r="r" b="b"/>
              <a:pathLst>
                <a:path w="347662" h="9525">
                  <a:moveTo>
                    <a:pt x="0" y="0"/>
                  </a:moveTo>
                  <a:lnTo>
                    <a:pt x="34766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2185988" y="2686050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7150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1371600" y="3443288"/>
              <a:ext cx="1677353" cy="396240"/>
            </a:xfrm>
            <a:custGeom>
              <a:avLst/>
              <a:gdLst/>
              <a:ahLst/>
              <a:cxnLst/>
              <a:rect l="l" t="t" r="r" b="b"/>
              <a:pathLst>
                <a:path w="1677353" h="396240">
                  <a:moveTo>
                    <a:pt x="1677353" y="0"/>
                  </a:moveTo>
                  <a:lnTo>
                    <a:pt x="1677353" y="198120"/>
                  </a:lnTo>
                  <a:lnTo>
                    <a:pt x="0" y="198120"/>
                  </a:lnTo>
                  <a:lnTo>
                    <a:pt x="0" y="39624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1314450" y="3734752"/>
              <a:ext cx="115252" cy="104775"/>
            </a:xfrm>
            <a:custGeom>
              <a:avLst/>
              <a:gdLst/>
              <a:ahLst/>
              <a:cxnLst/>
              <a:rect l="l" t="t" r="r" b="b"/>
              <a:pathLst>
                <a:path w="115252" h="104775">
                  <a:moveTo>
                    <a:pt x="0" y="0"/>
                  </a:moveTo>
                  <a:lnTo>
                    <a:pt x="57150" y="104775"/>
                  </a:lnTo>
                  <a:lnTo>
                    <a:pt x="11525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048952" y="3443288"/>
              <a:ext cx="9525" cy="477203"/>
            </a:xfrm>
            <a:custGeom>
              <a:avLst/>
              <a:gdLst/>
              <a:ahLst/>
              <a:cxnLst/>
              <a:rect l="l" t="t" r="r" b="b"/>
              <a:pathLst>
                <a:path w="9525" h="477203">
                  <a:moveTo>
                    <a:pt x="0" y="0"/>
                  </a:moveTo>
                  <a:lnTo>
                    <a:pt x="0" y="47720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2991802" y="3815715"/>
              <a:ext cx="115252" cy="104775"/>
            </a:xfrm>
            <a:custGeom>
              <a:avLst/>
              <a:gdLst/>
              <a:ahLst/>
              <a:cxnLst/>
              <a:rect l="l" t="t" r="r" b="b"/>
              <a:pathLst>
                <a:path w="115252" h="104775">
                  <a:moveTo>
                    <a:pt x="0" y="0"/>
                  </a:moveTo>
                  <a:lnTo>
                    <a:pt x="57150" y="104775"/>
                  </a:lnTo>
                  <a:lnTo>
                    <a:pt x="11525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048952" y="3443288"/>
              <a:ext cx="1677352" cy="477203"/>
            </a:xfrm>
            <a:custGeom>
              <a:avLst/>
              <a:gdLst/>
              <a:ahLst/>
              <a:cxnLst/>
              <a:rect l="l" t="t" r="r" b="b"/>
              <a:pathLst>
                <a:path w="1677352" h="477203">
                  <a:moveTo>
                    <a:pt x="0" y="0"/>
                  </a:moveTo>
                  <a:lnTo>
                    <a:pt x="0" y="238125"/>
                  </a:lnTo>
                  <a:lnTo>
                    <a:pt x="1677352" y="238125"/>
                  </a:lnTo>
                  <a:lnTo>
                    <a:pt x="1677352" y="47720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669155" y="3815715"/>
              <a:ext cx="115253" cy="104775"/>
            </a:xfrm>
            <a:custGeom>
              <a:avLst/>
              <a:gdLst/>
              <a:ahLst/>
              <a:cxnLst/>
              <a:rect l="l" t="t" r="r" b="b"/>
              <a:pathLst>
                <a:path w="115253" h="104775">
                  <a:moveTo>
                    <a:pt x="0" y="0"/>
                  </a:moveTo>
                  <a:lnTo>
                    <a:pt x="57150" y="104775"/>
                  </a:lnTo>
                  <a:lnTo>
                    <a:pt x="11525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048952" y="3443288"/>
              <a:ext cx="3354705" cy="477203"/>
            </a:xfrm>
            <a:custGeom>
              <a:avLst/>
              <a:gdLst/>
              <a:ahLst/>
              <a:cxnLst/>
              <a:rect l="l" t="t" r="r" b="b"/>
              <a:pathLst>
                <a:path w="3354705" h="477203">
                  <a:moveTo>
                    <a:pt x="0" y="0"/>
                  </a:moveTo>
                  <a:lnTo>
                    <a:pt x="0" y="238125"/>
                  </a:lnTo>
                  <a:lnTo>
                    <a:pt x="3354705" y="238125"/>
                  </a:lnTo>
                  <a:lnTo>
                    <a:pt x="3354705" y="477203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345555" y="3815715"/>
              <a:ext cx="115252" cy="104775"/>
            </a:xfrm>
            <a:custGeom>
              <a:avLst/>
              <a:gdLst/>
              <a:ahLst/>
              <a:cxnLst/>
              <a:rect l="l" t="t" r="r" b="b"/>
              <a:pathLst>
                <a:path w="115252" h="104775">
                  <a:moveTo>
                    <a:pt x="0" y="0"/>
                  </a:moveTo>
                  <a:lnTo>
                    <a:pt x="58102" y="104775"/>
                  </a:lnTo>
                  <a:lnTo>
                    <a:pt x="11525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00100" y="2530792"/>
              <a:ext cx="1143000" cy="425768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07720" y="2537460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800100" y="276129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00100" y="285654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290762" y="2044065"/>
              <a:ext cx="1517332" cy="139922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297430" y="2050732"/>
              <a:ext cx="1503045" cy="227648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290762" y="2274570"/>
              <a:ext cx="151733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290762" y="3018472"/>
              <a:ext cx="151733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00100" y="3839528"/>
              <a:ext cx="1143000" cy="912495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807720" y="3846195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00100" y="407003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00100" y="432720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477452" y="3920490"/>
              <a:ext cx="114300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485072" y="3927158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2477452" y="41509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477452" y="42462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154805" y="3920490"/>
              <a:ext cx="114300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4162425" y="3927158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4154805" y="41509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154805" y="42462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832158" y="3920490"/>
              <a:ext cx="1143000" cy="7505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838825" y="3927158"/>
              <a:ext cx="1128712" cy="227648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32158" y="415099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32158" y="4246245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170884" y="2586514"/>
              <a:ext cx="4014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Client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334707" y="2099786"/>
              <a:ext cx="142849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GeneralSwitchFacade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362200" y="2344102"/>
              <a:ext cx="1123950" cy="661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lights: Light[]</a:t>
              </a:r>
            </a:p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fan: Fan</a:t>
              </a:r>
            </a:p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ac: AirConditioner</a:t>
              </a:r>
            </a:p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tv: Television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362200" y="3088005"/>
              <a:ext cx="74104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on(): void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off(): void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91532" y="3895249"/>
              <a:ext cx="36013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Light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71538" y="4139565"/>
              <a:ext cx="106177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position: String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71538" y="4396740"/>
              <a:ext cx="74104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on(): void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off(): void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927561" y="3976211"/>
              <a:ext cx="24278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Fan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548890" y="4315778"/>
              <a:ext cx="74104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on(): void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off(): void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236089" y="3976211"/>
              <a:ext cx="98043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AirConditioner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226242" y="4315778"/>
              <a:ext cx="74104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on(): void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off(): void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067848" y="3976211"/>
              <a:ext cx="67161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Television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903595" y="4315778"/>
              <a:ext cx="741045" cy="3381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75"/>
                </a:lnSpc>
              </a:pPr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on(): void</a:t>
              </a:r>
              <a:br/>
              <a:r>
                <a:rPr lang="en-US" sz="9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off(): void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976438" y="3425190"/>
              <a:ext cx="468630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007527" y="3451860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lights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077528" y="3589972"/>
              <a:ext cx="315278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100768" y="3616643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fan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767138" y="3465195"/>
              <a:ext cx="241935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805028" y="349186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ac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4605338" y="3465195"/>
              <a:ext cx="241935" cy="193358"/>
            </a:xfrm>
            <a:prstGeom prst="roundRect">
              <a:avLst>
                <a:gd name="adj" fmla="val 19704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643228" y="349186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tv</a:t>
              </a:r>
            </a:p>
          </p:txBody>
        </p:sp>
      </p:grpSp>
      <p:grpSp>
        <p:nvGrpSpPr>
          <p:cNvPr id="71" name="c2-card-1"/>
          <p:cNvGrpSpPr/>
          <p:nvPr/>
        </p:nvGrpSpPr>
        <p:grpSpPr>
          <a:xfrm>
            <a:off x="7546658" y="1967865"/>
            <a:ext cx="4111942" cy="1621155"/>
            <a:chOff x="7546658" y="1967865"/>
            <a:chExt cx="4111942" cy="1621155"/>
          </a:xfrm>
        </p:grpSpPr>
        <p:sp>
          <p:nvSpPr>
            <p:cNvPr id="65" name="Rectangle 65"/>
            <p:cNvSpPr/>
            <p:nvPr/>
          </p:nvSpPr>
          <p:spPr>
            <a:xfrm>
              <a:off x="7546658" y="1967865"/>
              <a:ext cx="4111942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7556182" y="210121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7794308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88546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需求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395335" y="221265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四类电器，四个子系统类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786688" y="2573655"/>
              <a:ext cx="34632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灯要区分装在哪个房间，所以 Light 多一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 position 属性和一个带参构造方法，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另外三种电器只有开和关。</a:t>
              </a:r>
            </a:p>
          </p:txBody>
        </p:sp>
      </p:grpSp>
      <p:grpSp>
        <p:nvGrpSpPr>
          <p:cNvPr id="77" name="c2-card-2"/>
          <p:cNvGrpSpPr/>
          <p:nvPr/>
        </p:nvGrpSpPr>
        <p:grpSpPr>
          <a:xfrm>
            <a:off x="7546658" y="3779520"/>
            <a:ext cx="4111942" cy="1621155"/>
            <a:chOff x="7546658" y="3779520"/>
            <a:chExt cx="4111942" cy="1621155"/>
          </a:xfrm>
        </p:grpSpPr>
        <p:sp>
          <p:nvSpPr>
            <p:cNvPr id="72" name="Rectangle 72"/>
            <p:cNvSpPr/>
            <p:nvPr/>
          </p:nvSpPr>
          <p:spPr>
            <a:xfrm>
              <a:off x="7546658" y="3779520"/>
              <a:ext cx="4111942" cy="1621155"/>
            </a:xfrm>
            <a:prstGeom prst="roundRect">
              <a:avLst>
                <a:gd name="adj" fmla="val 822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7756208" y="398907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847368" y="40247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357235" y="4024312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四条关联线上的名字就是字段名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748588" y="4385310"/>
              <a:ext cx="3434715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总开关把四个电器对象收在自己的字段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里，对外只留 on 和 off 两个方法，客户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端从此只认识这一个类。</a:t>
              </a:r>
            </a:p>
          </p:txBody>
        </p:sp>
      </p:grpSp>
      <p:grpSp>
        <p:nvGrpSpPr>
          <p:cNvPr id="8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8" name="Rectangle 7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82" name="Group 82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3" name="TextBox 83"/>
            <p:cNvSpPr txBox="1"/>
            <p:nvPr/>
          </p:nvSpPr>
          <p:spPr>
            <a:xfrm>
              <a:off x="1040130" y="5991225"/>
              <a:ext cx="78905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子系统的四个类之间没有任何关系，它们是被外观类放到一起的，不是本来就长在一起。</a:t>
              </a:r>
            </a:p>
          </p:txBody>
        </p:sp>
      </p:grpSp>
      <p:grpSp>
        <p:nvGrpSpPr>
          <p:cNvPr id="8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5" name="TextBox 8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84369" cy="909257"/>
            <a:chOff x="520446" y="342900"/>
            <a:chExt cx="61843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843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实例一的代码：一次 on() 打开七台设备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1" name="c1-code-1"/>
          <p:cNvGrpSpPr/>
          <p:nvPr/>
        </p:nvGrpSpPr>
        <p:grpSpPr>
          <a:xfrm>
            <a:off x="533400" y="1524000"/>
            <a:ext cx="6276022" cy="3948112"/>
            <a:chOff x="533400" y="1524000"/>
            <a:chExt cx="6276022" cy="394811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3948112"/>
            </a:xfrm>
            <a:prstGeom prst="roundRect">
              <a:avLst>
                <a:gd name="adj" fmla="val 241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子系统类与外观类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4145280"/>
              <a:ext cx="6237922" cy="14954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988" y="1935004"/>
              <a:ext cx="4018915" cy="3451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Light {      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四个子系统类之一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position;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Light(String position) {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this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.position = position;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on()  { System.out.println(position + </a:t>
              </a:r>
              <a:r>
                <a:rPr lang="zh-CN" sz="8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"灯打开"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off() { System.out.println(position + </a:t>
              </a:r>
              <a:r>
                <a:rPr lang="zh-CN" sz="8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"灯关闭"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GeneralSwitchFacade {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外观类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Light[] lights =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Light[4];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Fan fan =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Fan();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AirConditioner ac =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AirConditioner();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Television tv =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Television();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GeneralSwitchFacade() {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四盏灯要逐个 new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String[] pos = {</a:t>
              </a:r>
              <a:r>
                <a:rPr lang="zh-CN" sz="8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"客厅"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"卧室"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"书房"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</a:t>
              </a:r>
              <a:r>
                <a:rPr lang="zh-CN" sz="820" dirty="0">
                  <a:solidFill>
                    <a:srgbClr val="C2410C"/>
                  </a:solidFill>
                  <a:latin typeface="Consolas"/>
                  <a:ea typeface="Microsoft YaHei"/>
                  <a:cs typeface="Consolas"/>
                </a:rPr>
                <a:t>"厨房"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4; i++) { lights[i] =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Light(pos[i]);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on() {    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一次开七台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(Light l : lights) { l.on(); }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fan.on(); ac.on(); tv.on();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4" name="c2-image-1"/>
          <p:cNvGrpSpPr/>
          <p:nvPr/>
        </p:nvGrpSpPr>
        <p:grpSpPr>
          <a:xfrm>
            <a:off x="7114222" y="1524000"/>
            <a:ext cx="4544378" cy="1497044"/>
            <a:chOff x="7114222" y="1524000"/>
            <a:chExt cx="4544378" cy="1497044"/>
          </a:xfrm>
        </p:grpSpPr>
        <p:pic>
          <p:nvPicPr>
            <p:cNvPr id="12" name="Image 12"/>
            <p:cNvPicPr>
              <a:picLocks noChangeAspect="1"/>
            </p:cNvPicPr>
            <p:nvPr/>
          </p:nvPicPr>
          <p:blipFill>
            <a:blip r:embed="rId2"/>
            <a:srcRect l="0" t="32184" r="0" b="32184"/>
            <a:stretch>
              <a:fillRect/>
            </a:stretch>
          </p:blipFill>
          <p:spPr>
            <a:xfrm>
              <a:off x="7114222" y="1524000"/>
              <a:ext cx="4544378" cy="1214438"/>
            </a:xfrm>
            <a:prstGeom prst="roundRect">
              <a:avLst>
                <a:gd name="adj" fmla="val 10980"/>
              </a:avLst>
            </a:prstGeom>
          </p:spPr>
        </p:pic>
        <p:sp>
          <p:nvSpPr>
            <p:cNvPr id="13" name="TextBox 13"/>
            <p:cNvSpPr txBox="1"/>
            <p:nvPr/>
          </p:nvSpPr>
          <p:spPr>
            <a:xfrm>
              <a:off x="7731887" y="2830354"/>
              <a:ext cx="330809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墙上只有一个开关，灯、风扇、空调、电视都接在它后面</a:t>
              </a:r>
            </a:p>
          </p:txBody>
        </p:sp>
      </p:grpSp>
      <p:grpSp>
        <p:nvGrpSpPr>
          <p:cNvPr id="21" name="c2-card-2"/>
          <p:cNvGrpSpPr/>
          <p:nvPr/>
        </p:nvGrpSpPr>
        <p:grpSpPr>
          <a:xfrm>
            <a:off x="7114222" y="3167062"/>
            <a:ext cx="4544378" cy="1645920"/>
            <a:chOff x="7114222" y="3167062"/>
            <a:chExt cx="4544378" cy="1645920"/>
          </a:xfrm>
        </p:grpSpPr>
        <p:sp>
          <p:nvSpPr>
            <p:cNvPr id="15" name="Rectangle 15"/>
            <p:cNvSpPr/>
            <p:nvPr/>
          </p:nvSpPr>
          <p:spPr>
            <a:xfrm>
              <a:off x="7114222" y="3167062"/>
              <a:ext cx="4544378" cy="1645920"/>
            </a:xfrm>
            <a:prstGeom prst="roundRect">
              <a:avLst>
                <a:gd name="adj" fmla="val 810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23748" y="3300412"/>
              <a:ext cx="47625" cy="13792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333298" y="334803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425017" y="33808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99273" y="3387566"/>
              <a:ext cx="25936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new Light[4]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只准备了四个空位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26820" y="3703796"/>
              <a:ext cx="396316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课件类图写成 </a:t>
              </a:r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lights : Light[] = new Light[4]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，容易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看成四盏灯已经建好。这一句只分配四个引用位置，每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个位置还是 null，不在构造方法里逐个 new，调用</a:t>
              </a:r>
              <a:br/>
              <a:r>
                <a:rPr lang="en-US" sz="128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lights[i].on()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就抛 </a:t>
              </a:r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NullPointerException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28" name="c2-callout-3"/>
          <p:cNvGrpSpPr/>
          <p:nvPr/>
        </p:nvGrpSpPr>
        <p:grpSpPr>
          <a:xfrm>
            <a:off x="7114222" y="4977765"/>
            <a:ext cx="4544378" cy="702945"/>
            <a:chOff x="7114222" y="4977765"/>
            <a:chExt cx="4544378" cy="702945"/>
          </a:xfrm>
        </p:grpSpPr>
        <p:sp>
          <p:nvSpPr>
            <p:cNvPr id="22" name="Rectangle 22"/>
            <p:cNvSpPr/>
            <p:nvPr/>
          </p:nvSpPr>
          <p:spPr>
            <a:xfrm>
              <a:off x="7114222" y="4977765"/>
              <a:ext cx="4544378" cy="702945"/>
            </a:xfrm>
            <a:prstGeom prst="roundRect">
              <a:avLst>
                <a:gd name="adj" fmla="val 1626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7319010" y="5229225"/>
              <a:ext cx="200026" cy="200025"/>
              <a:chOff x="7319010" y="5229225"/>
              <a:chExt cx="200026" cy="200025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7319010" y="52292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7358749" y="52736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7393464" y="53848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7622096" y="5123021"/>
              <a:ext cx="358927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想把客厅改成两盏灯，只动外观类的构造方法，客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户端一行不用改。</a:t>
              </a:r>
            </a:p>
          </p:txBody>
        </p:sp>
      </p:grpSp>
      <p:grpSp>
        <p:nvGrpSpPr>
          <p:cNvPr id="3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29" name="Rectangle 2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1041273" y="6039326"/>
              <a:ext cx="69195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客户端写的是 new GeneralSwitchFacade().on()，Light、Fan 这些类名一个也看不见。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5" name="TextBox 3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实例二：文件加密的三步交给一个外观类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7680010" cy="278702"/>
            <a:chOff x="526161" y="1547336"/>
            <a:chExt cx="7680010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768001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读取源文件、加密、保存密文，三段业务相互独立，客户端只想说一句“把这个文件加密”。</a:t>
              </a:r>
            </a:p>
          </p:txBody>
        </p:sp>
      </p:grpSp>
      <p:grpSp>
        <p:nvGrpSpPr>
          <p:cNvPr id="46" name="c1-uml-1"/>
          <p:cNvGrpSpPr/>
          <p:nvPr/>
        </p:nvGrpSpPr>
        <p:grpSpPr>
          <a:xfrm>
            <a:off x="769620" y="2010728"/>
            <a:ext cx="5575802" cy="1921192"/>
            <a:chOff x="769620" y="2010728"/>
            <a:chExt cx="5575802" cy="1921192"/>
          </a:xfrm>
        </p:grpSpPr>
        <p:sp>
          <p:nvSpPr>
            <p:cNvPr id="9" name="Freeform 9"/>
            <p:cNvSpPr/>
            <p:nvPr/>
          </p:nvSpPr>
          <p:spPr>
            <a:xfrm>
              <a:off x="1524952" y="3013710"/>
              <a:ext cx="1984057" cy="361950"/>
            </a:xfrm>
            <a:custGeom>
              <a:avLst/>
              <a:gdLst/>
              <a:ahLst/>
              <a:cxnLst/>
              <a:rect l="l" t="t" r="r" b="b"/>
              <a:pathLst>
                <a:path w="1984057" h="361950">
                  <a:moveTo>
                    <a:pt x="1984057" y="0"/>
                  </a:moveTo>
                  <a:lnTo>
                    <a:pt x="1984057" y="180975"/>
                  </a:lnTo>
                  <a:lnTo>
                    <a:pt x="0" y="180975"/>
                  </a:lnTo>
                  <a:lnTo>
                    <a:pt x="0" y="36195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467802" y="3270885"/>
              <a:ext cx="115252" cy="104775"/>
            </a:xfrm>
            <a:custGeom>
              <a:avLst/>
              <a:gdLst/>
              <a:ahLst/>
              <a:cxnLst/>
              <a:rect l="l" t="t" r="r" b="b"/>
              <a:pathLst>
                <a:path w="115252" h="104775">
                  <a:moveTo>
                    <a:pt x="0" y="0"/>
                  </a:moveTo>
                  <a:lnTo>
                    <a:pt x="57150" y="104775"/>
                  </a:lnTo>
                  <a:lnTo>
                    <a:pt x="11525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509010" y="3013710"/>
              <a:ext cx="9525" cy="361950"/>
            </a:xfrm>
            <a:custGeom>
              <a:avLst/>
              <a:gdLst/>
              <a:ahLst/>
              <a:cxnLst/>
              <a:rect l="l" t="t" r="r" b="b"/>
              <a:pathLst>
                <a:path w="9525" h="361950">
                  <a:moveTo>
                    <a:pt x="0" y="0"/>
                  </a:moveTo>
                  <a:lnTo>
                    <a:pt x="0" y="36195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450908" y="3270885"/>
              <a:ext cx="115252" cy="104775"/>
            </a:xfrm>
            <a:custGeom>
              <a:avLst/>
              <a:gdLst/>
              <a:ahLst/>
              <a:cxnLst/>
              <a:rect l="l" t="t" r="r" b="b"/>
              <a:pathLst>
                <a:path w="115252" h="104775">
                  <a:moveTo>
                    <a:pt x="0" y="0"/>
                  </a:moveTo>
                  <a:lnTo>
                    <a:pt x="58102" y="104775"/>
                  </a:lnTo>
                  <a:lnTo>
                    <a:pt x="11525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509010" y="3013710"/>
              <a:ext cx="1984058" cy="361950"/>
            </a:xfrm>
            <a:custGeom>
              <a:avLst/>
              <a:gdLst/>
              <a:ahLst/>
              <a:cxnLst/>
              <a:rect l="l" t="t" r="r" b="b"/>
              <a:pathLst>
                <a:path w="1984058" h="361950">
                  <a:moveTo>
                    <a:pt x="0" y="0"/>
                  </a:moveTo>
                  <a:lnTo>
                    <a:pt x="0" y="180975"/>
                  </a:lnTo>
                  <a:lnTo>
                    <a:pt x="1984058" y="180975"/>
                  </a:lnTo>
                  <a:lnTo>
                    <a:pt x="1984058" y="36195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5434965" y="3270885"/>
              <a:ext cx="115253" cy="104775"/>
            </a:xfrm>
            <a:custGeom>
              <a:avLst/>
              <a:gdLst/>
              <a:ahLst/>
              <a:cxnLst/>
              <a:rect l="l" t="t" r="r" b="b"/>
              <a:pathLst>
                <a:path w="115253" h="104775">
                  <a:moveTo>
                    <a:pt x="0" y="0"/>
                  </a:moveTo>
                  <a:lnTo>
                    <a:pt x="58103" y="104775"/>
                  </a:lnTo>
                  <a:lnTo>
                    <a:pt x="11525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2593658" y="2010728"/>
              <a:ext cx="1831658" cy="100298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2600325" y="2018348"/>
              <a:ext cx="1817370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593658" y="2223135"/>
              <a:ext cx="18316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593658" y="2765108"/>
              <a:ext cx="183165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9620" y="3375660"/>
              <a:ext cx="1511618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776288" y="3382328"/>
              <a:ext cx="1497330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69620" y="3588068"/>
              <a:ext cx="151161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69620" y="3683318"/>
              <a:ext cx="1511618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636520" y="3375660"/>
              <a:ext cx="1745932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2643188" y="3382328"/>
              <a:ext cx="1731645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636520" y="3588068"/>
              <a:ext cx="174593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636520" y="3683318"/>
              <a:ext cx="174593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4666298" y="3375660"/>
              <a:ext cx="1651635" cy="55626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673918" y="3382328"/>
              <a:ext cx="1637348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666298" y="3588068"/>
              <a:ext cx="165163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666298" y="3683318"/>
              <a:ext cx="1651635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045490" y="2062162"/>
              <a:ext cx="92704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EncryptFacade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65095" y="2291239"/>
              <a:ext cx="1217549" cy="4591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reader: FileRead</a:t>
              </a:r>
            </a:p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cipher: CipherMachine</a:t>
              </a:r>
            </a:p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writer: FileWrite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65095" y="2833211"/>
              <a:ext cx="20470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fileEncrypt(String src, String des)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268609" y="3427095"/>
              <a:ext cx="51268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FileRead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1058" y="3751421"/>
              <a:ext cx="145867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read(String src): String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064739" y="3427095"/>
              <a:ext cx="888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CipherMachine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707958" y="3751421"/>
              <a:ext cx="170643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encrypt(String plain): String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04910" y="3427095"/>
              <a:ext cx="576316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FileWrite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737735" y="3751421"/>
              <a:ext cx="160768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write(String s, String des)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264092" y="2987992"/>
              <a:ext cx="50577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294824" y="3013234"/>
              <a:ext cx="4452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reader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537585" y="3108960"/>
              <a:ext cx="47529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561207" y="3134201"/>
              <a:ext cx="4122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cipher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4251008" y="2987992"/>
              <a:ext cx="500062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281227" y="3013234"/>
              <a:ext cx="43867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writer</a:t>
              </a:r>
            </a:p>
          </p:txBody>
        </p:sp>
      </p:grpSp>
      <p:grpSp>
        <p:nvGrpSpPr>
          <p:cNvPr id="53" name="c1-card-2"/>
          <p:cNvGrpSpPr/>
          <p:nvPr/>
        </p:nvGrpSpPr>
        <p:grpSpPr>
          <a:xfrm>
            <a:off x="533400" y="4399598"/>
            <a:ext cx="5951220" cy="1226820"/>
            <a:chOff x="533400" y="4399598"/>
            <a:chExt cx="5951220" cy="1226820"/>
          </a:xfrm>
        </p:grpSpPr>
        <p:sp>
          <p:nvSpPr>
            <p:cNvPr id="47" name="Rectangle 47"/>
            <p:cNvSpPr/>
            <p:nvPr/>
          </p:nvSpPr>
          <p:spPr>
            <a:xfrm>
              <a:off x="533400" y="4399598"/>
              <a:ext cx="5951220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542925" y="4532948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63905" y="459200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55345" y="462629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347597" y="463200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外观方法按业务起名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7047" y="4966335"/>
              <a:ext cx="53029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fileEncrypt 是客户端要办的一件完整的事，不是三个子系统方法的一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对一转发。</a:t>
              </a:r>
            </a:p>
          </p:txBody>
        </p:sp>
      </p:grpSp>
      <p:grpSp>
        <p:nvGrpSpPr>
          <p:cNvPr id="67" name="c2-steps-1"/>
          <p:cNvGrpSpPr/>
          <p:nvPr/>
        </p:nvGrpSpPr>
        <p:grpSpPr>
          <a:xfrm>
            <a:off x="6789420" y="1950720"/>
            <a:ext cx="3455380" cy="1694022"/>
            <a:chOff x="6789420" y="1950720"/>
            <a:chExt cx="3455380" cy="1694022"/>
          </a:xfrm>
        </p:grpSpPr>
        <p:sp>
          <p:nvSpPr>
            <p:cNvPr id="54" name="Rectangle 54"/>
            <p:cNvSpPr/>
            <p:nvPr/>
          </p:nvSpPr>
          <p:spPr>
            <a:xfrm>
              <a:off x="6922770" y="2093595"/>
              <a:ext cx="19050" cy="1173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6789420" y="1950720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883044" y="20245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789420" y="253841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83044" y="26122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789420" y="3125152"/>
              <a:ext cx="285750" cy="28575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883044" y="31989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201662" y="1983105"/>
              <a:ext cx="9796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第一步 读取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202805" y="2250281"/>
              <a:ext cx="30419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reader.read(src) 把源文件读成明文字符串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201662" y="2569845"/>
              <a:ext cx="9796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第二步 加密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202805" y="2837021"/>
              <a:ext cx="2702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cipher.encrypt(明文) 返回密文字符串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201662" y="3156585"/>
              <a:ext cx="9796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第三步 保存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202805" y="3424714"/>
              <a:ext cx="27856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writer.write(密文, des) 写进目标文件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6789420" y="3812858"/>
            <a:ext cx="4869180" cy="1813560"/>
            <a:chOff x="6789420" y="3812858"/>
            <a:chExt cx="4869180" cy="1813560"/>
          </a:xfrm>
        </p:grpSpPr>
        <p:sp>
          <p:nvSpPr>
            <p:cNvPr id="68" name="Rectangle 68"/>
            <p:cNvSpPr/>
            <p:nvPr/>
          </p:nvSpPr>
          <p:spPr>
            <a:xfrm>
              <a:off x="6789420" y="3812858"/>
              <a:ext cx="4869180" cy="1813560"/>
            </a:xfrm>
            <a:prstGeom prst="roundRect">
              <a:avLst>
                <a:gd name="adj" fmla="val 73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798945" y="3946208"/>
              <a:ext cx="47625" cy="154686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019925" y="400526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111365" y="403955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603617" y="4045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两个子系统类改了名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013067" y="4379595"/>
              <a:ext cx="4282821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课件里这两个类叫 FileReader、FileWriter，和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java.io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的同名类撞车；而它们内部恰好要用 java.io 的流来读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写文件，同名类互相遮蔽，看代码时极易认错。讲义改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名为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FileRead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FileWrite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80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5" name="Rectangle 7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1040892" y="6023610"/>
              <a:ext cx="5498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三个子系统类彼此不认识，谁先谁后由外观类的 fileEncrypt 决定。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488561" cy="909257"/>
            <a:chOff x="520446" y="342900"/>
            <a:chExt cx="448856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48856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实例二的代码与一次完整推演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ode-1"/>
          <p:cNvGrpSpPr/>
          <p:nvPr/>
        </p:nvGrpSpPr>
        <p:grpSpPr>
          <a:xfrm>
            <a:off x="533400" y="1524000"/>
            <a:ext cx="5842635" cy="4089082"/>
            <a:chOff x="533400" y="1524000"/>
            <a:chExt cx="5842635" cy="408908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089082"/>
            </a:xfrm>
            <a:prstGeom prst="roundRect">
              <a:avLst>
                <a:gd name="adj" fmla="val 232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加密子系统与外观类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4629150"/>
              <a:ext cx="5804535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4799648"/>
              <a:ext cx="5804535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4970145"/>
              <a:ext cx="5804535" cy="17049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61949" y="1936337"/>
              <a:ext cx="4253560" cy="35947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42"/>
                </a:lnSpc>
              </a:pPr>
              <a:r>
                <a:rPr lang="en-US" sz="94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CipherMachine {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子系统：加密 */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 encrypt(String plainText)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es = </a:t>
              </a:r>
              <a:r>
                <a:rPr lang="zh-CN" sz="94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""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4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i &lt; plainText.length(); i++)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es += String.valueOf(plainText.charAt(i) % 7);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4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es;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4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EncryptFacade {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外观类 */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FileRead reader = </a:t>
              </a:r>
              <a:r>
                <a:rPr lang="en-US" sz="94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FileRead();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CipherMachine cipher = </a:t>
              </a:r>
              <a:r>
                <a:rPr lang="en-US" sz="94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CipherMachine();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FileWrite writer = </a:t>
              </a:r>
              <a:r>
                <a:rPr lang="en-US" sz="94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FileWrite();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4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94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fileEncrypt(String src, String des) {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plainStr = reader.read(src);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读 */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String encryptStr = cipher.encrypt(plainStr);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加密 */</a:t>
              </a:r>
              <a:br/>
              <a:r>
                <a:rPr lang="en-US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writer.write(encryptStr, des);                 </a:t>
              </a:r>
              <a:r>
                <a:rPr lang="zh-CN" sz="94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写 */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4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2" name="c2-table-1"/>
          <p:cNvGrpSpPr/>
          <p:nvPr/>
        </p:nvGrpSpPr>
        <p:grpSpPr>
          <a:xfrm>
            <a:off x="6675120" y="1524000"/>
            <a:ext cx="4983480" cy="1586389"/>
            <a:chOff x="6675120" y="1524000"/>
            <a:chExt cx="4983480" cy="1586389"/>
          </a:xfrm>
        </p:grpSpPr>
        <p:sp>
          <p:nvSpPr>
            <p:cNvPr id="14" name="Rectangle 14"/>
            <p:cNvSpPr/>
            <p:nvPr/>
          </p:nvSpPr>
          <p:spPr>
            <a:xfrm>
              <a:off x="6680835" y="1524000"/>
              <a:ext cx="4977765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093267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131355" y="1655445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871231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673483" y="1655445"/>
              <a:ext cx="63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55486" y="1655445"/>
              <a:ext cx="630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215333" y="16554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786182" y="2085022"/>
              <a:ext cx="6307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ASCII 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91792" y="2085022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784603" y="208502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101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565653" y="208502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47655" y="208502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108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128705" y="2085022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111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680835" y="237934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680835" y="2384108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786182" y="2515552"/>
              <a:ext cx="691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7 取余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13621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7345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65450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43650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21755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6680835" y="1524000"/>
              <a:ext cx="4977765" cy="129063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7835265" y="152400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528685" y="152400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9309735" y="152400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090785" y="152400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10872788" y="1524000"/>
              <a:ext cx="9525" cy="129063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675120" y="2890361"/>
              <a:ext cx="21290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明文 "Hello" 加密后得到 23336</a:t>
              </a:r>
            </a:p>
          </p:txBody>
        </p:sp>
      </p:grpSp>
      <p:grpSp>
        <p:nvGrpSpPr>
          <p:cNvPr id="49" name="c2-card-2"/>
          <p:cNvGrpSpPr/>
          <p:nvPr/>
        </p:nvGrpSpPr>
        <p:grpSpPr>
          <a:xfrm>
            <a:off x="6680835" y="3250882"/>
            <a:ext cx="4977765" cy="2361248"/>
            <a:chOff x="6680835" y="3250882"/>
            <a:chExt cx="4977765" cy="2361248"/>
          </a:xfrm>
        </p:grpSpPr>
        <p:sp>
          <p:nvSpPr>
            <p:cNvPr id="43" name="Rectangle 43"/>
            <p:cNvSpPr/>
            <p:nvPr/>
          </p:nvSpPr>
          <p:spPr>
            <a:xfrm>
              <a:off x="6680835" y="3250882"/>
              <a:ext cx="4977765" cy="2361248"/>
            </a:xfrm>
            <a:prstGeom prst="roundRect">
              <a:avLst>
                <a:gd name="adj" fmla="val 56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690360" y="3384232"/>
              <a:ext cx="47625" cy="209454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922770" y="345471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013931" y="349043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补充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24179" y="3495199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课件只给了类图，没给加密算法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915531" y="3846671"/>
              <a:ext cx="4315587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这里补的是最简单的替换算法：每个字符的 ASCII 码对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 取余，拼成数字串。它会丢掉信息、无法还原，只用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来看清三个子系统的调用顺序。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50" name="Rectangle 50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511" y="6004084"/>
              <a:ext cx="81563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客户端只写一行 facade.fileEncrypt("src.txt", "des.txt")，三个子系统类一个也不出现。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实例三：采购和销售都只认一个财务接口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647563" cy="264033"/>
            <a:chOff x="526542" y="1545907"/>
            <a:chExt cx="5647563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6475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陈伟老师课件的例子。一个子系统，也可以是另一个子系统的客户端。</a:t>
              </a:r>
            </a:p>
          </p:txBody>
        </p:sp>
      </p:grpSp>
      <p:grpSp>
        <p:nvGrpSpPr>
          <p:cNvPr id="23" name="c1-graph-1"/>
          <p:cNvGrpSpPr/>
          <p:nvPr/>
        </p:nvGrpSpPr>
        <p:grpSpPr>
          <a:xfrm>
            <a:off x="1129665" y="2185988"/>
            <a:ext cx="4596765" cy="1581150"/>
            <a:chOff x="1129665" y="2185988"/>
            <a:chExt cx="4596765" cy="1581150"/>
          </a:xfrm>
        </p:grpSpPr>
        <p:sp>
          <p:nvSpPr>
            <p:cNvPr id="9" name="Freeform 9"/>
            <p:cNvSpPr/>
            <p:nvPr/>
          </p:nvSpPr>
          <p:spPr>
            <a:xfrm>
              <a:off x="1954530" y="2426018"/>
              <a:ext cx="1125855" cy="398145"/>
            </a:xfrm>
            <a:custGeom>
              <a:avLst/>
              <a:gdLst/>
              <a:ahLst/>
              <a:cxnLst/>
              <a:rect l="l" t="t" r="r" b="b"/>
              <a:pathLst>
                <a:path w="1125855" h="398145">
                  <a:moveTo>
                    <a:pt x="0" y="0"/>
                  </a:moveTo>
                  <a:lnTo>
                    <a:pt x="1125855" y="398145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0" name="Freeform 10"/>
            <p:cNvSpPr/>
            <p:nvPr/>
          </p:nvSpPr>
          <p:spPr>
            <a:xfrm>
              <a:off x="3064192" y="2779395"/>
              <a:ext cx="105728" cy="90488"/>
            </a:xfrm>
            <a:custGeom>
              <a:avLst/>
              <a:gdLst/>
              <a:ahLst/>
              <a:cxnLst/>
              <a:rect l="l" t="t" r="r" b="b"/>
              <a:pathLst>
                <a:path w="105728" h="90488">
                  <a:moveTo>
                    <a:pt x="105728" y="77152"/>
                  </a:moveTo>
                  <a:lnTo>
                    <a:pt x="0" y="90488"/>
                  </a:lnTo>
                  <a:lnTo>
                    <a:pt x="32385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1954530" y="3128010"/>
              <a:ext cx="1125855" cy="399098"/>
            </a:xfrm>
            <a:custGeom>
              <a:avLst/>
              <a:gdLst/>
              <a:ahLst/>
              <a:cxnLst/>
              <a:rect l="l" t="t" r="r" b="b"/>
              <a:pathLst>
                <a:path w="1125855" h="399098">
                  <a:moveTo>
                    <a:pt x="0" y="399098"/>
                  </a:moveTo>
                  <a:lnTo>
                    <a:pt x="1125855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  <a:custDash>
                <a:ds d="333333" sp="222222"/>
              </a:custDash>
            </a:ln>
          </p:spPr>
        </p:sp>
        <p:sp>
          <p:nvSpPr>
            <p:cNvPr id="12" name="Freeform 12"/>
            <p:cNvSpPr/>
            <p:nvPr/>
          </p:nvSpPr>
          <p:spPr>
            <a:xfrm>
              <a:off x="3064192" y="3083242"/>
              <a:ext cx="105728" cy="89535"/>
            </a:xfrm>
            <a:custGeom>
              <a:avLst/>
              <a:gdLst/>
              <a:ahLst/>
              <a:cxnLst/>
              <a:rect l="l" t="t" r="r" b="b"/>
              <a:pathLst>
                <a:path w="105728" h="89535">
                  <a:moveTo>
                    <a:pt x="105728" y="13335"/>
                  </a:moveTo>
                  <a:lnTo>
                    <a:pt x="32385" y="895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3910965" y="2976562"/>
              <a:ext cx="747712" cy="9525"/>
            </a:xfrm>
            <a:custGeom>
              <a:avLst/>
              <a:gdLst/>
              <a:ahLst/>
              <a:cxnLst/>
              <a:rect l="l" t="t" r="r" b="b"/>
              <a:pathLst>
                <a:path w="747712" h="9525">
                  <a:moveTo>
                    <a:pt x="0" y="0"/>
                  </a:moveTo>
                  <a:lnTo>
                    <a:pt x="747712" y="0"/>
                  </a:lnTo>
                </a:path>
              </a:pathLst>
            </a:custGeom>
            <a:noFill/>
            <a:ln w="17145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658678" y="2928938"/>
              <a:ext cx="95250" cy="95250"/>
            </a:xfrm>
            <a:custGeom>
              <a:avLst/>
              <a:gdLst/>
              <a:ahLst/>
              <a:cxnLst/>
              <a:rect l="l" t="t" r="r" b="b"/>
              <a:pathLst>
                <a:path w="95250" h="95250">
                  <a:moveTo>
                    <a:pt x="95250" y="47625"/>
                  </a:moveTo>
                  <a:lnTo>
                    <a:pt x="0" y="95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2937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129665" y="2185988"/>
              <a:ext cx="972502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129665" y="3527108"/>
              <a:ext cx="972502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107055" y="2856548"/>
              <a:ext cx="804862" cy="240030"/>
            </a:xfrm>
            <a:prstGeom prst="roundRect">
              <a:avLst>
                <a:gd name="adj" fmla="val 39683"/>
              </a:avLst>
            </a:prstGeom>
            <a:solidFill>
              <a:srgbClr val="FDEEE7"/>
            </a:solidFill>
            <a:ln w="17145">
              <a:solidFill>
                <a:srgbClr val="F26B3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4753928" y="2856548"/>
              <a:ext cx="972502" cy="240030"/>
            </a:xfrm>
            <a:prstGeom prst="roundRect">
              <a:avLst>
                <a:gd name="adj" fmla="val 39683"/>
              </a:avLst>
            </a:prstGeom>
            <a:solidFill>
              <a:srgbClr val="FFFFFF"/>
            </a:solidFill>
            <a:ln w="17145">
              <a:solidFill>
                <a:srgbClr val="5B3FA0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307782" y="224980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采购子系统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07782" y="359092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销售子系统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261932" y="2920365"/>
              <a:ext cx="4941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财务接口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932998" y="2920365"/>
              <a:ext cx="6153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财务子系统</a:t>
              </a:r>
            </a:p>
          </p:txBody>
        </p:sp>
      </p:grpSp>
      <p:grpSp>
        <p:nvGrpSpPr>
          <p:cNvPr id="31" name="c1-card-2"/>
          <p:cNvGrpSpPr/>
          <p:nvPr/>
        </p:nvGrpSpPr>
        <p:grpSpPr>
          <a:xfrm>
            <a:off x="533400" y="4193858"/>
            <a:ext cx="5410200" cy="1463992"/>
            <a:chOff x="533400" y="4193858"/>
            <a:chExt cx="5410200" cy="1463992"/>
          </a:xfrm>
        </p:grpSpPr>
        <p:sp>
          <p:nvSpPr>
            <p:cNvPr id="24" name="Rectangle 24"/>
            <p:cNvSpPr/>
            <p:nvPr/>
          </p:nvSpPr>
          <p:spPr>
            <a:xfrm>
              <a:off x="533400" y="4193858"/>
              <a:ext cx="5410200" cy="1463992"/>
            </a:xfrm>
            <a:prstGeom prst="roundRect">
              <a:avLst>
                <a:gd name="adj" fmla="val 91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327208"/>
              <a:ext cx="47625" cy="11972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58190" y="43805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0862" y="44134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23784" y="441579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虚线画的是依赖，不是继承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1332" y="4741545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采购、销售只依赖财务接口这一个名字，财务子系统里有哪些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类、怎么分工，它们都看不见。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2475" y="5295424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接口背后换一套实现，采购和销售的代码不用动</a:t>
              </a:r>
            </a:p>
          </p:txBody>
        </p:sp>
      </p:grpSp>
      <p:grpSp>
        <p:nvGrpSpPr>
          <p:cNvPr id="38" name="c2-card-1"/>
          <p:cNvGrpSpPr/>
          <p:nvPr/>
        </p:nvGrpSpPr>
        <p:grpSpPr>
          <a:xfrm>
            <a:off x="6248400" y="1928812"/>
            <a:ext cx="5410200" cy="1459230"/>
            <a:chOff x="6248400" y="1928812"/>
            <a:chExt cx="5410200" cy="1459230"/>
          </a:xfrm>
        </p:grpSpPr>
        <p:sp>
          <p:nvSpPr>
            <p:cNvPr id="32" name="Rectangle 32"/>
            <p:cNvSpPr/>
            <p:nvPr/>
          </p:nvSpPr>
          <p:spPr>
            <a:xfrm>
              <a:off x="6248400" y="1928812"/>
              <a:ext cx="5410200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257925" y="2062162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473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65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038784" y="215074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外观也可以是一个接口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466332" y="2476500"/>
              <a:ext cx="48143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财务子系统对外只暴露一个入口，采购和销售都通过它记账。财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务内部拆成凭证、总账、报表几个类，外面两个子系统不需要知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道。</a:t>
              </a:r>
            </a:p>
          </p:txBody>
        </p:sp>
      </p:grpSp>
      <p:grpSp>
        <p:nvGrpSpPr>
          <p:cNvPr id="44" name="c2-kv-2"/>
          <p:cNvGrpSpPr/>
          <p:nvPr/>
        </p:nvGrpSpPr>
        <p:grpSpPr>
          <a:xfrm>
            <a:off x="6241542" y="3580448"/>
            <a:ext cx="5417058" cy="1163192"/>
            <a:chOff x="6241542" y="3580448"/>
            <a:chExt cx="5417058" cy="1163192"/>
          </a:xfrm>
        </p:grpSpPr>
        <p:sp>
          <p:nvSpPr>
            <p:cNvPr id="39" name="TextBox 39"/>
            <p:cNvSpPr txBox="1"/>
            <p:nvPr/>
          </p:nvSpPr>
          <p:spPr>
            <a:xfrm>
              <a:off x="6241542" y="358044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接口的粒度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560754" y="3580448"/>
              <a:ext cx="380276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按业务动作定，比如“记一笔账”，而不是把内部方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法一条条转发出来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248400" y="41205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241542" y="42262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换实现不影响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60754" y="4226242"/>
              <a:ext cx="37856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财务子系统整个换掉，只要这个接口不变，采购和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销售就不用改</a:t>
              </a:r>
            </a:p>
          </p:txBody>
        </p:sp>
      </p:grpSp>
      <p:grpSp>
        <p:nvGrpSpPr>
          <p:cNvPr id="51" name="c2-callout-3"/>
          <p:cNvGrpSpPr/>
          <p:nvPr/>
        </p:nvGrpSpPr>
        <p:grpSpPr>
          <a:xfrm>
            <a:off x="6248400" y="4861560"/>
            <a:ext cx="5410200" cy="796290"/>
            <a:chOff x="6248400" y="4861560"/>
            <a:chExt cx="5410200" cy="796290"/>
          </a:xfrm>
        </p:grpSpPr>
        <p:sp>
          <p:nvSpPr>
            <p:cNvPr id="45" name="Rectangle 45"/>
            <p:cNvSpPr/>
            <p:nvPr/>
          </p:nvSpPr>
          <p:spPr>
            <a:xfrm>
              <a:off x="6248400" y="4861560"/>
              <a:ext cx="5410200" cy="796290"/>
            </a:xfrm>
            <a:prstGeom prst="roundRect">
              <a:avLst>
                <a:gd name="adj" fmla="val 1435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6453188" y="5159693"/>
              <a:ext cx="200026" cy="200025"/>
              <a:chOff x="6453188" y="5159693"/>
              <a:chExt cx="200026" cy="20002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6453188" y="515969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492926" y="520414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6527642" y="531526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6755892" y="5040630"/>
              <a:ext cx="421424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企业系统里常说的服务层、门面 Bean，用的就是这个做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法。</a:t>
              </a:r>
            </a:p>
          </p:txBody>
        </p:sp>
      </p:grpSp>
      <p:grpSp>
        <p:nvGrpSpPr>
          <p:cNvPr id="5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2" name="Rectangle 5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7" name="TextBox 57"/>
            <p:cNvSpPr txBox="1"/>
            <p:nvPr/>
          </p:nvSpPr>
          <p:spPr>
            <a:xfrm>
              <a:off x="1040892" y="6028373"/>
              <a:ext cx="66834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外观角色写成接口时，具体外观类可以有多个，这就是第 28 页抽象外观类的雏形。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9" name="TextBox 5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实例四：游戏引擎是显卡接口之上的一层门面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193667" cy="264033"/>
            <a:chOff x="526542" y="1545907"/>
            <a:chExt cx="4193667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层次化结构里，每一层的入口都可以做成一个外观。</a:t>
              </a:r>
            </a:p>
          </p:txBody>
        </p:sp>
      </p:grpSp>
      <p:grpSp>
        <p:nvGrpSpPr>
          <p:cNvPr id="33" name="c1-flow-1"/>
          <p:cNvGrpSpPr/>
          <p:nvPr/>
        </p:nvGrpSpPr>
        <p:grpSpPr>
          <a:xfrm>
            <a:off x="722948" y="1933575"/>
            <a:ext cx="5031105" cy="2241232"/>
            <a:chOff x="722948" y="1933575"/>
            <a:chExt cx="5031105" cy="2241232"/>
          </a:xfrm>
        </p:grpSpPr>
        <p:sp>
          <p:nvSpPr>
            <p:cNvPr id="9" name="Freeform 9"/>
            <p:cNvSpPr/>
            <p:nvPr/>
          </p:nvSpPr>
          <p:spPr>
            <a:xfrm>
              <a:off x="1885950" y="2510790"/>
              <a:ext cx="9525" cy="586740"/>
            </a:xfrm>
            <a:custGeom>
              <a:avLst/>
              <a:gdLst/>
              <a:ahLst/>
              <a:cxnLst/>
              <a:rect l="l" t="t" r="r" b="b"/>
              <a:pathLst>
                <a:path w="9525" h="586740">
                  <a:moveTo>
                    <a:pt x="0" y="0"/>
                  </a:moveTo>
                  <a:lnTo>
                    <a:pt x="0" y="58674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1833562" y="30975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1" name="Freeform 11"/>
            <p:cNvSpPr/>
            <p:nvPr/>
          </p:nvSpPr>
          <p:spPr>
            <a:xfrm>
              <a:off x="4591050" y="2414588"/>
              <a:ext cx="9525" cy="96203"/>
            </a:xfrm>
            <a:custGeom>
              <a:avLst/>
              <a:gdLst/>
              <a:ahLst/>
              <a:cxnLst/>
              <a:rect l="l" t="t" r="r" b="b"/>
              <a:pathLst>
                <a:path w="9525" h="96203">
                  <a:moveTo>
                    <a:pt x="0" y="0"/>
                  </a:moveTo>
                  <a:lnTo>
                    <a:pt x="0" y="9620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4538662" y="251079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3" name="Freeform 13"/>
            <p:cNvSpPr/>
            <p:nvPr/>
          </p:nvSpPr>
          <p:spPr>
            <a:xfrm>
              <a:off x="1885950" y="3001328"/>
              <a:ext cx="2705100" cy="100965"/>
            </a:xfrm>
            <a:custGeom>
              <a:avLst/>
              <a:gdLst/>
              <a:ahLst/>
              <a:cxnLst/>
              <a:rect l="l" t="t" r="r" b="b"/>
              <a:pathLst>
                <a:path w="2705100" h="100965">
                  <a:moveTo>
                    <a:pt x="2705100" y="0"/>
                  </a:moveTo>
                  <a:lnTo>
                    <a:pt x="2705100" y="100965"/>
                  </a:lnTo>
                  <a:lnTo>
                    <a:pt x="0" y="100965"/>
                  </a:lnTo>
                  <a:lnTo>
                    <a:pt x="0" y="9620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833562" y="30975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5" name="Freeform 15"/>
            <p:cNvSpPr/>
            <p:nvPr/>
          </p:nvSpPr>
          <p:spPr>
            <a:xfrm>
              <a:off x="4591050" y="3001328"/>
              <a:ext cx="9525" cy="96202"/>
            </a:xfrm>
            <a:custGeom>
              <a:avLst/>
              <a:gdLst/>
              <a:ahLst/>
              <a:cxnLst/>
              <a:rect l="l" t="t" r="r" b="b"/>
              <a:pathLst>
                <a:path w="9525" h="96202">
                  <a:moveTo>
                    <a:pt x="0" y="0"/>
                  </a:moveTo>
                  <a:lnTo>
                    <a:pt x="0" y="96202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4538662" y="309753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7" name="Freeform 17"/>
            <p:cNvSpPr/>
            <p:nvPr/>
          </p:nvSpPr>
          <p:spPr>
            <a:xfrm>
              <a:off x="1885950" y="3588068"/>
              <a:ext cx="1352550" cy="100965"/>
            </a:xfrm>
            <a:custGeom>
              <a:avLst/>
              <a:gdLst/>
              <a:ahLst/>
              <a:cxnLst/>
              <a:rect l="l" t="t" r="r" b="b"/>
              <a:pathLst>
                <a:path w="1352550" h="100965">
                  <a:moveTo>
                    <a:pt x="0" y="0"/>
                  </a:moveTo>
                  <a:lnTo>
                    <a:pt x="0" y="100965"/>
                  </a:lnTo>
                  <a:lnTo>
                    <a:pt x="1352550" y="100965"/>
                  </a:lnTo>
                  <a:lnTo>
                    <a:pt x="1352550" y="9620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186112" y="36842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19" name="Freeform 19"/>
            <p:cNvSpPr/>
            <p:nvPr/>
          </p:nvSpPr>
          <p:spPr>
            <a:xfrm>
              <a:off x="3238500" y="3588068"/>
              <a:ext cx="1352550" cy="100965"/>
            </a:xfrm>
            <a:custGeom>
              <a:avLst/>
              <a:gdLst/>
              <a:ahLst/>
              <a:cxnLst/>
              <a:rect l="l" t="t" r="r" b="b"/>
              <a:pathLst>
                <a:path w="1352550" h="100965">
                  <a:moveTo>
                    <a:pt x="1352550" y="0"/>
                  </a:moveTo>
                  <a:lnTo>
                    <a:pt x="1352550" y="100965"/>
                  </a:lnTo>
                  <a:lnTo>
                    <a:pt x="0" y="100965"/>
                  </a:lnTo>
                  <a:lnTo>
                    <a:pt x="0" y="96203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186112" y="36842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22948" y="1933575"/>
              <a:ext cx="2326005" cy="578168"/>
            </a:xfrm>
            <a:prstGeom prst="roundRect">
              <a:avLst>
                <a:gd name="adj" fmla="val 16474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428048" y="2028825"/>
              <a:ext cx="232600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428048" y="2615565"/>
              <a:ext cx="2326005" cy="385762"/>
            </a:xfrm>
            <a:prstGeom prst="roundRect">
              <a:avLst>
                <a:gd name="adj" fmla="val 24691"/>
              </a:avLst>
            </a:prstGeom>
            <a:solidFill>
              <a:srgbClr val="EEEAF7"/>
            </a:solidFill>
            <a:ln w="19050">
              <a:solidFill>
                <a:srgbClr val="5B3FA0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22948" y="3202305"/>
              <a:ext cx="232600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428048" y="3202305"/>
              <a:ext cx="2326005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12495" y="3789045"/>
              <a:ext cx="4652962" cy="385762"/>
            </a:xfrm>
            <a:prstGeom prst="roundRect">
              <a:avLst>
                <a:gd name="adj" fmla="val 24691"/>
              </a:avLst>
            </a:prstGeom>
            <a:solidFill>
              <a:srgbClr val="FFFFFF"/>
            </a:solidFill>
            <a:ln w="15240">
              <a:solidFill>
                <a:srgbClr val="5B3FA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432179" y="2047399"/>
              <a:ext cx="907542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 Windows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应用程序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323044" y="2143601"/>
              <a:ext cx="5360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3D 游戏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283786" y="273034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游戏引擎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440799" y="3317081"/>
              <a:ext cx="8903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Windows API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09552" y="3317081"/>
              <a:ext cx="562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DirectX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403526" y="390382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操作系统内核与硬件驱动</a:t>
              </a:r>
            </a:p>
          </p:txBody>
        </p:sp>
      </p:grpSp>
      <p:grpSp>
        <p:nvGrpSpPr>
          <p:cNvPr id="40" name="c1-card-2"/>
          <p:cNvGrpSpPr/>
          <p:nvPr/>
        </p:nvGrpSpPr>
        <p:grpSpPr>
          <a:xfrm>
            <a:off x="533400" y="4445318"/>
            <a:ext cx="5410200" cy="1202055"/>
            <a:chOff x="533400" y="4445318"/>
            <a:chExt cx="5410200" cy="1202055"/>
          </a:xfrm>
        </p:grpSpPr>
        <p:sp>
          <p:nvSpPr>
            <p:cNvPr id="34" name="Rectangle 34"/>
            <p:cNvSpPr/>
            <p:nvPr/>
          </p:nvSpPr>
          <p:spPr>
            <a:xfrm>
              <a:off x="533400" y="4445318"/>
              <a:ext cx="5410200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42925" y="4578668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58190" y="463200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0862" y="466486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323784" y="466725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箭头一律从上往下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51332" y="4993005"/>
              <a:ext cx="48143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上层调用下层，下层从不回头调用上层。游戏引擎这一层同时挡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住了 DirectX 和 Windows API 两套接口。</a:t>
              </a:r>
            </a:p>
          </p:txBody>
        </p:sp>
      </p:grpSp>
      <p:grpSp>
        <p:nvGrpSpPr>
          <p:cNvPr id="47" name="c2-card-1"/>
          <p:cNvGrpSpPr/>
          <p:nvPr/>
        </p:nvGrpSpPr>
        <p:grpSpPr>
          <a:xfrm>
            <a:off x="6248400" y="1928812"/>
            <a:ext cx="5410200" cy="1459230"/>
            <a:chOff x="6248400" y="1928812"/>
            <a:chExt cx="5410200" cy="1459230"/>
          </a:xfrm>
        </p:grpSpPr>
        <p:sp>
          <p:nvSpPr>
            <p:cNvPr id="41" name="Rectangle 41"/>
            <p:cNvSpPr/>
            <p:nvPr/>
          </p:nvSpPr>
          <p:spPr>
            <a:xfrm>
              <a:off x="6248400" y="1928812"/>
              <a:ext cx="5410200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257925" y="2062162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3190" y="21155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565862" y="21483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38784" y="215074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每一层只认下一层的门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66332" y="2476500"/>
              <a:ext cx="4797171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3D 游戏不直接调 DirectX，而是调游戏引擎，引擎再去调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DirectX 和 Windows API。换一块显卡、换一套图形接口，改的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是引擎，不是游戏。</a:t>
              </a:r>
            </a:p>
          </p:txBody>
        </p:sp>
      </p:grpSp>
      <p:grpSp>
        <p:nvGrpSpPr>
          <p:cNvPr id="53" name="c2-kv-2"/>
          <p:cNvGrpSpPr/>
          <p:nvPr/>
        </p:nvGrpSpPr>
        <p:grpSpPr>
          <a:xfrm>
            <a:off x="6241542" y="3580448"/>
            <a:ext cx="5417058" cy="1163192"/>
            <a:chOff x="6241542" y="3580448"/>
            <a:chExt cx="5417058" cy="1163192"/>
          </a:xfrm>
        </p:grpSpPr>
        <p:sp>
          <p:nvSpPr>
            <p:cNvPr id="48" name="TextBox 48"/>
            <p:cNvSpPr txBox="1"/>
            <p:nvPr/>
          </p:nvSpPr>
          <p:spPr>
            <a:xfrm>
              <a:off x="6241542" y="358044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层次化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203567" y="3580448"/>
              <a:ext cx="412851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层与层之间不直接产生联系，通过外观类建立联系，降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低层间耦合度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6248400" y="4120515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241542" y="422624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仍可越层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203567" y="4226242"/>
              <a:ext cx="4059936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普通 Windows 程序照样直接调 Windows API，外观不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封路</a:t>
              </a:r>
            </a:p>
          </p:txBody>
        </p:sp>
      </p:grpSp>
      <p:grpSp>
        <p:nvGrpSpPr>
          <p:cNvPr id="60" name="c2-callout-3"/>
          <p:cNvGrpSpPr/>
          <p:nvPr/>
        </p:nvGrpSpPr>
        <p:grpSpPr>
          <a:xfrm>
            <a:off x="6248400" y="4861560"/>
            <a:ext cx="5410200" cy="786765"/>
            <a:chOff x="6248400" y="4861560"/>
            <a:chExt cx="5410200" cy="786765"/>
          </a:xfrm>
        </p:grpSpPr>
        <p:sp>
          <p:nvSpPr>
            <p:cNvPr id="54" name="Rectangle 54"/>
            <p:cNvSpPr/>
            <p:nvPr/>
          </p:nvSpPr>
          <p:spPr>
            <a:xfrm>
              <a:off x="6248400" y="4861560"/>
              <a:ext cx="5410200" cy="786765"/>
            </a:xfrm>
            <a:prstGeom prst="roundRect">
              <a:avLst>
                <a:gd name="adj" fmla="val 1452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441129" y="5151238"/>
              <a:ext cx="224134" cy="192560"/>
              <a:chOff x="6441129" y="5151238"/>
              <a:chExt cx="224134" cy="1925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553200" y="522160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441129" y="515123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553200" y="52993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755892" y="5035868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分层不是越多越好，每加一层外观就多一次转发，调试时也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多一层要跟进去看。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61" name="Rectangle 61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892" y="6028373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在层次化结构中用外观定义每一层的入口，是课件列出的三种适用场景之一。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42075" cy="909257"/>
            <a:chOff x="520446" y="342900"/>
            <a:chExt cx="824207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069782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7331" y="407194"/>
              <a:ext cx="19228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课件里的四个实例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420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模式应用：JDBC 外观与 Java EE 的 SessionFacade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5626418" cy="2521268"/>
            <a:chOff x="533400" y="1524000"/>
            <a:chExt cx="5626418" cy="25212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521268"/>
            </a:xfrm>
            <a:prstGeom prst="roundRect">
              <a:avLst>
                <a:gd name="adj" fmla="val 37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79335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JDBCFacade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575"/>
              <a:ext cx="4372864" cy="2019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JDBCFacade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Connection conn =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Statement statement =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open(String driver, String jdbcUrl,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     String userName, String userPwd) {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建立连接 */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executeUpdate(String sql) {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增删改 */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0;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ResultSet executeQuery(String sql) {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查询 */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null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;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86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close() {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关闭语句和连接 */</a:t>
              </a:r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4214812"/>
            <a:ext cx="5626418" cy="1463992"/>
            <a:chOff x="533400" y="4214812"/>
            <a:chExt cx="5626418" cy="1463992"/>
          </a:xfrm>
        </p:grpSpPr>
        <p:sp>
          <p:nvSpPr>
            <p:cNvPr id="11" name="Rectangle 11"/>
            <p:cNvSpPr/>
            <p:nvPr/>
          </p:nvSpPr>
          <p:spPr>
            <a:xfrm>
              <a:off x="533400" y="4214812"/>
              <a:ext cx="5626418" cy="1463992"/>
            </a:xfrm>
            <a:prstGeom prst="roundRect">
              <a:avLst>
                <a:gd name="adj" fmla="val 91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4348162"/>
              <a:ext cx="47625" cy="11972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8190" y="4401502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35609" y="443436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为什么值得包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21942" y="443674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三个对象总是成套出现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1332" y="4762500"/>
              <a:ext cx="49857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先创建 Connection，再由它创建 Statement，查询语句还要接住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ResultSet。大部分数据操作代码里这三个对象反复出现，客户端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用外观类之后只剩四个方法。</a:t>
              </a:r>
            </a:p>
          </p:txBody>
        </p:sp>
      </p:grpSp>
      <p:grpSp>
        <p:nvGrpSpPr>
          <p:cNvPr id="51" name="c2-uml-1"/>
          <p:cNvGrpSpPr/>
          <p:nvPr/>
        </p:nvGrpSpPr>
        <p:grpSpPr>
          <a:xfrm>
            <a:off x="6551295" y="1590675"/>
            <a:ext cx="5042423" cy="2167890"/>
            <a:chOff x="6551295" y="1590675"/>
            <a:chExt cx="5042423" cy="2167890"/>
          </a:xfrm>
        </p:grpSpPr>
        <p:sp>
          <p:nvSpPr>
            <p:cNvPr id="18" name="Freeform 18"/>
            <p:cNvSpPr/>
            <p:nvPr/>
          </p:nvSpPr>
          <p:spPr>
            <a:xfrm>
              <a:off x="7901940" y="2155508"/>
              <a:ext cx="393382" cy="9525"/>
            </a:xfrm>
            <a:custGeom>
              <a:avLst/>
              <a:gdLst/>
              <a:ahLst/>
              <a:cxnLst/>
              <a:rect l="l" t="t" r="r" b="b"/>
              <a:pathLst>
                <a:path w="393382" h="9525">
                  <a:moveTo>
                    <a:pt x="0" y="0"/>
                  </a:moveTo>
                  <a:lnTo>
                    <a:pt x="393382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190548" y="2097405"/>
              <a:ext cx="104775" cy="115253"/>
            </a:xfrm>
            <a:custGeom>
              <a:avLst/>
              <a:gdLst/>
              <a:ahLst/>
              <a:cxnLst/>
              <a:rect l="l" t="t" r="r" b="b"/>
              <a:pathLst>
                <a:path w="104775" h="115253">
                  <a:moveTo>
                    <a:pt x="0" y="115253"/>
                  </a:moveTo>
                  <a:lnTo>
                    <a:pt x="104775" y="58103"/>
                  </a:ln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7330440" y="2719388"/>
              <a:ext cx="1731645" cy="357188"/>
            </a:xfrm>
            <a:custGeom>
              <a:avLst/>
              <a:gdLst/>
              <a:ahLst/>
              <a:cxnLst/>
              <a:rect l="l" t="t" r="r" b="b"/>
              <a:pathLst>
                <a:path w="1731645" h="357188">
                  <a:moveTo>
                    <a:pt x="1731645" y="0"/>
                  </a:moveTo>
                  <a:lnTo>
                    <a:pt x="1731645" y="179070"/>
                  </a:lnTo>
                  <a:lnTo>
                    <a:pt x="0" y="179070"/>
                  </a:lnTo>
                  <a:lnTo>
                    <a:pt x="0" y="357188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7273290" y="2971800"/>
              <a:ext cx="114300" cy="104775"/>
            </a:xfrm>
            <a:custGeom>
              <a:avLst/>
              <a:gdLst/>
              <a:ahLst/>
              <a:cxnLst/>
              <a:rect l="l" t="t" r="r" b="b"/>
              <a:pathLst>
                <a:path w="114300" h="104775">
                  <a:moveTo>
                    <a:pt x="0" y="0"/>
                  </a:moveTo>
                  <a:lnTo>
                    <a:pt x="57150" y="104775"/>
                  </a:lnTo>
                  <a:lnTo>
                    <a:pt x="1143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9062085" y="2719388"/>
              <a:ext cx="1730692" cy="357188"/>
            </a:xfrm>
            <a:custGeom>
              <a:avLst/>
              <a:gdLst/>
              <a:ahLst/>
              <a:cxnLst/>
              <a:rect l="l" t="t" r="r" b="b"/>
              <a:pathLst>
                <a:path w="1730692" h="357188">
                  <a:moveTo>
                    <a:pt x="0" y="0"/>
                  </a:moveTo>
                  <a:lnTo>
                    <a:pt x="0" y="179070"/>
                  </a:lnTo>
                  <a:lnTo>
                    <a:pt x="1730692" y="179070"/>
                  </a:lnTo>
                  <a:lnTo>
                    <a:pt x="1730692" y="357188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10735628" y="2971800"/>
              <a:ext cx="115253" cy="104775"/>
            </a:xfrm>
            <a:custGeom>
              <a:avLst/>
              <a:gdLst/>
              <a:ahLst/>
              <a:cxnLst/>
              <a:rect l="l" t="t" r="r" b="b"/>
              <a:pathLst>
                <a:path w="115253" h="104775">
                  <a:moveTo>
                    <a:pt x="0" y="0"/>
                  </a:moveTo>
                  <a:lnTo>
                    <a:pt x="57150" y="104775"/>
                  </a:lnTo>
                  <a:lnTo>
                    <a:pt x="11525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758940" y="1951672"/>
              <a:ext cx="1143000" cy="4076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766560" y="195834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758940" y="216408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758940" y="2259330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295322" y="1590675"/>
              <a:ext cx="1532572" cy="1128712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8302942" y="1598295"/>
              <a:ext cx="1518285" cy="33528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295322" y="1928812"/>
              <a:ext cx="153257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8295322" y="2322195"/>
              <a:ext cx="1532572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551295" y="3076575"/>
              <a:ext cx="1558290" cy="68199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558915" y="3084195"/>
              <a:ext cx="1544002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551295" y="3414712"/>
              <a:ext cx="155829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551295" y="3509962"/>
              <a:ext cx="155829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013632" y="3076575"/>
              <a:ext cx="1558290" cy="68199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021252" y="3084195"/>
              <a:ext cx="1544002" cy="33528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10013632" y="3414712"/>
              <a:ext cx="155829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0013632" y="3509962"/>
              <a:ext cx="155829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37219" y="2003108"/>
              <a:ext cx="7864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ClientObject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729501" y="1639252"/>
              <a:ext cx="665169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«EJBSession»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614606" y="1767840"/>
              <a:ext cx="89495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SessionFacade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66760" y="1996916"/>
              <a:ext cx="1389380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object1: BusinessObject1</a:t>
              </a:r>
            </a:p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- objectN: BusinessObjectN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66760" y="2390299"/>
              <a:ext cx="1358138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businessMethod1(): void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businessMethod2(): void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25513" y="3125152"/>
              <a:ext cx="60985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«EJBEntity»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815905" y="3253740"/>
              <a:ext cx="1029070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BusinessObject1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22732" y="3578066"/>
              <a:ext cx="15086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businessMethodA1(): void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87850" y="3125152"/>
              <a:ext cx="60985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«EJBEntity»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276607" y="3253740"/>
              <a:ext cx="10323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BusinessObjectN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085070" y="3578066"/>
              <a:ext cx="150864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businessMethodN1(): void</a:t>
              </a:r>
            </a:p>
          </p:txBody>
        </p:sp>
      </p:grpSp>
      <p:grpSp>
        <p:nvGrpSpPr>
          <p:cNvPr id="58" name="c2-card-2"/>
          <p:cNvGrpSpPr/>
          <p:nvPr/>
        </p:nvGrpSpPr>
        <p:grpSpPr>
          <a:xfrm>
            <a:off x="6464618" y="4219575"/>
            <a:ext cx="5193982" cy="1459230"/>
            <a:chOff x="6464618" y="4219575"/>
            <a:chExt cx="5193982" cy="1459230"/>
          </a:xfrm>
        </p:grpSpPr>
        <p:sp>
          <p:nvSpPr>
            <p:cNvPr id="52" name="Rectangle 52"/>
            <p:cNvSpPr/>
            <p:nvPr/>
          </p:nvSpPr>
          <p:spPr>
            <a:xfrm>
              <a:off x="6464618" y="4219575"/>
              <a:ext cx="5193982" cy="1459230"/>
            </a:xfrm>
            <a:prstGeom prst="roundRect">
              <a:avLst>
                <a:gd name="adj" fmla="val 91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474142" y="4352925"/>
              <a:ext cx="47625" cy="119253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689408" y="44062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782079" y="44391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255954" y="4440555"/>
              <a:ext cx="18694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Java EE 里的会话门面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82549" y="4767262"/>
              <a:ext cx="460857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客户端只调一次会话 Bean 的业务方法，里面访问多个实体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Bean。实体 Bean 的数量和调用顺序都被这个会话 Bean 挡住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了。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59" name="Rectangle 59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6028373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这两个例子里的子系统都是现成类库，外观模式在自己写的代码里加一层，不用改类库。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852160" cy="2997517"/>
            <a:chOff x="667512" y="1835468"/>
            <a:chExt cx="585216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85216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效果、适用环境与三个扩展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用在什么地方，以及标准结构还能怎么改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优点与缺点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三种适用场景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多个外观、不加新行为、抽象外观类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效果、适用环境与三个扩展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优点：客户端少认识一大堆对象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bullets-1"/>
          <p:cNvGrpSpPr/>
          <p:nvPr/>
        </p:nvGrpSpPr>
        <p:grpSpPr>
          <a:xfrm>
            <a:off x="533400" y="1545907"/>
            <a:ext cx="5867933" cy="2104550"/>
            <a:chOff x="533400" y="1545907"/>
            <a:chExt cx="5867933" cy="2104550"/>
          </a:xfrm>
        </p:grpSpPr>
        <p:sp>
          <p:nvSpPr>
            <p:cNvPr id="7" name="Freeform 7"/>
            <p:cNvSpPr/>
            <p:nvPr/>
          </p:nvSpPr>
          <p:spPr>
            <a:xfrm>
              <a:off x="533400" y="157448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7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70382" y="1545907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对客户端屏蔽了子系统组件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777240" y="1873568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62025" y="1810226"/>
              <a:ext cx="5439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减少了客户端要处理的对象数目，子系统用起来更容易，客户端代码也随之变简单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533400" y="2114550"/>
              <a:ext cx="129540" cy="105727"/>
            </a:xfrm>
            <a:custGeom>
              <a:avLst/>
              <a:gdLst/>
              <a:ahLst/>
              <a:cxnLst/>
              <a:rect l="l" t="t" r="r" b="b"/>
              <a:pathLst>
                <a:path w="129540" h="105727">
                  <a:moveTo>
                    <a:pt x="0" y="56198"/>
                  </a:moveTo>
                  <a:lnTo>
                    <a:pt x="49530" y="105727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70382" y="208597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子系统与客户端之间变成松耦合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77240" y="2413635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62025" y="2350294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子系统的变化不会影响到调用它的客户端，需要调整时只改外观类</a:t>
              </a:r>
            </a:p>
          </p:txBody>
        </p:sp>
        <p:sp>
          <p:nvSpPr>
            <p:cNvPr id="15" name="Freeform 15"/>
            <p:cNvSpPr/>
            <p:nvPr/>
          </p:nvSpPr>
          <p:spPr>
            <a:xfrm>
              <a:off x="533400" y="2654618"/>
              <a:ext cx="129540" cy="105728"/>
            </a:xfrm>
            <a:custGeom>
              <a:avLst/>
              <a:gdLst/>
              <a:ahLst/>
              <a:cxnLst/>
              <a:rect l="l" t="t" r="r" b="b"/>
              <a:pathLst>
                <a:path w="129540" h="105728">
                  <a:moveTo>
                    <a:pt x="0" y="56198"/>
                  </a:moveTo>
                  <a:lnTo>
                    <a:pt x="49530" y="105728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70382" y="262699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不妨碍用户直接使用子系统类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77240" y="2953702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62025" y="2890361"/>
              <a:ext cx="468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外观只是提供一个访问子系统的统一入口，需要精细控制时仍能绕过它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33400" y="319563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70382" y="316706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帮助划分访问的层次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77240" y="3493770"/>
              <a:ext cx="64770" cy="19050"/>
            </a:xfrm>
            <a:prstGeom prst="rect">
              <a:avLst/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62025" y="3430429"/>
              <a:ext cx="5439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要暴露给外部的功能集中到外观里，内部用的方法留在子系统中，细节因此藏起来</a:t>
              </a:r>
            </a:p>
          </p:txBody>
        </p:sp>
      </p:grpSp>
      <p:grpSp>
        <p:nvGrpSpPr>
          <p:cNvPr id="44" name="c1-compare-2"/>
          <p:cNvGrpSpPr/>
          <p:nvPr/>
        </p:nvGrpSpPr>
        <p:grpSpPr>
          <a:xfrm>
            <a:off x="533400" y="3781425"/>
            <a:ext cx="6059804" cy="1543050"/>
            <a:chOff x="533400" y="3781425"/>
            <a:chExt cx="6059804" cy="1543050"/>
          </a:xfrm>
        </p:grpSpPr>
        <p:sp>
          <p:nvSpPr>
            <p:cNvPr id="24" name="Rectangle 24"/>
            <p:cNvSpPr/>
            <p:nvPr/>
          </p:nvSpPr>
          <p:spPr>
            <a:xfrm>
              <a:off x="533400" y="3781425"/>
              <a:ext cx="2820352" cy="1543050"/>
            </a:xfrm>
            <a:prstGeom prst="roundRect">
              <a:avLst>
                <a:gd name="adj" fmla="val 86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3914775"/>
              <a:ext cx="47625" cy="12763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7047" y="399669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引入外观前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72478" y="437197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28497" y="431577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客户端认识 n 个子系统类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72478" y="467487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8497" y="4618672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调用顺序写在每个客户端里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72478" y="497776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28497" y="49215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子系统一改，客户端全改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772852" y="3781425"/>
              <a:ext cx="2820352" cy="1543050"/>
            </a:xfrm>
            <a:prstGeom prst="roundRect">
              <a:avLst>
                <a:gd name="adj" fmla="val 864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3782378" y="3914775"/>
              <a:ext cx="47625" cy="127635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3996500" y="399669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引入外观后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4011930" y="437197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167950" y="4315778"/>
              <a:ext cx="20400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客户端只认识 1 个外观类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4011930" y="4674870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167950" y="461867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调用顺序收在外观类里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4011930" y="4977765"/>
              <a:ext cx="59055" cy="5905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167950" y="49215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子系统的改动挡在外观内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3401378" y="439102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477849" y="4492466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50" name="c2-card-1"/>
          <p:cNvGrpSpPr/>
          <p:nvPr/>
        </p:nvGrpSpPr>
        <p:grpSpPr>
          <a:xfrm>
            <a:off x="6898005" y="1524000"/>
            <a:ext cx="4760595" cy="1483995"/>
            <a:chOff x="6898005" y="1524000"/>
            <a:chExt cx="4760595" cy="1483995"/>
          </a:xfrm>
        </p:grpSpPr>
        <p:sp>
          <p:nvSpPr>
            <p:cNvPr id="45" name="Rectangle 45"/>
            <p:cNvSpPr/>
            <p:nvPr/>
          </p:nvSpPr>
          <p:spPr>
            <a:xfrm>
              <a:off x="6898005" y="1524000"/>
              <a:ext cx="4760595" cy="1483995"/>
            </a:xfrm>
            <a:prstGeom prst="roundRect">
              <a:avLst>
                <a:gd name="adj" fmla="val 898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090410" y="1716405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73849" y="1750695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落到原则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40802" y="175641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它把迪米特法则落成了一个类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083552" y="2090738"/>
              <a:ext cx="41285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外观对象把客户端所涉及的协作伙伴数量减到最少，客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户端与子系统内部对象的相互作用被外观对象取代。这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正是迪米特法则要的效果。</a:t>
              </a:r>
            </a:p>
          </p:txBody>
        </p:sp>
      </p:grpSp>
      <p:grpSp>
        <p:nvGrpSpPr>
          <p:cNvPr id="57" name="c2-card-2"/>
          <p:cNvGrpSpPr/>
          <p:nvPr/>
        </p:nvGrpSpPr>
        <p:grpSpPr>
          <a:xfrm>
            <a:off x="6898005" y="3183255"/>
            <a:ext cx="4760595" cy="2141220"/>
            <a:chOff x="6898005" y="3183255"/>
            <a:chExt cx="4760595" cy="2141220"/>
          </a:xfrm>
        </p:grpSpPr>
        <p:sp>
          <p:nvSpPr>
            <p:cNvPr id="51" name="Rectangle 51"/>
            <p:cNvSpPr/>
            <p:nvPr/>
          </p:nvSpPr>
          <p:spPr>
            <a:xfrm>
              <a:off x="6898005" y="3183255"/>
              <a:ext cx="4760595" cy="2141220"/>
            </a:xfrm>
            <a:prstGeom prst="roundRect">
              <a:avLst>
                <a:gd name="adj" fmla="val 62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907530" y="3316605"/>
              <a:ext cx="47625" cy="187452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128510" y="337566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207948" y="34099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附带的好处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112252" y="341566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对子系统也省事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21652" y="3749040"/>
              <a:ext cx="412851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子系统类不必再为各式各样的客户端准备各种接口，它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们只面对外观这一个调用方，接口可以保持在最朴素的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状态。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8" name="Rectangle 58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892" y="6023610"/>
              <a:ext cx="5883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这四条里最实在的是第一条，客户端要记住的类名直接从 n 个降到 1 个。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652332" cy="909257"/>
            <a:chOff x="520446" y="342900"/>
            <a:chExt cx="26523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效果、适用环境与三个扩展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42887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缺点与适用环境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410200" cy="1621155"/>
            <a:chOff x="533400" y="1524000"/>
            <a:chExt cx="5410200" cy="1621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7308" y="176926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24000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限制不住客户端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外观模式不能很好地限制客户端直接使用子系统类。如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果对客户端访问子系统类做太多的限制，又会减少可变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性和灵活性。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3335655"/>
            <a:ext cx="5410200" cy="2310765"/>
            <a:chOff x="533400" y="3335655"/>
            <a:chExt cx="5410200" cy="2310765"/>
          </a:xfrm>
        </p:grpSpPr>
        <p:sp>
          <p:nvSpPr>
            <p:cNvPr id="14" name="Rectangle 14"/>
            <p:cNvSpPr/>
            <p:nvPr/>
          </p:nvSpPr>
          <p:spPr>
            <a:xfrm>
              <a:off x="533400" y="3335655"/>
              <a:ext cx="5410200" cy="2310765"/>
            </a:xfrm>
            <a:prstGeom prst="roundRect">
              <a:avLst>
                <a:gd name="adj" fmla="val 577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542925" y="3469005"/>
              <a:ext cx="47625" cy="20440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81050" y="354520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7308" y="358092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缺点二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24000" y="3580448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增加子系统可能要改外观类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73430" y="3941445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如果设计不当，增加新的子系统需要修改外观类的源代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码，违背了开闭原则。外观类管的子系统越多，它被改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动的机会也越多。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248400" y="1524000"/>
            <a:ext cx="5410200" cy="3148965"/>
            <a:chOff x="6248400" y="1524000"/>
            <a:chExt cx="5410200" cy="3148965"/>
          </a:xfrm>
        </p:grpSpPr>
        <p:sp>
          <p:nvSpPr>
            <p:cNvPr id="21" name="Rectangle 21"/>
            <p:cNvSpPr/>
            <p:nvPr/>
          </p:nvSpPr>
          <p:spPr>
            <a:xfrm>
              <a:off x="6248400" y="1524000"/>
              <a:ext cx="5410200" cy="3148965"/>
            </a:xfrm>
            <a:prstGeom prst="roundRect">
              <a:avLst>
                <a:gd name="adj" fmla="val 423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6257925" y="1657350"/>
              <a:ext cx="47625" cy="288226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96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78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适用环境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80923" y="1768792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出现这三种情况可以用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6496050" y="211645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57899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97040" y="2129790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要为一个复杂子系统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提供一个简单接口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。这个接口能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满足大多数用户的需求，用户也可以越过外观类直接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访问子系统。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6496050" y="302323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7899" y="306552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797040" y="3036570"/>
              <a:ext cx="4396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客户端程序与多个子系统之间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存在很大的依赖性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。引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入外观类可以将子系统与客户端解耦，提高子系统的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独立性和可移植性。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496050" y="393001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57899" y="39723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797040" y="3943350"/>
              <a:ext cx="4396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层次化结构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中，用外观模式定义系统中每一层的入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口，层与层之间通过外观类建立联系。</a:t>
              </a:r>
            </a:p>
          </p:txBody>
        </p:sp>
      </p:grpSp>
      <p:grpSp>
        <p:nvGrpSpPr>
          <p:cNvPr id="42" name="c2-callout-2"/>
          <p:cNvGrpSpPr/>
          <p:nvPr/>
        </p:nvGrpSpPr>
        <p:grpSpPr>
          <a:xfrm>
            <a:off x="6248400" y="4863465"/>
            <a:ext cx="5410200" cy="782955"/>
            <a:chOff x="6248400" y="4863465"/>
            <a:chExt cx="5410200" cy="782955"/>
          </a:xfrm>
        </p:grpSpPr>
        <p:sp>
          <p:nvSpPr>
            <p:cNvPr id="36" name="Rectangle 36"/>
            <p:cNvSpPr/>
            <p:nvPr/>
          </p:nvSpPr>
          <p:spPr>
            <a:xfrm>
              <a:off x="6248400" y="486346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6441129" y="5151238"/>
              <a:ext cx="224134" cy="192560"/>
              <a:chOff x="6441129" y="5151238"/>
              <a:chExt cx="224134" cy="19256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6553200" y="522160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441129" y="515123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553200" y="52993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6755130" y="501205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子系统只有一两个类、客户端也只有一个时，加外观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只是多写一个转发类。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3" name="Rectangle 43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995990"/>
              <a:ext cx="200023" cy="200023"/>
              <a:chOff x="738188" y="5995990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59959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130" y="5991225"/>
              <a:ext cx="62952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缺点那两条都不是“类太多”，考试里看到这个选项要能认出来是错的。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效果、适用环境与三个扩展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扩展一：一个系统可以有多个外观类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871210" cy="293370"/>
            <a:chOff x="525780" y="1548765"/>
            <a:chExt cx="5871210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8712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通常只要一个，并且常做成单例，但这不等于全系统只准有一个。</a:t>
              </a:r>
            </a:p>
          </p:txBody>
        </p:sp>
      </p:grpSp>
      <p:grpSp>
        <p:nvGrpSpPr>
          <p:cNvPr id="15" name="c1-card-1"/>
          <p:cNvGrpSpPr/>
          <p:nvPr/>
        </p:nvGrpSpPr>
        <p:grpSpPr>
          <a:xfrm>
            <a:off x="533400" y="1954530"/>
            <a:ext cx="5626418" cy="1811655"/>
            <a:chOff x="533400" y="1954530"/>
            <a:chExt cx="5626418" cy="1811655"/>
          </a:xfrm>
        </p:grpSpPr>
        <p:sp>
          <p:nvSpPr>
            <p:cNvPr id="9" name="Rectangle 9"/>
            <p:cNvSpPr/>
            <p:nvPr/>
          </p:nvSpPr>
          <p:spPr>
            <a:xfrm>
              <a:off x="533400" y="1954530"/>
              <a:ext cx="5626418" cy="1811655"/>
            </a:xfrm>
            <a:prstGeom prst="roundRect">
              <a:avLst>
                <a:gd name="adj" fmla="val 736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87880"/>
              <a:ext cx="47625" cy="15449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9620" y="215265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3059" y="218694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课件原话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19631" y="218741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一个外观类只有一个实例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381" y="2531269"/>
              <a:ext cx="4883658" cy="109308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外观模式中通常只需要一个外观类，并且此外观类只有一个实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例，换言之它是一个单例类。很多情况下为了节约系统资源，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一般将外观类设计为单例类。一个系统中可以设计多个外观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类，每个外观类都负责和一些特定的子系统交互。</a:t>
              </a:r>
            </a:p>
          </p:txBody>
        </p:sp>
      </p:grpSp>
      <p:grpSp>
        <p:nvGrpSpPr>
          <p:cNvPr id="19" name="c1-code-2"/>
          <p:cNvGrpSpPr/>
          <p:nvPr/>
        </p:nvGrpSpPr>
        <p:grpSpPr>
          <a:xfrm>
            <a:off x="533400" y="3946208"/>
            <a:ext cx="5626418" cy="1640205"/>
            <a:chOff x="533400" y="3946208"/>
            <a:chExt cx="5626418" cy="1640205"/>
          </a:xfrm>
        </p:grpSpPr>
        <p:sp>
          <p:nvSpPr>
            <p:cNvPr id="16" name="Rectangle 16"/>
            <p:cNvSpPr/>
            <p:nvPr/>
          </p:nvSpPr>
          <p:spPr>
            <a:xfrm>
              <a:off x="533400" y="3946208"/>
              <a:ext cx="5626418" cy="1640205"/>
            </a:xfrm>
            <a:prstGeom prst="roundRect">
              <a:avLst>
                <a:gd name="adj" fmla="val 5807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61797" y="4098131"/>
              <a:ext cx="106532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做成单例的外观类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1416" y="4359592"/>
              <a:ext cx="4637913" cy="11530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class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Facade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final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Facade INSTANCE =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new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Facade();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private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Facade() { }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外面 new 不出来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static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Facade getInstance() {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INSTANCE;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public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050" b="1" dirty="0">
                  <a:solidFill>
                    <a:srgbClr val="5B3FA0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method() {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转发给子系统 */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5" name="c2-kv-1"/>
          <p:cNvGrpSpPr/>
          <p:nvPr/>
        </p:nvGrpSpPr>
        <p:grpSpPr>
          <a:xfrm>
            <a:off x="6457379" y="1977866"/>
            <a:ext cx="5201221" cy="694945"/>
            <a:chOff x="6457379" y="1977866"/>
            <a:chExt cx="5201221" cy="694945"/>
          </a:xfrm>
        </p:grpSpPr>
        <p:sp>
          <p:nvSpPr>
            <p:cNvPr id="20" name="TextBox 20"/>
            <p:cNvSpPr txBox="1"/>
            <p:nvPr/>
          </p:nvSpPr>
          <p:spPr>
            <a:xfrm>
              <a:off x="6457379" y="1977866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按业务分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56551" y="1977866"/>
              <a:ext cx="34553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订单外观、结算外观、报表外观各管一组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464618" y="228123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57379" y="2394109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按层次分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56551" y="2394109"/>
              <a:ext cx="402884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每一层一个外观，上层只认识下一层的那个外观</a:t>
              </a:r>
            </a:p>
          </p:txBody>
        </p:sp>
      </p:grpSp>
      <p:grpSp>
        <p:nvGrpSpPr>
          <p:cNvPr id="31" name="c2-card-2"/>
          <p:cNvGrpSpPr/>
          <p:nvPr/>
        </p:nvGrpSpPr>
        <p:grpSpPr>
          <a:xfrm>
            <a:off x="6464618" y="2797492"/>
            <a:ext cx="5193982" cy="1540192"/>
            <a:chOff x="6464618" y="2797492"/>
            <a:chExt cx="5193982" cy="1540192"/>
          </a:xfrm>
        </p:grpSpPr>
        <p:sp>
          <p:nvSpPr>
            <p:cNvPr id="26" name="Rectangle 26"/>
            <p:cNvSpPr/>
            <p:nvPr/>
          </p:nvSpPr>
          <p:spPr>
            <a:xfrm>
              <a:off x="6464618" y="2797492"/>
              <a:ext cx="5193982" cy="1540192"/>
            </a:xfrm>
            <a:prstGeom prst="roundRect">
              <a:avLst>
                <a:gd name="adj" fmla="val 8658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62738" y="299561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54178" y="302990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46048" y="3030379"/>
              <a:ext cx="269072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做成单例的条件是外观类无状态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55498" y="3374231"/>
              <a:ext cx="4522978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外观类只持有子系统对象的引用、不保存某一次调用的中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间结果时，才适合做成单例。它要是记住了上一次调用的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数据，多个客户端就会互相看见对方的东西。</a:t>
              </a:r>
            </a:p>
          </p:txBody>
        </p:sp>
      </p:grpSp>
      <p:grpSp>
        <p:nvGrpSpPr>
          <p:cNvPr id="38" name="c2-callout-3"/>
          <p:cNvGrpSpPr/>
          <p:nvPr/>
        </p:nvGrpSpPr>
        <p:grpSpPr>
          <a:xfrm>
            <a:off x="6464618" y="4517708"/>
            <a:ext cx="5193982" cy="1068705"/>
            <a:chOff x="6464618" y="4517708"/>
            <a:chExt cx="5193982" cy="1068705"/>
          </a:xfrm>
        </p:grpSpPr>
        <p:sp>
          <p:nvSpPr>
            <p:cNvPr id="32" name="Rectangle 32"/>
            <p:cNvSpPr/>
            <p:nvPr/>
          </p:nvSpPr>
          <p:spPr>
            <a:xfrm>
              <a:off x="6464618" y="4517708"/>
              <a:ext cx="5193982" cy="1068705"/>
            </a:xfrm>
            <a:prstGeom prst="roundRect">
              <a:avLst>
                <a:gd name="adj" fmla="val 10695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669405" y="4952048"/>
              <a:ext cx="200026" cy="200025"/>
              <a:chOff x="6669405" y="4952048"/>
              <a:chExt cx="200026" cy="200025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669405" y="495204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709144" y="499649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743859" y="510762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971729" y="4952524"/>
              <a:ext cx="378033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单例的四种写法和线程安全问题见第 15 讲。</a:t>
              </a:r>
            </a:p>
          </p:txBody>
        </p:sp>
      </p:grpSp>
      <p:grpSp>
        <p:nvGrpSpPr>
          <p:cNvPr id="45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9" name="Rectangle 39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6011228"/>
              <a:ext cx="200026" cy="200026"/>
              <a:chOff x="738188" y="6011228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601122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7088" y="611124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6011704"/>
              <a:ext cx="613161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多个外观类之间互不知道对方，它们只是各自包住了自己那一组子系统。</a:t>
              </a:r>
            </a:p>
          </p:txBody>
        </p:sp>
      </p:grpSp>
      <p:grpSp>
        <p:nvGrpSpPr>
          <p:cNvPr id="4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6" name="TextBox 4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效果、适用环境与三个扩展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扩展二：不要用外观类给子系统添新行为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2527935"/>
            <a:chOff x="533400" y="1524000"/>
            <a:chExt cx="5410200" cy="252793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527935"/>
            </a:xfrm>
            <a:prstGeom prst="roundRect">
              <a:avLst>
                <a:gd name="adj" fmla="val 527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6123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错误做法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继承外观类来加功能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5872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不要通过继承一个外观类在子系统中加入新的行为，这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种做法是错误的。外观模式的用意是为子系统提供一个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集中化和简化的沟通渠道，而不是向子系统加入新的行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73430" y="3322320"/>
              <a:ext cx="4587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新行为的增加应该通过修改原有子系统类、或者增加新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的子系统类来实现。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4242435"/>
            <a:ext cx="5410200" cy="1000125"/>
            <a:chOff x="533400" y="4242435"/>
            <a:chExt cx="5410200" cy="1000125"/>
          </a:xfrm>
        </p:grpSpPr>
        <p:sp>
          <p:nvSpPr>
            <p:cNvPr id="15" name="Rectangle 15"/>
            <p:cNvSpPr/>
            <p:nvPr/>
          </p:nvSpPr>
          <p:spPr>
            <a:xfrm>
              <a:off x="533400" y="4242435"/>
              <a:ext cx="5410200" cy="1000125"/>
            </a:xfrm>
            <a:prstGeom prst="roundRect">
              <a:avLst>
                <a:gd name="adj" fmla="val 1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26129" y="4638793"/>
              <a:ext cx="224134" cy="192560"/>
              <a:chOff x="726129" y="4638793"/>
              <a:chExt cx="224134" cy="19256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838200" y="470916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26129" y="463879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38200" y="47869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0130" y="4499610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判断题常考这一条：能不能通过继承外观类为子系统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扩展功能，答案是不能。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248400" y="1524000"/>
            <a:ext cx="5410200" cy="1906905"/>
            <a:chOff x="6248400" y="1524000"/>
            <a:chExt cx="5410200" cy="1906905"/>
          </a:xfrm>
        </p:grpSpPr>
        <p:sp>
          <p:nvSpPr>
            <p:cNvPr id="22" name="Rectangle 22"/>
            <p:cNvSpPr/>
            <p:nvPr/>
          </p:nvSpPr>
          <p:spPr>
            <a:xfrm>
              <a:off x="6248400" y="1524000"/>
              <a:ext cx="5410200" cy="1906905"/>
            </a:xfrm>
            <a:prstGeom prst="roundRect">
              <a:avLst>
                <a:gd name="adj" fmla="val 6993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457950" y="1733550"/>
              <a:ext cx="1062990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31407" y="176926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与原则的关系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7620" y="1768792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外观类是客户类与子系统之间的第三者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50330" y="2129790"/>
              <a:ext cx="4777740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外观模式创造出一个外观对象，把客户端所涉及的、属于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一个子系统的协作伙伴的数量减到最少。它降低了客户类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与子系统类之间的耦合度，可以在不影响客户类的情况下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完成子系统内部的维护和扩展。</a:t>
              </a:r>
            </a:p>
          </p:txBody>
        </p:sp>
      </p:grpSp>
      <p:grpSp>
        <p:nvGrpSpPr>
          <p:cNvPr id="34" name="c2-card-2"/>
          <p:cNvGrpSpPr/>
          <p:nvPr/>
        </p:nvGrpSpPr>
        <p:grpSpPr>
          <a:xfrm>
            <a:off x="6248400" y="3621405"/>
            <a:ext cx="5410200" cy="1621155"/>
            <a:chOff x="6248400" y="3621405"/>
            <a:chExt cx="5410200" cy="1621155"/>
          </a:xfrm>
        </p:grpSpPr>
        <p:sp>
          <p:nvSpPr>
            <p:cNvPr id="28" name="Rectangle 28"/>
            <p:cNvSpPr/>
            <p:nvPr/>
          </p:nvSpPr>
          <p:spPr>
            <a:xfrm>
              <a:off x="6248400" y="3621405"/>
              <a:ext cx="5410200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57925" y="3754755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96050" y="3830955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582308" y="386667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重构时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239000" y="3866198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一段代码同时调七八个类，就是加外观的信号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8430" y="4227195"/>
              <a:ext cx="45872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先把这些调用原样挪进一个新类，再让原来的调用方只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认识这个新类。外观模式是实现代码重构、达到迪米特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法则要求的常用手段。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5" name="Rectangle 3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130" y="5991225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挪进外观类的那些调用，顺序和参数都不要动，重构的这一步不应该改变行为。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63937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9627" y="407194"/>
              <a:ext cx="25259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效果、适用环境与三个扩展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扩展三：抽象外观类，把开闭原则补回来一点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101459" cy="264033"/>
            <a:chOff x="526542" y="1545907"/>
            <a:chExt cx="710145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1014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换一个子系统就要改外观类。让客户端针对抽象外观编程，原来那个外观类就不用动了。</a:t>
              </a:r>
            </a:p>
          </p:txBody>
        </p:sp>
      </p:grpSp>
      <p:grpSp>
        <p:nvGrpSpPr>
          <p:cNvPr id="54" name="c1-uml-1"/>
          <p:cNvGrpSpPr/>
          <p:nvPr/>
        </p:nvGrpSpPr>
        <p:grpSpPr>
          <a:xfrm>
            <a:off x="917258" y="2021205"/>
            <a:ext cx="5075872" cy="2337435"/>
            <a:chOff x="917258" y="2021205"/>
            <a:chExt cx="5075872" cy="2337435"/>
          </a:xfrm>
        </p:grpSpPr>
        <p:sp>
          <p:nvSpPr>
            <p:cNvPr id="9" name="Freeform 9"/>
            <p:cNvSpPr/>
            <p:nvPr/>
          </p:nvSpPr>
          <p:spPr>
            <a:xfrm>
              <a:off x="1506855" y="2819400"/>
              <a:ext cx="1947862" cy="92392"/>
            </a:xfrm>
            <a:custGeom>
              <a:avLst/>
              <a:gdLst/>
              <a:ahLst/>
              <a:cxnLst/>
              <a:rect l="l" t="t" r="r" b="b"/>
              <a:pathLst>
                <a:path w="1947862" h="92392">
                  <a:moveTo>
                    <a:pt x="0" y="92392"/>
                  </a:moveTo>
                  <a:lnTo>
                    <a:pt x="0" y="0"/>
                  </a:lnTo>
                  <a:lnTo>
                    <a:pt x="1947862" y="0"/>
                  </a:lnTo>
                  <a:lnTo>
                    <a:pt x="1947862" y="3238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381375" y="272605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454718" y="2819400"/>
              <a:ext cx="1947863" cy="92392"/>
            </a:xfrm>
            <a:custGeom>
              <a:avLst/>
              <a:gdLst/>
              <a:ahLst/>
              <a:cxnLst/>
              <a:rect l="l" t="t" r="r" b="b"/>
              <a:pathLst>
                <a:path w="1947863" h="92392">
                  <a:moveTo>
                    <a:pt x="1947863" y="92392"/>
                  </a:moveTo>
                  <a:lnTo>
                    <a:pt x="1947863" y="0"/>
                  </a:lnTo>
                  <a:lnTo>
                    <a:pt x="0" y="0"/>
                  </a:lnTo>
                  <a:lnTo>
                    <a:pt x="0" y="3238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381375" y="2726055"/>
              <a:ext cx="146685" cy="125730"/>
            </a:xfrm>
            <a:custGeom>
              <a:avLst/>
              <a:gdLst/>
              <a:ahLst/>
              <a:cxnLst/>
              <a:rect l="l" t="t" r="r" b="b"/>
              <a:pathLst>
                <a:path w="146685" h="125730">
                  <a:moveTo>
                    <a:pt x="73342" y="0"/>
                  </a:moveTo>
                  <a:lnTo>
                    <a:pt x="146685" y="125730"/>
                  </a:lnTo>
                  <a:lnTo>
                    <a:pt x="0" y="125730"/>
                  </a:lnTo>
                  <a:close/>
                </a:path>
              </a:pathLst>
            </a:custGeom>
            <a:solidFill>
              <a:srgbClr val="FFFFFF"/>
            </a:solidFill>
            <a:ln w="15240">
              <a:solidFill>
                <a:srgbClr val="1F2937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1506855" y="3617595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449705" y="3846195"/>
              <a:ext cx="115253" cy="104775"/>
            </a:xfrm>
            <a:custGeom>
              <a:avLst/>
              <a:gdLst/>
              <a:ahLst/>
              <a:cxnLst/>
              <a:rect l="l" t="t" r="r" b="b"/>
              <a:pathLst>
                <a:path w="115253" h="104775">
                  <a:moveTo>
                    <a:pt x="0" y="0"/>
                  </a:moveTo>
                  <a:lnTo>
                    <a:pt x="57150" y="104775"/>
                  </a:lnTo>
                  <a:lnTo>
                    <a:pt x="11525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506855" y="3617595"/>
              <a:ext cx="1947862" cy="333375"/>
            </a:xfrm>
            <a:custGeom>
              <a:avLst/>
              <a:gdLst/>
              <a:ahLst/>
              <a:cxnLst/>
              <a:rect l="l" t="t" r="r" b="b"/>
              <a:pathLst>
                <a:path w="1947862" h="333375">
                  <a:moveTo>
                    <a:pt x="0" y="0"/>
                  </a:moveTo>
                  <a:lnTo>
                    <a:pt x="0" y="166688"/>
                  </a:lnTo>
                  <a:lnTo>
                    <a:pt x="1947862" y="166688"/>
                  </a:lnTo>
                  <a:lnTo>
                    <a:pt x="1947862" y="33337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3397568" y="3846195"/>
              <a:ext cx="115253" cy="104775"/>
            </a:xfrm>
            <a:custGeom>
              <a:avLst/>
              <a:gdLst/>
              <a:ahLst/>
              <a:cxnLst/>
              <a:rect l="l" t="t" r="r" b="b"/>
              <a:pathLst>
                <a:path w="115253" h="104775">
                  <a:moveTo>
                    <a:pt x="0" y="0"/>
                  </a:moveTo>
                  <a:lnTo>
                    <a:pt x="57150" y="104775"/>
                  </a:lnTo>
                  <a:lnTo>
                    <a:pt x="11525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3454718" y="3617595"/>
              <a:ext cx="1947863" cy="333375"/>
            </a:xfrm>
            <a:custGeom>
              <a:avLst/>
              <a:gdLst/>
              <a:ahLst/>
              <a:cxnLst/>
              <a:rect l="l" t="t" r="r" b="b"/>
              <a:pathLst>
                <a:path w="1947863" h="333375">
                  <a:moveTo>
                    <a:pt x="1947863" y="0"/>
                  </a:moveTo>
                  <a:lnTo>
                    <a:pt x="1947863" y="166688"/>
                  </a:lnTo>
                  <a:lnTo>
                    <a:pt x="0" y="166688"/>
                  </a:lnTo>
                  <a:lnTo>
                    <a:pt x="0" y="33337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397568" y="3846195"/>
              <a:ext cx="115253" cy="104775"/>
            </a:xfrm>
            <a:custGeom>
              <a:avLst/>
              <a:gdLst/>
              <a:ahLst/>
              <a:cxnLst/>
              <a:rect l="l" t="t" r="r" b="b"/>
              <a:pathLst>
                <a:path w="115253" h="104775">
                  <a:moveTo>
                    <a:pt x="0" y="0"/>
                  </a:moveTo>
                  <a:lnTo>
                    <a:pt x="57150" y="104775"/>
                  </a:lnTo>
                  <a:lnTo>
                    <a:pt x="115253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402580" y="3617595"/>
              <a:ext cx="9525" cy="333375"/>
            </a:xfrm>
            <a:custGeom>
              <a:avLst/>
              <a:gdLst/>
              <a:ahLst/>
              <a:cxnLst/>
              <a:rect l="l" t="t" r="r" b="b"/>
              <a:pathLst>
                <a:path w="9525" h="333375">
                  <a:moveTo>
                    <a:pt x="0" y="0"/>
                  </a:moveTo>
                  <a:lnTo>
                    <a:pt x="0" y="333375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5345430" y="3846195"/>
              <a:ext cx="114300" cy="104775"/>
            </a:xfrm>
            <a:custGeom>
              <a:avLst/>
              <a:gdLst/>
              <a:ahLst/>
              <a:cxnLst/>
              <a:rect l="l" t="t" r="r" b="b"/>
              <a:pathLst>
                <a:path w="114300" h="104775">
                  <a:moveTo>
                    <a:pt x="0" y="0"/>
                  </a:moveTo>
                  <a:lnTo>
                    <a:pt x="57150" y="104775"/>
                  </a:lnTo>
                  <a:lnTo>
                    <a:pt x="114300" y="0"/>
                  </a:lnTo>
                </a:path>
              </a:pathLst>
            </a:custGeom>
            <a:noFill/>
            <a:ln w="15240">
              <a:solidFill>
                <a:srgbClr val="1F2937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883218" y="2021205"/>
              <a:ext cx="11430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2890838" y="2028825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883218" y="223361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883218" y="2328862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17258" y="2911792"/>
              <a:ext cx="11811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923925" y="2919412"/>
              <a:ext cx="11668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917258" y="3124200"/>
              <a:ext cx="11811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917258" y="3219450"/>
              <a:ext cx="11811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812030" y="2911792"/>
              <a:ext cx="1181100" cy="7048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819650" y="2919412"/>
              <a:ext cx="1166812" cy="20955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812030" y="3124200"/>
              <a:ext cx="11811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812030" y="3219450"/>
              <a:ext cx="11811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35355" y="3950970"/>
              <a:ext cx="1143000" cy="4076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942975" y="395859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935355" y="416337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935355" y="42586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883218" y="3950970"/>
              <a:ext cx="1143000" cy="4076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2890838" y="395859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2883218" y="416337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2883218" y="42586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4831080" y="3950970"/>
              <a:ext cx="1143000" cy="40767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5B3FA0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4838700" y="3958590"/>
              <a:ext cx="1128712" cy="209550"/>
            </a:xfrm>
            <a:prstGeom prst="rect">
              <a:avLst/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831080" y="416337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4831080" y="4258628"/>
              <a:ext cx="1143000" cy="9525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956213" y="2072640"/>
              <a:ext cx="997008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i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AbstractFacade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954655" y="2396966"/>
              <a:ext cx="925957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method1(): void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method2(): void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73084" y="2963228"/>
              <a:ext cx="1067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ConcreteFacade1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8695" y="3287554"/>
              <a:ext cx="925957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method1(): void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method2(): void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868809" y="2963228"/>
              <a:ext cx="106754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ConcreteFacade2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883468" y="3287554"/>
              <a:ext cx="925957" cy="3105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0"/>
                </a:lnSpc>
              </a:pPr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method1(): void</a:t>
              </a:r>
              <a:br/>
              <a:r>
                <a:rPr lang="en-US" sz="8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+ method2(): void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34967" y="4002405"/>
              <a:ext cx="7437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SubSystem1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082829" y="4002405"/>
              <a:ext cx="7437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SubSystem2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030692" y="4002405"/>
              <a:ext cx="74377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SubSystem3</a:t>
              </a:r>
            </a:p>
          </p:txBody>
        </p:sp>
      </p:grpSp>
      <p:grpSp>
        <p:nvGrpSpPr>
          <p:cNvPr id="61" name="c1-card-2"/>
          <p:cNvGrpSpPr/>
          <p:nvPr/>
        </p:nvGrpSpPr>
        <p:grpSpPr>
          <a:xfrm>
            <a:off x="533400" y="4765358"/>
            <a:ext cx="5842635" cy="917258"/>
            <a:chOff x="533400" y="4765358"/>
            <a:chExt cx="5842635" cy="917258"/>
          </a:xfrm>
        </p:grpSpPr>
        <p:sp>
          <p:nvSpPr>
            <p:cNvPr id="55" name="Rectangle 55"/>
            <p:cNvSpPr/>
            <p:nvPr/>
          </p:nvSpPr>
          <p:spPr>
            <a:xfrm>
              <a:off x="533400" y="4765358"/>
              <a:ext cx="5842635" cy="917258"/>
            </a:xfrm>
            <a:prstGeom prst="roundRect">
              <a:avLst>
                <a:gd name="adj" fmla="val 145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542925" y="4898708"/>
              <a:ext cx="47625" cy="65055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752475" y="494633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45147" y="497919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读图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318450" y="4985861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两条继承线，四条关联线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45998" y="5302091"/>
              <a:ext cx="39891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SubSystem2 被两个具体外观同时用到，这很常见。</a:t>
              </a:r>
            </a:p>
          </p:txBody>
        </p:sp>
      </p:grpSp>
      <p:grpSp>
        <p:nvGrpSpPr>
          <p:cNvPr id="68" name="c2-card-1"/>
          <p:cNvGrpSpPr/>
          <p:nvPr/>
        </p:nvGrpSpPr>
        <p:grpSpPr>
          <a:xfrm>
            <a:off x="6680835" y="1928812"/>
            <a:ext cx="4977765" cy="1160145"/>
            <a:chOff x="6680835" y="1928812"/>
            <a:chExt cx="4977765" cy="1160145"/>
          </a:xfrm>
        </p:grpSpPr>
        <p:sp>
          <p:nvSpPr>
            <p:cNvPr id="62" name="Rectangle 62"/>
            <p:cNvSpPr/>
            <p:nvPr/>
          </p:nvSpPr>
          <p:spPr>
            <a:xfrm>
              <a:off x="6680835" y="1928812"/>
              <a:ext cx="4977765" cy="1160145"/>
            </a:xfrm>
            <a:prstGeom prst="roundRect">
              <a:avLst>
                <a:gd name="adj" fmla="val 114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6690360" y="2062162"/>
              <a:ext cx="47625" cy="8934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899910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992582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做法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466838" y="2149316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加一个具体外观类，不改原来的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893433" y="2465546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客户端针对抽象外观类编程。新需求来了就增加一个具体外观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类，由它关联新的子系统对象，再改配置文件换掉外观类。</a:t>
              </a:r>
            </a:p>
          </p:txBody>
        </p:sp>
      </p:grpSp>
      <p:grpSp>
        <p:nvGrpSpPr>
          <p:cNvPr id="72" name="c2-code-2"/>
          <p:cNvGrpSpPr/>
          <p:nvPr/>
        </p:nvGrpSpPr>
        <p:grpSpPr>
          <a:xfrm>
            <a:off x="6680835" y="3253740"/>
            <a:ext cx="4977765" cy="1384935"/>
            <a:chOff x="6680835" y="3253740"/>
            <a:chExt cx="4977765" cy="1384935"/>
          </a:xfrm>
        </p:grpSpPr>
        <p:sp>
          <p:nvSpPr>
            <p:cNvPr id="69" name="Rectangle 69"/>
            <p:cNvSpPr/>
            <p:nvPr/>
          </p:nvSpPr>
          <p:spPr>
            <a:xfrm>
              <a:off x="6680835" y="3253740"/>
              <a:ext cx="4977765" cy="1384935"/>
            </a:xfrm>
            <a:prstGeom prst="roundRect">
              <a:avLst>
                <a:gd name="adj" fmla="val 6878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809232" y="3405664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客户端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809232" y="3666649"/>
              <a:ext cx="3781044" cy="895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String name = XMLUtil.getFacadeName();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读配置文件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AbstractFacade facade = (AbstractFacade)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Class.forName(name)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.getDeclaredConstructor().newInstance();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facade.method1();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反射的受检异常要在外层捕获 */</a:t>
              </a:r>
            </a:p>
          </p:txBody>
        </p:sp>
      </p:grpSp>
      <p:grpSp>
        <p:nvGrpSpPr>
          <p:cNvPr id="79" name="c2-callout-3"/>
          <p:cNvGrpSpPr/>
          <p:nvPr/>
        </p:nvGrpSpPr>
        <p:grpSpPr>
          <a:xfrm>
            <a:off x="6680835" y="4803458"/>
            <a:ext cx="4977765" cy="879158"/>
            <a:chOff x="6680835" y="4803458"/>
            <a:chExt cx="4977765" cy="879158"/>
          </a:xfrm>
        </p:grpSpPr>
        <p:sp>
          <p:nvSpPr>
            <p:cNvPr id="73" name="Rectangle 73"/>
            <p:cNvSpPr/>
            <p:nvPr/>
          </p:nvSpPr>
          <p:spPr>
            <a:xfrm>
              <a:off x="6680835" y="4803458"/>
              <a:ext cx="4977765" cy="879158"/>
            </a:xfrm>
            <a:prstGeom prst="roundRect">
              <a:avLst>
                <a:gd name="adj" fmla="val 13001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6873564" y="5139808"/>
              <a:ext cx="224134" cy="192560"/>
              <a:chOff x="6873564" y="5139808"/>
              <a:chExt cx="224134" cy="192560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6985635" y="521017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6873564" y="513980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985635" y="52879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7188708" y="5036344"/>
              <a:ext cx="40444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客户端要是还写着 new ConcreteFacade1()，照样得改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源代码，配置文件和反射一个都不能少。</a:t>
              </a:r>
            </a:p>
          </p:txBody>
        </p:sp>
      </p:grpSp>
      <p:grpSp>
        <p:nvGrpSpPr>
          <p:cNvPr id="8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80" name="Rectangle 80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83" name="Group 83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81" name="Freeform 81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4" name="TextBox 84"/>
            <p:cNvSpPr txBox="1"/>
            <p:nvPr/>
          </p:nvSpPr>
          <p:spPr>
            <a:xfrm>
              <a:off x="1041273" y="6039326"/>
              <a:ext cx="64230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抽象外观解决的是“换一个外观”，不是“往一个外观里加子系统”，后者仍然要改类。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5B3FA0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EEAF7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429000" cy="2997517"/>
            <a:chOff x="667512" y="1835468"/>
            <a:chExt cx="342900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第六部分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模式辨析与自测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290436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和谁容易混，以及考前对一遍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与适配器中介者代理的分工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本质与六个易错点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两页自测题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模式辨析与自测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外观、适配器、中介者各管什么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8" name="c1-table-1"/>
          <p:cNvGrpSpPr/>
          <p:nvPr/>
        </p:nvGrpSpPr>
        <p:grpSpPr>
          <a:xfrm>
            <a:off x="533400" y="1524000"/>
            <a:ext cx="6276022" cy="2790825"/>
            <a:chOff x="533400" y="1524000"/>
            <a:chExt cx="6276022" cy="27908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430530"/>
            </a:xfrm>
            <a:prstGeom prst="rect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62025" y="165544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81975" y="165544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外观（本讲）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551522" y="1655445"/>
              <a:ext cx="14313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适配器（第 20 讲）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46019" y="1655445"/>
              <a:ext cx="14313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中介者（第 34 讲）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38746" y="2191702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解决什么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735455" y="1964055"/>
              <a:ext cx="1675448" cy="62484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831277" y="2085022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简化一组子系统的调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525774" y="2085022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让不兼容的接口配合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20272" y="2085022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收拢对象之间的互相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59270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597468"/>
              <a:ext cx="6276022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38746" y="272891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包住几个对象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31277" y="272891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一组子系统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25774" y="272891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通常一个被适配者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20272" y="272891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一组同事对象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02323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8746" y="326612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接口从哪来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31277" y="3159442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自己定义一个新的高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层接口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525774" y="3159442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由客户端已有的目标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接口决定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20272" y="3266122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自己定义交互协议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6661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670935"/>
              <a:ext cx="6276022" cy="6438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8746" y="39090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调用方向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831277" y="3802380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客户端单向调用子系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525774" y="3802380"/>
              <a:ext cx="13837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客户端单向调用适配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220272" y="39090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同事与中介者双向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33400" y="1524000"/>
              <a:ext cx="6276022" cy="2790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1721168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415665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110162" y="1524000"/>
              <a:ext cx="9525" cy="2790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5" name="c1-callout-2"/>
          <p:cNvGrpSpPr/>
          <p:nvPr/>
        </p:nvGrpSpPr>
        <p:grpSpPr>
          <a:xfrm>
            <a:off x="533400" y="4500562"/>
            <a:ext cx="6276022" cy="931545"/>
            <a:chOff x="533400" y="4500562"/>
            <a:chExt cx="6276022" cy="931545"/>
          </a:xfrm>
        </p:grpSpPr>
        <p:sp>
          <p:nvSpPr>
            <p:cNvPr id="39" name="Rectangle 39"/>
            <p:cNvSpPr/>
            <p:nvPr/>
          </p:nvSpPr>
          <p:spPr>
            <a:xfrm>
              <a:off x="533400" y="4500562"/>
              <a:ext cx="6276022" cy="931545"/>
            </a:xfrm>
            <a:prstGeom prst="roundRect">
              <a:avLst>
                <a:gd name="adj" fmla="val 1227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38188" y="4865370"/>
              <a:ext cx="200026" cy="200026"/>
              <a:chOff x="738188" y="4865370"/>
              <a:chExt cx="200026" cy="20002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486537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38200" y="493204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27088" y="496538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1040511" y="4735354"/>
              <a:ext cx="524433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三者的共同点是都在中间加了一个对象，区别在于这个对象替客户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端解决的是哪一类麻烦。</a:t>
              </a:r>
            </a:p>
          </p:txBody>
        </p:sp>
      </p:grpSp>
      <p:grpSp>
        <p:nvGrpSpPr>
          <p:cNvPr id="54" name="c2-kv-1"/>
          <p:cNvGrpSpPr/>
          <p:nvPr/>
        </p:nvGrpSpPr>
        <p:grpSpPr>
          <a:xfrm>
            <a:off x="7106984" y="1547336"/>
            <a:ext cx="4551616" cy="2460879"/>
            <a:chOff x="7106984" y="1547336"/>
            <a:chExt cx="4551616" cy="2460879"/>
          </a:xfrm>
        </p:grpSpPr>
        <p:sp>
          <p:nvSpPr>
            <p:cNvPr id="46" name="TextBox 46"/>
            <p:cNvSpPr txBox="1"/>
            <p:nvPr/>
          </p:nvSpPr>
          <p:spPr>
            <a:xfrm>
              <a:off x="7106984" y="1547336"/>
              <a:ext cx="9161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和代理（第</a:t>
              </a:r>
              <a:br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26 讲）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70011" y="1547336"/>
              <a:ext cx="289991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代理与被代理者接口相同，管的是访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问控制；外观定义的是新接口，管的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是简化调用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114222" y="238887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106984" y="2504599"/>
              <a:ext cx="1057745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和抽象工厂</a:t>
              </a:r>
              <a:br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（第 12 讲）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70011" y="2504599"/>
              <a:ext cx="2899918" cy="8140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两者常配合：用工厂产生子系统对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象，客户端连子系统的类名都不必知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道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7114222" y="334613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106984" y="3461861"/>
              <a:ext cx="91617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和单例（第</a:t>
              </a:r>
              <a:br/>
              <a:r>
                <a:rPr lang="zh-CN" sz="14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15 讲）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70011" y="3461861"/>
              <a:ext cx="2899918" cy="5463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0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外观类常做成单例，这两个模式经常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一起出现</a:t>
              </a:r>
            </a:p>
          </p:txBody>
        </p:sp>
      </p:grpSp>
      <p:grpSp>
        <p:nvGrpSpPr>
          <p:cNvPr id="60" name="c2-card-2"/>
          <p:cNvGrpSpPr/>
          <p:nvPr/>
        </p:nvGrpSpPr>
        <p:grpSpPr>
          <a:xfrm>
            <a:off x="7114222" y="4137660"/>
            <a:ext cx="4544378" cy="1293495"/>
            <a:chOff x="7114222" y="4137660"/>
            <a:chExt cx="4544378" cy="1293495"/>
          </a:xfrm>
        </p:grpSpPr>
        <p:sp>
          <p:nvSpPr>
            <p:cNvPr id="55" name="Rectangle 55"/>
            <p:cNvSpPr/>
            <p:nvPr/>
          </p:nvSpPr>
          <p:spPr>
            <a:xfrm>
              <a:off x="7114222" y="4137660"/>
              <a:ext cx="4544378" cy="1293495"/>
            </a:xfrm>
            <a:prstGeom prst="roundRect">
              <a:avLst>
                <a:gd name="adj" fmla="val 10309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318058" y="43414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408266" y="43772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记法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918514" y="4381976"/>
              <a:ext cx="192608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四个模式各改一样东西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10818" y="4733449"/>
              <a:ext cx="398195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适配器改接口形状，外观加一层入口，代理管访问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权限，中介者收拢对象之间的交互。</a:t>
              </a:r>
            </a:p>
          </p:txBody>
        </p:sp>
      </p:grpSp>
      <p:grpSp>
        <p:nvGrpSpPr>
          <p:cNvPr id="66" name="takeaway"/>
          <p:cNvGrpSpPr/>
          <p:nvPr/>
        </p:nvGrpSpPr>
        <p:grpSpPr>
          <a:xfrm>
            <a:off x="533400" y="5844540"/>
            <a:ext cx="11125200" cy="518160"/>
            <a:chOff x="533400" y="5844540"/>
            <a:chExt cx="11125200" cy="518160"/>
          </a:xfrm>
        </p:grpSpPr>
        <p:sp>
          <p:nvSpPr>
            <p:cNvPr id="61" name="Rectangle 61"/>
            <p:cNvSpPr/>
            <p:nvPr/>
          </p:nvSpPr>
          <p:spPr>
            <a:xfrm>
              <a:off x="533400" y="5844540"/>
              <a:ext cx="11125200" cy="518160"/>
            </a:xfrm>
            <a:prstGeom prst="roundRect">
              <a:avLst>
                <a:gd name="adj" fmla="val 22059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38188" y="6003610"/>
              <a:ext cx="200023" cy="200023"/>
              <a:chOff x="738188" y="6003610"/>
              <a:chExt cx="200023" cy="200023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738188" y="600361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71538" y="6070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1040511" y="6004084"/>
              <a:ext cx="59404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外观没有既定的目标接口要迎合，这是它和适配器最容易区分的一点。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927860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11281" y="407194"/>
              <a:ext cx="17720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 · 模式辨析与自测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本质与六个易错点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4760595" cy="1621155"/>
            <a:chOff x="533400" y="1524000"/>
            <a:chExt cx="4760595" cy="1621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4760595" cy="1621155"/>
            </a:xfrm>
            <a:prstGeom prst="roundRect">
              <a:avLst>
                <a:gd name="adj" fmla="val 8226"/>
              </a:avLst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429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462F8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331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43978" y="176879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封装交互，简化调用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5330" y="2129790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外观类封装了子系统外部与子系统内多个模块的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交互过程，从而简化外部的调用。通过外观，子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系统为外部提供一些高层接口，方便它们使用。</a:t>
              </a:r>
            </a:p>
          </p:txBody>
        </p:sp>
      </p:grpSp>
      <p:grpSp>
        <p:nvGrpSpPr>
          <p:cNvPr id="19" name="c1-card-2"/>
          <p:cNvGrpSpPr/>
          <p:nvPr/>
        </p:nvGrpSpPr>
        <p:grpSpPr>
          <a:xfrm>
            <a:off x="533400" y="3335655"/>
            <a:ext cx="4760595" cy="2057400"/>
            <a:chOff x="533400" y="3335655"/>
            <a:chExt cx="4760595" cy="2057400"/>
          </a:xfrm>
        </p:grpSpPr>
        <p:sp>
          <p:nvSpPr>
            <p:cNvPr id="13" name="Rectangle 13"/>
            <p:cNvSpPr/>
            <p:nvPr/>
          </p:nvSpPr>
          <p:spPr>
            <a:xfrm>
              <a:off x="533400" y="3335655"/>
              <a:ext cx="4760595" cy="2057400"/>
            </a:xfrm>
            <a:prstGeom prst="roundRect">
              <a:avLst>
                <a:gd name="adj" fmla="val 648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3469005"/>
              <a:ext cx="47625" cy="179070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81050" y="354520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1258" y="358092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边界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82078" y="358044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它不改变子系统能做什么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73430" y="3941445"/>
              <a:ext cx="401574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外观模式一行业务代码都没有增加，只是换了个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调用入口。子系统原来能做什么，加不加外观都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一样。</a:t>
              </a:r>
            </a:p>
          </p:txBody>
        </p:sp>
      </p:grpSp>
      <p:grpSp>
        <p:nvGrpSpPr>
          <p:cNvPr id="43" name="c2-card-1"/>
          <p:cNvGrpSpPr/>
          <p:nvPr/>
        </p:nvGrpSpPr>
        <p:grpSpPr>
          <a:xfrm>
            <a:off x="5598795" y="1524000"/>
            <a:ext cx="6059805" cy="3869055"/>
            <a:chOff x="5598795" y="1524000"/>
            <a:chExt cx="6059805" cy="3869055"/>
          </a:xfrm>
        </p:grpSpPr>
        <p:sp>
          <p:nvSpPr>
            <p:cNvPr id="20" name="Rectangle 20"/>
            <p:cNvSpPr/>
            <p:nvPr/>
          </p:nvSpPr>
          <p:spPr>
            <a:xfrm>
              <a:off x="5598795" y="1524000"/>
              <a:ext cx="6059805" cy="3869055"/>
            </a:xfrm>
            <a:prstGeom prst="roundRect">
              <a:avLst>
                <a:gd name="adj" fmla="val 34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608320" y="1657350"/>
              <a:ext cx="47625" cy="36023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84644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937606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47473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这六处一考就错</a:t>
              </a:r>
            </a:p>
          </p:txBody>
        </p:sp>
        <p:sp>
          <p:nvSpPr>
            <p:cNvPr id="25" name="Ellipse 25"/>
            <p:cNvSpPr/>
            <p:nvPr/>
          </p:nvSpPr>
          <p:spPr>
            <a:xfrm>
              <a:off x="5846445" y="211645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08294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147435" y="212979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把外观类画成子系统的父类。标准结构里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没有继承线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，两者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是关联。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5846445" y="273748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08294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147435" y="275082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以为加了外观就不许再直接调子系统。外观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不封路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，客户端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可以越过它。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5846445" y="335851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08294" y="34008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147435" y="3371850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以为外观模式完全符合开闭原则。增加子系统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要改外观类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这一点上并不符合。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846445" y="397954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08294" y="402183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47435" y="3992880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通过继承外观类给子系统加新行为，课件明说这是错误做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法。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5846445" y="460057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908294" y="464286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147435" y="461391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把外观和适配器混起来，忘了外观没有既定的目标接口。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5846445" y="4935855"/>
              <a:ext cx="213360" cy="213360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08294" y="49781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147435" y="4949190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在外观类里写业务逻辑，那它就成了一个新的子系统类。</a:t>
              </a:r>
            </a:p>
          </p:txBody>
        </p:sp>
      </p:grpSp>
      <p:grpSp>
        <p:nvGrpSpPr>
          <p:cNvPr id="5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4" name="Rectangle 4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130" y="5991225"/>
              <a:ext cx="79409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条常以“外观模式符合开闭原则吗”的形式出现，标准答案是在一定程度上并不符合。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自测（一）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外观模式属于哪一类模式？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对象结构型，又称门面模式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外观类与子系统之间画什么线？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关联线，没有继承也没有菱形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它实现了哪一条设计原则？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迪米特法则，少认识几个对象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它包含哪两个角色？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外观角色与子系统角色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子系统知道外观的存在吗？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不知道，外观只是另一个客户端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客户端能不能越过外观？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能，外观不限制直接访问子系统</a:t>
              </a:r>
            </a:p>
          </p:txBody>
        </p:sp>
      </p:grpSp>
      <p:grpSp>
        <p:nvGrpSpPr>
          <p:cNvPr id="49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40892" y="6023610"/>
              <a:ext cx="51023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答不上来的题，回到对应正文页再看一遍那张类图或那段代码。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742313" cy="909257"/>
            <a:chOff x="520446" y="342900"/>
            <a:chExt cx="174231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551498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52183" y="40719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自测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自测（二）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2" name="c1-card-1"/>
          <p:cNvGrpSpPr/>
          <p:nvPr/>
        </p:nvGrpSpPr>
        <p:grpSpPr>
          <a:xfrm>
            <a:off x="533400" y="1524000"/>
            <a:ext cx="5410200" cy="1254442"/>
            <a:chOff x="533400" y="1524000"/>
            <a:chExt cx="5410200" cy="12544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25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14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18947" y="20726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外观模式最主要的缺点？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8947" y="2375535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限制不住客户端直接用子系统</a:t>
              </a:r>
            </a:p>
          </p:txBody>
        </p:sp>
      </p:grpSp>
      <p:grpSp>
        <p:nvGrpSpPr>
          <p:cNvPr id="18" name="c1-card-2"/>
          <p:cNvGrpSpPr/>
          <p:nvPr/>
        </p:nvGrpSpPr>
        <p:grpSpPr>
          <a:xfrm>
            <a:off x="533400" y="2953702"/>
            <a:ext cx="5410200" cy="1254442"/>
            <a:chOff x="533400" y="2953702"/>
            <a:chExt cx="5410200" cy="1254442"/>
          </a:xfrm>
        </p:grpSpPr>
        <p:sp>
          <p:nvSpPr>
            <p:cNvPr id="13" name="Rectangle 13"/>
            <p:cNvSpPr/>
            <p:nvPr/>
          </p:nvSpPr>
          <p:spPr>
            <a:xfrm>
              <a:off x="533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25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14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8947" y="350329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抽象外观类解决了什么问题？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8947" y="380523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换外观时不必改原有外观类</a:t>
              </a:r>
            </a:p>
          </p:txBody>
        </p:sp>
      </p:grpSp>
      <p:grpSp>
        <p:nvGrpSpPr>
          <p:cNvPr id="24" name="c1-card-3"/>
          <p:cNvGrpSpPr/>
          <p:nvPr/>
        </p:nvGrpSpPr>
        <p:grpSpPr>
          <a:xfrm>
            <a:off x="533400" y="4383405"/>
            <a:ext cx="5410200" cy="1254442"/>
            <a:chOff x="533400" y="4383405"/>
            <a:chExt cx="5410200" cy="1254442"/>
          </a:xfrm>
        </p:grpSpPr>
        <p:sp>
          <p:nvSpPr>
            <p:cNvPr id="19" name="Rectangle 19"/>
            <p:cNvSpPr/>
            <p:nvPr/>
          </p:nvSpPr>
          <p:spPr>
            <a:xfrm>
              <a:off x="533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5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4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493299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外观类为什么常做成单例？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8947" y="5234940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入口只要一个，省系统资源</a:t>
              </a:r>
            </a:p>
          </p:txBody>
        </p:sp>
      </p:grpSp>
      <p:grpSp>
        <p:nvGrpSpPr>
          <p:cNvPr id="30" name="c2-card-1"/>
          <p:cNvGrpSpPr/>
          <p:nvPr/>
        </p:nvGrpSpPr>
        <p:grpSpPr>
          <a:xfrm>
            <a:off x="6248400" y="1524000"/>
            <a:ext cx="5410200" cy="1254442"/>
            <a:chOff x="6248400" y="1524000"/>
            <a:chExt cx="5410200" cy="1254442"/>
          </a:xfrm>
        </p:grpSpPr>
        <p:sp>
          <p:nvSpPr>
            <p:cNvPr id="25" name="Rectangle 25"/>
            <p:cNvSpPr/>
            <p:nvPr/>
          </p:nvSpPr>
          <p:spPr>
            <a:xfrm>
              <a:off x="6248400" y="1524000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440805" y="1716405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29753" y="1750695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3947" y="2072640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它在哪点上不符合开闭原则？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3947" y="237553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增加子系统要改外观类源码</a:t>
              </a:r>
            </a:p>
          </p:txBody>
        </p:sp>
      </p:grpSp>
      <p:grpSp>
        <p:nvGrpSpPr>
          <p:cNvPr id="36" name="c2-card-2"/>
          <p:cNvGrpSpPr/>
          <p:nvPr/>
        </p:nvGrpSpPr>
        <p:grpSpPr>
          <a:xfrm>
            <a:off x="6248400" y="2953702"/>
            <a:ext cx="5410200" cy="1254442"/>
            <a:chOff x="6248400" y="2953702"/>
            <a:chExt cx="5410200" cy="1254442"/>
          </a:xfrm>
        </p:grpSpPr>
        <p:sp>
          <p:nvSpPr>
            <p:cNvPr id="31" name="Rectangle 31"/>
            <p:cNvSpPr/>
            <p:nvPr/>
          </p:nvSpPr>
          <p:spPr>
            <a:xfrm>
              <a:off x="6248400" y="2953702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440805" y="3146108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29753" y="3180398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433947" y="350329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能继承外观类加子系统行为吗？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433947" y="380523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不能，新行为加在子系统里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248400" y="4383405"/>
            <a:ext cx="5410200" cy="1254442"/>
            <a:chOff x="6248400" y="4383405"/>
            <a:chExt cx="5410200" cy="1254442"/>
          </a:xfrm>
        </p:grpSpPr>
        <p:sp>
          <p:nvSpPr>
            <p:cNvPr id="37" name="Rectangle 37"/>
            <p:cNvSpPr/>
            <p:nvPr/>
          </p:nvSpPr>
          <p:spPr>
            <a:xfrm>
              <a:off x="6248400" y="4383405"/>
              <a:ext cx="5410200" cy="1254442"/>
            </a:xfrm>
            <a:prstGeom prst="roundRect">
              <a:avLst>
                <a:gd name="adj" fmla="val 1063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40805" y="4575810"/>
              <a:ext cx="391478" cy="24765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29753" y="4610100"/>
              <a:ext cx="21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33947" y="493299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外观模式的本质是什么？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33947" y="523494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封装交互，简化调用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43" name="Rectangle 43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892" y="6023610"/>
              <a:ext cx="60382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3 题要补一句：光加抽象类不够，还得靠配置文件和反射才不改源代码。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760095" cy="266700"/>
            </a:xfrm>
            <a:prstGeom prst="roundRect">
              <a:avLst>
                <a:gd name="adj" fmla="val 50000"/>
              </a:avLst>
            </a:prstGeom>
            <a:solidFill>
              <a:srgbClr val="EEEAF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46139" y="407194"/>
              <a:ext cx="5346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3FA0"/>
                  </a:solidFill>
                  <a:latin typeface="+mn-lt"/>
                  <a:ea typeface="+mn-ea"/>
                  <a:cs typeface="+mn-cs"/>
                </a:rPr>
                <a:t>24 外观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5B3FA0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2" name="c1-bullets-1"/>
          <p:cNvGrpSpPr/>
          <p:nvPr/>
        </p:nvGrpSpPr>
        <p:grpSpPr>
          <a:xfrm>
            <a:off x="533400" y="1534478"/>
            <a:ext cx="10471785" cy="1509903"/>
            <a:chOff x="533400" y="1534478"/>
            <a:chExt cx="10471785" cy="1509903"/>
          </a:xfrm>
        </p:grpSpPr>
        <p:sp>
          <p:nvSpPr>
            <p:cNvPr id="7" name="Ellipse 7"/>
            <p:cNvSpPr/>
            <p:nvPr/>
          </p:nvSpPr>
          <p:spPr>
            <a:xfrm>
              <a:off x="533400" y="153447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9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197" y="1545907"/>
              <a:ext cx="101909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外观模式为子系统中的一组接口提供一个统一的入口，定义一个高层接口使子系统更容易使用，又称门面模式，属于对象结构型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4308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188147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1854518"/>
              <a:ext cx="80101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两个角色：外观角色把客户端的请求委派给子系统，子系统角色实现具体业务，并不知道外观的存在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5169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19008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163128"/>
              <a:ext cx="65562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类图里只有关联线，客户端指向外观，外观指向各个子系统，没有继承也没有菱形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60307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249869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2471738"/>
              <a:ext cx="8555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优点是屏蔽了子系统组件、实现松耦合、能划分访问层次；缺点是限制不住客户端，增加子系统要改外观类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533400" y="276891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9078" y="28073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197" y="2780348"/>
              <a:ext cx="89188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三条扩展：可以有多个外观类并常做成单例，不能靠继承外观类加行为，抽象外观类配合配置文件能少改源代码</a:t>
              </a:r>
            </a:p>
          </p:txBody>
        </p:sp>
      </p:grpSp>
      <p:grpSp>
        <p:nvGrpSpPr>
          <p:cNvPr id="40" name="c1-card-2"/>
          <p:cNvGrpSpPr/>
          <p:nvPr/>
        </p:nvGrpSpPr>
        <p:grpSpPr>
          <a:xfrm>
            <a:off x="533400" y="3161348"/>
            <a:ext cx="11125200" cy="1845945"/>
            <a:chOff x="533400" y="3161348"/>
            <a:chExt cx="11125200" cy="1845945"/>
          </a:xfrm>
        </p:grpSpPr>
        <p:sp>
          <p:nvSpPr>
            <p:cNvPr id="23" name="Rectangle 23"/>
            <p:cNvSpPr/>
            <p:nvPr/>
          </p:nvSpPr>
          <p:spPr>
            <a:xfrm>
              <a:off x="533400" y="3161348"/>
              <a:ext cx="11125200" cy="1845945"/>
            </a:xfrm>
            <a:prstGeom prst="roundRect">
              <a:avLst>
                <a:gd name="adj" fmla="val 72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542925" y="3294698"/>
              <a:ext cx="47625" cy="15792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58190" y="3348038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42759" y="338089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更正汇总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73340" y="338328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本讲订正的源课件问题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58190" y="369665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13868" y="373599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38987" y="3709035"/>
              <a:ext cx="76651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典型代码原为 C# 写法（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MethodA()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、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static void Main(string[] args)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），已改写成 Java。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58190" y="3997642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13868" y="40360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38987" y="4009072"/>
              <a:ext cx="95419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电器总开关的 </a:t>
              </a:r>
              <a:r>
                <a:rPr lang="en-US" sz="1350" dirty="0">
                  <a:solidFill>
                    <a:srgbClr val="462F80"/>
                  </a:solidFill>
                  <a:latin typeface="+mn-lt"/>
                  <a:ea typeface="+mn-ea"/>
                  <a:cs typeface="+mn-cs"/>
                </a:rPr>
                <a:t>lights = new Light[4]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只分配四个空引用，要在构造方法里逐个 new，否则抛 NullPointerException。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58190" y="4297680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13868" y="433606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38987" y="4310062"/>
              <a:ext cx="78891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文件加密实例的 FileReader、FileWriter 与 java.io 同名类撞车，改名为 FileRead、FileWrite。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58190" y="4597718"/>
              <a:ext cx="192405" cy="192405"/>
            </a:xfrm>
            <a:prstGeom prst="ellipse">
              <a:avLst/>
            </a:prstGeom>
            <a:solidFill>
              <a:srgbClr val="5B3FA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13868" y="463610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38987" y="4610100"/>
              <a:ext cx="42158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陈伟老师课件第 8 页把 Windows 拼成了 Windwos。</a:t>
              </a:r>
            </a:p>
          </p:txBody>
        </p:sp>
      </p:grpSp>
      <p:grpSp>
        <p:nvGrpSpPr>
          <p:cNvPr id="47" name="c1-callout-3"/>
          <p:cNvGrpSpPr/>
          <p:nvPr/>
        </p:nvGrpSpPr>
        <p:grpSpPr>
          <a:xfrm>
            <a:off x="533400" y="5177790"/>
            <a:ext cx="11125200" cy="533400"/>
            <a:chOff x="533400" y="5177790"/>
            <a:chExt cx="11125200" cy="533400"/>
          </a:xfrm>
        </p:grpSpPr>
        <p:sp>
          <p:nvSpPr>
            <p:cNvPr id="41" name="Rectangle 41"/>
            <p:cNvSpPr/>
            <p:nvPr/>
          </p:nvSpPr>
          <p:spPr>
            <a:xfrm>
              <a:off x="533400" y="517779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8188" y="5343525"/>
              <a:ext cx="200026" cy="200025"/>
              <a:chOff x="738188" y="5343525"/>
              <a:chExt cx="200026" cy="20002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738188" y="534352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77926" y="538797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12642" y="549910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1040892" y="5349240"/>
              <a:ext cx="70469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下一步看第 25 讲享元模式，处理的是另一类问题：同样的细粒度对象太多，怎么共享。</a:t>
              </a:r>
            </a:p>
          </p:txBody>
        </p:sp>
      </p:grpSp>
      <p:grpSp>
        <p:nvGrpSpPr>
          <p:cNvPr id="53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48" name="Rectangle 4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5B3FA0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738188" y="6022660"/>
              <a:ext cx="200023" cy="200023"/>
              <a:chOff x="738188" y="6022660"/>
              <a:chExt cx="200023" cy="200023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22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71538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040892" y="6028373"/>
              <a:ext cx="62472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看到“一堆子系统”“调用步骤固定”“客户端只想要一个入口”，先想外观模式。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14808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软件设计模式 · 外观模式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sdp_24">
  <a:themeElements>
    <a:clrScheme name="sdp_2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dp_24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dp_2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2026-09-19T08:43:37Z</dcterms:created>
  <dcterms:modified xsi:type="dcterms:W3CDTF">2026-09-19T08:43:37Z</dcterms:modified>
  <cp:category/>
  <cp:contentStatus/>
</cp:coreProperties>
</file>