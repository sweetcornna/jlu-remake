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b52c4c2dc5d0f53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dbd3bbc63d072e4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00baed261e77ce9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第十三讲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让客户对一片叶子和一整棵树一视同仁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树形结构的统一处理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透明式与安全式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递归遍历的写法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四个课件实例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树形结构里，客户端为什么总在分情况判断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三个角色，一条指回抽象构件的聚合线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517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标准写法与递归遍历的落点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两种形式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透明式保透明，安全式保安全，各丢掉什么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水果盘、文件浏览、计算机设备、集团公司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优缺点、适用场景、与装饰迭代器访问者的配合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画出组合模式类图，继承线和聚合线的方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向、菱形位置都不画反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写出抽象构件、叶子构件、容器构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件三个类，并写对递归遍历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给一棵具体的目录树，手算出递归调用顺序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和每个节点的汇总结果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说清透明式与安全式各自牺牲了什么，并判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断一段代码属于哪一式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说出组合与装饰、迭代器、访问者的分工，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以及它们怎么配合使用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从树形结构说起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先看清分情况判断把客户端拖成了什么样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树形结构随处可见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客户端被迫区分叶子和容器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一般化表示与模式定义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从树形结构说起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动机：树形结构在软件里随处可见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64933" cy="264033"/>
            <a:chOff x="526542" y="1545907"/>
            <a:chExt cx="74649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目录、菜单、组织结构，形状都一样：一个节点要么是一件具体的东西，要么装着别的节点。</a:t>
              </a:r>
            </a:p>
          </p:txBody>
        </p:sp>
      </p:grpSp>
      <p:grpSp>
        <p:nvGrpSpPr>
          <p:cNvPr id="32" name="c1-tree-1"/>
          <p:cNvGrpSpPr/>
          <p:nvPr/>
        </p:nvGrpSpPr>
        <p:grpSpPr>
          <a:xfrm>
            <a:off x="720090" y="1967865"/>
            <a:ext cx="3684270" cy="1662112"/>
            <a:chOff x="720090" y="1967865"/>
            <a:chExt cx="3684270" cy="1662112"/>
          </a:xfrm>
        </p:grpSpPr>
        <p:sp>
          <p:nvSpPr>
            <p:cNvPr id="9" name="Freeform 9"/>
            <p:cNvSpPr/>
            <p:nvPr/>
          </p:nvSpPr>
          <p:spPr>
            <a:xfrm>
              <a:off x="2562225" y="3016568"/>
              <a:ext cx="9525" cy="435292"/>
            </a:xfrm>
            <a:custGeom>
              <a:avLst/>
              <a:gdLst/>
              <a:ahLst/>
              <a:cxnLst/>
              <a:rect l="l" t="t" r="r" b="b"/>
              <a:pathLst>
                <a:path w="9525" h="435292">
                  <a:moveTo>
                    <a:pt x="0" y="0"/>
                  </a:moveTo>
                  <a:lnTo>
                    <a:pt x="0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39165" y="2581275"/>
              <a:ext cx="811530" cy="435292"/>
            </a:xfrm>
            <a:custGeom>
              <a:avLst/>
              <a:gdLst/>
              <a:ahLst/>
              <a:cxnLst/>
              <a:rect l="l" t="t" r="r" b="b"/>
              <a:pathLst>
                <a:path w="811530" h="435292">
                  <a:moveTo>
                    <a:pt x="811530" y="0"/>
                  </a:moveTo>
                  <a:lnTo>
                    <a:pt x="0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50695" y="2581275"/>
              <a:ext cx="9525" cy="435292"/>
            </a:xfrm>
            <a:custGeom>
              <a:avLst/>
              <a:gdLst/>
              <a:ahLst/>
              <a:cxnLst/>
              <a:rect l="l" t="t" r="r" b="b"/>
              <a:pathLst>
                <a:path w="9525" h="435292">
                  <a:moveTo>
                    <a:pt x="0" y="0"/>
                  </a:moveTo>
                  <a:lnTo>
                    <a:pt x="0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50695" y="2581275"/>
              <a:ext cx="811530" cy="435292"/>
            </a:xfrm>
            <a:custGeom>
              <a:avLst/>
              <a:gdLst/>
              <a:ahLst/>
              <a:cxnLst/>
              <a:rect l="l" t="t" r="r" b="b"/>
              <a:pathLst>
                <a:path w="811530" h="435292">
                  <a:moveTo>
                    <a:pt x="0" y="0"/>
                  </a:moveTo>
                  <a:lnTo>
                    <a:pt x="811530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185285" y="2581275"/>
              <a:ext cx="9525" cy="435292"/>
            </a:xfrm>
            <a:custGeom>
              <a:avLst/>
              <a:gdLst/>
              <a:ahLst/>
              <a:cxnLst/>
              <a:rect l="l" t="t" r="r" b="b"/>
              <a:pathLst>
                <a:path w="9525" h="435292">
                  <a:moveTo>
                    <a:pt x="0" y="0"/>
                  </a:moveTo>
                  <a:lnTo>
                    <a:pt x="0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50695" y="2145982"/>
              <a:ext cx="1217295" cy="435292"/>
            </a:xfrm>
            <a:custGeom>
              <a:avLst/>
              <a:gdLst/>
              <a:ahLst/>
              <a:cxnLst/>
              <a:rect l="l" t="t" r="r" b="b"/>
              <a:pathLst>
                <a:path w="1217295" h="435292">
                  <a:moveTo>
                    <a:pt x="1217295" y="0"/>
                  </a:moveTo>
                  <a:lnTo>
                    <a:pt x="0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967990" y="2145982"/>
              <a:ext cx="1217295" cy="435292"/>
            </a:xfrm>
            <a:custGeom>
              <a:avLst/>
              <a:gdLst/>
              <a:ahLst/>
              <a:cxnLst/>
              <a:rect l="l" t="t" r="r" b="b"/>
              <a:pathLst>
                <a:path w="1217295" h="435292">
                  <a:moveTo>
                    <a:pt x="0" y="0"/>
                  </a:moveTo>
                  <a:lnTo>
                    <a:pt x="1217295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2838450"/>
              <a:ext cx="438150" cy="356235"/>
            </a:xfrm>
            <a:prstGeom prst="roundRect">
              <a:avLst>
                <a:gd name="adj" fmla="val 2139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31620" y="2838450"/>
              <a:ext cx="438150" cy="356235"/>
            </a:xfrm>
            <a:prstGeom prst="roundRect">
              <a:avLst>
                <a:gd name="adj" fmla="val 2139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178368" y="3273742"/>
              <a:ext cx="768668" cy="356235"/>
            </a:xfrm>
            <a:prstGeom prst="roundRect">
              <a:avLst>
                <a:gd name="adj" fmla="val 2139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228850" y="2838450"/>
              <a:ext cx="666750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531620" y="2403158"/>
              <a:ext cx="438150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966210" y="2838450"/>
              <a:ext cx="438150" cy="356235"/>
            </a:xfrm>
            <a:prstGeom prst="roundRect">
              <a:avLst>
                <a:gd name="adj" fmla="val 2139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66210" y="2403158"/>
              <a:ext cx="438150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91765" y="1967865"/>
              <a:ext cx="552450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3244" y="29603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24775" y="29603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打开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61383" y="3395662"/>
              <a:ext cx="601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作业.docx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15146" y="29603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最近打开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24775" y="252507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59364" y="29603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关于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59364" y="252507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帮助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81491" y="208978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主菜单</a:t>
              </a:r>
            </a:p>
          </p:txBody>
        </p:sp>
      </p:grpSp>
      <p:grpSp>
        <p:nvGrpSpPr>
          <p:cNvPr id="41" name="c1-kv-2"/>
          <p:cNvGrpSpPr/>
          <p:nvPr/>
        </p:nvGrpSpPr>
        <p:grpSpPr>
          <a:xfrm>
            <a:off x="526923" y="3855244"/>
            <a:ext cx="4875657" cy="997076"/>
            <a:chOff x="526923" y="3855244"/>
            <a:chExt cx="4875657" cy="997076"/>
          </a:xfrm>
        </p:grpSpPr>
        <p:sp>
          <p:nvSpPr>
            <p:cNvPr id="33" name="TextBox 33"/>
            <p:cNvSpPr txBox="1"/>
            <p:nvPr/>
          </p:nvSpPr>
          <p:spPr>
            <a:xfrm>
              <a:off x="526923" y="38552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操作系统目录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90890" y="385524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文件夹里可以放文件，也可以放子文件夹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1271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923" y="422957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应用软件菜单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90890" y="422957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子菜单本身又是一个能装菜单项的菜单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50151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923" y="46029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公司组织结构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90890" y="460295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分公司下设部门，也下设分公司</a:t>
              </a:r>
            </a:p>
          </p:txBody>
        </p:sp>
      </p:grpSp>
      <p:grpSp>
        <p:nvGrpSpPr>
          <p:cNvPr id="48" name="c1-callout-3"/>
          <p:cNvGrpSpPr/>
          <p:nvPr/>
        </p:nvGrpSpPr>
        <p:grpSpPr>
          <a:xfrm>
            <a:off x="533400" y="4967288"/>
            <a:ext cx="4869180" cy="702945"/>
            <a:chOff x="533400" y="4967288"/>
            <a:chExt cx="4869180" cy="702945"/>
          </a:xfrm>
        </p:grpSpPr>
        <p:sp>
          <p:nvSpPr>
            <p:cNvPr id="42" name="Rectangle 42"/>
            <p:cNvSpPr/>
            <p:nvPr/>
          </p:nvSpPr>
          <p:spPr>
            <a:xfrm>
              <a:off x="533400" y="4967288"/>
              <a:ext cx="486918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218748"/>
              <a:ext cx="200026" cy="200026"/>
              <a:chOff x="738188" y="521874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2187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52854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53187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5111591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图中绿色的是叶子节点，白色的是容器节点，容器里还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能再放容器，层数没有上限。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5707380" y="1928812"/>
            <a:ext cx="5951220" cy="1403032"/>
            <a:chOff x="5707380" y="1928812"/>
            <a:chExt cx="5951220" cy="1403032"/>
          </a:xfrm>
        </p:grpSpPr>
        <p:sp>
          <p:nvSpPr>
            <p:cNvPr id="49" name="Rectangle 49"/>
            <p:cNvSpPr/>
            <p:nvPr/>
          </p:nvSpPr>
          <p:spPr>
            <a:xfrm>
              <a:off x="5707380" y="1928812"/>
              <a:ext cx="595122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16905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2645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1912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92430" y="21493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要处理的是同一类问题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19978" y="2465546"/>
              <a:ext cx="52148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树形结构在软件中随处可见，例如操作系统中的目录结构、应用软件中的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菜单、办公系统中的公司组织结构。如何用面向对象的方式处理这种树形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结构，是组合模式要解决的问题。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5707380" y="3496628"/>
            <a:ext cx="5951220" cy="2173605"/>
            <a:chOff x="5707380" y="3496628"/>
            <a:chExt cx="5951220" cy="2173605"/>
          </a:xfrm>
        </p:grpSpPr>
        <p:sp>
          <p:nvSpPr>
            <p:cNvPr id="56" name="Rectangle 56"/>
            <p:cNvSpPr/>
            <p:nvPr/>
          </p:nvSpPr>
          <p:spPr>
            <a:xfrm>
              <a:off x="5707380" y="3496628"/>
              <a:ext cx="595122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16905" y="3629978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926455" y="36776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15076" y="37104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7208" y="371713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对容器调用一次，等于对里面每一项都调用一次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919978" y="4034314"/>
              <a:ext cx="52148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对文件夹查毒，就是对它里面的每个文件和每个子文件夹查毒。容器对象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的方法被调用时要遍历整棵子树，找到同样包含这个方法的成员对象再调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用执行，这就是递归调用。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树形结构的难点不在于怎么存，而在于客户端调用时要不要区分手里拿的是哪一种节点。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从树形结构说起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不用组合模式：客户端被迫到处分情况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20615" cy="264033"/>
            <a:chOff x="526542" y="1545907"/>
            <a:chExt cx="492061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叶子和容器没有共同父类时，遍历一棵目录树只能写成这样。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6059805" cy="3143250"/>
            <a:chOff x="533400" y="1928812"/>
            <a:chExt cx="6059805" cy="3143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客户端不得不这么写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655570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007042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4322445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MyFile 和 MyFolder 之间没有任何继承关系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show(Object node, String indent)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(node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MyFile)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System.out.println(indent + ((MyFile) node).getName());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(node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MyFolder)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MyFolder f = (MyFolder) node;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System.out.println(indent + f.getName());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(MyFile c : f.getFiles())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先走文件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show(c, indent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(MyFolder s : f.getFolders()) {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再走子文件夹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show(s, indent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898005" y="1928812"/>
            <a:ext cx="4760595" cy="2216468"/>
            <a:chOff x="6898005" y="1928812"/>
            <a:chExt cx="4760595" cy="2216468"/>
          </a:xfrm>
        </p:grpSpPr>
        <p:sp>
          <p:nvSpPr>
            <p:cNvPr id="15" name="Rectangle 15"/>
            <p:cNvSpPr/>
            <p:nvPr/>
          </p:nvSpPr>
          <p:spPr>
            <a:xfrm>
              <a:off x="6898005" y="1928812"/>
              <a:ext cx="4760595" cy="2216468"/>
            </a:xfrm>
            <a:prstGeom prst="roundRect">
              <a:avLst>
                <a:gd name="adj" fmla="val 6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907530" y="2062162"/>
              <a:ext cx="47625" cy="19497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1708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0879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3056" y="21493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三处都在漏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17080" y="245459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68987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86828" y="2465546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客户端依赖容器的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内部实现结构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。MyFolder 把子项拆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成两个集合，客户端就得遍历两次；容器一改，所有客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户代码跟着改。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117080" y="32251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68987" y="32607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86828" y="3237071"/>
              <a:ext cx="3890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每新增一种节点类型，所有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instanceof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分支都要补一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遍，改漏一处就少处理一类节点。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117080" y="375380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68987" y="378847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6828" y="376475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真正的业务动作只有一行打印，其余全是判断和转型。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898005" y="4309110"/>
            <a:ext cx="4760595" cy="1403032"/>
            <a:chOff x="6898005" y="4309110"/>
            <a:chExt cx="4760595" cy="1403032"/>
          </a:xfrm>
        </p:grpSpPr>
        <p:sp>
          <p:nvSpPr>
            <p:cNvPr id="30" name="Rectangle 30"/>
            <p:cNvSpPr/>
            <p:nvPr/>
          </p:nvSpPr>
          <p:spPr>
            <a:xfrm>
              <a:off x="6898005" y="4309110"/>
              <a:ext cx="476059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444246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17080" y="449008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97598" y="452294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想要的效果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56436" y="453056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一句话就能跑完整棵树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10603" y="4846796"/>
              <a:ext cx="41663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大多数情况下我们希望一致地处理叶子和容器，客户端只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node.show()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，剩下的交给节点自己。对这些对象的区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别对待会使程序非常复杂。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7" name="Rectangle 3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6039326"/>
              <a:ext cx="56648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组合模式要拿掉的正是这些 instanceof，而不是帮你少写一个 for 循环。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从树形结构说起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让两种节点长成同一个样子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陈伟老师课件的思路：先看朴素表示为什么不好用，再把它一般化。</a:t>
              </a:r>
            </a:p>
          </p:txBody>
        </p:sp>
      </p:grpSp>
      <p:grpSp>
        <p:nvGrpSpPr>
          <p:cNvPr id="30" name="c1-uml-1"/>
          <p:cNvGrpSpPr/>
          <p:nvPr/>
        </p:nvGrpSpPr>
        <p:grpSpPr>
          <a:xfrm>
            <a:off x="783908" y="2340292"/>
            <a:ext cx="4216717" cy="854392"/>
            <a:chOff x="783908" y="2340292"/>
            <a:chExt cx="4216717" cy="854392"/>
          </a:xfrm>
        </p:grpSpPr>
        <p:sp>
          <p:nvSpPr>
            <p:cNvPr id="9" name="Freeform 9"/>
            <p:cNvSpPr/>
            <p:nvPr/>
          </p:nvSpPr>
          <p:spPr>
            <a:xfrm>
              <a:off x="783908" y="2579370"/>
              <a:ext cx="323850" cy="375285"/>
            </a:xfrm>
            <a:custGeom>
              <a:avLst/>
              <a:gdLst/>
              <a:ahLst/>
              <a:cxnLst/>
              <a:rect l="l" t="t" r="r" b="b"/>
              <a:pathLst>
                <a:path w="323850" h="375285">
                  <a:moveTo>
                    <a:pt x="323850" y="375285"/>
                  </a:moveTo>
                  <a:lnTo>
                    <a:pt x="0" y="375285"/>
                  </a:lnTo>
                  <a:lnTo>
                    <a:pt x="0" y="0"/>
                  </a:lnTo>
                  <a:lnTo>
                    <a:pt x="114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98208" y="252126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209550" y="58103"/>
                  </a:moveTo>
                  <a:lnTo>
                    <a:pt x="104775" y="115253"/>
                  </a:lnTo>
                  <a:lnTo>
                    <a:pt x="0" y="58103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766060" y="2767012"/>
              <a:ext cx="1091565" cy="9525"/>
            </a:xfrm>
            <a:custGeom>
              <a:avLst/>
              <a:gdLst/>
              <a:ahLst/>
              <a:cxnLst/>
              <a:rect l="l" t="t" r="r" b="b"/>
              <a:pathLst>
                <a:path w="1091565" h="9525">
                  <a:moveTo>
                    <a:pt x="109156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56510" y="270891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7758" y="2340292"/>
              <a:ext cx="1448752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4425" y="2346960"/>
              <a:ext cx="143446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07758" y="2552700"/>
              <a:ext cx="14487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07758" y="2945130"/>
              <a:ext cx="14487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57625" y="248888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864292" y="249555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57625" y="27012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57625" y="27965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73091" y="2391728"/>
              <a:ext cx="7171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BranchNode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9195" y="2620804"/>
              <a:ext cx="1306068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subs: List&lt;BranchNode&gt;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leaves: List&lt;LeafNode&gt;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9195" y="3013234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40527" y="2540318"/>
              <a:ext cx="577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LeafNode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29062" y="2864644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f()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2482" y="2687955"/>
              <a:ext cx="34671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6295" y="271081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subs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985135" y="2570798"/>
              <a:ext cx="44386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17539" y="2593658"/>
              <a:ext cx="3790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leaves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774758"/>
            <a:ext cx="5193982" cy="1880235"/>
            <a:chOff x="533400" y="3774758"/>
            <a:chExt cx="5193982" cy="1880235"/>
          </a:xfrm>
        </p:grpSpPr>
        <p:sp>
          <p:nvSpPr>
            <p:cNvPr id="31" name="Rectangle 31"/>
            <p:cNvSpPr/>
            <p:nvPr/>
          </p:nvSpPr>
          <p:spPr>
            <a:xfrm>
              <a:off x="533400" y="3774758"/>
              <a:ext cx="5193982" cy="1880235"/>
            </a:xfrm>
            <a:prstGeom prst="roundRect">
              <a:avLst>
                <a:gd name="adj" fmla="val 7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3908108"/>
              <a:ext cx="47625" cy="16135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8190" y="396144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2759" y="39943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朴素表示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73340" y="399669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两种节点两套集合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332" y="4322445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树枝节点要分别管着子树枝和叶子，访问任意一个节点之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前，都得先问清楚它是哪一种，加一种节点就要再加一个集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</p:grpSp>
      <p:grpSp>
        <p:nvGrpSpPr>
          <p:cNvPr id="65" name="c2-uml-1"/>
          <p:cNvGrpSpPr/>
          <p:nvPr/>
        </p:nvGrpSpPr>
        <p:grpSpPr>
          <a:xfrm>
            <a:off x="6397942" y="2164080"/>
            <a:ext cx="5113973" cy="1657350"/>
            <a:chOff x="6397942" y="2164080"/>
            <a:chExt cx="5113973" cy="1657350"/>
          </a:xfrm>
        </p:grpSpPr>
        <p:sp>
          <p:nvSpPr>
            <p:cNvPr id="38" name="Freeform 38"/>
            <p:cNvSpPr/>
            <p:nvPr/>
          </p:nvSpPr>
          <p:spPr>
            <a:xfrm>
              <a:off x="6969442" y="2846070"/>
              <a:ext cx="1875472" cy="344805"/>
            </a:xfrm>
            <a:custGeom>
              <a:avLst/>
              <a:gdLst/>
              <a:ahLst/>
              <a:cxnLst/>
              <a:rect l="l" t="t" r="r" b="b"/>
              <a:pathLst>
                <a:path w="1875472" h="344805">
                  <a:moveTo>
                    <a:pt x="0" y="344805"/>
                  </a:moveTo>
                  <a:lnTo>
                    <a:pt x="0" y="109538"/>
                  </a:lnTo>
                  <a:lnTo>
                    <a:pt x="1875472" y="109538"/>
                  </a:lnTo>
                  <a:lnTo>
                    <a:pt x="187547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771572" y="27203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844915" y="2846070"/>
              <a:ext cx="1875472" cy="270510"/>
            </a:xfrm>
            <a:custGeom>
              <a:avLst/>
              <a:gdLst/>
              <a:ahLst/>
              <a:cxnLst/>
              <a:rect l="l" t="t" r="r" b="b"/>
              <a:pathLst>
                <a:path w="1875472" h="270510">
                  <a:moveTo>
                    <a:pt x="1875472" y="270510"/>
                  </a:moveTo>
                  <a:lnTo>
                    <a:pt x="1875472" y="72390"/>
                  </a:lnTo>
                  <a:lnTo>
                    <a:pt x="0" y="7239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771572" y="27203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416415" y="2442210"/>
              <a:ext cx="2095500" cy="1026795"/>
            </a:xfrm>
            <a:custGeom>
              <a:avLst/>
              <a:gdLst/>
              <a:ahLst/>
              <a:cxnLst/>
              <a:rect l="l" t="t" r="r" b="b"/>
              <a:pathLst>
                <a:path w="2095500" h="1026795">
                  <a:moveTo>
                    <a:pt x="0" y="0"/>
                  </a:moveTo>
                  <a:lnTo>
                    <a:pt x="209550" y="0"/>
                  </a:lnTo>
                  <a:lnTo>
                    <a:pt x="2073592" y="0"/>
                  </a:lnTo>
                  <a:lnTo>
                    <a:pt x="2073592" y="513398"/>
                  </a:lnTo>
                  <a:lnTo>
                    <a:pt x="2073592" y="1026795"/>
                  </a:lnTo>
                  <a:lnTo>
                    <a:pt x="2095500" y="1026795"/>
                  </a:lnTo>
                  <a:lnTo>
                    <a:pt x="2095500" y="102679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1302365" y="3410902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73415" y="216408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281035" y="217074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273415" y="23764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73415" y="24717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397942" y="319087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05562" y="319754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397942" y="34032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397942" y="34985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39362" y="3116580"/>
              <a:ext cx="116300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146982" y="3123248"/>
              <a:ext cx="114871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139362" y="3328988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39362" y="3572828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98235" y="2215515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Node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44852" y="2539841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80845" y="3242310"/>
              <a:ext cx="577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LeafNode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9380" y="3566636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61821" y="3168015"/>
              <a:ext cx="7171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BranchNode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10800" y="3397091"/>
              <a:ext cx="10896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nodes: List&lt;Node&gt;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10800" y="3640931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f()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353675" y="2245995"/>
              <a:ext cx="40957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387108" y="2268855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nodes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032182" y="4151948"/>
            <a:ext cx="5626418" cy="1503045"/>
            <a:chOff x="6032182" y="4151948"/>
            <a:chExt cx="5626418" cy="1503045"/>
          </a:xfrm>
        </p:grpSpPr>
        <p:sp>
          <p:nvSpPr>
            <p:cNvPr id="66" name="Rectangle 66"/>
            <p:cNvSpPr/>
            <p:nvPr/>
          </p:nvSpPr>
          <p:spPr>
            <a:xfrm>
              <a:off x="6032182" y="4151948"/>
              <a:ext cx="5626418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041708" y="4285298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56972" y="433863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37490" y="43714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一般化表示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95947" y="4373880"/>
              <a:ext cx="1769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树枝节点装的是 Node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50114" y="4699635"/>
              <a:ext cx="49000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抽出一个抽象的 Node，叶子和树枝都是它的子类。树枝只持有一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个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List&lt;Node&gt;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，里面放的是叶子还是树枝都无所谓。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265545" y="531304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421564" y="525684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访问任意一个节点时，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不需要判定节点类型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5" name="Rectangle 7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892" y="6028373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这一步抽象就是组合模式的全部技巧：让容器持有抽象构件，而不是持有若干种具体节点。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从树形结构说起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定义：组合多个对象形成树形结构，表示整体与部分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2291715"/>
            <a:chOff x="533400" y="1524000"/>
            <a:chExt cx="5951220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1592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组合模式（Composite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组合多个对象形成树形结构以表示“整体-部分”关系的层次结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构。组合模式对单个对象（即叶子对象）和组合对象（即容器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对象）的使用具有一致性。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36570"/>
              <a:ext cx="34674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别名：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整体-部分模式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（Part-Whole）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对象结构型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006215"/>
            <a:ext cx="5951220" cy="1638300"/>
            <a:chOff x="533400" y="4006215"/>
            <a:chExt cx="5951220" cy="1638300"/>
          </a:xfrm>
        </p:grpSpPr>
        <p:sp>
          <p:nvSpPr>
            <p:cNvPr id="18" name="Rectangle 18"/>
            <p:cNvSpPr/>
            <p:nvPr/>
          </p:nvSpPr>
          <p:spPr>
            <a:xfrm>
              <a:off x="533400" y="4006215"/>
              <a:ext cx="5951220" cy="1638300"/>
            </a:xfrm>
            <a:prstGeom prst="roundRect">
              <a:avLst>
                <a:gd name="adj" fmla="val 814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2950" y="4215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158" y="4251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3978" y="425100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统一叶子对象和组合对象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30" y="4612005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把叶子对象和组合对象统统当成构件对象。构建树形结构时不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必区分类型，操作树形结构时也不必区分类型，统一调用同一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个方法。</a:t>
              </a:r>
            </a:p>
          </p:txBody>
        </p:sp>
      </p:grpSp>
      <p:grpSp>
        <p:nvGrpSpPr>
          <p:cNvPr id="26" name="c2-image-1"/>
          <p:cNvGrpSpPr/>
          <p:nvPr/>
        </p:nvGrpSpPr>
        <p:grpSpPr>
          <a:xfrm>
            <a:off x="6789420" y="1524000"/>
            <a:ext cx="4869180" cy="2334102"/>
            <a:chOff x="6789420" y="1524000"/>
            <a:chExt cx="4869180" cy="2334102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rcRect l="0" t="22352" r="0" b="22353"/>
            <a:stretch>
              <a:fillRect/>
            </a:stretch>
          </p:blipFill>
          <p:spPr>
            <a:xfrm>
              <a:off x="6789420" y="1524000"/>
              <a:ext cx="4869180" cy="2019300"/>
            </a:xfrm>
            <a:prstGeom prst="roundRect">
              <a:avLst>
                <a:gd name="adj" fmla="val 6603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409002" y="363807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一个苹果、一篮苹果、一大筐篮子，都装着同一种提环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789420" y="4023360"/>
            <a:ext cx="4869180" cy="1621155"/>
            <a:chOff x="6789420" y="4023360"/>
            <a:chExt cx="4869180" cy="1621155"/>
          </a:xfrm>
        </p:grpSpPr>
        <p:sp>
          <p:nvSpPr>
            <p:cNvPr id="27" name="Rectangle 27"/>
            <p:cNvSpPr/>
            <p:nvPr/>
          </p:nvSpPr>
          <p:spPr>
            <a:xfrm>
              <a:off x="6789420" y="4023360"/>
              <a:ext cx="486918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98945" y="415671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37070" y="42329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27278" y="42686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38098" y="4268152"/>
              <a:ext cx="3624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模式名里的“组合”不是 UML 的组合关系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29450" y="4629150"/>
              <a:ext cx="4234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的组合关系指实心菱形、部分随整体销毁；组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合模式说的是把对象装配成树。类图里容器与抽象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构件之间通常画成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聚合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，空心菱形。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6584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 Composite 一词两用，做判断题时按题干问的是模式还是关系来读。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结构、角色与对象图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三个类，长出任意深的一棵树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标准类图的四条线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三个角色加一个客户类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类图与对象图的区别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结构、角色与对象图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标准结构：容器持有抽象构件，形成递归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486650" cy="293370"/>
            <a:chOff x="525780" y="1548765"/>
            <a:chExt cx="74866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这是透明式，也就是组合模式的标准形式，管理子构件的方法都声明在抽象构件里。</a:t>
              </a:r>
            </a:p>
          </p:txBody>
        </p:sp>
      </p:grpSp>
      <p:grpSp>
        <p:nvGrpSpPr>
          <p:cNvPr id="43" name="c1-uml-1"/>
          <p:cNvGrpSpPr/>
          <p:nvPr/>
        </p:nvGrpSpPr>
        <p:grpSpPr>
          <a:xfrm>
            <a:off x="935355" y="2294572"/>
            <a:ext cx="5358765" cy="2911794"/>
            <a:chOff x="935355" y="2294572"/>
            <a:chExt cx="5358765" cy="2911794"/>
          </a:xfrm>
        </p:grpSpPr>
        <p:sp>
          <p:nvSpPr>
            <p:cNvPr id="9" name="Freeform 9"/>
            <p:cNvSpPr/>
            <p:nvPr/>
          </p:nvSpPr>
          <p:spPr>
            <a:xfrm>
              <a:off x="2078355" y="2831782"/>
              <a:ext cx="694373" cy="9525"/>
            </a:xfrm>
            <a:custGeom>
              <a:avLst/>
              <a:gdLst/>
              <a:ahLst/>
              <a:cxnLst/>
              <a:rect l="l" t="t" r="r" b="b"/>
              <a:pathLst>
                <a:path w="694373" h="9525">
                  <a:moveTo>
                    <a:pt x="0" y="952"/>
                  </a:moveTo>
                  <a:lnTo>
                    <a:pt x="69437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67952" y="2774632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506855" y="3495675"/>
              <a:ext cx="1947862" cy="798195"/>
            </a:xfrm>
            <a:custGeom>
              <a:avLst/>
              <a:gdLst/>
              <a:ahLst/>
              <a:cxnLst/>
              <a:rect l="l" t="t" r="r" b="b"/>
              <a:pathLst>
                <a:path w="1947862" h="798195">
                  <a:moveTo>
                    <a:pt x="0" y="798195"/>
                  </a:moveTo>
                  <a:lnTo>
                    <a:pt x="0" y="336233"/>
                  </a:lnTo>
                  <a:lnTo>
                    <a:pt x="1947862" y="336233"/>
                  </a:lnTo>
                  <a:lnTo>
                    <a:pt x="194786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81375" y="33699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54718" y="3495675"/>
              <a:ext cx="1947863" cy="473392"/>
            </a:xfrm>
            <a:custGeom>
              <a:avLst/>
              <a:gdLst/>
              <a:ahLst/>
              <a:cxnLst/>
              <a:rect l="l" t="t" r="r" b="b"/>
              <a:pathLst>
                <a:path w="1947863" h="473392">
                  <a:moveTo>
                    <a:pt x="1947863" y="473392"/>
                  </a:moveTo>
                  <a:lnTo>
                    <a:pt x="1947863" y="173355"/>
                  </a:lnTo>
                  <a:lnTo>
                    <a:pt x="0" y="17335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81375" y="33699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136708" y="2831782"/>
              <a:ext cx="2157412" cy="1755458"/>
            </a:xfrm>
            <a:custGeom>
              <a:avLst/>
              <a:gdLst/>
              <a:ahLst/>
              <a:cxnLst/>
              <a:rect l="l" t="t" r="r" b="b"/>
              <a:pathLst>
                <a:path w="2157412" h="1755458">
                  <a:moveTo>
                    <a:pt x="0" y="0"/>
                  </a:moveTo>
                  <a:lnTo>
                    <a:pt x="209550" y="0"/>
                  </a:lnTo>
                  <a:lnTo>
                    <a:pt x="2064068" y="0"/>
                  </a:lnTo>
                  <a:lnTo>
                    <a:pt x="2064068" y="878205"/>
                  </a:lnTo>
                  <a:lnTo>
                    <a:pt x="2064068" y="1755458"/>
                  </a:lnTo>
                  <a:lnTo>
                    <a:pt x="2157412" y="1755458"/>
                  </a:lnTo>
                  <a:lnTo>
                    <a:pt x="2157412" y="175545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084570" y="4530090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35355" y="2619375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42975" y="262699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35355" y="28498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5355" y="29451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72728" y="2294572"/>
              <a:ext cx="1363980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780348" y="2302192"/>
              <a:ext cx="134969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72728" y="2525078"/>
              <a:ext cx="13639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72728" y="2620328"/>
              <a:ext cx="13639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35355" y="4293870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42975" y="430053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35355" y="45243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35355" y="46196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720590" y="3969068"/>
              <a:ext cx="1363980" cy="123729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728210" y="3975735"/>
              <a:ext cx="134969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720590" y="4199572"/>
              <a:ext cx="13639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20590" y="4456748"/>
              <a:ext cx="13639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06139" y="2675096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90822" y="2350294"/>
              <a:ext cx="727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44165" y="2689860"/>
              <a:ext cx="1221105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add(Component)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remove(Component)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getChild(int)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47369" y="4349591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Leaf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6792" y="4689158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56109" y="4024789"/>
              <a:ext cx="692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Composite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92028" y="4269105"/>
              <a:ext cx="928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children: List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92028" y="4526280"/>
              <a:ext cx="1221105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add(Component)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remove(Component)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getChild(int)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66335" y="2615565"/>
              <a:ext cx="61531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93024" y="2643188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children</a:t>
              </a:r>
            </a:p>
          </p:txBody>
        </p:sp>
      </p:grpSp>
      <p:grpSp>
        <p:nvGrpSpPr>
          <p:cNvPr id="52" name="c2-kv-1"/>
          <p:cNvGrpSpPr/>
          <p:nvPr/>
        </p:nvGrpSpPr>
        <p:grpSpPr>
          <a:xfrm>
            <a:off x="6673596" y="1977866"/>
            <a:ext cx="4985004" cy="1925574"/>
            <a:chOff x="6673596" y="1977866"/>
            <a:chExt cx="4985004" cy="1925574"/>
          </a:xfrm>
        </p:grpSpPr>
        <p:sp>
          <p:nvSpPr>
            <p:cNvPr id="44" name="TextBox 44"/>
            <p:cNvSpPr txBox="1"/>
            <p:nvPr/>
          </p:nvSpPr>
          <p:spPr>
            <a:xfrm>
              <a:off x="6673596" y="197786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两条继承线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61364" y="1977866"/>
              <a:ext cx="3576193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空心三角画在 Component 这一端，叶子和容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器都是抽象构件的子类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255174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73596" y="26674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一条聚合线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1364" y="2667476"/>
              <a:ext cx="353110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空心菱形画在 Composite 这一端，容器是整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体，抽象构件是部分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0835" y="32413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73596" y="33570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一条关联线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61364" y="3357086"/>
              <a:ext cx="352209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客户类只认识 Component，箭头指向抽象构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680835" y="4032885"/>
            <a:ext cx="4977765" cy="1564958"/>
            <a:chOff x="6680835" y="4032885"/>
            <a:chExt cx="4977765" cy="1564958"/>
          </a:xfrm>
        </p:grpSpPr>
        <p:sp>
          <p:nvSpPr>
            <p:cNvPr id="53" name="Rectangle 53"/>
            <p:cNvSpPr/>
            <p:nvPr/>
          </p:nvSpPr>
          <p:spPr>
            <a:xfrm>
              <a:off x="6680835" y="4032885"/>
              <a:ext cx="4977765" cy="1564958"/>
            </a:xfrm>
            <a:prstGeom prst="roundRect">
              <a:avLst>
                <a:gd name="adj" fmla="val 852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84670" y="42367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75831" y="42724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86079" y="4276249"/>
              <a:ext cx="26445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聚合线为什么指回 Component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7431" y="4628674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容器里装的不是 Composite，也不是 Leaf，而是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抽象</a:t>
              </a:r>
              <a:br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构件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。正因为指回了父类，容器里才可以既放叶子又放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容器，一层套一层地递归下去。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9" name="Rectangle 5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04084"/>
              <a:ext cx="73501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把聚合线画成 Composite 指向 Leaf 是最常见的错画法，那样容器就再也装不下容器。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结构、角色与对象图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三个角色加一个客户类，各管什么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6283642" cy="3869055"/>
            <a:chOff x="525780" y="1548765"/>
            <a:chExt cx="6283642" cy="386905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29587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Component 抽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象构件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57412" y="1548765"/>
              <a:ext cx="439674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可以是接口，也可以是抽象类。为叶子和容器声明公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共接口，可以包含所有子类共有行为的声明和默认实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现；透明式还在这里声明增加、删除、获取子构件的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71462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834640"/>
              <a:ext cx="13605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Leaf 叶子构件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57412" y="2834640"/>
              <a:ext cx="4396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表示叶子节点对象，没有子节点，实现抽象构件里声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明的业务行为。对于管理子构件的那些方法，通过抛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异常或错误提示来处理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71856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838575"/>
              <a:ext cx="124587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Composite 容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器构件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57412" y="3838575"/>
              <a:ext cx="4396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表示容器节点对象，子节点可以是叶子也可以是容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器。提供一个集合存储子节点，并在业务方法里递归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调用子节点的同名方法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7224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4842510"/>
              <a:ext cx="12845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Client 客户类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57412" y="4842510"/>
              <a:ext cx="43491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 Component 抽象构件编程，不关心自己拿到的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是叶子还是容器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7114222" y="1524000"/>
            <a:ext cx="4544378" cy="1917382"/>
            <a:chOff x="7114222" y="1524000"/>
            <a:chExt cx="4544378" cy="1917382"/>
          </a:xfrm>
        </p:grpSpPr>
        <p:sp>
          <p:nvSpPr>
            <p:cNvPr id="19" name="Rectangle 19"/>
            <p:cNvSpPr/>
            <p:nvPr/>
          </p:nvSpPr>
          <p:spPr>
            <a:xfrm>
              <a:off x="7114222" y="1524000"/>
              <a:ext cx="4544378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23748" y="165735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6194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容器不只是个集合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4252" y="212979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容器构件除了装子构件，自己也要实现业务方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法。它的业务方法通常先做自己那一份事，再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遍历子构件逐个调用同名方法。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5396" y="3033236"/>
              <a:ext cx="4105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 add、remove 而业务方法是空的，那只是个列表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7114222" y="3631882"/>
            <a:ext cx="4544378" cy="1726882"/>
            <a:chOff x="7114222" y="3631882"/>
            <a:chExt cx="4544378" cy="1726882"/>
          </a:xfrm>
        </p:grpSpPr>
        <p:sp>
          <p:nvSpPr>
            <p:cNvPr id="27" name="Rectangle 27"/>
            <p:cNvSpPr/>
            <p:nvPr/>
          </p:nvSpPr>
          <p:spPr>
            <a:xfrm>
              <a:off x="7114222" y="3631882"/>
              <a:ext cx="4544378" cy="1726882"/>
            </a:xfrm>
            <a:prstGeom prst="roundRect">
              <a:avLst>
                <a:gd name="adj" fmla="val 77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3765232"/>
              <a:ext cx="47625" cy="14601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38414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52081" y="3877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61948" y="38766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三个角色对上文件系统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54252" y="4237672"/>
              <a:ext cx="3882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 对应“文件系统里的一项”，Leaf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对应文件，Composite 对应文件夹，Client 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是调用查毒、统计、复制的那段代码。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判断一个设计是不是组合模式，先找抽象构件，再看容器的业务方法有没有递归调用子构件。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结构、角色与对象图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三个类，能长出任意深的一棵树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284089" cy="264033"/>
            <a:chOff x="526542" y="1545907"/>
            <a:chExt cx="52840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类图上永远只有三个类，对象图却可以有无穷多层，两者别看混。</a:t>
              </a:r>
            </a:p>
          </p:txBody>
        </p:sp>
      </p:grpSp>
      <p:grpSp>
        <p:nvGrpSpPr>
          <p:cNvPr id="26" name="c1-tree-1"/>
          <p:cNvGrpSpPr/>
          <p:nvPr/>
        </p:nvGrpSpPr>
        <p:grpSpPr>
          <a:xfrm>
            <a:off x="1096328" y="2086928"/>
            <a:ext cx="4284345" cy="1737360"/>
            <a:chOff x="1096328" y="2086928"/>
            <a:chExt cx="4284345" cy="1737360"/>
          </a:xfrm>
        </p:grpSpPr>
        <p:sp>
          <p:nvSpPr>
            <p:cNvPr id="9" name="Freeform 9"/>
            <p:cNvSpPr/>
            <p:nvPr/>
          </p:nvSpPr>
          <p:spPr>
            <a:xfrm>
              <a:off x="2787968" y="2955608"/>
              <a:ext cx="450533" cy="683895"/>
            </a:xfrm>
            <a:custGeom>
              <a:avLst/>
              <a:gdLst/>
              <a:ahLst/>
              <a:cxnLst/>
              <a:rect l="l" t="t" r="r" b="b"/>
              <a:pathLst>
                <a:path w="450533" h="683895">
                  <a:moveTo>
                    <a:pt x="450533" y="0"/>
                  </a:moveTo>
                  <a:lnTo>
                    <a:pt x="0" y="6838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38500" y="2955608"/>
              <a:ext cx="450533" cy="683895"/>
            </a:xfrm>
            <a:custGeom>
              <a:avLst/>
              <a:gdLst/>
              <a:ahLst/>
              <a:cxnLst/>
              <a:rect l="l" t="t" r="r" b="b"/>
              <a:pathLst>
                <a:path w="450533" h="683895">
                  <a:moveTo>
                    <a:pt x="0" y="0"/>
                  </a:moveTo>
                  <a:lnTo>
                    <a:pt x="450533" y="6838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35418" y="2270760"/>
              <a:ext cx="1803082" cy="684848"/>
            </a:xfrm>
            <a:custGeom>
              <a:avLst/>
              <a:gdLst/>
              <a:ahLst/>
              <a:cxnLst/>
              <a:rect l="l" t="t" r="r" b="b"/>
              <a:pathLst>
                <a:path w="1803082" h="684848">
                  <a:moveTo>
                    <a:pt x="1803082" y="0"/>
                  </a:moveTo>
                  <a:lnTo>
                    <a:pt x="0" y="6848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38500" y="2270760"/>
              <a:ext cx="9525" cy="684848"/>
            </a:xfrm>
            <a:custGeom>
              <a:avLst/>
              <a:gdLst/>
              <a:ahLst/>
              <a:cxnLst/>
              <a:rect l="l" t="t" r="r" b="b"/>
              <a:pathLst>
                <a:path w="9525" h="684848">
                  <a:moveTo>
                    <a:pt x="0" y="0"/>
                  </a:moveTo>
                  <a:lnTo>
                    <a:pt x="0" y="6848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238500" y="2270760"/>
              <a:ext cx="1803082" cy="684848"/>
            </a:xfrm>
            <a:custGeom>
              <a:avLst/>
              <a:gdLst/>
              <a:ahLst/>
              <a:cxnLst/>
              <a:rect l="l" t="t" r="r" b="b"/>
              <a:pathLst>
                <a:path w="1803082" h="684848">
                  <a:moveTo>
                    <a:pt x="0" y="0"/>
                  </a:moveTo>
                  <a:lnTo>
                    <a:pt x="1803082" y="6848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96328" y="2770822"/>
              <a:ext cx="677228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48878" y="3455670"/>
              <a:ext cx="677228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350895" y="3455670"/>
              <a:ext cx="677228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71762" y="2770822"/>
              <a:ext cx="1133475" cy="368618"/>
            </a:xfrm>
            <a:prstGeom prst="roundRect">
              <a:avLst>
                <a:gd name="adj" fmla="val 2067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703445" y="2770822"/>
              <a:ext cx="677228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38425" y="2086928"/>
              <a:ext cx="12001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79776" y="2899410"/>
              <a:ext cx="51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: Leaf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32326" y="3584258"/>
              <a:ext cx="51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 : Leaf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33391" y="3584258"/>
              <a:ext cx="51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 : Leaf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41646" y="2899410"/>
              <a:ext cx="9937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: Composite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85941" y="2899410"/>
              <a:ext cx="51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 : Leaf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06687" y="2214562"/>
              <a:ext cx="10636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 : Composite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151948"/>
            <a:ext cx="5410200" cy="1507808"/>
            <a:chOff x="533400" y="4151948"/>
            <a:chExt cx="5410200" cy="1507808"/>
          </a:xfrm>
        </p:grpSpPr>
        <p:sp>
          <p:nvSpPr>
            <p:cNvPr id="27" name="Rectangle 27"/>
            <p:cNvSpPr/>
            <p:nvPr/>
          </p:nvSpPr>
          <p:spPr>
            <a:xfrm>
              <a:off x="533400" y="4151948"/>
              <a:ext cx="5410200" cy="1507808"/>
            </a:xfrm>
            <a:prstGeom prst="roundRect">
              <a:avLst>
                <a:gd name="adj" fmla="val 758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806315"/>
              <a:ext cx="200026" cy="200026"/>
              <a:chOff x="738188" y="480631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8063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48729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49063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4687252"/>
              <a:ext cx="44285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这是对象图，每个框都是一个运行期对象，root 和 sub 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同一个类的两个实例。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928812"/>
            <a:ext cx="5410200" cy="1202055"/>
            <a:chOff x="6248400" y="1928812"/>
            <a:chExt cx="5410200" cy="1202055"/>
          </a:xfrm>
        </p:grpSpPr>
        <p:sp>
          <p:nvSpPr>
            <p:cNvPr id="34" name="Rectangle 34"/>
            <p:cNvSpPr/>
            <p:nvPr/>
          </p:nvSpPr>
          <p:spPr>
            <a:xfrm>
              <a:off x="6248400" y="1928812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350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277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0684" y="215074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抽象构件既代表叶子，又代表容器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8232" y="247650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客户端针对抽象构件类编程，无须知道它到底表示的是叶子还是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容器，可以对其进行统一处理。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248400" y="3301365"/>
            <a:ext cx="5410200" cy="1459230"/>
            <a:chOff x="6248400" y="3301365"/>
            <a:chExt cx="5410200" cy="1459230"/>
          </a:xfrm>
        </p:grpSpPr>
        <p:sp>
          <p:nvSpPr>
            <p:cNvPr id="40" name="Rectangle 40"/>
            <p:cNvSpPr/>
            <p:nvPr/>
          </p:nvSpPr>
          <p:spPr>
            <a:xfrm>
              <a:off x="6248400" y="3301365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343471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3190" y="348805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7759" y="35209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递归组合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88339" y="352234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聚合关联是树能长深的原因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6332" y="3849052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容器对象与抽象构件类之间建立了聚合关联关系，容器里既可以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放叶子也可以放容器，以此实现递归组合。加一层不需要新增任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何类，只是多 new 一个 Composite 再 add 进去。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248400" y="4930140"/>
            <a:ext cx="5410200" cy="729615"/>
            <a:chOff x="6248400" y="4930140"/>
            <a:chExt cx="5410200" cy="729615"/>
          </a:xfrm>
        </p:grpSpPr>
        <p:sp>
          <p:nvSpPr>
            <p:cNvPr id="47" name="Rectangle 47"/>
            <p:cNvSpPr/>
            <p:nvPr/>
          </p:nvSpPr>
          <p:spPr>
            <a:xfrm>
              <a:off x="6248400" y="493014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453188" y="5194935"/>
              <a:ext cx="200026" cy="200025"/>
              <a:chOff x="6453188" y="5194935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453188" y="51949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492926" y="52393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27642" y="53505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55892" y="507682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考试要求画的是类图，三个类就够；解释运行过程时才画对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象图。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4" name="Rectangle 5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8373"/>
              <a:ext cx="647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一棵树里可以有很多个 Composite 实例，但它们全是同一个类，代码只写一遍。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688425" cy="2997517"/>
            <a:chOff x="667512" y="1835468"/>
            <a:chExt cx="568842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8842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标准实现与递归遍历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把三个角色写成能跑的代码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抽象构件与叶子构件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容器构件里的递归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客户端组装与输出推演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139" y="407194"/>
              <a:ext cx="2477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Java 标准实现与递归遍历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抽象构件与叶子构件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透明式把四个方法都放进抽象构件，叶子没法实现的那三个只能报错。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167438" cy="3670935"/>
            <a:chOff x="533400" y="1928812"/>
            <a:chExt cx="6167438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25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Component 与 Leaf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237672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577588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业务方法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add(Component c);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增加成员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remove(Component c);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删除成员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getChild(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获取成员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Leaf(String name)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.name = name;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"叶子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RuntimeException deny() {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叶子没有子构件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UnsupportedOperationException(name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是叶子"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add(Component c)   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deny();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remove(Component c)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deny();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getChild(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deny();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7005638" y="1928812"/>
            <a:ext cx="4652962" cy="2017395"/>
            <a:chOff x="7005638" y="1928812"/>
            <a:chExt cx="4652962" cy="2017395"/>
          </a:xfrm>
        </p:grpSpPr>
        <p:sp>
          <p:nvSpPr>
            <p:cNvPr id="14" name="Rectangle 14"/>
            <p:cNvSpPr/>
            <p:nvPr/>
          </p:nvSpPr>
          <p:spPr>
            <a:xfrm>
              <a:off x="7005638" y="1928812"/>
              <a:ext cx="4652962" cy="2017395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15162" y="2062162"/>
              <a:ext cx="47625" cy="17506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30428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23099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96974" y="215074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原课件的叶子代码编译不过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23570" y="2476500"/>
              <a:ext cx="39484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课件的 Leaf 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 Component getChild(int</a:t>
              </a:r>
              <a:br/>
              <a:r>
                <a:rPr lang="zh-CN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i) { //错误提示 }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，声明了返回值却只有一行注释，</a:t>
              </a:r>
              <a:br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缺少 return 语句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，编译器会直接报错。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23570" y="3290888"/>
              <a:ext cx="39484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正确做法是抛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UnsupportedOperationException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让错误在调用点暴露。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7005638" y="4115752"/>
            <a:ext cx="4652962" cy="1483995"/>
            <a:chOff x="7005638" y="4115752"/>
            <a:chExt cx="4652962" cy="1483995"/>
          </a:xfrm>
        </p:grpSpPr>
        <p:sp>
          <p:nvSpPr>
            <p:cNvPr id="22" name="Rectangle 22"/>
            <p:cNvSpPr/>
            <p:nvPr/>
          </p:nvSpPr>
          <p:spPr>
            <a:xfrm>
              <a:off x="7005638" y="4115752"/>
              <a:ext cx="4652962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15162" y="4249102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30428" y="43024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23099" y="43353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96974" y="433768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这三个方法给叶子带来麻烦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23570" y="4663440"/>
              <a:ext cx="40170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作为抽象构件的子类，叶子必须实现所有声明过的方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法。add、remove、getChild 对它没有意义，却又不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能不写。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9" name="Rectangle 2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6028373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抛异常不算解决问题，只是把“叶子不能有孩子”这件事推迟到运行期才说出口。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139" y="407194"/>
              <a:ext cx="2477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Java 标准实现与递归遍历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容器构件：业务方法里那一行递归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容器和叶子的区别只有两点：多一个集合，业务方法里多一个循环。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167438" cy="3495675"/>
            <a:chOff x="533400" y="1928812"/>
            <a:chExt cx="6167438" cy="34956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692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Composite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590098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415790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Composite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List&lt;Component&gt; children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Composite(String name)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.name = name;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add(Component c)     { children.add(c);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remove(Component c)  { children.remove(c);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getChild(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children.get(i);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"容器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先做自己那一份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(Component c : children)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c.operation();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递归的落点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7005638" y="1928812"/>
            <a:ext cx="4652962" cy="1930718"/>
            <a:chOff x="7005638" y="1928812"/>
            <a:chExt cx="4652962" cy="1930718"/>
          </a:xfrm>
        </p:grpSpPr>
        <p:sp>
          <p:nvSpPr>
            <p:cNvPr id="14" name="Rectangle 14"/>
            <p:cNvSpPr/>
            <p:nvPr/>
          </p:nvSpPr>
          <p:spPr>
            <a:xfrm>
              <a:off x="7005638" y="1928812"/>
              <a:ext cx="4652962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15162" y="2062162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24712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17384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91641" y="214931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原课件容器代码的两处问题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224712" y="245459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76619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5413" y="2465546"/>
              <a:ext cx="3816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getChild()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{ (Component)list.get(i); }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少</a:t>
              </a:r>
              <a:br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了 return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，编译不过。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224712" y="298227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76619" y="30179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5413" y="2994184"/>
              <a:ext cx="3020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集合用的是裸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ArrayList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，取元素要写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((Component)obj).operation()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。改成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List&lt;Component&gt;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后转型可以全部去掉。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7005638" y="4024312"/>
            <a:ext cx="4652962" cy="1399222"/>
            <a:chOff x="7005638" y="4024312"/>
            <a:chExt cx="4652962" cy="1399222"/>
          </a:xfrm>
        </p:grpSpPr>
        <p:sp>
          <p:nvSpPr>
            <p:cNvPr id="26" name="Rectangle 26"/>
            <p:cNvSpPr/>
            <p:nvPr/>
          </p:nvSpPr>
          <p:spPr>
            <a:xfrm>
              <a:off x="7005638" y="4024312"/>
              <a:ext cx="4652962" cy="1399222"/>
            </a:xfrm>
            <a:prstGeom prst="roundRect">
              <a:avLst>
                <a:gd name="adj" fmla="val 953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86612" y="42052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79284" y="42381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53541" y="42448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递归写对只要三件事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80136" y="4561999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循环变量声明成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抽象构件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类型；循环体里调用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同一个方法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名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；叶子的实现里没有循环，递归在叶子处终止。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2" name="Rectangle 3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1273" y="6039326"/>
              <a:ext cx="71725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容器的业务方法里如果出现 instanceof，说明抽象构件没抽干净，回头改接口而不是加分支。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139" y="407194"/>
              <a:ext cx="2477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Java 标准实现与递归遍历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客户端组装与调用推演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871210" cy="293370"/>
            <a:chOff x="525780" y="1548765"/>
            <a:chExt cx="58712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客户端只做两件事：把树搭起来，然后对根节点调一次业务方法。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54530"/>
            <a:ext cx="5410200" cy="2776538"/>
            <a:chOff x="533400" y="1954530"/>
            <a:chExt cx="5410200" cy="27765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411028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67915"/>
              <a:ext cx="3631121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Composite root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Composite(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"root"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Composite sub 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Composite(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"sub"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root.add(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先加叶子 a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root.add(sub);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再加子容器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root.add(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sub.add(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sub.add(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Component top = root;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客户端只认抽象构件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top.operation();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只调一次 */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4911090"/>
            <a:ext cx="5410200" cy="756285"/>
            <a:chOff x="533400" y="4911090"/>
            <a:chExt cx="5410200" cy="756285"/>
          </a:xfrm>
        </p:grpSpPr>
        <p:sp>
          <p:nvSpPr>
            <p:cNvPr id="14" name="Rectangle 14"/>
            <p:cNvSpPr/>
            <p:nvPr/>
          </p:nvSpPr>
          <p:spPr>
            <a:xfrm>
              <a:off x="533400" y="491109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189220"/>
              <a:ext cx="200026" cy="200025"/>
              <a:chOff x="738188" y="5189220"/>
              <a:chExt cx="200026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1892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7926" y="52336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2642" y="53447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511" y="5058251"/>
              <a:ext cx="45139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top 换成 new Leaf("x") 也照样能调，客户端一行都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不用改。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248400" y="1954530"/>
            <a:ext cx="5410200" cy="1640205"/>
            <a:chOff x="6248400" y="1954530"/>
            <a:chExt cx="5410200" cy="164020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54530"/>
              <a:ext cx="541020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797" y="21064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运行输出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416" y="2367915"/>
              <a:ext cx="644080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容器 root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叶子 a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容器 sub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叶子 b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叶子 c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叶子 d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74758"/>
            <a:ext cx="5410200" cy="1892618"/>
            <a:chOff x="6248400" y="3774758"/>
            <a:chExt cx="5410200" cy="1892618"/>
          </a:xfrm>
        </p:grpSpPr>
        <p:sp>
          <p:nvSpPr>
            <p:cNvPr id="25" name="Rectangle 25"/>
            <p:cNvSpPr/>
            <p:nvPr/>
          </p:nvSpPr>
          <p:spPr>
            <a:xfrm>
              <a:off x="6248400" y="3774758"/>
              <a:ext cx="5410200" cy="1892618"/>
            </a:xfrm>
            <a:prstGeom prst="roundRect">
              <a:avLst>
                <a:gd name="adj" fmla="val 70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3908108"/>
              <a:ext cx="47625" cy="16259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84620" y="39728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76060" y="40071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67931" y="400859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这个顺序是怎么来的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7381" y="4351496"/>
              <a:ext cx="46943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root.operation()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先打印自己，再按 add 的顺序遍历 a、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sub、d。轮到 sub 时它同样先打印自己，再遍历 b、c，回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来之后才轮到 d。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8524" y="520827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也就是树的先序遍历，递归深度等于树的层数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3" name="Rectangle 3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6011704"/>
              <a:ext cx="63705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把三个 add 的顺序换一换，输出顺序就跟着换，组合模式不保证任何排序。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580638" cy="2997517"/>
            <a:chOff x="667512" y="1835468"/>
            <a:chExt cx="358063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透明式与安全式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管理子构件的方法到底放在哪个类里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透明式保住一致的接口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安全式保住编译期的检查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两种形式怎么选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透明式与安全式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透明式：管理方法声明在抽象构件里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284089" cy="264033"/>
            <a:chOff x="526542" y="1545907"/>
            <a:chExt cx="52840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这是组合模式的标准形式，客户端拿到什么都按同一套方法调用。</a:t>
              </a:r>
            </a:p>
          </p:txBody>
        </p:sp>
      </p:grpSp>
      <p:grpSp>
        <p:nvGrpSpPr>
          <p:cNvPr id="35" name="c1-uml-1"/>
          <p:cNvGrpSpPr/>
          <p:nvPr/>
        </p:nvGrpSpPr>
        <p:grpSpPr>
          <a:xfrm>
            <a:off x="734378" y="2014538"/>
            <a:ext cx="4784407" cy="2176462"/>
            <a:chOff x="734378" y="2014538"/>
            <a:chExt cx="4784407" cy="2176462"/>
          </a:xfrm>
        </p:grpSpPr>
        <p:sp>
          <p:nvSpPr>
            <p:cNvPr id="9" name="Freeform 9"/>
            <p:cNvSpPr/>
            <p:nvPr/>
          </p:nvSpPr>
          <p:spPr>
            <a:xfrm>
              <a:off x="1363028" y="3102292"/>
              <a:ext cx="1659255" cy="85725"/>
            </a:xfrm>
            <a:custGeom>
              <a:avLst/>
              <a:gdLst/>
              <a:ahLst/>
              <a:cxnLst/>
              <a:rect l="l" t="t" r="r" b="b"/>
              <a:pathLst>
                <a:path w="1659255" h="85725">
                  <a:moveTo>
                    <a:pt x="0" y="85725"/>
                  </a:moveTo>
                  <a:lnTo>
                    <a:pt x="0" y="0"/>
                  </a:lnTo>
                  <a:lnTo>
                    <a:pt x="1659255" y="0"/>
                  </a:lnTo>
                  <a:lnTo>
                    <a:pt x="1659255" y="4000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48940" y="30165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3102292"/>
              <a:ext cx="1659255" cy="85725"/>
            </a:xfrm>
            <a:custGeom>
              <a:avLst/>
              <a:gdLst/>
              <a:ahLst/>
              <a:cxnLst/>
              <a:rect l="l" t="t" r="r" b="b"/>
              <a:pathLst>
                <a:path w="1659255" h="85725">
                  <a:moveTo>
                    <a:pt x="1659255" y="85725"/>
                  </a:moveTo>
                  <a:lnTo>
                    <a:pt x="1659255" y="0"/>
                  </a:lnTo>
                  <a:lnTo>
                    <a:pt x="0" y="0"/>
                  </a:lnTo>
                  <a:lnTo>
                    <a:pt x="0" y="4000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48940" y="30165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49980" y="2515552"/>
              <a:ext cx="1868805" cy="1174432"/>
            </a:xfrm>
            <a:custGeom>
              <a:avLst/>
              <a:gdLst/>
              <a:ahLst/>
              <a:cxnLst/>
              <a:rect l="l" t="t" r="r" b="b"/>
              <a:pathLst>
                <a:path w="1868805" h="1174432">
                  <a:moveTo>
                    <a:pt x="0" y="0"/>
                  </a:moveTo>
                  <a:lnTo>
                    <a:pt x="209550" y="0"/>
                  </a:lnTo>
                  <a:lnTo>
                    <a:pt x="1711642" y="0"/>
                  </a:lnTo>
                  <a:lnTo>
                    <a:pt x="1711642" y="586740"/>
                  </a:lnTo>
                  <a:lnTo>
                    <a:pt x="1711642" y="1174432"/>
                  </a:lnTo>
                  <a:lnTo>
                    <a:pt x="1868805" y="1174432"/>
                  </a:lnTo>
                  <a:lnTo>
                    <a:pt x="1868805" y="117443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09235" y="3631882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93632" y="2014538"/>
              <a:ext cx="1256348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01252" y="2021205"/>
              <a:ext cx="124206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393632" y="2226945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393632" y="2322195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4378" y="3188018"/>
              <a:ext cx="1256348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1998" y="3195638"/>
              <a:ext cx="124206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4378" y="3400425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4378" y="3495675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052888" y="3188018"/>
              <a:ext cx="1256348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060508" y="3195638"/>
              <a:ext cx="124206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52888" y="3400425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52888" y="3495675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687879" y="2065972"/>
              <a:ext cx="6688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65070" y="2390299"/>
              <a:ext cx="1113409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getChild(int)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16347" y="3239452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Leaf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5815" y="3563779"/>
              <a:ext cx="1113409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getChild(int)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63136" y="3239452"/>
              <a:ext cx="6368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Composite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24325" y="3563779"/>
              <a:ext cx="1113409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getChild(int)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340542" y="2319338"/>
              <a:ext cx="54102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370032" y="2342198"/>
              <a:ext cx="4820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children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5815965" y="1928812"/>
            <a:ext cx="5842635" cy="1160145"/>
            <a:chOff x="5815965" y="1928812"/>
            <a:chExt cx="5842635" cy="1160145"/>
          </a:xfrm>
        </p:grpSpPr>
        <p:sp>
          <p:nvSpPr>
            <p:cNvPr id="36" name="Rectangle 36"/>
            <p:cNvSpPr/>
            <p:nvPr/>
          </p:nvSpPr>
          <p:spPr>
            <a:xfrm>
              <a:off x="5815965" y="1928812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5490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3504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675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1016" y="21493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透明组合模式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8563" y="2465546"/>
              <a:ext cx="5125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在抽象构件中声明了所有用于管理成员对象的方法，包括 add、remove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以及 getChild，这样能确保所有构件类都有相同的接口。</a:t>
              </a:r>
            </a:p>
          </p:txBody>
        </p:sp>
      </p:grpSp>
      <p:grpSp>
        <p:nvGrpSpPr>
          <p:cNvPr id="48" name="c2-bullets-2"/>
          <p:cNvGrpSpPr/>
          <p:nvPr/>
        </p:nvGrpSpPr>
        <p:grpSpPr>
          <a:xfrm>
            <a:off x="5809488" y="3275171"/>
            <a:ext cx="3867760" cy="843724"/>
            <a:chOff x="5809488" y="3275171"/>
            <a:chExt cx="3867760" cy="843724"/>
          </a:xfrm>
        </p:grpSpPr>
        <p:sp>
          <p:nvSpPr>
            <p:cNvPr id="43" name="TextBox 43"/>
            <p:cNvSpPr txBox="1"/>
            <p:nvPr/>
          </p:nvSpPr>
          <p:spPr>
            <a:xfrm>
              <a:off x="5809488" y="32751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换来的好处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815965" y="3603308"/>
              <a:ext cx="121920" cy="99060"/>
            </a:xfrm>
            <a:custGeom>
              <a:avLst/>
              <a:gdLst/>
              <a:ahLst/>
              <a:cxnLst/>
              <a:rect l="l" t="t" r="r" b="b"/>
              <a:pathLst>
                <a:path w="121920" h="99060">
                  <a:moveTo>
                    <a:pt x="0" y="52388"/>
                  </a:moveTo>
                  <a:lnTo>
                    <a:pt x="46672" y="99060"/>
                  </a:lnTo>
                  <a:lnTo>
                    <a:pt x="12192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45708" y="357616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叶子对象与容器对象提供的方法完全一致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5815965" y="3895725"/>
              <a:ext cx="121920" cy="99060"/>
            </a:xfrm>
            <a:custGeom>
              <a:avLst/>
              <a:gdLst/>
              <a:ahLst/>
              <a:cxnLst/>
              <a:rect l="l" t="t" r="r" b="b"/>
              <a:pathLst>
                <a:path w="121920" h="99060">
                  <a:moveTo>
                    <a:pt x="0" y="52388"/>
                  </a:moveTo>
                  <a:lnTo>
                    <a:pt x="46672" y="99060"/>
                  </a:lnTo>
                  <a:lnTo>
                    <a:pt x="12192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45708" y="386953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客户端可以相同地对待所有对象，不必判断类型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5815965" y="4232910"/>
            <a:ext cx="5842635" cy="1160145"/>
            <a:chOff x="5815965" y="4232910"/>
            <a:chExt cx="5842635" cy="1160145"/>
          </a:xfrm>
        </p:grpSpPr>
        <p:sp>
          <p:nvSpPr>
            <p:cNvPr id="49" name="Rectangle 49"/>
            <p:cNvSpPr/>
            <p:nvPr/>
          </p:nvSpPr>
          <p:spPr>
            <a:xfrm>
              <a:off x="5815965" y="4232910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25490" y="436626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35040" y="44138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6759" y="44467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01016" y="44534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不够安全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28563" y="4770596"/>
              <a:ext cx="51579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叶子本质上不可能有下一层对象，为它提供 add、remove、getChild 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有意义。这在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编译阶段不会出错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，运行阶段调用到却可能出错。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61817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前面第 13、14 页的标准代码就是透明式，叶子的三个管理方法全靠抛异常顶着。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透明式与安全式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安全式：管理方法只放在容器构件里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02352" cy="264033"/>
            <a:chOff x="526542" y="1545907"/>
            <a:chExt cx="510235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抽象构件里干脆不声明管理方法，叶子也就没有机会被误调用。</a:t>
              </a:r>
            </a:p>
          </p:txBody>
        </p:sp>
      </p:grpSp>
      <p:grpSp>
        <p:nvGrpSpPr>
          <p:cNvPr id="35" name="c1-uml-1"/>
          <p:cNvGrpSpPr/>
          <p:nvPr/>
        </p:nvGrpSpPr>
        <p:grpSpPr>
          <a:xfrm>
            <a:off x="791528" y="2237422"/>
            <a:ext cx="4727257" cy="1953578"/>
            <a:chOff x="791528" y="2237422"/>
            <a:chExt cx="4727257" cy="1953578"/>
          </a:xfrm>
        </p:grpSpPr>
        <p:sp>
          <p:nvSpPr>
            <p:cNvPr id="9" name="Freeform 9"/>
            <p:cNvSpPr/>
            <p:nvPr/>
          </p:nvSpPr>
          <p:spPr>
            <a:xfrm>
              <a:off x="1363028" y="2919412"/>
              <a:ext cx="1659255" cy="491490"/>
            </a:xfrm>
            <a:custGeom>
              <a:avLst/>
              <a:gdLst/>
              <a:ahLst/>
              <a:cxnLst/>
              <a:rect l="l" t="t" r="r" b="b"/>
              <a:pathLst>
                <a:path w="1659255" h="491490">
                  <a:moveTo>
                    <a:pt x="0" y="491490"/>
                  </a:moveTo>
                  <a:lnTo>
                    <a:pt x="0" y="182880"/>
                  </a:lnTo>
                  <a:lnTo>
                    <a:pt x="1659255" y="182880"/>
                  </a:lnTo>
                  <a:lnTo>
                    <a:pt x="165925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48940" y="27936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2919412"/>
              <a:ext cx="1659255" cy="268605"/>
            </a:xfrm>
            <a:custGeom>
              <a:avLst/>
              <a:gdLst/>
              <a:ahLst/>
              <a:cxnLst/>
              <a:rect l="l" t="t" r="r" b="b"/>
              <a:pathLst>
                <a:path w="1659255" h="268605">
                  <a:moveTo>
                    <a:pt x="1659255" y="268605"/>
                  </a:moveTo>
                  <a:lnTo>
                    <a:pt x="1659255" y="71438"/>
                  </a:lnTo>
                  <a:lnTo>
                    <a:pt x="0" y="7143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48940" y="27936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593782" y="2515552"/>
              <a:ext cx="1925002" cy="1174432"/>
            </a:xfrm>
            <a:custGeom>
              <a:avLst/>
              <a:gdLst/>
              <a:ahLst/>
              <a:cxnLst/>
              <a:rect l="l" t="t" r="r" b="b"/>
              <a:pathLst>
                <a:path w="1925002" h="1174432">
                  <a:moveTo>
                    <a:pt x="0" y="0"/>
                  </a:moveTo>
                  <a:lnTo>
                    <a:pt x="209550" y="0"/>
                  </a:lnTo>
                  <a:lnTo>
                    <a:pt x="1767840" y="0"/>
                  </a:lnTo>
                  <a:lnTo>
                    <a:pt x="1767840" y="586740"/>
                  </a:lnTo>
                  <a:lnTo>
                    <a:pt x="1767840" y="1174432"/>
                  </a:lnTo>
                  <a:lnTo>
                    <a:pt x="1925002" y="1174432"/>
                  </a:lnTo>
                  <a:lnTo>
                    <a:pt x="1925002" y="117443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09235" y="3631882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50782" y="223742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57450" y="224409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450782" y="24498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50782" y="25450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91528" y="341090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8195" y="341852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91528" y="36233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91528" y="37185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052888" y="3188018"/>
              <a:ext cx="1256348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060508" y="3195638"/>
              <a:ext cx="124206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52888" y="3400425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52888" y="3495675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687879" y="2288858"/>
              <a:ext cx="6688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22220" y="2613184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16347" y="3462338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Leaf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2965" y="3786664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63136" y="3239452"/>
              <a:ext cx="6368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Composite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24325" y="3563779"/>
              <a:ext cx="1113409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getChild(int)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311968" y="2319338"/>
              <a:ext cx="54102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341457" y="2342198"/>
              <a:ext cx="4820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children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5815965" y="1928812"/>
            <a:ext cx="5842635" cy="1160145"/>
            <a:chOff x="5815965" y="1928812"/>
            <a:chExt cx="5842635" cy="1160145"/>
          </a:xfrm>
        </p:grpSpPr>
        <p:sp>
          <p:nvSpPr>
            <p:cNvPr id="36" name="Rectangle 36"/>
            <p:cNvSpPr/>
            <p:nvPr/>
          </p:nvSpPr>
          <p:spPr>
            <a:xfrm>
              <a:off x="5815965" y="1928812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5490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3504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675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1016" y="21493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安全组合模式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8563" y="2465546"/>
              <a:ext cx="5133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抽象构件中不声明任何用于管理成员对象的方法，改在 Composite 类中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声明并实现。根本不向叶子提供这些方法，客户端也就调用不到。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5815965" y="3253740"/>
            <a:ext cx="5842635" cy="917258"/>
            <a:chOff x="5815965" y="3253740"/>
            <a:chExt cx="5842635" cy="917258"/>
          </a:xfrm>
        </p:grpSpPr>
        <p:sp>
          <p:nvSpPr>
            <p:cNvPr id="43" name="Rectangle 43"/>
            <p:cNvSpPr/>
            <p:nvPr/>
          </p:nvSpPr>
          <p:spPr>
            <a:xfrm>
              <a:off x="5815965" y="3253740"/>
              <a:ext cx="5842635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25490" y="3387090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5040" y="34347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6759" y="34675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01016" y="3474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不够透明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28563" y="379142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叶子和容器的方法不一样，客户端不能完全针对抽象编程。</a:t>
              </a:r>
            </a:p>
          </p:txBody>
        </p:sp>
      </p:grpSp>
      <p:grpSp>
        <p:nvGrpSpPr>
          <p:cNvPr id="53" name="c2-code-3"/>
          <p:cNvGrpSpPr/>
          <p:nvPr/>
        </p:nvGrpSpPr>
        <p:grpSpPr>
          <a:xfrm>
            <a:off x="5815965" y="4335780"/>
            <a:ext cx="5842635" cy="1209675"/>
            <a:chOff x="5815965" y="4335780"/>
            <a:chExt cx="5842635" cy="1209675"/>
          </a:xfrm>
        </p:grpSpPr>
        <p:sp>
          <p:nvSpPr>
            <p:cNvPr id="50" name="Rectangle 50"/>
            <p:cNvSpPr/>
            <p:nvPr/>
          </p:nvSpPr>
          <p:spPr>
            <a:xfrm>
              <a:off x="5815965" y="4335780"/>
              <a:ext cx="5842635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44362" y="448770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客户端要多一次向下转型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44362" y="4748689"/>
              <a:ext cx="3563239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Component c = getNode();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Composite)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躲不掉的判断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((Composite) c).add(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5699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安全式并没有消灭类型判断，只是把它从业务方法挪到了组装树的那几行。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透明式与安全式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两种形式怎么选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131611" cy="278702"/>
            <a:chOff x="526161" y="1547336"/>
            <a:chExt cx="613161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131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差别只有一处：那三个管理方法写在抽象构件里，还是写在容器构件里。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41195"/>
            <a:ext cx="6059805" cy="2834640"/>
            <a:chOff x="533400" y="1941195"/>
            <a:chExt cx="6059805" cy="283464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366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63800" y="206549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透明式（标准形式）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79276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管理方法在哪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66912" y="24712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抽象构件里声明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0065" y="24712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只在容器构件里声明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107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叶子有没有 add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66912" y="28770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有，只能抛异常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30065" y="2877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客户端要不要区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76425" y="3168015"/>
              <a:ext cx="2344102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66912" y="338280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不用，全按抽象构件调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30065" y="338280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组装时要转型成容器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7595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764280"/>
              <a:ext cx="605980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3888581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错误在什么时候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暴露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66912" y="3988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239578" y="3773805"/>
              <a:ext cx="2344102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30065" y="3988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653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449437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牺牲了什么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66912" y="44943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30065" y="44943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41195"/>
              <a:ext cx="6059805" cy="28346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862138" y="1941195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225290" y="1941195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4951095"/>
            <a:ext cx="6059805" cy="729615"/>
            <a:chOff x="533400" y="4951095"/>
            <a:chExt cx="6059805" cy="729615"/>
          </a:xfrm>
        </p:grpSpPr>
        <p:sp>
          <p:nvSpPr>
            <p:cNvPr id="40" name="Rectangle 40"/>
            <p:cNvSpPr/>
            <p:nvPr/>
          </p:nvSpPr>
          <p:spPr>
            <a:xfrm>
              <a:off x="533400" y="4951095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215890"/>
              <a:ext cx="200026" cy="200026"/>
              <a:chOff x="738188" y="5215890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2158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2825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3159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097780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两种形式在实际应用里使用频率都很高，考试问的通常是它们各自牺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牲了什么。</a:t>
              </a:r>
            </a:p>
          </p:txBody>
        </p:sp>
      </p:grpSp>
      <p:grpSp>
        <p:nvGrpSpPr>
          <p:cNvPr id="49" name="c2-image-1"/>
          <p:cNvGrpSpPr/>
          <p:nvPr/>
        </p:nvGrpSpPr>
        <p:grpSpPr>
          <a:xfrm>
            <a:off x="6898005" y="1941195"/>
            <a:ext cx="4760595" cy="1997964"/>
            <a:chOff x="6898005" y="1941195"/>
            <a:chExt cx="4760595" cy="1997964"/>
          </a:xfrm>
        </p:grpSpPr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2"/>
            <a:srcRect l="0" t="26204" r="0" b="26204"/>
            <a:stretch>
              <a:fillRect/>
            </a:stretch>
          </p:blipFill>
          <p:spPr>
            <a:xfrm>
              <a:off x="6898005" y="1941195"/>
              <a:ext cx="4760595" cy="1699260"/>
            </a:xfrm>
            <a:prstGeom prst="roundRect">
              <a:avLst>
                <a:gd name="adj" fmla="val 7847"/>
              </a:avLst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7152704" y="3733800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左边每个面板都有把手，其中两个是假抽屉；右边只给真抽屉装把手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898005" y="4091940"/>
            <a:ext cx="4760595" cy="1588770"/>
            <a:chOff x="6898005" y="4091940"/>
            <a:chExt cx="4760595" cy="1588770"/>
          </a:xfrm>
        </p:grpSpPr>
        <p:sp>
          <p:nvSpPr>
            <p:cNvPr id="50" name="Rectangle 50"/>
            <p:cNvSpPr/>
            <p:nvPr/>
          </p:nvSpPr>
          <p:spPr>
            <a:xfrm>
              <a:off x="6898005" y="4091940"/>
              <a:ext cx="4760595" cy="1588770"/>
            </a:xfrm>
            <a:prstGeom prst="roundRect">
              <a:avLst>
                <a:gd name="adj" fmla="val 839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90410" y="42843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81850" y="43186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74102" y="43243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按客户端的需要来定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83552" y="4658678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客户端要对整棵树做统一遍历、很少手工组装，用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透明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式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；客户端频繁增删节点、希望编译器帮着挡错，用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安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全式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6345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两式的类图差别只在方法栏，画图时务必把 Leaf 那一栏写对，改卷就看这里。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课件里的四个实例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两位老师的例子合起来看，正好覆盖两种形式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水果盘与文件浏览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计算机设备的递归求和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集团公司与模式应用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74580" cy="909257"/>
            <a:chOff x="520446" y="342900"/>
            <a:chExt cx="79745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745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实例一：水果盘，对盘子执行“吃”就是吃里面的水果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71713" cy="264033"/>
            <a:chOff x="526542" y="1545907"/>
            <a:chExt cx="657171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717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大水果盘里还可以放小水果盘。这个例子用的是安全式，add 只出现在 Plate 里。</a:t>
              </a:r>
            </a:p>
          </p:txBody>
        </p:sp>
      </p:grpSp>
      <p:grpSp>
        <p:nvGrpSpPr>
          <p:cNvPr id="51" name="c1-uml-1"/>
          <p:cNvGrpSpPr/>
          <p:nvPr/>
        </p:nvGrpSpPr>
        <p:grpSpPr>
          <a:xfrm>
            <a:off x="719138" y="2156460"/>
            <a:ext cx="5951220" cy="1717357"/>
            <a:chOff x="719138" y="2156460"/>
            <a:chExt cx="5951220" cy="1717357"/>
          </a:xfrm>
        </p:grpSpPr>
        <p:sp>
          <p:nvSpPr>
            <p:cNvPr id="9" name="Freeform 9"/>
            <p:cNvSpPr/>
            <p:nvPr/>
          </p:nvSpPr>
          <p:spPr>
            <a:xfrm>
              <a:off x="1290638" y="2838450"/>
              <a:ext cx="1515428" cy="329565"/>
            </a:xfrm>
            <a:custGeom>
              <a:avLst/>
              <a:gdLst/>
              <a:ahLst/>
              <a:cxnLst/>
              <a:rect l="l" t="t" r="r" b="b"/>
              <a:pathLst>
                <a:path w="1515428" h="329565">
                  <a:moveTo>
                    <a:pt x="0" y="329565"/>
                  </a:moveTo>
                  <a:lnTo>
                    <a:pt x="0" y="101917"/>
                  </a:lnTo>
                  <a:lnTo>
                    <a:pt x="1515428" y="101917"/>
                  </a:lnTo>
                  <a:lnTo>
                    <a:pt x="151542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32722" y="27127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806065" y="2838450"/>
              <a:ext cx="9525" cy="329565"/>
            </a:xfrm>
            <a:custGeom>
              <a:avLst/>
              <a:gdLst/>
              <a:ahLst/>
              <a:cxnLst/>
              <a:rect l="l" t="t" r="r" b="b"/>
              <a:pathLst>
                <a:path w="9525" h="329565">
                  <a:moveTo>
                    <a:pt x="0" y="32956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32722" y="27127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806065" y="2838450"/>
              <a:ext cx="1514475" cy="329565"/>
            </a:xfrm>
            <a:custGeom>
              <a:avLst/>
              <a:gdLst/>
              <a:ahLst/>
              <a:cxnLst/>
              <a:rect l="l" t="t" r="r" b="b"/>
              <a:pathLst>
                <a:path w="1514475" h="329565">
                  <a:moveTo>
                    <a:pt x="1514475" y="329565"/>
                  </a:moveTo>
                  <a:lnTo>
                    <a:pt x="1514475" y="101917"/>
                  </a:lnTo>
                  <a:lnTo>
                    <a:pt x="0" y="10191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32722" y="27127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806065" y="2838450"/>
              <a:ext cx="3028950" cy="180975"/>
            </a:xfrm>
            <a:custGeom>
              <a:avLst/>
              <a:gdLst/>
              <a:ahLst/>
              <a:cxnLst/>
              <a:rect l="l" t="t" r="r" b="b"/>
              <a:pathLst>
                <a:path w="3028950" h="180975">
                  <a:moveTo>
                    <a:pt x="3028950" y="180975"/>
                  </a:moveTo>
                  <a:lnTo>
                    <a:pt x="3028950" y="27622"/>
                  </a:lnTo>
                  <a:lnTo>
                    <a:pt x="0" y="2762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732722" y="27127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77565" y="2434590"/>
              <a:ext cx="3292792" cy="1012507"/>
            </a:xfrm>
            <a:custGeom>
              <a:avLst/>
              <a:gdLst/>
              <a:ahLst/>
              <a:cxnLst/>
              <a:rect l="l" t="t" r="r" b="b"/>
              <a:pathLst>
                <a:path w="3292792" h="1012507">
                  <a:moveTo>
                    <a:pt x="0" y="0"/>
                  </a:moveTo>
                  <a:lnTo>
                    <a:pt x="209550" y="0"/>
                  </a:lnTo>
                  <a:lnTo>
                    <a:pt x="3093720" y="0"/>
                  </a:lnTo>
                  <a:lnTo>
                    <a:pt x="3093720" y="505777"/>
                  </a:lnTo>
                  <a:lnTo>
                    <a:pt x="3093720" y="1012507"/>
                  </a:lnTo>
                  <a:lnTo>
                    <a:pt x="3292792" y="1012507"/>
                  </a:lnTo>
                  <a:lnTo>
                    <a:pt x="3292792" y="1012507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460808" y="3388995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234565" y="215646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241232" y="216312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234565" y="23688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34565" y="24641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9138" y="316801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6758" y="317563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9138" y="338042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9138" y="347567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34565" y="316801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41232" y="317563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234565" y="338042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234565" y="347567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49040" y="316801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755708" y="317563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749040" y="338042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749040" y="347567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210175" y="3019425"/>
              <a:ext cx="1250632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216842" y="3027045"/>
              <a:ext cx="1236345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210175" y="3231832"/>
              <a:ext cx="12506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210175" y="3327082"/>
              <a:ext cx="12506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472821" y="2207895"/>
              <a:ext cx="6664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MyElement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06002" y="2532221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5055" y="3219450"/>
              <a:ext cx="331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575" y="3543776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89416" y="3219450"/>
              <a:ext cx="433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Banana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06002" y="3543776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73860" y="3219450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Pear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20478" y="3543776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69432" y="3070860"/>
              <a:ext cx="331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Plate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81612" y="3395186"/>
              <a:ext cx="1108202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add(MyElement)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remove(MyElement)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884420" y="2238375"/>
              <a:ext cx="28956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921453" y="2261235"/>
              <a:ext cx="215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</p:grpSp>
      <p:grpSp>
        <p:nvGrpSpPr>
          <p:cNvPr id="59" name="c1-card-2"/>
          <p:cNvGrpSpPr/>
          <p:nvPr/>
        </p:nvGrpSpPr>
        <p:grpSpPr>
          <a:xfrm>
            <a:off x="533400" y="4117658"/>
            <a:ext cx="6059805" cy="1576388"/>
            <a:chOff x="533400" y="4117658"/>
            <a:chExt cx="6059805" cy="1576388"/>
          </a:xfrm>
        </p:grpSpPr>
        <p:sp>
          <p:nvSpPr>
            <p:cNvPr id="52" name="Rectangle 52"/>
            <p:cNvSpPr/>
            <p:nvPr/>
          </p:nvSpPr>
          <p:spPr>
            <a:xfrm>
              <a:off x="533400" y="4117658"/>
              <a:ext cx="6059805" cy="1576388"/>
            </a:xfrm>
            <a:prstGeom prst="roundRect">
              <a:avLst>
                <a:gd name="adj" fmla="val 84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42925" y="4251008"/>
              <a:ext cx="47625" cy="13096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2475" y="42986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5147" y="43314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318450" y="433816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盘子既是水果盘里的一项，又装着别的项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5998" y="4654391"/>
              <a:ext cx="5247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Plate 继承 MyElement，所以小盘子可以被放进大盘子；它又聚合了一组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MyElement，所以里面既能放水果也能放盘子。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7141" y="5178742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代码里略去了与 add 对称的 remove()</a:t>
              </a:r>
            </a:p>
          </p:txBody>
        </p:sp>
      </p:grpSp>
      <p:grpSp>
        <p:nvGrpSpPr>
          <p:cNvPr id="64" name="c2-code-1"/>
          <p:cNvGrpSpPr/>
          <p:nvPr/>
        </p:nvGrpSpPr>
        <p:grpSpPr>
          <a:xfrm>
            <a:off x="6898005" y="1928812"/>
            <a:ext cx="4760595" cy="2440305"/>
            <a:chOff x="6898005" y="1928812"/>
            <a:chExt cx="4760595" cy="2440305"/>
          </a:xfrm>
        </p:grpSpPr>
        <p:sp>
          <p:nvSpPr>
            <p:cNvPr id="60" name="Rectangle 60"/>
            <p:cNvSpPr/>
            <p:nvPr/>
          </p:nvSpPr>
          <p:spPr>
            <a:xfrm>
              <a:off x="6898005" y="1928812"/>
              <a:ext cx="4760595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26402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叶子与容器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917055" y="3886200"/>
              <a:ext cx="472249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26402" y="2340769"/>
              <a:ext cx="4322445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MyElement {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抽象构件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MyElement {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叶子，香蕉梨子同理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"吃苹果"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Plate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MyElement {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容器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List&lt;MyElement&gt; list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add(MyElement e) { list.add(e);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(MyElement e : list) { e.eat(); }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898005" y="4533900"/>
            <a:ext cx="4760595" cy="1160145"/>
            <a:chOff x="6898005" y="4533900"/>
            <a:chExt cx="4760595" cy="1160145"/>
          </a:xfrm>
        </p:grpSpPr>
        <p:sp>
          <p:nvSpPr>
            <p:cNvPr id="65" name="Rectangle 65"/>
            <p:cNvSpPr/>
            <p:nvPr/>
          </p:nvSpPr>
          <p:spPr>
            <a:xfrm>
              <a:off x="6898005" y="4533900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078980" y="47148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70699" y="4747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44956" y="4754404"/>
              <a:ext cx="1770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对大盘子调一次 eat()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72503" y="5070634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里面的小盘子和水果全被吃到，客户端不必知道放了几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1273" y="6039326"/>
              <a:ext cx="76986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MyElement 里只有 eat()，没有 add，所以这是安全式；客户端往盘里放东西时要拿到 Plate 类型。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实例二：文件浏览，不同类型的文件浏览方式不同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842496" cy="278702"/>
            <a:chOff x="526161" y="1547336"/>
            <a:chExt cx="784249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8424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对文件夹的浏览就是对它所包含文件的浏览。这个例子用的是透明式，四个子类都带着 add。</a:t>
              </a:r>
            </a:p>
          </p:txBody>
        </p:sp>
      </p:grpSp>
      <p:grpSp>
        <p:nvGrpSpPr>
          <p:cNvPr id="55" name="c1-uml-1"/>
          <p:cNvGrpSpPr/>
          <p:nvPr/>
        </p:nvGrpSpPr>
        <p:grpSpPr>
          <a:xfrm>
            <a:off x="800100" y="2185988"/>
            <a:ext cx="6394132" cy="2198369"/>
            <a:chOff x="800100" y="2185988"/>
            <a:chExt cx="6394132" cy="2198369"/>
          </a:xfrm>
        </p:grpSpPr>
        <p:sp>
          <p:nvSpPr>
            <p:cNvPr id="9" name="Freeform 9"/>
            <p:cNvSpPr/>
            <p:nvPr/>
          </p:nvSpPr>
          <p:spPr>
            <a:xfrm>
              <a:off x="1371600" y="3166110"/>
              <a:ext cx="1677353" cy="438150"/>
            </a:xfrm>
            <a:custGeom>
              <a:avLst/>
              <a:gdLst/>
              <a:ahLst/>
              <a:cxnLst/>
              <a:rect l="l" t="t" r="r" b="b"/>
              <a:pathLst>
                <a:path w="1677353" h="438150">
                  <a:moveTo>
                    <a:pt x="0" y="438150"/>
                  </a:moveTo>
                  <a:lnTo>
                    <a:pt x="0" y="156210"/>
                  </a:lnTo>
                  <a:lnTo>
                    <a:pt x="1677353" y="156210"/>
                  </a:lnTo>
                  <a:lnTo>
                    <a:pt x="16773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75610" y="30403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48952" y="316611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4381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75610" y="30403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048952" y="3166110"/>
              <a:ext cx="1677352" cy="438150"/>
            </a:xfrm>
            <a:custGeom>
              <a:avLst/>
              <a:gdLst/>
              <a:ahLst/>
              <a:cxnLst/>
              <a:rect l="l" t="t" r="r" b="b"/>
              <a:pathLst>
                <a:path w="1677352" h="438150">
                  <a:moveTo>
                    <a:pt x="1677352" y="438150"/>
                  </a:moveTo>
                  <a:lnTo>
                    <a:pt x="1677352" y="156210"/>
                  </a:lnTo>
                  <a:lnTo>
                    <a:pt x="0" y="15621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75610" y="30403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048952" y="3166110"/>
              <a:ext cx="3354705" cy="363855"/>
            </a:xfrm>
            <a:custGeom>
              <a:avLst/>
              <a:gdLst/>
              <a:ahLst/>
              <a:cxnLst/>
              <a:rect l="l" t="t" r="r" b="b"/>
              <a:pathLst>
                <a:path w="3354705" h="363855">
                  <a:moveTo>
                    <a:pt x="3354705" y="363855"/>
                  </a:moveTo>
                  <a:lnTo>
                    <a:pt x="3354705" y="119062"/>
                  </a:lnTo>
                  <a:lnTo>
                    <a:pt x="0" y="11906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75610" y="30403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727132" y="2613660"/>
              <a:ext cx="3467100" cy="1343025"/>
            </a:xfrm>
            <a:custGeom>
              <a:avLst/>
              <a:gdLst/>
              <a:ahLst/>
              <a:cxnLst/>
              <a:rect l="l" t="t" r="r" b="b"/>
              <a:pathLst>
                <a:path w="3467100" h="1343025">
                  <a:moveTo>
                    <a:pt x="0" y="0"/>
                  </a:moveTo>
                  <a:lnTo>
                    <a:pt x="209550" y="0"/>
                  </a:lnTo>
                  <a:lnTo>
                    <a:pt x="3380423" y="0"/>
                  </a:lnTo>
                  <a:lnTo>
                    <a:pt x="3380423" y="671512"/>
                  </a:lnTo>
                  <a:lnTo>
                    <a:pt x="3380423" y="1343025"/>
                  </a:lnTo>
                  <a:lnTo>
                    <a:pt x="3467100" y="1343025"/>
                  </a:lnTo>
                  <a:lnTo>
                    <a:pt x="3467100" y="134302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984682" y="389953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371725" y="2185988"/>
              <a:ext cx="1355408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378392" y="2193608"/>
              <a:ext cx="134112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371725" y="2398395"/>
              <a:ext cx="135540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71725" y="2493645"/>
              <a:ext cx="135540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0100" y="360426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7720" y="361092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0100" y="38166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" y="40605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77452" y="360426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485072" y="361092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477452" y="38166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77452" y="40605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54805" y="360426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162425" y="361092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54805" y="38166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154805" y="40605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22632" y="3529965"/>
              <a:ext cx="1163002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29300" y="3536632"/>
              <a:ext cx="1148715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2632" y="3742372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22632" y="3986212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652521" y="2237422"/>
              <a:ext cx="792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AbstractFile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43162" y="2561749"/>
              <a:ext cx="1212342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add(AbstractFile)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remove(AbstractFile)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display(String)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3442" y="3655695"/>
              <a:ext cx="5763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ImageFile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538" y="3884771"/>
              <a:ext cx="9943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fileName: String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1538" y="4128611"/>
              <a:ext cx="9352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display(String)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73676" y="3655695"/>
              <a:ext cx="5505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VideoFile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48890" y="3884771"/>
              <a:ext cx="9943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fileName: String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48890" y="4128611"/>
              <a:ext cx="9352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display(String)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69961" y="3655695"/>
              <a:ext cx="5126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TextFile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26242" y="3884771"/>
              <a:ext cx="9943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fileName: String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26242" y="4128611"/>
              <a:ext cx="9352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display(String)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03061" y="3581400"/>
              <a:ext cx="401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Folder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94070" y="3810476"/>
              <a:ext cx="822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fileList: List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94070" y="4054316"/>
              <a:ext cx="1019683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add(AbstractFile)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display(String)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47322" y="2406968"/>
              <a:ext cx="54959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74218" y="2432209"/>
              <a:ext cx="4948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fileList</a:t>
              </a:r>
            </a:p>
          </p:txBody>
        </p:sp>
      </p:grpSp>
      <p:grpSp>
        <p:nvGrpSpPr>
          <p:cNvPr id="61" name="c1-kv-2"/>
          <p:cNvGrpSpPr/>
          <p:nvPr/>
        </p:nvGrpSpPr>
        <p:grpSpPr>
          <a:xfrm>
            <a:off x="526542" y="4826318"/>
            <a:ext cx="6715316" cy="661225"/>
            <a:chOff x="526542" y="4826318"/>
            <a:chExt cx="6715316" cy="661225"/>
          </a:xfrm>
        </p:grpSpPr>
        <p:sp>
          <p:nvSpPr>
            <p:cNvPr id="56" name="TextBox 56"/>
            <p:cNvSpPr txBox="1"/>
            <p:nvPr/>
          </p:nvSpPr>
          <p:spPr>
            <a:xfrm>
              <a:off x="526542" y="4826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叶子构件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488567" y="4826318"/>
              <a:ext cx="5586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ImageFile、VideoFile、TextFile，各自实现自己那种文件的浏览方式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511492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6542" y="52235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容器构件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488567" y="5223510"/>
              <a:ext cx="4703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Folder，持有 fileList，display() 里递归调用每个子构件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7546658" y="1941195"/>
            <a:ext cx="4111942" cy="1998345"/>
            <a:chOff x="7546658" y="1941195"/>
            <a:chExt cx="4111942" cy="1998345"/>
          </a:xfrm>
        </p:grpSpPr>
        <p:sp>
          <p:nvSpPr>
            <p:cNvPr id="62" name="Rectangle 62"/>
            <p:cNvSpPr/>
            <p:nvPr/>
          </p:nvSpPr>
          <p:spPr>
            <a:xfrm>
              <a:off x="7546658" y="1941195"/>
              <a:ext cx="4111942" cy="1998345"/>
            </a:xfrm>
            <a:prstGeom prst="roundRect">
              <a:avLst>
                <a:gd name="adj" fmla="val 6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556182" y="2074545"/>
              <a:ext cx="47625" cy="17316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77162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868602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60854" y="217360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原图的参数类型写错了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70304" y="2507932"/>
              <a:ext cx="3528441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 AbstractFile 的方法写成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add(AbstractElement element)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，参数类型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是上一张图里的 AbstractElement，与本图的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AbstractFile 对不上，应改为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add(AbstractFile f)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7546658" y="4114800"/>
            <a:ext cx="4111942" cy="1483995"/>
            <a:chOff x="7546658" y="4114800"/>
            <a:chExt cx="4111942" cy="1483995"/>
          </a:xfrm>
        </p:grpSpPr>
        <p:sp>
          <p:nvSpPr>
            <p:cNvPr id="69" name="Rectangle 69"/>
            <p:cNvSpPr/>
            <p:nvPr/>
          </p:nvSpPr>
          <p:spPr>
            <a:xfrm>
              <a:off x="7546658" y="4114800"/>
              <a:ext cx="4111942" cy="1483995"/>
            </a:xfrm>
            <a:prstGeom prst="roundRect">
              <a:avLst>
                <a:gd name="adj" fmla="val 8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739062" y="43072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830502" y="43414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22754" y="43472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和水果盘正好互补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32204" y="4681538"/>
              <a:ext cx="35027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水果盘把 add 只放在 Plate 里，是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安全式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；文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件浏览让三种文件也带着 add，是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透明式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一位老师的两个例子刚好各演示一种。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5" name="Rectangle 7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6023610"/>
              <a:ext cx="6538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三种文件的 display 各写各的浏览方式，文件夹的 display 只负责把调用传下去。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实例二的代码与一次完整推演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093265" cy="264033"/>
            <a:chOff x="526542" y="1545907"/>
            <a:chExt cx="509326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93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 display 加一个缩进参数，输出就能把树的层次直接打出来。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276022" cy="3670935"/>
            <a:chOff x="533400" y="1928812"/>
            <a:chExt cx="6276022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叶子与容器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94157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5666613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AbstractFile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display(String in);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in 是缩进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ImageFile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AbstractFile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三种文件写法相同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fileName;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ImageFile(String n)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.fileName = n;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display(String in) { System.out.println(in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"图片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fileName);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Folder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AbstractFile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List&lt;AbstractFile&gt; fileList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Folder(String n)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.name = n;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add(AbstractFile f) { fileList.add(f);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display(String in)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System.out.println(in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"文件夹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(AbstractFile f : fileList) { f.display(in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 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tree-1"/>
          <p:cNvGrpSpPr/>
          <p:nvPr/>
        </p:nvGrpSpPr>
        <p:grpSpPr>
          <a:xfrm>
            <a:off x="7914322" y="1928812"/>
            <a:ext cx="3595688" cy="1105854"/>
            <a:chOff x="7914322" y="1928812"/>
            <a:chExt cx="3595688" cy="1105854"/>
          </a:xfrm>
        </p:grpSpPr>
        <p:sp>
          <p:nvSpPr>
            <p:cNvPr id="14" name="Freeform 14"/>
            <p:cNvSpPr/>
            <p:nvPr/>
          </p:nvSpPr>
          <p:spPr>
            <a:xfrm>
              <a:off x="9954578" y="2482215"/>
              <a:ext cx="567690" cy="368617"/>
            </a:xfrm>
            <a:custGeom>
              <a:avLst/>
              <a:gdLst/>
              <a:ahLst/>
              <a:cxnLst/>
              <a:rect l="l" t="t" r="r" b="b"/>
              <a:pathLst>
                <a:path w="567690" h="368617">
                  <a:moveTo>
                    <a:pt x="567690" y="0"/>
                  </a:moveTo>
                  <a:lnTo>
                    <a:pt x="0" y="3686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522268" y="2482215"/>
              <a:ext cx="568643" cy="368617"/>
            </a:xfrm>
            <a:custGeom>
              <a:avLst/>
              <a:gdLst/>
              <a:ahLst/>
              <a:cxnLst/>
              <a:rect l="l" t="t" r="r" b="b"/>
              <a:pathLst>
                <a:path w="568643" h="368617">
                  <a:moveTo>
                    <a:pt x="0" y="0"/>
                  </a:moveTo>
                  <a:lnTo>
                    <a:pt x="568643" y="3686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250555" y="2112645"/>
              <a:ext cx="1135380" cy="369570"/>
            </a:xfrm>
            <a:custGeom>
              <a:avLst/>
              <a:gdLst/>
              <a:ahLst/>
              <a:cxnLst/>
              <a:rect l="l" t="t" r="r" b="b"/>
              <a:pathLst>
                <a:path w="1135380" h="369570">
                  <a:moveTo>
                    <a:pt x="1135380" y="0"/>
                  </a:moveTo>
                  <a:lnTo>
                    <a:pt x="0" y="3695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385935" y="2112645"/>
              <a:ext cx="1136333" cy="369570"/>
            </a:xfrm>
            <a:custGeom>
              <a:avLst/>
              <a:gdLst/>
              <a:ahLst/>
              <a:cxnLst/>
              <a:rect l="l" t="t" r="r" b="b"/>
              <a:pathLst>
                <a:path w="1136333" h="369570">
                  <a:moveTo>
                    <a:pt x="0" y="0"/>
                  </a:moveTo>
                  <a:lnTo>
                    <a:pt x="1136333" y="3695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914322" y="2297430"/>
              <a:ext cx="672465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603105" y="2666048"/>
              <a:ext cx="701992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669905" y="2666048"/>
              <a:ext cx="840105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303192" y="2297430"/>
              <a:ext cx="438150" cy="368618"/>
            </a:xfrm>
            <a:prstGeom prst="roundRect">
              <a:avLst>
                <a:gd name="adj" fmla="val 2067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52560" y="1928812"/>
              <a:ext cx="6667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00599" y="2426018"/>
              <a:ext cx="4999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校门.jpg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88720" y="2794635"/>
              <a:ext cx="531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说明.txt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51751" y="2794635"/>
              <a:ext cx="6783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宣传片.mp4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6347" y="242601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38856" y="20574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我的资料</a:t>
              </a:r>
            </a:p>
          </p:txBody>
        </p:sp>
      </p:grpSp>
      <p:grpSp>
        <p:nvGrpSpPr>
          <p:cNvPr id="32" name="c2-code-2"/>
          <p:cNvGrpSpPr/>
          <p:nvPr/>
        </p:nvGrpSpPr>
        <p:grpSpPr>
          <a:xfrm>
            <a:off x="7114222" y="3205162"/>
            <a:ext cx="4544378" cy="1384935"/>
            <a:chOff x="7114222" y="3205162"/>
            <a:chExt cx="4544378" cy="1384935"/>
          </a:xfrm>
        </p:grpSpPr>
        <p:sp>
          <p:nvSpPr>
            <p:cNvPr id="29" name="Rectangle 29"/>
            <p:cNvSpPr/>
            <p:nvPr/>
          </p:nvSpPr>
          <p:spPr>
            <a:xfrm>
              <a:off x="7114222" y="3205162"/>
              <a:ext cx="4544378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42620" y="3357086"/>
              <a:ext cx="15969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root.display("") 的输出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42620" y="3617119"/>
              <a:ext cx="1522095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文件夹 我的资料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图片 校门.jpg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文件夹 课件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文本 说明.txt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视频 宣传片.mp4</a:t>
              </a:r>
            </a:p>
          </p:txBody>
        </p:sp>
      </p:grpSp>
      <p:grpSp>
        <p:nvGrpSpPr>
          <p:cNvPr id="38" name="c2-card-3"/>
          <p:cNvGrpSpPr/>
          <p:nvPr/>
        </p:nvGrpSpPr>
        <p:grpSpPr>
          <a:xfrm>
            <a:off x="7114222" y="4760595"/>
            <a:ext cx="4544378" cy="944880"/>
            <a:chOff x="7114222" y="4760595"/>
            <a:chExt cx="4544378" cy="944880"/>
          </a:xfrm>
        </p:grpSpPr>
        <p:sp>
          <p:nvSpPr>
            <p:cNvPr id="33" name="Rectangle 33"/>
            <p:cNvSpPr/>
            <p:nvPr/>
          </p:nvSpPr>
          <p:spPr>
            <a:xfrm>
              <a:off x="7114222" y="4760595"/>
              <a:ext cx="4544378" cy="944880"/>
            </a:xfrm>
            <a:prstGeom prst="roundRect">
              <a:avLst>
                <a:gd name="adj" fmla="val 1411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00912" y="49472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92632" y="49801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6507" y="49815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缩进量就是递归深度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94054" y="5308283"/>
              <a:ext cx="32122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客户端只写了一行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root.display("")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9" name="Rectangle 3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6028373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把“课件”整个删掉，输出就少三行，客户端代码一个字都不用改。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实例三：计算机设备，一台整机的价格是递归加出来的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陈伟老师课件的例子。一种设备可以由多个子设备合成，求价格和功耗都走同一条递归。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951220" cy="3670935"/>
            <a:chOff x="533400" y="1928812"/>
            <a:chExt cx="5951220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326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改写成 Java 的三个类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41388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359783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Equipment {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抽象构件，安全式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power();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功耗，单位 W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price();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价格，单位元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FloppyDisk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Equipment {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叶子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power()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5;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price()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80;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CompositeEquipment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Equipment {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容器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List&lt;Equipment&gt; parts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addChild(Equipment e) { parts.add(e);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price()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 = 0;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原课件漏了这一行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(Equipment e : parts) { sum += e.price();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power() 同理，把上面的 price 换成 power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kv-1"/>
          <p:cNvGrpSpPr/>
          <p:nvPr/>
        </p:nvGrpSpPr>
        <p:grpSpPr>
          <a:xfrm>
            <a:off x="6782943" y="1949291"/>
            <a:ext cx="4875657" cy="1745742"/>
            <a:chOff x="6782943" y="1949291"/>
            <a:chExt cx="4875657" cy="1745742"/>
          </a:xfrm>
        </p:grpSpPr>
        <p:sp>
          <p:nvSpPr>
            <p:cNvPr id="14" name="TextBox 14"/>
            <p:cNvSpPr txBox="1"/>
            <p:nvPr/>
          </p:nvSpPr>
          <p:spPr>
            <a:xfrm>
              <a:off x="6782943" y="19492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软驱（叶子）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5503" y="1949291"/>
              <a:ext cx="8901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元，5 W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789420" y="22221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82943" y="232362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主板（叶子）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15503" y="2323624"/>
              <a:ext cx="10850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 元，45 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789420" y="259556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82943" y="26979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机箱（容器）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15503" y="2697956"/>
              <a:ext cx="1955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+ 600 = 680 元，50 W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89420" y="296989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2943" y="30722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显示器（叶子）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15503" y="3072289"/>
              <a:ext cx="10850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 元，30 W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789420" y="33442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2943" y="344566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整机（容器）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15503" y="3445669"/>
              <a:ext cx="2144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680 + 900 = 1580 元，80 W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789420" y="3810000"/>
            <a:ext cx="4869180" cy="1789748"/>
            <a:chOff x="6789420" y="3810000"/>
            <a:chExt cx="4869180" cy="1789748"/>
          </a:xfrm>
        </p:grpSpPr>
        <p:sp>
          <p:nvSpPr>
            <p:cNvPr id="29" name="Rectangle 29"/>
            <p:cNvSpPr/>
            <p:nvPr/>
          </p:nvSpPr>
          <p:spPr>
            <a:xfrm>
              <a:off x="6789420" y="3810000"/>
              <a:ext cx="4869180" cy="1789748"/>
            </a:xfrm>
            <a:prstGeom prst="roundRect">
              <a:avLst>
                <a:gd name="adj" fmla="val 74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98945" y="3943350"/>
              <a:ext cx="47625" cy="15230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08495" y="3990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01167" y="4023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74470" y="4030504"/>
              <a:ext cx="2166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C++ 代码的四处问题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008495" y="433578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60402" y="4371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78243" y="4346734"/>
              <a:ext cx="330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virtula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12、14 页各一处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008495" y="462057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60402" y="4656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78243" y="4632484"/>
              <a:ext cx="38641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price 里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sum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没声明没赋初值，应先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 sum = 0;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008495" y="49063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60402" y="494099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78243" y="4917281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类外定义成员函数不能再写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08495" y="51911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60402" y="52267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78243" y="5202079"/>
              <a:ext cx="34938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FloppyDisk 重复声明了基类的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char * mName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7594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递归求和的模板：容器里开一个累加器，遍历子构件累加同名方法的结果，叶子直接返回自己的值。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实例四：集团公司，分公司下面还是分公司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284720" cy="293370"/>
            <a:chOff x="525780" y="1548765"/>
            <a:chExt cx="72847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集团下设部门，也下设分公司；分公司下面又有部门和分公司，层数事先说不准。</a:t>
              </a:r>
            </a:p>
          </p:txBody>
        </p:sp>
      </p:grpSp>
      <p:grpSp>
        <p:nvGrpSpPr>
          <p:cNvPr id="36" name="c1-uml-1"/>
          <p:cNvGrpSpPr/>
          <p:nvPr/>
        </p:nvGrpSpPr>
        <p:grpSpPr>
          <a:xfrm>
            <a:off x="900112" y="2208848"/>
            <a:ext cx="5103496" cy="1846897"/>
            <a:chOff x="900112" y="2208848"/>
            <a:chExt cx="5103496" cy="1846897"/>
          </a:xfrm>
        </p:grpSpPr>
        <p:sp>
          <p:nvSpPr>
            <p:cNvPr id="9" name="Freeform 9"/>
            <p:cNvSpPr/>
            <p:nvPr/>
          </p:nvSpPr>
          <p:spPr>
            <a:xfrm>
              <a:off x="1471612" y="2922270"/>
              <a:ext cx="1875472" cy="383858"/>
            </a:xfrm>
            <a:custGeom>
              <a:avLst/>
              <a:gdLst/>
              <a:ahLst/>
              <a:cxnLst/>
              <a:rect l="l" t="t" r="r" b="b"/>
              <a:pathLst>
                <a:path w="1875472" h="383858">
                  <a:moveTo>
                    <a:pt x="0" y="383858"/>
                  </a:moveTo>
                  <a:lnTo>
                    <a:pt x="0" y="128588"/>
                  </a:lnTo>
                  <a:lnTo>
                    <a:pt x="1875472" y="128588"/>
                  </a:lnTo>
                  <a:lnTo>
                    <a:pt x="187547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73742" y="27965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47085" y="2922270"/>
              <a:ext cx="1875472" cy="220980"/>
            </a:xfrm>
            <a:custGeom>
              <a:avLst/>
              <a:gdLst/>
              <a:ahLst/>
              <a:cxnLst/>
              <a:rect l="l" t="t" r="r" b="b"/>
              <a:pathLst>
                <a:path w="1875472" h="220980">
                  <a:moveTo>
                    <a:pt x="1875472" y="220980"/>
                  </a:moveTo>
                  <a:lnTo>
                    <a:pt x="1875472" y="47625"/>
                  </a:lnTo>
                  <a:lnTo>
                    <a:pt x="0" y="4762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73742" y="27965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918585" y="2503170"/>
              <a:ext cx="2085022" cy="1096327"/>
            </a:xfrm>
            <a:custGeom>
              <a:avLst/>
              <a:gdLst/>
              <a:ahLst/>
              <a:cxnLst/>
              <a:rect l="l" t="t" r="r" b="b"/>
              <a:pathLst>
                <a:path w="2085022" h="1096327">
                  <a:moveTo>
                    <a:pt x="0" y="0"/>
                  </a:moveTo>
                  <a:lnTo>
                    <a:pt x="209550" y="0"/>
                  </a:lnTo>
                  <a:lnTo>
                    <a:pt x="2072640" y="0"/>
                  </a:lnTo>
                  <a:lnTo>
                    <a:pt x="2072640" y="548640"/>
                  </a:lnTo>
                  <a:lnTo>
                    <a:pt x="2072640" y="1096327"/>
                  </a:lnTo>
                  <a:lnTo>
                    <a:pt x="2085022" y="1096327"/>
                  </a:lnTo>
                  <a:lnTo>
                    <a:pt x="2085022" y="1096327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794058" y="354234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775585" y="220884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782252" y="221646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775585" y="24393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75585" y="25346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00112" y="330612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6780" y="331279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00112" y="35366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0112" y="36318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651058" y="3143250"/>
              <a:ext cx="114300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57725" y="3150870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51058" y="33737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51058" y="36318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74680" y="2264569"/>
              <a:ext cx="5448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OrgUnit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47022" y="2604135"/>
              <a:ext cx="10255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display(String)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9631" y="3361849"/>
              <a:ext cx="8039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Department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1550" y="3701415"/>
              <a:ext cx="10255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display(String)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86884" y="3198971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Branch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22495" y="3443288"/>
              <a:ext cx="7593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units: List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22495" y="3701415"/>
              <a:ext cx="96393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add(OrgUnit)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display(String)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855845" y="2296478"/>
              <a:ext cx="4067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89818" y="2321719"/>
              <a:ext cx="3397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units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4328160"/>
            <a:ext cx="5626418" cy="1268730"/>
            <a:chOff x="533400" y="4328160"/>
            <a:chExt cx="5626418" cy="1268730"/>
          </a:xfrm>
        </p:grpSpPr>
        <p:sp>
          <p:nvSpPr>
            <p:cNvPr id="37" name="Rectangle 37"/>
            <p:cNvSpPr/>
            <p:nvPr/>
          </p:nvSpPr>
          <p:spPr>
            <a:xfrm>
              <a:off x="533400" y="4328160"/>
              <a:ext cx="5626418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46151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9620" y="45262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1060" y="45605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52931" y="456199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同一个类担两种角色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381" y="490489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广东分公司既是总公司的一个部分，又是广州分公司的整体。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办公室、财务处这类部门不再往下分，是叶子。</a:t>
              </a:r>
            </a:p>
          </p:txBody>
        </p:sp>
      </p:grpSp>
      <p:grpSp>
        <p:nvGrpSpPr>
          <p:cNvPr id="61" name="c2-tree-1"/>
          <p:cNvGrpSpPr/>
          <p:nvPr/>
        </p:nvGrpSpPr>
        <p:grpSpPr>
          <a:xfrm>
            <a:off x="7054215" y="2070735"/>
            <a:ext cx="4562475" cy="1647825"/>
            <a:chOff x="7054215" y="2070735"/>
            <a:chExt cx="4562475" cy="1647825"/>
          </a:xfrm>
        </p:grpSpPr>
        <p:sp>
          <p:nvSpPr>
            <p:cNvPr id="44" name="Freeform 44"/>
            <p:cNvSpPr/>
            <p:nvPr/>
          </p:nvSpPr>
          <p:spPr>
            <a:xfrm>
              <a:off x="10360342" y="2894648"/>
              <a:ext cx="432435" cy="626745"/>
            </a:xfrm>
            <a:custGeom>
              <a:avLst/>
              <a:gdLst/>
              <a:ahLst/>
              <a:cxnLst/>
              <a:rect l="l" t="t" r="r" b="b"/>
              <a:pathLst>
                <a:path w="432435" h="626745">
                  <a:moveTo>
                    <a:pt x="432435" y="0"/>
                  </a:moveTo>
                  <a:lnTo>
                    <a:pt x="0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792778" y="2894648"/>
              <a:ext cx="433388" cy="626745"/>
            </a:xfrm>
            <a:custGeom>
              <a:avLst/>
              <a:gdLst/>
              <a:ahLst/>
              <a:cxnLst/>
              <a:rect l="l" t="t" r="r" b="b"/>
              <a:pathLst>
                <a:path w="433388" h="626745">
                  <a:moveTo>
                    <a:pt x="0" y="0"/>
                  </a:moveTo>
                  <a:lnTo>
                    <a:pt x="433388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330440" y="2267902"/>
              <a:ext cx="1731645" cy="626745"/>
            </a:xfrm>
            <a:custGeom>
              <a:avLst/>
              <a:gdLst/>
              <a:ahLst/>
              <a:cxnLst/>
              <a:rect l="l" t="t" r="r" b="b"/>
              <a:pathLst>
                <a:path w="1731645" h="626745">
                  <a:moveTo>
                    <a:pt x="1731645" y="0"/>
                  </a:moveTo>
                  <a:lnTo>
                    <a:pt x="0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062085" y="2267902"/>
              <a:ext cx="9525" cy="626745"/>
            </a:xfrm>
            <a:custGeom>
              <a:avLst/>
              <a:gdLst/>
              <a:ahLst/>
              <a:cxnLst/>
              <a:rect l="l" t="t" r="r" b="b"/>
              <a:pathLst>
                <a:path w="9525" h="626745">
                  <a:moveTo>
                    <a:pt x="0" y="0"/>
                  </a:moveTo>
                  <a:lnTo>
                    <a:pt x="0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062085" y="2267902"/>
              <a:ext cx="1730692" cy="626745"/>
            </a:xfrm>
            <a:custGeom>
              <a:avLst/>
              <a:gdLst/>
              <a:ahLst/>
              <a:cxnLst/>
              <a:rect l="l" t="t" r="r" b="b"/>
              <a:pathLst>
                <a:path w="1730692" h="626745">
                  <a:moveTo>
                    <a:pt x="0" y="0"/>
                  </a:moveTo>
                  <a:lnTo>
                    <a:pt x="1730692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54215" y="2697480"/>
              <a:ext cx="552450" cy="394335"/>
            </a:xfrm>
            <a:prstGeom prst="roundRect">
              <a:avLst>
                <a:gd name="adj" fmla="val 1932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785860" y="2697480"/>
              <a:ext cx="552450" cy="394335"/>
            </a:xfrm>
            <a:prstGeom prst="roundRect">
              <a:avLst>
                <a:gd name="adj" fmla="val 1932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084118" y="3324225"/>
              <a:ext cx="552450" cy="394335"/>
            </a:xfrm>
            <a:prstGeom prst="roundRect">
              <a:avLst>
                <a:gd name="adj" fmla="val 1932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835640" y="3324225"/>
              <a:ext cx="781050" cy="394335"/>
            </a:xfrm>
            <a:prstGeom prst="roundRect">
              <a:avLst>
                <a:gd name="adj" fmla="val 1932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402252" y="2697480"/>
              <a:ext cx="781050" cy="394335"/>
            </a:xfrm>
            <a:prstGeom prst="roundRect">
              <a:avLst>
                <a:gd name="adj" fmla="val 1932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785860" y="2070735"/>
              <a:ext cx="552450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43940" y="283845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办公室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75586" y="283845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财务处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3843" y="34651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投标办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18508" y="34651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广州分公司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85120" y="28384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广东分公司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75586" y="221170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总公司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464618" y="4014788"/>
            <a:ext cx="5193982" cy="1582102"/>
            <a:chOff x="6464618" y="4014788"/>
            <a:chExt cx="5193982" cy="1582102"/>
          </a:xfrm>
        </p:grpSpPr>
        <p:sp>
          <p:nvSpPr>
            <p:cNvPr id="62" name="Rectangle 62"/>
            <p:cNvSpPr/>
            <p:nvPr/>
          </p:nvSpPr>
          <p:spPr>
            <a:xfrm>
              <a:off x="6464618" y="4014788"/>
              <a:ext cx="5193982" cy="1582102"/>
            </a:xfrm>
            <a:prstGeom prst="roundRect">
              <a:avLst>
                <a:gd name="adj" fmla="val 842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62738" y="421290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54178" y="42471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46048" y="424862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为什么非用组合模式不可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5498" y="4591526"/>
              <a:ext cx="453199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层数由业务决定，随时可能加一层。用组合模式时新增一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级只是多 new 一个 Branch，类的数量不变，统计人数、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汇总预算的代码也一行不用改。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8" name="Rectangle 6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511" y="6011704"/>
              <a:ext cx="74697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这个例子还能顺手回答一个常见疑问：容器和叶子的数量、层数都不需要在编译期确定。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96063" cy="909257"/>
            <a:chOff x="520446" y="342900"/>
            <a:chExt cx="6396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96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模式应用：XML、杀毒软件与 Swing 界面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634038" cy="2019300"/>
            <a:chOff x="525780" y="1548765"/>
            <a:chExt cx="5634038" cy="201930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00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XML 文档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64030" y="1548765"/>
              <a:ext cx="40443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XML 本身是树形结构，很多解析工具用组合模式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表示元素与子元素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杀毒软件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4030" y="2270760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既可以针对一个具体文件查毒，也可以针对一个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目录；对目录查毒会递归处理每个子目录和文件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555308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AWT /</a:t>
              </a:r>
              <a:br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Swing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64030" y="2992755"/>
              <a:ext cx="38157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类库里的典型应用，Container 里可以放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Component，也可以放另一个 Container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99510"/>
            <a:ext cx="5626418" cy="1922145"/>
            <a:chOff x="533400" y="3699510"/>
            <a:chExt cx="5626418" cy="1922145"/>
          </a:xfrm>
        </p:grpSpPr>
        <p:sp>
          <p:nvSpPr>
            <p:cNvPr id="16" name="Rectangle 16"/>
            <p:cNvSpPr/>
            <p:nvPr/>
          </p:nvSpPr>
          <p:spPr>
            <a:xfrm>
              <a:off x="533400" y="3699510"/>
              <a:ext cx="5626418" cy="1922145"/>
            </a:xfrm>
            <a:prstGeom prst="roundRect">
              <a:avLst>
                <a:gd name="adj" fmla="val 6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832860"/>
              <a:ext cx="47625" cy="1655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90906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8457" y="39447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身边的例子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08797" y="3944302"/>
              <a:ext cx="2677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 的菜单就是一棵组合树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30530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JMenu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继承自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JMenuItem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，所以一个菜单本身也是一个菜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单项，可以被加进另一个菜单里。这就是多级菜单能一直嵌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套下去的原因。</a:t>
              </a:r>
            </a:p>
          </p:txBody>
        </p:sp>
      </p:grpSp>
      <p:grpSp>
        <p:nvGrpSpPr>
          <p:cNvPr id="50" name="c2-uml-1"/>
          <p:cNvGrpSpPr/>
          <p:nvPr/>
        </p:nvGrpSpPr>
        <p:grpSpPr>
          <a:xfrm>
            <a:off x="6758940" y="1801178"/>
            <a:ext cx="4819650" cy="1893569"/>
            <a:chOff x="6758940" y="1801178"/>
            <a:chExt cx="4819650" cy="1893569"/>
          </a:xfrm>
        </p:grpSpPr>
        <p:sp>
          <p:nvSpPr>
            <p:cNvPr id="23" name="Freeform 23"/>
            <p:cNvSpPr/>
            <p:nvPr/>
          </p:nvSpPr>
          <p:spPr>
            <a:xfrm>
              <a:off x="7330440" y="2515552"/>
              <a:ext cx="1731645" cy="428625"/>
            </a:xfrm>
            <a:custGeom>
              <a:avLst/>
              <a:gdLst/>
              <a:ahLst/>
              <a:cxnLst/>
              <a:rect l="l" t="t" r="r" b="b"/>
              <a:pathLst>
                <a:path w="1731645" h="428625">
                  <a:moveTo>
                    <a:pt x="0" y="428625"/>
                  </a:moveTo>
                  <a:lnTo>
                    <a:pt x="0" y="151447"/>
                  </a:lnTo>
                  <a:lnTo>
                    <a:pt x="1731645" y="151447"/>
                  </a:lnTo>
                  <a:lnTo>
                    <a:pt x="173164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988742" y="23898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062085" y="2515552"/>
              <a:ext cx="1730692" cy="266700"/>
            </a:xfrm>
            <a:custGeom>
              <a:avLst/>
              <a:gdLst/>
              <a:ahLst/>
              <a:cxnLst/>
              <a:rect l="l" t="t" r="r" b="b"/>
              <a:pathLst>
                <a:path w="1730692" h="266700">
                  <a:moveTo>
                    <a:pt x="1730692" y="266700"/>
                  </a:moveTo>
                  <a:lnTo>
                    <a:pt x="1730692" y="70485"/>
                  </a:lnTo>
                  <a:lnTo>
                    <a:pt x="0" y="7048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988742" y="23898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633585" y="2095500"/>
              <a:ext cx="1945005" cy="1143000"/>
            </a:xfrm>
            <a:custGeom>
              <a:avLst/>
              <a:gdLst/>
              <a:ahLst/>
              <a:cxnLst/>
              <a:rect l="l" t="t" r="r" b="b"/>
              <a:pathLst>
                <a:path w="1945005" h="1143000">
                  <a:moveTo>
                    <a:pt x="0" y="0"/>
                  </a:moveTo>
                  <a:lnTo>
                    <a:pt x="209550" y="0"/>
                  </a:lnTo>
                  <a:lnTo>
                    <a:pt x="1868805" y="0"/>
                  </a:lnTo>
                  <a:lnTo>
                    <a:pt x="1868805" y="571500"/>
                  </a:lnTo>
                  <a:lnTo>
                    <a:pt x="1868805" y="1143000"/>
                  </a:lnTo>
                  <a:lnTo>
                    <a:pt x="1945005" y="1143000"/>
                  </a:lnTo>
                  <a:lnTo>
                    <a:pt x="1945005" y="114300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1369040" y="3180398"/>
              <a:ext cx="209550" cy="116205"/>
            </a:xfrm>
            <a:custGeom>
              <a:avLst/>
              <a:gdLst/>
              <a:ahLst/>
              <a:cxnLst/>
              <a:rect l="l" t="t" r="r" b="b"/>
              <a:pathLst>
                <a:path w="209550" h="116205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620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490585" y="180117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497252" y="180879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490585" y="20316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490585" y="21269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58940" y="294417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66560" y="295179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58940" y="31746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58940" y="32699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216515" y="2782252"/>
              <a:ext cx="1152525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224135" y="2788920"/>
              <a:ext cx="113823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216515" y="3012758"/>
              <a:ext cx="11525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216515" y="3269932"/>
              <a:ext cx="11525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98189" y="1856899"/>
              <a:ext cx="727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62022" y="2196465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paint()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4766" y="2999899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Button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30378" y="3339465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paint()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60246" y="2837974"/>
              <a:ext cx="665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Container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87952" y="3082290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component[]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87952" y="3339465"/>
              <a:ext cx="100965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add(Component)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paint()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282238" y="1879282"/>
              <a:ext cx="78200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303450" y="190595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4000500"/>
            <a:ext cx="5193982" cy="1621155"/>
            <a:chOff x="6464618" y="4000500"/>
            <a:chExt cx="5193982" cy="1621155"/>
          </a:xfrm>
        </p:grpSpPr>
        <p:sp>
          <p:nvSpPr>
            <p:cNvPr id="51" name="Rectangle 51"/>
            <p:cNvSpPr/>
            <p:nvPr/>
          </p:nvSpPr>
          <p:spPr>
            <a:xfrm>
              <a:off x="6464618" y="4000500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41338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12268" y="42100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03428" y="42457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13295" y="42452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图上省掉的那几个类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04648" y="4606290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Checkbox、TextComponent 与 Button 并列，都是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叶子；Panel、Window 是 Container 的子类，属于下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一页讲的更复杂形式。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8" name="Rectangle 5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991225"/>
              <a:ext cx="72645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窗口重绘时只调一次顶层容器的 paint()，界面上几百个控件靠递归全部画出来。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效果、扩展与模式辨析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用在什么地方，以及和谁配合、和谁容易混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优缺点与适用环境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更复杂的组合模式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与装饰迭代器访问者的分工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效果、扩展与模式辨析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优点：把层次结构和统一调用一起解决了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33400" y="1547336"/>
            <a:ext cx="4870196" cy="2234470"/>
            <a:chOff x="533400" y="1547336"/>
            <a:chExt cx="4870196" cy="2234470"/>
          </a:xfrm>
        </p:grpSpPr>
        <p:sp>
          <p:nvSpPr>
            <p:cNvPr id="7" name="Freeform 7"/>
            <p:cNvSpPr/>
            <p:nvPr/>
          </p:nvSpPr>
          <p:spPr>
            <a:xfrm>
              <a:off x="533400" y="1577340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7621" y="154733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定义了包含基本对象和组合对象的类层次结构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84860" y="1895475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9264" y="182689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基本对象组合成组合对象，组合对象还能继续往上组合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150745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7621" y="212074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统一了组合对象和叶子对象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84860" y="2468880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69264" y="240030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把叶子当作特殊的组合对象，为它们定义统一的父类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3400" y="2724150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7621" y="269414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简化了客户端调用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4860" y="3042285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9264" y="297370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客户不关心手里的是什么类型，用的时候不需要区分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329850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7621" y="326755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更容易扩展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4860" y="3615690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9264" y="3547110"/>
              <a:ext cx="4434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新定义的 Composite 或 Leaf 子类能直接与已有结构一起工作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920490"/>
            <a:ext cx="6059805" cy="1564958"/>
            <a:chOff x="533400" y="3920490"/>
            <a:chExt cx="6059805" cy="1564958"/>
          </a:xfrm>
        </p:grpSpPr>
        <p:sp>
          <p:nvSpPr>
            <p:cNvPr id="24" name="Rectangle 24"/>
            <p:cNvSpPr/>
            <p:nvPr/>
          </p:nvSpPr>
          <p:spPr>
            <a:xfrm>
              <a:off x="533400" y="3920490"/>
              <a:ext cx="605980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05384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75335" y="412432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1593" y="41600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合起来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8666" y="416385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四条优点其实是同一件事的四个侧面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4515326"/>
              <a:ext cx="52443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叶子和容器共用一个接口之后，加节点、加层次、换结构都不再惊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动客户端。第 5 页那段满是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instanceof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的代码，到这里变成了一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行调用。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898005" y="1524000"/>
            <a:ext cx="4760595" cy="1564958"/>
            <a:chOff x="6898005" y="1524000"/>
            <a:chExt cx="4760595" cy="1564958"/>
          </a:xfrm>
        </p:grpSpPr>
        <p:sp>
          <p:nvSpPr>
            <p:cNvPr id="31" name="Rectangle 31"/>
            <p:cNvSpPr/>
            <p:nvPr/>
          </p:nvSpPr>
          <p:spPr>
            <a:xfrm>
              <a:off x="6898005" y="1524000"/>
              <a:ext cx="4760595" cy="1564958"/>
            </a:xfrm>
            <a:prstGeom prst="roundRect">
              <a:avLst>
                <a:gd name="adj" fmla="val 852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0184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83196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落到原则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7094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它满足开闭原则的那一半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4601" y="2119789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新增一种叶子、一种容器都不用动客户端，这部分是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开放的。抽象构件里的方法一旦增删就会波及全部子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类，那部分依然是封闭的。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898005" y="3273742"/>
            <a:ext cx="4760595" cy="2210752"/>
            <a:chOff x="6898005" y="3273742"/>
            <a:chExt cx="4760595" cy="2210752"/>
          </a:xfrm>
        </p:grpSpPr>
        <p:sp>
          <p:nvSpPr>
            <p:cNvPr id="37" name="Rectangle 37"/>
            <p:cNvSpPr/>
            <p:nvPr/>
          </p:nvSpPr>
          <p:spPr>
            <a:xfrm>
              <a:off x="6898005" y="3273742"/>
              <a:ext cx="4760595" cy="2210752"/>
            </a:xfrm>
            <a:prstGeom prst="roundRect">
              <a:avLst>
                <a:gd name="adj" fmla="val 60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07530" y="3407092"/>
              <a:ext cx="47625" cy="19440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39940" y="347757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17346" y="35132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附带的好处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67116" y="351805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树的深度与客户端无关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2701" y="3869531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客户端代码里没有任何关于层数、递归深度的假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设。一棵三层的树和一棵三十层的树，调用方式完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全一样。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4" name="Rectangle 4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6004084"/>
              <a:ext cx="68866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“简化客户端”是这四条里最实在的一条，前面反例页的 instanceof 全部消失了。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效果、扩展与模式辨析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242185"/>
            <a:chOff x="533400" y="1524000"/>
            <a:chExt cx="5410200" cy="22421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主要缺点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很难限制容器里的构件类型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容易增加新构件也带来了问题：很难限制容器中只能包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含特定类型的构件，比如只能是树枝节点或只能是叶子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节点、不能是两者的混合。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0365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需要检测构件类型时，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不能依靠编译期的类型约束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成，必须在运行期间动态检测。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956685"/>
            <a:ext cx="5410200" cy="1384935"/>
            <a:chOff x="533400" y="3956685"/>
            <a:chExt cx="5410200" cy="1384935"/>
          </a:xfrm>
        </p:grpSpPr>
        <p:sp>
          <p:nvSpPr>
            <p:cNvPr id="15" name="Rectangle 15"/>
            <p:cNvSpPr/>
            <p:nvPr/>
          </p:nvSpPr>
          <p:spPr>
            <a:xfrm>
              <a:off x="533400" y="3956685"/>
              <a:ext cx="5410200" cy="1384935"/>
            </a:xfrm>
            <a:prstGeom prst="roundRect">
              <a:avLst>
                <a:gd name="adj" fmla="val 9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90035"/>
              <a:ext cx="47625" cy="11182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1662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3359" y="42019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另外两条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65922" y="420147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实现时躲不开的代价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6253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5624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透明式不安全，安全式不透明，两者只能选一个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9606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89775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树很深时递归层数跟着变深，极端情况会把调用栈压满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2577465"/>
            <a:chOff x="6248400" y="1524000"/>
            <a:chExt cx="5410200" cy="257746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80923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出现这三个信号就可以用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960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7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97040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想表示对象的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整体-部分层次结构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，把整体和部分的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操作统一起来，让层次结构的实现和使用都更简单。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96050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7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7040" y="275082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希望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统一使用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组合结构中的所有对象，这正是组合模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式提供的主要功能。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96050" y="33585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789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97040" y="3371850"/>
              <a:ext cx="4330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有明确的整体-部分乃至整体-部分-子部分含义，而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又能以一致的方式管理各个对象。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248400" y="4291965"/>
            <a:ext cx="5410200" cy="1049655"/>
            <a:chOff x="6248400" y="4291965"/>
            <a:chExt cx="5410200" cy="1049655"/>
          </a:xfrm>
        </p:grpSpPr>
        <p:sp>
          <p:nvSpPr>
            <p:cNvPr id="40" name="Rectangle 40"/>
            <p:cNvSpPr/>
            <p:nvPr/>
          </p:nvSpPr>
          <p:spPr>
            <a:xfrm>
              <a:off x="6248400" y="4291965"/>
              <a:ext cx="5410200" cy="1049655"/>
            </a:xfrm>
            <a:prstGeom prst="roundRect">
              <a:avLst>
                <a:gd name="adj" fmla="val 1088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41129" y="4713088"/>
              <a:ext cx="224134" cy="192560"/>
              <a:chOff x="6441129" y="4713088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553200" y="47834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41129" y="47130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53200" y="48612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5130" y="457390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只有两层、且层数永远不会变时，直接用一个集合更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省事，不必请出组合模式。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7728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判断题常考这一条：组合模式的缺点不是“类太多”，而是“限制不住容器里能放什么”。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效果、扩展与模式辨析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扩展：更复杂的组合模式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576514" cy="264033"/>
            <a:chOff x="526542" y="1545907"/>
            <a:chExt cx="557651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576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叶子和容器各自还能再抽象一层，AWT 与 Swing 里就是这样的结构。</a:t>
              </a:r>
            </a:p>
          </p:txBody>
        </p:sp>
      </p:grpSp>
      <p:grpSp>
        <p:nvGrpSpPr>
          <p:cNvPr id="69" name="c1-uml-1"/>
          <p:cNvGrpSpPr/>
          <p:nvPr/>
        </p:nvGrpSpPr>
        <p:grpSpPr>
          <a:xfrm>
            <a:off x="746760" y="1993582"/>
            <a:ext cx="5936933" cy="3358516"/>
            <a:chOff x="746760" y="1993582"/>
            <a:chExt cx="5936933" cy="3358516"/>
          </a:xfrm>
        </p:grpSpPr>
        <p:sp>
          <p:nvSpPr>
            <p:cNvPr id="9" name="Freeform 9"/>
            <p:cNvSpPr/>
            <p:nvPr/>
          </p:nvSpPr>
          <p:spPr>
            <a:xfrm>
              <a:off x="2887028" y="3248025"/>
              <a:ext cx="9525" cy="289560"/>
            </a:xfrm>
            <a:custGeom>
              <a:avLst/>
              <a:gdLst/>
              <a:ahLst/>
              <a:cxnLst/>
              <a:rect l="l" t="t" r="r" b="b"/>
              <a:pathLst>
                <a:path w="9525" h="289560">
                  <a:moveTo>
                    <a:pt x="0" y="28956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813685" y="31222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887028" y="3248025"/>
              <a:ext cx="1568768" cy="215265"/>
            </a:xfrm>
            <a:custGeom>
              <a:avLst/>
              <a:gdLst/>
              <a:ahLst/>
              <a:cxnLst/>
              <a:rect l="l" t="t" r="r" b="b"/>
              <a:pathLst>
                <a:path w="1568768" h="215265">
                  <a:moveTo>
                    <a:pt x="1568768" y="215265"/>
                  </a:moveTo>
                  <a:lnTo>
                    <a:pt x="1568768" y="44767"/>
                  </a:lnTo>
                  <a:lnTo>
                    <a:pt x="0" y="4476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813685" y="31222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318260" y="4219575"/>
              <a:ext cx="1568768" cy="576262"/>
            </a:xfrm>
            <a:custGeom>
              <a:avLst/>
              <a:gdLst/>
              <a:ahLst/>
              <a:cxnLst/>
              <a:rect l="l" t="t" r="r" b="b"/>
              <a:pathLst>
                <a:path w="1568768" h="576262">
                  <a:moveTo>
                    <a:pt x="0" y="576262"/>
                  </a:moveTo>
                  <a:lnTo>
                    <a:pt x="0" y="224790"/>
                  </a:lnTo>
                  <a:lnTo>
                    <a:pt x="1568768" y="224790"/>
                  </a:lnTo>
                  <a:lnTo>
                    <a:pt x="156876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13685" y="40938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887028" y="4219575"/>
              <a:ext cx="9525" cy="576262"/>
            </a:xfrm>
            <a:custGeom>
              <a:avLst/>
              <a:gdLst/>
              <a:ahLst/>
              <a:cxnLst/>
              <a:rect l="l" t="t" r="r" b="b"/>
              <a:pathLst>
                <a:path w="9525" h="576262">
                  <a:moveTo>
                    <a:pt x="0" y="5762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13685" y="40938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455795" y="4293870"/>
              <a:ext cx="9525" cy="501967"/>
            </a:xfrm>
            <a:custGeom>
              <a:avLst/>
              <a:gdLst/>
              <a:ahLst/>
              <a:cxnLst/>
              <a:rect l="l" t="t" r="r" b="b"/>
              <a:pathLst>
                <a:path w="9525" h="501967">
                  <a:moveTo>
                    <a:pt x="0" y="50196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382452" y="41681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455795" y="4293870"/>
              <a:ext cx="1568768" cy="501967"/>
            </a:xfrm>
            <a:custGeom>
              <a:avLst/>
              <a:gdLst/>
              <a:ahLst/>
              <a:cxnLst/>
              <a:rect l="l" t="t" r="r" b="b"/>
              <a:pathLst>
                <a:path w="1568768" h="501967">
                  <a:moveTo>
                    <a:pt x="1568768" y="501967"/>
                  </a:moveTo>
                  <a:lnTo>
                    <a:pt x="1568768" y="187642"/>
                  </a:lnTo>
                  <a:lnTo>
                    <a:pt x="0" y="18764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382452" y="41681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530918" y="2557462"/>
              <a:ext cx="3152775" cy="1258253"/>
            </a:xfrm>
            <a:custGeom>
              <a:avLst/>
              <a:gdLst/>
              <a:ahLst/>
              <a:cxnLst/>
              <a:rect l="l" t="t" r="r" b="b"/>
              <a:pathLst>
                <a:path w="3152775" h="1258253">
                  <a:moveTo>
                    <a:pt x="0" y="0"/>
                  </a:moveTo>
                  <a:lnTo>
                    <a:pt x="209550" y="0"/>
                  </a:lnTo>
                  <a:lnTo>
                    <a:pt x="3152775" y="0"/>
                  </a:lnTo>
                  <a:lnTo>
                    <a:pt x="3152775" y="12383"/>
                  </a:lnTo>
                  <a:lnTo>
                    <a:pt x="3152775" y="1258253"/>
                  </a:lnTo>
                  <a:lnTo>
                    <a:pt x="1705927" y="1258253"/>
                  </a:lnTo>
                  <a:lnTo>
                    <a:pt x="1705927" y="1258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027295" y="375761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43138" y="1993582"/>
              <a:ext cx="1287780" cy="112871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49805" y="2000250"/>
              <a:ext cx="127349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43138" y="2331720"/>
              <a:ext cx="1287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43138" y="2426970"/>
              <a:ext cx="1287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315528" y="353758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22195" y="354425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315528" y="37499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315528" y="38452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84295" y="346329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891915" y="346995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84295" y="36756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84295" y="39195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6760" y="479583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3428" y="48025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46760" y="50082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46760" y="51034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15528" y="479583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322195" y="48025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315528" y="50082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315528" y="51034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884295" y="479583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891915" y="48025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884295" y="50082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884295" y="51034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53062" y="479583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60682" y="48025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53062" y="50082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53062" y="51034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589466" y="2042160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31677" y="2170748"/>
              <a:ext cx="7107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IComponent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314575" y="2495074"/>
              <a:ext cx="1144651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add(IComponent)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remove(IComponent)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getChild(int)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740347" y="3589020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Leaf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386965" y="3913346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137393" y="3514725"/>
              <a:ext cx="6368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Composite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955732" y="3743801"/>
              <a:ext cx="8468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children: List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955732" y="3987641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3546" y="4847272"/>
              <a:ext cx="6494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SubLeaf01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8198" y="5171599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562314" y="4847272"/>
              <a:ext cx="6494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SubLeaf02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386965" y="5171599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959841" y="4847272"/>
              <a:ext cx="9919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SubComposite01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955732" y="5171599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28609" y="4847272"/>
              <a:ext cx="9919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SubComposite02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524500" y="5171599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941570" y="2361248"/>
              <a:ext cx="54102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971059" y="2384108"/>
              <a:ext cx="4820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children</a:t>
              </a:r>
            </a:p>
          </p:txBody>
        </p:sp>
      </p:grpSp>
      <p:grpSp>
        <p:nvGrpSpPr>
          <p:cNvPr id="76" name="c2-card-1"/>
          <p:cNvGrpSpPr/>
          <p:nvPr/>
        </p:nvGrpSpPr>
        <p:grpSpPr>
          <a:xfrm>
            <a:off x="7114222" y="1928812"/>
            <a:ext cx="4544378" cy="1160145"/>
            <a:chOff x="7114222" y="1928812"/>
            <a:chExt cx="4544378" cy="1160145"/>
          </a:xfrm>
        </p:grpSpPr>
        <p:sp>
          <p:nvSpPr>
            <p:cNvPr id="70" name="Rectangle 70"/>
            <p:cNvSpPr/>
            <p:nvPr/>
          </p:nvSpPr>
          <p:spPr>
            <a:xfrm>
              <a:off x="7114222" y="1928812"/>
              <a:ext cx="454437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123748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33298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2501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99273" y="214931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叶子和容器各自再抽象一层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26820" y="2465546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得到抽象叶子节点和抽象容器节点，各自的共性代码写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在中间类里，具体节点只写自己特有的那部分。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7114222" y="3253740"/>
            <a:ext cx="4544378" cy="1403032"/>
            <a:chOff x="7114222" y="3253740"/>
            <a:chExt cx="4544378" cy="1403032"/>
          </a:xfrm>
        </p:grpSpPr>
        <p:sp>
          <p:nvSpPr>
            <p:cNvPr id="77" name="Rectangle 77"/>
            <p:cNvSpPr/>
            <p:nvPr/>
          </p:nvSpPr>
          <p:spPr>
            <a:xfrm>
              <a:off x="7114222" y="3253740"/>
              <a:ext cx="454437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123748" y="338709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333298" y="34347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425017" y="34675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实物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99273" y="3474244"/>
              <a:ext cx="1595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 里现成的例子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26820" y="3791426"/>
              <a:ext cx="39306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叶子构件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TextComponent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又有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TextField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TextArea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等子类，容器构件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Container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又有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Panel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Window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子类。</a:t>
              </a:r>
            </a:p>
          </p:txBody>
        </p:sp>
      </p:grpSp>
      <p:grpSp>
        <p:nvGrpSpPr>
          <p:cNvPr id="90" name="c2-callout-3"/>
          <p:cNvGrpSpPr/>
          <p:nvPr/>
        </p:nvGrpSpPr>
        <p:grpSpPr>
          <a:xfrm>
            <a:off x="7114222" y="4821555"/>
            <a:ext cx="4544378" cy="881062"/>
            <a:chOff x="7114222" y="4821555"/>
            <a:chExt cx="4544378" cy="881062"/>
          </a:xfrm>
        </p:grpSpPr>
        <p:sp>
          <p:nvSpPr>
            <p:cNvPr id="84" name="Rectangle 84"/>
            <p:cNvSpPr/>
            <p:nvPr/>
          </p:nvSpPr>
          <p:spPr>
            <a:xfrm>
              <a:off x="7114222" y="4821555"/>
              <a:ext cx="4544378" cy="881062"/>
            </a:xfrm>
            <a:prstGeom prst="roundRect">
              <a:avLst>
                <a:gd name="adj" fmla="val 1297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19010" y="5162550"/>
              <a:ext cx="200026" cy="200025"/>
              <a:chOff x="7319010" y="5162550"/>
              <a:chExt cx="200026" cy="20002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19010" y="51625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358749" y="52070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393464" y="53181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7622096" y="5055394"/>
              <a:ext cx="3426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抽象构件这里画成了接口，实现线是虚线空心三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角，别和下面两层的实线继承混。</a:t>
              </a:r>
            </a:p>
          </p:txBody>
        </p:sp>
      </p:grpSp>
      <p:grpSp>
        <p:nvGrpSpPr>
          <p:cNvPr id="9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1" name="Rectangle 9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041273" y="6039326"/>
              <a:ext cx="6388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中间这两层不是组合模式要求的，节点种类少时直接让具体类继承抽象构件就够了。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效果、扩展与模式辨析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组合模式常和谁一起出现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738878" cy="264033"/>
            <a:chOff x="526542" y="1545907"/>
            <a:chExt cx="47388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组合搭好树的骨架，另外几个模式各自负责树上的一件事。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5410200" cy="1406842"/>
            <a:chOff x="533400" y="1928812"/>
            <a:chExt cx="5410200" cy="140684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704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装饰模式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8006" y="21493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给树上的某一层加职责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装饰器本身也做成抽象构件的子类，就能插在组合树的任意一层。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给一个子树加上边框、加上权限检查，下面的节点毫不知情。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141" y="2989898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两者类图很像，区别在于装饰器只持有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构件，容器持有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一组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99485"/>
            <a:ext cx="5410200" cy="2077402"/>
            <a:chOff x="533400" y="3499485"/>
            <a:chExt cx="5410200" cy="2077402"/>
          </a:xfrm>
        </p:grpSpPr>
        <p:sp>
          <p:nvSpPr>
            <p:cNvPr id="17" name="Rectangle 17"/>
            <p:cNvSpPr/>
            <p:nvPr/>
          </p:nvSpPr>
          <p:spPr>
            <a:xfrm>
              <a:off x="533400" y="3499485"/>
              <a:ext cx="5410200" cy="2077402"/>
            </a:xfrm>
            <a:prstGeom prst="roundRect">
              <a:avLst>
                <a:gd name="adj" fmla="val 6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632835"/>
              <a:ext cx="47625" cy="18107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" y="368046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946" y="371332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迭代器模式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91830" y="3720941"/>
              <a:ext cx="2388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把遍历方式抽出来（第 33 讲）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998" y="403717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容器用什么存子节点由迭代器挡住。想按深度优先或广度优先遍历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整棵树，各写一个迭代器即可，节点类不用改。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928812"/>
            <a:ext cx="5410200" cy="1403032"/>
            <a:chOff x="6248400" y="1928812"/>
            <a:chExt cx="5410200" cy="1403032"/>
          </a:xfrm>
        </p:grpSpPr>
        <p:sp>
          <p:nvSpPr>
            <p:cNvPr id="24" name="Rectangle 24"/>
            <p:cNvSpPr/>
            <p:nvPr/>
          </p:nvSpPr>
          <p:spPr>
            <a:xfrm>
              <a:off x="6248400" y="1928812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67475" y="210978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8946" y="2142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访问者模式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06830" y="2149316"/>
              <a:ext cx="2578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给稳定的树加新操作（第 3A 讲）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0998" y="246554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节点种类基本不变、要做的操作却不断增加时（统计文件数、导出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XML、计算总价），把操作写进访问者，节点只留一个 accept 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39" name="c2-kv-2"/>
          <p:cNvGrpSpPr/>
          <p:nvPr/>
        </p:nvGrpSpPr>
        <p:grpSpPr>
          <a:xfrm>
            <a:off x="6241923" y="3518059"/>
            <a:ext cx="5416677" cy="1476184"/>
            <a:chOff x="6241923" y="3518059"/>
            <a:chExt cx="5416677" cy="1476184"/>
          </a:xfrm>
        </p:grpSpPr>
        <p:sp>
          <p:nvSpPr>
            <p:cNvPr id="31" name="TextBox 31"/>
            <p:cNvSpPr txBox="1"/>
            <p:nvPr/>
          </p:nvSpPr>
          <p:spPr>
            <a:xfrm>
              <a:off x="6241923" y="35180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职责链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97256" y="3518059"/>
              <a:ext cx="44020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给子构件加一个指向父构件的引用，自己处理不了的请求交给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父节点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40290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1923" y="41314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享元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97256" y="4131469"/>
              <a:ext cx="44020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叶子大量重复时共享叶子对象，代价是共享的叶子不能再记住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自己的父节点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4643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1923" y="47448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建造者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97256" y="474487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组合树的搭建过程复杂时，用建造者一步步把它装配出来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6248400" y="5109210"/>
            <a:ext cx="5410200" cy="467678"/>
            <a:chOff x="6248400" y="5109210"/>
            <a:chExt cx="5410200" cy="467678"/>
          </a:xfrm>
        </p:grpSpPr>
        <p:sp>
          <p:nvSpPr>
            <p:cNvPr id="40" name="Rectangle 40"/>
            <p:cNvSpPr/>
            <p:nvPr/>
          </p:nvSpPr>
          <p:spPr>
            <a:xfrm>
              <a:off x="6248400" y="5109210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53188" y="5242560"/>
              <a:ext cx="200026" cy="200025"/>
              <a:chOff x="6453188" y="5242560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53188" y="52425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92926" y="52870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27642" y="53981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6273" y="525351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这些模式都不改组合模式的类图，只是各自再加一条线。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8352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组合负责“树长什么样”，迭代器负责“怎么走”，访问者负责“走到了做什么”，装饰负责“某一段多做点什么”。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 · 效果、扩展与模式辨析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三个模式的分工，以及五个易错点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6059805" cy="3004185"/>
            <a:chOff x="533400" y="1524000"/>
            <a:chExt cx="6059805" cy="30041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107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12442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组合（本讲）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03706" y="1655445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装饰（第 23 讲）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51168" y="1655445"/>
              <a:ext cx="1447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访问者（第 3A 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1917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解决什么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694498" y="1964055"/>
              <a:ext cx="1617345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90319" y="2191702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表示整体-部分的树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5762" y="208502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运行期给对象加职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62156" y="208502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给稳定结构加新操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5927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597468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728912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持有几个构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90319" y="283559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一组子构件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5762" y="283559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只有一个被包对象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62156" y="272891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不持有，按类型分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65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34794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接口变不变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0319" y="337280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叶子和容器共用一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25762" y="337280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和被装饰的保持一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62156" y="3479482"/>
              <a:ext cx="1401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节点多一个 accept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79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88429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4015740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新增什么最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694498" y="3893820"/>
              <a:ext cx="1617345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90319" y="41224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新增一种节点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25762" y="41224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新增一种职责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62156" y="41224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新增一种操作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6059805" cy="30041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680210" y="1524000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15652" y="1524000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952048" y="1524000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4713922"/>
            <a:ext cx="6059805" cy="756285"/>
            <a:chOff x="533400" y="4713922"/>
            <a:chExt cx="6059805" cy="756285"/>
          </a:xfrm>
        </p:grpSpPr>
        <p:sp>
          <p:nvSpPr>
            <p:cNvPr id="40" name="Rectangle 40"/>
            <p:cNvSpPr/>
            <p:nvPr/>
          </p:nvSpPr>
          <p:spPr>
            <a:xfrm>
              <a:off x="533400" y="4713922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4992053"/>
              <a:ext cx="200026" cy="200026"/>
              <a:chOff x="738188" y="4992053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49920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0587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0920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4861084"/>
              <a:ext cx="50639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代理模式也只包一个对象，但它不改接口也不加职责，只管控制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访问，别和装饰混。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6898005" y="1524000"/>
            <a:ext cx="4760595" cy="3945255"/>
            <a:chOff x="6898005" y="1524000"/>
            <a:chExt cx="4760595" cy="3945255"/>
          </a:xfrm>
        </p:grpSpPr>
        <p:sp>
          <p:nvSpPr>
            <p:cNvPr id="47" name="Rectangle 47"/>
            <p:cNvSpPr/>
            <p:nvPr/>
          </p:nvSpPr>
          <p:spPr>
            <a:xfrm>
              <a:off x="6898005" y="1524000"/>
              <a:ext cx="4760595" cy="3945255"/>
            </a:xfrm>
            <a:prstGeom prst="roundRect">
              <a:avLst>
                <a:gd name="adj" fmla="val 33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07530" y="1657350"/>
              <a:ext cx="47625" cy="36785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3994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30148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40396" y="176736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这五处一考就错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39940" y="210693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98285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29881" y="2119789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聚合线画成 Composite 指向 Leaf。必须指向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象构件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，否则容器装不下容器。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39940" y="269843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98285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29881" y="2711291"/>
              <a:ext cx="37204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以为类里有个 List 就是组合模式。还要有共同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抽象，且业务方法递归调用子构件。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39940" y="328993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98285" y="333027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29881" y="3302794"/>
              <a:ext cx="37024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把模式名里的组合当成 UML 的组合关系，类图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里通常画聚合。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139940" y="388143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98285" y="392177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29881" y="3894296"/>
              <a:ext cx="38467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透明式里以为叶子的 add 不会被调用，编译器不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拦，运行期才抛异常。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139940" y="447294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98285" y="45132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29881" y="4485799"/>
              <a:ext cx="37745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遍历时又用 instanceof 区分节点，等于白用了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这个模式。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8" name="Rectangle 6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6004084"/>
              <a:ext cx="74697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一句话区分：组合管结构，装饰管职责，访问者管操作，三者常在同一棵树上同时出现。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组合模式属于哪一类模式？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021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对象结构型，又称整体-部分模式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客户端应该针对谁编程？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100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 Component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聚合的菱形画在哪一端？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291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 Composite 这一端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它包含哪三个核心角色？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98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Component、Leaf、Composite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递归发生在哪个方法里？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容器的业务方法遍历子构件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组合模式的本质是什么？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统一叶子对象和组合对象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答不上来的题，回到对应正文页再看一遍那张类图或那段代码。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透明式把管理方法放在哪？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抽象构件里，叶子也继承到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安全式的不透明体现在哪？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组装时要先转型成容器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组合模式最主要的缺点？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难以限制容器里的构件类型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透明式的不安全体现在哪？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60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叶子的 add 只能运行期报错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课件的水果盘属于哪一式？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755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安全式，add 只写在 Plate 里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想给组合树加新操作用什么？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访问者模式，节点类不用改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5396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4 题要能说清理由：MyElement 里只有 eat()，没有声明 add。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22 组合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10154174" cy="1509903"/>
            <a:chOff x="533400" y="1534478"/>
            <a:chExt cx="10154174" cy="1509903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8110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组合模式把对象组织成树形结构表示整体-部分关系，让客户对单个对象和组合对象的使用具有一致性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308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1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4518"/>
              <a:ext cx="98733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三个角色：Component 声明公共接口，Leaf 是没有子节点的叶子，Composite 持有一组抽象构件并在业务方法里递归调用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169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00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3128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类图的要点是那条从容器指回抽象构件的聚合线，菱形在容器端，指向抽象构件而不是叶子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030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4986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1738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透明式把管理方法放进抽象构件，接口一致但叶子只能抛异常；安全式只在容器里声明，编译期安全但客户端要转型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689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073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80348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优点是统一了两类对象、简化了客户端；缺点是限制不住容器里能放什么类型的构件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161348"/>
            <a:ext cx="11125200" cy="1845945"/>
            <a:chOff x="533400" y="3161348"/>
            <a:chExt cx="11125200" cy="1845945"/>
          </a:xfrm>
        </p:grpSpPr>
        <p:sp>
          <p:nvSpPr>
            <p:cNvPr id="23" name="Rectangle 23"/>
            <p:cNvSpPr/>
            <p:nvPr/>
          </p:nvSpPr>
          <p:spPr>
            <a:xfrm>
              <a:off x="533400" y="3161348"/>
              <a:ext cx="11125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294698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8190" y="334803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759" y="33808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73340" y="33832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8190" y="3696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868" y="37359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8987" y="3709035"/>
              <a:ext cx="6417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典型叶子代码与典型容器代码的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getChild()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都缺少 return，两处都编译不过。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8190" y="39976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3868" y="40360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8987" y="4009072"/>
              <a:ext cx="7469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文件浏览实例的类图里，AbstractFile 的方法参数写成了另一张图里的 AbstractElement。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8190" y="429768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3868" y="43360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8987" y="4310062"/>
              <a:ext cx="10247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计算机设备实例的 C++ 代码：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virtula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拼错、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sum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未声明未初始化、类外定义又写了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、子类重复声明了基类的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mName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8190" y="45977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3868" y="46361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8987" y="4610100"/>
              <a:ext cx="7508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课件的容器代码用裸 ArrayList 并强制转型，改成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List&lt;Component&gt;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后转型可以全部去掉。</a:t>
              </a:r>
            </a:p>
          </p:txBody>
        </p:sp>
      </p:grpSp>
      <p:grpSp>
        <p:nvGrpSpPr>
          <p:cNvPr id="47" name="c1-callout-3"/>
          <p:cNvGrpSpPr/>
          <p:nvPr/>
        </p:nvGrpSpPr>
        <p:grpSpPr>
          <a:xfrm>
            <a:off x="533400" y="5177790"/>
            <a:ext cx="11125200" cy="533400"/>
            <a:chOff x="533400" y="517779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17779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343525"/>
              <a:ext cx="200026" cy="200025"/>
              <a:chOff x="738188" y="534352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3435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3879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4991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5349240"/>
              <a:ext cx="6319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下一步：想在不改接口的前提下给树上的节点加职责，看第 23 讲的装饰模式。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8" name="Rectangle 4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8373"/>
              <a:ext cx="6383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看到“目录”“菜单”“组织结构”“整体-部分”“递归汇总”这些词，先想组合模式。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组合模式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22">
  <a:themeElements>
    <a:clrScheme name="sdp_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2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2026-09-19T08:42:57Z</dcterms:created>
  <dcterms:modified xsi:type="dcterms:W3CDTF">2026-09-19T08:42:57Z</dcterms:modified>
  <cp:category/>
  <cp:contentStatus/>
</cp:coreProperties>
</file>