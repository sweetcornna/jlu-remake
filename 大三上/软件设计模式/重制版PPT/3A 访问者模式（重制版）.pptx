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6d6394c56ac45e0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6d6394c56ac45e0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680d2cf8724a8f2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831c753ba86f9e4.png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178302" cy="3437763"/>
            <a:chOff x="666750" y="1619250"/>
            <a:chExt cx="317830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第二十八讲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元素不动，把新操作加在外面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一个集合装着几种元素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两次单分派拼出双分派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购物车与奖励审批实例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倾斜的开闭原则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5" y="407194"/>
              <a:ext cx="999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一个集合里装着几种类型的元素，操作还会不断增加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分派原理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单分派、多分派、静态、动态，双分派为什么要靠两跳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五个角色，两个平行的层次结构，从命令模式的推导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标准代码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251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四段典型代码，accept 里那一行为什么不能上提到父类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125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购物车、奖励审批、Animal 吃 Food、物流公司算费用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优缺点、适用场景、真实系统里的访问者、与相关模式的分界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画出访问者模式类图，元素层次与访问者层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次分开，accept 的参数是抽象访问者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387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element.accept(v)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v.visit(this) 这两跳各由什么类型决定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写出五个角色的完整代码，并解释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里为什么必须写 this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给定一个候选人集合和两个访问者，手工走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一遍访问过程并写出结果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判断一个场景该不该用访问者：元素的类稳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不稳定，操作会不会不断加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37376" cy="3569017"/>
            <a:chOff x="667512" y="1835468"/>
            <a:chExt cx="6437376" cy="35690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动机：一个集合里装着好几种元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先看清问题长什么样，再看旧写法卡在哪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同一批对象被多种人以不同方式访问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if-else 加向下转型的三条毛病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换个方向让元素被动接受也不行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443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动机：一个集合里装着好几种元素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动机一：同一批东西，不同的人各看各的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83196" cy="264033"/>
            <a:chOff x="526542" y="1545907"/>
            <a:chExt cx="72831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张欣佳老师课件开篇的那张图。一张处方单交到两个人手里，两个人对它做的事完全不同。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5410200" cy="1760220"/>
            <a:chOff x="533400" y="1928812"/>
            <a:chExt cx="5410200" cy="17602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划价员和药房人员各读一遍同一张处方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划价人员看的是每种药的单价和数量，算出这张单子该收多少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钱；药房人员看的是药名和剂量，照着单子发药。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303371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处方上的药品种类是固定的，可要对它做的事却在不断增加：还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可能有药师审方、医保结算。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858578"/>
            <a:ext cx="5410200" cy="1845945"/>
            <a:chOff x="533400" y="3858578"/>
            <a:chExt cx="5410200" cy="1845945"/>
          </a:xfrm>
        </p:grpSpPr>
        <p:sp>
          <p:nvSpPr>
            <p:cNvPr id="17" name="Rectangle 17"/>
            <p:cNvSpPr/>
            <p:nvPr/>
          </p:nvSpPr>
          <p:spPr>
            <a:xfrm>
              <a:off x="533400" y="3858578"/>
              <a:ext cx="5410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991928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40452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862" y="40781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3784" y="40805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这一类问题的共同形状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446246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440626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一批对象存放在同一个集合里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6762" y="47625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782" y="470630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这些对象的具体类型互不相同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506253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50063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对它们的操作不止一种，以后还要加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66762" y="536257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2782" y="530637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不同的操作，对同一种元素的处理也不同</a:t>
              </a:r>
            </a:p>
          </p:txBody>
        </p:sp>
      </p:grpSp>
      <p:grpSp>
        <p:nvGrpSpPr>
          <p:cNvPr id="33" name="c2-image-1"/>
          <p:cNvGrpSpPr/>
          <p:nvPr/>
        </p:nvGrpSpPr>
        <p:grpSpPr>
          <a:xfrm>
            <a:off x="6248400" y="1928812"/>
            <a:ext cx="5410200" cy="1456087"/>
            <a:chOff x="6248400" y="1928812"/>
            <a:chExt cx="5410200" cy="1456087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rcRect l="0" t="30720" r="0" b="30720"/>
            <a:stretch>
              <a:fillRect/>
            </a:stretch>
          </p:blipFill>
          <p:spPr>
            <a:xfrm>
              <a:off x="6248400" y="1928812"/>
              <a:ext cx="5410200" cy="1173480"/>
            </a:xfrm>
            <a:prstGeom prst="roundRect">
              <a:avLst>
                <a:gd name="adj" fmla="val 11363"/>
              </a:avLst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7497343" y="319420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同一排东西，一个人过秤计价，另一个人核对清单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248400" y="3535680"/>
            <a:ext cx="5410200" cy="2168842"/>
            <a:chOff x="6248400" y="3535680"/>
            <a:chExt cx="5410200" cy="2168842"/>
          </a:xfrm>
        </p:grpSpPr>
        <p:sp>
          <p:nvSpPr>
            <p:cNvPr id="34" name="Rectangle 34"/>
            <p:cNvSpPr/>
            <p:nvPr/>
          </p:nvSpPr>
          <p:spPr>
            <a:xfrm>
              <a:off x="6248400" y="3535680"/>
              <a:ext cx="5410200" cy="2168842"/>
            </a:xfrm>
            <a:prstGeom prst="roundRect">
              <a:avLst>
                <a:gd name="adj" fmla="val 614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35090" y="37223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27762" y="37552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0684" y="375761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课件那段话，拆成两句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8232" y="408336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访问者模式封装一些施加于某种数据结构元素之上的操作，这些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操作要改的时候，接受操作的数据结构可以保持不变。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8232" y="464058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为不同类型的元素提供多种访问方式，并且能在不修改原有系统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的情况下增加新的访问方式。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1" name="Rectangle 4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8373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两个关键词：元素的类型是多种的，对元素的操作也是多种的，而且后者一直在长。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26873" cy="909257"/>
            <a:chOff x="520446" y="342900"/>
            <a:chExt cx="8026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443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动机：一个集合里装着好几种元素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26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动机二：Animal 吃 Food，卡在 if-else 加向下转型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231725" cy="264033"/>
            <a:chOff x="526542" y="1545907"/>
            <a:chExt cx="923172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31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陈伟老师课件的开场。前提是 Food 的结构稳定，而 Meat 和 Bone 各有各的接口，目标是以一致的方式访问它们。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626418" cy="2088832"/>
            <a:chOff x="533400" y="1928812"/>
            <a:chExt cx="5626418" cy="20888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最直接的写法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2884932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eat(Food food)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(food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((Meat) food).meatFunction();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(food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Bone)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((Bone) food).boneFunction();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3" name="c1-uml-2"/>
          <p:cNvGrpSpPr/>
          <p:nvPr/>
        </p:nvGrpSpPr>
        <p:grpSpPr>
          <a:xfrm>
            <a:off x="900112" y="4254818"/>
            <a:ext cx="4893946" cy="1247774"/>
            <a:chOff x="900112" y="4254818"/>
            <a:chExt cx="4893946" cy="1247774"/>
          </a:xfrm>
        </p:grpSpPr>
        <p:sp>
          <p:nvSpPr>
            <p:cNvPr id="13" name="Freeform 13"/>
            <p:cNvSpPr/>
            <p:nvPr/>
          </p:nvSpPr>
          <p:spPr>
            <a:xfrm>
              <a:off x="2043112" y="4532948"/>
              <a:ext cx="2607945" cy="9525"/>
            </a:xfrm>
            <a:custGeom>
              <a:avLst/>
              <a:gdLst/>
              <a:ahLst/>
              <a:cxnLst/>
              <a:rect l="l" t="t" r="r" b="b"/>
              <a:pathLst>
                <a:path w="2607945" h="9525">
                  <a:moveTo>
                    <a:pt x="0" y="0"/>
                  </a:moveTo>
                  <a:lnTo>
                    <a:pt x="260794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546282" y="447579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347085" y="4872990"/>
              <a:ext cx="1780222" cy="73342"/>
            </a:xfrm>
            <a:custGeom>
              <a:avLst/>
              <a:gdLst/>
              <a:ahLst/>
              <a:cxnLst/>
              <a:rect l="l" t="t" r="r" b="b"/>
              <a:pathLst>
                <a:path w="1780222" h="73342">
                  <a:moveTo>
                    <a:pt x="0" y="73342"/>
                  </a:moveTo>
                  <a:lnTo>
                    <a:pt x="0" y="0"/>
                  </a:lnTo>
                  <a:lnTo>
                    <a:pt x="1780222" y="0"/>
                  </a:lnTo>
                  <a:lnTo>
                    <a:pt x="1780222" y="52388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5053965" y="47996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222558" y="4872990"/>
              <a:ext cx="95250" cy="73342"/>
            </a:xfrm>
            <a:custGeom>
              <a:avLst/>
              <a:gdLst/>
              <a:ahLst/>
              <a:cxnLst/>
              <a:rect l="l" t="t" r="r" b="b"/>
              <a:pathLst>
                <a:path w="95250" h="73342">
                  <a:moveTo>
                    <a:pt x="0" y="73342"/>
                  </a:moveTo>
                  <a:lnTo>
                    <a:pt x="0" y="0"/>
                  </a:lnTo>
                  <a:lnTo>
                    <a:pt x="95250" y="0"/>
                  </a:lnTo>
                  <a:lnTo>
                    <a:pt x="95250" y="52388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5244465" y="47996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00112" y="425481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6780" y="426148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00112" y="44672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0112" y="45624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651058" y="4266248"/>
              <a:ext cx="1143000" cy="533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57725" y="4273868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51058" y="46043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51058" y="46996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775585" y="49463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782252" y="49530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775585" y="51587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775585" y="52539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51058" y="49463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57725" y="49530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651058" y="51587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51058" y="52539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74226" y="4306252"/>
              <a:ext cx="3947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Animal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1550" y="4630579"/>
              <a:ext cx="6549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eat(Food)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24996" y="4314825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75877" y="4443412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Food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87503" y="4997767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47022" y="5322094"/>
              <a:ext cx="95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meatFunction()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75877" y="4997767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Bone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22495" y="5322094"/>
              <a:ext cx="9300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boneFunction()</a:t>
              </a:r>
            </a:p>
          </p:txBody>
        </p:sp>
      </p:grpSp>
      <p:grpSp>
        <p:nvGrpSpPr>
          <p:cNvPr id="57" name="c2-bullets-1"/>
          <p:cNvGrpSpPr/>
          <p:nvPr/>
        </p:nvGrpSpPr>
        <p:grpSpPr>
          <a:xfrm>
            <a:off x="6457760" y="1950720"/>
            <a:ext cx="4131060" cy="1873092"/>
            <a:chOff x="6457760" y="1950720"/>
            <a:chExt cx="4131060" cy="1873092"/>
          </a:xfrm>
        </p:grpSpPr>
        <p:sp>
          <p:nvSpPr>
            <p:cNvPr id="44" name="TextBox 44"/>
            <p:cNvSpPr txBox="1"/>
            <p:nvPr/>
          </p:nvSpPr>
          <p:spPr>
            <a:xfrm>
              <a:off x="6457760" y="195072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课件批的三条毛病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464618" y="230028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93980" y="2267902"/>
              <a:ext cx="1458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用了 if-else 结构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00838" y="259461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85622" y="2531269"/>
              <a:ext cx="3703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Food 的子类一多就不好处理，每加一种都要回来改 eat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6464618" y="283654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93980" y="280416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用了动态类型识别和向下转型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700838" y="313086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85622" y="3067526"/>
              <a:ext cx="2830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违背里氏替换原则（第 02 讲），不易扩展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464618" y="337375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93980" y="3340418"/>
              <a:ext cx="2481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Meat 和 Bone 的外部接口不同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700838" y="366712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85622" y="3603784"/>
              <a:ext cx="2913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签名对不齐，难以在 eat 里形成一致的行为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464618" y="3949065"/>
            <a:ext cx="5193982" cy="1621155"/>
            <a:chOff x="6464618" y="3949065"/>
            <a:chExt cx="5193982" cy="1621155"/>
          </a:xfrm>
        </p:grpSpPr>
        <p:sp>
          <p:nvSpPr>
            <p:cNvPr id="58" name="Rectangle 58"/>
            <p:cNvSpPr/>
            <p:nvPr/>
          </p:nvSpPr>
          <p:spPr>
            <a:xfrm>
              <a:off x="6464618" y="3949065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4142" y="408241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89408" y="41357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82079" y="41686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55954" y="4170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这个问题成立要有两个条件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697980" y="455295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53999" y="4496752"/>
              <a:ext cx="3382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Food 的结构稳定，以后基本不再加新子类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697980" y="485394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53999" y="4797742"/>
              <a:ext cx="2473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Food 的子类各有各的访问接口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8" name="Rectangle 6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8373"/>
              <a:ext cx="9663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向下转型之所以碍眼，是因为它把"运行期才知道的类型"又写回了编译期的代码里，每加一种类型都要回来补一个分支。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28494" cy="909257"/>
            <a:chOff x="520446" y="342900"/>
            <a:chExt cx="72284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7751" y="407194"/>
              <a:ext cx="3443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动机：一个集合里装着好几种元素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284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换个方向让 Food 被动接受，问题只是搬了个家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579452" cy="264033"/>
            <a:chOff x="526542" y="1545907"/>
            <a:chExt cx="957945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579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既然 Animal 判断不了，就给 Food 加一个 beEaten(Animal)，让 Food 自己知道该怎么被吃。课件接着往下试了两步。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2264092"/>
            <a:chOff x="533400" y="1928812"/>
            <a:chExt cx="5842635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548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被动形式：判断交给 Food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799713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eat(Food food)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food.beEaten(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不再判断类型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beEaten(Animal ani)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meatFunction();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肉自己知道怎么被吃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357688"/>
            <a:ext cx="5842635" cy="1160145"/>
            <a:chOff x="533400" y="4357688"/>
            <a:chExt cx="5842635" cy="1160145"/>
          </a:xfrm>
        </p:grpSpPr>
        <p:sp>
          <p:nvSpPr>
            <p:cNvPr id="13" name="Rectangle 13"/>
            <p:cNvSpPr/>
            <p:nvPr/>
          </p:nvSpPr>
          <p:spPr>
            <a:xfrm>
              <a:off x="533400" y="4357688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491038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538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1096" y="4571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3228" y="4578191"/>
              <a:ext cx="3226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再添一个 Animal 子类，if-else 又回来了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895374"/>
              <a:ext cx="5125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Dog 和 Tiger 吃同一块肉的做法不一样，于是 Meat.beEaten 里只好再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判断传进来的是 Dog 还是 Tiger，向下转型原样搬到了 Food 这一边。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6680835" y="1928812"/>
            <a:ext cx="4977765" cy="1899285"/>
            <a:chOff x="6680835" y="1928812"/>
            <a:chExt cx="4977765" cy="1899285"/>
          </a:xfrm>
        </p:grpSpPr>
        <p:sp>
          <p:nvSpPr>
            <p:cNvPr id="20" name="Rectangle 20"/>
            <p:cNvSpPr/>
            <p:nvPr/>
          </p:nvSpPr>
          <p:spPr>
            <a:xfrm>
              <a:off x="6680835" y="1928812"/>
              <a:ext cx="4977765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69824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想加的东西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29244" y="20459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被动形式要改哪些类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6515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5514" y="2426970"/>
              <a:ext cx="952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 Food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69961" y="24269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只改新加的那个类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59759" y="2426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这一条扛得住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80835" y="2687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80835" y="2691765"/>
              <a:ext cx="497776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5514" y="2902268"/>
              <a:ext cx="9916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 cook 行为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9961" y="2808923"/>
              <a:ext cx="183756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Food 加 beCook，Meat、Bone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59759" y="29022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成片地改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80835" y="32546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75514" y="3376612"/>
              <a:ext cx="91478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 Animal 子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9961" y="3376612"/>
              <a:ext cx="15841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Food 子类里都要判断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Animal 的类型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174605" y="3268980"/>
              <a:ext cx="1474470" cy="5486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259759" y="346995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又回到起点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1928812"/>
              <a:ext cx="4977765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970520" y="1928812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160318" y="1928812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bullets-2"/>
          <p:cNvGrpSpPr/>
          <p:nvPr/>
        </p:nvGrpSpPr>
        <p:grpSpPr>
          <a:xfrm>
            <a:off x="6674358" y="4013359"/>
            <a:ext cx="3990323" cy="1429511"/>
            <a:chOff x="6674358" y="4013359"/>
            <a:chExt cx="3990323" cy="1429511"/>
          </a:xfrm>
        </p:grpSpPr>
        <p:sp>
          <p:nvSpPr>
            <p:cNvPr id="41" name="TextBox 41"/>
            <p:cNvSpPr txBox="1"/>
            <p:nvPr/>
          </p:nvSpPr>
          <p:spPr>
            <a:xfrm>
              <a:off x="6674358" y="4013359"/>
              <a:ext cx="3800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在 Food 结构稳定的前提下，真正要适应的四件事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1788" y="43033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3694" y="43390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51536" y="4314349"/>
              <a:ext cx="31962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更改 Animal 和 Food 组合之下的具体实现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81788" y="45967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33694" y="46323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51536" y="4607719"/>
              <a:ext cx="2985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添加新的访问方法，例如 cook、store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81788" y="488918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33694" y="49248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51536" y="4901089"/>
              <a:ext cx="1673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添加新的 Animal 子类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81788" y="51825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33694" y="52181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51536" y="5193506"/>
              <a:ext cx="3713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让各个 Animal 以一致的方式访问 Food 及其子类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73317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被动形式没有解决问题，它只是把类型判断从 Animal 那边挪到了 Food 这边。根子在语言本身。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分派：一次调用由谁来决定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访问者模式的全部机巧都在这一部分里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单分派与多分派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重载是静态多分派，虚方法是动态单分派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两次单分派接起来等于一次双分派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2990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分派：一次调用由谁来决定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问题的根源：常用语言只给了单分派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807856" cy="278702"/>
            <a:chOff x="526161" y="1547336"/>
            <a:chExt cx="880785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807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决定执行哪一段具体代码，要看三样东西：消息名、接收对象、参数对象。按谁来决定，分派分成几种。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542" y="1964055"/>
            <a:ext cx="5200840" cy="1457516"/>
            <a:chOff x="526542" y="1964055"/>
            <a:chExt cx="5200840" cy="1457516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单分派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09497" y="196405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除消息名之外，只由接收对象决定执行哪一段代码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526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3612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多分派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9497" y="236124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由接收对象和参数对象共同决定执行哪一段代码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508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27593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静态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09497" y="275939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编译期就定下来，编译器只看得见变量的静态类型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0489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542" y="31575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动态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09497" y="31575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运行期才定下来，看的是对象真正的类型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543300"/>
            <a:ext cx="5193982" cy="2121218"/>
            <a:chOff x="533400" y="3543300"/>
            <a:chExt cx="5193982" cy="2121218"/>
          </a:xfrm>
        </p:grpSpPr>
        <p:sp>
          <p:nvSpPr>
            <p:cNvPr id="21" name="Rectangle 21"/>
            <p:cNvSpPr/>
            <p:nvPr/>
          </p:nvSpPr>
          <p:spPr>
            <a:xfrm>
              <a:off x="533400" y="3543300"/>
              <a:ext cx="5193982" cy="2121218"/>
            </a:xfrm>
            <a:prstGeom prst="roundRect">
              <a:avLst>
                <a:gd name="adj" fmla="val 62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676650"/>
              <a:ext cx="47625" cy="18545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37357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5345" y="37699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47597" y="377571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四个词两两一配，得到四种分派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41100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Java、C++、C#、Objective-C 这些常用语言提供了静态单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分派、静态多分派、动态单分派，唯独没有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动态多分派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6032182" y="1941195"/>
            <a:ext cx="5626418" cy="2019300"/>
            <a:chOff x="6032182" y="1941195"/>
            <a:chExt cx="5626418" cy="2019300"/>
          </a:xfrm>
        </p:grpSpPr>
        <p:sp>
          <p:nvSpPr>
            <p:cNvPr id="28" name="Rectangle 28"/>
            <p:cNvSpPr/>
            <p:nvPr/>
          </p:nvSpPr>
          <p:spPr>
            <a:xfrm>
              <a:off x="6032182" y="1941195"/>
              <a:ext cx="5626418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60580" y="209311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理想中的写法，语言不支持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60198" y="2354580"/>
              <a:ext cx="4117848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eat(Food food)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food).eat();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想让两个对象一起选方法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cook(Food food)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food).cook();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032182" y="4135755"/>
            <a:ext cx="5626418" cy="1529715"/>
            <a:chOff x="6032182" y="4135755"/>
            <a:chExt cx="5626418" cy="1529715"/>
          </a:xfrm>
        </p:grpSpPr>
        <p:sp>
          <p:nvSpPr>
            <p:cNvPr id="32" name="Rectangle 32"/>
            <p:cNvSpPr/>
            <p:nvPr/>
          </p:nvSpPr>
          <p:spPr>
            <a:xfrm>
              <a:off x="6032182" y="4135755"/>
              <a:ext cx="5626418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426910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62688" y="43281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4128" y="43624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46380" y="436816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原课件这一节的两处笔误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55830" y="4701540"/>
              <a:ext cx="2885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p9 把“称多分派”写成了 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成多分派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55830" y="5004435"/>
              <a:ext cx="49257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p13 写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cout &lt;&lt; h.Name();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，可 Name() 返回 void，这一行编译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不过。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0" name="Rectangle 4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6023610"/>
              <a:ext cx="7828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动态多分派（也叫双分派）是语言没给的东西。访问者模式要做的，就是用现有机制把它拼出来。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2990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分派：一次调用由谁来决定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重载是静态多分派，虚方法是动态单分派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1123332" cy="278702"/>
            <a:chOff x="526161" y="1547336"/>
            <a:chExt cx="111233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1233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两段小程序，把"编译期按静态类型"和"运行期按真实类型"这两句话看清楚。原课件用 C++ 写，这里逐行改写成 Java，结论一样。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842635" cy="2499360"/>
            <a:chOff x="533400" y="1941195"/>
            <a:chExt cx="5842635" cy="249936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2499360"/>
            </a:xfrm>
            <a:prstGeom prst="roundRect">
              <a:avLst>
                <a:gd name="adj" fmla="val 38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重载：参数走静态类型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1484"/>
              <a:ext cx="3210052" cy="1999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doIt(Base d)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"Some(Base)"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doIt(D1 d1) 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"Some(D1)"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Sub2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String doIt(Base d)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"Sub2(Base)"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String doIt(D1 d1) 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"Sub2(D1)"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Some obj =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Sub2();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静态 Some，实际 Sub2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D1 d1 =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D1();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obj.doIt(d1);            </a:t>
              </a:r>
              <a:r>
                <a:rPr lang="en-US" sz="79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Sub2(D1)  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Base d = d1;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同一个对象，换个静态类型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obj.doIt(d);             </a:t>
              </a:r>
              <a:r>
                <a:rPr lang="en-US" sz="79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Sub2(Base) */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615815"/>
            <a:ext cx="5842635" cy="964882"/>
            <a:chOff x="533400" y="4615815"/>
            <a:chExt cx="5842635" cy="964882"/>
          </a:xfrm>
        </p:grpSpPr>
        <p:sp>
          <p:nvSpPr>
            <p:cNvPr id="13" name="Rectangle 13"/>
            <p:cNvSpPr/>
            <p:nvPr/>
          </p:nvSpPr>
          <p:spPr>
            <a:xfrm>
              <a:off x="533400" y="4615815"/>
              <a:ext cx="5842635" cy="964882"/>
            </a:xfrm>
            <a:prstGeom prst="roundRect">
              <a:avLst>
                <a:gd name="adj" fmla="val 1184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4995028"/>
              <a:ext cx="224134" cy="192560"/>
              <a:chOff x="726129" y="4995028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50653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49950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1431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880610"/>
              <a:ext cx="49343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后两行传的都是一个 D1 对象，只因为声明类型不同就走进了不同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的方法。重载在编译期就定死了。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6680835" y="1941195"/>
            <a:ext cx="4977765" cy="1817370"/>
            <a:chOff x="6680835" y="1941195"/>
            <a:chExt cx="4977765" cy="1817370"/>
          </a:xfrm>
        </p:grpSpPr>
        <p:sp>
          <p:nvSpPr>
            <p:cNvPr id="20" name="Rectangle 20"/>
            <p:cNvSpPr/>
            <p:nvPr/>
          </p:nvSpPr>
          <p:spPr>
            <a:xfrm>
              <a:off x="6680835" y="1941195"/>
              <a:ext cx="4977765" cy="60579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46176" y="21655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1005" y="2065496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接收对象按什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么选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57030" y="2065496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参数按什么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04576" y="21655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0848" y="2771299"/>
              <a:ext cx="983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obj.doIt(d1)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76235" y="2671286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运行时类型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0670" y="2771299"/>
              <a:ext cx="837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静态类型 D1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65092" y="2771299"/>
              <a:ext cx="1073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Sub2.doIt(D1)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31480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0835" y="3152775"/>
              <a:ext cx="497776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0848" y="3377089"/>
              <a:ext cx="896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obj.doIt(d)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76235" y="3277076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运行时类型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080182" y="3162300"/>
              <a:ext cx="1076325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0670" y="3277076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静态类型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65092" y="3377089"/>
              <a:ext cx="1236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Sub2.doIt(Base)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1941195"/>
              <a:ext cx="4977765" cy="18173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71460" y="1941195"/>
              <a:ext cx="9525" cy="18173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065895" y="1941195"/>
              <a:ext cx="9525" cy="18173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160318" y="1941195"/>
              <a:ext cx="9525" cy="18173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ode-2"/>
          <p:cNvGrpSpPr/>
          <p:nvPr/>
        </p:nvGrpSpPr>
        <p:grpSpPr>
          <a:xfrm>
            <a:off x="6680835" y="3933825"/>
            <a:ext cx="4977765" cy="1647825"/>
            <a:chOff x="6680835" y="3933825"/>
            <a:chExt cx="4977765" cy="1647825"/>
          </a:xfrm>
        </p:grpSpPr>
        <p:sp>
          <p:nvSpPr>
            <p:cNvPr id="41" name="Rectangle 41"/>
            <p:cNvSpPr/>
            <p:nvPr/>
          </p:nvSpPr>
          <p:spPr>
            <a:xfrm>
              <a:off x="6680835" y="3933825"/>
              <a:ext cx="4977765" cy="1647825"/>
            </a:xfrm>
            <a:prstGeom prst="roundRect">
              <a:avLst>
                <a:gd name="adj" fmla="val 57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9232" y="40857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虚方法：接收者走运行时类型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09422" y="4344114"/>
              <a:ext cx="2527808" cy="11482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Horse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name()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"马"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WhiteHorse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Horse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String name()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"白马"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Horse h =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WhiteHorse();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System.out.println(h.name());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白马 */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5" name="Rectangle 4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3610"/>
              <a:ext cx="9709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一次普通调用只有一半是动态的：接收对象那一半动态，参数那一半静态。更正：原课件把 SubSome 拼成了 SumSome。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2990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分派：一次调用由谁来决定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两次单分派接起来，等于一次双分派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191881" cy="264033"/>
            <a:chOff x="526542" y="1545907"/>
            <a:chExt cx="819188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访问者模式没有发明新的语言机制。它把一次调用拆成两跳，每一跳交给语言已有的动态单分派去解。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38338"/>
            <a:ext cx="5531231" cy="2307430"/>
            <a:chOff x="533400" y="1938338"/>
            <a:chExt cx="5531231" cy="2307430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5801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2796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01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853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92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96977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第一跳（运行期）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237899"/>
              <a:ext cx="51178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 element.accept(v)，执行哪个类的 accept 由 element 的运行时类型决定，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于是进了 Apple.accept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603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选重载（编译期）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27521"/>
              <a:ext cx="46128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里写着 v.visit(this)，this 的静态类型是 Apple，重载被定死为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visit(Apple)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549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第二跳（运行期）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818096"/>
              <a:ext cx="46200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 v.visit(Apple)，执行哪个类的版本由 v 的运行时类型决定，于是进了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Seller.visit(Apple)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409122"/>
            <a:ext cx="5842635" cy="956310"/>
            <a:chOff x="533400" y="4409122"/>
            <a:chExt cx="5842635" cy="956310"/>
          </a:xfrm>
        </p:grpSpPr>
        <p:sp>
          <p:nvSpPr>
            <p:cNvPr id="23" name="Rectangle 23"/>
            <p:cNvSpPr/>
            <p:nvPr/>
          </p:nvSpPr>
          <p:spPr>
            <a:xfrm>
              <a:off x="533400" y="4409122"/>
              <a:ext cx="5842635" cy="956310"/>
            </a:xfrm>
            <a:prstGeom prst="roundRect">
              <a:avLst>
                <a:gd name="adj" fmla="val 1195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786315"/>
              <a:ext cx="200023" cy="200023"/>
              <a:chOff x="738188" y="4786315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7863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48529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4668202"/>
              <a:ext cx="47285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最终执行哪段代码，由 Apple 和 Seller 两个运行时类型共同决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定，这正是双分派要的效果。</a:t>
              </a:r>
            </a:p>
          </p:txBody>
        </p:sp>
      </p:grpSp>
      <p:grpSp>
        <p:nvGrpSpPr>
          <p:cNvPr id="34" name="c2-code-1"/>
          <p:cNvGrpSpPr/>
          <p:nvPr/>
        </p:nvGrpSpPr>
        <p:grpSpPr>
          <a:xfrm>
            <a:off x="6680835" y="1928812"/>
            <a:ext cx="4977765" cy="1912620"/>
            <a:chOff x="6680835" y="1928812"/>
            <a:chExt cx="4977765" cy="1912620"/>
          </a:xfrm>
        </p:grpSpPr>
        <p:sp>
          <p:nvSpPr>
            <p:cNvPr id="29" name="Rectangle 29"/>
            <p:cNvSpPr/>
            <p:nvPr/>
          </p:nvSpPr>
          <p:spPr>
            <a:xfrm>
              <a:off x="6680835" y="1928812"/>
              <a:ext cx="497776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09232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两跳分别写在哪一行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99885" y="2304098"/>
              <a:ext cx="493966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9885" y="3183255"/>
              <a:ext cx="493966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9232" y="2340769"/>
              <a:ext cx="3438779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product.accept(visitor);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第一跳：看 product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v.visit(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第二跳：看 v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image-2"/>
          <p:cNvGrpSpPr/>
          <p:nvPr/>
        </p:nvGrpSpPr>
        <p:grpSpPr>
          <a:xfrm>
            <a:off x="6680835" y="4010978"/>
            <a:ext cx="4977765" cy="1373218"/>
            <a:chOff x="6680835" y="4010978"/>
            <a:chExt cx="4977765" cy="1373218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rcRect l="0" t="35406" r="0" b="35407"/>
            <a:stretch>
              <a:fillRect/>
            </a:stretch>
          </p:blipFill>
          <p:spPr>
            <a:xfrm>
              <a:off x="6680835" y="4010978"/>
              <a:ext cx="4977765" cy="1089660"/>
            </a:xfrm>
            <a:prstGeom prst="roundRect">
              <a:avLst>
                <a:gd name="adj" fmla="val 12237"/>
              </a:avLst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8241271" y="519350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两把钥匙各转各的，栓才退得开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38" name="Rectangle 3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5779770"/>
              <a:ext cx="99149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accept 里必须原样写 v.visit(this)。先把 this 赋给一个 Product 类型的变量再传进去，编译器就只能按 Product 去选重载，轻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则编译不过，重则永远选中同一个方法。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定义、结构与五个角色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59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两个平行的层次结构，只在 accept 这一处交汇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定义与模式分析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结构类图怎么读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五个角色各管什么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从命令模式一步步改过来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5" y="407194"/>
              <a:ext cx="2689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定义：不改元素的类，给它们加新操作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933575"/>
            <a:chOff x="533400" y="1524000"/>
            <a:chExt cx="5626418" cy="1933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8701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访问者模式（Visitor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表示一个作用于某对象结构中的各元素的操作，它使我们可以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在不改变各元素的类的前提下定义作用于这些元素的新操作。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711291"/>
              <a:ext cx="1849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9086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31331"/>
              <a:ext cx="29729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23 个模式中公认最复杂的一个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642360"/>
            <a:ext cx="5626418" cy="1957388"/>
            <a:chOff x="533400" y="3642360"/>
            <a:chExt cx="5626418" cy="1957388"/>
          </a:xfrm>
        </p:grpSpPr>
        <p:sp>
          <p:nvSpPr>
            <p:cNvPr id="18" name="Rectangle 18"/>
            <p:cNvSpPr/>
            <p:nvPr/>
          </p:nvSpPr>
          <p:spPr>
            <a:xfrm>
              <a:off x="533400" y="3642360"/>
              <a:ext cx="5626418" cy="1957388"/>
            </a:xfrm>
            <a:prstGeom prst="roundRect">
              <a:avLst>
                <a:gd name="adj" fmla="val 681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7235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7443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38644" y="388667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把操作搬出来，按元素类型分好格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9996" y="4238149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一个具体访问者就是一整套访问方式，里面按元素类型分成几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格，每格放一段代码。加一种访问方式，就是再做一个这样的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盒子。</a:t>
              </a:r>
            </a:p>
          </p:txBody>
        </p:sp>
      </p:grpSp>
      <p:grpSp>
        <p:nvGrpSpPr>
          <p:cNvPr id="41" name="c2-bullets-1"/>
          <p:cNvGrpSpPr/>
          <p:nvPr/>
        </p:nvGrpSpPr>
        <p:grpSpPr>
          <a:xfrm>
            <a:off x="6457379" y="1547336"/>
            <a:ext cx="4493895" cy="2573560"/>
            <a:chOff x="6457379" y="1547336"/>
            <a:chExt cx="4493895" cy="2573560"/>
          </a:xfrm>
        </p:grpSpPr>
        <p:sp>
          <p:nvSpPr>
            <p:cNvPr id="24" name="TextBox 24"/>
            <p:cNvSpPr txBox="1"/>
            <p:nvPr/>
          </p:nvSpPr>
          <p:spPr>
            <a:xfrm>
              <a:off x="6457379" y="154733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模式分析（张欣佳老师课件）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464618" y="191643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08838" y="188642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对象结构里存着不同类型的元素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16078" y="223361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00482" y="216503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同一个集合供不同的访问者访问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464618" y="248983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08838" y="245983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有两个平行的层次结构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16078" y="280701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00482" y="273939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访问者层次与元素层次，各自独立生长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464618" y="306324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8838" y="30332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两个方向都成立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16078" y="338042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00482" y="331279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同一个访问者能以不同方式访问不同元素，反过来也一样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464618" y="363664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08838" y="360664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增加新访问者无须改原有系统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16078" y="395382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00482" y="38862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可扩展性好，这是它最大的卖点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4258628"/>
            <a:ext cx="5193982" cy="1342072"/>
            <a:chOff x="6464618" y="4258628"/>
            <a:chExt cx="5193982" cy="1342072"/>
          </a:xfrm>
        </p:grpSpPr>
        <p:sp>
          <p:nvSpPr>
            <p:cNvPr id="42" name="Rectangle 42"/>
            <p:cNvSpPr/>
            <p:nvPr/>
          </p:nvSpPr>
          <p:spPr>
            <a:xfrm>
              <a:off x="6464618" y="4258628"/>
              <a:ext cx="5193982" cy="1342072"/>
            </a:xfrm>
            <a:prstGeom prst="roundRect">
              <a:avLst>
                <a:gd name="adj" fmla="val 99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4391978"/>
              <a:ext cx="47625" cy="10753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06552" y="446246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2811" y="44981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读定义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49884" y="450294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两个词要抠住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9314" y="4854416"/>
              <a:ext cx="41435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不改变各元素的类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：元素类里只留一个 accept。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9314" y="517445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新操作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：新操作是一整个访问者类。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04084"/>
              <a:ext cx="8635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定义里没有提“类型判断”，可它解决的恰恰是类型判断。做法是让元素自己报名，而不是让外人去猜。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0859" cy="909257"/>
            <a:chOff x="520446" y="342900"/>
            <a:chExt cx="65808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5" y="407194"/>
              <a:ext cx="2689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08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结构：两个层次结构，只在 accept 处交汇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253538" cy="293370"/>
            <a:chOff x="525780" y="1548765"/>
            <a:chExt cx="925353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2535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左半边是元素层次，右半边是访问者层次。两边各自独立生长，只靠 accept 和 visit 这一对方法接上。</a:t>
              </a:r>
            </a:p>
          </p:txBody>
        </p:sp>
      </p:grpSp>
      <p:grpSp>
        <p:nvGrpSpPr>
          <p:cNvPr id="66" name="c1-uml-1"/>
          <p:cNvGrpSpPr/>
          <p:nvPr/>
        </p:nvGrpSpPr>
        <p:grpSpPr>
          <a:xfrm>
            <a:off x="1207770" y="2199322"/>
            <a:ext cx="9876473" cy="3228976"/>
            <a:chOff x="1207770" y="2199322"/>
            <a:chExt cx="9876473" cy="3228976"/>
          </a:xfrm>
        </p:grpSpPr>
        <p:sp>
          <p:nvSpPr>
            <p:cNvPr id="9" name="Freeform 9"/>
            <p:cNvSpPr/>
            <p:nvPr/>
          </p:nvSpPr>
          <p:spPr>
            <a:xfrm>
              <a:off x="1828800" y="3158490"/>
              <a:ext cx="95250" cy="292417"/>
            </a:xfrm>
            <a:custGeom>
              <a:avLst/>
              <a:gdLst/>
              <a:ahLst/>
              <a:cxnLst/>
              <a:rect l="l" t="t" r="r" b="b"/>
              <a:pathLst>
                <a:path w="95250" h="292417">
                  <a:moveTo>
                    <a:pt x="0" y="292417"/>
                  </a:moveTo>
                  <a:lnTo>
                    <a:pt x="0" y="41910"/>
                  </a:lnTo>
                  <a:lnTo>
                    <a:pt x="95250" y="4191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65948" y="2948940"/>
              <a:ext cx="116205" cy="209550"/>
            </a:xfrm>
            <a:custGeom>
              <a:avLst/>
              <a:gdLst/>
              <a:ahLst/>
              <a:cxnLst/>
              <a:rect l="l" t="t" r="r" b="b"/>
              <a:pathLst>
                <a:path w="116205" h="209550">
                  <a:moveTo>
                    <a:pt x="58102" y="0"/>
                  </a:moveTo>
                  <a:lnTo>
                    <a:pt x="116205" y="104775"/>
                  </a:lnTo>
                  <a:lnTo>
                    <a:pt x="58102" y="2095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28800" y="4301490"/>
              <a:ext cx="95250" cy="376238"/>
            </a:xfrm>
            <a:custGeom>
              <a:avLst/>
              <a:gdLst/>
              <a:ahLst/>
              <a:cxnLst/>
              <a:rect l="l" t="t" r="r" b="b"/>
              <a:pathLst>
                <a:path w="95250" h="376238">
                  <a:moveTo>
                    <a:pt x="95250" y="376238"/>
                  </a:moveTo>
                  <a:lnTo>
                    <a:pt x="95250" y="125730"/>
                  </a:lnTo>
                  <a:lnTo>
                    <a:pt x="0" y="12573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755458" y="41757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19300" y="4301490"/>
              <a:ext cx="2686050" cy="376238"/>
            </a:xfrm>
            <a:custGeom>
              <a:avLst/>
              <a:gdLst/>
              <a:ahLst/>
              <a:cxnLst/>
              <a:rect l="l" t="t" r="r" b="b"/>
              <a:pathLst>
                <a:path w="2686050" h="376238">
                  <a:moveTo>
                    <a:pt x="2686050" y="376238"/>
                  </a:moveTo>
                  <a:lnTo>
                    <a:pt x="2686050" y="125730"/>
                  </a:lnTo>
                  <a:lnTo>
                    <a:pt x="0" y="12573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945958" y="417576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486650" y="3074670"/>
              <a:ext cx="9525" cy="1603058"/>
            </a:xfrm>
            <a:custGeom>
              <a:avLst/>
              <a:gdLst/>
              <a:ahLst/>
              <a:cxnLst/>
              <a:rect l="l" t="t" r="r" b="b"/>
              <a:pathLst>
                <a:path w="9525" h="1603058">
                  <a:moveTo>
                    <a:pt x="0" y="1603058"/>
                  </a:moveTo>
                  <a:lnTo>
                    <a:pt x="0" y="739140"/>
                  </a:lnTo>
                  <a:lnTo>
                    <a:pt x="0" y="73914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13308" y="29489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677150" y="3074670"/>
              <a:ext cx="2590800" cy="1603058"/>
            </a:xfrm>
            <a:custGeom>
              <a:avLst/>
              <a:gdLst/>
              <a:ahLst/>
              <a:cxnLst/>
              <a:rect l="l" t="t" r="r" b="b"/>
              <a:pathLst>
                <a:path w="2590800" h="1603058">
                  <a:moveTo>
                    <a:pt x="2590800" y="1603058"/>
                  </a:moveTo>
                  <a:lnTo>
                    <a:pt x="2590800" y="739140"/>
                  </a:lnTo>
                  <a:lnTo>
                    <a:pt x="0" y="73914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603808" y="29489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019300" y="2948940"/>
              <a:ext cx="5276850" cy="501967"/>
            </a:xfrm>
            <a:custGeom>
              <a:avLst/>
              <a:gdLst/>
              <a:ahLst/>
              <a:cxnLst/>
              <a:rect l="l" t="t" r="r" b="b"/>
              <a:pathLst>
                <a:path w="5276850" h="501967">
                  <a:moveTo>
                    <a:pt x="0" y="501967"/>
                  </a:moveTo>
                  <a:lnTo>
                    <a:pt x="0" y="251460"/>
                  </a:lnTo>
                  <a:lnTo>
                    <a:pt x="5276850" y="251460"/>
                  </a:lnTo>
                  <a:lnTo>
                    <a:pt x="52768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7239000" y="294894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114300" y="104775"/>
                  </a:moveTo>
                  <a:lnTo>
                    <a:pt x="5715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207770" y="2199322"/>
              <a:ext cx="143256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214438" y="2205990"/>
              <a:ext cx="141827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07770" y="2429828"/>
              <a:ext cx="14325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07770" y="2525078"/>
              <a:ext cx="14325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70358" y="2199322"/>
              <a:ext cx="163258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77025" y="2205990"/>
              <a:ext cx="161829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70358" y="2429828"/>
              <a:ext cx="16325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70358" y="2525078"/>
              <a:ext cx="16325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52550" y="3450908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60170" y="3458528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352550" y="381857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352550" y="391382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70358" y="4677728"/>
              <a:ext cx="163258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77025" y="4685348"/>
              <a:ext cx="161829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70358" y="4908232"/>
              <a:ext cx="16325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70358" y="5003482"/>
              <a:ext cx="16325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451658" y="4677728"/>
              <a:ext cx="1632585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458325" y="4685348"/>
              <a:ext cx="161829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451658" y="4908232"/>
              <a:ext cx="16325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451658" y="5003482"/>
              <a:ext cx="16325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257300" y="4677728"/>
              <a:ext cx="1334452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263968" y="4685348"/>
              <a:ext cx="1320165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257300" y="4908232"/>
              <a:ext cx="13344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257300" y="5003482"/>
              <a:ext cx="13344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038600" y="4677728"/>
              <a:ext cx="1334452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4045268" y="4685348"/>
              <a:ext cx="1320165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038600" y="4908232"/>
              <a:ext cx="13344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038600" y="5003482"/>
              <a:ext cx="13344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346862" y="2255044"/>
              <a:ext cx="11543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ObjectStructure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79208" y="2594610"/>
              <a:ext cx="128968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addElement(Element)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47793" y="2255044"/>
              <a:ext cx="477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Visitor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41795" y="2594610"/>
              <a:ext cx="148971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visit(ConcreteElementA)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visit(ConcreteElementB)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99161" y="350377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53773" y="3643789"/>
              <a:ext cx="5405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Element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23988" y="3983355"/>
              <a:ext cx="10560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00721" y="4733449"/>
              <a:ext cx="1171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ConcreteVisitorA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41795" y="5073015"/>
              <a:ext cx="148971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visit(ConcreteElementA)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visit(ConcreteElementB)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82021" y="4733449"/>
              <a:ext cx="1171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ConcreteVisitorB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23095" y="5073015"/>
              <a:ext cx="148971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visit(ConcreteElementA)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visit(ConcreteElementB)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06623" y="4733449"/>
              <a:ext cx="1234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ConcreteElementA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28738" y="5073015"/>
              <a:ext cx="99250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operationA()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087923" y="4733449"/>
              <a:ext cx="1234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ConcreteElementB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110038" y="5073015"/>
              <a:ext cx="99250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operationB()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170045" y="2984182"/>
              <a:ext cx="97536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185933" y="301085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accept 的参数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7" name="Rectangle 6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511" y="6004084"/>
              <a:ext cx="81674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抽象访问者里有几个 visit，取决于元素有几个具体子类。这条绑定关系正是"加元素难"的病根。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94254" cy="909257"/>
            <a:chOff x="520446" y="342900"/>
            <a:chExt cx="27942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5" y="407194"/>
              <a:ext cx="2689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6161" y="1547336"/>
            <a:ext cx="6067044" cy="4107752"/>
            <a:chOff x="526161" y="1547336"/>
            <a:chExt cx="6067044" cy="410775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708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Visitor 抽象访问者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04491" y="1547336"/>
              <a:ext cx="380161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为对象结构中每一个具体元素类声明一个访问操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作。操作的名字和参数标识了它要访问的是哪一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类元素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3888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504599"/>
              <a:ext cx="148199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ConcreteVisitor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具体访问者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04491" y="2504599"/>
              <a:ext cx="380161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实现抽象访问者声明的每一个操作，一个操作对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应一种元素。一个具体访问者就是一整套访问方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3461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3461861"/>
              <a:ext cx="16087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Element 抽象元素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04491" y="3461861"/>
              <a:ext cx="3963924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一般是抽象类或接口，声明 accept 方法，参数是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抽象访问者类型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0357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4151471"/>
              <a:ext cx="156720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ConcreteElement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具体元素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4491" y="4151471"/>
              <a:ext cx="3837686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accept，方法体固定写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visitor.visit(this)，此外还有它自己的业务方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9930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5108734"/>
              <a:ext cx="156720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ObjectStructure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对象结构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04491" y="5108734"/>
              <a:ext cx="38016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元素的集合，提供遍历内部元素的方法，让访问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者挨个访问到每一个元素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898005" y="1524000"/>
            <a:ext cx="4760595" cy="2164080"/>
            <a:chOff x="6898005" y="1524000"/>
            <a:chExt cx="4760595" cy="2164080"/>
          </a:xfrm>
        </p:grpSpPr>
        <p:sp>
          <p:nvSpPr>
            <p:cNvPr id="22" name="Rectangle 22"/>
            <p:cNvSpPr/>
            <p:nvPr/>
          </p:nvSpPr>
          <p:spPr>
            <a:xfrm>
              <a:off x="6898005" y="1524000"/>
              <a:ext cx="4760595" cy="2164080"/>
            </a:xfrm>
            <a:prstGeom prst="roundRect">
              <a:avLst>
                <a:gd name="adj" fmla="val 61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07530" y="1657350"/>
              <a:ext cx="47625" cy="18973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3994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148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40396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五个角色分成三堆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2701" y="2119789"/>
              <a:ext cx="42391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元素层次只负责报出"我是谁"，它把自己交出去。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32701" y="2439829"/>
              <a:ext cx="34744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访问者层次负责"对每一种元素做什么"。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32701" y="2759869"/>
              <a:ext cx="38568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对象结构只负责"装着谁、按什么次序遍历"。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3844" y="3075622"/>
              <a:ext cx="38069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判断一个类是不是具体元素，只看它的 accept 里是不是</a:t>
              </a:r>
              <a:br/>
              <a:r>
                <a:rPr lang="en-US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visitor.visit(this)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898005" y="3873818"/>
            <a:ext cx="4760595" cy="1725930"/>
            <a:chOff x="6898005" y="3873818"/>
            <a:chExt cx="4760595" cy="1725930"/>
          </a:xfrm>
        </p:grpSpPr>
        <p:sp>
          <p:nvSpPr>
            <p:cNvPr id="32" name="Rectangle 32"/>
            <p:cNvSpPr/>
            <p:nvPr/>
          </p:nvSpPr>
          <p:spPr>
            <a:xfrm>
              <a:off x="6898005" y="3873818"/>
              <a:ext cx="4760595" cy="1725930"/>
            </a:xfrm>
            <a:prstGeom prst="roundRect">
              <a:avLst>
                <a:gd name="adj" fmla="val 7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07530" y="4007168"/>
              <a:ext cx="47625" cy="14592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39940" y="40776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30148" y="41133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0396" y="411718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对象结构不一定要单独写成一个类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32701" y="4468654"/>
              <a:ext cx="410819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元素少的时候，它可以就是客户端里的一个 List。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元素是一棵树时，它往往就是组合模式（第 22 讲）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的根节点。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客户端不在这五个角色里，但它做两件事：造出具体访问者，再把它交给对象结构。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5" y="407194"/>
              <a:ext cx="2689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定义、结构与五个角色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从命令模式一步步改，就改成了访问者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37985" cy="264033"/>
            <a:chOff x="526542" y="1545907"/>
            <a:chExt cx="6737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陈伟老师课件用七页推了这条路。顺着走一遍，访问者的那几个名字就不用死记了。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4243959" cy="3097053"/>
            <a:chOff x="533400" y="1938338"/>
            <a:chExt cx="4243959" cy="3097053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23707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2796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01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853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92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30815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3819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6977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一、先用命令模式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37899"/>
              <a:ext cx="37950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Animal 和 Food 的每种组合封成一个命令类，Animal.use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里造一个命令再执行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603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二、问题还剩一半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027521"/>
              <a:ext cx="38234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命令类的 execute 里仍然要 instanceof 判断 food 是 Meat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 Bone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49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三、关键一步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818096"/>
              <a:ext cx="3830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food 自己报名。beUsed 由 food 的运行时类型选中，use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的重载由 this 的静态类型选中，两跳一接就不用判类型了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3405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四、去掉多余的一层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607719"/>
              <a:ext cx="35603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execute 只剩一行转发，删掉它，让 Animal.use 直接调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food.beUsed(cmd)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5382578" y="1928812"/>
            <a:ext cx="6276022" cy="1561148"/>
            <a:chOff x="5382578" y="1928812"/>
            <a:chExt cx="6276022" cy="1561148"/>
          </a:xfrm>
        </p:grpSpPr>
        <p:sp>
          <p:nvSpPr>
            <p:cNvPr id="27" name="Rectangle 27"/>
            <p:cNvSpPr/>
            <p:nvPr/>
          </p:nvSpPr>
          <p:spPr>
            <a:xfrm>
              <a:off x="5382578" y="1928812"/>
              <a:ext cx="6276022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10974" y="208073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第二步：判断还留在命令里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10974" y="2340769"/>
              <a:ext cx="4596257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EatCommand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execute(Food food)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(food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instanceof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Meat) { ((Meat) food).meatFunction();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((Bone) food).boneFunction();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code-2"/>
          <p:cNvGrpSpPr/>
          <p:nvPr/>
        </p:nvGrpSpPr>
        <p:grpSpPr>
          <a:xfrm>
            <a:off x="5382578" y="3659505"/>
            <a:ext cx="6276022" cy="1912620"/>
            <a:chOff x="5382578" y="3659505"/>
            <a:chExt cx="6276022" cy="1912620"/>
          </a:xfrm>
        </p:grpSpPr>
        <p:sp>
          <p:nvSpPr>
            <p:cNvPr id="31" name="Rectangle 31"/>
            <p:cNvSpPr/>
            <p:nvPr/>
          </p:nvSpPr>
          <p:spPr>
            <a:xfrm>
              <a:off x="5382578" y="3659505"/>
              <a:ext cx="6276022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10974" y="3811429"/>
              <a:ext cx="1848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第三步：判断交给 food 自己做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401628" y="421100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01628" y="509016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10974" y="4072414"/>
              <a:ext cx="3706368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EatCommand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execute(Food food) { food.beUsed(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use(Meat m) { m.meatFunction();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use(Bone b) { b.boneFunction();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beUsed(Command cmd) { cmd.use(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7" name="Rectangle 3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8373"/>
              <a:ext cx="10409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最后一步只是改名：Command 改叫 Visitor，execute 改叫 visit，beUsed 改叫 accept。访问者模式的三个名字就是这么来的。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67528" cy="3351847"/>
            <a:chOff x="667512" y="1835468"/>
            <a:chExt cx="53675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标准代码与一个关键细节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四段典型代码，外加 accept 那一行的讲究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抽象访问者与具体访问者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抽象元素与具体元素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对象结构与客户端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57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能不能上提到父类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2840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标准代码与一个关键细节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典型代码（一）：抽象访问者与具体访问者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184202" cy="293370"/>
            <a:chOff x="525780" y="1548765"/>
            <a:chExt cx="618420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184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抽象访问者里有几个 visit，就说明这个对象结构里有几种具体元素。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410200" cy="2207895"/>
            <a:chOff x="533400" y="1954530"/>
            <a:chExt cx="5410200" cy="220789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抽象访问者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3751136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visit(ConcreteElementA a);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visit(ConcreteElementB b);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所有访问者对 C 的处理都一样，给一份默认实现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visit(ConcreteElementC c)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 ConcreteElementC 的操作代码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343400"/>
            <a:ext cx="5410200" cy="1186815"/>
            <a:chOff x="533400" y="4343400"/>
            <a:chExt cx="5410200" cy="1186815"/>
          </a:xfrm>
        </p:grpSpPr>
        <p:sp>
          <p:nvSpPr>
            <p:cNvPr id="13" name="Rectangle 13"/>
            <p:cNvSpPr/>
            <p:nvPr/>
          </p:nvSpPr>
          <p:spPr>
            <a:xfrm>
              <a:off x="533400" y="4343400"/>
              <a:ext cx="5410200" cy="1186815"/>
            </a:xfrm>
            <a:prstGeom prst="roundRect">
              <a:avLst>
                <a:gd name="adj" fmla="val 963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836795"/>
              <a:ext cx="200026" cy="200025"/>
              <a:chOff x="738188" y="4836795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8367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8812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9923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470582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写成抽象类的好处是能给某些元素放一份默认实现，写成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接口则更灵活，两种都常见。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54530"/>
            <a:ext cx="5410200" cy="2397442"/>
            <a:chOff x="6248400" y="1954530"/>
            <a:chExt cx="5410200" cy="2397442"/>
          </a:xfrm>
        </p:grpSpPr>
        <p:sp>
          <p:nvSpPr>
            <p:cNvPr id="20" name="Rectangle 20"/>
            <p:cNvSpPr/>
            <p:nvPr/>
          </p:nvSpPr>
          <p:spPr>
            <a:xfrm>
              <a:off x="6248400" y="1954530"/>
              <a:ext cx="541020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10645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具体访问者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416" y="2367915"/>
              <a:ext cx="3384423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ConcreteVisitor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visit(ConcreteElementA a)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 ConcreteElementA 的操作代码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visit(ConcreteElementB b)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 ConcreteElementB 的操作代码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4531995"/>
            <a:ext cx="5410200" cy="997268"/>
            <a:chOff x="6248400" y="4531995"/>
            <a:chExt cx="5410200" cy="997268"/>
          </a:xfrm>
        </p:grpSpPr>
        <p:sp>
          <p:nvSpPr>
            <p:cNvPr id="24" name="Rectangle 24"/>
            <p:cNvSpPr/>
            <p:nvPr/>
          </p:nvSpPr>
          <p:spPr>
            <a:xfrm>
              <a:off x="6248400" y="4531995"/>
              <a:ext cx="5410200" cy="997268"/>
            </a:xfrm>
            <a:prstGeom prst="roundRect">
              <a:avLst>
                <a:gd name="adj" fmla="val 13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4665345"/>
              <a:ext cx="47625" cy="7305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84620" y="47301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76060" y="47644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67931" y="4765834"/>
              <a:ext cx="288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 visit 同名，靠参数类型区分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7381" y="5108734"/>
              <a:ext cx="48562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具体访问者把 A 和 B 都重写了，C 沿用父类的默认实现。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6011704"/>
              <a:ext cx="9716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 这一族方法可以重载（都叫 visit），也可以不重载（visitA、visitB），两种写法的差别放在下一页之后讲。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2840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标准代码与一个关键细节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典型代码（二）：抽象元素与具体元素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177027" cy="278702"/>
            <a:chOff x="526161" y="1547336"/>
            <a:chExt cx="817702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177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元素类里只添一个 accept，原有的业务方法一个不动，这就是"不改变各元素的类"的实际含义。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193982" cy="1072515"/>
            <a:chOff x="533400" y="1941195"/>
            <a:chExt cx="5193982" cy="107251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抽象元素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2430971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Element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visitor);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188970"/>
            <a:ext cx="5193982" cy="2397442"/>
            <a:chOff x="533400" y="3188970"/>
            <a:chExt cx="5193982" cy="2397442"/>
          </a:xfrm>
        </p:grpSpPr>
        <p:sp>
          <p:nvSpPr>
            <p:cNvPr id="13" name="Rectangle 13"/>
            <p:cNvSpPr/>
            <p:nvPr/>
          </p:nvSpPr>
          <p:spPr>
            <a:xfrm>
              <a:off x="533400" y="3188970"/>
              <a:ext cx="5193982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3408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具体元素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2450" y="4130040"/>
              <a:ext cx="515588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416" y="3602355"/>
              <a:ext cx="3677793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ConcreteElementA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Element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visitor)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visitor.visit(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operationA()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元素自己的业务方法，访问者可以调它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032182" y="1941195"/>
            <a:ext cx="5626418" cy="1786890"/>
            <a:chOff x="6032182" y="1941195"/>
            <a:chExt cx="5626418" cy="1786890"/>
          </a:xfrm>
        </p:grpSpPr>
        <p:sp>
          <p:nvSpPr>
            <p:cNvPr id="18" name="Rectangle 18"/>
            <p:cNvSpPr/>
            <p:nvPr/>
          </p:nvSpPr>
          <p:spPr>
            <a:xfrm>
              <a:off x="6032182" y="1941195"/>
              <a:ext cx="5626418" cy="1786890"/>
            </a:xfrm>
            <a:prstGeom prst="roundRect">
              <a:avLst>
                <a:gd name="adj" fmla="val 746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24588" y="213360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4026" y="216789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一行定乾坤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08330" y="2173605"/>
              <a:ext cx="2371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visitor.visit(this) 这一行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17730" y="250793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这一行在每个具体元素里字面写法完全一样，编译出来的结果却各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不相同：this 的静态类型不同，选中的 visit 重载就不同。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17730" y="3068002"/>
              <a:ext cx="49686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访问者要算的数据在元素里，所以元素常常得把 getter 甚至一些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内部操作开放出来，这就是"破坏封装"那条缺点的来历。</a:t>
              </a:r>
            </a:p>
          </p:txBody>
        </p:sp>
      </p:grpSp>
      <p:grpSp>
        <p:nvGrpSpPr>
          <p:cNvPr id="42" name="c2-table-2"/>
          <p:cNvGrpSpPr/>
          <p:nvPr/>
        </p:nvGrpSpPr>
        <p:grpSpPr>
          <a:xfrm>
            <a:off x="6032182" y="3903345"/>
            <a:ext cx="5626418" cy="1617345"/>
            <a:chOff x="6032182" y="3903345"/>
            <a:chExt cx="5626418" cy="1617345"/>
          </a:xfrm>
        </p:grpSpPr>
        <p:sp>
          <p:nvSpPr>
            <p:cNvPr id="25" name="Rectangle 25"/>
            <p:cNvSpPr/>
            <p:nvPr/>
          </p:nvSpPr>
          <p:spPr>
            <a:xfrm>
              <a:off x="6032182" y="3903345"/>
              <a:ext cx="5626418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0454" y="40276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写在哪个类里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1767" y="4027646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this 的静态类型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81082" y="402764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编译期选中的方法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32195" y="4433411"/>
              <a:ext cx="156469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ConcreteElementA.ac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cept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44815" y="4533424"/>
              <a:ext cx="1344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ConcreteElementA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529762" y="4318635"/>
              <a:ext cx="2119312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20250" y="4533424"/>
              <a:ext cx="1850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visit(ConcreteElementA)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32182" y="49101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32182" y="4914900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32195" y="5039201"/>
              <a:ext cx="156469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ConcreteElementB.ac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cept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44815" y="5139214"/>
              <a:ext cx="1344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ConcreteElementB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9762" y="4924425"/>
              <a:ext cx="2119312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620250" y="5139214"/>
              <a:ext cx="1850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visit(ConcreteElementB)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3903345"/>
              <a:ext cx="5626418" cy="1617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40040" y="3903345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15475" y="3903345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7392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元素类承担的全部改动，只有实现一个 accept。加多少种访问方式，它都不用再改第二次。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2840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标准代码与一个关键细节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典型代码（三）：对象结构与客户端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262347" cy="264033"/>
            <a:chOff x="526542" y="1545907"/>
            <a:chExt cx="826234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262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对象结构管遍历，客户端管选访问者。原课件用的是 JDK 1.4 时代的写法，这里换成泛型加增强 for。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626418" cy="2264092"/>
            <a:chOff x="533400" y="1928812"/>
            <a:chExt cx="5626418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924173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ObjectStructure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List&lt;Element&gt; list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visitor)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(Element e : list)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e.accept(visitor);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把访问者挨个递给元素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addElement(Element e) { list.add(e);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363402"/>
            <a:ext cx="5626418" cy="1202055"/>
            <a:chOff x="533400" y="4363402"/>
            <a:chExt cx="5626418" cy="1202055"/>
          </a:xfrm>
        </p:grpSpPr>
        <p:sp>
          <p:nvSpPr>
            <p:cNvPr id="13" name="Rectangle 13"/>
            <p:cNvSpPr/>
            <p:nvPr/>
          </p:nvSpPr>
          <p:spPr>
            <a:xfrm>
              <a:off x="533400" y="4363402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49675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45500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45829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3784" y="4584382"/>
              <a:ext cx="2251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原课件用的是裸 ArrayList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4911090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原代码取元素时要强转，改成 `List&lt;Element&gt;` 之后强转全都去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掉了。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464618" y="1928812"/>
            <a:ext cx="5193982" cy="2088832"/>
            <a:chOff x="6464618" y="1928812"/>
            <a:chExt cx="5193982" cy="2088832"/>
          </a:xfrm>
        </p:grpSpPr>
        <p:sp>
          <p:nvSpPr>
            <p:cNvPr id="20" name="Rectangle 20"/>
            <p:cNvSpPr/>
            <p:nvPr/>
          </p:nvSpPr>
          <p:spPr>
            <a:xfrm>
              <a:off x="6464618" y="1928812"/>
              <a:ext cx="5193982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93015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83668" y="3183255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83668" y="3710940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93015" y="2340769"/>
              <a:ext cx="3158744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ObjectStructure os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ObjectStructure();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os.addElement(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ConcreteElementA());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os.addElement(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ConcreteElementB());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Visitor v1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ConcreteVisitor();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os.accept(v1);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一次遍历，一种访问方式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Visitor v2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AnotherVisitor();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os.accept(v2);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同一批元素，换一种访问 */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464618" y="4187190"/>
            <a:ext cx="5193982" cy="1378268"/>
            <a:chOff x="6464618" y="4187190"/>
            <a:chExt cx="5193982" cy="1378268"/>
          </a:xfrm>
        </p:grpSpPr>
        <p:sp>
          <p:nvSpPr>
            <p:cNvPr id="26" name="Rectangle 26"/>
            <p:cNvSpPr/>
            <p:nvPr/>
          </p:nvSpPr>
          <p:spPr>
            <a:xfrm>
              <a:off x="6464618" y="4187190"/>
              <a:ext cx="5193982" cy="1378268"/>
            </a:xfrm>
            <a:prstGeom prst="roundRect">
              <a:avLst>
                <a:gd name="adj" fmla="val 96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4320540"/>
              <a:ext cx="47625" cy="11115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89408" y="43738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2079" y="44067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55954" y="4409122"/>
              <a:ext cx="3245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对象结构上那个方法为什么也叫 accept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82549" y="4734878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 accept 是"我接受访问"，对象结构的 accept 是"我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带着访问者把所有元素走一遍"，有的书写成 traverse。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6028373"/>
              <a:ext cx="7673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客户端只碰两行：new 哪个访问者，以及把它交给对象结构。元素类和对象结构一行都不用改。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2882" cy="909257"/>
            <a:chOff x="520446" y="342900"/>
            <a:chExt cx="54428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2840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标准代码与一个关键细节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28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那一行能不能提到父类里去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976522" cy="264033"/>
            <a:chOff x="526542" y="1545907"/>
            <a:chExt cx="89765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976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陈伟老师课件留的思考题。Meat 和 Bone 的 accept 字面上一模一样，能不能只在 Food 里写一份让子类继承？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410200" cy="1384935"/>
            <a:chOff x="533400" y="1928812"/>
            <a:chExt cx="5410200" cy="1384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想这么偷懒，不行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65557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563239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v.visit(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this 的静态类型是 Food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484245"/>
            <a:ext cx="5410200" cy="2127885"/>
            <a:chOff x="533400" y="3484245"/>
            <a:chExt cx="5410200" cy="2127885"/>
          </a:xfrm>
        </p:grpSpPr>
        <p:sp>
          <p:nvSpPr>
            <p:cNvPr id="14" name="Rectangle 14"/>
            <p:cNvSpPr/>
            <p:nvPr/>
          </p:nvSpPr>
          <p:spPr>
            <a:xfrm>
              <a:off x="533400" y="3484245"/>
              <a:ext cx="5410200" cy="2127885"/>
            </a:xfrm>
            <a:prstGeom prst="roundRect">
              <a:avLst>
                <a:gd name="adj" fmla="val 6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17595"/>
              <a:ext cx="47625" cy="18611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6709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862" y="37037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3784" y="37052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不能，而且错得很隐蔽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4031932"/>
              <a:ext cx="47114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 Food 里，this 的静态类型就是 Food，编译器要找的是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visit(Food)。Visitor 里只有 visit(Meat) 和 visit(Bone)，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这一行直接编译不过。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4846320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就算补一个 visit(Food) 让它编译通过，所有元素都会走进这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一个方法，第二跳失效，整个模式就废了。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248400" y="1928812"/>
            <a:ext cx="5410200" cy="1912620"/>
            <a:chOff x="6248400" y="1928812"/>
            <a:chExt cx="5410200" cy="1912620"/>
          </a:xfrm>
        </p:grpSpPr>
        <p:sp>
          <p:nvSpPr>
            <p:cNvPr id="22" name="Rectangle 22"/>
            <p:cNvSpPr/>
            <p:nvPr/>
          </p:nvSpPr>
          <p:spPr>
            <a:xfrm>
              <a:off x="6248400" y="1928812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208073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非重载写法，方法名里带元素名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797" y="2340769"/>
              <a:ext cx="3843274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visitMeat(Meat meat);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visitBone(Bone bone);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 { v.visitMeat(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6" name="c2-table-2"/>
          <p:cNvGrpSpPr/>
          <p:nvPr/>
        </p:nvGrpSpPr>
        <p:grpSpPr>
          <a:xfrm>
            <a:off x="6248400" y="4010978"/>
            <a:ext cx="5410200" cy="1600200"/>
            <a:chOff x="6248400" y="4010978"/>
            <a:chExt cx="5410200" cy="1600200"/>
          </a:xfrm>
        </p:grpSpPr>
        <p:sp>
          <p:nvSpPr>
            <p:cNvPr id="26" name="Rectangle 26"/>
            <p:cNvSpPr/>
            <p:nvPr/>
          </p:nvSpPr>
          <p:spPr>
            <a:xfrm>
              <a:off x="6248400" y="4010978"/>
              <a:ext cx="5410200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4856" y="41324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90907" y="4132421"/>
              <a:ext cx="98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重载 visit(X)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17674" y="4132421"/>
              <a:ext cx="1134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非重载 visitX()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45555" y="453247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靠什么区分元素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52398" y="45324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参数类型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07892" y="453247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48063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481107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5555" y="49325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选哪个方法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2398" y="4932521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编译期按 this 的静态类型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07892" y="4932521"/>
              <a:ext cx="1202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accept 里写死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52063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5555" y="53325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上提到父类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64768" y="5220652"/>
              <a:ext cx="203644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52398" y="533257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会静默选错，很隐蔽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07892" y="533257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编译期就报错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4010978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50480" y="401097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705975" y="401097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7" name="Rectangle 4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8373"/>
              <a:ext cx="10190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结论是每个具体元素都必须自己写一遍那一行，哪怕代码字面一样。两种写法课件都给了，非重载写法躲开了重载决议这个坑。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四个课件实例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购物车、奖励审批、动物吃食、物流算费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购物车：两种人访问同一车商品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奖励审批：两种奖项审同一批人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物流算费：组合模式配访问者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086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四个课件实例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实例一：购物车里的商品，顾客和收银员各看一遍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372725" cy="264033"/>
            <a:chOff x="526542" y="1545907"/>
            <a:chExt cx="1037272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372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顾客把苹果、图书放进购物车，然后到收银台付款。顾客要检查商品质量，收银员要计价，两种人对同一批商品的处理方式不同。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4760595" cy="1459230"/>
            <a:chOff x="533400" y="1928812"/>
            <a:chExt cx="4760595" cy="145923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76059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用访问者模式设计这个购物过程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购物车是对象结构，顾客和收银员是访问者。不同类型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的商品访问方式也不同：苹果要过秤之后再计价，图书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直接按定价算。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558540"/>
            <a:ext cx="4760595" cy="1845945"/>
            <a:chOff x="533400" y="3558540"/>
            <a:chExt cx="4760595" cy="1845945"/>
          </a:xfrm>
        </p:grpSpPr>
        <p:sp>
          <p:nvSpPr>
            <p:cNvPr id="16" name="Rectangle 16"/>
            <p:cNvSpPr/>
            <p:nvPr/>
          </p:nvSpPr>
          <p:spPr>
            <a:xfrm>
              <a:off x="533400" y="3558540"/>
              <a:ext cx="4760595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691890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37452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0862" y="37780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3784" y="377952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五个角色在这里分别是谁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41624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4106227"/>
              <a:ext cx="24337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对象结构：购物车 BuyBasket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446246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4406265"/>
              <a:ext cx="171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抽象访问者：Visitor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6762" y="47625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82" y="4706302"/>
              <a:ext cx="27513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具体访问者：Customer 和 Seller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6762" y="506253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2782" y="5006340"/>
              <a:ext cx="3621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抽象元素 Product，具体元素 Apple 和 Book</a:t>
              </a:r>
            </a:p>
          </p:txBody>
        </p:sp>
      </p:grpSp>
      <p:grpSp>
        <p:nvGrpSpPr>
          <p:cNvPr id="85" name="c2-uml-1"/>
          <p:cNvGrpSpPr/>
          <p:nvPr/>
        </p:nvGrpSpPr>
        <p:grpSpPr>
          <a:xfrm>
            <a:off x="5944552" y="2090738"/>
            <a:ext cx="5275898" cy="3060382"/>
            <a:chOff x="5944552" y="2090738"/>
            <a:chExt cx="5275898" cy="3060382"/>
          </a:xfrm>
        </p:grpSpPr>
        <p:sp>
          <p:nvSpPr>
            <p:cNvPr id="30" name="Freeform 30"/>
            <p:cNvSpPr/>
            <p:nvPr/>
          </p:nvSpPr>
          <p:spPr>
            <a:xfrm>
              <a:off x="6609398" y="3153728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2000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51295" y="2944178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8103" y="0"/>
                  </a:moveTo>
                  <a:lnTo>
                    <a:pt x="115253" y="104775"/>
                  </a:lnTo>
                  <a:lnTo>
                    <a:pt x="58103" y="2095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514148" y="4162425"/>
              <a:ext cx="95250" cy="432435"/>
            </a:xfrm>
            <a:custGeom>
              <a:avLst/>
              <a:gdLst/>
              <a:ahLst/>
              <a:cxnLst/>
              <a:rect l="l" t="t" r="r" b="b"/>
              <a:pathLst>
                <a:path w="95250" h="432435">
                  <a:moveTo>
                    <a:pt x="95250" y="432435"/>
                  </a:moveTo>
                  <a:lnTo>
                    <a:pt x="95250" y="153353"/>
                  </a:lnTo>
                  <a:lnTo>
                    <a:pt x="0" y="15335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6440805" y="40366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704648" y="4162425"/>
              <a:ext cx="1924050" cy="432435"/>
            </a:xfrm>
            <a:custGeom>
              <a:avLst/>
              <a:gdLst/>
              <a:ahLst/>
              <a:cxnLst/>
              <a:rect l="l" t="t" r="r" b="b"/>
              <a:pathLst>
                <a:path w="1924050" h="432435">
                  <a:moveTo>
                    <a:pt x="1924050" y="432435"/>
                  </a:moveTo>
                  <a:lnTo>
                    <a:pt x="1924050" y="153353"/>
                  </a:lnTo>
                  <a:lnTo>
                    <a:pt x="0" y="15335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6631305" y="40366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628698" y="3069908"/>
              <a:ext cx="1925003" cy="272415"/>
            </a:xfrm>
            <a:custGeom>
              <a:avLst/>
              <a:gdLst/>
              <a:ahLst/>
              <a:cxnLst/>
              <a:rect l="l" t="t" r="r" b="b"/>
              <a:pathLst>
                <a:path w="1925003" h="272415">
                  <a:moveTo>
                    <a:pt x="0" y="272415"/>
                  </a:moveTo>
                  <a:lnTo>
                    <a:pt x="0" y="73342"/>
                  </a:lnTo>
                  <a:lnTo>
                    <a:pt x="1925003" y="73342"/>
                  </a:lnTo>
                  <a:lnTo>
                    <a:pt x="192500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480358" y="294417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648950" y="3069908"/>
              <a:ext cx="95250" cy="272415"/>
            </a:xfrm>
            <a:custGeom>
              <a:avLst/>
              <a:gdLst/>
              <a:ahLst/>
              <a:cxnLst/>
              <a:rect l="l" t="t" r="r" b="b"/>
              <a:pathLst>
                <a:path w="95250" h="272415">
                  <a:moveTo>
                    <a:pt x="0" y="272415"/>
                  </a:moveTo>
                  <a:lnTo>
                    <a:pt x="0" y="73342"/>
                  </a:lnTo>
                  <a:lnTo>
                    <a:pt x="95250" y="73342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670858" y="294417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44552" y="2090738"/>
              <a:ext cx="1328738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951220" y="2097405"/>
              <a:ext cx="131445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44552" y="2303145"/>
              <a:ext cx="13287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944552" y="2546985"/>
              <a:ext cx="13287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077450" y="2090738"/>
              <a:ext cx="114300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084118" y="20974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077450" y="23031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077450" y="25469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37898" y="3353752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44565" y="3361372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37898" y="36918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37898" y="37871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57198" y="3342322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64818" y="334994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057198" y="35547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57198" y="36499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077450" y="3342322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084118" y="334994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077450" y="35547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077450" y="36499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37898" y="459486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4565" y="46015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37898" y="48072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37898" y="49025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57198" y="459486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064818" y="46015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57198" y="48072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57198" y="49025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85815" y="2142172"/>
              <a:ext cx="647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BuyBasket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15990" y="2371249"/>
              <a:ext cx="2910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list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15990" y="2615089"/>
              <a:ext cx="1186307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addProduct(Product)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29378" y="2142172"/>
              <a:ext cx="439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Visitor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48888" y="2371249"/>
              <a:ext cx="3682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name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148888" y="2615089"/>
              <a:ext cx="707263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visit(Apple)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visit(Book)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11836" y="340233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57764" y="3530918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109335" y="3855244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29268" y="3393758"/>
              <a:ext cx="5988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Customer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28635" y="3718084"/>
              <a:ext cx="707263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visit(Apple)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visit(Book)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464405" y="3393758"/>
              <a:ext cx="369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148888" y="3718084"/>
              <a:ext cx="707263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visit(Apple)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visit(Book)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43815" y="4646295"/>
              <a:ext cx="331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109335" y="4970621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82017" y="4646295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Book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128635" y="4970621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86" name="Rectangle 86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892" y="5779770"/>
              <a:ext cx="9986105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更正：原课件类图把收银员拼成了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Saler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Seller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；同一份课件里购物车指向商品画的是普通关联，而奖励审批那张图画的是聚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合，按语义应当统一用聚合。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086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四个课件实例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实例一的代码与一次完整走查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499360"/>
            <a:chOff x="533400" y="1524000"/>
            <a:chExt cx="5626418" cy="24993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99360"/>
            </a:xfrm>
            <a:prstGeom prst="roundRect">
              <a:avLst>
                <a:gd name="adj" fmla="val 38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访问者一侧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3485960" cy="1999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setName(String n)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 = n;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visit(Apple apple);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visit(Book book);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Seller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visit(Apple apple)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"收银员"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"给苹果过秤后计价"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visit(Book book)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"收银员"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79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"按定价算钱"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198620"/>
            <a:ext cx="5626418" cy="1244918"/>
            <a:chOff x="533400" y="4198620"/>
            <a:chExt cx="5626418" cy="1244918"/>
          </a:xfrm>
        </p:grpSpPr>
        <p:sp>
          <p:nvSpPr>
            <p:cNvPr id="11" name="Rectangle 11"/>
            <p:cNvSpPr/>
            <p:nvPr/>
          </p:nvSpPr>
          <p:spPr>
            <a:xfrm>
              <a:off x="533400" y="4198620"/>
              <a:ext cx="5626418" cy="1244918"/>
            </a:xfrm>
            <a:prstGeom prst="roundRect">
              <a:avLst>
                <a:gd name="adj" fmla="val 918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721543"/>
              <a:ext cx="200026" cy="200026"/>
              <a:chOff x="738188" y="472154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7215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7882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8215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4478655"/>
              <a:ext cx="46428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客户端只有四行：往 basket 里 addProduct 两件商品，再让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basket.accept(customer) 和 basket.accept(seller) 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走一趟。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464618" y="1524000"/>
            <a:ext cx="5193982" cy="2215515"/>
            <a:chOff x="6464618" y="1524000"/>
            <a:chExt cx="5193982" cy="2215515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2215515"/>
            </a:xfrm>
            <a:prstGeom prst="roundRect">
              <a:avLst>
                <a:gd name="adj" fmla="val 42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3015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元素一侧与购物车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93205" y="1934289"/>
              <a:ext cx="3430778" cy="1715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 { v.visit(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BuyBasket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List&lt;Product&gt; list =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addProduct(Product p) { list.add(p);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(Product p : list) { p.accept(v);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464618" y="3914775"/>
            <a:ext cx="5193982" cy="1529715"/>
            <a:chOff x="6464618" y="3914775"/>
            <a:chExt cx="5193982" cy="1529715"/>
          </a:xfrm>
        </p:grpSpPr>
        <p:sp>
          <p:nvSpPr>
            <p:cNvPr id="22" name="Rectangle 22"/>
            <p:cNvSpPr/>
            <p:nvPr/>
          </p:nvSpPr>
          <p:spPr>
            <a:xfrm>
              <a:off x="6464618" y="3914775"/>
              <a:ext cx="5193982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404812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5122" y="41071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6562" y="41414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走查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78814" y="4147185"/>
              <a:ext cx="3082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两个访问者各走一趟，一共 4 次 visit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88264" y="4481512"/>
              <a:ext cx="29026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顾客那趟：Customer.visit(Apple) →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Customer.visit(Book)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88264" y="5040630"/>
              <a:ext cx="4628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收银员那趟：Seller.visit(Apple) → Seller.visit(Book)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0" name="Rectangle 3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892" y="6023610"/>
              <a:ext cx="8937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商品的种类固定，要对它们做的事却在长。再来一个"盘点库存"的访问者，购物车和两个商品类一行都不用改。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086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四个课件实例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实例二：奖励审批系统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807856" cy="278702"/>
            <a:chOff x="526161" y="1547336"/>
            <a:chExt cx="880785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807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某高校的奖励审批系统要审教师和学生两类候选人，而奖项有科研奖和成绩优秀奖两种，判据各不相同。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4328160" cy="1786890"/>
            <a:chOff x="533400" y="1941195"/>
            <a:chExt cx="4328160" cy="178689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32816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两个奖项，两类候选人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37084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教师发表论文数超过 10 篇，或者学生论文超过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篇，可以评科研奖。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068002"/>
              <a:ext cx="37341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教师教学反馈分大于等于 90 分，或者学生平均成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绩大于等于 90 分，可以评成绩优秀奖。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903345"/>
            <a:ext cx="4328160" cy="1483995"/>
            <a:chOff x="533400" y="3903345"/>
            <a:chExt cx="4328160" cy="1483995"/>
          </a:xfrm>
        </p:grpSpPr>
        <p:sp>
          <p:nvSpPr>
            <p:cNvPr id="17" name="Rectangle 17"/>
            <p:cNvSpPr/>
            <p:nvPr/>
          </p:nvSpPr>
          <p:spPr>
            <a:xfrm>
              <a:off x="533400" y="3903345"/>
              <a:ext cx="432816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3669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0957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5345" y="41300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7597" y="41357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两条判据的比较符不一样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469130"/>
              <a:ext cx="36141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科研奖用的是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超过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，严格大于，教师正好 10 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不够；成绩优秀奖用的是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大于等于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，正好 90 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算过。</a:t>
              </a:r>
            </a:p>
          </p:txBody>
        </p:sp>
      </p:grpSp>
      <p:grpSp>
        <p:nvGrpSpPr>
          <p:cNvPr id="80" name="c2-uml-1"/>
          <p:cNvGrpSpPr/>
          <p:nvPr/>
        </p:nvGrpSpPr>
        <p:grpSpPr>
          <a:xfrm>
            <a:off x="5331142" y="2101215"/>
            <a:ext cx="6251258" cy="3201352"/>
            <a:chOff x="5331142" y="2101215"/>
            <a:chExt cx="6251258" cy="3201352"/>
          </a:xfrm>
        </p:grpSpPr>
        <p:sp>
          <p:nvSpPr>
            <p:cNvPr id="24" name="Freeform 24"/>
            <p:cNvSpPr/>
            <p:nvPr/>
          </p:nvSpPr>
          <p:spPr>
            <a:xfrm>
              <a:off x="5977890" y="3165158"/>
              <a:ext cx="9525" cy="195262"/>
            </a:xfrm>
            <a:custGeom>
              <a:avLst/>
              <a:gdLst/>
              <a:ahLst/>
              <a:cxnLst/>
              <a:rect l="l" t="t" r="r" b="b"/>
              <a:pathLst>
                <a:path w="9525" h="195262">
                  <a:moveTo>
                    <a:pt x="0" y="1952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920740" y="2955608"/>
              <a:ext cx="114300" cy="209550"/>
            </a:xfrm>
            <a:custGeom>
              <a:avLst/>
              <a:gdLst/>
              <a:ahLst/>
              <a:cxnLst/>
              <a:rect l="l" t="t" r="r" b="b"/>
              <a:pathLst>
                <a:path w="114300" h="209550">
                  <a:moveTo>
                    <a:pt x="57150" y="0"/>
                  </a:moveTo>
                  <a:lnTo>
                    <a:pt x="114300" y="104775"/>
                  </a:lnTo>
                  <a:lnTo>
                    <a:pt x="57150" y="2095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882640" y="4168140"/>
              <a:ext cx="95250" cy="280035"/>
            </a:xfrm>
            <a:custGeom>
              <a:avLst/>
              <a:gdLst/>
              <a:ahLst/>
              <a:cxnLst/>
              <a:rect l="l" t="t" r="r" b="b"/>
              <a:pathLst>
                <a:path w="95250" h="280035">
                  <a:moveTo>
                    <a:pt x="95250" y="280035"/>
                  </a:moveTo>
                  <a:lnTo>
                    <a:pt x="95250" y="77152"/>
                  </a:lnTo>
                  <a:lnTo>
                    <a:pt x="0" y="7715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5809298" y="40424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73140" y="4168140"/>
              <a:ext cx="1527810" cy="280035"/>
            </a:xfrm>
            <a:custGeom>
              <a:avLst/>
              <a:gdLst/>
              <a:ahLst/>
              <a:cxnLst/>
              <a:rect l="l" t="t" r="r" b="b"/>
              <a:pathLst>
                <a:path w="1527810" h="280035">
                  <a:moveTo>
                    <a:pt x="1527810" y="280035"/>
                  </a:moveTo>
                  <a:lnTo>
                    <a:pt x="1527810" y="77152"/>
                  </a:lnTo>
                  <a:lnTo>
                    <a:pt x="0" y="7715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5999798" y="40424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28760" y="3007042"/>
              <a:ext cx="95250" cy="341948"/>
            </a:xfrm>
            <a:custGeom>
              <a:avLst/>
              <a:gdLst/>
              <a:ahLst/>
              <a:cxnLst/>
              <a:rect l="l" t="t" r="r" b="b"/>
              <a:pathLst>
                <a:path w="95250" h="341948">
                  <a:moveTo>
                    <a:pt x="95250" y="341948"/>
                  </a:moveTo>
                  <a:lnTo>
                    <a:pt x="95250" y="107633"/>
                  </a:lnTo>
                  <a:lnTo>
                    <a:pt x="0" y="10763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055418" y="28813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319260" y="3007042"/>
              <a:ext cx="1527810" cy="341948"/>
            </a:xfrm>
            <a:custGeom>
              <a:avLst/>
              <a:gdLst/>
              <a:ahLst/>
              <a:cxnLst/>
              <a:rect l="l" t="t" r="r" b="b"/>
              <a:pathLst>
                <a:path w="1527810" h="341948">
                  <a:moveTo>
                    <a:pt x="1527810" y="341948"/>
                  </a:moveTo>
                  <a:lnTo>
                    <a:pt x="1527810" y="107633"/>
                  </a:lnTo>
                  <a:lnTo>
                    <a:pt x="0" y="10763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245918" y="28813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1142" y="2101215"/>
              <a:ext cx="1292542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8762" y="2108835"/>
              <a:ext cx="12782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1142" y="2313622"/>
              <a:ext cx="12925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1142" y="2557462"/>
              <a:ext cx="12925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652510" y="217551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660130" y="218313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52510" y="238791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652510" y="248316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1142" y="3360420"/>
              <a:ext cx="1292542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8762" y="3368040"/>
              <a:ext cx="1278255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1142" y="3698558"/>
              <a:ext cx="12925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1142" y="3793808"/>
              <a:ext cx="12925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502015" y="3348990"/>
              <a:ext cx="144494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508682" y="3356610"/>
              <a:ext cx="14306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02015" y="3561398"/>
              <a:ext cx="14449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02015" y="3656648"/>
              <a:ext cx="14449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111740" y="3348990"/>
              <a:ext cx="147066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118408" y="3356610"/>
              <a:ext cx="145637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11740" y="3561398"/>
              <a:ext cx="14706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111740" y="3656648"/>
              <a:ext cx="14706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1142" y="4448175"/>
              <a:ext cx="1292542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8762" y="4454842"/>
              <a:ext cx="12782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1142" y="4660582"/>
              <a:ext cx="12925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31142" y="5053012"/>
              <a:ext cx="12925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54202" y="4448175"/>
              <a:ext cx="1292542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61822" y="4454842"/>
              <a:ext cx="12782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54202" y="4660582"/>
              <a:ext cx="12925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54202" y="5053012"/>
              <a:ext cx="12925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546451" y="2152650"/>
              <a:ext cx="8628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CandidateList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02580" y="2381726"/>
              <a:ext cx="2910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list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02580" y="2625566"/>
              <a:ext cx="1149858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accept(AwardCheck)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addPerson(Person)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52578" y="2226945"/>
              <a:ext cx="7428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AwardCheck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23948" y="2551271"/>
              <a:ext cx="84785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visit(Teacher)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visit(Student)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80329" y="3408998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761241" y="3537585"/>
              <a:ext cx="43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402580" y="3861911"/>
              <a:ext cx="12268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accept(AwardCheck)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48901" y="3400425"/>
              <a:ext cx="13502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ScientificAwardCheck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73452" y="3724751"/>
              <a:ext cx="84785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visit(Teacher)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visit(Student)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55924" y="3400425"/>
              <a:ext cx="13822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ExcellenceAwardCheck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183178" y="3724751"/>
              <a:ext cx="84785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visit(Teacher)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visit(Student)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726257" y="4499610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Teacher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402580" y="4728686"/>
              <a:ext cx="842645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paperAmount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feedbackScore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402580" y="5121116"/>
              <a:ext cx="12268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accept(AwardCheck)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49317" y="4499610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Student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25640" y="4728686"/>
              <a:ext cx="74891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paperAmount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score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025640" y="5121116"/>
              <a:ext cx="12268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accept(AwardCheck)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81" name="Rectangle 81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5779770"/>
              <a:ext cx="996638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教师和学生都有 paperAmount，另一个字段却一个叫 feedbackScore、一个叫 score，取数的方法对不齐，这正是需要访问者的信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086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四个课件实例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实例二的代码：两个访问者装着两套判据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131570"/>
            <a:chOff x="533400" y="1524000"/>
            <a:chExt cx="5626418" cy="11315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131570"/>
            </a:xfrm>
            <a:prstGeom prst="roundRect">
              <a:avLst>
                <a:gd name="adj" fmla="val 841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抽象访问者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766"/>
              <a:ext cx="2532507" cy="634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AwardCheck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visit(Teacher 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visit(Student s);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846070"/>
            <a:ext cx="5626418" cy="2375535"/>
            <a:chOff x="533400" y="2846070"/>
            <a:chExt cx="5626418" cy="2375535"/>
          </a:xfrm>
        </p:grpSpPr>
        <p:sp>
          <p:nvSpPr>
            <p:cNvPr id="11" name="Rectangle 11"/>
            <p:cNvSpPr/>
            <p:nvPr/>
          </p:nvSpPr>
          <p:spPr>
            <a:xfrm>
              <a:off x="533400" y="2846070"/>
              <a:ext cx="5626418" cy="2375535"/>
            </a:xfrm>
            <a:prstGeom prst="roundRect">
              <a:avLst>
                <a:gd name="adj" fmla="val 401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997994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科研奖这一套判据（优秀奖只换两个条件）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3256836"/>
              <a:ext cx="3253359" cy="18769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ScientificAwardCheck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AwardCheck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visit(Teacher t)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(t.getPaperAmount() &gt; 10)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"该教师可评科研奖"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visit(Student s)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(s.getPaperAmount() &gt; 2)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"该学生可评科研奖"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code-1"/>
          <p:cNvGrpSpPr/>
          <p:nvPr/>
        </p:nvGrpSpPr>
        <p:grpSpPr>
          <a:xfrm>
            <a:off x="6464618" y="1524000"/>
            <a:ext cx="5193982" cy="2065020"/>
            <a:chOff x="6464618" y="1524000"/>
            <a:chExt cx="5193982" cy="2065020"/>
          </a:xfrm>
        </p:grpSpPr>
        <p:sp>
          <p:nvSpPr>
            <p:cNvPr id="15" name="Rectangle 15"/>
            <p:cNvSpPr/>
            <p:nvPr/>
          </p:nvSpPr>
          <p:spPr>
            <a:xfrm>
              <a:off x="6464618" y="1524000"/>
              <a:ext cx="5193982" cy="2065020"/>
            </a:xfrm>
            <a:prstGeom prst="roundRect">
              <a:avLst>
                <a:gd name="adj" fmla="val 461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3015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元素一侧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83668" y="3146108"/>
              <a:ext cx="5155882" cy="15525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93205" y="1934766"/>
              <a:ext cx="3793998" cy="156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accept(AwardCheck check);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Teacher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paperAmount;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feedbackScore;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getPaperAmount() {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paperAmount;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getFeedbackScore() {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feedbackScore;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accept(AwardCheck check) { check.visit(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ode-2"/>
          <p:cNvGrpSpPr/>
          <p:nvPr/>
        </p:nvGrpSpPr>
        <p:grpSpPr>
          <a:xfrm>
            <a:off x="6464618" y="3779520"/>
            <a:ext cx="5193982" cy="1598295"/>
            <a:chOff x="6464618" y="3779520"/>
            <a:chExt cx="5193982" cy="1598295"/>
          </a:xfrm>
        </p:grpSpPr>
        <p:sp>
          <p:nvSpPr>
            <p:cNvPr id="20" name="Rectangle 20"/>
            <p:cNvSpPr/>
            <p:nvPr/>
          </p:nvSpPr>
          <p:spPr>
            <a:xfrm>
              <a:off x="6464618" y="3779520"/>
              <a:ext cx="5193982" cy="1598295"/>
            </a:xfrm>
            <a:prstGeom prst="roundRect">
              <a:avLst>
                <a:gd name="adj" fmla="val 595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93015" y="39314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对象结构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3205" y="4190286"/>
              <a:ext cx="3133217" cy="11006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CandidateList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List&lt;Person&gt; list =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addPerson(Person p) { list.add(p);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accept(AwardCheck check)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(Person p : list) { p.accept(check);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4" name="Rectangle 2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991225"/>
              <a:ext cx="9736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换一个奖项就换一个 AwardCheck 子类。Teacher、Student、CandidateList 这三个类，从头到尾不用改。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086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四个课件实例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实例二走查：五个候选人过两遍审批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988486" cy="293370"/>
            <a:chOff x="525780" y="1548765"/>
            <a:chExt cx="998848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988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给定下面这份候选人名单，两个访问者各遍历一次，一共 10 次 visit 调用。结果已用脚本按 Java 语义复算过。</a:t>
              </a:r>
            </a:p>
          </p:txBody>
        </p:sp>
      </p:grpSp>
      <p:grpSp>
        <p:nvGrpSpPr>
          <p:cNvPr id="61" name="c1-table-1"/>
          <p:cNvGrpSpPr/>
          <p:nvPr/>
        </p:nvGrpSpPr>
        <p:grpSpPr>
          <a:xfrm>
            <a:off x="528066" y="1954530"/>
            <a:ext cx="6065139" cy="2826639"/>
            <a:chOff x="528066" y="1954530"/>
            <a:chExt cx="6065139" cy="2826639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9811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9268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身份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46985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96818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08398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科研奖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99010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优秀奖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889" y="25069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王强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5534" y="25069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53259" y="25069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80969" y="250698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反馈 88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3516" y="25069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05082" y="25069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84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803208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29317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05534" y="29317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53259" y="2931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80969" y="2931795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反馈 95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3516" y="29317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05082" y="29317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22326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889" y="3356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赵敏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05534" y="3356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53259" y="3356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80969" y="335661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86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3516" y="3356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05082" y="33566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6471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651885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889" y="37804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孙涛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05534" y="37804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53259" y="37804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80969" y="378047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92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13516" y="37804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05082" y="378047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0719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889" y="42052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周平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05534" y="42052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53259" y="420528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80969" y="4205288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反馈 90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420552" y="4086225"/>
              <a:ext cx="107156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13516" y="42052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12118" y="4086225"/>
              <a:ext cx="107156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05082" y="42052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954530"/>
              <a:ext cx="6059805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498282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346008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073718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406265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497830" y="195453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8066" y="45758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候选人名单与两轮审批结果</a:t>
              </a:r>
            </a:p>
          </p:txBody>
        </p:sp>
      </p:grpSp>
      <p:grpSp>
        <p:nvGrpSpPr>
          <p:cNvPr id="68" name="c1-callout-2"/>
          <p:cNvGrpSpPr/>
          <p:nvPr/>
        </p:nvGrpSpPr>
        <p:grpSpPr>
          <a:xfrm>
            <a:off x="533400" y="4919662"/>
            <a:ext cx="6059805" cy="756285"/>
            <a:chOff x="533400" y="4919662"/>
            <a:chExt cx="6059805" cy="756285"/>
          </a:xfrm>
        </p:grpSpPr>
        <p:sp>
          <p:nvSpPr>
            <p:cNvPr id="62" name="Rectangle 62"/>
            <p:cNvSpPr/>
            <p:nvPr/>
          </p:nvSpPr>
          <p:spPr>
            <a:xfrm>
              <a:off x="533400" y="4919662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5194101"/>
              <a:ext cx="224134" cy="192560"/>
              <a:chOff x="726129" y="5194101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52644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51941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53422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5066824"/>
              <a:ext cx="505498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最后一行是边界样本。周平论文正好 10 篇，不满足"超过 10 篇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"；反馈正好 90 分，满足"大于等于 90"。</a:t>
              </a:r>
            </a:p>
          </p:txBody>
        </p:sp>
      </p:grpSp>
      <p:grpSp>
        <p:nvGrpSpPr>
          <p:cNvPr id="82" name="c2-steps-1"/>
          <p:cNvGrpSpPr/>
          <p:nvPr/>
        </p:nvGrpSpPr>
        <p:grpSpPr>
          <a:xfrm>
            <a:off x="6898005" y="1964055"/>
            <a:ext cx="4689302" cy="2223516"/>
            <a:chOff x="6898005" y="1964055"/>
            <a:chExt cx="4689302" cy="2223516"/>
          </a:xfrm>
        </p:grpSpPr>
        <p:sp>
          <p:nvSpPr>
            <p:cNvPr id="69" name="Rectangle 69"/>
            <p:cNvSpPr/>
            <p:nvPr/>
          </p:nvSpPr>
          <p:spPr>
            <a:xfrm>
              <a:off x="7031355" y="2106930"/>
              <a:ext cx="19050" cy="16754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6898005" y="1964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91629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898005" y="258127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991629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898005" y="363950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991629" y="37133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09866" y="19969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第一轮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311009" y="2277428"/>
              <a:ext cx="39467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accept(new ScientificAwardCheck())，遍历 5 个人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09866" y="26141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每个人的两跳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11009" y="2894648"/>
              <a:ext cx="354025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王强是 Teacher，第一跳进 Teacher.accept，里面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check.visit(this) 的 this 是 Teacher，第二跳进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visit(Teacher)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09866" y="367236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第二轮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11009" y="3952875"/>
              <a:ext cx="4276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ExcellenceAwardCheck 再走一遍，元素一侧一行没变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6898005" y="4358640"/>
            <a:ext cx="4760595" cy="1317308"/>
            <a:chOff x="6898005" y="4358640"/>
            <a:chExt cx="4760595" cy="1317308"/>
          </a:xfrm>
        </p:grpSpPr>
        <p:sp>
          <p:nvSpPr>
            <p:cNvPr id="83" name="Rectangle 83"/>
            <p:cNvSpPr/>
            <p:nvPr/>
          </p:nvSpPr>
          <p:spPr>
            <a:xfrm>
              <a:off x="6898005" y="4358640"/>
              <a:ext cx="4760595" cy="1317308"/>
            </a:xfrm>
            <a:prstGeom prst="roundRect">
              <a:avLst>
                <a:gd name="adj" fmla="val 101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907530" y="4491990"/>
              <a:ext cx="47625" cy="10506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134225" y="45567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225665" y="45910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7536" y="459247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这份名单每人恰好得一个奖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126986" y="493537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教师看论文数和反馈分，学生看论文数和平均成绩，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两类人用的字段不同，客户端却只写了两行。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90" name="Rectangle 9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0511" y="6011704"/>
              <a:ext cx="88843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这里能清楚看出两个维度：5 个元素 × 2 个访问者 = 10 段行为，全部写在访问者里，元素类一段都没有。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82936" cy="909257"/>
            <a:chOff x="520446" y="342900"/>
            <a:chExt cx="56829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086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四个课件实例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829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实例三：Animal 吃 Food 的完整实现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935432" cy="278702"/>
            <a:chOff x="526161" y="1547336"/>
            <a:chExt cx="99354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935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回到第 5 页的问题。改用访问者之后，Animal 不再判断 Food 的类型，Meat 和 Bone 各自特有的接口也能正常调到。</a:t>
              </a:r>
            </a:p>
          </p:txBody>
        </p:sp>
      </p:grpSp>
      <p:grpSp>
        <p:nvGrpSpPr>
          <p:cNvPr id="55" name="c1-uml-1"/>
          <p:cNvGrpSpPr/>
          <p:nvPr/>
        </p:nvGrpSpPr>
        <p:grpSpPr>
          <a:xfrm>
            <a:off x="611505" y="2055495"/>
            <a:ext cx="5037773" cy="1826895"/>
            <a:chOff x="611505" y="2055495"/>
            <a:chExt cx="5037773" cy="1826895"/>
          </a:xfrm>
        </p:grpSpPr>
        <p:sp>
          <p:nvSpPr>
            <p:cNvPr id="9" name="Freeform 9"/>
            <p:cNvSpPr/>
            <p:nvPr/>
          </p:nvSpPr>
          <p:spPr>
            <a:xfrm>
              <a:off x="1087755" y="3012758"/>
              <a:ext cx="95250" cy="164783"/>
            </a:xfrm>
            <a:custGeom>
              <a:avLst/>
              <a:gdLst/>
              <a:ahLst/>
              <a:cxnLst/>
              <a:rect l="l" t="t" r="r" b="b"/>
              <a:pathLst>
                <a:path w="95250" h="164783">
                  <a:moveTo>
                    <a:pt x="95250" y="164783"/>
                  </a:moveTo>
                  <a:lnTo>
                    <a:pt x="95250" y="19050"/>
                  </a:lnTo>
                  <a:lnTo>
                    <a:pt x="0" y="190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014412" y="28870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78255" y="3012758"/>
              <a:ext cx="1203008" cy="164783"/>
            </a:xfrm>
            <a:custGeom>
              <a:avLst/>
              <a:gdLst/>
              <a:ahLst/>
              <a:cxnLst/>
              <a:rect l="l" t="t" r="r" b="b"/>
              <a:pathLst>
                <a:path w="1203008" h="164783">
                  <a:moveTo>
                    <a:pt x="1203008" y="164783"/>
                  </a:moveTo>
                  <a:lnTo>
                    <a:pt x="1203008" y="19050"/>
                  </a:lnTo>
                  <a:lnTo>
                    <a:pt x="0" y="190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204912" y="28870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84270" y="2937510"/>
              <a:ext cx="95250" cy="240030"/>
            </a:xfrm>
            <a:custGeom>
              <a:avLst/>
              <a:gdLst/>
              <a:ahLst/>
              <a:cxnLst/>
              <a:rect l="l" t="t" r="r" b="b"/>
              <a:pathLst>
                <a:path w="95250" h="240030">
                  <a:moveTo>
                    <a:pt x="95250" y="240030"/>
                  </a:moveTo>
                  <a:lnTo>
                    <a:pt x="95250" y="57150"/>
                  </a:lnTo>
                  <a:lnTo>
                    <a:pt x="0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610928" y="28117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74770" y="2937510"/>
              <a:ext cx="1203008" cy="240030"/>
            </a:xfrm>
            <a:custGeom>
              <a:avLst/>
              <a:gdLst/>
              <a:ahLst/>
              <a:cxnLst/>
              <a:rect l="l" t="t" r="r" b="b"/>
              <a:pathLst>
                <a:path w="1203008" h="240030">
                  <a:moveTo>
                    <a:pt x="1203008" y="240030"/>
                  </a:moveTo>
                  <a:lnTo>
                    <a:pt x="1203008" y="57150"/>
                  </a:lnTo>
                  <a:lnTo>
                    <a:pt x="0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801428" y="28117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1505" y="2055495"/>
              <a:ext cx="1143000" cy="83058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8172" y="2063115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1505" y="23936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1505" y="24888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08020" y="2129790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14688" y="2137410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08020" y="24679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08020" y="25631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1505" y="317754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18172" y="318516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1505" y="3389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11505" y="3485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09762" y="317754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16430" y="318516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09762" y="3389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9762" y="3485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08020" y="317754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214688" y="318516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208020" y="3389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08020" y="3485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06278" y="317754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13898" y="318516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506278" y="33899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506278" y="3485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5444" y="210407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3433" y="2232660"/>
              <a:ext cx="439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Visitor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2942" y="2556986"/>
              <a:ext cx="69684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visit(Meat)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visit(Bone)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81959" y="2178368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32840" y="2306955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Food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79458" y="2631281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6602" y="3228975"/>
              <a:ext cx="652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EatVisitor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2942" y="3553301"/>
              <a:ext cx="69684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visit(Meat)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visit(Bone)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119843" y="3228975"/>
              <a:ext cx="722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CookVisitor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981200" y="3553301"/>
              <a:ext cx="69684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visit(Meat)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visit(Bone)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19938" y="3228975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279458" y="3553301"/>
              <a:ext cx="90512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meatFunction()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31097" y="3228975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Bone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77715" y="3553301"/>
              <a:ext cx="90512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boneFunction()</a:t>
              </a:r>
            </a:p>
          </p:txBody>
        </p:sp>
      </p:grpSp>
      <p:grpSp>
        <p:nvGrpSpPr>
          <p:cNvPr id="62" name="c1-card-2"/>
          <p:cNvGrpSpPr/>
          <p:nvPr/>
        </p:nvGrpSpPr>
        <p:grpSpPr>
          <a:xfrm>
            <a:off x="533400" y="4234815"/>
            <a:ext cx="5193982" cy="1226820"/>
            <a:chOff x="533400" y="4234815"/>
            <a:chExt cx="5193982" cy="1226820"/>
          </a:xfrm>
        </p:grpSpPr>
        <p:sp>
          <p:nvSpPr>
            <p:cNvPr id="56" name="Rectangle 56"/>
            <p:cNvSpPr/>
            <p:nvPr/>
          </p:nvSpPr>
          <p:spPr>
            <a:xfrm>
              <a:off x="533400" y="4234815"/>
              <a:ext cx="5193982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42925" y="436816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3905" y="4427220"/>
              <a:ext cx="107156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5601" y="4461510"/>
              <a:ext cx="929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Animal 去哪了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942910" y="4467225"/>
              <a:ext cx="1739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Animal 一族留在图外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7047" y="4801552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Dog 和 Tiger 都继承 Animal，它们在 use 里造一个访问者再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交给 food，自己不参与访问者的层次结构。</a:t>
              </a:r>
            </a:p>
          </p:txBody>
        </p:sp>
      </p:grpSp>
      <p:grpSp>
        <p:nvGrpSpPr>
          <p:cNvPr id="66" name="c2-code-1"/>
          <p:cNvGrpSpPr/>
          <p:nvPr/>
        </p:nvGrpSpPr>
        <p:grpSpPr>
          <a:xfrm>
            <a:off x="6032182" y="1941195"/>
            <a:ext cx="5626418" cy="1931670"/>
            <a:chOff x="6032182" y="1941195"/>
            <a:chExt cx="5626418" cy="1931670"/>
          </a:xfrm>
        </p:grpSpPr>
        <p:sp>
          <p:nvSpPr>
            <p:cNvPr id="63" name="Rectangle 63"/>
            <p:cNvSpPr/>
            <p:nvPr/>
          </p:nvSpPr>
          <p:spPr>
            <a:xfrm>
              <a:off x="6032182" y="1941195"/>
              <a:ext cx="5626418" cy="1931670"/>
            </a:xfrm>
            <a:prstGeom prst="roundRect">
              <a:avLst>
                <a:gd name="adj" fmla="val 49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160580" y="209311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元素与访问者各一段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60770" y="2351484"/>
              <a:ext cx="3375597" cy="14320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v.visit(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第二跳，this 是 Meat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meatFunction() {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DogEatVisitor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visit(Meat m) { m.meatFunction();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visit(Bone b) { b.boneFunction();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4" name="c2-bullets-2"/>
          <p:cNvGrpSpPr/>
          <p:nvPr/>
        </p:nvGrpSpPr>
        <p:grpSpPr>
          <a:xfrm>
            <a:off x="6025324" y="4070032"/>
            <a:ext cx="4663876" cy="1207009"/>
            <a:chOff x="6025324" y="4070032"/>
            <a:chExt cx="4663876" cy="1207009"/>
          </a:xfrm>
        </p:grpSpPr>
        <p:sp>
          <p:nvSpPr>
            <p:cNvPr id="67" name="TextBox 67"/>
            <p:cNvSpPr txBox="1"/>
            <p:nvPr/>
          </p:nvSpPr>
          <p:spPr>
            <a:xfrm>
              <a:off x="6025324" y="4070032"/>
              <a:ext cx="3322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 6 页那四件要适应的事，现在都好办了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6032182" y="441864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69164" y="4390072"/>
              <a:ext cx="429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改某种组合的实现：只改对应访问者里的那一个 visit</a:t>
              </a:r>
            </a:p>
          </p:txBody>
        </p:sp>
        <p:sp>
          <p:nvSpPr>
            <p:cNvPr id="70" name="Freeform 70"/>
            <p:cNvSpPr/>
            <p:nvPr/>
          </p:nvSpPr>
          <p:spPr>
            <a:xfrm>
              <a:off x="6032182" y="473011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69164" y="4701540"/>
              <a:ext cx="4420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cook 行为：新写一个 CookVisitor，Food 一侧不动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6032182" y="504158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69164" y="5013008"/>
              <a:ext cx="4075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Rabbit 子类：从 EatVisitor 派生一个子类即可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75" name="Rectangle 7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5779770"/>
              <a:ext cx="9767935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更正：原课件多处把 Visitor 拼成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Vistor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，execute 拼成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excute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，Rabbit 拼成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Rabit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；p20、p21 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EatCommand cmd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是栈对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象，却写成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cmd-&gt;excute(food)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cmd.excute(food)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，同两页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cmd-&gt;used(this)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的方法名应为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use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086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四个课件实例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实例四：物流公司算运营费用，组合配访问者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554462" cy="264033"/>
            <a:chOff x="526542" y="1545907"/>
            <a:chExt cx="1055446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554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货车、轿车、车组三种车的属性和成员函数都不同，接口难以统一；要算的费用却不断增加：运营费用、保险费用、固定资产净值。</a:t>
              </a:r>
            </a:p>
          </p:txBody>
        </p:sp>
      </p:grpSp>
      <p:grpSp>
        <p:nvGrpSpPr>
          <p:cNvPr id="55" name="c1-uml-1"/>
          <p:cNvGrpSpPr/>
          <p:nvPr/>
        </p:nvGrpSpPr>
        <p:grpSpPr>
          <a:xfrm>
            <a:off x="609600" y="2073592"/>
            <a:ext cx="4601528" cy="1701166"/>
            <a:chOff x="609600" y="2073592"/>
            <a:chExt cx="4601528" cy="1701166"/>
          </a:xfrm>
        </p:grpSpPr>
        <p:sp>
          <p:nvSpPr>
            <p:cNvPr id="9" name="Freeform 9"/>
            <p:cNvSpPr/>
            <p:nvPr/>
          </p:nvSpPr>
          <p:spPr>
            <a:xfrm>
              <a:off x="1803082" y="2426970"/>
              <a:ext cx="1079182" cy="9525"/>
            </a:xfrm>
            <a:custGeom>
              <a:avLst/>
              <a:gdLst/>
              <a:ahLst/>
              <a:cxnLst/>
              <a:rect l="l" t="t" r="r" b="b"/>
              <a:pathLst>
                <a:path w="1079182" h="9525">
                  <a:moveTo>
                    <a:pt x="107918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3532" y="236886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37422" y="2893695"/>
              <a:ext cx="945832" cy="176212"/>
            </a:xfrm>
            <a:custGeom>
              <a:avLst/>
              <a:gdLst/>
              <a:ahLst/>
              <a:cxnLst/>
              <a:rect l="l" t="t" r="r" b="b"/>
              <a:pathLst>
                <a:path w="945832" h="176212">
                  <a:moveTo>
                    <a:pt x="0" y="176212"/>
                  </a:moveTo>
                  <a:lnTo>
                    <a:pt x="0" y="24765"/>
                  </a:lnTo>
                  <a:lnTo>
                    <a:pt x="945832" y="24765"/>
                  </a:lnTo>
                  <a:lnTo>
                    <a:pt x="9458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09912" y="27679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73755" y="2893695"/>
              <a:ext cx="9525" cy="176212"/>
            </a:xfrm>
            <a:custGeom>
              <a:avLst/>
              <a:gdLst/>
              <a:ahLst/>
              <a:cxnLst/>
              <a:rect l="l" t="t" r="r" b="b"/>
              <a:pathLst>
                <a:path w="9525" h="176212">
                  <a:moveTo>
                    <a:pt x="0" y="176212"/>
                  </a:moveTo>
                  <a:lnTo>
                    <a:pt x="0" y="24765"/>
                  </a:lnTo>
                  <a:lnTo>
                    <a:pt x="0" y="2476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00412" y="27679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564255" y="2893695"/>
              <a:ext cx="945833" cy="176212"/>
            </a:xfrm>
            <a:custGeom>
              <a:avLst/>
              <a:gdLst/>
              <a:ahLst/>
              <a:cxnLst/>
              <a:rect l="l" t="t" r="r" b="b"/>
              <a:pathLst>
                <a:path w="945833" h="176212">
                  <a:moveTo>
                    <a:pt x="945833" y="176212"/>
                  </a:moveTo>
                  <a:lnTo>
                    <a:pt x="945833" y="24765"/>
                  </a:lnTo>
                  <a:lnTo>
                    <a:pt x="0" y="2476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90912" y="27679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865245" y="2426970"/>
              <a:ext cx="1345882" cy="995362"/>
            </a:xfrm>
            <a:custGeom>
              <a:avLst/>
              <a:gdLst/>
              <a:ahLst/>
              <a:cxnLst/>
              <a:rect l="l" t="t" r="r" b="b"/>
              <a:pathLst>
                <a:path w="1345882" h="995362">
                  <a:moveTo>
                    <a:pt x="0" y="0"/>
                  </a:moveTo>
                  <a:lnTo>
                    <a:pt x="209550" y="0"/>
                  </a:lnTo>
                  <a:lnTo>
                    <a:pt x="1030605" y="0"/>
                  </a:lnTo>
                  <a:lnTo>
                    <a:pt x="1030605" y="338138"/>
                  </a:lnTo>
                  <a:lnTo>
                    <a:pt x="1030605" y="995362"/>
                  </a:lnTo>
                  <a:lnTo>
                    <a:pt x="1345882" y="995362"/>
                  </a:lnTo>
                  <a:lnTo>
                    <a:pt x="1345882" y="99536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01578" y="336518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073592"/>
              <a:ext cx="98393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7220" y="2081212"/>
              <a:ext cx="96964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2286000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2381250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82265" y="2085975"/>
              <a:ext cx="983932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88932" y="2092642"/>
              <a:ext cx="969645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882265" y="2424112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82265" y="2519362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45932" y="3069908"/>
              <a:ext cx="98393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752600" y="3077528"/>
              <a:ext cx="96964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745932" y="3282315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745932" y="3526155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82265" y="3069908"/>
              <a:ext cx="98393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888932" y="3077528"/>
              <a:ext cx="96964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882265" y="3282315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82265" y="3526155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17645" y="3069908"/>
              <a:ext cx="98393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025265" y="3077528"/>
              <a:ext cx="96964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17645" y="3282315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017645" y="3526155"/>
              <a:ext cx="983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6632" y="2125028"/>
              <a:ext cx="5289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Company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1038" y="2449354"/>
              <a:ext cx="931164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operationCost()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insuranceCost()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76194" y="213455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54183" y="2263140"/>
              <a:ext cx="439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Vehicle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53702" y="2587466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55758" y="3121342"/>
              <a:ext cx="3633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Truck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17370" y="3350419"/>
              <a:ext cx="3186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load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17370" y="3594259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262059" y="3121342"/>
              <a:ext cx="2233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53702" y="3350419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age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53702" y="3594259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44505" y="3121342"/>
              <a:ext cx="331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Fleet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89082" y="3350419"/>
              <a:ext cx="5725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members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9082" y="3594259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209098" y="2230755"/>
              <a:ext cx="5524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238244" y="225361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组内成员</a:t>
              </a:r>
            </a:p>
          </p:txBody>
        </p:sp>
      </p:grpSp>
      <p:grpSp>
        <p:nvGrpSpPr>
          <p:cNvPr id="62" name="c1-card-2"/>
          <p:cNvGrpSpPr/>
          <p:nvPr/>
        </p:nvGrpSpPr>
        <p:grpSpPr>
          <a:xfrm>
            <a:off x="533400" y="4085272"/>
            <a:ext cx="4544378" cy="1403032"/>
            <a:chOff x="533400" y="4085272"/>
            <a:chExt cx="4544378" cy="1403032"/>
          </a:xfrm>
        </p:grpSpPr>
        <p:sp>
          <p:nvSpPr>
            <p:cNvPr id="56" name="Rectangle 56"/>
            <p:cNvSpPr/>
            <p:nvPr/>
          </p:nvSpPr>
          <p:spPr>
            <a:xfrm>
              <a:off x="533400" y="4085272"/>
              <a:ext cx="454437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42925" y="421862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52475" y="42662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5147" y="42991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18450" y="4305776"/>
              <a:ext cx="17314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Fleet 同时连了两条线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5998" y="4622959"/>
              <a:ext cx="3971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Company 就是物流公司。继承线说明车组本身也是一辆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车辆，右侧那条聚合线说明它装着若干辆车辆，这两条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线一起出现就是组合模式（第 22 讲）。</a:t>
              </a:r>
            </a:p>
          </p:txBody>
        </p:sp>
      </p:grpSp>
      <p:grpSp>
        <p:nvGrpSpPr>
          <p:cNvPr id="68" name="c2-code-1"/>
          <p:cNvGrpSpPr/>
          <p:nvPr/>
        </p:nvGrpSpPr>
        <p:grpSpPr>
          <a:xfrm>
            <a:off x="5382578" y="1928812"/>
            <a:ext cx="6276022" cy="1912620"/>
            <a:chOff x="5382578" y="1928812"/>
            <a:chExt cx="6276022" cy="1912620"/>
          </a:xfrm>
        </p:grpSpPr>
        <p:sp>
          <p:nvSpPr>
            <p:cNvPr id="63" name="Rectangle 63"/>
            <p:cNvSpPr/>
            <p:nvPr/>
          </p:nvSpPr>
          <p:spPr>
            <a:xfrm>
              <a:off x="5382578" y="1928812"/>
              <a:ext cx="6276022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510974" y="2080736"/>
              <a:ext cx="2001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容器节点的 accept 要先遍历孩子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401628" y="300704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401628" y="3183255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10974" y="2340769"/>
              <a:ext cx="3774821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Fleet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Vehicle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List&lt;Vehicle&gt; members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(Vehicle x : members) { x.accept(v);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v.visit(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孩子走完再访问车组自己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5382578" y="4006215"/>
            <a:ext cx="6276022" cy="1444942"/>
            <a:chOff x="5382578" y="4006215"/>
            <a:chExt cx="6276022" cy="1444942"/>
          </a:xfrm>
        </p:grpSpPr>
        <p:sp>
          <p:nvSpPr>
            <p:cNvPr id="69" name="Rectangle 69"/>
            <p:cNvSpPr/>
            <p:nvPr/>
          </p:nvSpPr>
          <p:spPr>
            <a:xfrm>
              <a:off x="5382578" y="4006215"/>
              <a:ext cx="6276022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92102" y="4139565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601652" y="41871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694324" y="42200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走查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68580" y="4226719"/>
              <a:ext cx="3974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费率：货车 载重×10，轿车 车龄×5，车组 成员数×8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595176" y="4543901"/>
              <a:ext cx="55968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车队 = 货车（载重 20）+ 轿车（车龄 5）+ 车组［货车（载重 12）+ 轿车（车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龄 3）］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595176" y="5071586"/>
              <a:ext cx="417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加数依次是 200、25、120、15、2×8、3×8，合计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7" name="Rectangle 77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1273" y="5805011"/>
              <a:ext cx="99778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更正：原课件 p33 的车组实现写成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车-&gt;Accept(this)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，把车组自己当访问者传了下去，应为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车-&gt;Accept(v)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；同页 Visitor 的三个方法声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明返回 int 却没有一句 return，应声明为 void。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13632" cy="3351847"/>
            <a:chOff x="667512" y="1835468"/>
            <a:chExt cx="391363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效果、适用与辨析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它最好用的地方，和它最要命的地方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倾斜的开闭原则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真实系统里的访问者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与相关模式的分界和自测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7" y="407194"/>
              <a:ext cx="2387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优点：加一种访问方式，只写一个类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bullets-1"/>
          <p:cNvGrpSpPr/>
          <p:nvPr/>
        </p:nvGrpSpPr>
        <p:grpSpPr>
          <a:xfrm>
            <a:off x="526923" y="1545431"/>
            <a:ext cx="2490204" cy="2275618"/>
            <a:chOff x="526923" y="1545431"/>
            <a:chExt cx="2490204" cy="2275618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张欣佳老师课件给的四条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7356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4096" y="184642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增加新的访问操作很容易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70572" y="215360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5738" y="20955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新写一个具体访问者类就行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38029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4096" y="235315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访问行为集中在一个对象里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70572" y="266033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5738" y="260223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不再分散到一个个元素类中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288702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4096" y="28598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可以跨等级结构访问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70572" y="316706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5738" y="310896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元素类不必在同一棵继承树上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339375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4096" y="336661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不修改类层次就能定义新操作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0572" y="3673792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5738" y="3615690"/>
              <a:ext cx="1508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元素类只留一个 accept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944302"/>
            <a:ext cx="5410200" cy="1772602"/>
            <a:chOff x="533400" y="3944302"/>
            <a:chExt cx="5410200" cy="1772602"/>
          </a:xfrm>
        </p:grpSpPr>
        <p:sp>
          <p:nvSpPr>
            <p:cNvPr id="25" name="Rectangle 25"/>
            <p:cNvSpPr/>
            <p:nvPr/>
          </p:nvSpPr>
          <p:spPr>
            <a:xfrm>
              <a:off x="533400" y="3944302"/>
              <a:ext cx="5410200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077652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412527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044" y="41581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换个说法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68006" y="41648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陈伟老师课件给的四条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453390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4481989"/>
              <a:ext cx="36461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外部访问各子类时有统一接口 accept(Visitor)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481869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476678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扩展某一种访问容易：从对应访问者派生子类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2000" y="510444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7448" y="5051584"/>
              <a:ext cx="3801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增加新的访问容易：派生一个 TigerStoreVisitor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2000" y="538924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7448" y="5336381"/>
              <a:ext cx="37494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增加新的调用方容易：加个 Rabbit 派生子类即可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8400" y="1524000"/>
            <a:ext cx="5410200" cy="1712595"/>
            <a:chOff x="6248400" y="1524000"/>
            <a:chExt cx="5410200" cy="1712595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980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要做的改动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49081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不用访问者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04741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用访问者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43079" y="2023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加一种访问方式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2356" y="2023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每个元素类都加一个方法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36480" y="1914525"/>
              <a:ext cx="17125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021634" y="2023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新写一个访问者类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228695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3079" y="24974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改某种访问的算法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82356" y="249745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翻遍各个元素类去找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936480" y="2296478"/>
              <a:ext cx="1712595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021634" y="2404110"/>
              <a:ext cx="13441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改一个访问者里的一个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3079" y="29718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加一种元素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82356" y="29718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加一个元素类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936480" y="2864168"/>
              <a:ext cx="171259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21634" y="29718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所有访问者都要加方法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1524000"/>
              <a:ext cx="5410200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82915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922192" y="1524000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248400" y="3401378"/>
            <a:ext cx="5410200" cy="2315528"/>
            <a:chOff x="6248400" y="3401378"/>
            <a:chExt cx="5410200" cy="2315528"/>
          </a:xfrm>
        </p:grpSpPr>
        <p:sp>
          <p:nvSpPr>
            <p:cNvPr id="62" name="Rectangle 62"/>
            <p:cNvSpPr/>
            <p:nvPr/>
          </p:nvSpPr>
          <p:spPr>
            <a:xfrm>
              <a:off x="6248400" y="3401378"/>
              <a:ext cx="5410200" cy="2315528"/>
            </a:xfrm>
            <a:prstGeom prst="roundRect">
              <a:avLst>
                <a:gd name="adj" fmla="val 575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29375" y="358235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06794" y="36152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第二条最实在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3508" y="36218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相关的代码聚到了一起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22898" y="3938111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不用访问者时，"计算运营费用"这件事会被切成碎片散落在货车、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轿车、车组三个类里，哪天算法要改得三处一起找。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22898" y="446579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用了访问者，这件事整个装在一个类里，改动只发生在一处。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表格最后一行就是代价所在：优点和缺点是同一条设计决策的两面，下一页细看。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7" y="407194"/>
              <a:ext cx="2387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缺点：加元素很难，还得把内部状态掏出来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bullets-1"/>
          <p:cNvGrpSpPr/>
          <p:nvPr/>
        </p:nvGrpSpPr>
        <p:grpSpPr>
          <a:xfrm>
            <a:off x="525780" y="1548765"/>
            <a:ext cx="5329047" cy="1969104"/>
            <a:chOff x="525780" y="1548765"/>
            <a:chExt cx="5329047" cy="1969104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课件给的两条缺点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392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90309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增加新的元素类很困难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81050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5073" y="2196941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每加一个元素类，抽象访问者要加一个抽象操作，每个具体访问者都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要跟着加实现，违背开闭原则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7774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3430" y="27412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破坏封装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310705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5073" y="3034189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访问者要调元素的操作、读元素的数据，元素只好把一些内部操作和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内部状态暴露出来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658552"/>
            <a:ext cx="5626418" cy="1949768"/>
            <a:chOff x="533400" y="3658552"/>
            <a:chExt cx="5626418" cy="1949768"/>
          </a:xfrm>
        </p:grpSpPr>
        <p:sp>
          <p:nvSpPr>
            <p:cNvPr id="17" name="Rectangle 17"/>
            <p:cNvSpPr/>
            <p:nvPr/>
          </p:nvSpPr>
          <p:spPr>
            <a:xfrm>
              <a:off x="533400" y="3658552"/>
              <a:ext cx="5626418" cy="1949768"/>
            </a:xfrm>
            <a:prstGeom prst="roundRect">
              <a:avLst>
                <a:gd name="adj" fmla="val 6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791902"/>
              <a:ext cx="47625" cy="16830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86810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7308" y="39038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补两条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24000" y="39033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双向耦合，而且前提很硬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264342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抽象访问者的接口里一个一个写着具体元素的类名，这一族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访问者天生只能服务于这一族元素。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885372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所以元素的类必须稳定。元素一变，所有访问者一起返工。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1335405"/>
            <a:chOff x="6464618" y="1524000"/>
            <a:chExt cx="5193982" cy="1335405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741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653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75195" y="1768792"/>
              <a:ext cx="1661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倾斜的"开闭原则"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6548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访问者模式以一种倾斜的方式支持开闭原则：对增加新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的访问者是开放的，对增加新的元素是封闭的。</a:t>
              </a:r>
            </a:p>
          </p:txBody>
        </p:sp>
      </p:grpSp>
      <p:grpSp>
        <p:nvGrpSpPr>
          <p:cNvPr id="33" name="c2-image-2"/>
          <p:cNvGrpSpPr/>
          <p:nvPr/>
        </p:nvGrpSpPr>
        <p:grpSpPr>
          <a:xfrm>
            <a:off x="6464618" y="3049905"/>
            <a:ext cx="5193982" cy="1610202"/>
            <a:chOff x="6464618" y="3049905"/>
            <a:chExt cx="5193982" cy="1610202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rcRect l="0" t="33373" r="0" b="33373"/>
            <a:stretch>
              <a:fillRect/>
            </a:stretch>
          </p:blipFill>
          <p:spPr>
            <a:xfrm>
              <a:off x="6464618" y="3049905"/>
              <a:ext cx="5193982" cy="1295400"/>
            </a:xfrm>
            <a:prstGeom prst="roundRect">
              <a:avLst>
                <a:gd name="adj" fmla="val 10294"/>
              </a:avLst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7322464" y="444007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一扇敞开着随便进，另一扇拿铁杠别死，这就是倾斜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6464618" y="4825365"/>
            <a:ext cx="5193982" cy="782955"/>
            <a:chOff x="6464618" y="4825365"/>
            <a:chExt cx="5193982" cy="782955"/>
          </a:xfrm>
        </p:grpSpPr>
        <p:sp>
          <p:nvSpPr>
            <p:cNvPr id="34" name="Rectangle 34"/>
            <p:cNvSpPr/>
            <p:nvPr/>
          </p:nvSpPr>
          <p:spPr>
            <a:xfrm>
              <a:off x="6464618" y="482536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669405" y="5116830"/>
              <a:ext cx="200026" cy="200025"/>
              <a:chOff x="6669405" y="5116830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669405" y="51168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709144" y="51612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43859" y="52724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971348" y="497395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口诀：元素的种类少而稳定，对元素的操作多而易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变，这时候才该请出访问者。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991225"/>
              <a:ext cx="970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反过来的场景，元素种类天天加、操作却固定，那就该把操作写回元素类里，用普通的多态，不要用访问者。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09456" cy="909257"/>
            <a:chOff x="520446" y="342900"/>
            <a:chExt cx="2509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7" y="407194"/>
              <a:ext cx="2387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什么情况下用它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5780" y="1548765"/>
            <a:ext cx="4564380" cy="2103405"/>
            <a:chOff x="525780" y="1548765"/>
            <a:chExt cx="4564380" cy="21034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课件给的三条适用环境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结构里有很多类型的对象，操作又依赖具体类型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42010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6033" y="219694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访问者针对每一种具体类型都提供一个访问操作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92692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3498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0602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要对结构中的对象做很多不相关的操作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2010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6033" y="2799874"/>
              <a:ext cx="29595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又不希望这些操作“污染”这些对象的类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095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5249" y="3137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390" y="31089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对象结构中对象对应的类很少改变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2010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6033" y="340280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但经常需要在此对象结构上定义新的操作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792855"/>
            <a:ext cx="5626418" cy="1621155"/>
            <a:chOff x="533400" y="3792855"/>
            <a:chExt cx="5626418" cy="1621155"/>
          </a:xfrm>
        </p:grpSpPr>
        <p:sp>
          <p:nvSpPr>
            <p:cNvPr id="24" name="Rectangle 24"/>
            <p:cNvSpPr/>
            <p:nvPr/>
          </p:nvSpPr>
          <p:spPr>
            <a:xfrm>
              <a:off x="533400" y="3792855"/>
              <a:ext cx="562641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92620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00240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7308" y="40381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24000" y="4037648"/>
              <a:ext cx="1661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“污染”指的是什么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4398645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一个订单类如果同时背着打印、校验、导出、统计、归档五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件事，它就不再是一个数据模型了。把这些操作搬到访问者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里，订单类还回它本来的样子。</a:t>
              </a:r>
            </a:p>
          </p:txBody>
        </p:sp>
      </p:grpSp>
      <p:grpSp>
        <p:nvGrpSpPr>
          <p:cNvPr id="51" name="c2-compare-1"/>
          <p:cNvGrpSpPr/>
          <p:nvPr/>
        </p:nvGrpSpPr>
        <p:grpSpPr>
          <a:xfrm>
            <a:off x="6464618" y="1524000"/>
            <a:ext cx="5193982" cy="2560320"/>
            <a:chOff x="6464618" y="1524000"/>
            <a:chExt cx="5193982" cy="2560320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2348865" cy="2560320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4648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这样就用访问者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717983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76098" y="21126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元素的类很少改，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甚至已经定型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717983" y="27965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76098" y="27336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要加的是一整套跨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元素的操作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17983" y="34175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76098" y="335470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处理方式依赖元素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的具体类型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309735" y="1524000"/>
              <a:ext cx="2348865" cy="2560320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319260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49765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这样别用访问者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563100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21215" y="21126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元素的类还在频繁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563100" y="27965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21215" y="27336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只有一种操作，而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且不会再加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9563100" y="34175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721215" y="335470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元素不愿意开放内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部状态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862060" y="260413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15400" y="27384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464618" y="4274820"/>
            <a:ext cx="5193982" cy="1139190"/>
            <a:chOff x="6464618" y="4274820"/>
            <a:chExt cx="5193982" cy="1139190"/>
          </a:xfrm>
        </p:grpSpPr>
        <p:sp>
          <p:nvSpPr>
            <p:cNvPr id="52" name="Rectangle 52"/>
            <p:cNvSpPr/>
            <p:nvPr/>
          </p:nvSpPr>
          <p:spPr>
            <a:xfrm>
              <a:off x="6464618" y="4274820"/>
              <a:ext cx="5193982" cy="1139190"/>
            </a:xfrm>
            <a:prstGeom prst="roundRect">
              <a:avLst>
                <a:gd name="adj" fmla="val 1003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4744403"/>
              <a:ext cx="200026" cy="200026"/>
              <a:chOff x="6669405" y="4744403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47444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9418" y="4811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58305" y="48444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1348" y="460152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三条适用环境其实是同一件事的三种说法：稳定的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元素，易变的操作。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991225"/>
              <a:ext cx="6699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先问一句“以后是元素会多，还是操作会多”。答操作，才轮到访问者上场。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7" y="407194"/>
              <a:ext cx="2387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真实系统里的访问者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06718" cy="278702"/>
            <a:chOff x="526161" y="1547336"/>
            <a:chExt cx="650671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06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课件举了编译器和 DOM4J 两个例子，表格后两行是补充，考试不考但常见。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5410200" cy="2044065"/>
            <a:chOff x="533400" y="1941195"/>
            <a:chExt cx="5410200" cy="204406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1344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0947" y="217360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编译器对语法树做的各种处理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程序代码是被访问的对象，它包括变量定义、变量赋值、逻辑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运算、算术运算等语句。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068002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检查变量是否定义、是否赋值、算术运算是否合法，可以各写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成一个具体访问者。代码优化、空间分配、代码生成也各是一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个访问者。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60520"/>
            <a:ext cx="5410200" cy="1226820"/>
            <a:chOff x="533400" y="4160520"/>
            <a:chExt cx="5410200" cy="1226820"/>
          </a:xfrm>
        </p:grpSpPr>
        <p:sp>
          <p:nvSpPr>
            <p:cNvPr id="17" name="Rectangle 17"/>
            <p:cNvSpPr/>
            <p:nvPr/>
          </p:nvSpPr>
          <p:spPr>
            <a:xfrm>
              <a:off x="533400" y="416052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29387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35292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1344" y="43872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80947" y="4392930"/>
              <a:ext cx="1930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DOM4J 解析 XML 文档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726305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VisitorSupport 是 DOM4J 提供的 Visitor 接口的默认适配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器，具体访问者只要继承它，重写关心的那几个 visit 即可。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941195"/>
            <a:ext cx="5410200" cy="2019300"/>
            <a:chOff x="6248400" y="1941195"/>
            <a:chExt cx="5410200" cy="2019300"/>
          </a:xfrm>
        </p:grpSpPr>
        <p:sp>
          <p:nvSpPr>
            <p:cNvPr id="24" name="Rectangle 24"/>
            <p:cNvSpPr/>
            <p:nvPr/>
          </p:nvSpPr>
          <p:spPr>
            <a:xfrm>
              <a:off x="6248400" y="1941195"/>
              <a:ext cx="5410200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2093119"/>
              <a:ext cx="1702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DOM4J 里的一个具体访问者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2354580"/>
              <a:ext cx="3457766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MyVisitor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VisitorSupport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visit(Element element)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System.out.println(element.getName());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visit(Attribute attr)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System.out.println(attr.getName());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3" name="c2-table-2"/>
          <p:cNvGrpSpPr/>
          <p:nvPr/>
        </p:nvGrpSpPr>
        <p:grpSpPr>
          <a:xfrm>
            <a:off x="6248400" y="4135755"/>
            <a:ext cx="5410200" cy="1217295"/>
            <a:chOff x="6248400" y="4135755"/>
            <a:chExt cx="5410200" cy="1217295"/>
          </a:xfrm>
        </p:grpSpPr>
        <p:sp>
          <p:nvSpPr>
            <p:cNvPr id="28" name="Rectangle 28"/>
            <p:cNvSpPr/>
            <p:nvPr/>
          </p:nvSpPr>
          <p:spPr>
            <a:xfrm>
              <a:off x="6248400" y="4135755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03441" y="42600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62264" y="42600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抽象访问者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80447" y="42600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被访问的结构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8412" y="4665821"/>
              <a:ext cx="538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DOM4J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71472" y="4665821"/>
              <a:ext cx="11057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VisitorSupport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19335" y="4665821"/>
              <a:ext cx="8062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XML 文档树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4942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49472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8412" y="507158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注解处理器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71472" y="5071586"/>
              <a:ext cx="1098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ElementVisitor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9335" y="507158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源码里的程序元素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4135755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866698" y="413575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814560" y="413575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4" name="Rectangle 4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5779770"/>
              <a:ext cx="99406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字节码库 ASM 的 ClassVisitor 也是一样的路子。这几个的共同点很明显：被访问的结构由别人定死了，你能做的只有不断加新的访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问方式。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7" y="407194"/>
              <a:ext cx="2387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常和它一起出现的几个模式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56248" cy="264033"/>
            <a:chOff x="526542" y="1545907"/>
            <a:chExt cx="65562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访问者很少单独出现。对象结构要遍历，元素可能成树，这两件事各有各的模式。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542" y="1950720"/>
            <a:ext cx="5417058" cy="2063305"/>
            <a:chOff x="526542" y="1950720"/>
            <a:chExt cx="5417058" cy="2063305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50720"/>
              <a:ext cx="1610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迭代器（第 33 讲）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11527" y="1950720"/>
              <a:ext cx="327126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对象结构本身是元素集合，常用迭代器遍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历。迭代器定次序，访问者定走到之后做什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7451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850832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组合（第 22 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11527" y="2850832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元素里同时有容器和叶子时用组合组织，容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器的 accept 要先遍历孩子再处理自己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909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3496627"/>
              <a:ext cx="1610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解释器（第 32 讲）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11527" y="3496627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语法树是稳定结构，对它的操作却一直加：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求值、打印、类型检查各一个访问者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131945"/>
            <a:ext cx="5410200" cy="1554480"/>
            <a:chOff x="533400" y="4131945"/>
            <a:chExt cx="5410200" cy="1554480"/>
          </a:xfrm>
        </p:grpSpPr>
        <p:sp>
          <p:nvSpPr>
            <p:cNvPr id="18" name="Rectangle 18"/>
            <p:cNvSpPr/>
            <p:nvPr/>
          </p:nvSpPr>
          <p:spPr>
            <a:xfrm>
              <a:off x="533400" y="4131945"/>
              <a:ext cx="5410200" cy="1554480"/>
            </a:xfrm>
            <a:prstGeom prst="roundRect">
              <a:avLst>
                <a:gd name="adj" fmla="val 8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265295"/>
              <a:ext cx="47625" cy="12877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431863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6811" y="435149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48562" y="435292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这三个模式都在补访问者的短板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332" y="4679632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访问者只管"对每种元素做什么"，至于元素怎么排、怎么嵌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套、怎么走到，它一概不管，得靠别的模式补上。</a:t>
              </a:r>
            </a:p>
          </p:txBody>
        </p:sp>
      </p:grpSp>
      <p:grpSp>
        <p:nvGrpSpPr>
          <p:cNvPr id="41" name="c2-bullets-1"/>
          <p:cNvGrpSpPr/>
          <p:nvPr/>
        </p:nvGrpSpPr>
        <p:grpSpPr>
          <a:xfrm>
            <a:off x="6241542" y="1950720"/>
            <a:ext cx="3424072" cy="1873092"/>
            <a:chOff x="6241542" y="1950720"/>
            <a:chExt cx="3424072" cy="1873092"/>
          </a:xfrm>
        </p:grpSpPr>
        <p:sp>
          <p:nvSpPr>
            <p:cNvPr id="25" name="TextBox 25"/>
            <p:cNvSpPr txBox="1"/>
            <p:nvPr/>
          </p:nvSpPr>
          <p:spPr>
            <a:xfrm>
              <a:off x="6241542" y="195072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万一真要加一种元素，三条补救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48400" y="225552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4078" y="22939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29197" y="226790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给抽象访问者一份默认实现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36055" y="259461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20840" y="2531269"/>
              <a:ext cx="2853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写成抽象类，新增的 visit 给一个默认行为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48400" y="279177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4078" y="28311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9197" y="28041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改用非重载写法加反射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36055" y="313086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20840" y="3067526"/>
              <a:ext cx="2307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按名字查 visitXxx，找不到走兜底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48400" y="332898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4078" y="33673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29197" y="3340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换掉访问者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36055" y="366712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20840" y="3603784"/>
              <a:ext cx="29447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17 的 sealed 接口加 switch 模式匹配</a:t>
              </a:r>
            </a:p>
          </p:txBody>
        </p:sp>
      </p:grpSp>
      <p:grpSp>
        <p:nvGrpSpPr>
          <p:cNvPr id="45" name="c2-code-2"/>
          <p:cNvGrpSpPr/>
          <p:nvPr/>
        </p:nvGrpSpPr>
        <p:grpSpPr>
          <a:xfrm>
            <a:off x="6248400" y="3949065"/>
            <a:ext cx="5410200" cy="1737360"/>
            <a:chOff x="6248400" y="3949065"/>
            <a:chExt cx="5410200" cy="1737360"/>
          </a:xfrm>
        </p:grpSpPr>
        <p:sp>
          <p:nvSpPr>
            <p:cNvPr id="42" name="Rectangle 42"/>
            <p:cNvSpPr/>
            <p:nvPr/>
          </p:nvSpPr>
          <p:spPr>
            <a:xfrm>
              <a:off x="6248400" y="3949065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76797" y="410098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第三条的样子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76797" y="4361974"/>
              <a:ext cx="3158744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sealed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 permits Meat, Bone {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String eat(Food f)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 m -&gt; m.meatFunction();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Bone b -&gt; b.boneFunction();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少写一个分支，编译不过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6" name="Rectangle 4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8373"/>
              <a:ext cx="9618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三条补救都有代价。第一条会让漏写的 visit 静默什么也不做，第二条把错误推迟到运行期，第三条要求语言版本够新。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7" y="407194"/>
              <a:ext cx="2387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和相邻几个模式的分界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915368" cy="278702"/>
            <a:chOff x="526161" y="1547336"/>
            <a:chExt cx="691536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9153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这几个模式都在处理"一族类和一族操作"，区别在于把哪一边当成会变的那一边。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41195"/>
            <a:ext cx="11125200" cy="2028825"/>
            <a:chOff x="533400" y="1941195"/>
            <a:chExt cx="11125200" cy="20288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0087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38612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它封装的是什么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0501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加一种元素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51987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加一种操作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访问者（本讲）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1338" y="24712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一族元素上的一整套操作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73228" y="2356485"/>
              <a:ext cx="242887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63715" y="247126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难，所有访问者都要改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220200" y="2356485"/>
              <a:ext cx="242887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10688" y="24712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易，写一个新类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2877026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组合（第 22 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81338" y="287702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容器与叶子的统一接口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73228" y="2762250"/>
              <a:ext cx="242887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63715" y="28770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易，加一个节点类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220200" y="2762250"/>
              <a:ext cx="242887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10688" y="28770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难，节点类都要改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282791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策略（第 38 讲）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1338" y="32827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做同一件事的一种算法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63715" y="328279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不涉及多种元素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10688" y="32827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易，写一个新策略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3688556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解释器（第 32 讲）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81338" y="3688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文法规则与它的求值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63715" y="3688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加文法加一个类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688" y="3688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常常交给访问者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941195"/>
              <a:ext cx="11125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97656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5894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0591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compare-2"/>
          <p:cNvGrpSpPr/>
          <p:nvPr/>
        </p:nvGrpSpPr>
        <p:grpSpPr>
          <a:xfrm>
            <a:off x="533400" y="4145280"/>
            <a:ext cx="11125200" cy="1557338"/>
            <a:chOff x="533400" y="4145280"/>
            <a:chExt cx="11125200" cy="1557338"/>
          </a:xfrm>
        </p:grpSpPr>
        <p:sp>
          <p:nvSpPr>
            <p:cNvPr id="44" name="Rectangle 44"/>
            <p:cNvSpPr/>
            <p:nvPr/>
          </p:nvSpPr>
          <p:spPr>
            <a:xfrm>
              <a:off x="533400" y="4145280"/>
              <a:ext cx="5323522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27863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7047" y="43605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访问者与策略的差别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72478" y="47358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8497" y="467963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策略只面对一个使用它的环境类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72478" y="50387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8497" y="498252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访问者要面对一整族元素类型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72478" y="534162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8497" y="5285423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策略换一段算法，访问者换一整套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35078" y="4145280"/>
              <a:ext cx="5323522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44602" y="427863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8724" y="43605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访问者与组合的差别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74155" y="47358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0174" y="467963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组合让元素的结构可以长成树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74155" y="50387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0174" y="498252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访问者让结构上的操作可以随便加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574155" y="534162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30174" y="5285423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两者刚好互补，所以常常一起用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904548" y="4732972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59119" y="48629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5" name="Rectangle 6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访问者和组合是一对镜像：一个方便加元素难加操作，一个方便加操作难加元素。选哪个，看你的系统哪一边在长。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7" y="407194"/>
              <a:ext cx="2387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七个一考就错的地方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card-1"/>
          <p:cNvGrpSpPr/>
          <p:nvPr/>
        </p:nvGrpSpPr>
        <p:grpSpPr>
          <a:xfrm>
            <a:off x="533400" y="1524000"/>
            <a:ext cx="6059805" cy="4113848"/>
            <a:chOff x="533400" y="1524000"/>
            <a:chExt cx="6059805" cy="41138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113848"/>
            </a:xfrm>
            <a:prstGeom prst="roundRect">
              <a:avLst>
                <a:gd name="adj" fmla="val 3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471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写代码和做判断题时按这七条自查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2475" y="204978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3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223" y="2061686"/>
              <a:ext cx="48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accept 里必须写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visitor.visit(this)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，换成别的变量就废了。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2475" y="233553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3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223" y="2346484"/>
              <a:ext cx="46481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accept 的公共实现上提到抽象元素类里，第二跳会失效。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2475" y="26203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382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2223" y="2631281"/>
              <a:ext cx="4251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以为重载是动态的。重载在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编译期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按静态类型定下来。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52475" y="29051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382" y="29407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2223" y="291607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以为它增加了语言能力，其实只是用两次单分派拼出双分派。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2475" y="318992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4382" y="32255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2223" y="3200876"/>
              <a:ext cx="4682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把“增加新元素容易”当成优点，恰恰相反，这是最大的缺点。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52475" y="347472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4382" y="351034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223" y="3486626"/>
              <a:ext cx="4475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忘了容器元素的 accept 要先遍历孩子，会漏掉下层节点。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52475" y="376047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4382" y="37951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2223" y="377142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抽象访问者写成接口后再加元素，所有实现类一起编译不过。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6898005" y="1533525"/>
            <a:ext cx="2968752" cy="2149412"/>
            <a:chOff x="6898005" y="1533525"/>
            <a:chExt cx="2968752" cy="2149412"/>
          </a:xfrm>
        </p:grpSpPr>
        <p:sp>
          <p:nvSpPr>
            <p:cNvPr id="34" name="Rectangle 34"/>
            <p:cNvSpPr/>
            <p:nvPr/>
          </p:nvSpPr>
          <p:spPr>
            <a:xfrm>
              <a:off x="703135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898005" y="208692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9162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898005" y="263937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162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898005" y="319278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162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10628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1771" y="181832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这个集合里是不是装着好几种类型的对象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0628" y="21169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11771" y="237172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这些类型以后还会不会增加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0628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1771" y="29251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要加的是不是一整套跨类型的操作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10628" y="32227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1771" y="347757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元素愿不愿意把数据开放给外人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898005" y="3844290"/>
            <a:ext cx="4760595" cy="467678"/>
            <a:chOff x="6898005" y="3844290"/>
            <a:chExt cx="4760595" cy="467678"/>
          </a:xfrm>
        </p:grpSpPr>
        <p:sp>
          <p:nvSpPr>
            <p:cNvPr id="52" name="Rectangle 52"/>
            <p:cNvSpPr/>
            <p:nvPr/>
          </p:nvSpPr>
          <p:spPr>
            <a:xfrm>
              <a:off x="6898005" y="3844290"/>
              <a:ext cx="4760595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102793" y="3978593"/>
              <a:ext cx="200026" cy="200025"/>
              <a:chOff x="7102793" y="397859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102793" y="39785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42531" y="40230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177247" y="41341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405878" y="398954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四问依次答是、不会、是、愿意，才该用访问者。</a:t>
              </a:r>
            </a:p>
          </p:txBody>
        </p:sp>
      </p:grpSp>
      <p:grpSp>
        <p:nvGrpSpPr>
          <p:cNvPr id="64" name="c2-card-3"/>
          <p:cNvGrpSpPr/>
          <p:nvPr/>
        </p:nvGrpSpPr>
        <p:grpSpPr>
          <a:xfrm>
            <a:off x="6898005" y="4477702"/>
            <a:ext cx="4760595" cy="1160145"/>
            <a:chOff x="6898005" y="4477702"/>
            <a:chExt cx="4760595" cy="1160145"/>
          </a:xfrm>
        </p:grpSpPr>
        <p:sp>
          <p:nvSpPr>
            <p:cNvPr id="59" name="Rectangle 59"/>
            <p:cNvSpPr/>
            <p:nvPr/>
          </p:nvSpPr>
          <p:spPr>
            <a:xfrm>
              <a:off x="6898005" y="4477702"/>
              <a:ext cx="4760595" cy="1160145"/>
            </a:xfrm>
            <a:prstGeom prst="roundRect">
              <a:avLst>
                <a:gd name="adj" fmla="val 11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78980" y="465867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67601" y="469153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记一句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69733" y="469820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访问者和普通多态的分界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72503" y="5014436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操作写在元素类里是普通多态，写在外面按元素类型分成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几格的才是访问者。前者方便加元素，后者方便加操作。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7301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题干里出现“不改变各元素的类”“为一组对象增加新操作”“双分派”，几乎都是在指访问者模式。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访问者模式属于哪一类模式？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元素类里必须实现哪个方法？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427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accept(Visitor)，参数是抽象访问者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1896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为什么一定要写 this？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靠它的静态类型在编译期选中正确的重载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它包含哪五个角色？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抽象与具体访问者、抽象与具体元素、对象结构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518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的方法体固定写什么？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visitor.visit(this)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两次分派各由什么决定？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元素的运行时类型、访问者的运行时类型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答不上来的题，回到对应正文页再看一遍那张类图或那段代码。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增加一个新访问者要改哪里？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只新增一个具体访问者类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什么叫倾斜的开闭原则？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对加访问者开放，对加元素封闭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除了难加元素还有什么缺点？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破坏封装，元素要暴露内部操作和状态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增加一个新元素类要改哪里？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抽象访问者和每个具体访问者都要改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用它的前提条件是什么？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元素的类稳定，对元素的操作却常加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它常和哪两个模式联用？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迭代器负责遍历，组合负责树形元素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判断题常考这一句：访问者模式对增加元素并不开放，它只对增加操作开放。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11125200" cy="4057650"/>
            <a:chOff x="533400" y="1524000"/>
            <a:chExt cx="11125200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943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2371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原课件写的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456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应当是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 p7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58452" y="2054066"/>
              <a:ext cx="2279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角色表里写“Vistor: 抽象访问者”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53350" y="2054066"/>
              <a:ext cx="520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 p15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8452" y="2459831"/>
              <a:ext cx="19461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类图把收银员类名写作 Saler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53350" y="2459831"/>
              <a:ext cx="437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12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 p15/p18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58452" y="286559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购物车指向商品画成关联，奖励审批画的是聚合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0" y="28655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语义相同，统一画成聚合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 p9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58452" y="3271361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“由接收对象和参数对象共同决定，成多分派”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53350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称多分派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 p10–p12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8452" y="3677126"/>
              <a:ext cx="3086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 SubSome1/2，输出串却是 SumSome1/2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53350" y="3677126"/>
              <a:ext cx="2052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统一；Do(d1&amp;) 应为 Do(D1&amp;)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 p13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58452" y="4082891"/>
              <a:ext cx="2848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cout &lt;&lt; h.Name();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而 Name() 返回 void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3350" y="408289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直接调用，或改返回类型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 p20/p21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58452" y="4488656"/>
              <a:ext cx="3381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栈对象写 </a:t>
              </a: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cmd-&gt;excute(food)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，方法名写成 </a:t>
              </a: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used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53350" y="4488656"/>
              <a:ext cx="2114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cmd.excute(food)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；应为 use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65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7012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4894421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 p33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58452" y="4894421"/>
              <a:ext cx="3746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车-&gt;Accept(this)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；Visitor 声明返回 int 却无 return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53350" y="4894421"/>
              <a:ext cx="1873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车-&gt;Accept(v)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；应为 void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711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53001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两份课件多处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58452" y="5300186"/>
              <a:ext cx="25685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拼写 Vistor、excute、Rabit、accpt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3350" y="5300186"/>
              <a:ext cx="25151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Visitor、execute、Rabbit、accept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11125200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753678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48575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9963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多数是拼写和笔误，但陈伟 p13、p20/p21、p33 这三处要么编译不过，要么真的改变程序行为，做题时按订正后的写法答。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5" y="407194"/>
              <a:ext cx="999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3A 访问者模式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11091672" cy="1971675"/>
            <a:chOff x="533400" y="1535430"/>
            <a:chExt cx="11091672" cy="197167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10313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访问者模式表示作用于对象结构中各元素的操作，使我们能在不改变元素类的前提下定义新操作，属对象行为型模式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9187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五个角色：抽象访问者为每种元素声明一个 visit，具体访问者实现它们，抽象元素声明 accept，具体元素写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visitor.visit(this)，对象结构负责遍历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1079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53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24125"/>
              <a:ext cx="10545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全部机巧是双分派：第一跳按元素的运行时类型选 accept，第二跳按 this 的静态类型选重载，再按访问者类型选实现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555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28978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868930"/>
              <a:ext cx="9909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优点是加访问操作容易、访问行为集中、能跨等级结构；缺点是加元素类困难、破坏封装，这叫倾斜的开闭原则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20040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2426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213735"/>
              <a:ext cx="10790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适用前提是元素的类稳定而操作易变；常与迭代器（第 33 讲）和组合（第 22 讲）联用，编译器和 DOM4J 都是真实例子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638550"/>
            <a:ext cx="11125200" cy="1769745"/>
            <a:chOff x="533400" y="3638550"/>
            <a:chExt cx="11125200" cy="1769745"/>
          </a:xfrm>
        </p:grpSpPr>
        <p:sp>
          <p:nvSpPr>
            <p:cNvPr id="23" name="Rectangle 23"/>
            <p:cNvSpPr/>
            <p:nvPr/>
          </p:nvSpPr>
          <p:spPr>
            <a:xfrm>
              <a:off x="533400" y="3638550"/>
              <a:ext cx="11125200" cy="1769745"/>
            </a:xfrm>
            <a:prstGeom prst="roundRect">
              <a:avLst>
                <a:gd name="adj" fmla="val 753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2950" y="38481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158" y="38838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3978" y="388334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两句话把它和邻居分开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330" y="4244340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元素定了型、操作一直加，用访问者；元素一直加、操作定了型，就把方法写回元素类里用普通多态。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330" y="4579620"/>
              <a:ext cx="9526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判断一段代码是不是访问者，只看元素类里有没有 accept，以及它的方法体是不是 visitor.visit(this)。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0" name="Rectangle 3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728335"/>
              <a:ext cx="9673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一句话记住它：元素的类定了型，往后要加的每一件事都做成一个访问者挂在外面。下一讲看第 39 讲的模板方法模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访问者模式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A">
  <a:themeElements>
    <a:clrScheme name="sdp_3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A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2026-09-19T09:57:17Z</dcterms:created>
  <dcterms:modified xsi:type="dcterms:W3CDTF">2026-09-19T09:57:17Z</dcterms:modified>
  <cp:category/>
  <cp:contentStatus/>
</cp:coreProperties>
</file>