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sdp_13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sdp_13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388c76b5bafbfe9a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2bb2e624cc1c5df.png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30d2cca221c81178.png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4147566" cy="3437763"/>
            <a:chOff x="666750" y="1619250"/>
            <a:chExt cx="4147566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898332" cy="3429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04866" y="1718310"/>
              <a:ext cx="16611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软件设计模式 · 第八讲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286512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建造者模式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41376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把复杂对象的装配过程单独交给一个类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复杂对象的装配难题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四个角色与标准类图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6603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KFC 套餐与地图实例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与抽象工厂的分界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5685911" cy="205359"/>
            <a:chOff x="680466" y="6192202"/>
            <a:chExt cx="5685911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56859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自学复习版｜据吉林大学《软件设计模式》张欣佳、陈伟两位老师课件合并整理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90297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42189" y="407194"/>
              <a:ext cx="6853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13 建造者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1970" y="1515428"/>
            <a:ext cx="6287453" cy="4461795"/>
            <a:chOff x="521970" y="1515428"/>
            <a:chExt cx="6287453" cy="4461795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动机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50100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一个对象有多个部件、装配还有先后顺序时，构造函数就不够用了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定义与本质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构建与表示分离；本质是分离整体构建算法和部件构造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结构与角色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45875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Product、Builder、ConcreteBuilder、Director 四个角色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代码实现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41208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标准骨架的 Java 写法，一个指挥者配两个具体建造者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课件实例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33769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KFC 套餐、JavaMail 邮件、迷宫与游戏地图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3468" y="526923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970" y="537495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5086" y="541115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效果与辨析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990" y="5727859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优缺点、适用场景、退化写法、与抽象工厂的分界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7114222" y="1524000"/>
            <a:ext cx="4544378" cy="4402455"/>
            <a:chOff x="7114222" y="1524000"/>
            <a:chExt cx="4544378" cy="4402455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402455"/>
            </a:xfrm>
            <a:prstGeom prst="roundRect">
              <a:avLst>
                <a:gd name="adj" fmla="val 3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135755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说清建造者模式解决的是哪一类问题，以及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它与“多写几个构造函数”的差别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273177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画出标准类图，四个角色齐全，继承箭头指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向抽象建造者、组合菱形在建造者一端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3352800"/>
              <a:ext cx="35966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Java 写出产品、抽象建造者、具体建造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者、指挥者，并让客户端只依赖抽象层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5702" y="3973830"/>
              <a:ext cx="36537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解释“同样的构建过程可以创建不同的表示”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这句话在代码里对应哪两行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25702" y="459486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判断一段代码是完整的建造者、退化写法，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还是根本不该用建造者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建造者模式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6821424" cy="2997517"/>
            <a:chOff x="667512" y="1835468"/>
            <a:chExt cx="6821424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682142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动机：复杂对象不好一次造出来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6813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先看清部件多、顺序有依赖的对象为什么难构造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一辆汽车由部件装配而成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三种应对方式的代价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从工厂方法一步步演变到建造者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建造者模式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6609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6826" y="407194"/>
              <a:ext cx="29782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13 建造者 · 动机：复杂对象不好一次造出来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动机：用户要的是整车，不是一堆零件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9505950" cy="293370"/>
            <a:chOff x="525780" y="1548765"/>
            <a:chExt cx="950595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95059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汽车有车轮、方向盘、发动机等部件。买车的人不关心怎么装，只说要哪一款，拿到的是一辆能开走的车。</a:t>
              </a:r>
            </a:p>
          </p:txBody>
        </p:sp>
      </p:grpSp>
      <p:grpSp>
        <p:nvGrpSpPr>
          <p:cNvPr id="29" name="c1-flow-1"/>
          <p:cNvGrpSpPr/>
          <p:nvPr/>
        </p:nvGrpSpPr>
        <p:grpSpPr>
          <a:xfrm>
            <a:off x="666750" y="2062162"/>
            <a:ext cx="5359717" cy="1664970"/>
            <a:chOff x="666750" y="2062162"/>
            <a:chExt cx="5359717" cy="1664970"/>
          </a:xfrm>
        </p:grpSpPr>
        <p:sp>
          <p:nvSpPr>
            <p:cNvPr id="9" name="Freeform 9"/>
            <p:cNvSpPr/>
            <p:nvPr/>
          </p:nvSpPr>
          <p:spPr>
            <a:xfrm>
              <a:off x="1471612" y="2473642"/>
              <a:ext cx="1875472" cy="60008"/>
            </a:xfrm>
            <a:custGeom>
              <a:avLst/>
              <a:gdLst/>
              <a:ahLst/>
              <a:cxnLst/>
              <a:rect l="l" t="t" r="r" b="b"/>
              <a:pathLst>
                <a:path w="1875472" h="60008">
                  <a:moveTo>
                    <a:pt x="0" y="0"/>
                  </a:moveTo>
                  <a:lnTo>
                    <a:pt x="0" y="60008"/>
                  </a:lnTo>
                  <a:lnTo>
                    <a:pt x="1875472" y="60008"/>
                  </a:lnTo>
                  <a:lnTo>
                    <a:pt x="1875472" y="1428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294698" y="248793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275522" y="2894648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437448" y="284226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471612" y="3255645"/>
              <a:ext cx="1875472" cy="60008"/>
            </a:xfrm>
            <a:custGeom>
              <a:avLst/>
              <a:gdLst/>
              <a:ahLst/>
              <a:cxnLst/>
              <a:rect l="l" t="t" r="r" b="b"/>
              <a:pathLst>
                <a:path w="1875472" h="60008">
                  <a:moveTo>
                    <a:pt x="0" y="60008"/>
                  </a:moveTo>
                  <a:lnTo>
                    <a:pt x="0" y="0"/>
                  </a:lnTo>
                  <a:lnTo>
                    <a:pt x="1875472" y="0"/>
                  </a:lnTo>
                  <a:lnTo>
                    <a:pt x="1875472" y="4572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294698" y="319659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4150995" y="2894648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312920" y="284226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66750" y="2062162"/>
              <a:ext cx="1608772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666750" y="2688908"/>
              <a:ext cx="1608772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666750" y="3315652"/>
              <a:ext cx="1608772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2542222" y="2592705"/>
              <a:ext cx="1608772" cy="603885"/>
            </a:xfrm>
            <a:prstGeom prst="roundRect">
              <a:avLst>
                <a:gd name="adj" fmla="val 15773"/>
              </a:avLst>
            </a:prstGeom>
            <a:solidFill>
              <a:srgbClr val="EEEAF7"/>
            </a:solidFill>
            <a:ln w="19050">
              <a:solidFill>
                <a:srgbClr val="5B3FA0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4417695" y="2592705"/>
              <a:ext cx="1608772" cy="603885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303972" y="218408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车轮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223201" y="2810827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方向盘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223201" y="343757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发动机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807589" y="2707957"/>
              <a:ext cx="107899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装配过程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有顺序、有依赖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835462" y="2707957"/>
              <a:ext cx="77419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一辆可交付</a:t>
              </a:r>
              <a:br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的整车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111942" y="2366010"/>
              <a:ext cx="343852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147464" y="239029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交付</a:t>
              </a:r>
            </a:p>
          </p:txBody>
        </p:sp>
      </p:grpSp>
      <p:grpSp>
        <p:nvGrpSpPr>
          <p:cNvPr id="41" name="c1-card-2"/>
          <p:cNvGrpSpPr/>
          <p:nvPr/>
        </p:nvGrpSpPr>
        <p:grpSpPr>
          <a:xfrm>
            <a:off x="533400" y="4014788"/>
            <a:ext cx="5626418" cy="1632585"/>
            <a:chOff x="533400" y="4014788"/>
            <a:chExt cx="5626418" cy="1632585"/>
          </a:xfrm>
        </p:grpSpPr>
        <p:sp>
          <p:nvSpPr>
            <p:cNvPr id="30" name="Rectangle 30"/>
            <p:cNvSpPr/>
            <p:nvPr/>
          </p:nvSpPr>
          <p:spPr>
            <a:xfrm>
              <a:off x="533400" y="4014788"/>
              <a:ext cx="5626418" cy="1632585"/>
            </a:xfrm>
            <a:prstGeom prst="roundRect">
              <a:avLst>
                <a:gd name="adj" fmla="val 816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542925" y="4148138"/>
              <a:ext cx="47625" cy="136588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69620" y="4212908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61060" y="424719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对照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352931" y="4248626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把汽车换成软件对象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77240" y="4652010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33831" y="4591526"/>
              <a:ext cx="38376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整车对应复杂产品对象，部件对应对象的属性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77240" y="4969192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33831" y="4909661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装配部件对应按限制条件给属性赋值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77240" y="5287327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33831" y="5226844"/>
              <a:ext cx="44111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装配工作交给一个专门的对象，这个对象就是建造者</a:t>
              </a:r>
            </a:p>
          </p:txBody>
        </p:sp>
      </p:grpSp>
      <p:grpSp>
        <p:nvGrpSpPr>
          <p:cNvPr id="53" name="c2-card-1"/>
          <p:cNvGrpSpPr/>
          <p:nvPr/>
        </p:nvGrpSpPr>
        <p:grpSpPr>
          <a:xfrm>
            <a:off x="6464618" y="1954530"/>
            <a:ext cx="5193982" cy="2183130"/>
            <a:chOff x="6464618" y="1954530"/>
            <a:chExt cx="5193982" cy="2183130"/>
          </a:xfrm>
        </p:grpSpPr>
        <p:sp>
          <p:nvSpPr>
            <p:cNvPr id="42" name="Rectangle 42"/>
            <p:cNvSpPr/>
            <p:nvPr/>
          </p:nvSpPr>
          <p:spPr>
            <a:xfrm>
              <a:off x="6464618" y="1954530"/>
              <a:ext cx="5193982" cy="2183130"/>
            </a:xfrm>
            <a:prstGeom prst="roundRect">
              <a:avLst>
                <a:gd name="adj" fmla="val 610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474142" y="2087880"/>
              <a:ext cx="47625" cy="191643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700838" y="215265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792278" y="218694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284148" y="2187416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软件里的复杂对象也是这样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693598" y="2531269"/>
              <a:ext cx="45229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一个对象有一串成员属性，其中有些本身就是引用类型的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成员对象。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708458" y="3180398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865048" y="3120866"/>
              <a:ext cx="42200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某些属性不赋值，对象就不是一个能用的完整产品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708458" y="3498532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865048" y="3438049"/>
              <a:ext cx="460232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某些属性的赋值有先后：前一个没赋值，后一个赋不了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694742" y="3751898"/>
              <a:ext cx="45515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部件的组合过程很复杂，于是把它“外部化”到一个专门的对象里</a:t>
              </a:r>
            </a:p>
          </p:txBody>
        </p:sp>
      </p:grpSp>
      <p:grpSp>
        <p:nvGrpSpPr>
          <p:cNvPr id="60" name="c2-callout-2"/>
          <p:cNvGrpSpPr/>
          <p:nvPr/>
        </p:nvGrpSpPr>
        <p:grpSpPr>
          <a:xfrm>
            <a:off x="6464618" y="4317682"/>
            <a:ext cx="5193982" cy="1329690"/>
            <a:chOff x="6464618" y="4317682"/>
            <a:chExt cx="5193982" cy="1329690"/>
          </a:xfrm>
        </p:grpSpPr>
        <p:sp>
          <p:nvSpPr>
            <p:cNvPr id="54" name="Rectangle 54"/>
            <p:cNvSpPr/>
            <p:nvPr/>
          </p:nvSpPr>
          <p:spPr>
            <a:xfrm>
              <a:off x="6464618" y="4317682"/>
              <a:ext cx="5193982" cy="1329690"/>
            </a:xfrm>
            <a:prstGeom prst="roundRect">
              <a:avLst>
                <a:gd name="adj" fmla="val 859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6669405" y="4882515"/>
              <a:ext cx="200026" cy="200025"/>
              <a:chOff x="6669405" y="4882515"/>
              <a:chExt cx="200026" cy="200025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6669405" y="488251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709144" y="492696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6743859" y="503809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6971729" y="4752499"/>
              <a:ext cx="416229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建造者返还给客户端的是已经装配完毕的产品，客户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端不必知道它由哪些部件、按什么顺序拼出来。</a:t>
              </a:r>
            </a:p>
          </p:txBody>
        </p:sp>
      </p:grpSp>
      <p:grpSp>
        <p:nvGrpSpPr>
          <p:cNvPr id="66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61" name="Rectangle 61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738188" y="6011230"/>
              <a:ext cx="200023" cy="200023"/>
              <a:chOff x="738188" y="6011230"/>
              <a:chExt cx="200023" cy="200023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738188" y="601123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871538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1040511" y="6011704"/>
              <a:ext cx="72785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判断标准：构造一个对象需要多步、且步骤之间有顺序约束时，构造函数就撑不住了。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建造者模式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6609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6826" y="407194"/>
              <a:ext cx="29782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13 建造者 · 动机：复杂对象不好一次造出来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三种应对方式，只有第三种扛得住变化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012883" cy="308039"/>
            <a:chOff x="525399" y="1550194"/>
            <a:chExt cx="10012883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01288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陈伟老师课件把需求摊开看：要造多个对象、每个对象数据不同、子部件的数量、装配过程和算法都会变。</a:t>
              </a:r>
            </a:p>
          </p:txBody>
        </p:sp>
      </p:grpSp>
      <p:grpSp>
        <p:nvGrpSpPr>
          <p:cNvPr id="20" name="c1-bullets-1"/>
          <p:cNvGrpSpPr/>
          <p:nvPr/>
        </p:nvGrpSpPr>
        <p:grpSpPr>
          <a:xfrm>
            <a:off x="525780" y="1992630"/>
            <a:ext cx="3013710" cy="2026920"/>
            <a:chOff x="525780" y="1992630"/>
            <a:chExt cx="3013710" cy="2026920"/>
          </a:xfrm>
        </p:grpSpPr>
        <p:sp>
          <p:nvSpPr>
            <p:cNvPr id="9" name="TextBox 9"/>
            <p:cNvSpPr txBox="1"/>
            <p:nvPr/>
          </p:nvSpPr>
          <p:spPr>
            <a:xfrm>
              <a:off x="525780" y="199263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会变的有四处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9115" y="240982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97230" y="234696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不同对象的数据不同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9115" y="275463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97230" y="269176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复杂数据的生成算法变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9115" y="309943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97230" y="303657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子产品的数量变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9115" y="344424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97230" y="338137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子产品的装配过程变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9115" y="378904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97230" y="3726180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同一种产品要支持几套装配顺序</a:t>
              </a:r>
            </a:p>
          </p:txBody>
        </p:sp>
      </p:grpSp>
      <p:grpSp>
        <p:nvGrpSpPr>
          <p:cNvPr id="27" name="c1-card-2"/>
          <p:cNvGrpSpPr/>
          <p:nvPr/>
        </p:nvGrpSpPr>
        <p:grpSpPr>
          <a:xfrm>
            <a:off x="533400" y="4150995"/>
            <a:ext cx="4977765" cy="1497330"/>
            <a:chOff x="533400" y="4150995"/>
            <a:chExt cx="4977765" cy="1497330"/>
          </a:xfrm>
        </p:grpSpPr>
        <p:sp>
          <p:nvSpPr>
            <p:cNvPr id="21" name="Rectangle 21"/>
            <p:cNvSpPr/>
            <p:nvPr/>
          </p:nvSpPr>
          <p:spPr>
            <a:xfrm>
              <a:off x="533400" y="4150995"/>
              <a:ext cx="4977765" cy="1497330"/>
            </a:xfrm>
            <a:prstGeom prst="roundRect">
              <a:avLst>
                <a:gd name="adj" fmla="val 890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42925" y="4284345"/>
              <a:ext cx="47625" cy="123063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81050" y="436054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71258" y="439626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产品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382078" y="4395788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被构造的那个类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73430" y="4756785"/>
              <a:ext cx="41967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class Product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里放着复杂数据 1 到复杂数据 N，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每一项都可能是另一个对象。</a:t>
              </a:r>
            </a:p>
          </p:txBody>
        </p:sp>
      </p:grpSp>
      <p:grpSp>
        <p:nvGrpSpPr>
          <p:cNvPr id="39" name="c2-kv-1"/>
          <p:cNvGrpSpPr/>
          <p:nvPr/>
        </p:nvGrpSpPr>
        <p:grpSpPr>
          <a:xfrm>
            <a:off x="5808345" y="1992630"/>
            <a:ext cx="5850255" cy="2741295"/>
            <a:chOff x="5808345" y="1992630"/>
            <a:chExt cx="5850255" cy="2741295"/>
          </a:xfrm>
        </p:grpSpPr>
        <p:sp>
          <p:nvSpPr>
            <p:cNvPr id="28" name="TextBox 28"/>
            <p:cNvSpPr txBox="1"/>
            <p:nvPr/>
          </p:nvSpPr>
          <p:spPr>
            <a:xfrm>
              <a:off x="5808345" y="1992630"/>
              <a:ext cx="1408748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方式一 重载构造</a:t>
              </a:r>
              <a:br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函数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60945" y="1992630"/>
              <a:ext cx="3825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每多一种组合就多一个构造函数，参数越来越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长，改动落在 Product 身上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815965" y="259461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808345" y="2714625"/>
              <a:ext cx="1226344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方式二 派生</a:t>
              </a:r>
              <a:br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Product 子类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560945" y="2714625"/>
              <a:ext cx="3825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每种数据组合派生一个子类，子类数随组合数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激增，差别只在数据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815965" y="331660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808345" y="3436620"/>
              <a:ext cx="1408748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方式三 建造者模</a:t>
              </a:r>
              <a:br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式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560945" y="3436620"/>
              <a:ext cx="385381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把构建过程搬出去，Product 只管存数据，怎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么构建由别的类定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815965" y="403860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808345" y="415861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第三种为什么行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60945" y="4158615"/>
              <a:ext cx="379666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顺序变化和部件变化各有地方安放，Product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不再被牵动</a:t>
              </a:r>
            </a:p>
          </p:txBody>
        </p:sp>
      </p:grpSp>
      <p:grpSp>
        <p:nvGrpSpPr>
          <p:cNvPr id="45" name="c2-callout-2"/>
          <p:cNvGrpSpPr/>
          <p:nvPr/>
        </p:nvGrpSpPr>
        <p:grpSpPr>
          <a:xfrm>
            <a:off x="5815965" y="4865370"/>
            <a:ext cx="5842635" cy="782955"/>
            <a:chOff x="5815965" y="4865370"/>
            <a:chExt cx="5842635" cy="782955"/>
          </a:xfrm>
        </p:grpSpPr>
        <p:sp>
          <p:nvSpPr>
            <p:cNvPr id="40" name="Rectangle 40"/>
            <p:cNvSpPr/>
            <p:nvPr/>
          </p:nvSpPr>
          <p:spPr>
            <a:xfrm>
              <a:off x="5815965" y="4865370"/>
              <a:ext cx="5842635" cy="782955"/>
            </a:xfrm>
            <a:prstGeom prst="roundRect">
              <a:avLst>
                <a:gd name="adj" fmla="val 14599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6020753" y="5156837"/>
              <a:ext cx="200023" cy="200023"/>
              <a:chOff x="6020753" y="5156837"/>
              <a:chExt cx="200023" cy="200023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6020753" y="515683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154103" y="522351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6322695" y="5013960"/>
              <a:ext cx="48634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前两种都在往 Product 身上加东西，第三种把变化点移到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了 Product 外面。</a:t>
              </a:r>
            </a:p>
          </p:txBody>
        </p:sp>
      </p:grpSp>
      <p:grpSp>
        <p:nvGrpSpPr>
          <p:cNvPr id="52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6" name="Rectangle 46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1040130" y="5991225"/>
              <a:ext cx="80924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上面四处变化里，前两处落在建造者一侧，后两处落在指挥者一侧，下一页就把它们分开。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建造者模式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6609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6826" y="407194"/>
              <a:ext cx="29782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13 建造者 · 动机：复杂对象不好一次造出来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演变：从工厂方法里的大分支，到独立的建造者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8496300" cy="293370"/>
            <a:chOff x="525780" y="1548765"/>
            <a:chExt cx="849630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84963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先用工厂方法把创建集中起来，会得到一个越写越长的分支；再把每个分支搬进一个建造者类。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54530"/>
            <a:ext cx="5410200" cy="2776538"/>
            <a:chOff x="533400" y="1954530"/>
            <a:chExt cx="5410200" cy="2776538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5410200" cy="2776538"/>
            </a:xfrm>
            <a:prstGeom prst="roundRect">
              <a:avLst>
                <a:gd name="adj" fmla="val 343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06454"/>
              <a:ext cx="16204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演变一 · 工厂方法里的分支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416" y="2367915"/>
              <a:ext cx="3604451" cy="22903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ProductFactory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Product createProduct(String type)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"A"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.equals(type))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造 A 的子部件，按 A 的顺序装配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pa;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"B"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.equals(type))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B 的部件和顺序都不一样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pb;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throw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IllegalArgumentException(type);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9" name="c1-callout-2"/>
          <p:cNvGrpSpPr/>
          <p:nvPr/>
        </p:nvGrpSpPr>
        <p:grpSpPr>
          <a:xfrm>
            <a:off x="533400" y="4911090"/>
            <a:ext cx="5410200" cy="756285"/>
            <a:chOff x="533400" y="4911090"/>
            <a:chExt cx="5410200" cy="756285"/>
          </a:xfrm>
        </p:grpSpPr>
        <p:sp>
          <p:nvSpPr>
            <p:cNvPr id="13" name="Rectangle 13"/>
            <p:cNvSpPr/>
            <p:nvPr/>
          </p:nvSpPr>
          <p:spPr>
            <a:xfrm>
              <a:off x="533400" y="4911090"/>
              <a:ext cx="5410200" cy="756285"/>
            </a:xfrm>
            <a:prstGeom prst="roundRect">
              <a:avLst>
                <a:gd name="adj" fmla="val 1511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26129" y="5185528"/>
              <a:ext cx="224134" cy="192560"/>
              <a:chOff x="726129" y="5185528"/>
              <a:chExt cx="224134" cy="19256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838200" y="525589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726129" y="518552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38200" y="53336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40511" y="5058251"/>
              <a:ext cx="4387723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每一个分支里塞着一整套“造部件 + 装配”，新增一种就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要回来改这个方法。</a:t>
              </a:r>
            </a:p>
          </p:txBody>
        </p:sp>
      </p:grpSp>
      <p:grpSp>
        <p:nvGrpSpPr>
          <p:cNvPr id="24" name="c2-code-1"/>
          <p:cNvGrpSpPr/>
          <p:nvPr/>
        </p:nvGrpSpPr>
        <p:grpSpPr>
          <a:xfrm>
            <a:off x="6248400" y="1954530"/>
            <a:ext cx="5410200" cy="3533775"/>
            <a:chOff x="6248400" y="1954530"/>
            <a:chExt cx="5410200" cy="3533775"/>
          </a:xfrm>
        </p:grpSpPr>
        <p:sp>
          <p:nvSpPr>
            <p:cNvPr id="20" name="Rectangle 20"/>
            <p:cNvSpPr/>
            <p:nvPr/>
          </p:nvSpPr>
          <p:spPr>
            <a:xfrm>
              <a:off x="6248400" y="1954530"/>
              <a:ext cx="5410200" cy="3533775"/>
            </a:xfrm>
            <a:prstGeom prst="roundRect">
              <a:avLst>
                <a:gd name="adj" fmla="val 269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76797" y="2106454"/>
              <a:ext cx="16024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演变二 · 分支搬进 Builder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267450" y="4600575"/>
              <a:ext cx="5372100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76416" y="2367915"/>
              <a:ext cx="4704588" cy="30485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ProductBuilder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Product getProduct(String arg);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ProductBuilderXyz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ProductBuilder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Product getProduct(String arg)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原来的一个分支搬到这里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ProductFactory {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不再认识分支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Product createProduct(ProductBuilder b, String arg)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b.getProduct(arg);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1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25" name="Rectangle 25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738188" y="6011228"/>
              <a:ext cx="200026" cy="200026"/>
              <a:chOff x="738188" y="6011228"/>
              <a:chExt cx="200026" cy="200026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38188" y="601122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38200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27088" y="611124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040511" y="6011704"/>
              <a:ext cx="617218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更正：原课件两处把 </a:t>
              </a: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Product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拼成了 </a:t>
              </a: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Procduct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，这里按正确拼写写出。</a:t>
              </a:r>
            </a:p>
          </p:txBody>
        </p:sp>
      </p:grpSp>
      <p:grpSp>
        <p:nvGrpSpPr>
          <p:cNvPr id="3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2" name="TextBox 32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建造者模式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6609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6826" y="407194"/>
              <a:ext cx="29782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13 建造者 · 动机：复杂对象不好一次造出来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再切一刀：谁定顺序，谁造部件，分给两个类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8588420" cy="264033"/>
            <a:chOff x="526542" y="1545907"/>
            <a:chExt cx="8588420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85884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搬进 Builder 之后，一个类里仍然同时管着“子部件怎么造”和“按什么顺序装”。这是两个独立变化的维度。</a:t>
              </a:r>
            </a:p>
          </p:txBody>
        </p:sp>
      </p:grpSp>
      <p:grpSp>
        <p:nvGrpSpPr>
          <p:cNvPr id="31" name="c1-compare-1"/>
          <p:cNvGrpSpPr/>
          <p:nvPr/>
        </p:nvGrpSpPr>
        <p:grpSpPr>
          <a:xfrm>
            <a:off x="533400" y="1928812"/>
            <a:ext cx="4869180" cy="2081212"/>
            <a:chOff x="533400" y="1928812"/>
            <a:chExt cx="4869180" cy="2081212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2205990" cy="2081212"/>
            </a:xfrm>
            <a:prstGeom prst="roundRect">
              <a:avLst>
                <a:gd name="adj" fmla="val 640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62162"/>
              <a:ext cx="47625" cy="181451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51332" y="2137410"/>
              <a:ext cx="14141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Director 指挥者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66762" y="2510790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22782" y="245459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子部件的数量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66762" y="2810827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22782" y="275463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装配的先后顺序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66762" y="3110865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22782" y="30546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整体构建算法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66762" y="3411855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22782" y="3355658"/>
              <a:ext cx="154819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组合一个 Builder 引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196590" y="1928812"/>
              <a:ext cx="2205990" cy="2081212"/>
            </a:xfrm>
            <a:prstGeom prst="roundRect">
              <a:avLst>
                <a:gd name="adj" fmla="val 640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3206115" y="2062162"/>
              <a:ext cx="47625" cy="181451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414522" y="2137410"/>
              <a:ext cx="12610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Builder 建造者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3429952" y="2510790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585972" y="245459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每个子部件怎么造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3429952" y="2810827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585972" y="275463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部件用什么材料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3429952" y="3110865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585972" y="30546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返回装好的产品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2787015" y="2787968"/>
              <a:ext cx="361950" cy="3619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842070" y="2913698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分工</a:t>
              </a:r>
            </a:p>
          </p:txBody>
        </p:sp>
      </p:grpSp>
      <p:grpSp>
        <p:nvGrpSpPr>
          <p:cNvPr id="37" name="c1-callout-2"/>
          <p:cNvGrpSpPr/>
          <p:nvPr/>
        </p:nvGrpSpPr>
        <p:grpSpPr>
          <a:xfrm>
            <a:off x="533400" y="4179570"/>
            <a:ext cx="4869180" cy="1243965"/>
            <a:chOff x="533400" y="4179570"/>
            <a:chExt cx="4869180" cy="1243965"/>
          </a:xfrm>
        </p:grpSpPr>
        <p:sp>
          <p:nvSpPr>
            <p:cNvPr id="32" name="Rectangle 32"/>
            <p:cNvSpPr/>
            <p:nvPr/>
          </p:nvSpPr>
          <p:spPr>
            <a:xfrm>
              <a:off x="533400" y="4179570"/>
              <a:ext cx="4869180" cy="1243965"/>
            </a:xfrm>
            <a:prstGeom prst="roundRect">
              <a:avLst>
                <a:gd name="adj" fmla="val 9188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738188" y="4701542"/>
              <a:ext cx="200023" cy="200023"/>
              <a:chOff x="738188" y="4701542"/>
              <a:chExt cx="200023" cy="200023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738188" y="470154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71538" y="476821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040892" y="4583430"/>
              <a:ext cx="385419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两个维度各自派生子类，组合起来就能覆盖“顺序 ×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零件”的全部搭配。</a:t>
              </a:r>
            </a:p>
          </p:txBody>
        </p:sp>
      </p:grpSp>
      <p:grpSp>
        <p:nvGrpSpPr>
          <p:cNvPr id="42" name="c2-code-1"/>
          <p:cNvGrpSpPr/>
          <p:nvPr/>
        </p:nvGrpSpPr>
        <p:grpSpPr>
          <a:xfrm>
            <a:off x="5707380" y="1928812"/>
            <a:ext cx="5951220" cy="3495675"/>
            <a:chOff x="5707380" y="1928812"/>
            <a:chExt cx="5951220" cy="3495675"/>
          </a:xfrm>
        </p:grpSpPr>
        <p:sp>
          <p:nvSpPr>
            <p:cNvPr id="38" name="Rectangle 38"/>
            <p:cNvSpPr/>
            <p:nvPr/>
          </p:nvSpPr>
          <p:spPr>
            <a:xfrm>
              <a:off x="5707380" y="1928812"/>
              <a:ext cx="5951220" cy="3495675"/>
            </a:xfrm>
            <a:prstGeom prst="roundRect">
              <a:avLst>
                <a:gd name="adj" fmla="val 272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835777" y="2080736"/>
              <a:ext cx="17523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演变三、四 · 生成器模式成形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726430" y="3007042"/>
              <a:ext cx="5913120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835777" y="2340769"/>
              <a:ext cx="4247769" cy="30100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Director123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Director {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整体构建算法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父类 Director 里有 protected Builder builder;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Director123(Builder b)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super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(b);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makeProduct() {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固定的三步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builder.buildProduct();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builder.buildSubPartA();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builder.buildSubPartB();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BuilderXyz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Builder {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部件怎么造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buildProduct()  {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造主体 */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buildSubPartA() {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造部件 A */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buildSubPartB() {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造部件 B */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Product getProduct()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product;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49" name="takeaway"/>
          <p:cNvGrpSpPr/>
          <p:nvPr/>
        </p:nvGrpSpPr>
        <p:grpSpPr>
          <a:xfrm>
            <a:off x="533400" y="5633085"/>
            <a:ext cx="11125200" cy="729615"/>
            <a:chOff x="533400" y="5633085"/>
            <a:chExt cx="11125200" cy="729615"/>
          </a:xfrm>
        </p:grpSpPr>
        <p:sp>
          <p:nvSpPr>
            <p:cNvPr id="43" name="Rectangle 43"/>
            <p:cNvSpPr/>
            <p:nvPr/>
          </p:nvSpPr>
          <p:spPr>
            <a:xfrm>
              <a:off x="533400" y="5633085"/>
              <a:ext cx="11125200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5897880"/>
              <a:ext cx="200026" cy="200026"/>
              <a:chOff x="738188" y="5897880"/>
              <a:chExt cx="200026" cy="200026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589788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38200" y="59645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27088" y="599789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892" y="5779770"/>
              <a:ext cx="992352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更正：原课件里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makeProduct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声明带 Builder 参数，客户端却用构造函数注入再无参调用，两种注入方式混用；变量名 pDirector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也被写成 director。讲义统一成构造函数注入。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建造者模式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6609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6826" y="407194"/>
              <a:ext cx="29782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13 建造者 · 动机：复杂对象不好一次造出来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定义：构建与表示分离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566823" cy="264033"/>
            <a:chOff x="526542" y="1545907"/>
            <a:chExt cx="7566823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566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建造者模式又叫生成器模式、构造器模式（Builder Pattern），三个名字指的是同一个模式。</a:t>
              </a:r>
            </a:p>
          </p:txBody>
        </p:sp>
      </p:grpSp>
      <p:grpSp>
        <p:nvGrpSpPr>
          <p:cNvPr id="21" name="c1-card-1"/>
          <p:cNvGrpSpPr/>
          <p:nvPr/>
        </p:nvGrpSpPr>
        <p:grpSpPr>
          <a:xfrm>
            <a:off x="533400" y="1928812"/>
            <a:ext cx="5951220" cy="2103120"/>
            <a:chOff x="533400" y="1928812"/>
            <a:chExt cx="5951220" cy="2103120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951220" cy="2103120"/>
            </a:xfrm>
            <a:prstGeom prst="roundRect">
              <a:avLst>
                <a:gd name="adj" fmla="val 63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62162"/>
              <a:ext cx="47625" cy="1836420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58190" y="211550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0862" y="214836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23784" y="2150745"/>
              <a:ext cx="2728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建造者模式（Builder Pattern）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1332" y="2476500"/>
              <a:ext cx="53286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将一个复杂对象的构建与它的表示分离，使得同样的构建过程可以创建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不同的表示。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66762" y="3089910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2782" y="3033712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一步一步创建一个复杂的对象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66762" y="3389948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22782" y="3333750"/>
              <a:ext cx="4557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用户只需指定复杂对象的类型，不必知道内部的构建细节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66762" y="3689985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22782" y="3633788"/>
              <a:ext cx="37189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属于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对象创建型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模式，是 GoF 23 个模式之一</a:t>
              </a:r>
            </a:p>
          </p:txBody>
        </p:sp>
      </p:grpSp>
      <p:grpSp>
        <p:nvGrpSpPr>
          <p:cNvPr id="27" name="c1-card-2"/>
          <p:cNvGrpSpPr/>
          <p:nvPr/>
        </p:nvGrpSpPr>
        <p:grpSpPr>
          <a:xfrm>
            <a:off x="533400" y="4201478"/>
            <a:ext cx="5951220" cy="1459230"/>
            <a:chOff x="533400" y="4201478"/>
            <a:chExt cx="5951220" cy="1459230"/>
          </a:xfrm>
        </p:grpSpPr>
        <p:sp>
          <p:nvSpPr>
            <p:cNvPr id="22" name="Rectangle 22"/>
            <p:cNvSpPr/>
            <p:nvPr/>
          </p:nvSpPr>
          <p:spPr>
            <a:xfrm>
              <a:off x="533400" y="4201478"/>
              <a:ext cx="5951220" cy="1459230"/>
            </a:xfrm>
            <a:prstGeom prst="roundRect">
              <a:avLst>
                <a:gd name="adj" fmla="val 9138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20090" y="438816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12762" y="442102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本质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285684" y="442341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分离整体构建算法和部件构造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13232" y="4749165"/>
              <a:ext cx="5268659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构建一个复杂对象，本来就分成“构建的过程”和“过程中每一步的具体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实现”两部分。建造者模式把这两部分拆开，于是结构更松散、扩展更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容易。</a:t>
              </a:r>
            </a:p>
          </p:txBody>
        </p:sp>
      </p:grpSp>
      <p:grpSp>
        <p:nvGrpSpPr>
          <p:cNvPr id="30" name="c2-image-1"/>
          <p:cNvGrpSpPr/>
          <p:nvPr/>
        </p:nvGrpSpPr>
        <p:grpSpPr>
          <a:xfrm>
            <a:off x="6789420" y="1928812"/>
            <a:ext cx="4869180" cy="2378107"/>
            <a:chOff x="6789420" y="1928812"/>
            <a:chExt cx="4869180" cy="2378107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2"/>
            <a:srcRect l="0" t="21310" r="0" b="21309"/>
            <a:stretch>
              <a:fillRect/>
            </a:stretch>
          </p:blipFill>
          <p:spPr>
            <a:xfrm>
              <a:off x="6789420" y="1928812"/>
              <a:ext cx="4869180" cy="2095500"/>
            </a:xfrm>
            <a:prstGeom prst="roundRect">
              <a:avLst>
                <a:gd name="adj" fmla="val 6363"/>
              </a:avLst>
            </a:prstGeom>
          </p:spPr>
        </p:pic>
        <p:sp>
          <p:nvSpPr>
            <p:cNvPr id="29" name="TextBox 29"/>
            <p:cNvSpPr txBox="1"/>
            <p:nvPr/>
          </p:nvSpPr>
          <p:spPr>
            <a:xfrm>
              <a:off x="7965745" y="4116229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同一套工序，换一批零件就得到另一种成品</a:t>
              </a:r>
            </a:p>
          </p:txBody>
        </p:sp>
      </p:grpSp>
      <p:grpSp>
        <p:nvGrpSpPr>
          <p:cNvPr id="37" name="c2-callout-2"/>
          <p:cNvGrpSpPr/>
          <p:nvPr/>
        </p:nvGrpSpPr>
        <p:grpSpPr>
          <a:xfrm>
            <a:off x="6789420" y="4457700"/>
            <a:ext cx="4869180" cy="1203960"/>
            <a:chOff x="6789420" y="4457700"/>
            <a:chExt cx="4869180" cy="1203960"/>
          </a:xfrm>
        </p:grpSpPr>
        <p:sp>
          <p:nvSpPr>
            <p:cNvPr id="31" name="Rectangle 31"/>
            <p:cNvSpPr/>
            <p:nvPr/>
          </p:nvSpPr>
          <p:spPr>
            <a:xfrm>
              <a:off x="6789420" y="4457700"/>
              <a:ext cx="4869180" cy="1203960"/>
            </a:xfrm>
            <a:prstGeom prst="roundRect">
              <a:avLst>
                <a:gd name="adj" fmla="val 949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6994208" y="4959668"/>
              <a:ext cx="200026" cy="200025"/>
              <a:chOff x="6994208" y="4959668"/>
              <a:chExt cx="200026" cy="200025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6994208" y="495966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033946" y="500411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7068662" y="511524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7296912" y="4840605"/>
              <a:ext cx="399135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“同样的构建过程”对应 Director 的 construct()；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“不同的表示”对应换一个具体建造者。</a:t>
              </a:r>
            </a:p>
          </p:txBody>
        </p:sp>
      </p:grpSp>
      <p:grpSp>
        <p:nvGrpSpPr>
          <p:cNvPr id="43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38" name="Rectangle 38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040892" y="6028373"/>
              <a:ext cx="65562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这句定义里有两个主语：构建过程归指挥者，表示归建造者，二者可以自由搭配。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建造者模式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882896" cy="2997517"/>
            <a:chOff x="667512" y="1835468"/>
            <a:chExt cx="4882896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88289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结构、角色与标准代码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7928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四个角色各管一段，客户端只认抽象层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标准类图与四个角色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指挥者的两个作用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0021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调用时序与 Java 骨架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建造者模式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13 建造者 · 结构、角色与标准代码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结构：四个角色，两条关键连线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225583" cy="308039"/>
            <a:chOff x="525399" y="1550194"/>
            <a:chExt cx="10225583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22558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指挥者关联抽象建造者，抽象建造者组合产品；具体建造者继承抽象建造者，客户端只挑具体建造者的类型。</a:t>
              </a:r>
            </a:p>
          </p:txBody>
        </p:sp>
      </p:grpSp>
      <p:grpSp>
        <p:nvGrpSpPr>
          <p:cNvPr id="45" name="c1-uml-1"/>
          <p:cNvGrpSpPr/>
          <p:nvPr/>
        </p:nvGrpSpPr>
        <p:grpSpPr>
          <a:xfrm>
            <a:off x="709612" y="2184082"/>
            <a:ext cx="5650230" cy="3405188"/>
            <a:chOff x="709612" y="2184082"/>
            <a:chExt cx="5650230" cy="3405188"/>
          </a:xfrm>
        </p:grpSpPr>
        <p:sp>
          <p:nvSpPr>
            <p:cNvPr id="9" name="Freeform 9"/>
            <p:cNvSpPr/>
            <p:nvPr/>
          </p:nvSpPr>
          <p:spPr>
            <a:xfrm>
              <a:off x="2448878" y="3034665"/>
              <a:ext cx="369570" cy="9525"/>
            </a:xfrm>
            <a:custGeom>
              <a:avLst/>
              <a:gdLst/>
              <a:ahLst/>
              <a:cxnLst/>
              <a:rect l="l" t="t" r="r" b="b"/>
              <a:pathLst>
                <a:path w="369570" h="9525">
                  <a:moveTo>
                    <a:pt x="0" y="0"/>
                  </a:moveTo>
                  <a:lnTo>
                    <a:pt x="36957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713672" y="2976562"/>
              <a:ext cx="104775" cy="115253"/>
            </a:xfrm>
            <a:custGeom>
              <a:avLst/>
              <a:gdLst/>
              <a:ahLst/>
              <a:cxnLst/>
              <a:rect l="l" t="t" r="r" b="b"/>
              <a:pathLst>
                <a:path w="104775" h="115253">
                  <a:moveTo>
                    <a:pt x="0" y="115253"/>
                  </a:moveTo>
                  <a:lnTo>
                    <a:pt x="104775" y="58103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4733925" y="3034665"/>
              <a:ext cx="433388" cy="9525"/>
            </a:xfrm>
            <a:custGeom>
              <a:avLst/>
              <a:gdLst/>
              <a:ahLst/>
              <a:cxnLst/>
              <a:rect l="l" t="t" r="r" b="b"/>
              <a:pathLst>
                <a:path w="433388" h="9525">
                  <a:moveTo>
                    <a:pt x="433388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524375" y="2976562"/>
              <a:ext cx="209550" cy="115253"/>
            </a:xfrm>
            <a:custGeom>
              <a:avLst/>
              <a:gdLst/>
              <a:ahLst/>
              <a:cxnLst/>
              <a:rect l="l" t="t" r="r" b="b"/>
              <a:pathLst>
                <a:path w="209550" h="115253">
                  <a:moveTo>
                    <a:pt x="0" y="58103"/>
                  </a:moveTo>
                  <a:lnTo>
                    <a:pt x="104775" y="0"/>
                  </a:lnTo>
                  <a:lnTo>
                    <a:pt x="209550" y="58103"/>
                  </a:lnTo>
                  <a:lnTo>
                    <a:pt x="104775" y="115253"/>
                  </a:lnTo>
                  <a:close/>
                </a:path>
              </a:pathLst>
            </a:custGeom>
            <a:solidFill>
              <a:srgbClr val="1F2937"/>
            </a:solidFill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670935" y="3769995"/>
              <a:ext cx="9525" cy="978217"/>
            </a:xfrm>
            <a:custGeom>
              <a:avLst/>
              <a:gdLst/>
              <a:ahLst/>
              <a:cxnLst/>
              <a:rect l="l" t="t" r="r" b="b"/>
              <a:pathLst>
                <a:path w="9525" h="978217">
                  <a:moveTo>
                    <a:pt x="0" y="978217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597592" y="364426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709612" y="2614612"/>
              <a:ext cx="1739265" cy="84105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7232" y="2621280"/>
              <a:ext cx="1724978" cy="26479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09612" y="2881312"/>
              <a:ext cx="173926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09612" y="3165158"/>
              <a:ext cx="173926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2818448" y="2425065"/>
              <a:ext cx="1705928" cy="121920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2825115" y="2431732"/>
              <a:ext cx="1691640" cy="26479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2818448" y="2691765"/>
              <a:ext cx="170592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2818448" y="2976562"/>
              <a:ext cx="170592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167312" y="2614612"/>
              <a:ext cx="1192530" cy="84105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173980" y="2621280"/>
              <a:ext cx="1178242" cy="26479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167312" y="2881312"/>
              <a:ext cx="119253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167312" y="3354705"/>
              <a:ext cx="119253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2997518" y="4748212"/>
              <a:ext cx="1347788" cy="84105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3004185" y="4755832"/>
              <a:ext cx="1333500" cy="26479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2997518" y="5014912"/>
              <a:ext cx="134778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2997518" y="5110162"/>
              <a:ext cx="134778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242706" y="2678906"/>
              <a:ext cx="6730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Director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80478" y="2953702"/>
              <a:ext cx="12453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builder : Builder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80478" y="3237548"/>
              <a:ext cx="16986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construct() : Product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397901" y="2489359"/>
              <a:ext cx="5460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i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Builder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889313" y="2764155"/>
              <a:ext cx="13873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 product : Product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889313" y="3048952"/>
              <a:ext cx="1564196" cy="5844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buildPartA()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buildPartB()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getResult() : Product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450645" y="2678906"/>
              <a:ext cx="6258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Product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238179" y="2953702"/>
              <a:ext cx="1050798" cy="3949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partA : String</a:t>
              </a:r>
            </a:p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partB : String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047127" y="4812506"/>
              <a:ext cx="1247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ConcreteBuilder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068384" y="5182552"/>
              <a:ext cx="937451" cy="3949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buildPartA()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buildPartB()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2363152" y="2184082"/>
              <a:ext cx="541972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2391566" y="22107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builder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4541520" y="2818448"/>
              <a:ext cx="608648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567933" y="2845118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product</a:t>
              </a:r>
            </a:p>
          </p:txBody>
        </p:sp>
      </p:grpSp>
      <p:grpSp>
        <p:nvGrpSpPr>
          <p:cNvPr id="53" name="c2-bullets-1"/>
          <p:cNvGrpSpPr/>
          <p:nvPr/>
        </p:nvGrpSpPr>
        <p:grpSpPr>
          <a:xfrm>
            <a:off x="7106602" y="1992630"/>
            <a:ext cx="4510251" cy="1908810"/>
            <a:chOff x="7106602" y="1992630"/>
            <a:chExt cx="4510251" cy="1908810"/>
          </a:xfrm>
        </p:grpSpPr>
        <p:sp>
          <p:nvSpPr>
            <p:cNvPr id="46" name="TextBox 46"/>
            <p:cNvSpPr txBox="1"/>
            <p:nvPr/>
          </p:nvSpPr>
          <p:spPr>
            <a:xfrm>
              <a:off x="7106602" y="199263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读图要点</a:t>
              </a:r>
            </a:p>
          </p:txBody>
        </p:sp>
        <p:sp>
          <p:nvSpPr>
            <p:cNvPr id="47" name="Freeform 47"/>
            <p:cNvSpPr/>
            <p:nvPr/>
          </p:nvSpPr>
          <p:spPr>
            <a:xfrm>
              <a:off x="7114222" y="2378392"/>
              <a:ext cx="143828" cy="116205"/>
            </a:xfrm>
            <a:custGeom>
              <a:avLst/>
              <a:gdLst/>
              <a:ahLst/>
              <a:cxnLst/>
              <a:rect l="l" t="t" r="r" b="b"/>
              <a:pathLst>
                <a:path w="143828" h="116205">
                  <a:moveTo>
                    <a:pt x="0" y="61912"/>
                  </a:moveTo>
                  <a:lnTo>
                    <a:pt x="54293" y="116205"/>
                  </a:lnTo>
                  <a:lnTo>
                    <a:pt x="14382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364730" y="2346960"/>
              <a:ext cx="42521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空心三角在 Builder 一端，方向是子类指向父类</a:t>
              </a:r>
            </a:p>
          </p:txBody>
        </p:sp>
        <p:sp>
          <p:nvSpPr>
            <p:cNvPr id="49" name="Freeform 49"/>
            <p:cNvSpPr/>
            <p:nvPr/>
          </p:nvSpPr>
          <p:spPr>
            <a:xfrm>
              <a:off x="7114222" y="2723198"/>
              <a:ext cx="143828" cy="116205"/>
            </a:xfrm>
            <a:custGeom>
              <a:avLst/>
              <a:gdLst/>
              <a:ahLst/>
              <a:cxnLst/>
              <a:rect l="l" t="t" r="r" b="b"/>
              <a:pathLst>
                <a:path w="143828" h="116205">
                  <a:moveTo>
                    <a:pt x="0" y="61912"/>
                  </a:moveTo>
                  <a:lnTo>
                    <a:pt x="54293" y="116205"/>
                  </a:lnTo>
                  <a:lnTo>
                    <a:pt x="14382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364730" y="2691765"/>
              <a:ext cx="40062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实心菱形在 Builder 一端，产品是建造者造出来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并持有的</a:t>
              </a:r>
            </a:p>
          </p:txBody>
        </p:sp>
        <p:sp>
          <p:nvSpPr>
            <p:cNvPr id="51" name="Freeform 51"/>
            <p:cNvSpPr/>
            <p:nvPr/>
          </p:nvSpPr>
          <p:spPr>
            <a:xfrm>
              <a:off x="7114222" y="3353752"/>
              <a:ext cx="143828" cy="116205"/>
            </a:xfrm>
            <a:custGeom>
              <a:avLst/>
              <a:gdLst/>
              <a:ahLst/>
              <a:cxnLst/>
              <a:rect l="l" t="t" r="r" b="b"/>
              <a:pathLst>
                <a:path w="143828" h="116205">
                  <a:moveTo>
                    <a:pt x="0" y="61912"/>
                  </a:moveTo>
                  <a:lnTo>
                    <a:pt x="54293" y="116205"/>
                  </a:lnTo>
                  <a:lnTo>
                    <a:pt x="14382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364730" y="3322320"/>
              <a:ext cx="40347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Director 只认识抽象 Builder，不认识任何具体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建造者</a:t>
              </a:r>
            </a:p>
          </p:txBody>
        </p:sp>
      </p:grpSp>
      <p:grpSp>
        <p:nvGrpSpPr>
          <p:cNvPr id="61" name="c2-card-2"/>
          <p:cNvGrpSpPr/>
          <p:nvPr/>
        </p:nvGrpSpPr>
        <p:grpSpPr>
          <a:xfrm>
            <a:off x="7114222" y="4032885"/>
            <a:ext cx="4544378" cy="2203132"/>
            <a:chOff x="7114222" y="4032885"/>
            <a:chExt cx="4544378" cy="2203132"/>
          </a:xfrm>
        </p:grpSpPr>
        <p:sp>
          <p:nvSpPr>
            <p:cNvPr id="54" name="Rectangle 54"/>
            <p:cNvSpPr/>
            <p:nvPr/>
          </p:nvSpPr>
          <p:spPr>
            <a:xfrm>
              <a:off x="7114222" y="4032885"/>
              <a:ext cx="4544378" cy="2203132"/>
            </a:xfrm>
            <a:prstGeom prst="roundRect">
              <a:avLst>
                <a:gd name="adj" fmla="val 605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7123748" y="4166235"/>
              <a:ext cx="47625" cy="193643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7361872" y="42424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452081" y="42781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变体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961948" y="4277678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产品放在哪一端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354252" y="4638675"/>
              <a:ext cx="391096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课件把 </a:t>
              </a: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product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放在抽象建造者里，是最省事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的写法。也可以让每个具体建造者各自持有自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己的产品类型，抽象建造者只声明</a:t>
              </a:r>
              <a:br/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getResult()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355396" y="5826919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产品类型不同时必须用后一种写法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建造者模式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115437" cy="909257"/>
            <a:chOff x="520446" y="342900"/>
            <a:chExt cx="31154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13 建造者 · 结构、角色与标准代码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1154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四个角色分别管什么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kv-1"/>
          <p:cNvGrpSpPr/>
          <p:nvPr/>
        </p:nvGrpSpPr>
        <p:grpSpPr>
          <a:xfrm>
            <a:off x="526923" y="1545431"/>
            <a:ext cx="6066282" cy="2330577"/>
            <a:chOff x="526923" y="1545431"/>
            <a:chExt cx="6066282" cy="2330577"/>
          </a:xfrm>
        </p:grpSpPr>
        <p:sp>
          <p:nvSpPr>
            <p:cNvPr id="7" name="TextBox 7"/>
            <p:cNvSpPr txBox="1"/>
            <p:nvPr/>
          </p:nvSpPr>
          <p:spPr>
            <a:xfrm>
              <a:off x="526923" y="1545431"/>
              <a:ext cx="11145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Product 产品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344293" y="1545431"/>
              <a:ext cx="391439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被构建的复杂对象，包含多个组成部件，自己只提供存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取部件的方法，不负责装配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205644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6923" y="2158841"/>
              <a:ext cx="15402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Builder 抽象建造者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344293" y="2158841"/>
              <a:ext cx="391439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为创建产品对象的各个部件指定抽象接口，一般还提供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一个返回完整产品的方法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67081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6923" y="2772251"/>
              <a:ext cx="1549552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ConcreteBuilder 具</a:t>
              </a:r>
              <a:br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体建造者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344293" y="2772251"/>
              <a:ext cx="391439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实现抽象建造者接口，完成各部件的构造与装配，并明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确它所创建的那个复杂对象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328422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6923" y="3386614"/>
              <a:ext cx="13407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Director 指挥者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344293" y="3386614"/>
              <a:ext cx="326415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安排建造次序，与抽象建造者是关联关系，在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construct() 里依次调部件方法</a:t>
              </a:r>
            </a:p>
          </p:txBody>
        </p:sp>
      </p:grpSp>
      <p:grpSp>
        <p:nvGrpSpPr>
          <p:cNvPr id="25" name="c1-card-2"/>
          <p:cNvGrpSpPr/>
          <p:nvPr/>
        </p:nvGrpSpPr>
        <p:grpSpPr>
          <a:xfrm>
            <a:off x="533400" y="3990022"/>
            <a:ext cx="6059805" cy="1160145"/>
            <a:chOff x="533400" y="3990022"/>
            <a:chExt cx="6059805" cy="1160145"/>
          </a:xfrm>
        </p:grpSpPr>
        <p:sp>
          <p:nvSpPr>
            <p:cNvPr id="19" name="Rectangle 19"/>
            <p:cNvSpPr/>
            <p:nvPr/>
          </p:nvSpPr>
          <p:spPr>
            <a:xfrm>
              <a:off x="533400" y="3990022"/>
              <a:ext cx="6059805" cy="1160145"/>
            </a:xfrm>
            <a:prstGeom prst="roundRect">
              <a:avLst>
                <a:gd name="adj" fmla="val 114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42925" y="4123372"/>
              <a:ext cx="47625" cy="8934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52475" y="417099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45147" y="420385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318450" y="421052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客户端不算模式角色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45998" y="4526756"/>
              <a:ext cx="538556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GoF 的四个角色里没有 Client。客户端在本模式里只做两件事：挑一个具体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建造者，然后向指挥者要成品。</a:t>
              </a:r>
            </a:p>
          </p:txBody>
        </p:sp>
      </p:grpSp>
      <p:grpSp>
        <p:nvGrpSpPr>
          <p:cNvPr id="36" name="c2-card-1"/>
          <p:cNvGrpSpPr/>
          <p:nvPr/>
        </p:nvGrpSpPr>
        <p:grpSpPr>
          <a:xfrm>
            <a:off x="6898005" y="1524000"/>
            <a:ext cx="4760595" cy="1687830"/>
            <a:chOff x="6898005" y="1524000"/>
            <a:chExt cx="4760595" cy="1687830"/>
          </a:xfrm>
        </p:grpSpPr>
        <p:sp>
          <p:nvSpPr>
            <p:cNvPr id="26" name="Rectangle 26"/>
            <p:cNvSpPr/>
            <p:nvPr/>
          </p:nvSpPr>
          <p:spPr>
            <a:xfrm>
              <a:off x="6898005" y="1524000"/>
              <a:ext cx="4760595" cy="1687830"/>
            </a:xfrm>
            <a:prstGeom prst="roundRect">
              <a:avLst>
                <a:gd name="adj" fmla="val 7901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078980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170699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记住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44956" y="174450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指挥者类的两个作用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7078980" y="2049780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130887" y="2085404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348728" y="2061686"/>
              <a:ext cx="39143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隔离客户与生产过程。客户端只需要知道具体建造者的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类型，拿到的是成品。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078980" y="2578418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130887" y="261308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348728" y="2589371"/>
              <a:ext cx="34267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控制产品的生成过程。步骤的数量和顺序都写在</a:t>
              </a:r>
              <a:br/>
              <a:r>
                <a:rPr lang="en-US" sz="1280" dirty="0">
                  <a:solidFill>
                    <a:srgbClr val="EEEAF7"/>
                  </a:solidFill>
                  <a:latin typeface="+mn-lt"/>
                  <a:ea typeface="+mn-ea"/>
                  <a:cs typeface="+mn-cs"/>
                </a:rPr>
                <a:t>construct()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里。</a:t>
              </a:r>
            </a:p>
          </p:txBody>
        </p:sp>
      </p:grpSp>
      <p:grpSp>
        <p:nvGrpSpPr>
          <p:cNvPr id="51" name="c2-card-2"/>
          <p:cNvGrpSpPr/>
          <p:nvPr/>
        </p:nvGrpSpPr>
        <p:grpSpPr>
          <a:xfrm>
            <a:off x="6898005" y="3376612"/>
            <a:ext cx="4760595" cy="1773555"/>
            <a:chOff x="6898005" y="3376612"/>
            <a:chExt cx="4760595" cy="1773555"/>
          </a:xfrm>
        </p:grpSpPr>
        <p:sp>
          <p:nvSpPr>
            <p:cNvPr id="37" name="Rectangle 37"/>
            <p:cNvSpPr/>
            <p:nvPr/>
          </p:nvSpPr>
          <p:spPr>
            <a:xfrm>
              <a:off x="6898005" y="3376612"/>
              <a:ext cx="4760595" cy="1773555"/>
            </a:xfrm>
            <a:prstGeom prst="roundRect">
              <a:avLst>
                <a:gd name="adj" fmla="val 751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907530" y="3509962"/>
              <a:ext cx="47625" cy="150685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7117080" y="355758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208799" y="35904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83056" y="359806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三个一写就错的地方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7117080" y="3903345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168987" y="393896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386828" y="3914299"/>
              <a:ext cx="37518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抽象建造者里漏掉返回产品的方法，客户端拿不到成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品。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7117080" y="4431030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168987" y="4466654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386828" y="4441984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指挥者里出现具体建造者的类名，抽象层就白设了。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7117080" y="4715828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168987" y="475145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386828" y="4726781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把装配顺序写进具体建造者，换顺序又要改建造者。</a:t>
              </a:r>
            </a:p>
          </p:txBody>
        </p:sp>
      </p:grpSp>
      <p:grpSp>
        <p:nvGrpSpPr>
          <p:cNvPr id="57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2" name="Rectangle 52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1041273" y="6039326"/>
              <a:ext cx="72501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四个角色的分工可以这样记：产品只存数据，建造者管部件，指挥者管顺序，客户端只做选择。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建造者模式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13 建造者 · 结构、角色与标准代码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调用时序：客户端只出现在头尾两处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10132466" cy="293370"/>
            <a:chOff x="525780" y="1548765"/>
            <a:chExt cx="10132466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01324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中间那一段 buildPartA / buildPartB / buildPartC 全部由指挥者发出，客户端既不知道有几步，也不知道顺序。</a:t>
              </a:r>
            </a:p>
          </p:txBody>
        </p:sp>
      </p:grpSp>
      <p:grpSp>
        <p:nvGrpSpPr>
          <p:cNvPr id="42" name="c1-graph-1"/>
          <p:cNvGrpSpPr/>
          <p:nvPr/>
        </p:nvGrpSpPr>
        <p:grpSpPr>
          <a:xfrm>
            <a:off x="905828" y="2116455"/>
            <a:ext cx="5734049" cy="3861911"/>
            <a:chOff x="905828" y="2116455"/>
            <a:chExt cx="5734049" cy="3861911"/>
          </a:xfrm>
        </p:grpSpPr>
        <p:sp>
          <p:nvSpPr>
            <p:cNvPr id="9" name="Freeform 9"/>
            <p:cNvSpPr/>
            <p:nvPr/>
          </p:nvSpPr>
          <p:spPr>
            <a:xfrm>
              <a:off x="1349692" y="2375535"/>
              <a:ext cx="9525" cy="3399472"/>
            </a:xfrm>
            <a:custGeom>
              <a:avLst/>
              <a:gdLst/>
              <a:ahLst/>
              <a:cxnLst/>
              <a:rect l="l" t="t" r="r" b="b"/>
              <a:pathLst>
                <a:path w="9525" h="3399472">
                  <a:moveTo>
                    <a:pt x="0" y="0"/>
                  </a:moveTo>
                  <a:lnTo>
                    <a:pt x="0" y="3399472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0" name="Freeform 10"/>
            <p:cNvSpPr/>
            <p:nvPr/>
          </p:nvSpPr>
          <p:spPr>
            <a:xfrm>
              <a:off x="3670935" y="2375535"/>
              <a:ext cx="9525" cy="2858452"/>
            </a:xfrm>
            <a:custGeom>
              <a:avLst/>
              <a:gdLst/>
              <a:ahLst/>
              <a:cxnLst/>
              <a:rect l="l" t="t" r="r" b="b"/>
              <a:pathLst>
                <a:path w="9525" h="2858452">
                  <a:moveTo>
                    <a:pt x="0" y="0"/>
                  </a:moveTo>
                  <a:lnTo>
                    <a:pt x="0" y="2858452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1" name="Freeform 11"/>
            <p:cNvSpPr/>
            <p:nvPr/>
          </p:nvSpPr>
          <p:spPr>
            <a:xfrm>
              <a:off x="5993130" y="2375535"/>
              <a:ext cx="9525" cy="3399472"/>
            </a:xfrm>
            <a:custGeom>
              <a:avLst/>
              <a:gdLst/>
              <a:ahLst/>
              <a:cxnLst/>
              <a:rect l="l" t="t" r="r" b="b"/>
              <a:pathLst>
                <a:path w="9525" h="3399472">
                  <a:moveTo>
                    <a:pt x="0" y="0"/>
                  </a:moveTo>
                  <a:lnTo>
                    <a:pt x="0" y="3399472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2" name="Freeform 12"/>
            <p:cNvSpPr/>
            <p:nvPr/>
          </p:nvSpPr>
          <p:spPr>
            <a:xfrm>
              <a:off x="1387792" y="3036570"/>
              <a:ext cx="4471988" cy="9525"/>
            </a:xfrm>
            <a:custGeom>
              <a:avLst/>
              <a:gdLst/>
              <a:ahLst/>
              <a:cxnLst/>
              <a:rect l="l" t="t" r="r" b="b"/>
              <a:pathLst>
                <a:path w="4471988" h="9525">
                  <a:moveTo>
                    <a:pt x="0" y="0"/>
                  </a:moveTo>
                  <a:lnTo>
                    <a:pt x="447198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5859780" y="298894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1387792" y="3619500"/>
              <a:ext cx="2149792" cy="9525"/>
            </a:xfrm>
            <a:custGeom>
              <a:avLst/>
              <a:gdLst/>
              <a:ahLst/>
              <a:cxnLst/>
              <a:rect l="l" t="t" r="r" b="b"/>
              <a:pathLst>
                <a:path w="2149792" h="9525">
                  <a:moveTo>
                    <a:pt x="0" y="0"/>
                  </a:moveTo>
                  <a:lnTo>
                    <a:pt x="214979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537585" y="35718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1387792" y="4201478"/>
              <a:ext cx="2149792" cy="9525"/>
            </a:xfrm>
            <a:custGeom>
              <a:avLst/>
              <a:gdLst/>
              <a:ahLst/>
              <a:cxnLst/>
              <a:rect l="l" t="t" r="r" b="b"/>
              <a:pathLst>
                <a:path w="2149792" h="9525">
                  <a:moveTo>
                    <a:pt x="0" y="0"/>
                  </a:moveTo>
                  <a:lnTo>
                    <a:pt x="2149792" y="0"/>
                  </a:lnTo>
                </a:path>
              </a:pathLst>
            </a:custGeom>
            <a:noFill/>
            <a:ln w="17145">
              <a:solidFill>
                <a:srgbClr val="5B3FA0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3537585" y="415385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3FA0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3709035" y="4784408"/>
              <a:ext cx="2150745" cy="9525"/>
            </a:xfrm>
            <a:custGeom>
              <a:avLst/>
              <a:gdLst/>
              <a:ahLst/>
              <a:cxnLst/>
              <a:rect l="l" t="t" r="r" b="b"/>
              <a:pathLst>
                <a:path w="2150745" h="9525">
                  <a:moveTo>
                    <a:pt x="0" y="0"/>
                  </a:moveTo>
                  <a:lnTo>
                    <a:pt x="215074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5859780" y="473678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3709035" y="5325428"/>
              <a:ext cx="2150745" cy="9525"/>
            </a:xfrm>
            <a:custGeom>
              <a:avLst/>
              <a:gdLst/>
              <a:ahLst/>
              <a:cxnLst/>
              <a:rect l="l" t="t" r="r" b="b"/>
              <a:pathLst>
                <a:path w="2150745" h="9525">
                  <a:moveTo>
                    <a:pt x="0" y="0"/>
                  </a:moveTo>
                  <a:lnTo>
                    <a:pt x="215074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5859780" y="527780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1387792" y="5866448"/>
              <a:ext cx="4471988" cy="9525"/>
            </a:xfrm>
            <a:custGeom>
              <a:avLst/>
              <a:gdLst/>
              <a:ahLst/>
              <a:cxnLst/>
              <a:rect l="l" t="t" r="r" b="b"/>
              <a:pathLst>
                <a:path w="4471988" h="9525">
                  <a:moveTo>
                    <a:pt x="0" y="0"/>
                  </a:moveTo>
                  <a:lnTo>
                    <a:pt x="447198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5859780" y="581882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905828" y="2116455"/>
              <a:ext cx="886778" cy="259080"/>
            </a:xfrm>
            <a:prstGeom prst="roundRect">
              <a:avLst>
                <a:gd name="adj" fmla="val 36765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3190875" y="2116455"/>
              <a:ext cx="961072" cy="259080"/>
            </a:xfrm>
            <a:prstGeom prst="roundRect">
              <a:avLst>
                <a:gd name="adj" fmla="val 36765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46382" y="2116455"/>
              <a:ext cx="1293495" cy="259080"/>
            </a:xfrm>
            <a:prstGeom prst="roundRect">
              <a:avLst>
                <a:gd name="adj" fmla="val 36765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129833" y="2189798"/>
              <a:ext cx="43971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:Client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365100" y="2189798"/>
              <a:ext cx="61167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:Director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456437" y="2189798"/>
              <a:ext cx="107338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:ConcreteBuilder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3060382" y="2957512"/>
              <a:ext cx="122205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055218" y="2987516"/>
              <a:ext cx="123143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new ConcreteBuilder()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912620" y="3540442"/>
              <a:ext cx="119538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909872" y="3569494"/>
              <a:ext cx="119993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new Director(builder)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2157412" y="4123372"/>
              <a:ext cx="70580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171150" y="4152424"/>
              <a:ext cx="67737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construct()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476750" y="4705350"/>
              <a:ext cx="71151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486774" y="4735354"/>
              <a:ext cx="69051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buildPartA()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4099560" y="5246370"/>
              <a:ext cx="146685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082086" y="5276374"/>
              <a:ext cx="14998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buildPartB() … buildPartC()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3330892" y="5787390"/>
              <a:ext cx="680085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3344033" y="5816441"/>
              <a:ext cx="65380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getResult()</a:t>
              </a:r>
            </a:p>
          </p:txBody>
        </p:sp>
      </p:grpSp>
      <p:grpSp>
        <p:nvGrpSpPr>
          <p:cNvPr id="60" name="c2-steps-1"/>
          <p:cNvGrpSpPr/>
          <p:nvPr/>
        </p:nvGrpSpPr>
        <p:grpSpPr>
          <a:xfrm>
            <a:off x="7114222" y="1964055"/>
            <a:ext cx="4395902" cy="2411159"/>
            <a:chOff x="7114222" y="1964055"/>
            <a:chExt cx="4395902" cy="2411159"/>
          </a:xfrm>
        </p:grpSpPr>
        <p:sp>
          <p:nvSpPr>
            <p:cNvPr id="43" name="Rectangle 43"/>
            <p:cNvSpPr/>
            <p:nvPr/>
          </p:nvSpPr>
          <p:spPr>
            <a:xfrm>
              <a:off x="7247572" y="2106930"/>
              <a:ext cx="19050" cy="18621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7114222" y="1964055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207846" y="20378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7114222" y="2585085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207846" y="26589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7114222" y="3206115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207846" y="32799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7114222" y="3826192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207846" y="39000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526084" y="1996916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527226" y="2277428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客户端挑一个具体建造者并实例化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526084" y="2617946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527226" y="2898457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把它交给指挥者，指挥者只按抽象接口用它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526084" y="3238976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527226" y="3519488"/>
              <a:ext cx="39828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 construct()，指挥者按固定次序逐个调 buildXxx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526084" y="3860006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527226" y="4140518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取回装配完毕的产品对象</a:t>
              </a:r>
            </a:p>
          </p:txBody>
        </p:sp>
      </p:grpSp>
      <p:grpSp>
        <p:nvGrpSpPr>
          <p:cNvPr id="67" name="c2-card-2"/>
          <p:cNvGrpSpPr/>
          <p:nvPr/>
        </p:nvGrpSpPr>
        <p:grpSpPr>
          <a:xfrm>
            <a:off x="7114222" y="4551045"/>
            <a:ext cx="4544378" cy="1564958"/>
            <a:chOff x="7114222" y="4551045"/>
            <a:chExt cx="4544378" cy="1564958"/>
          </a:xfrm>
        </p:grpSpPr>
        <p:sp>
          <p:nvSpPr>
            <p:cNvPr id="61" name="Rectangle 61"/>
            <p:cNvSpPr/>
            <p:nvPr/>
          </p:nvSpPr>
          <p:spPr>
            <a:xfrm>
              <a:off x="7114222" y="4551045"/>
              <a:ext cx="4544378" cy="1564958"/>
            </a:xfrm>
            <a:prstGeom prst="roundRect">
              <a:avLst>
                <a:gd name="adj" fmla="val 85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7123748" y="4684395"/>
              <a:ext cx="47625" cy="129825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7356158" y="475488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446366" y="479059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对照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956614" y="4794409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换产品时改哪一行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348918" y="5146834"/>
              <a:ext cx="3900805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只有第一步那一行 </a:t>
              </a: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new ConcreteBuilder()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会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变，后面三步一字不动。这就是“同样的构建过程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创建不同的表示”。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建造者模式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13 建造者 · 结构、角色与标准代码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代码骨架（一）：产品与抽象建造者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8373618" cy="264033"/>
            <a:chOff x="526542" y="1545907"/>
            <a:chExt cx="8373618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83736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产品类只放部件和存取方法，装配逻辑一行都不写；抽象建造者声明造哪些部件，并负责把成品交出去。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28812"/>
            <a:ext cx="5410200" cy="2967990"/>
            <a:chOff x="533400" y="1928812"/>
            <a:chExt cx="5410200" cy="2967990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2967990"/>
            </a:xfrm>
            <a:prstGeom prst="roundRect">
              <a:avLst>
                <a:gd name="adj" fmla="val 320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9719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Product · 产品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797" y="2340769"/>
              <a:ext cx="4253992" cy="24814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Product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partA;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部件可以是任意类型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partB;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partC;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setPartA(String partA)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.partA = partA;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setPartB(String partB)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.partB = partB;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setPartC(String partC)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.partC = partC;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toString()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partA +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 | 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partB +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 | 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partC;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9" name="c1-card-2"/>
          <p:cNvGrpSpPr/>
          <p:nvPr/>
        </p:nvGrpSpPr>
        <p:grpSpPr>
          <a:xfrm>
            <a:off x="533400" y="5066348"/>
            <a:ext cx="5410200" cy="1202055"/>
            <a:chOff x="533400" y="5066348"/>
            <a:chExt cx="5410200" cy="1202055"/>
          </a:xfrm>
        </p:grpSpPr>
        <p:sp>
          <p:nvSpPr>
            <p:cNvPr id="13" name="Rectangle 13"/>
            <p:cNvSpPr/>
            <p:nvPr/>
          </p:nvSpPr>
          <p:spPr>
            <a:xfrm>
              <a:off x="533400" y="5066348"/>
              <a:ext cx="5410200" cy="1202055"/>
            </a:xfrm>
            <a:prstGeom prst="roundRect">
              <a:avLst>
                <a:gd name="adj" fmla="val 110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5199698"/>
              <a:ext cx="47625" cy="93535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58190" y="525303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50862" y="528589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提示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23784" y="5288280"/>
              <a:ext cx="21410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toString 只是为了看结果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1332" y="5614035"/>
              <a:ext cx="462572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真实项目里产品类还会有业务方法。这里只留 setter 和一个</a:t>
              </a:r>
              <a:br/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toString()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，方便下一页直接打印结果。</a:t>
              </a:r>
            </a:p>
          </p:txBody>
        </p:sp>
      </p:grpSp>
      <p:grpSp>
        <p:nvGrpSpPr>
          <p:cNvPr id="24" name="c2-code-1"/>
          <p:cNvGrpSpPr/>
          <p:nvPr/>
        </p:nvGrpSpPr>
        <p:grpSpPr>
          <a:xfrm>
            <a:off x="6248400" y="1928812"/>
            <a:ext cx="5410200" cy="2440305"/>
            <a:chOff x="6248400" y="1928812"/>
            <a:chExt cx="5410200" cy="2440305"/>
          </a:xfrm>
        </p:grpSpPr>
        <p:sp>
          <p:nvSpPr>
            <p:cNvPr id="20" name="Rectangle 20"/>
            <p:cNvSpPr/>
            <p:nvPr/>
          </p:nvSpPr>
          <p:spPr>
            <a:xfrm>
              <a:off x="6248400" y="1928812"/>
              <a:ext cx="5410200" cy="2440305"/>
            </a:xfrm>
            <a:prstGeom prst="roundRect">
              <a:avLst>
                <a:gd name="adj" fmla="val 390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76797" y="2080736"/>
              <a:ext cx="12979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Builder · 抽象建造者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267450" y="3534728"/>
              <a:ext cx="5372100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76797" y="2340769"/>
              <a:ext cx="4098417" cy="19528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Builder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protected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Product product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Product();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buildPartA();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只说造哪些部件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buildPartB();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buildPartC();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Product getResult() {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交出完整产品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product;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6248400" y="4538662"/>
            <a:ext cx="5410200" cy="1729740"/>
            <a:chOff x="6248400" y="4538662"/>
            <a:chExt cx="5410200" cy="1729740"/>
          </a:xfrm>
        </p:grpSpPr>
        <p:sp>
          <p:nvSpPr>
            <p:cNvPr id="25" name="Rectangle 25"/>
            <p:cNvSpPr/>
            <p:nvPr/>
          </p:nvSpPr>
          <p:spPr>
            <a:xfrm>
              <a:off x="6248400" y="4538662"/>
              <a:ext cx="5410200" cy="1729740"/>
            </a:xfrm>
            <a:prstGeom prst="roundRect">
              <a:avLst>
                <a:gd name="adj" fmla="val 77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257925" y="4672012"/>
              <a:ext cx="47625" cy="146304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473190" y="4725352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561811" y="475821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为什么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163562" y="4760595"/>
              <a:ext cx="26094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getResult 为什么写在抽象类里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66332" y="5086350"/>
              <a:ext cx="48143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写在抽象建造者里，客户端不必知道具体建造者的类型也能取到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产品；指挥者也才能用一行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builder.getResult()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把成品转交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出去。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67475" y="5897404"/>
              <a:ext cx="39315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各具体建造者的产品类型不同时，才把它下放到具体建造者</a:t>
              </a:r>
            </a:p>
          </p:txBody>
        </p:sp>
      </p:grpSp>
      <p:grpSp>
        <p:nvGrpSpPr>
          <p:cNvPr id="3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3" name="TextBox 33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建造者模式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13 建造者 · 结构、角色与标准代码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代码骨架（二）：具体建造者与指挥者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626418" cy="2586990"/>
            <a:chOff x="533400" y="1524000"/>
            <a:chExt cx="5626418" cy="258699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586990"/>
            </a:xfrm>
            <a:prstGeom prst="roundRect">
              <a:avLst>
                <a:gd name="adj" fmla="val 36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9117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ConcreteBuilder · 具体建造者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416" y="1937385"/>
              <a:ext cx="4117848" cy="21008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ConcreteBuilder1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Builder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buildPartA() { product.setPartA(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"A1"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buildPartB() { product.setPartB(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"B1"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buildPartC() { product.setPartC(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"C1"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ConcreteBuilder2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Builder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buildPartA() { product.setPartA(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"A2"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buildPartB() { product.setPartB(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"B2"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buildPartC() { product.setPartC(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"C2"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7" name="c1-card-2"/>
          <p:cNvGrpSpPr/>
          <p:nvPr/>
        </p:nvGrpSpPr>
        <p:grpSpPr>
          <a:xfrm>
            <a:off x="533400" y="4291012"/>
            <a:ext cx="5626418" cy="1268730"/>
            <a:chOff x="533400" y="4291012"/>
            <a:chExt cx="5626418" cy="1268730"/>
          </a:xfrm>
        </p:grpSpPr>
        <p:sp>
          <p:nvSpPr>
            <p:cNvPr id="11" name="Rectangle 11"/>
            <p:cNvSpPr/>
            <p:nvPr/>
          </p:nvSpPr>
          <p:spPr>
            <a:xfrm>
              <a:off x="533400" y="4291012"/>
              <a:ext cx="5626418" cy="1268730"/>
            </a:xfrm>
            <a:prstGeom prst="roundRect">
              <a:avLst>
                <a:gd name="adj" fmla="val 105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42925" y="4424362"/>
              <a:ext cx="47625" cy="100203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69620" y="448913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1060" y="452342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对照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52931" y="4524851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两个具体建造者的唯一差别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381" y="4867751"/>
              <a:ext cx="48836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差别只在每一步装进去的内容上。装几步、先装哪一步，它们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都管不着，那是指挥者的事。</a:t>
              </a:r>
            </a:p>
          </p:txBody>
        </p:sp>
      </p:grpSp>
      <p:grpSp>
        <p:nvGrpSpPr>
          <p:cNvPr id="22" name="c2-code-1"/>
          <p:cNvGrpSpPr/>
          <p:nvPr/>
        </p:nvGrpSpPr>
        <p:grpSpPr>
          <a:xfrm>
            <a:off x="6464618" y="1524000"/>
            <a:ext cx="5193982" cy="3533775"/>
            <a:chOff x="6464618" y="1524000"/>
            <a:chExt cx="5193982" cy="3533775"/>
          </a:xfrm>
        </p:grpSpPr>
        <p:sp>
          <p:nvSpPr>
            <p:cNvPr id="18" name="Rectangle 18"/>
            <p:cNvSpPr/>
            <p:nvPr/>
          </p:nvSpPr>
          <p:spPr>
            <a:xfrm>
              <a:off x="6464618" y="1524000"/>
              <a:ext cx="5193982" cy="3533775"/>
            </a:xfrm>
            <a:prstGeom prst="roundRect">
              <a:avLst>
                <a:gd name="adj" fmla="val 269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593015" y="1675924"/>
              <a:ext cx="11450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Director · 指挥者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483668" y="3033712"/>
              <a:ext cx="5155882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92634" y="1937385"/>
              <a:ext cx="4704588" cy="30485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Director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Builder builder;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Director(Builder builder) {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.builder = builder;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setBuilder(Builder builder)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.builder = builder;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原课件此处拼成 builer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Product construct() {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同样的构建过程 */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builder.buildPartA();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builder.buildPartB();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builder.buildPartC();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builder.getResult();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9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23" name="Rectangle 23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738188" y="6011228"/>
              <a:ext cx="200026" cy="200026"/>
              <a:chOff x="738188" y="6011228"/>
              <a:chExt cx="200026" cy="200026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738188" y="601122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38200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27088" y="611124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040511" y="6011704"/>
              <a:ext cx="1026329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更正：张欣佳课件第 11 页 </a:t>
              </a: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setBuilder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里写成 </a:t>
              </a: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this.builder = builer;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，少了一个字母，Java 里会直接报“找不到符号”。</a:t>
              </a:r>
            </a:p>
          </p:txBody>
        </p:sp>
      </p:grpSp>
      <p:grpSp>
        <p:nvGrpSpPr>
          <p:cNvPr id="3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0" name="TextBox 30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建造者模式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13 建造者 · 结构、角色与标准代码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客户端：换一个建造者，装配过程一字不改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9172766" cy="293370"/>
            <a:chOff x="525780" y="1548765"/>
            <a:chExt cx="9172766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91727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把两个具体建造者先后交给同一个指挥者，construct() 里的三行代码完全相同，结果却是两个产品。</a:t>
              </a:r>
            </a:p>
          </p:txBody>
        </p:sp>
      </p:grpSp>
      <p:grpSp>
        <p:nvGrpSpPr>
          <p:cNvPr id="14" name="c1-code-1"/>
          <p:cNvGrpSpPr/>
          <p:nvPr/>
        </p:nvGrpSpPr>
        <p:grpSpPr>
          <a:xfrm>
            <a:off x="533400" y="1954530"/>
            <a:ext cx="5626418" cy="2776538"/>
            <a:chOff x="533400" y="1954530"/>
            <a:chExt cx="5626418" cy="2776538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5626418" cy="2776538"/>
            </a:xfrm>
            <a:prstGeom prst="roundRect">
              <a:avLst>
                <a:gd name="adj" fmla="val 343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06454"/>
              <a:ext cx="9580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Client · 客户端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2707005"/>
              <a:ext cx="5588318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52450" y="3653790"/>
              <a:ext cx="5588318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61416" y="2367915"/>
              <a:ext cx="3824478" cy="22903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Client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Builder b1 =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ConcreteBuilder1();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Director director =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Director(b1);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Product p1 = director.construct();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System.out.println(p1);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director.setBuilder(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ConcreteBuilder2());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Product p2 = director.construct();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System.out.println(p2);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1" name="c1-card-2"/>
          <p:cNvGrpSpPr/>
          <p:nvPr/>
        </p:nvGrpSpPr>
        <p:grpSpPr>
          <a:xfrm>
            <a:off x="533400" y="4911090"/>
            <a:ext cx="5626418" cy="1268730"/>
            <a:chOff x="533400" y="4911090"/>
            <a:chExt cx="5626418" cy="1268730"/>
          </a:xfrm>
        </p:grpSpPr>
        <p:sp>
          <p:nvSpPr>
            <p:cNvPr id="15" name="Rectangle 15"/>
            <p:cNvSpPr/>
            <p:nvPr/>
          </p:nvSpPr>
          <p:spPr>
            <a:xfrm>
              <a:off x="533400" y="4911090"/>
              <a:ext cx="5626418" cy="1268730"/>
            </a:xfrm>
            <a:prstGeom prst="roundRect">
              <a:avLst>
                <a:gd name="adj" fmla="val 105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5044440"/>
              <a:ext cx="47625" cy="100203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69620" y="510921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61060" y="51435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读法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52931" y="5143976"/>
              <a:ext cx="322215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8 行为什么要 new 一个新的建造者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381" y="5487829"/>
              <a:ext cx="491070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指挥者换引用就行，建造者不行。</a:t>
              </a: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product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是建造者的字段，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沿用旧的建造者会把第二次装配装到同一个产品上。</a:t>
              </a:r>
            </a:p>
          </p:txBody>
        </p:sp>
      </p:grpSp>
      <p:grpSp>
        <p:nvGrpSpPr>
          <p:cNvPr id="43" name="c2-table-1"/>
          <p:cNvGrpSpPr/>
          <p:nvPr/>
        </p:nvGrpSpPr>
        <p:grpSpPr>
          <a:xfrm>
            <a:off x="6459284" y="1954530"/>
            <a:ext cx="5199316" cy="1977961"/>
            <a:chOff x="6459284" y="1954530"/>
            <a:chExt cx="5199316" cy="1977961"/>
          </a:xfrm>
        </p:grpSpPr>
        <p:sp>
          <p:nvSpPr>
            <p:cNvPr id="22" name="Rectangle 22"/>
            <p:cNvSpPr/>
            <p:nvPr/>
          </p:nvSpPr>
          <p:spPr>
            <a:xfrm>
              <a:off x="6464618" y="1954530"/>
              <a:ext cx="5193982" cy="42481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840093" y="208311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执行到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39709" y="2083118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调用的方法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232517" y="2083118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产品当前内容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567106" y="2506980"/>
              <a:ext cx="5303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5 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813929" y="2506980"/>
              <a:ext cx="13947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buildPartA / B / C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891331" y="2506980"/>
              <a:ext cx="8827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A1 | B1 | C1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464618" y="279844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464618" y="2803208"/>
              <a:ext cx="5193982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67106" y="2931795"/>
              <a:ext cx="5303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6 行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813929" y="2931795"/>
              <a:ext cx="8662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toString()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891331" y="2931795"/>
              <a:ext cx="12569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打印 A1 | B1 | C1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464618" y="322326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567106" y="3356610"/>
              <a:ext cx="5303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9 行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813929" y="33566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同样的三个方法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9798368" y="3237548"/>
              <a:ext cx="1850708" cy="40576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891331" y="3356610"/>
              <a:ext cx="8827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A2 | B2 | C2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464618" y="1954530"/>
              <a:ext cx="5193982" cy="1697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7706678" y="1954530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9784080" y="1954530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459284" y="3727132"/>
              <a:ext cx="30214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 3 行和第 8 行是全程唯一出现具体类名的地方</a:t>
              </a:r>
            </a:p>
          </p:txBody>
        </p:sp>
      </p:grpSp>
      <p:grpSp>
        <p:nvGrpSpPr>
          <p:cNvPr id="48" name="c2-card-2"/>
          <p:cNvGrpSpPr/>
          <p:nvPr/>
        </p:nvGrpSpPr>
        <p:grpSpPr>
          <a:xfrm>
            <a:off x="6464618" y="4070985"/>
            <a:ext cx="5193982" cy="2108835"/>
            <a:chOff x="6464618" y="4070985"/>
            <a:chExt cx="5193982" cy="2108835"/>
          </a:xfrm>
        </p:grpSpPr>
        <p:sp>
          <p:nvSpPr>
            <p:cNvPr id="44" name="Rectangle 44"/>
            <p:cNvSpPr/>
            <p:nvPr/>
          </p:nvSpPr>
          <p:spPr>
            <a:xfrm>
              <a:off x="6464618" y="4070985"/>
              <a:ext cx="5193982" cy="2108835"/>
            </a:xfrm>
            <a:prstGeom prst="roundRect">
              <a:avLst>
                <a:gd name="adj" fmla="val 6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474142" y="4204335"/>
              <a:ext cx="47625" cy="184213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693598" y="4292441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两处独立的可替换点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693598" y="4628674"/>
              <a:ext cx="455904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换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建造者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得到不同的表示；换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指挥者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得到不同的装配顺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序。两者互不影响，可以自由组合。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建造者模式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219319" cy="2997517"/>
            <a:chOff x="667512" y="1835468"/>
            <a:chExt cx="5219319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课件中的四个实例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2094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从 KFC 套餐到游戏地图，看它在真实代码里长什么样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448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KFC 套餐的完整实现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7240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JavaMail 邮件构造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迷宫与游戏地图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建造者模式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627703" cy="909257"/>
            <a:chOff x="520446" y="342900"/>
            <a:chExt cx="562770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13 建造者 · 课件中的四个实例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62770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实例一：KFC 套餐是怎么“建”出来的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10372725" cy="264033"/>
            <a:chOff x="526542" y="1545907"/>
            <a:chExt cx="10372725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103727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套餐是一个复杂对象，一般包含主食（汉堡、鸡肉卷）和饮料（果汁、可乐）。服务员按顾客要求一步步装配，最后端出一整份。</a:t>
              </a:r>
            </a:p>
          </p:txBody>
        </p:sp>
      </p:grpSp>
      <p:grpSp>
        <p:nvGrpSpPr>
          <p:cNvPr id="11" name="c1-image-1"/>
          <p:cNvGrpSpPr/>
          <p:nvPr/>
        </p:nvGrpSpPr>
        <p:grpSpPr>
          <a:xfrm>
            <a:off x="533400" y="1928812"/>
            <a:ext cx="4977765" cy="2260949"/>
            <a:chOff x="533400" y="1928812"/>
            <a:chExt cx="4977765" cy="2260949"/>
          </a:xfrm>
        </p:grpSpPr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2"/>
            <a:srcRect l="0" t="23504" r="0" b="23505"/>
            <a:stretch>
              <a:fillRect/>
            </a:stretch>
          </p:blipFill>
          <p:spPr>
            <a:xfrm>
              <a:off x="533400" y="1928812"/>
              <a:ext cx="4977765" cy="1978342"/>
            </a:xfrm>
            <a:prstGeom prst="roundRect">
              <a:avLst>
                <a:gd name="adj" fmla="val 6740"/>
              </a:avLst>
            </a:prstGeom>
          </p:spPr>
        </p:pic>
        <p:sp>
          <p:nvSpPr>
            <p:cNvPr id="10" name="TextBox 10"/>
            <p:cNvSpPr txBox="1"/>
            <p:nvPr/>
          </p:nvSpPr>
          <p:spPr>
            <a:xfrm>
              <a:off x="1104379" y="3999071"/>
              <a:ext cx="383580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服务员按固定次序往同一个托盘里装，换一份配方就是另一种套餐</a:t>
              </a:r>
            </a:p>
          </p:txBody>
        </p:sp>
      </p:grpSp>
      <p:grpSp>
        <p:nvGrpSpPr>
          <p:cNvPr id="23" name="c1-kv-2"/>
          <p:cNvGrpSpPr/>
          <p:nvPr/>
        </p:nvGrpSpPr>
        <p:grpSpPr>
          <a:xfrm>
            <a:off x="526542" y="4362450"/>
            <a:ext cx="4984623" cy="1949006"/>
            <a:chOff x="526542" y="4362450"/>
            <a:chExt cx="4984623" cy="1949006"/>
          </a:xfrm>
        </p:grpSpPr>
        <p:sp>
          <p:nvSpPr>
            <p:cNvPr id="12" name="TextBox 12"/>
            <p:cNvSpPr txBox="1"/>
            <p:nvPr/>
          </p:nvSpPr>
          <p:spPr>
            <a:xfrm>
              <a:off x="526542" y="4362450"/>
              <a:ext cx="4297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Meal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219134" y="4362450"/>
              <a:ext cx="29033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产品，只有 food 和 drink 两个部件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464915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6542" y="4754880"/>
              <a:ext cx="10740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MealBuilder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219134" y="4754880"/>
              <a:ext cx="2422588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抽象建造者，声明 buildFood 与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buildDrink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529494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26542" y="5401628"/>
              <a:ext cx="1399889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SubMealBuilderA</a:t>
              </a:r>
              <a:br/>
              <a:r>
                <a:rPr lang="en-US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/B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219134" y="5401628"/>
              <a:ext cx="25786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两份具体配方，A 套餐与 B 套餐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594169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26542" y="6047423"/>
              <a:ext cx="9722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KFCWaiter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219134" y="6047423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指挥者，服务员决定先主食后饮料</a:t>
              </a:r>
            </a:p>
          </p:txBody>
        </p:sp>
      </p:grpSp>
      <p:grpSp>
        <p:nvGrpSpPr>
          <p:cNvPr id="68" name="c2-uml-1"/>
          <p:cNvGrpSpPr/>
          <p:nvPr/>
        </p:nvGrpSpPr>
        <p:grpSpPr>
          <a:xfrm>
            <a:off x="6118860" y="2083118"/>
            <a:ext cx="5163502" cy="2295524"/>
            <a:chOff x="6118860" y="2083118"/>
            <a:chExt cx="5163502" cy="2295524"/>
          </a:xfrm>
        </p:grpSpPr>
        <p:sp>
          <p:nvSpPr>
            <p:cNvPr id="24" name="Freeform 24"/>
            <p:cNvSpPr/>
            <p:nvPr/>
          </p:nvSpPr>
          <p:spPr>
            <a:xfrm>
              <a:off x="7459980" y="2620328"/>
              <a:ext cx="683895" cy="9525"/>
            </a:xfrm>
            <a:custGeom>
              <a:avLst/>
              <a:gdLst/>
              <a:ahLst/>
              <a:cxnLst/>
              <a:rect l="l" t="t" r="r" b="b"/>
              <a:pathLst>
                <a:path w="683895" h="9525">
                  <a:moveTo>
                    <a:pt x="0" y="0"/>
                  </a:moveTo>
                  <a:lnTo>
                    <a:pt x="683895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8039100" y="2562225"/>
              <a:ext cx="104775" cy="115253"/>
            </a:xfrm>
            <a:custGeom>
              <a:avLst/>
              <a:gdLst/>
              <a:ahLst/>
              <a:cxnLst/>
              <a:rect l="l" t="t" r="r" b="b"/>
              <a:pathLst>
                <a:path w="104775" h="115253">
                  <a:moveTo>
                    <a:pt x="0" y="115253"/>
                  </a:moveTo>
                  <a:lnTo>
                    <a:pt x="104775" y="58103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9540240" y="2620328"/>
              <a:ext cx="573405" cy="9525"/>
            </a:xfrm>
            <a:custGeom>
              <a:avLst/>
              <a:gdLst/>
              <a:ahLst/>
              <a:cxnLst/>
              <a:rect l="l" t="t" r="r" b="b"/>
              <a:pathLst>
                <a:path w="573405" h="9525">
                  <a:moveTo>
                    <a:pt x="573405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9330690" y="2562225"/>
              <a:ext cx="209550" cy="115253"/>
            </a:xfrm>
            <a:custGeom>
              <a:avLst/>
              <a:gdLst/>
              <a:ahLst/>
              <a:cxnLst/>
              <a:rect l="l" t="t" r="r" b="b"/>
              <a:pathLst>
                <a:path w="209550" h="115253">
                  <a:moveTo>
                    <a:pt x="0" y="58103"/>
                  </a:moveTo>
                  <a:lnTo>
                    <a:pt x="104775" y="0"/>
                  </a:lnTo>
                  <a:lnTo>
                    <a:pt x="209550" y="58103"/>
                  </a:lnTo>
                  <a:lnTo>
                    <a:pt x="104775" y="115253"/>
                  </a:lnTo>
                  <a:close/>
                </a:path>
              </a:pathLst>
            </a:custGeom>
            <a:solidFill>
              <a:srgbClr val="1F2937"/>
            </a:solidFill>
            <a:ln w="15240">
              <a:solidFill>
                <a:srgbClr val="1F2937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6789420" y="3283268"/>
              <a:ext cx="1852612" cy="344805"/>
            </a:xfrm>
            <a:custGeom>
              <a:avLst/>
              <a:gdLst/>
              <a:ahLst/>
              <a:cxnLst/>
              <a:rect l="l" t="t" r="r" b="b"/>
              <a:pathLst>
                <a:path w="1852612" h="344805">
                  <a:moveTo>
                    <a:pt x="0" y="344805"/>
                  </a:moveTo>
                  <a:lnTo>
                    <a:pt x="0" y="109538"/>
                  </a:lnTo>
                  <a:lnTo>
                    <a:pt x="1852612" y="109538"/>
                  </a:lnTo>
                  <a:lnTo>
                    <a:pt x="1852612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8568690" y="3157538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8832532" y="3283268"/>
              <a:ext cx="1852612" cy="344805"/>
            </a:xfrm>
            <a:custGeom>
              <a:avLst/>
              <a:gdLst/>
              <a:ahLst/>
              <a:cxnLst/>
              <a:rect l="l" t="t" r="r" b="b"/>
              <a:pathLst>
                <a:path w="1852612" h="344805">
                  <a:moveTo>
                    <a:pt x="1852612" y="344805"/>
                  </a:moveTo>
                  <a:lnTo>
                    <a:pt x="1852612" y="109538"/>
                  </a:lnTo>
                  <a:lnTo>
                    <a:pt x="0" y="109538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8759190" y="3157538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118860" y="2164080"/>
              <a:ext cx="1341120" cy="912495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125528" y="2170748"/>
              <a:ext cx="132683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118860" y="2394585"/>
              <a:ext cx="134112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118860" y="2651760"/>
              <a:ext cx="134112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8143875" y="2083118"/>
              <a:ext cx="1186815" cy="107537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8150542" y="2089785"/>
              <a:ext cx="1172528" cy="22764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8143875" y="2313622"/>
              <a:ext cx="118681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8143875" y="2570798"/>
              <a:ext cx="118681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10113645" y="2245042"/>
              <a:ext cx="1143000" cy="75057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10120312" y="2251710"/>
              <a:ext cx="112871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10113645" y="247554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10113645" y="289560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191250" y="3628072"/>
              <a:ext cx="1196340" cy="75057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197918" y="3634740"/>
              <a:ext cx="118205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191250" y="3858578"/>
              <a:ext cx="119634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191250" y="3953828"/>
              <a:ext cx="119634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10086022" y="3628072"/>
              <a:ext cx="1196340" cy="75057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10093642" y="3634740"/>
              <a:ext cx="118205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10086022" y="3858578"/>
              <a:ext cx="119634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10086022" y="3953828"/>
              <a:ext cx="119634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436545" y="2219801"/>
              <a:ext cx="7057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KFCWaiter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190298" y="2464118"/>
              <a:ext cx="10850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mb : MealBuilder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190298" y="2721292"/>
              <a:ext cx="1198245" cy="3381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setMealBuilder(mb)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construct() : Meal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347468" y="2138839"/>
              <a:ext cx="7796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i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MealBuilder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215312" y="2383155"/>
              <a:ext cx="7782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 meal : Meal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215312" y="2640330"/>
              <a:ext cx="1043940" cy="5000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buildFood()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buildDrink()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getMeal() : Meal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529171" y="2300764"/>
              <a:ext cx="3119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Meal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185082" y="2545080"/>
              <a:ext cx="872490" cy="3381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food : String</a:t>
              </a:r>
            </a:p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drink : String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243100" y="3683794"/>
              <a:ext cx="10926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SubMealBuilderA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262688" y="4023360"/>
              <a:ext cx="775335" cy="3381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buildFood()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buildDrink()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138825" y="3683794"/>
              <a:ext cx="10926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SubMealBuilderB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157460" y="4023360"/>
              <a:ext cx="775335" cy="3381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buildFood()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buildDrink()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7680008" y="2424112"/>
              <a:ext cx="243840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718412" y="2446973"/>
              <a:ext cx="16703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mb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9551670" y="2424112"/>
              <a:ext cx="340995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9587160" y="2446973"/>
              <a:ext cx="2700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meal</a:t>
              </a:r>
            </a:p>
          </p:txBody>
        </p:sp>
      </p:grpSp>
      <p:grpSp>
        <p:nvGrpSpPr>
          <p:cNvPr id="75" name="c2-card-2"/>
          <p:cNvGrpSpPr/>
          <p:nvPr/>
        </p:nvGrpSpPr>
        <p:grpSpPr>
          <a:xfrm>
            <a:off x="5815965" y="4864418"/>
            <a:ext cx="5842635" cy="1459230"/>
            <a:chOff x="5815965" y="4864418"/>
            <a:chExt cx="5842635" cy="1459230"/>
          </a:xfrm>
        </p:grpSpPr>
        <p:sp>
          <p:nvSpPr>
            <p:cNvPr id="69" name="Rectangle 69"/>
            <p:cNvSpPr/>
            <p:nvPr/>
          </p:nvSpPr>
          <p:spPr>
            <a:xfrm>
              <a:off x="5815965" y="4864418"/>
              <a:ext cx="5842635" cy="1459230"/>
            </a:xfrm>
            <a:prstGeom prst="roundRect">
              <a:avLst>
                <a:gd name="adj" fmla="val 91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5825490" y="4997768"/>
              <a:ext cx="47625" cy="119253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6040755" y="505110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132474" y="508396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读图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606349" y="508635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两个子建造者不新增方法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033897" y="5412105"/>
              <a:ext cx="522579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SubMealBuilderA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和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SubMealBuilderB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只把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buildFood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与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buildDrink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换成自己的内容，方法签名一模一样。KFCWaiter 因此完全不知道它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们的存在。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建造者模式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74495" cy="909257"/>
            <a:chOff x="520446" y="342900"/>
            <a:chExt cx="557449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13 建造者 · 课件中的四个实例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7449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KFC 实例（一）：产品与抽象建造者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2530792"/>
            <a:chOff x="533400" y="1524000"/>
            <a:chExt cx="5410200" cy="253079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530792"/>
            </a:xfrm>
            <a:prstGeom prst="roundRect">
              <a:avLst>
                <a:gd name="adj" fmla="val 376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7373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Meal · 套餐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4861814" cy="20459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Meal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food;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主食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drink;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饮料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setFood(String food)   {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.food = food;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setDrink(String drink) {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.drink = drink;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getFood()  {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food;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getDrink() {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drink;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7" name="c1-card-2"/>
          <p:cNvGrpSpPr/>
          <p:nvPr/>
        </p:nvGrpSpPr>
        <p:grpSpPr>
          <a:xfrm>
            <a:off x="533400" y="4245292"/>
            <a:ext cx="5410200" cy="1335405"/>
            <a:chOff x="533400" y="4245292"/>
            <a:chExt cx="5410200" cy="1335405"/>
          </a:xfrm>
        </p:grpSpPr>
        <p:sp>
          <p:nvSpPr>
            <p:cNvPr id="11" name="Rectangle 11"/>
            <p:cNvSpPr/>
            <p:nvPr/>
          </p:nvSpPr>
          <p:spPr>
            <a:xfrm>
              <a:off x="533400" y="4245292"/>
              <a:ext cx="5410200" cy="1335405"/>
            </a:xfrm>
            <a:prstGeom prst="roundRect">
              <a:avLst>
                <a:gd name="adj" fmla="val 9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42925" y="4378642"/>
              <a:ext cx="47625" cy="10687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81050" y="445484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71258" y="449056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注意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82078" y="449008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产品类里没有装配逻辑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73430" y="4851082"/>
              <a:ext cx="46729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Meal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只有两个字段和四个存取方法。先装主食还是先装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饮料、主食该装什么，一行都不在这里。</a:t>
              </a:r>
            </a:p>
          </p:txBody>
        </p:sp>
      </p:grpSp>
      <p:grpSp>
        <p:nvGrpSpPr>
          <p:cNvPr id="21" name="c2-code-1"/>
          <p:cNvGrpSpPr/>
          <p:nvPr/>
        </p:nvGrpSpPr>
        <p:grpSpPr>
          <a:xfrm>
            <a:off x="6248400" y="1524000"/>
            <a:ext cx="5410200" cy="2125028"/>
            <a:chOff x="6248400" y="1524000"/>
            <a:chExt cx="5410200" cy="2125028"/>
          </a:xfrm>
        </p:grpSpPr>
        <p:sp>
          <p:nvSpPr>
            <p:cNvPr id="18" name="Rectangle 18"/>
            <p:cNvSpPr/>
            <p:nvPr/>
          </p:nvSpPr>
          <p:spPr>
            <a:xfrm>
              <a:off x="6248400" y="1524000"/>
              <a:ext cx="5410200" cy="2125028"/>
            </a:xfrm>
            <a:prstGeom prst="roundRect">
              <a:avLst>
                <a:gd name="adj" fmla="val 44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76797" y="1675924"/>
              <a:ext cx="16002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MealBuilder · 抽象建造者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76035" y="1937861"/>
              <a:ext cx="3297174" cy="16402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MealBuilder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protected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Meal meal =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Meal();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buildFood();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buildDrink();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Meal getMeal() {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meal;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8" name="c2-card-2"/>
          <p:cNvGrpSpPr/>
          <p:nvPr/>
        </p:nvGrpSpPr>
        <p:grpSpPr>
          <a:xfrm>
            <a:off x="6248400" y="3839528"/>
            <a:ext cx="5410200" cy="1741170"/>
            <a:chOff x="6248400" y="3839528"/>
            <a:chExt cx="5410200" cy="1741170"/>
          </a:xfrm>
        </p:grpSpPr>
        <p:sp>
          <p:nvSpPr>
            <p:cNvPr id="22" name="Rectangle 22"/>
            <p:cNvSpPr/>
            <p:nvPr/>
          </p:nvSpPr>
          <p:spPr>
            <a:xfrm>
              <a:off x="6248400" y="3839528"/>
              <a:ext cx="5410200" cy="1741170"/>
            </a:xfrm>
            <a:prstGeom prst="roundRect">
              <a:avLst>
                <a:gd name="adj" fmla="val 765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257925" y="3972878"/>
              <a:ext cx="47625" cy="147447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496050" y="404907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586258" y="40847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对照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097078" y="408432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这里的组合关系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88430" y="4445318"/>
              <a:ext cx="45681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meal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是在抽象建造者里 </a:t>
              </a: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new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出来的，随建造者一起创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建、一起消亡，所以类图上用实心菱形，菱形画在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MealBuilder 一端。</a:t>
              </a:r>
            </a:p>
          </p:txBody>
        </p:sp>
      </p:grpSp>
      <p:grpSp>
        <p:nvGrpSpPr>
          <p:cNvPr id="3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9" name="TextBox 29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建造者模式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74495" cy="909257"/>
            <a:chOff x="520446" y="342900"/>
            <a:chExt cx="557449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13 建造者 · 课件中的四个实例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7449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KFC 实例（二）：两份配方与服务员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864754" cy="264033"/>
            <a:chOff x="526542" y="1545907"/>
            <a:chExt cx="7864754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8647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具体建造者回答“这一步装什么”，指挥者回答“装几步、先装哪一步”。两边各自变化，互不影响。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28812"/>
            <a:ext cx="5626418" cy="2088832"/>
            <a:chOff x="533400" y="1928812"/>
            <a:chExt cx="5626418" cy="2088832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626418" cy="2088832"/>
            </a:xfrm>
            <a:prstGeom prst="roundRect">
              <a:avLst>
                <a:gd name="adj" fmla="val 456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135655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具体建造者 · 两份配方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797" y="2340769"/>
              <a:ext cx="4054856" cy="16003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SubMealBuilderA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MealBuilder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buildFood()  { meal.setFood(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"一个鸡腿堡"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buildDrink() { meal.setDrink(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"一杯可乐"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SubMealBuilderB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MealBuilder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buildFood()  { meal.setFood(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"一个鸡肉卷"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buildDrink() { meal.setDrink(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"一杯果汁"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7" name="c1-card-2"/>
          <p:cNvGrpSpPr/>
          <p:nvPr/>
        </p:nvGrpSpPr>
        <p:grpSpPr>
          <a:xfrm>
            <a:off x="533400" y="4182428"/>
            <a:ext cx="5626418" cy="1511618"/>
            <a:chOff x="533400" y="4182428"/>
            <a:chExt cx="5626418" cy="1511618"/>
          </a:xfrm>
        </p:grpSpPr>
        <p:sp>
          <p:nvSpPr>
            <p:cNvPr id="13" name="Rectangle 13"/>
            <p:cNvSpPr/>
            <p:nvPr/>
          </p:nvSpPr>
          <p:spPr>
            <a:xfrm>
              <a:off x="533400" y="4182428"/>
              <a:ext cx="5626418" cy="1511618"/>
            </a:xfrm>
            <a:prstGeom prst="roundRect">
              <a:avLst>
                <a:gd name="adj" fmla="val 882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4315778"/>
              <a:ext cx="47625" cy="124491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45998" y="4383881"/>
              <a:ext cx="19559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新增一份 C 套餐要改什么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5998" y="4684871"/>
              <a:ext cx="5003546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只加一个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SubMealBuilderC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，再把客户端那一行的类名换掉。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Meal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br/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MealBuilder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KFCWaiter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一个字都不用动，这就是开闭原则在这里的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体现。</a:t>
              </a:r>
            </a:p>
          </p:txBody>
        </p:sp>
      </p:grpSp>
      <p:grpSp>
        <p:nvGrpSpPr>
          <p:cNvPr id="22" name="c2-code-1"/>
          <p:cNvGrpSpPr/>
          <p:nvPr/>
        </p:nvGrpSpPr>
        <p:grpSpPr>
          <a:xfrm>
            <a:off x="6464618" y="1928812"/>
            <a:ext cx="5193982" cy="2440305"/>
            <a:chOff x="6464618" y="1928812"/>
            <a:chExt cx="5193982" cy="2440305"/>
          </a:xfrm>
        </p:grpSpPr>
        <p:sp>
          <p:nvSpPr>
            <p:cNvPr id="18" name="Rectangle 18"/>
            <p:cNvSpPr/>
            <p:nvPr/>
          </p:nvSpPr>
          <p:spPr>
            <a:xfrm>
              <a:off x="6464618" y="1928812"/>
              <a:ext cx="5193982" cy="2440305"/>
            </a:xfrm>
            <a:prstGeom prst="roundRect">
              <a:avLst>
                <a:gd name="adj" fmla="val 390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593015" y="2080736"/>
              <a:ext cx="12648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KFCWaiter · 指挥者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483668" y="3183255"/>
              <a:ext cx="5155882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93015" y="2340769"/>
              <a:ext cx="4390898" cy="19528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KFCWaiter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MealBuilder mb;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setMealBuilder(MealBuilder mb)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.mb = mb;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Meal construct() {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先主食，后饮料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mb.buildFood();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mb.buildDrink();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mb.getMeal();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9" name="c2-card-2"/>
          <p:cNvGrpSpPr/>
          <p:nvPr/>
        </p:nvGrpSpPr>
        <p:grpSpPr>
          <a:xfrm>
            <a:off x="6464618" y="4533900"/>
            <a:ext cx="5193982" cy="1160145"/>
            <a:chOff x="6464618" y="4533900"/>
            <a:chExt cx="5193982" cy="1160145"/>
          </a:xfrm>
        </p:grpSpPr>
        <p:sp>
          <p:nvSpPr>
            <p:cNvPr id="23" name="Rectangle 23"/>
            <p:cNvSpPr/>
            <p:nvPr/>
          </p:nvSpPr>
          <p:spPr>
            <a:xfrm>
              <a:off x="6464618" y="4533900"/>
              <a:ext cx="5193982" cy="1160145"/>
            </a:xfrm>
            <a:prstGeom prst="roundRect">
              <a:avLst>
                <a:gd name="adj" fmla="val 114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474142" y="4667250"/>
              <a:ext cx="47625" cy="89344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683692" y="47148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76364" y="47477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读法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250620" y="475440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服务员知道什么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677216" y="5070634"/>
              <a:ext cx="44020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服务员不知道有几种套餐，也不知道装的是什么，只知道先主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食、后饮料。</a:t>
              </a:r>
            </a:p>
          </p:txBody>
        </p:sp>
      </p:grpSp>
      <p:grpSp>
        <p:nvGrpSpPr>
          <p:cNvPr id="35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30" name="Rectangle 30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041273" y="6039326"/>
              <a:ext cx="80513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把 </a:t>
              </a:r>
              <a:r>
                <a:rPr lang="en-US" sz="1280" dirty="0">
                  <a:solidFill>
                    <a:srgbClr val="EEEAF7"/>
                  </a:solidFill>
                  <a:latin typeface="+mn-lt"/>
                  <a:ea typeface="+mn-ea"/>
                  <a:cs typeface="+mn-cs"/>
                </a:rPr>
                <a:t>construct()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里的两行调成先饮料后主食，两份套餐的装配顺序就一起变了，这是指挥者独有的权力。</a:t>
              </a: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6" name="TextBox 36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建造者模式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74495" cy="909257"/>
            <a:chOff x="520446" y="342900"/>
            <a:chExt cx="557449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13 建造者 · 课件中的四个实例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7449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KFC 实例（三）：客户端与运行结果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ode-1"/>
          <p:cNvGrpSpPr/>
          <p:nvPr/>
        </p:nvGrpSpPr>
        <p:grpSpPr>
          <a:xfrm>
            <a:off x="533400" y="1524000"/>
            <a:ext cx="5410200" cy="2936558"/>
            <a:chOff x="533400" y="1524000"/>
            <a:chExt cx="5410200" cy="293655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936558"/>
            </a:xfrm>
            <a:prstGeom prst="roundRect">
              <a:avLst>
                <a:gd name="adj" fmla="val 324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9580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Client · 客户端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301240"/>
              <a:ext cx="5372100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035" y="1937861"/>
              <a:ext cx="3688334" cy="24517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Client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MealBuilder mb =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SubMealBuilderA();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KFCWaiter waiter =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KFCWaiter();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waiter.setMealBuilder(mb);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Meal meal = waiter.construct();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zh-CN" sz="112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"套餐组成："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System.out.println(meal.getFood());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System.out.println(meal.getDrink());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7" name="c1-card-2"/>
          <p:cNvGrpSpPr/>
          <p:nvPr/>
        </p:nvGrpSpPr>
        <p:grpSpPr>
          <a:xfrm>
            <a:off x="533400" y="4651058"/>
            <a:ext cx="5410200" cy="1564005"/>
            <a:chOff x="533400" y="4651058"/>
            <a:chExt cx="5410200" cy="1564005"/>
          </a:xfrm>
        </p:grpSpPr>
        <p:sp>
          <p:nvSpPr>
            <p:cNvPr id="12" name="Rectangle 12"/>
            <p:cNvSpPr/>
            <p:nvPr/>
          </p:nvSpPr>
          <p:spPr>
            <a:xfrm>
              <a:off x="533400" y="4651058"/>
              <a:ext cx="5410200" cy="1564005"/>
            </a:xfrm>
            <a:prstGeom prst="roundRect">
              <a:avLst>
                <a:gd name="adj" fmla="val 85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542925" y="4784408"/>
              <a:ext cx="47625" cy="129730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73430" y="4885372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运行输出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3430" y="5239702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套餐组成：／一个鸡腿堡／一杯可乐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74573" y="5571649"/>
              <a:ext cx="463778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把第 3 行换成 SubMealBuilderB，输出变成 一个鸡肉卷／一杯果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汁</a:t>
              </a:r>
            </a:p>
          </p:txBody>
        </p:sp>
      </p:grpSp>
      <p:grpSp>
        <p:nvGrpSpPr>
          <p:cNvPr id="31" name="c2-bullets-1"/>
          <p:cNvGrpSpPr/>
          <p:nvPr/>
        </p:nvGrpSpPr>
        <p:grpSpPr>
          <a:xfrm>
            <a:off x="6240780" y="1548765"/>
            <a:ext cx="5124450" cy="2825115"/>
            <a:chOff x="6240780" y="1548765"/>
            <a:chExt cx="5124450" cy="2825115"/>
          </a:xfrm>
        </p:grpSpPr>
        <p:sp>
          <p:nvSpPr>
            <p:cNvPr id="18" name="TextBox 18"/>
            <p:cNvSpPr txBox="1"/>
            <p:nvPr/>
          </p:nvSpPr>
          <p:spPr>
            <a:xfrm>
              <a:off x="6240780" y="154876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跟着执行顺序走一遍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6248400" y="1889760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10249" y="193205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549390" y="1903095"/>
              <a:ext cx="46348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先 </a:t>
              </a: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new SubMealBuilderA()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，父类的字段初始化器跑出</a:t>
              </a:r>
              <a:br/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meal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6248400" y="252031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10249" y="256260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549390" y="2533650"/>
              <a:ext cx="42919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setMealBuilder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把建造者交给服务员，服务员只按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MealBuilder 的接口用它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6248400" y="3150870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10249" y="319316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49390" y="3164205"/>
              <a:ext cx="48158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construct()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里的两行调用是动态绑定，实际执行的是 A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配方的实现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6248400" y="378142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10249" y="382371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549390" y="3794760"/>
              <a:ext cx="47682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getMeal()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把同一个 meal 对象返回，客户端这才第一次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接触产品</a:t>
              </a:r>
            </a:p>
          </p:txBody>
        </p:sp>
      </p:grpSp>
      <p:grpSp>
        <p:nvGrpSpPr>
          <p:cNvPr id="38" name="c2-card-2"/>
          <p:cNvGrpSpPr/>
          <p:nvPr/>
        </p:nvGrpSpPr>
        <p:grpSpPr>
          <a:xfrm>
            <a:off x="6248400" y="4505325"/>
            <a:ext cx="5410200" cy="1709738"/>
            <a:chOff x="6248400" y="4505325"/>
            <a:chExt cx="5410200" cy="1709738"/>
          </a:xfrm>
        </p:grpSpPr>
        <p:sp>
          <p:nvSpPr>
            <p:cNvPr id="32" name="Rectangle 32"/>
            <p:cNvSpPr/>
            <p:nvPr/>
          </p:nvSpPr>
          <p:spPr>
            <a:xfrm>
              <a:off x="6248400" y="4505325"/>
              <a:ext cx="5410200" cy="1709738"/>
            </a:xfrm>
            <a:prstGeom prst="roundRect">
              <a:avLst>
                <a:gd name="adj" fmla="val 779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257925" y="4638675"/>
              <a:ext cx="47625" cy="144303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496050" y="471487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586258" y="47505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注意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097078" y="4750118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建造者不能重复用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88430" y="5111115"/>
              <a:ext cx="46729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meal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是建造者的字段，同一个建造者再 </a:t>
              </a: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construct()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一次，装的还是那个对象。要造第二份套餐，得 new 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个新的建造者。</a:t>
              </a:r>
            </a:p>
          </p:txBody>
        </p:sp>
      </p:grpSp>
      <p:grpSp>
        <p:nvGrpSpPr>
          <p:cNvPr id="4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9" name="TextBox 39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建造者模式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753681" cy="909257"/>
            <a:chOff x="520446" y="342900"/>
            <a:chExt cx="575368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13 建造者 · 课件中的四个实例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75368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实例二：JavaMail 是天然的分步构造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438282" cy="308039"/>
            <a:chOff x="525399" y="1550194"/>
            <a:chExt cx="10438282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43828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发一封邮件要依次设置发件人、收件人、主题、正文和发送时间，少一项就发不出去，属性之间有顺序和依赖。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67865"/>
            <a:ext cx="5951220" cy="3342322"/>
            <a:chOff x="533400" y="1967865"/>
            <a:chExt cx="5951220" cy="3342322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951220" cy="3342322"/>
            </a:xfrm>
            <a:prstGeom prst="roundRect">
              <a:avLst>
                <a:gd name="adj" fmla="val 285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19789"/>
              <a:ext cx="16204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原始写法 · 全部堆在客户端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035" y="2381726"/>
              <a:ext cx="5117846" cy="2857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MimeMessage message =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MimeMessage(session);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InternetAddress from =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InternetAddress(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"sunny@test.com"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message.setFrom(from);                 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发件人 */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InternetAddress to =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InternetAddress(toMail);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message.setRecipient(Message.RecipientType.TO, to);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收件人 */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message.setSubject(toTitle);           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主题 */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message.setText(toContent);            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正文 */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message.setSentDate(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Date());       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发信时间 */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message.saveChanges();                 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保存修改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Transport transport = session.getTransport(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"smtp"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transport.connect(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"smtp.test.com"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"test"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"test"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transport.sendMessage(message, message.getAllRecipients());</a:t>
              </a:r>
            </a:p>
          </p:txBody>
        </p:sp>
      </p:grpSp>
      <p:grpSp>
        <p:nvGrpSpPr>
          <p:cNvPr id="20" name="c2-bullets-1"/>
          <p:cNvGrpSpPr/>
          <p:nvPr/>
        </p:nvGrpSpPr>
        <p:grpSpPr>
          <a:xfrm>
            <a:off x="6781800" y="1992630"/>
            <a:ext cx="4641584" cy="1337310"/>
            <a:chOff x="6781800" y="1992630"/>
            <a:chExt cx="4641584" cy="1337310"/>
          </a:xfrm>
        </p:grpSpPr>
        <p:sp>
          <p:nvSpPr>
            <p:cNvPr id="13" name="TextBox 13"/>
            <p:cNvSpPr txBox="1"/>
            <p:nvPr/>
          </p:nvSpPr>
          <p:spPr>
            <a:xfrm>
              <a:off x="6781800" y="199263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就这样用有什么问题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6789420" y="2383155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114300"/>
                  </a:lnTo>
                  <a:moveTo>
                    <a:pt x="114300" y="0"/>
                  </a:moveTo>
                  <a:lnTo>
                    <a:pt x="0" y="11430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029450" y="2346960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每处要发邮件的地方都要抄一遍这十几行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6789420" y="272796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114300"/>
                  </a:lnTo>
                  <a:moveTo>
                    <a:pt x="114300" y="0"/>
                  </a:moveTo>
                  <a:lnTo>
                    <a:pt x="0" y="11430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029450" y="2691765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注册成功邮件和广告邮件只差几行，却没法复用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6789420" y="3072765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114300"/>
                  </a:lnTo>
                  <a:moveTo>
                    <a:pt x="114300" y="0"/>
                  </a:moveTo>
                  <a:lnTo>
                    <a:pt x="0" y="11430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029450" y="3036570"/>
              <a:ext cx="43939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漏掉 saveChanges 之类的步骤，编译期发现不了</a:t>
              </a:r>
            </a:p>
          </p:txBody>
        </p:sp>
      </p:grpSp>
      <p:grpSp>
        <p:nvGrpSpPr>
          <p:cNvPr id="27" name="c2-card-2"/>
          <p:cNvGrpSpPr/>
          <p:nvPr/>
        </p:nvGrpSpPr>
        <p:grpSpPr>
          <a:xfrm>
            <a:off x="6789420" y="3461385"/>
            <a:ext cx="4869180" cy="1848802"/>
            <a:chOff x="6789420" y="3461385"/>
            <a:chExt cx="4869180" cy="1848802"/>
          </a:xfrm>
        </p:grpSpPr>
        <p:sp>
          <p:nvSpPr>
            <p:cNvPr id="21" name="Rectangle 21"/>
            <p:cNvSpPr/>
            <p:nvPr/>
          </p:nvSpPr>
          <p:spPr>
            <a:xfrm>
              <a:off x="6789420" y="3461385"/>
              <a:ext cx="4869180" cy="1848802"/>
            </a:xfrm>
            <a:prstGeom prst="roundRect">
              <a:avLst>
                <a:gd name="adj" fmla="val 721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798945" y="3594735"/>
              <a:ext cx="47625" cy="158210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037070" y="36709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127278" y="37066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思路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38098" y="3706178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把这段过程抽成建造者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029450" y="4067175"/>
              <a:ext cx="4206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为“注册成功邮件”“广告邮件”各写一个具体建造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者，再加一个指挥者固定五个步骤的顺序，客户端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就只剩挑一个建造者。</a:t>
              </a:r>
            </a:p>
          </p:txBody>
        </p:sp>
      </p:grpSp>
      <p:grpSp>
        <p:nvGrpSpPr>
          <p:cNvPr id="3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8" name="TextBox 28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建造者模式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26805" cy="909257"/>
            <a:chOff x="520446" y="342900"/>
            <a:chExt cx="712680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13 建造者 · 课件中的四个实例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2680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重构 JavaMail：抽象建造者要能把产品交出来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ode-1"/>
          <p:cNvGrpSpPr/>
          <p:nvPr/>
        </p:nvGrpSpPr>
        <p:grpSpPr>
          <a:xfrm>
            <a:off x="533400" y="1524000"/>
            <a:ext cx="5842635" cy="3143250"/>
            <a:chOff x="533400" y="1524000"/>
            <a:chExt cx="5842635" cy="31432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3143250"/>
            </a:xfrm>
            <a:prstGeom prst="roundRect">
              <a:avLst>
                <a:gd name="adj" fmla="val 303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3912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MessageBuilder · 更正后的抽象建造者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075498"/>
              <a:ext cx="5804535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4185285"/>
              <a:ext cx="5804535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61797" y="1935956"/>
              <a:ext cx="4664710" cy="2657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MessageBuilder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protected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MimeMessage message;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Message 是抽象类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protected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MessageBuilder(Session session)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.message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MimeMessage(session);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buildFrom()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throws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MessagingException;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buildRecipient()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throws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MessagingException;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buildSubject()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throws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MessagingException;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buildText()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throws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MessagingException;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buildSentDate()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throws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MessagingException;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MimeMessage getResult()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message;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9" name="c1-card-2"/>
          <p:cNvGrpSpPr/>
          <p:nvPr/>
        </p:nvGrpSpPr>
        <p:grpSpPr>
          <a:xfrm>
            <a:off x="533400" y="4837748"/>
            <a:ext cx="5842635" cy="1459230"/>
            <a:chOff x="533400" y="4837748"/>
            <a:chExt cx="5842635" cy="1459230"/>
          </a:xfrm>
        </p:grpSpPr>
        <p:sp>
          <p:nvSpPr>
            <p:cNvPr id="13" name="Rectangle 13"/>
            <p:cNvSpPr/>
            <p:nvPr/>
          </p:nvSpPr>
          <p:spPr>
            <a:xfrm>
              <a:off x="533400" y="4837748"/>
              <a:ext cx="5842635" cy="1459230"/>
            </a:xfrm>
            <a:prstGeom prst="roundRect">
              <a:avLst>
                <a:gd name="adj" fmla="val 91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4971098"/>
              <a:ext cx="47625" cy="119253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58190" y="502443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50862" y="505729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用法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23784" y="505968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具体建造者怎么写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1332" y="5385435"/>
              <a:ext cx="514864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“注册成功邮件”建造者在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buildSubject()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里写死主题模板，</a:t>
              </a:r>
              <a:br/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buildText()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里填用户名；“广告邮件”建造者换另一套模板。五个步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骤的顺序仍由指挥者控制。</a:t>
              </a:r>
            </a:p>
          </p:txBody>
        </p:sp>
      </p:grpSp>
      <p:grpSp>
        <p:nvGrpSpPr>
          <p:cNvPr id="31" name="c2-card-1"/>
          <p:cNvGrpSpPr/>
          <p:nvPr/>
        </p:nvGrpSpPr>
        <p:grpSpPr>
          <a:xfrm>
            <a:off x="6680835" y="1524000"/>
            <a:ext cx="4977765" cy="2274570"/>
            <a:chOff x="6680835" y="1524000"/>
            <a:chExt cx="4977765" cy="2274570"/>
          </a:xfrm>
        </p:grpSpPr>
        <p:sp>
          <p:nvSpPr>
            <p:cNvPr id="20" name="Rectangle 20"/>
            <p:cNvSpPr/>
            <p:nvPr/>
          </p:nvSpPr>
          <p:spPr>
            <a:xfrm>
              <a:off x="6680835" y="1524000"/>
              <a:ext cx="4977765" cy="2274570"/>
            </a:xfrm>
            <a:prstGeom prst="roundRect">
              <a:avLst>
                <a:gd name="adj" fmla="val 58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6690360" y="1657350"/>
              <a:ext cx="47625" cy="200787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905625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998297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472172" y="1745932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原课件这段有两处编不过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6905625" y="2059305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961303" y="209769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186422" y="2071688"/>
              <a:ext cx="4051364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原写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protected Message message = new</a:t>
              </a:r>
              <a:br/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Message();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javax.mail.Message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是抽象类，不能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实例化，应换成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MimeMessage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，而且它需要一个</a:t>
              </a:r>
              <a:br/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Session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参数。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6905625" y="3130868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961303" y="317020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186422" y="3143250"/>
              <a:ext cx="410279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原类里只有五个 build 方法，没有返回产品的方法，客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户端拿不到造好的邮件。补上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getResult()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35" name="c2-code-2"/>
          <p:cNvGrpSpPr/>
          <p:nvPr/>
        </p:nvGrpSpPr>
        <p:grpSpPr>
          <a:xfrm>
            <a:off x="6680835" y="3968115"/>
            <a:ext cx="4977765" cy="1912620"/>
            <a:chOff x="6680835" y="3968115"/>
            <a:chExt cx="4977765" cy="1912620"/>
          </a:xfrm>
        </p:grpSpPr>
        <p:sp>
          <p:nvSpPr>
            <p:cNvPr id="32" name="Rectangle 32"/>
            <p:cNvSpPr/>
            <p:nvPr/>
          </p:nvSpPr>
          <p:spPr>
            <a:xfrm>
              <a:off x="6680835" y="3968115"/>
              <a:ext cx="4977765" cy="1912620"/>
            </a:xfrm>
            <a:prstGeom prst="roundRect">
              <a:avLst>
                <a:gd name="adj" fmla="val 498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809232" y="4120039"/>
              <a:ext cx="1412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MailDirector · 指挥者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809232" y="4381024"/>
              <a:ext cx="3980180" cy="14241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MimeMessage construct()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throws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MessagingException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builder.buildFrom();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builder.buildRecipient();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builder.buildSubject();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builder.buildText();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builder.buildSentDate();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builder.getResult();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6" name="TextBox 36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建造者模式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064820" cy="909257"/>
            <a:chOff x="520446" y="342900"/>
            <a:chExt cx="806482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13 建造者 · 课件中的四个实例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06482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实例三：迷宫 MazeBuilder，一个省掉指挥者的写法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1063356" cy="308039"/>
            <a:chOff x="525399" y="1550194"/>
            <a:chExt cx="11063356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106335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GoF 原书的迷宫例子里没有单独的 Director，构建顺序直接写在 Game.createMaze() 里。这是最常见的一种简化。</a:t>
              </a:r>
            </a:p>
          </p:txBody>
        </p:sp>
      </p:grpSp>
      <p:grpSp>
        <p:nvGrpSpPr>
          <p:cNvPr id="13" name="c1-code-1"/>
          <p:cNvGrpSpPr/>
          <p:nvPr/>
        </p:nvGrpSpPr>
        <p:grpSpPr>
          <a:xfrm>
            <a:off x="533400" y="1967865"/>
            <a:ext cx="5842635" cy="3748088"/>
            <a:chOff x="533400" y="1967865"/>
            <a:chExt cx="5842635" cy="3748088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842635" cy="3748088"/>
            </a:xfrm>
            <a:prstGeom prst="roundRect">
              <a:avLst>
                <a:gd name="adj" fmla="val 254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19789"/>
              <a:ext cx="13843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MazeBuilder 与使用者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4165282"/>
              <a:ext cx="5804535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035" y="2381726"/>
              <a:ext cx="4712462" cy="32632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MazeBuilder {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抽象建造者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buildMaze() {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buildRoom(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room) {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buildDoor(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from,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to) {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Maze getMaze() {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Game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Maze createMaze(MazeBuilder builder)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builder.buildMaze();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构建顺序落在这里 */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builder.buildRoom(1);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builder.buildRoom(2);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builder.buildDoor(1, 2);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builder.getMaze();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1" name="c2-card-1"/>
          <p:cNvGrpSpPr/>
          <p:nvPr/>
        </p:nvGrpSpPr>
        <p:grpSpPr>
          <a:xfrm>
            <a:off x="6680835" y="1967865"/>
            <a:ext cx="4977765" cy="2203132"/>
            <a:chOff x="6680835" y="1967865"/>
            <a:chExt cx="4977765" cy="2203132"/>
          </a:xfrm>
        </p:grpSpPr>
        <p:sp>
          <p:nvSpPr>
            <p:cNvPr id="14" name="Rectangle 14"/>
            <p:cNvSpPr/>
            <p:nvPr/>
          </p:nvSpPr>
          <p:spPr>
            <a:xfrm>
              <a:off x="6680835" y="1967865"/>
              <a:ext cx="4977765" cy="2203132"/>
            </a:xfrm>
            <a:prstGeom prst="roundRect">
              <a:avLst>
                <a:gd name="adj" fmla="val 605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6690360" y="2101215"/>
              <a:ext cx="47625" cy="193643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6928485" y="21774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019646" y="22131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29512" y="2212658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原课件调用与声明对不上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920865" y="2573655"/>
              <a:ext cx="434911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声明的是 </a:t>
              </a: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buildMaze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</a:t>
              </a: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buildRoom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</a:t>
              </a: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buildDoor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，调用却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写成 </a:t>
              </a: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BuildMaze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</a:t>
              </a: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BuildRoom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</a:t>
              </a: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BuildDoor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，首字母大小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写不一致。C++ 和 Java 都区分大小写，这样编译通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不过。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922008" y="3761899"/>
              <a:ext cx="21496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另外 </a:t>
              </a:r>
              <a:r>
                <a:rPr lang="zh-CN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public：</a:t>
              </a: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 用了全角冒号</a:t>
              </a:r>
            </a:p>
          </p:txBody>
        </p:sp>
      </p:grpSp>
      <p:grpSp>
        <p:nvGrpSpPr>
          <p:cNvPr id="29" name="c2-bullets-2"/>
          <p:cNvGrpSpPr/>
          <p:nvPr/>
        </p:nvGrpSpPr>
        <p:grpSpPr>
          <a:xfrm>
            <a:off x="6673215" y="4386262"/>
            <a:ext cx="3828288" cy="1337310"/>
            <a:chOff x="6673215" y="4386262"/>
            <a:chExt cx="3828288" cy="1337310"/>
          </a:xfrm>
        </p:grpSpPr>
        <p:sp>
          <p:nvSpPr>
            <p:cNvPr id="22" name="TextBox 22"/>
            <p:cNvSpPr txBox="1"/>
            <p:nvPr/>
          </p:nvSpPr>
          <p:spPr>
            <a:xfrm>
              <a:off x="6673215" y="4386262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省掉指挥者的代价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6686550" y="4803458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844665" y="4740592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构建顺序散落在每个使用它的地方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6686550" y="5148262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844665" y="5085398"/>
              <a:ext cx="36568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想换一种顺序只能再写一个 createMaze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686550" y="5493068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44665" y="5430202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好处是类少一个，小规模场景够用</a:t>
              </a:r>
            </a:p>
          </p:txBody>
        </p:sp>
      </p:grpSp>
      <p:grpSp>
        <p:nvGrpSpPr>
          <p:cNvPr id="3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0" name="TextBox 30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建造者模式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13 建造者 · 课件中的四个实例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实例四：游戏地图，同一个建造者配不同指挥者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9542684" cy="264033"/>
            <a:chOff x="526542" y="1545907"/>
            <a:chExt cx="9542684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95426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陈伟老师课件里的大富翁地图只有 Block 一种部件，建造者只有一个 CommonMapBuilder，变化全落在指挥者那一侧。</a:t>
              </a:r>
            </a:p>
          </p:txBody>
        </p:sp>
      </p:grpSp>
      <p:grpSp>
        <p:nvGrpSpPr>
          <p:cNvPr id="47" name="c1-uml-1"/>
          <p:cNvGrpSpPr/>
          <p:nvPr/>
        </p:nvGrpSpPr>
        <p:grpSpPr>
          <a:xfrm>
            <a:off x="677228" y="2079308"/>
            <a:ext cx="4872891" cy="2126932"/>
            <a:chOff x="677228" y="2079308"/>
            <a:chExt cx="4872891" cy="2126932"/>
          </a:xfrm>
        </p:grpSpPr>
        <p:sp>
          <p:nvSpPr>
            <p:cNvPr id="9" name="Freeform 9"/>
            <p:cNvSpPr/>
            <p:nvPr/>
          </p:nvSpPr>
          <p:spPr>
            <a:xfrm>
              <a:off x="2121218" y="2616518"/>
              <a:ext cx="2061210" cy="9525"/>
            </a:xfrm>
            <a:custGeom>
              <a:avLst/>
              <a:gdLst/>
              <a:ahLst/>
              <a:cxnLst/>
              <a:rect l="l" t="t" r="r" b="b"/>
              <a:pathLst>
                <a:path w="2061210" h="9525">
                  <a:moveTo>
                    <a:pt x="2061210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121218" y="2559368"/>
              <a:ext cx="104775" cy="115253"/>
            </a:xfrm>
            <a:custGeom>
              <a:avLst/>
              <a:gdLst/>
              <a:ahLst/>
              <a:cxnLst/>
              <a:rect l="l" t="t" r="r" b="b"/>
              <a:pathLst>
                <a:path w="104775" h="115253">
                  <a:moveTo>
                    <a:pt x="104775" y="0"/>
                  </a:moveTo>
                  <a:lnTo>
                    <a:pt x="0" y="57150"/>
                  </a:lnTo>
                  <a:lnTo>
                    <a:pt x="104775" y="115253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399222" y="3280410"/>
              <a:ext cx="9525" cy="500062"/>
            </a:xfrm>
            <a:custGeom>
              <a:avLst/>
              <a:gdLst/>
              <a:ahLst/>
              <a:cxnLst/>
              <a:rect l="l" t="t" r="r" b="b"/>
              <a:pathLst>
                <a:path w="9525" h="500062">
                  <a:moveTo>
                    <a:pt x="0" y="500062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325880" y="315468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129915" y="3117532"/>
              <a:ext cx="1636395" cy="662940"/>
            </a:xfrm>
            <a:custGeom>
              <a:avLst/>
              <a:gdLst/>
              <a:ahLst/>
              <a:cxnLst/>
              <a:rect l="l" t="t" r="r" b="b"/>
              <a:pathLst>
                <a:path w="1636395" h="662940">
                  <a:moveTo>
                    <a:pt x="0" y="662940"/>
                  </a:moveTo>
                  <a:lnTo>
                    <a:pt x="0" y="268605"/>
                  </a:lnTo>
                  <a:lnTo>
                    <a:pt x="1636395" y="268605"/>
                  </a:lnTo>
                  <a:lnTo>
                    <a:pt x="1636395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692968" y="2991802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4861560" y="3117532"/>
              <a:ext cx="95250" cy="662940"/>
            </a:xfrm>
            <a:custGeom>
              <a:avLst/>
              <a:gdLst/>
              <a:ahLst/>
              <a:cxnLst/>
              <a:rect l="l" t="t" r="r" b="b"/>
              <a:pathLst>
                <a:path w="95250" h="662940">
                  <a:moveTo>
                    <a:pt x="0" y="662940"/>
                  </a:moveTo>
                  <a:lnTo>
                    <a:pt x="0" y="268605"/>
                  </a:lnTo>
                  <a:lnTo>
                    <a:pt x="95250" y="268605"/>
                  </a:lnTo>
                  <a:lnTo>
                    <a:pt x="9525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883468" y="2991802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677228" y="2079308"/>
              <a:ext cx="1443990" cy="107537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683895" y="2086928"/>
              <a:ext cx="142970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77228" y="2309812"/>
              <a:ext cx="144399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77228" y="2405062"/>
              <a:ext cx="144399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4182428" y="2241232"/>
              <a:ext cx="1358265" cy="75057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4189095" y="2248852"/>
              <a:ext cx="1343978" cy="22764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4182428" y="2471738"/>
              <a:ext cx="135826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4182428" y="2729865"/>
              <a:ext cx="135826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21995" y="3780472"/>
              <a:ext cx="1353502" cy="42576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729615" y="3787140"/>
              <a:ext cx="1339215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21995" y="4010978"/>
              <a:ext cx="135350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21995" y="4106228"/>
              <a:ext cx="135350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2486025" y="3780472"/>
              <a:ext cx="1287780" cy="42576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2493645" y="3787140"/>
              <a:ext cx="127349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2486025" y="4010978"/>
              <a:ext cx="128778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2486025" y="4106228"/>
              <a:ext cx="128778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4247198" y="3780472"/>
              <a:ext cx="1229678" cy="42576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4253865" y="3787140"/>
              <a:ext cx="1215390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4247198" y="4010978"/>
              <a:ext cx="122967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4247198" y="4106228"/>
              <a:ext cx="122967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30030" y="2135029"/>
              <a:ext cx="738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i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MapBuilder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48665" y="2474595"/>
              <a:ext cx="1301115" cy="6619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buildMap()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buildBlock(t, x, y)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setLink(d, from, to)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getMap() : Map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436758" y="2296954"/>
              <a:ext cx="8496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i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MapDirector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253865" y="2541270"/>
              <a:ext cx="12962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 builder : MapBuilder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253865" y="2799398"/>
              <a:ext cx="113679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makeMap() : Map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71295" y="3836194"/>
              <a:ext cx="12558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CommonMapBuilder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536575" y="3836194"/>
              <a:ext cx="11866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TownMapDirector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299741" y="3836194"/>
              <a:ext cx="112363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CityMapDirector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2912745" y="2420302"/>
              <a:ext cx="478155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2944120" y="2443162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builder</a:t>
              </a:r>
            </a:p>
          </p:txBody>
        </p:sp>
      </p:grpSp>
      <p:grpSp>
        <p:nvGrpSpPr>
          <p:cNvPr id="54" name="c1-card-2"/>
          <p:cNvGrpSpPr/>
          <p:nvPr/>
        </p:nvGrpSpPr>
        <p:grpSpPr>
          <a:xfrm>
            <a:off x="533400" y="4846320"/>
            <a:ext cx="5193982" cy="1403032"/>
            <a:chOff x="533400" y="4846320"/>
            <a:chExt cx="5193982" cy="1403032"/>
          </a:xfrm>
        </p:grpSpPr>
        <p:sp>
          <p:nvSpPr>
            <p:cNvPr id="48" name="Rectangle 48"/>
            <p:cNvSpPr/>
            <p:nvPr/>
          </p:nvSpPr>
          <p:spPr>
            <a:xfrm>
              <a:off x="533400" y="4846320"/>
              <a:ext cx="5193982" cy="1403032"/>
            </a:xfrm>
            <a:prstGeom prst="roundRect">
              <a:avLst>
                <a:gd name="adj" fmla="val 95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542925" y="4979670"/>
              <a:ext cx="47625" cy="113633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752475" y="502729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45147" y="506015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读图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318450" y="506682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变化全在指挥者这一侧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45998" y="5383054"/>
              <a:ext cx="4613402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CommonMapBuilder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负责每个 Block 怎么造；两个具体指挥者各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带一套布局数据和装配顺序。前面的 KFC 例子正好相反，那里是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一个指挥者配两个建造者。</a:t>
              </a:r>
            </a:p>
          </p:txBody>
        </p:sp>
      </p:grpSp>
      <p:grpSp>
        <p:nvGrpSpPr>
          <p:cNvPr id="60" name="c2-code-1"/>
          <p:cNvGrpSpPr/>
          <p:nvPr/>
        </p:nvGrpSpPr>
        <p:grpSpPr>
          <a:xfrm>
            <a:off x="6032182" y="1928812"/>
            <a:ext cx="5626418" cy="2616518"/>
            <a:chOff x="6032182" y="1928812"/>
            <a:chExt cx="5626418" cy="2616518"/>
          </a:xfrm>
        </p:grpSpPr>
        <p:sp>
          <p:nvSpPr>
            <p:cNvPr id="55" name="Rectangle 55"/>
            <p:cNvSpPr/>
            <p:nvPr/>
          </p:nvSpPr>
          <p:spPr>
            <a:xfrm>
              <a:off x="6032182" y="1928812"/>
              <a:ext cx="5626418" cy="2616518"/>
            </a:xfrm>
            <a:prstGeom prst="roundRect">
              <a:avLst>
                <a:gd name="adj" fmla="val 364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160580" y="2080736"/>
              <a:ext cx="18817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MapMgr · 选择建造者与指挥者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051232" y="3007042"/>
              <a:ext cx="5588318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051232" y="3358515"/>
              <a:ext cx="5588318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160580" y="2340769"/>
              <a:ext cx="3295650" cy="2129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setActiveMap(MapId mapId)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MapBuilder builder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CommonMapBuilder();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MapDirector director;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(mapId == MapId.TOWN_MAP)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director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TownMapDirector(builder);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(mapId == MapId.CITY_MAP)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director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CityMapDirector(builder);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.currentMap = director.makeMap();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67" name="c2-card-2"/>
          <p:cNvGrpSpPr/>
          <p:nvPr/>
        </p:nvGrpSpPr>
        <p:grpSpPr>
          <a:xfrm>
            <a:off x="6032182" y="4709160"/>
            <a:ext cx="5626418" cy="1540192"/>
            <a:chOff x="6032182" y="4709160"/>
            <a:chExt cx="5626418" cy="1540192"/>
          </a:xfrm>
        </p:grpSpPr>
        <p:sp>
          <p:nvSpPr>
            <p:cNvPr id="61" name="Rectangle 61"/>
            <p:cNvSpPr/>
            <p:nvPr/>
          </p:nvSpPr>
          <p:spPr>
            <a:xfrm>
              <a:off x="6032182" y="4709160"/>
              <a:ext cx="5626418" cy="1540192"/>
            </a:xfrm>
            <a:prstGeom prst="roundRect">
              <a:avLst>
                <a:gd name="adj" fmla="val 865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6041708" y="4842510"/>
              <a:ext cx="47625" cy="127349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6251258" y="489013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342977" y="492299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判断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817233" y="4930616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老师自己的结论：这里用它意义不大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244780" y="5246846"/>
              <a:ext cx="4914138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地图只有 Block 一种部件，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buildBlock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一个方法就够了，建造者一侧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根本没有可替换的实现；小镇地图和城市地图的差别只在布局数据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上，装配算法也是同一套。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建造者模式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367528" cy="2997517"/>
            <a:chOff x="667512" y="1835468"/>
            <a:chExt cx="5367528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36752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优缺点、适用场景与变体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0149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什么时候该用，什么时候用了反而更麻烦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四个优点与两个缺点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四类适用场景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三档退化与链式写法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建造者模式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13 建造者 · 优缺点、适用场景与变体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优点集中在解耦，缺点集中在类的数量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card-1"/>
          <p:cNvGrpSpPr/>
          <p:nvPr/>
        </p:nvGrpSpPr>
        <p:grpSpPr>
          <a:xfrm>
            <a:off x="533400" y="1524000"/>
            <a:ext cx="5626418" cy="4090035"/>
            <a:chOff x="533400" y="1524000"/>
            <a:chExt cx="5626418" cy="40900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090035"/>
            </a:xfrm>
            <a:prstGeom prst="roundRect">
              <a:avLst>
                <a:gd name="adj" fmla="val 326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82333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45998" y="172640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四个优点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52475" y="2016442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4382" y="2051113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22223" y="2027396"/>
              <a:ext cx="47271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客户端不必知道产品内部组成的细节，产品本身与创建过程解耦，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相同的创建过程能造出不同的产品。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52475" y="2544128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04382" y="257975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22223" y="2555081"/>
              <a:ext cx="47271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每个具体建造者相互独立，替换或新增一个建造者就能得到一种新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产品。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52475" y="3071812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4382" y="310743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22223" y="3082766"/>
              <a:ext cx="50100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创建步骤分解在不同方法里，过程更清晰，也更容易用程序控制。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52475" y="3356610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04382" y="3392234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22223" y="3367564"/>
              <a:ext cx="47271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新增具体建造者不用改原有代码，指挥者针对抽象建造者编程，符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合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开闭原则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32" name="c2-card-1"/>
          <p:cNvGrpSpPr/>
          <p:nvPr/>
        </p:nvGrpSpPr>
        <p:grpSpPr>
          <a:xfrm>
            <a:off x="6464618" y="1524000"/>
            <a:ext cx="5193982" cy="1654492"/>
            <a:chOff x="6464618" y="1524000"/>
            <a:chExt cx="5193982" cy="1654492"/>
          </a:xfrm>
        </p:grpSpPr>
        <p:sp>
          <p:nvSpPr>
            <p:cNvPr id="23" name="Rectangle 23"/>
            <p:cNvSpPr/>
            <p:nvPr/>
          </p:nvSpPr>
          <p:spPr>
            <a:xfrm>
              <a:off x="6464618" y="1524000"/>
              <a:ext cx="5193982" cy="1654492"/>
            </a:xfrm>
            <a:prstGeom prst="roundRect">
              <a:avLst>
                <a:gd name="adj" fmla="val 806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474142" y="1657350"/>
              <a:ext cx="47625" cy="138779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677216" y="172640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两个缺点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6683692" y="2016442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735599" y="2051113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954393" y="2027396"/>
              <a:ext cx="42395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它造出来的产品一般共同点较多、组成部分相似。产品之间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差异很大时用不上，适用范围受限。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683692" y="2544128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735599" y="257975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954393" y="2555081"/>
              <a:ext cx="42395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产品内部变化复杂时，可能要定义很多具体建造者，系统会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变得庞大。</a:t>
              </a:r>
            </a:p>
          </p:txBody>
        </p:sp>
      </p:grpSp>
      <p:grpSp>
        <p:nvGrpSpPr>
          <p:cNvPr id="38" name="c2-callout-2"/>
          <p:cNvGrpSpPr/>
          <p:nvPr/>
        </p:nvGrpSpPr>
        <p:grpSpPr>
          <a:xfrm>
            <a:off x="6464618" y="3343275"/>
            <a:ext cx="5193982" cy="702945"/>
            <a:chOff x="6464618" y="3343275"/>
            <a:chExt cx="5193982" cy="702945"/>
          </a:xfrm>
        </p:grpSpPr>
        <p:sp>
          <p:nvSpPr>
            <p:cNvPr id="33" name="Rectangle 33"/>
            <p:cNvSpPr/>
            <p:nvPr/>
          </p:nvSpPr>
          <p:spPr>
            <a:xfrm>
              <a:off x="6464618" y="3343275"/>
              <a:ext cx="5193982" cy="702945"/>
            </a:xfrm>
            <a:prstGeom prst="roundRect">
              <a:avLst>
                <a:gd name="adj" fmla="val 16260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6669405" y="3593785"/>
              <a:ext cx="200023" cy="200023"/>
              <a:chOff x="6669405" y="3593785"/>
              <a:chExt cx="200023" cy="200023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6669405" y="359378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802755" y="36604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6972491" y="3487579"/>
              <a:ext cx="423951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两个缺点指向同一个判断：部件清单相对固定时它最划算，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部件清单本身要变时它反而是负担。</a:t>
              </a:r>
            </a:p>
          </p:txBody>
        </p:sp>
      </p:grpSp>
      <p:grpSp>
        <p:nvGrpSpPr>
          <p:cNvPr id="45" name="c2-card-3"/>
          <p:cNvGrpSpPr/>
          <p:nvPr/>
        </p:nvGrpSpPr>
        <p:grpSpPr>
          <a:xfrm>
            <a:off x="6464618" y="4210050"/>
            <a:ext cx="5193982" cy="1403032"/>
            <a:chOff x="6464618" y="4210050"/>
            <a:chExt cx="5193982" cy="1403032"/>
          </a:xfrm>
        </p:grpSpPr>
        <p:sp>
          <p:nvSpPr>
            <p:cNvPr id="39" name="Rectangle 39"/>
            <p:cNvSpPr/>
            <p:nvPr/>
          </p:nvSpPr>
          <p:spPr>
            <a:xfrm>
              <a:off x="6464618" y="4210050"/>
              <a:ext cx="5193982" cy="1403032"/>
            </a:xfrm>
            <a:prstGeom prst="roundRect">
              <a:avLst>
                <a:gd name="adj" fmla="val 95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474142" y="4343400"/>
              <a:ext cx="47625" cy="113633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683692" y="439102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769214" y="442388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怎么判断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499223" y="4431506"/>
              <a:ext cx="24520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几种产品算不算“组成部分相似”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677216" y="4747736"/>
              <a:ext cx="4499610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看它们能不能用同一组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buildXxx()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方法描述完。能，说明部件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清单一致，建造者用得上；总要为某一种产品单独加一个 build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方法，就说明不该用它。</a:t>
              </a:r>
            </a:p>
          </p:txBody>
        </p:sp>
      </p:grpSp>
      <p:grpSp>
        <p:nvGrpSpPr>
          <p:cNvPr id="52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6" name="Rectangle 46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1041273" y="6039326"/>
              <a:ext cx="81116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第三个优点常被忽略：把创建拆成若干个小方法之后，单独测试某一步、或者在某一步打日志都变得容易。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建造者模式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13 建造者 · 优缺点、适用场景与变体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四类场景该用，三种情况别用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bullets-1"/>
          <p:cNvGrpSpPr/>
          <p:nvPr/>
        </p:nvGrpSpPr>
        <p:grpSpPr>
          <a:xfrm>
            <a:off x="526542" y="1545907"/>
            <a:ext cx="5058156" cy="1764221"/>
            <a:chOff x="526542" y="1545907"/>
            <a:chExt cx="5058156" cy="1764221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适用环境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533400" y="1891665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5245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70382" y="1863090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产品对象有复杂的内部结构，通常包含多个成员属性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533400" y="2200275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5245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70382" y="2171700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产品对象的属性相互依赖，需要指定生成顺序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533400" y="2508885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5245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70382" y="2480310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对象的创建过程要独立于创建它的那个类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533400" y="2817495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5245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70382" y="2788920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要隔离复杂对象的创建和使用，并让相同的创建过程造出不同产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品</a:t>
              </a:r>
            </a:p>
          </p:txBody>
        </p:sp>
      </p:grpSp>
      <p:grpSp>
        <p:nvGrpSpPr>
          <p:cNvPr id="23" name="c1-callout-2"/>
          <p:cNvGrpSpPr/>
          <p:nvPr/>
        </p:nvGrpSpPr>
        <p:grpSpPr>
          <a:xfrm>
            <a:off x="533400" y="3427095"/>
            <a:ext cx="5410200" cy="729615"/>
            <a:chOff x="533400" y="3427095"/>
            <a:chExt cx="5410200" cy="729615"/>
          </a:xfrm>
        </p:grpSpPr>
        <p:sp>
          <p:nvSpPr>
            <p:cNvPr id="17" name="Rectangle 17"/>
            <p:cNvSpPr/>
            <p:nvPr/>
          </p:nvSpPr>
          <p:spPr>
            <a:xfrm>
              <a:off x="533400" y="3427095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738188" y="3691890"/>
              <a:ext cx="200026" cy="200025"/>
              <a:chOff x="738188" y="3691890"/>
              <a:chExt cx="200026" cy="200025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738188" y="369189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777926" y="373634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12642" y="384746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040892" y="3572827"/>
              <a:ext cx="44714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前两条描述产品，后两条描述职责划分，四条里满足两条以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上就值得考虑。</a:t>
              </a:r>
            </a:p>
          </p:txBody>
        </p:sp>
      </p:grpSp>
      <p:grpSp>
        <p:nvGrpSpPr>
          <p:cNvPr id="30" name="c1-card-3"/>
          <p:cNvGrpSpPr/>
          <p:nvPr/>
        </p:nvGrpSpPr>
        <p:grpSpPr>
          <a:xfrm>
            <a:off x="533400" y="4326255"/>
            <a:ext cx="5410200" cy="1202055"/>
            <a:chOff x="533400" y="4326255"/>
            <a:chExt cx="5410200" cy="1202055"/>
          </a:xfrm>
        </p:grpSpPr>
        <p:sp>
          <p:nvSpPr>
            <p:cNvPr id="24" name="Rectangle 24"/>
            <p:cNvSpPr/>
            <p:nvPr/>
          </p:nvSpPr>
          <p:spPr>
            <a:xfrm>
              <a:off x="533400" y="4326255"/>
              <a:ext cx="5410200" cy="1202055"/>
            </a:xfrm>
            <a:prstGeom prst="roundRect">
              <a:avLst>
                <a:gd name="adj" fmla="val 110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42925" y="4459605"/>
              <a:ext cx="47625" cy="93535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58190" y="451294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50862" y="454580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信号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323784" y="454818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三个信号同时出现时最值得用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1332" y="4873942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构造函数的参数超过四五个、其中一半是可选的、而且几种成品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共用同一份部件清单。三条同时成立，建造者基本不会用错。</a:t>
              </a:r>
            </a:p>
          </p:txBody>
        </p:sp>
      </p:grpSp>
      <p:grpSp>
        <p:nvGrpSpPr>
          <p:cNvPr id="38" name="c2-bullets-1"/>
          <p:cNvGrpSpPr/>
          <p:nvPr/>
        </p:nvGrpSpPr>
        <p:grpSpPr>
          <a:xfrm>
            <a:off x="6241542" y="1545907"/>
            <a:ext cx="5071753" cy="1198436"/>
            <a:chOff x="6241542" y="1545907"/>
            <a:chExt cx="5071753" cy="1198436"/>
          </a:xfrm>
        </p:grpSpPr>
        <p:sp>
          <p:nvSpPr>
            <p:cNvPr id="31" name="TextBox 31"/>
            <p:cNvSpPr txBox="1"/>
            <p:nvPr/>
          </p:nvSpPr>
          <p:spPr>
            <a:xfrm>
              <a:off x="6241542" y="1545907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这三种情况别用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6248400" y="1895475"/>
              <a:ext cx="102870" cy="102870"/>
            </a:xfrm>
            <a:custGeom>
              <a:avLst/>
              <a:gdLst/>
              <a:ahLst/>
              <a:cxnLst/>
              <a:rect l="l" t="t" r="r" b="b"/>
              <a:pathLst>
                <a:path w="102870" h="102870">
                  <a:moveTo>
                    <a:pt x="0" y="0"/>
                  </a:moveTo>
                  <a:lnTo>
                    <a:pt x="102870" y="102870"/>
                  </a:lnTo>
                  <a:moveTo>
                    <a:pt x="102870" y="0"/>
                  </a:moveTo>
                  <a:lnTo>
                    <a:pt x="0" y="10287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477762" y="1863090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产品只有两三个属性，一个构造函数就够</a:t>
              </a:r>
            </a:p>
          </p:txBody>
        </p:sp>
        <p:sp>
          <p:nvSpPr>
            <p:cNvPr id="34" name="Freeform 34"/>
            <p:cNvSpPr/>
            <p:nvPr/>
          </p:nvSpPr>
          <p:spPr>
            <a:xfrm>
              <a:off x="6248400" y="2204085"/>
              <a:ext cx="102870" cy="102870"/>
            </a:xfrm>
            <a:custGeom>
              <a:avLst/>
              <a:gdLst/>
              <a:ahLst/>
              <a:cxnLst/>
              <a:rect l="l" t="t" r="r" b="b"/>
              <a:pathLst>
                <a:path w="102870" h="102870">
                  <a:moveTo>
                    <a:pt x="0" y="0"/>
                  </a:moveTo>
                  <a:lnTo>
                    <a:pt x="102870" y="102870"/>
                  </a:lnTo>
                  <a:moveTo>
                    <a:pt x="102870" y="0"/>
                  </a:moveTo>
                  <a:lnTo>
                    <a:pt x="0" y="10287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477762" y="2171700"/>
              <a:ext cx="48355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几种产品的部件清单差别很大，抽不出公共的 buildXxx 接口</a:t>
              </a:r>
            </a:p>
          </p:txBody>
        </p:sp>
        <p:sp>
          <p:nvSpPr>
            <p:cNvPr id="36" name="Freeform 36"/>
            <p:cNvSpPr/>
            <p:nvPr/>
          </p:nvSpPr>
          <p:spPr>
            <a:xfrm>
              <a:off x="6248400" y="2512695"/>
              <a:ext cx="102870" cy="102870"/>
            </a:xfrm>
            <a:custGeom>
              <a:avLst/>
              <a:gdLst/>
              <a:ahLst/>
              <a:cxnLst/>
              <a:rect l="l" t="t" r="r" b="b"/>
              <a:pathLst>
                <a:path w="102870" h="102870">
                  <a:moveTo>
                    <a:pt x="0" y="0"/>
                  </a:moveTo>
                  <a:lnTo>
                    <a:pt x="102870" y="102870"/>
                  </a:lnTo>
                  <a:moveTo>
                    <a:pt x="102870" y="0"/>
                  </a:moveTo>
                  <a:lnTo>
                    <a:pt x="0" y="10287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477762" y="2480310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只有一个具体建造者，且以后也不会再加</a:t>
              </a:r>
            </a:p>
          </p:txBody>
        </p:sp>
      </p:grpSp>
      <p:grpSp>
        <p:nvGrpSpPr>
          <p:cNvPr id="45" name="c2-card-2"/>
          <p:cNvGrpSpPr/>
          <p:nvPr/>
        </p:nvGrpSpPr>
        <p:grpSpPr>
          <a:xfrm>
            <a:off x="6248400" y="2861310"/>
            <a:ext cx="5410200" cy="2667952"/>
            <a:chOff x="6248400" y="2861310"/>
            <a:chExt cx="5410200" cy="2667952"/>
          </a:xfrm>
        </p:grpSpPr>
        <p:sp>
          <p:nvSpPr>
            <p:cNvPr id="39" name="Rectangle 39"/>
            <p:cNvSpPr/>
            <p:nvPr/>
          </p:nvSpPr>
          <p:spPr>
            <a:xfrm>
              <a:off x="6248400" y="2861310"/>
              <a:ext cx="5410200" cy="2667952"/>
            </a:xfrm>
            <a:prstGeom prst="roundRect">
              <a:avLst>
                <a:gd name="adj" fmla="val 499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257925" y="2994660"/>
              <a:ext cx="47625" cy="240125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473190" y="304800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65862" y="308086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对照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038784" y="3083242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大富翁地图属于第二、三条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66332" y="3408998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上一页那个例子只有一种建造者、一种部件，抽象建造者形同虚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设。识别“不该用”和识别“该用”一样重要。</a:t>
              </a:r>
            </a:p>
          </p:txBody>
        </p:sp>
      </p:grpSp>
      <p:grpSp>
        <p:nvGrpSpPr>
          <p:cNvPr id="51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46" name="Rectangle 46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040892" y="6028373"/>
              <a:ext cx="80919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一条经验：能一行 new 出来的对象不要套建造者；要写成好几行、还得按顺序写的对象，才轮到它。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建造者模式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13 建造者 · 优缺点、适用场景与变体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三档简化：省抽象建造者、省指挥者、两者合并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5749290" cy="278702"/>
            <a:chOff x="526161" y="1547336"/>
            <a:chExt cx="5749290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574929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课件把简化分成几步，每一步都省掉一点结构，也少掉一点灵活性。</a:t>
              </a:r>
            </a:p>
          </p:txBody>
        </p:sp>
      </p:grpSp>
      <p:grpSp>
        <p:nvGrpSpPr>
          <p:cNvPr id="20" name="c1-kv-1"/>
          <p:cNvGrpSpPr/>
          <p:nvPr/>
        </p:nvGrpSpPr>
        <p:grpSpPr>
          <a:xfrm>
            <a:off x="526542" y="1964055"/>
            <a:ext cx="6066663" cy="2471928"/>
            <a:chOff x="526542" y="1964055"/>
            <a:chExt cx="6066663" cy="2471928"/>
          </a:xfrm>
        </p:grpSpPr>
        <p:sp>
          <p:nvSpPr>
            <p:cNvPr id="9" name="TextBox 9"/>
            <p:cNvSpPr txBox="1"/>
            <p:nvPr/>
          </p:nvSpPr>
          <p:spPr>
            <a:xfrm>
              <a:off x="526542" y="196405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省略抽象建造者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101977" y="1964055"/>
              <a:ext cx="412851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系统里只需要一个具体建造者时，抽象建造者没有别的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实现，可以直接去掉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33400" y="250602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26542" y="261556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再省略指挥者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101977" y="2615565"/>
              <a:ext cx="4239958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抽象建造者已经省掉后，可以把 construct() 并入具体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建造者，客户端直接调它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315849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6542" y="3267075"/>
              <a:ext cx="121386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指挥者并入抽象</a:t>
              </a:r>
              <a:br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建造者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101977" y="3267075"/>
              <a:ext cx="4239958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construct() 写进抽象建造者，系统结构变简单，但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抽象建造者同时管顺序和部件，不符合单一职责原则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381000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26542" y="391858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建造者并入产品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101977" y="3918585"/>
              <a:ext cx="4119944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极端情况下把 Builder 写成产品的内部类，就是下一页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的链式写法</a:t>
              </a:r>
            </a:p>
          </p:txBody>
        </p:sp>
      </p:grpSp>
      <p:grpSp>
        <p:nvGrpSpPr>
          <p:cNvPr id="27" name="c1-card-2"/>
          <p:cNvGrpSpPr/>
          <p:nvPr/>
        </p:nvGrpSpPr>
        <p:grpSpPr>
          <a:xfrm>
            <a:off x="533400" y="4558665"/>
            <a:ext cx="6059805" cy="1226820"/>
            <a:chOff x="533400" y="4558665"/>
            <a:chExt cx="6059805" cy="1226820"/>
          </a:xfrm>
        </p:grpSpPr>
        <p:sp>
          <p:nvSpPr>
            <p:cNvPr id="21" name="Rectangle 21"/>
            <p:cNvSpPr/>
            <p:nvPr/>
          </p:nvSpPr>
          <p:spPr>
            <a:xfrm>
              <a:off x="533400" y="4558665"/>
              <a:ext cx="6059805" cy="122682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42925" y="4692015"/>
              <a:ext cx="47625" cy="96012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63905" y="475107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55345" y="478536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建议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347597" y="479012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什么时候不要再省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7047" y="5124450"/>
              <a:ext cx="538867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construct()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稍微复杂一点，就单独封装到指挥者类里。否则抽象建造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者同时扛着“造部件”和“定顺序”两件事，以后改任何一件都要动它。</a:t>
              </a:r>
            </a:p>
          </p:txBody>
        </p:sp>
      </p:grpSp>
      <p:grpSp>
        <p:nvGrpSpPr>
          <p:cNvPr id="48" name="c2-compare-1"/>
          <p:cNvGrpSpPr/>
          <p:nvPr/>
        </p:nvGrpSpPr>
        <p:grpSpPr>
          <a:xfrm>
            <a:off x="6898005" y="1941195"/>
            <a:ext cx="4760595" cy="3843338"/>
            <a:chOff x="6898005" y="1941195"/>
            <a:chExt cx="4760595" cy="3843338"/>
          </a:xfrm>
        </p:grpSpPr>
        <p:sp>
          <p:nvSpPr>
            <p:cNvPr id="28" name="Rectangle 28"/>
            <p:cNvSpPr/>
            <p:nvPr/>
          </p:nvSpPr>
          <p:spPr>
            <a:xfrm>
              <a:off x="6898005" y="1941195"/>
              <a:ext cx="2142172" cy="3843338"/>
            </a:xfrm>
            <a:prstGeom prst="roundRect">
              <a:avLst>
                <a:gd name="adj" fmla="val 622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907530" y="2074545"/>
              <a:ext cx="47625" cy="357663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121652" y="215646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保留完整结构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137082" y="2532698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293102" y="2476500"/>
              <a:ext cx="1385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顺序与部件两个维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度独立变化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137082" y="3091815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293102" y="30356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客户端只认抽象层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137082" y="3394710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293102" y="333851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类的数量多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9516428" y="1941195"/>
              <a:ext cx="2142172" cy="3843338"/>
            </a:xfrm>
            <a:prstGeom prst="roundRect">
              <a:avLst>
                <a:gd name="adj" fmla="val 622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9525952" y="2074545"/>
              <a:ext cx="47625" cy="357663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740074" y="215646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退化写法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9755505" y="2532698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911524" y="247650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类少、上手快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9755505" y="2834640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911524" y="2778442"/>
              <a:ext cx="1385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构建顺序散落在调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用处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9755505" y="3394710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911524" y="3338512"/>
              <a:ext cx="1385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换顺序要改使用者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9086850" y="3671888"/>
              <a:ext cx="382905" cy="38290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141422" y="380285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取舍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建造者模式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13 建造者 · 优缺点、适用场景与变体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工程里最常见的变体：链式建造者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1070284" cy="308039"/>
            <a:chOff x="525399" y="1550194"/>
            <a:chExt cx="11070284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107028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把建造者写成产品的静态内部类，每个 setter 返回自己，最后用 build() 收尾。JDK 的 StringBuilder 就是这一路。</a:t>
              </a:r>
            </a:p>
          </p:txBody>
        </p:sp>
      </p:grpSp>
      <p:grpSp>
        <p:nvGrpSpPr>
          <p:cNvPr id="15" name="c1-code-1"/>
          <p:cNvGrpSpPr/>
          <p:nvPr/>
        </p:nvGrpSpPr>
        <p:grpSpPr>
          <a:xfrm>
            <a:off x="533400" y="1967865"/>
            <a:ext cx="5842635" cy="4339590"/>
            <a:chOff x="533400" y="1967865"/>
            <a:chExt cx="5842635" cy="4339590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842635" cy="4339590"/>
            </a:xfrm>
            <a:prstGeom prst="roundRect">
              <a:avLst>
                <a:gd name="adj" fmla="val 219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19789"/>
              <a:ext cx="135655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静态内部类 + 链式调用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4897755"/>
              <a:ext cx="5804535" cy="1828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52450" y="5080635"/>
              <a:ext cx="5804535" cy="1828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52450" y="5994082"/>
              <a:ext cx="5804535" cy="1828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606" y="2380536"/>
              <a:ext cx="5230876" cy="38556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40"/>
                </a:lnSpc>
              </a:pPr>
              <a:r>
                <a:rPr lang="en-US" sz="101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1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Pizza {</a:t>
              </a:r>
              <a:br/>
              <a:r>
                <a:rPr lang="zh-CN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1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1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en-US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dough;      </a:t>
              </a:r>
              <a:r>
                <a:rPr lang="zh-CN" sz="101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必填 */</a:t>
              </a:r>
              <a:br/>
              <a:r>
                <a:rPr lang="zh-CN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1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1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en-US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sauce;</a:t>
              </a:r>
              <a:br/>
              <a:r>
                <a:rPr lang="zh-CN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1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1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zh-CN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1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boolean</a:t>
              </a:r>
              <a:r>
                <a:rPr lang="en-US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cheese;    </a:t>
              </a:r>
              <a:r>
                <a:rPr lang="zh-CN" sz="101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选填，有默认值 */</a:t>
              </a:r>
              <a:br/>
              <a:r>
                <a:rPr lang="zh-CN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1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Pizza(Builder b) {       </a:t>
              </a:r>
              <a:r>
                <a:rPr lang="zh-CN" sz="101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只能由建造者创建 */</a:t>
              </a:r>
              <a:br/>
              <a:r>
                <a:rPr lang="zh-CN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1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.dough  = b.dough;</a:t>
              </a:r>
              <a:br/>
              <a:r>
                <a:rPr lang="zh-CN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1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.sauce  = b.sauce;</a:t>
              </a:r>
              <a:br/>
              <a:r>
                <a:rPr lang="zh-CN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1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.cheese = b.cheese;</a:t>
              </a:r>
              <a:br/>
              <a:r>
                <a:rPr lang="zh-CN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1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1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1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Builder {</a:t>
              </a:r>
              <a:br/>
              <a:r>
                <a:rPr lang="zh-CN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1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1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en-US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dough;</a:t>
              </a:r>
              <a:br/>
              <a:r>
                <a:rPr lang="zh-CN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1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sauce = </a:t>
              </a:r>
              <a:r>
                <a:rPr lang="zh-CN" sz="101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"番茄"</a:t>
              </a:r>
              <a:r>
                <a:rPr lang="zh-CN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1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1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boolean</a:t>
              </a:r>
              <a:r>
                <a:rPr lang="en-US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cheese = </a:t>
              </a:r>
              <a:r>
                <a:rPr lang="en-US" sz="101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false</a:t>
              </a:r>
              <a:r>
                <a:rPr lang="zh-CN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1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Builder(String dough) { </a:t>
              </a:r>
              <a:r>
                <a:rPr lang="en-US" sz="101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.dough = dough; }</a:t>
              </a:r>
              <a:br/>
              <a:r>
                <a:rPr lang="zh-CN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1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Builder sauce(String s)   { </a:t>
              </a:r>
              <a:r>
                <a:rPr lang="en-US" sz="101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.sauce = s;  </a:t>
              </a:r>
              <a:r>
                <a:rPr lang="en-US" sz="101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1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zh-CN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 }</a:t>
              </a:r>
              <a:br/>
              <a:r>
                <a:rPr lang="zh-CN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1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Builder cheese(</a:t>
              </a:r>
              <a:r>
                <a:rPr lang="en-US" sz="101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boolean</a:t>
              </a:r>
              <a:r>
                <a:rPr lang="en-US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c) { </a:t>
              </a:r>
              <a:r>
                <a:rPr lang="en-US" sz="101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.cheese = c; </a:t>
              </a:r>
              <a:r>
                <a:rPr lang="en-US" sz="101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1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zh-CN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 }</a:t>
              </a:r>
              <a:br/>
              <a:r>
                <a:rPr lang="zh-CN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1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Pizza build() { </a:t>
              </a:r>
              <a:r>
                <a:rPr lang="en-US" sz="101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1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Pizza(</a:t>
              </a:r>
              <a:r>
                <a:rPr lang="en-US" sz="101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zh-CN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}</a:t>
              </a:r>
              <a:br/>
              <a:r>
                <a:rPr lang="zh-CN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Pizza p = </a:t>
              </a:r>
              <a:r>
                <a:rPr lang="en-US" sz="101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Pizza.Builder(</a:t>
              </a:r>
              <a:r>
                <a:rPr lang="zh-CN" sz="101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"薄底"</a:t>
              </a:r>
              <a:r>
                <a:rPr lang="en-US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).sauce(</a:t>
              </a:r>
              <a:r>
                <a:rPr lang="zh-CN" sz="101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"黑椒"</a:t>
              </a:r>
              <a:r>
                <a:rPr lang="en-US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).cheese(</a:t>
              </a:r>
              <a:r>
                <a:rPr lang="en-US" sz="101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en-US" sz="10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).build();</a:t>
              </a:r>
            </a:p>
          </p:txBody>
        </p:sp>
      </p:grpSp>
      <p:grpSp>
        <p:nvGrpSpPr>
          <p:cNvPr id="23" name="c2-bullets-1"/>
          <p:cNvGrpSpPr/>
          <p:nvPr/>
        </p:nvGrpSpPr>
        <p:grpSpPr>
          <a:xfrm>
            <a:off x="6673215" y="1992630"/>
            <a:ext cx="4514850" cy="1337310"/>
            <a:chOff x="6673215" y="1992630"/>
            <a:chExt cx="4514850" cy="1337310"/>
          </a:xfrm>
        </p:grpSpPr>
        <p:sp>
          <p:nvSpPr>
            <p:cNvPr id="16" name="TextBox 16"/>
            <p:cNvSpPr txBox="1"/>
            <p:nvPr/>
          </p:nvSpPr>
          <p:spPr>
            <a:xfrm>
              <a:off x="6673215" y="1992630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它解决的是另一个问题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6680835" y="2378392"/>
              <a:ext cx="144780" cy="116205"/>
            </a:xfrm>
            <a:custGeom>
              <a:avLst/>
              <a:gdLst/>
              <a:ahLst/>
              <a:cxnLst/>
              <a:rect l="l" t="t" r="r" b="b"/>
              <a:pathLst>
                <a:path w="144780" h="116205">
                  <a:moveTo>
                    <a:pt x="0" y="61912"/>
                  </a:moveTo>
                  <a:lnTo>
                    <a:pt x="55245" y="116205"/>
                  </a:lnTo>
                  <a:lnTo>
                    <a:pt x="14478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932295" y="2346960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构造函数参数太多、还有一半是可选的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6680835" y="2723198"/>
              <a:ext cx="144780" cy="116205"/>
            </a:xfrm>
            <a:custGeom>
              <a:avLst/>
              <a:gdLst/>
              <a:ahLst/>
              <a:cxnLst/>
              <a:rect l="l" t="t" r="r" b="b"/>
              <a:pathLst>
                <a:path w="144780" h="116205">
                  <a:moveTo>
                    <a:pt x="0" y="61912"/>
                  </a:moveTo>
                  <a:lnTo>
                    <a:pt x="55245" y="116205"/>
                  </a:lnTo>
                  <a:lnTo>
                    <a:pt x="14478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932295" y="2691765"/>
              <a:ext cx="41649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产品字段可以声明成 final，对象造好后不可变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6680835" y="3068002"/>
              <a:ext cx="144780" cy="116205"/>
            </a:xfrm>
            <a:custGeom>
              <a:avLst/>
              <a:gdLst/>
              <a:ahLst/>
              <a:cxnLst/>
              <a:rect l="l" t="t" r="r" b="b"/>
              <a:pathLst>
                <a:path w="144780" h="116205">
                  <a:moveTo>
                    <a:pt x="0" y="61912"/>
                  </a:moveTo>
                  <a:lnTo>
                    <a:pt x="55245" y="116205"/>
                  </a:lnTo>
                  <a:lnTo>
                    <a:pt x="14478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932295" y="3036570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参数写在链上，读代码时知道每个值是什么意思</a:t>
              </a:r>
            </a:p>
          </p:txBody>
        </p:sp>
      </p:grpSp>
      <p:grpSp>
        <p:nvGrpSpPr>
          <p:cNvPr id="31" name="c2-card-2"/>
          <p:cNvGrpSpPr/>
          <p:nvPr/>
        </p:nvGrpSpPr>
        <p:grpSpPr>
          <a:xfrm>
            <a:off x="6680835" y="3461385"/>
            <a:ext cx="4977765" cy="2846070"/>
            <a:chOff x="6680835" y="3461385"/>
            <a:chExt cx="4977765" cy="2846070"/>
          </a:xfrm>
        </p:grpSpPr>
        <p:sp>
          <p:nvSpPr>
            <p:cNvPr id="24" name="Rectangle 24"/>
            <p:cNvSpPr/>
            <p:nvPr/>
          </p:nvSpPr>
          <p:spPr>
            <a:xfrm>
              <a:off x="6680835" y="3461385"/>
              <a:ext cx="4977765" cy="2846070"/>
            </a:xfrm>
            <a:prstGeom prst="roundRect">
              <a:avLst>
                <a:gd name="adj" fmla="val 468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690360" y="3594735"/>
              <a:ext cx="47625" cy="257937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928485" y="36709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019646" y="37066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辨析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529512" y="3706178"/>
              <a:ext cx="27315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它和 GoF 的建造者不是一回事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920865" y="4067175"/>
              <a:ext cx="425386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链式写法省掉了指挥者和抽象建造者，构建顺序由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调用方写在链上，得到的仍然是同一个 Pizza 类。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GoF 版本强调的是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同一个指挥者配不同建造者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，产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出的表示可以完全不同。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922008" y="5255419"/>
              <a:ext cx="429641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考试问“建造者模式的四个角色”时，答案仍按 GoF 的四个角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色写</a:t>
              </a:r>
            </a:p>
          </p:txBody>
        </p:sp>
      </p:grpSp>
      <p:grpSp>
        <p:nvGrpSpPr>
          <p:cNvPr id="3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2" name="TextBox 32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建造者模式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135499" cy="2997517"/>
            <a:chOff x="667512" y="1835468"/>
            <a:chExt cx="5135499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与相关模式的分界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1255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抽象工厂、工厂方法、模板方法，各自管的是哪一段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与抽象工厂的六点差别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与工厂方法的粒度差别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与模板方法的变化点差别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建造者模式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13 建造者 · 与相关模式的分界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与抽象工厂的比较：组装厂对配件厂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863682" cy="308039"/>
            <a:chOff x="525399" y="1550194"/>
            <a:chExt cx="10863682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86368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把抽象工厂看成汽车配件生产厂，它生产一个产品族的配件；建造者就是汽车组装厂，它把部件装成一辆完整的车。</a:t>
              </a:r>
            </a:p>
          </p:txBody>
        </p:sp>
      </p:grpSp>
      <p:grpSp>
        <p:nvGrpSpPr>
          <p:cNvPr id="44" name="c1-table-1"/>
          <p:cNvGrpSpPr/>
          <p:nvPr/>
        </p:nvGrpSpPr>
        <p:grpSpPr>
          <a:xfrm>
            <a:off x="533400" y="1967865"/>
            <a:ext cx="11125200" cy="3141345"/>
            <a:chOff x="533400" y="1967865"/>
            <a:chExt cx="11125200" cy="3141345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11125200" cy="44862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578572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维度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540593" y="210264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建造者（本讲）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39284" y="2102644"/>
              <a:ext cx="16990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抽象工厂（第 12 讲）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1223" y="255127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返回什么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990850" y="2426018"/>
              <a:ext cx="4319588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089148" y="2551271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一个组装好的完整产品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329488" y="2426018"/>
              <a:ext cx="4319588" cy="42957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427786" y="2551271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一系列相关产品，逐个返回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8603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865120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00085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产品间关系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089148" y="3000851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部件与整体，属于同一个对象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427786" y="3000851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同一产品族，位于不同的产品等级结构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30898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41223" y="344947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谁控制过程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089148" y="3449479"/>
              <a:ext cx="25373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指挥者的 construct() 固定步骤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427786" y="3449479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客户端自己决定调用哪几个工厂方法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75761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762375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1223" y="389810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调用形态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089148" y="3898106"/>
              <a:ext cx="30763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多次 buildXxx() 之后一次 getResult()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427786" y="3898106"/>
              <a:ext cx="24925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每种产品各调一次 createXxx()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2071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41223" y="434673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关注点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089148" y="434673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构建的步骤与顺序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427786" y="434673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产品族内部的搭配一致性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465582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33400" y="4660582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41223" y="479536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客户端做什么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089148" y="4795361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挑一个具体建造者，交给指挥者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427786" y="4795361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实例化一个具体工厂，再调它的工厂方法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1967865"/>
              <a:ext cx="11125200" cy="31413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2976562" y="1967865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7315200" y="1967865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0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5" name="Rectangle 45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040130" y="5991225"/>
              <a:ext cx="77289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一句话区分：建造者关心“怎么一步步装出来”，抽象工厂关心“这一族零件是否配套”。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建造者模式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13 建造者 · 与相关模式的分界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与工厂方法、模板方法的分界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kv-1"/>
          <p:cNvGrpSpPr/>
          <p:nvPr/>
        </p:nvGrpSpPr>
        <p:grpSpPr>
          <a:xfrm>
            <a:off x="526923" y="1545431"/>
            <a:ext cx="5416677" cy="2330577"/>
            <a:chOff x="526923" y="1545431"/>
            <a:chExt cx="5416677" cy="2330577"/>
          </a:xfrm>
        </p:grpSpPr>
        <p:sp>
          <p:nvSpPr>
            <p:cNvPr id="7" name="TextBox 7"/>
            <p:cNvSpPr txBox="1"/>
            <p:nvPr/>
          </p:nvSpPr>
          <p:spPr>
            <a:xfrm>
              <a:off x="526923" y="1545431"/>
              <a:ext cx="16990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工厂方法（第 11 讲）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420493" y="1545431"/>
              <a:ext cx="326415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一次调用返回一个产品，不关心它内部由几步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装成；建造者要调多次 buildXxx 才拿到成品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205644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6923" y="2158841"/>
              <a:ext cx="16990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简单工厂（第 10 讲）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420493" y="2158841"/>
              <a:ext cx="326415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选择发生在工厂类的分支里；建造者根本不做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选择，选哪个建造者是客户端的事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67081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6923" y="2772251"/>
              <a:ext cx="16990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原型模式（第 14 讲）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420493" y="2772251"/>
              <a:ext cx="326415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靠复制一个样板对象得到新对象，不走装配流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328422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6923" y="3386614"/>
              <a:ext cx="16990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单例模式（第 15 讲）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420493" y="3386614"/>
              <a:ext cx="326415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具体建造者常常带状态，不适合做成单例；指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挥者无状态时可以</a:t>
              </a:r>
            </a:p>
          </p:txBody>
        </p:sp>
      </p:grpSp>
      <p:grpSp>
        <p:nvGrpSpPr>
          <p:cNvPr id="25" name="c1-card-2"/>
          <p:cNvGrpSpPr/>
          <p:nvPr/>
        </p:nvGrpSpPr>
        <p:grpSpPr>
          <a:xfrm>
            <a:off x="533400" y="3990022"/>
            <a:ext cx="5410200" cy="1564005"/>
            <a:chOff x="533400" y="3990022"/>
            <a:chExt cx="5410200" cy="1564005"/>
          </a:xfrm>
        </p:grpSpPr>
        <p:sp>
          <p:nvSpPr>
            <p:cNvPr id="19" name="Rectangle 19"/>
            <p:cNvSpPr/>
            <p:nvPr/>
          </p:nvSpPr>
          <p:spPr>
            <a:xfrm>
              <a:off x="533400" y="3990022"/>
              <a:ext cx="5410200" cy="1564005"/>
            </a:xfrm>
            <a:prstGeom prst="roundRect">
              <a:avLst>
                <a:gd name="adj" fmla="val 85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42925" y="4123372"/>
              <a:ext cx="47625" cy="12973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52475" y="417099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45147" y="420385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回看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318450" y="4210526"/>
              <a:ext cx="23882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6、7 页的演变就是这条分界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45998" y="4526756"/>
              <a:ext cx="4784090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演变二的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getProduct(arg)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一次交出整个产品，粒度同工厂方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法；演变四拆成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buildSubPartA()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等几步、由指挥者定顺序，才成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了建造者。</a:t>
              </a:r>
            </a:p>
          </p:txBody>
        </p:sp>
      </p:grpSp>
      <p:grpSp>
        <p:nvGrpSpPr>
          <p:cNvPr id="36" name="c2-card-1"/>
          <p:cNvGrpSpPr/>
          <p:nvPr/>
        </p:nvGrpSpPr>
        <p:grpSpPr>
          <a:xfrm>
            <a:off x="6248400" y="1524000"/>
            <a:ext cx="5410200" cy="2462212"/>
            <a:chOff x="6248400" y="1524000"/>
            <a:chExt cx="5410200" cy="2462212"/>
          </a:xfrm>
        </p:grpSpPr>
        <p:sp>
          <p:nvSpPr>
            <p:cNvPr id="26" name="Rectangle 26"/>
            <p:cNvSpPr/>
            <p:nvPr/>
          </p:nvSpPr>
          <p:spPr>
            <a:xfrm>
              <a:off x="6248400" y="1524000"/>
              <a:ext cx="5410200" cy="2462212"/>
            </a:xfrm>
            <a:prstGeom prst="roundRect">
              <a:avLst>
                <a:gd name="adj" fmla="val 5416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4293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5220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重点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995351" y="1744504"/>
              <a:ext cx="23882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与模板方法（第 39 讲）的差别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22898" y="2061686"/>
              <a:ext cx="458089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两者都能做到“固定的流程、不同的结果”，差别在变化点放在哪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里。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438900" y="2641282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94348" y="2589371"/>
              <a:ext cx="461340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模板方法：流程写在父类，每一步由 </a:t>
              </a:r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子类覆盖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，变化点在继承体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系里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438900" y="3169920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94348" y="3117056"/>
              <a:ext cx="461340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建造者：流程写在指挥者，每一步 </a:t>
              </a:r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委托给另一个对象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，变化点在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被组合的建造者里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24041" y="3641408"/>
              <a:ext cx="36857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组合比继承松，运行时换建造者即可，不必重新编译使用者</a:t>
              </a:r>
            </a:p>
          </p:txBody>
        </p:sp>
      </p:grpSp>
      <p:grpSp>
        <p:nvGrpSpPr>
          <p:cNvPr id="43" name="c2-card-2"/>
          <p:cNvGrpSpPr/>
          <p:nvPr/>
        </p:nvGrpSpPr>
        <p:grpSpPr>
          <a:xfrm>
            <a:off x="6248400" y="4150995"/>
            <a:ext cx="5410200" cy="1403032"/>
            <a:chOff x="6248400" y="4150995"/>
            <a:chExt cx="5410200" cy="1403032"/>
          </a:xfrm>
        </p:grpSpPr>
        <p:sp>
          <p:nvSpPr>
            <p:cNvPr id="37" name="Rectangle 37"/>
            <p:cNvSpPr/>
            <p:nvPr/>
          </p:nvSpPr>
          <p:spPr>
            <a:xfrm>
              <a:off x="6248400" y="4150995"/>
              <a:ext cx="5410200" cy="1403032"/>
            </a:xfrm>
            <a:prstGeom prst="roundRect">
              <a:avLst>
                <a:gd name="adj" fmla="val 95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257925" y="4284345"/>
              <a:ext cx="47625" cy="113633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467475" y="433197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60147" y="436483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连带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033451" y="4371499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两个模式常常同时出现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60998" y="4688681"/>
              <a:ext cx="472719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指挥者的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construct()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本身就是一个模板方法，只是它调用的不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是自己的抽象方法，而是建造者的方法。抽象指挥者派生出多个具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体指挥者时，这一点更明显。</a:t>
              </a:r>
            </a:p>
          </p:txBody>
        </p:sp>
      </p:grpSp>
      <p:grpSp>
        <p:nvGrpSpPr>
          <p:cNvPr id="49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4" name="Rectangle 44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1273" y="6039326"/>
              <a:ext cx="73018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工厂方法回答“造哪一个”，建造者回答“怎么一步步装出来”，模板方法回答“这套流程分几步”。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建造者模式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3669487" cy="2997517"/>
            <a:chOff x="667512" y="1835468"/>
            <a:chExt cx="3669487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第六部分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45973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自测与小结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6595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 道题覆盖定义、角色、代码和辨析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定义与角色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代码与执行顺序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退化与模式辨析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建造者模式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742313" cy="909257"/>
            <a:chOff x="520446" y="342900"/>
            <a:chExt cx="174231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自测（一）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254442"/>
            <a:chOff x="533400" y="1524000"/>
            <a:chExt cx="5410200" cy="12544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4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8947" y="207264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建造者模式的定义怎么说？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8947" y="2375535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构建与表示分离，同过程造不同表示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2953702"/>
            <a:ext cx="5410200" cy="1254442"/>
            <a:chOff x="533400" y="2953702"/>
            <a:chExt cx="5410200" cy="1254442"/>
          </a:xfrm>
        </p:grpSpPr>
        <p:sp>
          <p:nvSpPr>
            <p:cNvPr id="13" name="Rectangle 13"/>
            <p:cNvSpPr/>
            <p:nvPr/>
          </p:nvSpPr>
          <p:spPr>
            <a:xfrm>
              <a:off x="533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5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4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8947" y="350329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四个角色分别是什么？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8947" y="3805238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产品、抽象建造者、具体建造者、指挥者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383405"/>
            <a:ext cx="5410200" cy="1254442"/>
            <a:chOff x="533400" y="4383405"/>
            <a:chExt cx="5410200" cy="1254442"/>
          </a:xfrm>
        </p:grpSpPr>
        <p:sp>
          <p:nvSpPr>
            <p:cNvPr id="19" name="Rectangle 19"/>
            <p:cNvSpPr/>
            <p:nvPr/>
          </p:nvSpPr>
          <p:spPr>
            <a:xfrm>
              <a:off x="533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25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4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8947" y="493299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产品对象最后由谁交出来？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8947" y="5234940"/>
              <a:ext cx="31089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建造者的 getResult，指挥者转交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1254442"/>
            <a:chOff x="6248400" y="1524000"/>
            <a:chExt cx="5410200" cy="1254442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40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29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33947" y="207264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它按目的和范围各属哪一类？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33947" y="2375535"/>
              <a:ext cx="18583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创建型 + 对象模式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248400" y="2953702"/>
            <a:ext cx="5410200" cy="1254442"/>
            <a:chOff x="6248400" y="2953702"/>
            <a:chExt cx="5410200" cy="1254442"/>
          </a:xfrm>
        </p:grpSpPr>
        <p:sp>
          <p:nvSpPr>
            <p:cNvPr id="31" name="Rectangle 31"/>
            <p:cNvSpPr/>
            <p:nvPr/>
          </p:nvSpPr>
          <p:spPr>
            <a:xfrm>
              <a:off x="6248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40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29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33947" y="3503295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指挥者类有哪两个作用？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33947" y="3805238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隔离客户与生产过程，控制生成过程</a:t>
              </a:r>
            </a:p>
          </p:txBody>
        </p:sp>
      </p:grpSp>
      <p:grpSp>
        <p:nvGrpSpPr>
          <p:cNvPr id="42" name="c2-card-3"/>
          <p:cNvGrpSpPr/>
          <p:nvPr/>
        </p:nvGrpSpPr>
        <p:grpSpPr>
          <a:xfrm>
            <a:off x="6248400" y="4383405"/>
            <a:ext cx="5410200" cy="1254442"/>
            <a:chOff x="6248400" y="4383405"/>
            <a:chExt cx="5410200" cy="1254442"/>
          </a:xfrm>
        </p:grpSpPr>
        <p:sp>
          <p:nvSpPr>
            <p:cNvPr id="37" name="Rectangle 37"/>
            <p:cNvSpPr/>
            <p:nvPr/>
          </p:nvSpPr>
          <p:spPr>
            <a:xfrm>
              <a:off x="6248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40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29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33947" y="493299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抽象建造者漏掉返回方法会怎样？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33947" y="523494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客户端拿不到造好的产品</a:t>
              </a:r>
            </a:p>
          </p:txBody>
        </p:sp>
      </p:grpSp>
      <p:grpSp>
        <p:nvGrpSpPr>
          <p:cNvPr id="49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3" name="Rectangle 4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892" y="6023610"/>
              <a:ext cx="56475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答不上来的题，回到对应正文页把那一张类图或那一段代码再读一遍。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建造者模式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742313" cy="909257"/>
            <a:chOff x="520446" y="342900"/>
            <a:chExt cx="174231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自测（二）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254442"/>
            <a:chOff x="533400" y="1524000"/>
            <a:chExt cx="5410200" cy="12544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4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8947" y="207264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换一个具体建造者会得到什么？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8947" y="2375535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同样的步骤，装出不同的表示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2953702"/>
            <a:ext cx="5410200" cy="1254442"/>
            <a:chOff x="533400" y="2953702"/>
            <a:chExt cx="5410200" cy="1254442"/>
          </a:xfrm>
        </p:grpSpPr>
        <p:sp>
          <p:nvSpPr>
            <p:cNvPr id="13" name="Rectangle 13"/>
            <p:cNvSpPr/>
            <p:nvPr/>
          </p:nvSpPr>
          <p:spPr>
            <a:xfrm>
              <a:off x="533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5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4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8947" y="3503295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指挥者也省掉有什么代价？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8947" y="380523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构建顺序落回使用者自己写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383405"/>
            <a:ext cx="5410200" cy="1254442"/>
            <a:chOff x="533400" y="4383405"/>
            <a:chExt cx="5410200" cy="1254442"/>
          </a:xfrm>
        </p:grpSpPr>
        <p:sp>
          <p:nvSpPr>
            <p:cNvPr id="19" name="Rectangle 19"/>
            <p:cNvSpPr/>
            <p:nvPr/>
          </p:nvSpPr>
          <p:spPr>
            <a:xfrm>
              <a:off x="533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25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4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8947" y="493299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与模板方法的差别在哪？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8947" y="5234940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变化点在被委托对象，不在子类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1254442"/>
            <a:chOff x="6248400" y="1524000"/>
            <a:chExt cx="5410200" cy="1254442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40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29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33947" y="207264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只有一个具体建造者时？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33947" y="2375535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抽象建造者可省，模式已退化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248400" y="2953702"/>
            <a:ext cx="5410200" cy="1254442"/>
            <a:chOff x="6248400" y="2953702"/>
            <a:chExt cx="5410200" cy="1254442"/>
          </a:xfrm>
        </p:grpSpPr>
        <p:sp>
          <p:nvSpPr>
            <p:cNvPr id="31" name="Rectangle 31"/>
            <p:cNvSpPr/>
            <p:nvPr/>
          </p:nvSpPr>
          <p:spPr>
            <a:xfrm>
              <a:off x="6248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40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29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33947" y="3503295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与抽象工厂的产出差别在哪？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33947" y="3805238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前者一个完整对象，后者一族产品</a:t>
              </a:r>
            </a:p>
          </p:txBody>
        </p:sp>
      </p:grpSp>
      <p:grpSp>
        <p:nvGrpSpPr>
          <p:cNvPr id="42" name="c2-card-3"/>
          <p:cNvGrpSpPr/>
          <p:nvPr/>
        </p:nvGrpSpPr>
        <p:grpSpPr>
          <a:xfrm>
            <a:off x="6248400" y="4383405"/>
            <a:ext cx="5410200" cy="1254442"/>
            <a:chOff x="6248400" y="4383405"/>
            <a:chExt cx="5410200" cy="1254442"/>
          </a:xfrm>
        </p:grpSpPr>
        <p:sp>
          <p:nvSpPr>
            <p:cNvPr id="37" name="Rectangle 37"/>
            <p:cNvSpPr/>
            <p:nvPr/>
          </p:nvSpPr>
          <p:spPr>
            <a:xfrm>
              <a:off x="6248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40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29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33947" y="493299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产品之间差异很大时适合吗？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33947" y="5234940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不适合，抽不出公共的部件接口</a:t>
              </a:r>
            </a:p>
          </p:txBody>
        </p:sp>
      </p:grpSp>
      <p:grpSp>
        <p:nvGrpSpPr>
          <p:cNvPr id="48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3" name="Rectangle 4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0892" y="6023610"/>
              <a:ext cx="71650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11 题提醒：指挥者的 construct() 自己就是一个模板方法，两个模式常常一起出现。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建造者模式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90297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42189" y="407194"/>
              <a:ext cx="6853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13 建造者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bullets-1"/>
          <p:cNvGrpSpPr/>
          <p:nvPr/>
        </p:nvGrpSpPr>
        <p:grpSpPr>
          <a:xfrm>
            <a:off x="533400" y="1534478"/>
            <a:ext cx="7700296" cy="1520380"/>
            <a:chOff x="533400" y="1534478"/>
            <a:chExt cx="7700296" cy="1520380"/>
          </a:xfrm>
        </p:grpSpPr>
        <p:sp>
          <p:nvSpPr>
            <p:cNvPr id="7" name="Ellipse 7"/>
            <p:cNvSpPr/>
            <p:nvPr/>
          </p:nvSpPr>
          <p:spPr>
            <a:xfrm>
              <a:off x="533400" y="1534478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89078" y="157286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14197" y="1545907"/>
              <a:ext cx="61927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建造者模式把复杂对象的构建与它的表示分离，一步一步装配出一个完整产品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1844993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89078" y="188433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14197" y="1857375"/>
              <a:ext cx="61927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四个角色：产品、抽象建造者、具体建造者、指挥者；指挥者只认抽象建造者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156460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89078" y="219484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14197" y="2168842"/>
              <a:ext cx="74194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“同样的构建过程创建不同的表示”落在代码上，就是 construct() 不变、换一个具体建造者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2467927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89078" y="250631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14197" y="2479358"/>
              <a:ext cx="58293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优点是解耦与可替换，代价是类的数量；产品部件清单相对固定时最划算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2778442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89078" y="281778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14197" y="2790825"/>
              <a:ext cx="65562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省抽象建造者、省指挥者、并入产品，是三档常见的退化，各自丢掉一部分灵活性</a:t>
              </a:r>
            </a:p>
          </p:txBody>
        </p:sp>
      </p:grpSp>
      <p:grpSp>
        <p:nvGrpSpPr>
          <p:cNvPr id="46" name="c1-card-2"/>
          <p:cNvGrpSpPr/>
          <p:nvPr/>
        </p:nvGrpSpPr>
        <p:grpSpPr>
          <a:xfrm>
            <a:off x="533400" y="3176588"/>
            <a:ext cx="11125200" cy="2525078"/>
            <a:chOff x="533400" y="3176588"/>
            <a:chExt cx="11125200" cy="2525078"/>
          </a:xfrm>
        </p:grpSpPr>
        <p:sp>
          <p:nvSpPr>
            <p:cNvPr id="23" name="Rectangle 23"/>
            <p:cNvSpPr/>
            <p:nvPr/>
          </p:nvSpPr>
          <p:spPr>
            <a:xfrm>
              <a:off x="533400" y="3176588"/>
              <a:ext cx="11125200" cy="2525078"/>
            </a:xfrm>
            <a:prstGeom prst="roundRect">
              <a:avLst>
                <a:gd name="adj" fmla="val 528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42925" y="3309938"/>
              <a:ext cx="47625" cy="225837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63905" y="3368992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47344" y="340328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更正汇总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614297" y="340899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本讲订正的源课件问题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63905" y="3730942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19583" y="376932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44702" y="3743325"/>
              <a:ext cx="35848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第 11 页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this.builder = builer;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少一个字母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63905" y="4033838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19583" y="407222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44702" y="4046220"/>
              <a:ext cx="44919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第 21 页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new Message()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实例化抽象类，且缺返回方法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763905" y="4335780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19583" y="437511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44702" y="4348162"/>
              <a:ext cx="38142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陈伟课件第 5、6 页把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Product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拼成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Procduct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63905" y="4638675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19583" y="467706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44702" y="4651058"/>
              <a:ext cx="43084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9 页两种注入方式混用，pDirector 写成 director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763905" y="4941570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19583" y="497995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44702" y="4953000"/>
              <a:ext cx="43963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14 页 MazeBuilder 调用与声明首字母大小写不一致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63905" y="5243512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19583" y="528189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44702" y="5255895"/>
              <a:ext cx="39937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12 页“使用相同的产品”应为“相同的构建过程”</a:t>
              </a:r>
            </a:p>
          </p:txBody>
        </p:sp>
      </p:grpSp>
      <p:grpSp>
        <p:nvGrpSpPr>
          <p:cNvPr id="52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7" name="Rectangle 47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1040892" y="6023610"/>
              <a:ext cx="101546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遇到“部件多、装配有顺序、同一套流程要产出几种成品”的场景，先想建造者；不装配而直接复制现成对象的做法见第 14 讲。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建造者模式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sdp_13">
  <a:themeElements>
    <a:clrScheme name="sdp_1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dp_13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dp_1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2026-09-23T04:20:40Z</dcterms:created>
  <dcterms:modified xsi:type="dcterms:W3CDTF">2026-09-23T04:20:40Z</dcterms:modified>
  <cp:category/>
  <cp:contentStatus/>
</cp:coreProperties>
</file>