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1f88b7e7856711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ef5dc7ff122c70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c35924133cd3df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第二十四讲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一个对象变了，依赖它的全都自动跟着变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订报纸与时钟模型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推模型与拉模型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346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支持与 MVC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订报纸去掉邮局之后，报社怎么知道该把报纸送给谁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对象间的一对多依赖，状态一变，依赖它的全部自动更新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904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Subject、ConcreteSubject、Observer、ConcreteObserver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96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骨架四个类，再看推模型和拉模型各改哪一行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猫狗老鼠、时钟模型、自定义登录控件三个完整例子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扩展与分界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662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的 Observable/Observer、MVC，以及和中介者的区别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能默画出观察者模式的标准类图，并说清四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个角色之间的箭头方向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能写出 attach / detach 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notifyObservers / update 这条调用链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能判断一段需求该用推模型还是拉模型，并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说出各自的代价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能区分观察者、中介者、职责链三种“一个请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求牵动多方”的模式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动机与定义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从订报纸和走时的钟，找出同一个问题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订报纸流程里邮局可以去掉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一个对象变了怎么通知一群对象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定义与四个别名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动机与定义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订报纸这件事，邮局其实可以去掉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先看一个谁都经历过的流程，再把中间跑腿的角色拿掉，问题就露出来了。</a:t>
              </a:r>
            </a:p>
          </p:txBody>
        </p:sp>
      </p:grpSp>
      <p:grpSp>
        <p:nvGrpSpPr>
          <p:cNvPr id="33" name="c1-graph-1"/>
          <p:cNvGrpSpPr/>
          <p:nvPr/>
        </p:nvGrpSpPr>
        <p:grpSpPr>
          <a:xfrm>
            <a:off x="889635" y="1965484"/>
            <a:ext cx="5104447" cy="1739265"/>
            <a:chOff x="889635" y="1965484"/>
            <a:chExt cx="5104447" cy="1739265"/>
          </a:xfrm>
        </p:grpSpPr>
        <p:sp>
          <p:nvSpPr>
            <p:cNvPr id="9" name="Freeform 9"/>
            <p:cNvSpPr/>
            <p:nvPr/>
          </p:nvSpPr>
          <p:spPr>
            <a:xfrm>
              <a:off x="1797368" y="2536190"/>
              <a:ext cx="1334453" cy="314643"/>
            </a:xfrm>
            <a:custGeom>
              <a:avLst/>
              <a:gdLst/>
              <a:ahLst/>
              <a:cxnLst/>
              <a:rect l="l" t="t" r="r" b="b"/>
              <a:pathLst>
                <a:path w="1334453" h="314643">
                  <a:moveTo>
                    <a:pt x="0" y="314643"/>
                  </a:moveTo>
                  <a:cubicBezTo>
                    <a:pt x="447040" y="1588"/>
                    <a:pt x="891858" y="0"/>
                    <a:pt x="1334453" y="30988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04198" y="2807018"/>
              <a:ext cx="105728" cy="94298"/>
            </a:xfrm>
            <a:custGeom>
              <a:avLst/>
              <a:gdLst/>
              <a:ahLst/>
              <a:cxnLst/>
              <a:rect l="l" t="t" r="r" b="b"/>
              <a:pathLst>
                <a:path w="105728" h="94298">
                  <a:moveTo>
                    <a:pt x="105728" y="94298"/>
                  </a:moveTo>
                  <a:lnTo>
                    <a:pt x="0" y="7810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808095" y="2536190"/>
              <a:ext cx="1406842" cy="365125"/>
            </a:xfrm>
            <a:custGeom>
              <a:avLst/>
              <a:gdLst/>
              <a:ahLst/>
              <a:cxnLst/>
              <a:rect l="l" t="t" r="r" b="b"/>
              <a:pathLst>
                <a:path w="1406842" h="365125">
                  <a:moveTo>
                    <a:pt x="0" y="365125"/>
                  </a:moveTo>
                  <a:cubicBezTo>
                    <a:pt x="494665" y="18415"/>
                    <a:pt x="963612" y="0"/>
                    <a:pt x="1406842" y="30988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87315" y="2807018"/>
              <a:ext cx="105728" cy="94298"/>
            </a:xfrm>
            <a:custGeom>
              <a:avLst/>
              <a:gdLst/>
              <a:ahLst/>
              <a:cxnLst/>
              <a:rect l="l" t="t" r="r" b="b"/>
              <a:pathLst>
                <a:path w="105728" h="94298">
                  <a:moveTo>
                    <a:pt x="105728" y="94298"/>
                  </a:moveTo>
                  <a:lnTo>
                    <a:pt x="0" y="78105"/>
                  </a:lnTo>
                  <a:lnTo>
                    <a:pt x="542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86200" y="3320415"/>
              <a:ext cx="1406843" cy="364173"/>
            </a:xfrm>
            <a:custGeom>
              <a:avLst/>
              <a:gdLst/>
              <a:ahLst/>
              <a:cxnLst/>
              <a:rect l="l" t="t" r="r" b="b"/>
              <a:pathLst>
                <a:path w="1406843" h="364173">
                  <a:moveTo>
                    <a:pt x="1406843" y="0"/>
                  </a:moveTo>
                  <a:cubicBezTo>
                    <a:pt x="911542" y="346075"/>
                    <a:pt x="442595" y="364173"/>
                    <a:pt x="0" y="5429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08095" y="3320415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0" y="0"/>
                  </a:moveTo>
                  <a:lnTo>
                    <a:pt x="105727" y="15240"/>
                  </a:lnTo>
                  <a:lnTo>
                    <a:pt x="51435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875472" y="3320415"/>
              <a:ext cx="1334452" cy="381000"/>
            </a:xfrm>
            <a:custGeom>
              <a:avLst/>
              <a:gdLst/>
              <a:ahLst/>
              <a:cxnLst/>
              <a:rect l="l" t="t" r="r" b="b"/>
              <a:pathLst>
                <a:path w="1334452" h="381000">
                  <a:moveTo>
                    <a:pt x="1334452" y="0"/>
                  </a:moveTo>
                  <a:cubicBezTo>
                    <a:pt x="839787" y="346075"/>
                    <a:pt x="394970" y="381000"/>
                    <a:pt x="0" y="10477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97368" y="3369945"/>
              <a:ext cx="105728" cy="94297"/>
            </a:xfrm>
            <a:custGeom>
              <a:avLst/>
              <a:gdLst/>
              <a:ahLst/>
              <a:cxnLst/>
              <a:rect l="l" t="t" r="r" b="b"/>
              <a:pathLst>
                <a:path w="105728" h="94297">
                  <a:moveTo>
                    <a:pt x="0" y="0"/>
                  </a:moveTo>
                  <a:lnTo>
                    <a:pt x="105728" y="16192"/>
                  </a:lnTo>
                  <a:lnTo>
                    <a:pt x="50483" y="9429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9635" y="2850832"/>
              <a:ext cx="1072515" cy="520065"/>
            </a:xfrm>
            <a:prstGeom prst="roundRect">
              <a:avLst>
                <a:gd name="adj" fmla="val 18315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07055" y="2901315"/>
              <a:ext cx="804862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89220" y="2901315"/>
              <a:ext cx="804862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8532" y="29622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订阅者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5551" y="3128962"/>
              <a:ext cx="8806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张三、李四……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62325" y="30451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45442" y="30451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报社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194560" y="2549842"/>
              <a:ext cx="58102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2618" y="2579846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订阅报纸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59580" y="2562225"/>
              <a:ext cx="58102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77638" y="2592229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转交订单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55758" y="3501390"/>
              <a:ext cx="78962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67250" y="3530441"/>
              <a:ext cx="765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出版后交邮局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38350" y="3513772"/>
              <a:ext cx="89344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47036" y="3542824"/>
              <a:ext cx="876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 送到订阅者手中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76347" y="196548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有邮局中转的四步</a:t>
              </a:r>
            </a:p>
          </p:txBody>
        </p:sp>
      </p:grpSp>
      <p:grpSp>
        <p:nvGrpSpPr>
          <p:cNvPr id="47" name="c1-graph-2"/>
          <p:cNvGrpSpPr/>
          <p:nvPr/>
        </p:nvGrpSpPr>
        <p:grpSpPr>
          <a:xfrm>
            <a:off x="1168718" y="4486751"/>
            <a:ext cx="4680585" cy="1071563"/>
            <a:chOff x="1168718" y="4486751"/>
            <a:chExt cx="4680585" cy="1071563"/>
          </a:xfrm>
        </p:grpSpPr>
        <p:sp>
          <p:nvSpPr>
            <p:cNvPr id="34" name="Freeform 34"/>
            <p:cNvSpPr/>
            <p:nvPr/>
          </p:nvSpPr>
          <p:spPr>
            <a:xfrm>
              <a:off x="2040255" y="4608512"/>
              <a:ext cx="2847023" cy="322580"/>
            </a:xfrm>
            <a:custGeom>
              <a:avLst/>
              <a:gdLst/>
              <a:ahLst/>
              <a:cxnLst/>
              <a:rect l="l" t="t" r="r" b="b"/>
              <a:pathLst>
                <a:path w="2847023" h="322580">
                  <a:moveTo>
                    <a:pt x="0" y="322580"/>
                  </a:moveTo>
                  <a:cubicBezTo>
                    <a:pt x="979170" y="9525"/>
                    <a:pt x="1928178" y="0"/>
                    <a:pt x="2847023" y="29400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872038" y="485679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4295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130742" y="5210175"/>
              <a:ext cx="2847023" cy="322897"/>
            </a:xfrm>
            <a:custGeom>
              <a:avLst/>
              <a:gdLst/>
              <a:ahLst/>
              <a:cxnLst/>
              <a:rect l="l" t="t" r="r" b="b"/>
              <a:pathLst>
                <a:path w="2847023" h="322897">
                  <a:moveTo>
                    <a:pt x="2847023" y="0"/>
                  </a:moveTo>
                  <a:cubicBezTo>
                    <a:pt x="1867853" y="313055"/>
                    <a:pt x="918845" y="322897"/>
                    <a:pt x="0" y="2952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040255" y="519398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16193"/>
                  </a:moveTo>
                  <a:lnTo>
                    <a:pt x="105728" y="0"/>
                  </a:lnTo>
                  <a:lnTo>
                    <a:pt x="76200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168718" y="4861560"/>
              <a:ext cx="871538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977765" y="4861560"/>
              <a:ext cx="871538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87602" y="50053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订阅者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66372" y="50053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报社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62312" y="461772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83471" y="464677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直接订阅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262312" y="536638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283471" y="539638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按期送报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44419" y="44867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去掉邮局之后只剩两步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789420" y="1928812"/>
            <a:ext cx="4869180" cy="1764030"/>
            <a:chOff x="6789420" y="1928812"/>
            <a:chExt cx="4869180" cy="1764030"/>
          </a:xfrm>
        </p:grpSpPr>
        <p:sp>
          <p:nvSpPr>
            <p:cNvPr id="48" name="Rectangle 48"/>
            <p:cNvSpPr/>
            <p:nvPr/>
          </p:nvSpPr>
          <p:spPr>
            <a:xfrm>
              <a:off x="6789420" y="1928812"/>
              <a:ext cx="4869180" cy="1764030"/>
            </a:xfrm>
            <a:prstGeom prst="roundRect">
              <a:avLst>
                <a:gd name="adj" fmla="val 75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98945" y="2062162"/>
              <a:ext cx="47625" cy="14973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1421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0688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79804" y="215074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邮局为什么可以去掉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07352" y="247650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邮局只负责中转，不生产也不消费报纸的内容。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07352" y="277653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去掉它之后，报社必须自己记住都有谁订了报，出版完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挨个送过去。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08495" y="3330416"/>
              <a:ext cx="4481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这份“都有谁订了报”的名单，就是后面类图里的 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observers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集合。</a:t>
              </a:r>
            </a:p>
          </p:txBody>
        </p:sp>
      </p:grpSp>
      <p:grpSp>
        <p:nvGrpSpPr>
          <p:cNvPr id="64" name="c2-bullets-2"/>
          <p:cNvGrpSpPr/>
          <p:nvPr/>
        </p:nvGrpSpPr>
        <p:grpSpPr>
          <a:xfrm>
            <a:off x="6782562" y="3885248"/>
            <a:ext cx="2656484" cy="1197483"/>
            <a:chOff x="6782562" y="3885248"/>
            <a:chExt cx="2656484" cy="1197483"/>
          </a:xfrm>
        </p:grpSpPr>
        <p:sp>
          <p:nvSpPr>
            <p:cNvPr id="57" name="TextBox 57"/>
            <p:cNvSpPr txBox="1"/>
            <p:nvPr/>
          </p:nvSpPr>
          <p:spPr>
            <a:xfrm>
              <a:off x="6782562" y="388524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拿掉邮局后，报社多了三件事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789420" y="423005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26402" y="420147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维护一份订阅者名单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6789420" y="453866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26402" y="451008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提供“订阅”和“退订”两个入口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6789420" y="484727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26402" y="48186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出版后逐个通知名单上的人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5" name="Rectangle 6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8373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谁持有名单，谁就是观察目标；名单上的人就是观察者。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动机与定义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换成类以后，剩下的是一个一般问题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626418" cy="1487805"/>
            <a:chOff x="533400" y="1524000"/>
            <a:chExt cx="5626418" cy="1487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追问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用类来描述订报纸，立刻出现三个问题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049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06168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订阅者对象不止一个，报社出版新报纸时，这些对象怎么知道？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23355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234648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订阅者对象知道以后，又怎么拿到新报纸的内容？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2475" y="2620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382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223" y="26312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新来一个订阅者，报社的代码要不要跟着改？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176588"/>
            <a:ext cx="5626418" cy="702945"/>
            <a:chOff x="533400" y="3176588"/>
            <a:chExt cx="5626418" cy="702945"/>
          </a:xfrm>
        </p:grpSpPr>
        <p:sp>
          <p:nvSpPr>
            <p:cNvPr id="22" name="Rectangle 22"/>
            <p:cNvSpPr/>
            <p:nvPr/>
          </p:nvSpPr>
          <p:spPr>
            <a:xfrm>
              <a:off x="533400" y="317658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3427097"/>
              <a:ext cx="200023" cy="200023"/>
              <a:chOff x="738188" y="3427097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34270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34937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332089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抽象成一句话：当一个对象的状态改变时，如何让依赖它的所有对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象都得到通知并各自处理。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043362"/>
            <a:ext cx="5626418" cy="1453515"/>
            <a:chOff x="533400" y="4043362"/>
            <a:chExt cx="5626418" cy="1453515"/>
          </a:xfrm>
        </p:grpSpPr>
        <p:sp>
          <p:nvSpPr>
            <p:cNvPr id="28" name="Rectangle 28"/>
            <p:cNvSpPr/>
            <p:nvPr/>
          </p:nvSpPr>
          <p:spPr>
            <a:xfrm>
              <a:off x="533400" y="4043362"/>
              <a:ext cx="5626418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176712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5998" y="424576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三个问题各自对应后面的哪一段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546759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问是通知机制：目标必须保存一份订阅者名单。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831556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问是数据传递：推过去，还是让订阅者回来取。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5116354"/>
              <a:ext cx="40020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问是开闭原则：增删订阅者不该改报社的代码。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1976438"/>
            <a:chOff x="6464618" y="1524000"/>
            <a:chExt cx="5193982" cy="1976438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1976438"/>
            </a:xfrm>
            <a:prstGeom prst="roundRect">
              <a:avLst>
                <a:gd name="adj" fmla="val 6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1657350"/>
              <a:ext cx="47625" cy="17097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83692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65163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另一个例子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4001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时钟模型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77216" y="206168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一个走时的机芯，时间每变一次，就要通知挂在它上面的各个显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示界面。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93218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48666" y="2589371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数字界面把时分秒打印成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12:05:30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93218" y="29270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8666" y="287416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表盘界面把三根指针转到对应角度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8359" y="3155632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机芯不关心界面长什么样，界面也不关心时间是怎么算出来的。</a:t>
              </a:r>
            </a:p>
          </p:txBody>
        </p:sp>
      </p:grpSp>
      <p:grpSp>
        <p:nvGrpSpPr>
          <p:cNvPr id="49" name="c2-image-2"/>
          <p:cNvGrpSpPr/>
          <p:nvPr/>
        </p:nvGrpSpPr>
        <p:grpSpPr>
          <a:xfrm>
            <a:off x="6464618" y="3665220"/>
            <a:ext cx="5193982" cy="1820894"/>
            <a:chOff x="6464618" y="3665220"/>
            <a:chExt cx="5193982" cy="1820894"/>
          </a:xfrm>
        </p:grpSpPr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rcRect l="0" t="30256" r="0" b="30255"/>
            <a:stretch>
              <a:fillRect/>
            </a:stretch>
          </p:blipFill>
          <p:spPr>
            <a:xfrm>
              <a:off x="6464618" y="3665220"/>
              <a:ext cx="5193982" cy="1538288"/>
            </a:xfrm>
            <a:prstGeom prst="roundRect">
              <a:avLst>
                <a:gd name="adj" fmla="val 8668"/>
              </a:avLst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7671892" y="529542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一套机芯带动三个表盘，指针始终指向同一时刻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订报纸和时钟是同一个问题：一份会变的数据，一群要跟着变的对象。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动机与定义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观察者模式的定义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313670" cy="293370"/>
            <a:chOff x="525780" y="1548765"/>
            <a:chExt cx="103136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3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定义对象间的一种一对多依赖关系，使得每当一个对象状态发生改变时，其相关依赖对象皆得到通知并被自动更新。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54530"/>
            <a:ext cx="5842635" cy="2222182"/>
            <a:chOff x="533400" y="1954530"/>
            <a:chExt cx="5842635" cy="22221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3122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观察者模式（Observer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定义对象间的一种一对多依赖关系，使得每当一个对象状态发生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改变时，其相关依赖对象皆得到通知并被自动更新。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18039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120866"/>
              <a:ext cx="34418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发生改变的对象叫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观察目标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（Subject）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49853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438049"/>
              <a:ext cx="32513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被通知的对象叫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观察者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（Observer）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381571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3756184"/>
              <a:ext cx="1849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526161" y="4380071"/>
            <a:ext cx="3738753" cy="1142905"/>
            <a:chOff x="526161" y="4380071"/>
            <a:chExt cx="3738753" cy="1142905"/>
          </a:xfrm>
        </p:grpSpPr>
        <p:sp>
          <p:nvSpPr>
            <p:cNvPr id="22" name="TextBox 22"/>
            <p:cNvSpPr txBox="1"/>
            <p:nvPr/>
          </p:nvSpPr>
          <p:spPr>
            <a:xfrm>
              <a:off x="526161" y="43800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定义里的三个关键词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2925" y="475964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8754" y="4712018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一对多：一个目标对应任意多个观察者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42925" y="504825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754" y="500062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依赖：观察者的状态要跟着目标走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42925" y="533590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754" y="528828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自动更新：目标不必逐个点名，通知是统一发出的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680835" y="1954530"/>
            <a:ext cx="4977765" cy="2762250"/>
            <a:chOff x="6680835" y="1954530"/>
            <a:chExt cx="4977765" cy="2762250"/>
          </a:xfrm>
        </p:grpSpPr>
        <p:sp>
          <p:nvSpPr>
            <p:cNvPr id="30" name="Rectangle 30"/>
            <p:cNvSpPr/>
            <p:nvPr/>
          </p:nvSpPr>
          <p:spPr>
            <a:xfrm>
              <a:off x="6680835" y="1954530"/>
              <a:ext cx="4977765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5904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别名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05606" y="2083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出处与侧重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3324" y="2506980"/>
              <a:ext cx="169316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发布-订阅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（Publish/Subscribe）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74062" y="26136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强调目标广播、观察者订阅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30118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0835" y="3016568"/>
              <a:ext cx="497776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3324" y="3145155"/>
              <a:ext cx="118110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模型-视图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（Model/View）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4062" y="32518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强调数据与显示分离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36499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83324" y="3783330"/>
              <a:ext cx="1597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源-监听器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（Source/Listener）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74062" y="3890010"/>
              <a:ext cx="155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事件模型的叫法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42872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0835" y="429196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3324" y="4420552"/>
              <a:ext cx="1758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从属者（Dependents）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74062" y="4420552"/>
              <a:ext cx="2108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Smalltalk MVC 中的早期叫法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1954530"/>
              <a:ext cx="4977765" cy="2762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766810" y="195453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6680835" y="4896802"/>
            <a:ext cx="4977765" cy="756285"/>
            <a:chOff x="6680835" y="4896802"/>
            <a:chExt cx="4977765" cy="756285"/>
          </a:xfrm>
        </p:grpSpPr>
        <p:sp>
          <p:nvSpPr>
            <p:cNvPr id="49" name="Rectangle 49"/>
            <p:cNvSpPr/>
            <p:nvPr/>
          </p:nvSpPr>
          <p:spPr>
            <a:xfrm>
              <a:off x="6680835" y="489680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85623" y="5174933"/>
              <a:ext cx="200026" cy="200026"/>
              <a:chOff x="6885623" y="517493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85623" y="51749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85635" y="52416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74523" y="52749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7946" y="5043964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四个别名说的是同一个模式，考试里换哪个名字都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要认得出来。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6" name="Rectangle 5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11704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观察者之间可以互不相识，可以随时增删，系统因此容易扩展。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动机与定义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结构上是两条继承线，中间一根引用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35518"/>
            <a:chOff x="533400" y="1524000"/>
            <a:chExt cx="5410200" cy="2235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35518"/>
            </a:xfrm>
            <a:prstGeom prst="roundRect">
              <a:avLst>
                <a:gd name="adj" fmla="val 596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17583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观察目标和观察者各有一条继承层次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5330" y="211264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目标一侧：抽象目标 Subject 负责管名单和发通知，具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体目标负责存会变的数据。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733675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观察者一侧：抽象观察者 Observer 只声明一个响应方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法，具体观察者写各自的反应。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473" y="335137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两条线在中间由一根引用连起来：目标持有观察者接口的集合。</a:t>
              </a:r>
            </a:p>
          </p:txBody>
        </p:sp>
      </p:grpSp>
      <p:grpSp>
        <p:nvGrpSpPr>
          <p:cNvPr id="18" name="c1-bullets-2"/>
          <p:cNvGrpSpPr/>
          <p:nvPr/>
        </p:nvGrpSpPr>
        <p:grpSpPr>
          <a:xfrm>
            <a:off x="525780" y="3974782"/>
            <a:ext cx="5167504" cy="992506"/>
            <a:chOff x="525780" y="3974782"/>
            <a:chExt cx="5167504" cy="992506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97478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这样分层换来什么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4360545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4329112"/>
              <a:ext cx="4909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目标只认识 Observer 接口，不认识任何具体观察者类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4705350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3908" y="4673918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新增一种观察者，目标一行代码都不用改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956435"/>
            <a:chOff x="6248400" y="1524000"/>
            <a:chExt cx="5410200" cy="19564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为什么用得多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65720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使用频率最高的几个模式之一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12979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凡是“一处变、多处跟着变”的场合都用得上：界面刷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新、缓存失效、日志记录、消息推送。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75082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 框架、Web 前端框架、消息中间件、Spring 的事件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机制，底子都是这个模式。</a:t>
              </a:r>
            </a:p>
          </p:txBody>
        </p:sp>
      </p:grpSp>
      <p:grpSp>
        <p:nvGrpSpPr>
          <p:cNvPr id="38" name="c2-kv-2"/>
          <p:cNvGrpSpPr/>
          <p:nvPr/>
        </p:nvGrpSpPr>
        <p:grpSpPr>
          <a:xfrm>
            <a:off x="6240780" y="3695700"/>
            <a:ext cx="5417820" cy="1613535"/>
            <a:chOff x="6240780" y="3695700"/>
            <a:chExt cx="5417820" cy="1613535"/>
          </a:xfrm>
        </p:grpSpPr>
        <p:sp>
          <p:nvSpPr>
            <p:cNvPr id="27" name="TextBox 27"/>
            <p:cNvSpPr txBox="1"/>
            <p:nvPr/>
          </p:nvSpPr>
          <p:spPr>
            <a:xfrm>
              <a:off x="6240780" y="3695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观察目标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81862" y="36957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被观察的对象，状态改变时发出通知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40157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40780" y="4135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观察者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81862" y="41357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对目标的改变做出反应的对象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44557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0780" y="45758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注册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862" y="457581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把观察者加进目标的名单，也叫订阅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48958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0780" y="50158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注销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1862" y="50158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把观察者移出名单，也叫退订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9" name="Rectangle 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目标和观察者只在抽象层耦合，这是这个模式全部好处的来源。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结构、角色与骨架代码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四个类、一条调用链，先把标准写法背下来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标准类图与四个角色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334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骨架代码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一次通知的完整过程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推模型与拉模型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标准类图：两条继承线加一个集合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uml-1"/>
          <p:cNvGrpSpPr/>
          <p:nvPr/>
        </p:nvGrpSpPr>
        <p:grpSpPr>
          <a:xfrm>
            <a:off x="1244918" y="1925955"/>
            <a:ext cx="5045392" cy="3096577"/>
            <a:chOff x="1244918" y="1925955"/>
            <a:chExt cx="5045392" cy="3096577"/>
          </a:xfrm>
        </p:grpSpPr>
        <p:sp>
          <p:nvSpPr>
            <p:cNvPr id="7" name="Freeform 7"/>
            <p:cNvSpPr/>
            <p:nvPr/>
          </p:nvSpPr>
          <p:spPr>
            <a:xfrm>
              <a:off x="3386138" y="2499360"/>
              <a:ext cx="1606868" cy="9525"/>
            </a:xfrm>
            <a:custGeom>
              <a:avLst/>
              <a:gdLst/>
              <a:ahLst/>
              <a:cxnLst/>
              <a:rect l="l" t="t" r="r" b="b"/>
              <a:pathLst>
                <a:path w="1606868" h="9525">
                  <a:moveTo>
                    <a:pt x="160686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76588" y="2441258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10752" y="3198495"/>
              <a:ext cx="9525" cy="677227"/>
            </a:xfrm>
            <a:custGeom>
              <a:avLst/>
              <a:gdLst/>
              <a:ahLst/>
              <a:cxnLst/>
              <a:rect l="l" t="t" r="r" b="b"/>
              <a:pathLst>
                <a:path w="9525" h="677227">
                  <a:moveTo>
                    <a:pt x="0" y="67722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37410" y="307276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564505" y="3008948"/>
              <a:ext cx="9525" cy="1042988"/>
            </a:xfrm>
            <a:custGeom>
              <a:avLst/>
              <a:gdLst/>
              <a:ahLst/>
              <a:cxnLst/>
              <a:rect l="l" t="t" r="r" b="b"/>
              <a:pathLst>
                <a:path w="9525" h="1042988">
                  <a:moveTo>
                    <a:pt x="0" y="104298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5491162" y="28832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18460" y="4449128"/>
              <a:ext cx="1921193" cy="9525"/>
            </a:xfrm>
            <a:custGeom>
              <a:avLst/>
              <a:gdLst/>
              <a:ahLst/>
              <a:cxnLst/>
              <a:rect l="l" t="t" r="r" b="b"/>
              <a:pathLst>
                <a:path w="1921193" h="9525">
                  <a:moveTo>
                    <a:pt x="192119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18460" y="439197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104775" y="0"/>
                  </a:moveTo>
                  <a:lnTo>
                    <a:pt x="0" y="57150"/>
                  </a:lnTo>
                  <a:lnTo>
                    <a:pt x="104775" y="1152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44918" y="1925955"/>
              <a:ext cx="1932622" cy="11468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51585" y="1932622"/>
              <a:ext cx="191833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44918" y="2174558"/>
              <a:ext cx="19326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44918" y="2445068"/>
              <a:ext cx="19326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93005" y="2114550"/>
              <a:ext cx="1143000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00625" y="2122170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993005" y="25117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93005" y="26069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503045" y="3875722"/>
              <a:ext cx="1415415" cy="11468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09712" y="3883342"/>
              <a:ext cx="1401128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503045" y="4124325"/>
              <a:ext cx="14154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503045" y="4395788"/>
              <a:ext cx="141541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839652" y="4051935"/>
              <a:ext cx="1450658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846320" y="4058602"/>
              <a:ext cx="1436370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39652" y="4300538"/>
              <a:ext cx="1450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39652" y="4571048"/>
              <a:ext cx="1450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36105" y="1985962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6164" y="2245519"/>
              <a:ext cx="19066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observers: List&lt;Observer&gt;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6164" y="2516029"/>
              <a:ext cx="1478534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attach(Observer obs)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detach(Observer obs)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notifyObservers()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08384" y="217170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5393" y="2323148"/>
              <a:ext cx="698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64252" y="2677954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07264" y="3935730"/>
              <a:ext cx="1206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74292" y="4195286"/>
              <a:ext cx="1261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subjectState: int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74292" y="4466749"/>
              <a:ext cx="1273175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getState(): int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setState(int s)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notifyObservers()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86562" y="4111943"/>
              <a:ext cx="13558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10900" y="4371499"/>
              <a:ext cx="1366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observerState: 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10900" y="464200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73780" y="2292668"/>
              <a:ext cx="10220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88889" y="2317909"/>
              <a:ext cx="992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observers 1..*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607118" y="4243388"/>
              <a:ext cx="54292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36157" y="4267676"/>
              <a:ext cx="484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</p:grpSp>
      <p:grpSp>
        <p:nvGrpSpPr>
          <p:cNvPr id="61" name="c2-bullets-1"/>
          <p:cNvGrpSpPr/>
          <p:nvPr/>
        </p:nvGrpSpPr>
        <p:grpSpPr>
          <a:xfrm>
            <a:off x="7539799" y="1545907"/>
            <a:ext cx="4127131" cy="1567340"/>
            <a:chOff x="7539799" y="1545907"/>
            <a:chExt cx="4127131" cy="1567340"/>
          </a:xfrm>
        </p:grpSpPr>
        <p:sp>
          <p:nvSpPr>
            <p:cNvPr id="48" name="TextBox 48"/>
            <p:cNvSpPr txBox="1"/>
            <p:nvPr/>
          </p:nvSpPr>
          <p:spPr>
            <a:xfrm>
              <a:off x="7539799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读图顺序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546658" y="1852612"/>
              <a:ext cx="160020" cy="16002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92363" y="188433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96212" y="1862614"/>
              <a:ext cx="3514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空心菱形在 Subject 一端，表示目标持有一批观察者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546658" y="2125028"/>
              <a:ext cx="160020" cy="16002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92363" y="215674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96212" y="2135029"/>
              <a:ext cx="3870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空心三角实线从 ConcreteSubject 指向 Subject，是继承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546658" y="2397442"/>
              <a:ext cx="160020" cy="16002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92363" y="242916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6212" y="2407444"/>
              <a:ext cx="363855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空心三角虚线从 ConcreteObserver 指向 Observer，是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546658" y="2883218"/>
              <a:ext cx="160020" cy="16002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92363" y="291588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96212" y="289321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下面那条实线箭头表示具体观察者回头找具体目标要数据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546658" y="3244215"/>
            <a:ext cx="4111942" cy="2180272"/>
            <a:chOff x="7546658" y="3244215"/>
            <a:chExt cx="4111942" cy="2180272"/>
          </a:xfrm>
        </p:grpSpPr>
        <p:sp>
          <p:nvSpPr>
            <p:cNvPr id="62" name="Rectangle 62"/>
            <p:cNvSpPr/>
            <p:nvPr/>
          </p:nvSpPr>
          <p:spPr>
            <a:xfrm>
              <a:off x="7546658" y="3244215"/>
              <a:ext cx="4111942" cy="2180272"/>
            </a:xfrm>
            <a:prstGeom prst="roundRect">
              <a:avLst>
                <a:gd name="adj" fmla="val 6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56182" y="3377565"/>
              <a:ext cx="47625" cy="19135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77162" y="34366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68602" y="34709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360854" y="34766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关于两张源课件里的关联线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70304" y="3810952"/>
              <a:ext cx="3442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两份课件都把目标到观察者画成普通关联并标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observers。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70304" y="4370070"/>
              <a:ext cx="35198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目标持有的是一个观察者集合，按 UML 规范画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更准确，菱形在目标一端，重数写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1..*。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6495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四个类里只有 ConcreteObserver 可能认识具体目标，其余三个都只认识抽象。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542" y="1545907"/>
            <a:ext cx="6066663" cy="3233929"/>
            <a:chOff x="526542" y="1545907"/>
            <a:chExt cx="6066663" cy="3233929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022" y="1545907"/>
              <a:ext cx="3837051" cy="1024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目标（主题）。定义观察者集合，提供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attach()/detach()，并声明通知方法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notifyObservers()。可以是接口、抽象类或具体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5965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705100"/>
              <a:ext cx="1551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ConcreteSubject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2022" y="2705100"/>
              <a:ext cx="37856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具体目标。存放经常改变的数据，状态一变就向所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有观察者发通知。无须扩展时可以省略，直接用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Subject。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5013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3610927"/>
              <a:ext cx="897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62022" y="3610927"/>
              <a:ext cx="368274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抽象观察者。一般定义为接口，只声明响应方法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update()，为所有观察者定义统一的更新接口。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1538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4262438"/>
              <a:ext cx="1743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2022" y="4262438"/>
              <a:ext cx="390563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具体观察者。实现 update()，写出自己的反应；需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要读目标数据时，再持有一个具体目标的引用。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902518"/>
            <a:ext cx="6059805" cy="729615"/>
            <a:chOff x="533400" y="4902518"/>
            <a:chExt cx="6059805" cy="729615"/>
          </a:xfrm>
        </p:grpSpPr>
        <p:sp>
          <p:nvSpPr>
            <p:cNvPr id="19" name="Rectangle 19"/>
            <p:cNvSpPr/>
            <p:nvPr/>
          </p:nvSpPr>
          <p:spPr>
            <a:xfrm>
              <a:off x="533400" y="4902518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166360"/>
              <a:ext cx="200026" cy="200026"/>
              <a:chOff x="738188" y="516636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166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266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048250"/>
              <a:ext cx="50543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四个角色里 Subject 和 Observer 构成抽象层，每次真正要新写的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只有两个 Concrete 类。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898005" y="1524000"/>
            <a:ext cx="4760595" cy="3183256"/>
            <a:chOff x="6898005" y="1524000"/>
            <a:chExt cx="4760595" cy="3183256"/>
          </a:xfrm>
        </p:grpSpPr>
        <p:sp>
          <p:nvSpPr>
            <p:cNvPr id="26" name="Rectangle 26"/>
            <p:cNvSpPr/>
            <p:nvPr/>
          </p:nvSpPr>
          <p:spPr>
            <a:xfrm>
              <a:off x="6898005" y="1524000"/>
              <a:ext cx="4760595" cy="44481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7627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6982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8819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不认识谁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6874" y="221646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52357" y="2216468"/>
              <a:ext cx="1274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Observer 接口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67975" y="1978342"/>
              <a:ext cx="1181100" cy="66579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57319" y="2096452"/>
              <a:ext cx="8709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任何具体观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察者类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26489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8005" y="2653665"/>
              <a:ext cx="476059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6874" y="2901315"/>
              <a:ext cx="1551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ConcreteSubject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52357" y="2781300"/>
              <a:ext cx="12138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继承来的观察者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67975" y="2663190"/>
              <a:ext cx="1181100" cy="66579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57319" y="2781300"/>
              <a:ext cx="8709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33327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6874" y="3586162"/>
              <a:ext cx="897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52357" y="35861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谁都不认识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57319" y="3466148"/>
              <a:ext cx="8709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目标和其他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40176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98005" y="4022408"/>
              <a:ext cx="476059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6874" y="4271010"/>
              <a:ext cx="1743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52357" y="4150995"/>
              <a:ext cx="12138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具体目标（拉模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型时）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57319" y="42710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其他观察者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98005" y="1524000"/>
              <a:ext cx="4760595" cy="3183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848725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453688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llout-2"/>
          <p:cNvGrpSpPr/>
          <p:nvPr/>
        </p:nvGrpSpPr>
        <p:grpSpPr>
          <a:xfrm>
            <a:off x="6898005" y="4882515"/>
            <a:ext cx="4760595" cy="748665"/>
            <a:chOff x="6898005" y="4882515"/>
            <a:chExt cx="4760595" cy="748665"/>
          </a:xfrm>
        </p:grpSpPr>
        <p:sp>
          <p:nvSpPr>
            <p:cNvPr id="53" name="Rectangle 53"/>
            <p:cNvSpPr/>
            <p:nvPr/>
          </p:nvSpPr>
          <p:spPr>
            <a:xfrm>
              <a:off x="6898005" y="4882515"/>
              <a:ext cx="4760595" cy="748665"/>
            </a:xfrm>
            <a:prstGeom prst="roundRect">
              <a:avLst>
                <a:gd name="adj" fmla="val 1526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090734" y="5153143"/>
              <a:ext cx="224134" cy="192560"/>
              <a:chOff x="7090734" y="5153143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202805" y="52235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90734" y="51531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02805" y="5301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7405497" y="5038725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具体观察者彼此之间没有任何联系，谁先收到通知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是不确定的。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624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角色可以合并：只有一个具体目标时，ConcreteSubject 可以并进 Subject。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抽象目标类：一份名单加两个入口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167438" cy="4101465"/>
            <a:chOff x="533400" y="1524000"/>
            <a:chExt cx="6167438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101465"/>
            </a:xfrm>
            <a:prstGeom prst="roundRect">
              <a:avLst>
                <a:gd name="adj" fmla="val 2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59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Subject.java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116830"/>
              <a:ext cx="612933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4611243" cy="36172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java.util.ArrayList;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java.util.List;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Subject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观察者集合，子类也要用，所以是 protected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List&lt;Observer&gt; observers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attach(Observer obs)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注册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(obs !=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!observers.contains(obs))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observers.add(obs);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detach(Observer obs)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注销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observers.remove(obs);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notifyObservers();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通知，交给子类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7005638" y="1524000"/>
            <a:ext cx="4652962" cy="2446972"/>
            <a:chOff x="7005638" y="1524000"/>
            <a:chExt cx="4652962" cy="2446972"/>
          </a:xfrm>
        </p:grpSpPr>
        <p:sp>
          <p:nvSpPr>
            <p:cNvPr id="12" name="Rectangle 12"/>
            <p:cNvSpPr/>
            <p:nvPr/>
          </p:nvSpPr>
          <p:spPr>
            <a:xfrm>
              <a:off x="7005638" y="1524000"/>
              <a:ext cx="4652962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15162" y="165735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4185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329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25168" y="1756886"/>
              <a:ext cx="22457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通知方法不能叫 notify()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34618" y="2100739"/>
              <a:ext cx="41793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原课件写的是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public abstract void notify();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4618" y="2418874"/>
              <a:ext cx="400900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java.lang.Object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里已经有一个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notify()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，子类既不能重写也不能同名重新声明，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这段代码在 Java 里编不过。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4618" y="3278981"/>
              <a:ext cx="40387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本讲统一改名为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notifyObservers()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，和 JDK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Observable 保持一致。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7005638" y="4151948"/>
            <a:ext cx="4652962" cy="1474470"/>
            <a:chOff x="7005638" y="4151948"/>
            <a:chExt cx="4652962" cy="1474470"/>
          </a:xfrm>
        </p:grpSpPr>
        <p:sp>
          <p:nvSpPr>
            <p:cNvPr id="21" name="Rectangle 21"/>
            <p:cNvSpPr/>
            <p:nvPr/>
          </p:nvSpPr>
          <p:spPr>
            <a:xfrm>
              <a:off x="7005638" y="4151948"/>
              <a:ext cx="4652962" cy="1474470"/>
            </a:xfrm>
            <a:prstGeom prst="roundRect">
              <a:avLst>
                <a:gd name="adj" fmla="val 775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10425" y="4788218"/>
              <a:ext cx="200026" cy="200025"/>
              <a:chOff x="7210425" y="478821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210425" y="47882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50164" y="48326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84879" y="49437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512748" y="4658201"/>
              <a:ext cx="374751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attach() 里判重可以防止同一个观察者被通知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两次。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8" name="Rectangle 2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6011704"/>
              <a:ext cx="7338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集合声明成 List 而不是 ArrayList，以后换成 CopyOnWriteArrayList 不用改别处。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具体目标与观察者两端的代码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847148"/>
            <a:chOff x="533400" y="1524000"/>
            <a:chExt cx="5626418" cy="3847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47148"/>
            </a:xfrm>
            <a:prstGeom prst="roundRect">
              <a:avLst>
                <a:gd name="adj" fmla="val 24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73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ConcreteSubject.java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177413" cy="3362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ConcreteSubject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Subject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subjectState;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getState()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subjectState;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.subjectState = s;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先改状态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notifyObservers();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再发通知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notifyObservers()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(Observer obs : observers)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obs.update();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464618" y="1524000"/>
            <a:ext cx="5193982" cy="1033462"/>
            <a:chOff x="6464618" y="1524000"/>
            <a:chExt cx="5193982" cy="1033462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93015" y="1675924"/>
              <a:ext cx="998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Observer.java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3015" y="1935956"/>
              <a:ext cx="2355977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响应方法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2"/>
          <p:cNvGrpSpPr/>
          <p:nvPr/>
        </p:nvGrpSpPr>
        <p:grpSpPr>
          <a:xfrm>
            <a:off x="6464618" y="2727960"/>
            <a:ext cx="5193982" cy="2967990"/>
            <a:chOff x="6464618" y="2727960"/>
            <a:chExt cx="5193982" cy="2967990"/>
          </a:xfrm>
        </p:grpSpPr>
        <p:sp>
          <p:nvSpPr>
            <p:cNvPr id="15" name="Rectangle 15"/>
            <p:cNvSpPr/>
            <p:nvPr/>
          </p:nvSpPr>
          <p:spPr>
            <a:xfrm>
              <a:off x="6464618" y="2727960"/>
              <a:ext cx="5193982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3015" y="2879884"/>
              <a:ext cx="1611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ConcreteObserver.java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93015" y="3139916"/>
              <a:ext cx="3501009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ConcreteObserver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observerState;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ConcreteSubject subject;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ConcreteObserver(ConcreteSubject 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.subject = s;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s.attach(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自己把自己挂上去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回头取新状态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observerState = subject.getState();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9" name="Rectangle 1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6028373"/>
              <a:ext cx="8414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原课件遍历写成 for (Object obs : observers) 再强制转换，集合已有泛型，直接写 Observer 即可。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一次通知的完整过程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69280" cy="293370"/>
            <a:chOff x="525780" y="1548765"/>
            <a:chExt cx="56692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从客户端创建对象开始，到观察者拿到新数据结束，一共六步。</a:t>
              </a:r>
            </a:p>
          </p:txBody>
        </p:sp>
      </p:grpSp>
      <p:grpSp>
        <p:nvGrpSpPr>
          <p:cNvPr id="34" name="c1-steps-1"/>
          <p:cNvGrpSpPr/>
          <p:nvPr/>
        </p:nvGrpSpPr>
        <p:grpSpPr>
          <a:xfrm>
            <a:off x="533400" y="1964055"/>
            <a:ext cx="4822584" cy="3652266"/>
            <a:chOff x="533400" y="1964055"/>
            <a:chExt cx="4822584" cy="3652266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3104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261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44722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21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6825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1420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19969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277428"/>
              <a:ext cx="371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 new 出具体目标，再 new 出若干具体观察者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26179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2898457"/>
              <a:ext cx="4180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观察者在构造函数里调 subject.attach(this)，进入名单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23897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改状态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519488"/>
              <a:ext cx="4409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业务代码调用 subject.setState(5)，subjectState 被改写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386000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发通知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140518"/>
              <a:ext cx="4110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setState 末尾调用 notifyObservers()，开始遍历名单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44800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逐个响应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476059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名单上每个观察者的 update() 被依次调用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261" y="510111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404" y="5381625"/>
              <a:ext cx="3612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拉模型下观察者再调 subject.getState() 取新值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789420" y="1954530"/>
            <a:ext cx="4869180" cy="1189672"/>
            <a:chOff x="6789420" y="1954530"/>
            <a:chExt cx="4869180" cy="1189672"/>
          </a:xfrm>
        </p:grpSpPr>
        <p:sp>
          <p:nvSpPr>
            <p:cNvPr id="35" name="Rectangle 35"/>
            <p:cNvSpPr/>
            <p:nvPr/>
          </p:nvSpPr>
          <p:spPr>
            <a:xfrm>
              <a:off x="6789420" y="1954530"/>
              <a:ext cx="4869180" cy="1189672"/>
            </a:xfrm>
            <a:prstGeom prst="roundRect">
              <a:avLst>
                <a:gd name="adj" fmla="val 80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17817" y="21064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17969" y="2366867"/>
              <a:ext cx="3489528" cy="69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ConcreteSubject s =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ConcreteSubject();</a:t>
              </a:r>
              <a:br/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ConcreteObserver(s);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1 个观察者 */</a:t>
              </a:r>
              <a:br/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ConcreteObserver(s);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2 个观察者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s.setState(5);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只这一句会触发全部更新 */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789420" y="3328988"/>
            <a:ext cx="4869180" cy="756285"/>
            <a:chOff x="6789420" y="3328988"/>
            <a:chExt cx="4869180" cy="756285"/>
          </a:xfrm>
        </p:grpSpPr>
        <p:sp>
          <p:nvSpPr>
            <p:cNvPr id="39" name="Rectangle 39"/>
            <p:cNvSpPr/>
            <p:nvPr/>
          </p:nvSpPr>
          <p:spPr>
            <a:xfrm>
              <a:off x="6789420" y="3328988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994208" y="3607120"/>
              <a:ext cx="200023" cy="200023"/>
              <a:chOff x="6994208" y="360712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994208" y="36071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27558" y="3673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296531" y="347614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客户端只动了目标一下，两个观察者就都更新了，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这就是“自动”的含义。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6789420" y="4271010"/>
            <a:ext cx="4869180" cy="1336358"/>
            <a:chOff x="6789420" y="4271010"/>
            <a:chExt cx="4869180" cy="1336358"/>
          </a:xfrm>
        </p:grpSpPr>
        <p:sp>
          <p:nvSpPr>
            <p:cNvPr id="45" name="Rectangle 45"/>
            <p:cNvSpPr/>
            <p:nvPr/>
          </p:nvSpPr>
          <p:spPr>
            <a:xfrm>
              <a:off x="6789420" y="4271010"/>
              <a:ext cx="4869180" cy="1336358"/>
            </a:xfrm>
            <a:prstGeom prst="roundRect">
              <a:avLst>
                <a:gd name="adj" fmla="val 99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4404360"/>
              <a:ext cx="47625" cy="10696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24116" y="449818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注册写在哪里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24116" y="4836319"/>
              <a:ext cx="36752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写在观察者构造函数里：new 出来就生效。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4116" y="515635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写在客户端显式调用：注册关系一眼可见。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66477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无论写在哪里，不再需要通知时都要记得 detach()，否则观察者一直被调用。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具体观察者要不要持有具体目标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3837686" cy="278702"/>
            <a:chOff x="526161" y="1547336"/>
            <a:chExt cx="383768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这一条决定了类图上有没有最下面那根箭头。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41195"/>
            <a:ext cx="5410200" cy="3388042"/>
            <a:chOff x="533400" y="1941195"/>
            <a:chExt cx="5410200" cy="338804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2495550" cy="3388042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312134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047" y="21564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标准结构（保留引用）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476500"/>
              <a:ext cx="1676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需要读目标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的状态属性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具体观察者里存一个具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体目标的引用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6518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3595688"/>
              <a:ext cx="177965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类图上有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ConcreteObserver 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ConcreteSubject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的关联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472535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466915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代价是观察者认识了具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体目标类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8050" y="1941195"/>
              <a:ext cx="2495550" cy="3388042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57575" y="2074545"/>
              <a:ext cx="47625" cy="31213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71697" y="21564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简化结构（不留引用）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87127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43147" y="2476500"/>
              <a:ext cx="1676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只做自己的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事，不读目标数据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87127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43147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具体观察者和具体目标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之间不维持任何引用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687127" y="36518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43147" y="35956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类图上去掉那根关联线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687127" y="395382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43147" y="389763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两边彻底解耦，但观察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者拿不到数据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076575" y="347376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95453" y="35752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941195"/>
            <a:ext cx="5410200" cy="1792605"/>
            <a:chOff x="6248400" y="1941195"/>
            <a:chExt cx="5410200" cy="1792605"/>
          </a:xfrm>
        </p:grpSpPr>
        <p:sp>
          <p:nvSpPr>
            <p:cNvPr id="34" name="Rectangle 34"/>
            <p:cNvSpPr/>
            <p:nvPr/>
          </p:nvSpPr>
          <p:spPr>
            <a:xfrm>
              <a:off x="6248400" y="1941195"/>
              <a:ext cx="5410200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2074545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8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2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判断办法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9297" y="2173605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 update() 的函数体，再决定要不要加引用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2507932"/>
              <a:ext cx="4845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里出现了 subject.getXxx()，就必须保留引用。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2810827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里只有“重画一下”“清一次缓存”这类动作，引用可以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3190" y="336661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还有第三条路：让目标把数据当参数推过来，下一页讲。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3910012"/>
            <a:ext cx="5410200" cy="1420178"/>
            <a:chOff x="6248400" y="3910012"/>
            <a:chExt cx="5410200" cy="1420178"/>
          </a:xfrm>
        </p:grpSpPr>
        <p:sp>
          <p:nvSpPr>
            <p:cNvPr id="43" name="Rectangle 43"/>
            <p:cNvSpPr/>
            <p:nvPr/>
          </p:nvSpPr>
          <p:spPr>
            <a:xfrm>
              <a:off x="6248400" y="3910012"/>
              <a:ext cx="5410200" cy="1420178"/>
            </a:xfrm>
            <a:prstGeom prst="roundRect">
              <a:avLst>
                <a:gd name="adj" fmla="val 804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4519613"/>
              <a:ext cx="200026" cy="200025"/>
              <a:chOff x="6453188" y="451961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45196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45640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46751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892" y="440150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源课件把这两种情况都叫观察者模式，区别只在有没有那根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关联线。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引用越少越松耦合，但观察者能拿到的信息也越少，按需要取舍。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推模型与拉模型：数据怎么过去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842635" cy="3146108"/>
            <a:chOff x="533400" y="1524000"/>
            <a:chExt cx="5842635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75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877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095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20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签名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60460" y="2221706"/>
              <a:ext cx="1768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update(Object data)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2636" y="2108359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或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update(Subject s)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谁决定传什么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0460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目标决定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2636" y="27836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观察者自己取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观察者认识具体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62162" y="3107055"/>
              <a:ext cx="214312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60460" y="33456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22636" y="3345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680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77285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9076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目标接口稳定吗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0460" y="39076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参数一变全体要改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24338" y="3782378"/>
              <a:ext cx="214312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22636" y="3907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参数不变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167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3572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多余数据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60460" y="435721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可能传了用不上的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22636" y="435721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只取需要的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842635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047875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1005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860608"/>
            <a:ext cx="5842635" cy="782955"/>
            <a:chOff x="533400" y="4860608"/>
            <a:chExt cx="5842635" cy="782955"/>
          </a:xfrm>
        </p:grpSpPr>
        <p:sp>
          <p:nvSpPr>
            <p:cNvPr id="38" name="Rectangle 38"/>
            <p:cNvSpPr/>
            <p:nvPr/>
          </p:nvSpPr>
          <p:spPr>
            <a:xfrm>
              <a:off x="533400" y="486060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152073"/>
              <a:ext cx="200026" cy="200026"/>
              <a:chOff x="738188" y="515207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1520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2187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52520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009198"/>
              <a:ext cx="4596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的 notifyObservers(Object arg) 两种都支持：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arg 传 null 就退化成拉模型。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6680835" y="1524000"/>
            <a:ext cx="4977765" cy="1737360"/>
            <a:chOff x="6680835" y="1524000"/>
            <a:chExt cx="4977765" cy="1737360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9232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推模型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09232" y="1935956"/>
              <a:ext cx="2063496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update(Object data);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目标一侧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(Observer o : observers)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o.update(subjectState);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2" name="c2-code-2"/>
          <p:cNvGrpSpPr/>
          <p:nvPr/>
        </p:nvGrpSpPr>
        <p:grpSpPr>
          <a:xfrm>
            <a:off x="6680835" y="3451860"/>
            <a:ext cx="4977765" cy="1737360"/>
            <a:chOff x="6680835" y="3451860"/>
            <a:chExt cx="4977765" cy="1737360"/>
          </a:xfrm>
        </p:grpSpPr>
        <p:sp>
          <p:nvSpPr>
            <p:cNvPr id="49" name="Rectangle 49"/>
            <p:cNvSpPr/>
            <p:nvPr/>
          </p:nvSpPr>
          <p:spPr>
            <a:xfrm>
              <a:off x="6680835" y="3451860"/>
              <a:ext cx="497776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9232" y="36037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拉模型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9232" y="3863816"/>
              <a:ext cx="2063496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update(Subject 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目标一侧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(Observer o : observers)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o.update(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不确定观察者要什么数据时用拉模型；数据量小又人人都要时用推模型。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结构、角色与骨架代码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变体：把名单下放到具体目标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22243" cy="264033"/>
            <a:chOff x="526542" y="1545907"/>
            <a:chExt cx="642224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2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陈伟老师课件里的第二张结构图，把集合和 attach 挪到了 ConcreteSubject。</a:t>
              </a:r>
            </a:p>
          </p:txBody>
        </p:sp>
      </p:grpSp>
      <p:grpSp>
        <p:nvGrpSpPr>
          <p:cNvPr id="44" name="c1-uml-1"/>
          <p:cNvGrpSpPr/>
          <p:nvPr/>
        </p:nvGrpSpPr>
        <p:grpSpPr>
          <a:xfrm>
            <a:off x="1414462" y="2268855"/>
            <a:ext cx="4509136" cy="2711768"/>
            <a:chOff x="1414462" y="2268855"/>
            <a:chExt cx="4509136" cy="2711768"/>
          </a:xfrm>
        </p:grpSpPr>
        <p:sp>
          <p:nvSpPr>
            <p:cNvPr id="9" name="Freeform 9"/>
            <p:cNvSpPr/>
            <p:nvPr/>
          </p:nvSpPr>
          <p:spPr>
            <a:xfrm>
              <a:off x="2006918" y="3444240"/>
              <a:ext cx="95250" cy="623888"/>
            </a:xfrm>
            <a:custGeom>
              <a:avLst/>
              <a:gdLst/>
              <a:ahLst/>
              <a:cxnLst/>
              <a:rect l="l" t="t" r="r" b="b"/>
              <a:pathLst>
                <a:path w="95250" h="623888">
                  <a:moveTo>
                    <a:pt x="0" y="623888"/>
                  </a:moveTo>
                  <a:lnTo>
                    <a:pt x="0" y="249555"/>
                  </a:lnTo>
                  <a:lnTo>
                    <a:pt x="95250" y="24955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028825" y="331851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240655" y="3282315"/>
              <a:ext cx="95250" cy="947738"/>
            </a:xfrm>
            <a:custGeom>
              <a:avLst/>
              <a:gdLst/>
              <a:ahLst/>
              <a:cxnLst/>
              <a:rect l="l" t="t" r="r" b="b"/>
              <a:pathLst>
                <a:path w="95250" h="947738">
                  <a:moveTo>
                    <a:pt x="0" y="947738"/>
                  </a:moveTo>
                  <a:lnTo>
                    <a:pt x="0" y="411480"/>
                  </a:lnTo>
                  <a:lnTo>
                    <a:pt x="95250" y="41148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5262562" y="315658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197418" y="3156585"/>
              <a:ext cx="2947988" cy="701993"/>
            </a:xfrm>
            <a:custGeom>
              <a:avLst/>
              <a:gdLst/>
              <a:ahLst/>
              <a:cxnLst/>
              <a:rect l="l" t="t" r="r" b="b"/>
              <a:pathLst>
                <a:path w="2947988" h="701993">
                  <a:moveTo>
                    <a:pt x="2947988" y="0"/>
                  </a:moveTo>
                  <a:lnTo>
                    <a:pt x="2947988" y="455295"/>
                  </a:lnTo>
                  <a:lnTo>
                    <a:pt x="0" y="455295"/>
                  </a:lnTo>
                  <a:lnTo>
                    <a:pt x="0" y="70199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40268" y="3858578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414462" y="2268855"/>
              <a:ext cx="1375410" cy="10496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422082" y="2276475"/>
              <a:ext cx="136112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414462" y="2636520"/>
              <a:ext cx="13754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414462" y="2731770"/>
              <a:ext cx="13754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69155" y="243078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75822" y="2438400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69155" y="2798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69155" y="2893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14462" y="4068128"/>
              <a:ext cx="137541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22082" y="4074795"/>
              <a:ext cx="136112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414462" y="4298632"/>
              <a:ext cx="13754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14462" y="4555808"/>
              <a:ext cx="13754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56760" y="4230052"/>
              <a:ext cx="136683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64380" y="4237672"/>
              <a:ext cx="135255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56760" y="4460558"/>
              <a:ext cx="13668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56760" y="4555808"/>
              <a:ext cx="13668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77279" y="232171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45855" y="2461736"/>
              <a:ext cx="512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85900" y="2801302"/>
              <a:ext cx="123253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attach(Observer o)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detach(Observer o)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notifyObservers()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15766" y="248364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14843" y="2623661"/>
              <a:ext cx="651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0592" y="2963228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38937" y="4123849"/>
              <a:ext cx="1126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85900" y="4368165"/>
              <a:ext cx="1219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observers: Vector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85900" y="4625340"/>
              <a:ext cx="12325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attach(Observer o)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notifyObservers()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7934" y="4285774"/>
              <a:ext cx="12654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28198" y="4625340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497580" y="3415665"/>
              <a:ext cx="34671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32899" y="343852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114222" y="1928812"/>
            <a:ext cx="4544378" cy="1850708"/>
            <a:chOff x="7114222" y="1928812"/>
            <a:chExt cx="4544378" cy="1850708"/>
          </a:xfrm>
        </p:grpSpPr>
        <p:sp>
          <p:nvSpPr>
            <p:cNvPr id="45" name="Rectangle 45"/>
            <p:cNvSpPr/>
            <p:nvPr/>
          </p:nvSpPr>
          <p:spPr>
            <a:xfrm>
              <a:off x="7114222" y="1928812"/>
              <a:ext cx="4544378" cy="1850708"/>
            </a:xfrm>
            <a:prstGeom prst="roundRect">
              <a:avLst>
                <a:gd name="adj" fmla="val 72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3748" y="2062162"/>
              <a:ext cx="47625" cy="15840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26820" y="213026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和标准结构差在哪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26820" y="2432209"/>
              <a:ext cx="3275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Subject 退成纯接口，一个方法体都不写。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6820" y="2717006"/>
              <a:ext cx="2613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观察者集合和 attach() 的实现落在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ConcreteSubject 里。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27964" y="3241358"/>
              <a:ext cx="38778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好处是不同的具体目标可以用不同的集合实现；代价是每个具体目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标都得把这段管理代码重写一遍。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7114222" y="3944302"/>
            <a:ext cx="4544378" cy="1444942"/>
            <a:chOff x="7114222" y="3944302"/>
            <a:chExt cx="4544378" cy="1444942"/>
          </a:xfrm>
        </p:grpSpPr>
        <p:sp>
          <p:nvSpPr>
            <p:cNvPr id="52" name="Rectangle 52"/>
            <p:cNvSpPr/>
            <p:nvPr/>
          </p:nvSpPr>
          <p:spPr>
            <a:xfrm>
              <a:off x="7114222" y="3944302"/>
              <a:ext cx="4544378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3748" y="407765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33298" y="41252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5017" y="41581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99273" y="41648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源课件的两处拼写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6820" y="4481036"/>
              <a:ext cx="4062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结构图里方法名写成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Attatch()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Attach()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26820" y="4766786"/>
              <a:ext cx="315727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示例代码里声明的是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Atach()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，调用的却是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Attach()，两边对不上，编不过。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两种画法都对，看重复代码多还是集合灵活性重要。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三个完整实例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猫狗老鼠、时钟模型、自定义登录控件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最短的一个例子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9529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课件改写成 Java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44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事件模型的真实用法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实例一：猫一叫，老鼠跑、狗跟着叫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102352" cy="264033"/>
            <a:chOff x="526542" y="1545907"/>
            <a:chExt cx="510235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猫是观察目标，老鼠和狗是观察者。猫叫这个动作就是发通知。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542" y="1950720"/>
            <a:ext cx="11132058" cy="1048893"/>
            <a:chOff x="526542" y="1950720"/>
            <a:chExt cx="11132058" cy="1048893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15038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Cat / MySubject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18182" y="1950720"/>
              <a:ext cx="4566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具体目标与抽象目标。cry() 就是这个场景里的通知方法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374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43150"/>
              <a:ext cx="1126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Mouse / Dog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18182" y="2343150"/>
              <a:ext cx="415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具体观察者。各自实现 response()，反应完全不同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298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2735580"/>
              <a:ext cx="1152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MyObserver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18182" y="2735580"/>
              <a:ext cx="4339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抽象观察者。只声明一个 response()，不管谁来实现</a:t>
              </a:r>
            </a:p>
          </p:txBody>
        </p:sp>
      </p:grpSp>
      <p:grpSp>
        <p:nvGrpSpPr>
          <p:cNvPr id="60" name="c1-uml-2"/>
          <p:cNvGrpSpPr/>
          <p:nvPr/>
        </p:nvGrpSpPr>
        <p:grpSpPr>
          <a:xfrm>
            <a:off x="1420178" y="3228022"/>
            <a:ext cx="8955404" cy="2127885"/>
            <a:chOff x="1420178" y="3228022"/>
            <a:chExt cx="8955404" cy="2127885"/>
          </a:xfrm>
        </p:grpSpPr>
        <p:sp>
          <p:nvSpPr>
            <p:cNvPr id="18" name="Freeform 18"/>
            <p:cNvSpPr/>
            <p:nvPr/>
          </p:nvSpPr>
          <p:spPr>
            <a:xfrm>
              <a:off x="3565208" y="3765232"/>
              <a:ext cx="5667375" cy="9525"/>
            </a:xfrm>
            <a:custGeom>
              <a:avLst/>
              <a:gdLst/>
              <a:ahLst/>
              <a:cxnLst/>
              <a:rect l="l" t="t" r="r" b="b"/>
              <a:pathLst>
                <a:path w="5667375" h="9525">
                  <a:moveTo>
                    <a:pt x="566737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355658" y="370713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87918" y="4428172"/>
              <a:ext cx="9525" cy="340043"/>
            </a:xfrm>
            <a:custGeom>
              <a:avLst/>
              <a:gdLst/>
              <a:ahLst/>
              <a:cxnLst/>
              <a:rect l="l" t="t" r="r" b="b"/>
              <a:pathLst>
                <a:path w="9525" h="340043">
                  <a:moveTo>
                    <a:pt x="0" y="34004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314575" y="430244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96000" y="4253865"/>
              <a:ext cx="3612832" cy="514350"/>
            </a:xfrm>
            <a:custGeom>
              <a:avLst/>
              <a:gdLst/>
              <a:ahLst/>
              <a:cxnLst/>
              <a:rect l="l" t="t" r="r" b="b"/>
              <a:pathLst>
                <a:path w="3612832" h="514350">
                  <a:moveTo>
                    <a:pt x="0" y="514350"/>
                  </a:moveTo>
                  <a:lnTo>
                    <a:pt x="0" y="194310"/>
                  </a:lnTo>
                  <a:lnTo>
                    <a:pt x="3612832" y="194310"/>
                  </a:lnTo>
                  <a:lnTo>
                    <a:pt x="3612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9635490" y="412813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804082" y="4253865"/>
              <a:ext cx="95250" cy="514350"/>
            </a:xfrm>
            <a:custGeom>
              <a:avLst/>
              <a:gdLst/>
              <a:ahLst/>
              <a:cxnLst/>
              <a:rect l="l" t="t" r="r" b="b"/>
              <a:pathLst>
                <a:path w="95250" h="514350">
                  <a:moveTo>
                    <a:pt x="0" y="514350"/>
                  </a:moveTo>
                  <a:lnTo>
                    <a:pt x="0" y="194310"/>
                  </a:lnTo>
                  <a:lnTo>
                    <a:pt x="95250" y="19431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9825990" y="412813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20178" y="3228022"/>
              <a:ext cx="193548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26845" y="3234690"/>
              <a:ext cx="192119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420178" y="3458528"/>
              <a:ext cx="19354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420178" y="3715702"/>
              <a:ext cx="19354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232582" y="3402330"/>
              <a:ext cx="114300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240202" y="3409950"/>
              <a:ext cx="112871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232582" y="37699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232582" y="3865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16418" y="47682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23085" y="47748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16418" y="49987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16418" y="50939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524500" y="47682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532120" y="47748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24500" y="49987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24500" y="50939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32582" y="4768215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240202" y="477488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32582" y="49987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232582" y="50939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39312" y="3283744"/>
              <a:ext cx="6972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MySubject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91615" y="3528060"/>
              <a:ext cx="19135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observers: List&lt;MyObserver&gt;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91615" y="3785235"/>
              <a:ext cx="150685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attach(MyObserver obs)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detach(MyObserver obs)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cry()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9194" y="345519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85858" y="3595211"/>
              <a:ext cx="83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MyObserver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04020" y="3934778"/>
              <a:ext cx="778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response()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66526" y="4823936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87855" y="5163502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cry()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84411" y="4823936"/>
              <a:ext cx="423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Mouse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95938" y="5163502"/>
              <a:ext cx="778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response()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2691" y="4823936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04020" y="5163502"/>
              <a:ext cx="7788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response()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20728" y="3569018"/>
              <a:ext cx="94678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38044" y="3591878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observers 1..*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1" name="Rectangle 6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8373"/>
              <a:ext cx="4792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老鼠和狗互不相识，再加一只鹦鹉也不用改 Cat 一行代码。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实例一代码（上）：目标一侧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495675"/>
            <a:chOff x="533400" y="1524000"/>
            <a:chExt cx="5842635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43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MySubject.java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748026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java.util.ArrayList;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java.util.List;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MySubject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List&lt;MyObserver&gt; observers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attach(MyObserver obs)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observers.add(obs);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detach(MyObserver obs)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observers.remove(obs);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680835" y="1524000"/>
            <a:ext cx="4977765" cy="2264092"/>
            <a:chOff x="6680835" y="1524000"/>
            <a:chExt cx="4977765" cy="2264092"/>
          </a:xfrm>
        </p:grpSpPr>
        <p:sp>
          <p:nvSpPr>
            <p:cNvPr id="11" name="Rectangle 11"/>
            <p:cNvSpPr/>
            <p:nvPr/>
          </p:nvSpPr>
          <p:spPr>
            <a:xfrm>
              <a:off x="6680835" y="1524000"/>
              <a:ext cx="497776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9232" y="1675924"/>
              <a:ext cx="589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Cat.java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09232" y="1935956"/>
              <a:ext cx="2884932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MySubject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cry()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"猫叫！"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叫完逐个通知名单上的动物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(MyObserver obs : observers)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obs.response();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image-2"/>
          <p:cNvGrpSpPr/>
          <p:nvPr/>
        </p:nvGrpSpPr>
        <p:grpSpPr>
          <a:xfrm>
            <a:off x="7647597" y="3952875"/>
            <a:ext cx="3044241" cy="1757076"/>
            <a:chOff x="7647597" y="3952875"/>
            <a:chExt cx="3044241" cy="1757076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rcRect l="0" t="8" r="0" b="8"/>
            <a:stretch>
              <a:fillRect/>
            </a:stretch>
          </p:blipFill>
          <p:spPr>
            <a:xfrm>
              <a:off x="8187690" y="3952875"/>
              <a:ext cx="1965008" cy="1473518"/>
            </a:xfrm>
            <a:prstGeom prst="roundRect">
              <a:avLst>
                <a:gd name="adj" fmla="val 9049"/>
              </a:avLst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647597" y="5519261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猫一叫，老鼠跑、狗跟着叫，一次动作引起多个反应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8" name="Rectangle 1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1273" y="6039326"/>
              <a:ext cx="8247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cry() 就是这个场景里的 notifyObservers()；抽象目标没有状态字段，因为“猫叫了”本身就是全部信息。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实例一代码（下）：观察者一侧与运行结果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344228"/>
            <a:chOff x="533400" y="1524000"/>
            <a:chExt cx="5626418" cy="3344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431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MyObserver.java / Mouse.java / Dog.java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217736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MyObserver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response();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MyObserver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response()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"老鼠努力逃跑！"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MyObserver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response()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"狗跟着叫！"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464618" y="1524000"/>
            <a:ext cx="5193982" cy="2019300"/>
            <a:chOff x="6464618" y="1524000"/>
            <a:chExt cx="5193982" cy="2019300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93015" y="1675924"/>
              <a:ext cx="7482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Client.java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2634" y="1937385"/>
              <a:ext cx="3017711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MySubject cat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cat.attach(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Mouse());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cat.attach(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cat.cry();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2"/>
          <p:cNvGrpSpPr/>
          <p:nvPr/>
        </p:nvGrpSpPr>
        <p:grpSpPr>
          <a:xfrm>
            <a:off x="6464618" y="3717608"/>
            <a:ext cx="5193982" cy="1072515"/>
            <a:chOff x="6464618" y="3717608"/>
            <a:chExt cx="5193982" cy="1072515"/>
          </a:xfrm>
        </p:grpSpPr>
        <p:sp>
          <p:nvSpPr>
            <p:cNvPr id="15" name="Rectangle 15"/>
            <p:cNvSpPr/>
            <p:nvPr/>
          </p:nvSpPr>
          <p:spPr>
            <a:xfrm>
              <a:off x="6464618" y="3717608"/>
              <a:ext cx="5193982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3015" y="38695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92634" y="4130993"/>
              <a:ext cx="94411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猫叫！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老鼠努力逃跑！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狗跟着叫！</a:t>
              </a:r>
            </a:p>
          </p:txBody>
        </p:sp>
      </p:grpSp>
      <p:grpSp>
        <p:nvGrpSpPr>
          <p:cNvPr id="25" name="c2-callout-3"/>
          <p:cNvGrpSpPr/>
          <p:nvPr/>
        </p:nvGrpSpPr>
        <p:grpSpPr>
          <a:xfrm>
            <a:off x="6464618" y="4965382"/>
            <a:ext cx="5193982" cy="729615"/>
            <a:chOff x="6464618" y="4965382"/>
            <a:chExt cx="5193982" cy="729615"/>
          </a:xfrm>
        </p:grpSpPr>
        <p:sp>
          <p:nvSpPr>
            <p:cNvPr id="19" name="Rectangle 19"/>
            <p:cNvSpPr/>
            <p:nvPr/>
          </p:nvSpPr>
          <p:spPr>
            <a:xfrm>
              <a:off x="6464618" y="496538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669405" y="5230178"/>
              <a:ext cx="200026" cy="200026"/>
              <a:chOff x="6669405" y="523017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69405" y="52301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769418" y="5296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58305" y="53301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972110" y="511111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客户端决定谁观察谁，这一步避不开具体类，换成配置文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件加反射才能去掉。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26" name="Rectangle 2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6023610"/>
              <a:ext cx="5447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输出顺序就是 attach 的顺序，但这一点不能作为程序逻辑的依据。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实例二：时钟模型，一份时间多个表盘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陈伟老师课件里的例子。机芯每走一格，所有挂上去的表盘都重画一次。</a:t>
              </a:r>
            </a:p>
          </p:txBody>
        </p:sp>
      </p:grpSp>
      <p:grpSp>
        <p:nvGrpSpPr>
          <p:cNvPr id="49" name="c1-uml-1"/>
          <p:cNvGrpSpPr/>
          <p:nvPr/>
        </p:nvGrpSpPr>
        <p:grpSpPr>
          <a:xfrm>
            <a:off x="1072515" y="2218372"/>
            <a:ext cx="4967456" cy="2847022"/>
            <a:chOff x="1072515" y="2218372"/>
            <a:chExt cx="4967456" cy="2847022"/>
          </a:xfrm>
        </p:grpSpPr>
        <p:sp>
          <p:nvSpPr>
            <p:cNvPr id="9" name="Freeform 9"/>
            <p:cNvSpPr/>
            <p:nvPr/>
          </p:nvSpPr>
          <p:spPr>
            <a:xfrm>
              <a:off x="3341370" y="2828925"/>
              <a:ext cx="1176338" cy="9525"/>
            </a:xfrm>
            <a:custGeom>
              <a:avLst/>
              <a:gdLst/>
              <a:ahLst/>
              <a:cxnLst/>
              <a:rect l="l" t="t" r="r" b="b"/>
              <a:pathLst>
                <a:path w="1176338" h="9525">
                  <a:moveTo>
                    <a:pt x="11763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31820" y="2770822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02168" y="3564255"/>
              <a:ext cx="9525" cy="471488"/>
            </a:xfrm>
            <a:custGeom>
              <a:avLst/>
              <a:gdLst/>
              <a:ahLst/>
              <a:cxnLst/>
              <a:rect l="l" t="t" r="r" b="b"/>
              <a:pathLst>
                <a:path w="9525" h="471488">
                  <a:moveTo>
                    <a:pt x="0" y="47148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28825" y="343852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240655" y="3359468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67627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167312" y="32337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31795" y="4550092"/>
              <a:ext cx="1532572" cy="9525"/>
            </a:xfrm>
            <a:custGeom>
              <a:avLst/>
              <a:gdLst/>
              <a:ahLst/>
              <a:cxnLst/>
              <a:rect l="l" t="t" r="r" b="b"/>
              <a:pathLst>
                <a:path w="1532572" h="9525">
                  <a:moveTo>
                    <a:pt x="153257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31795" y="449294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72515" y="2218372"/>
              <a:ext cx="2059305" cy="1219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80135" y="2225992"/>
              <a:ext cx="204501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72515" y="2485072"/>
              <a:ext cx="20593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72515" y="2769870"/>
              <a:ext cx="20593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17708" y="2423160"/>
              <a:ext cx="1445895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429828"/>
              <a:ext cx="1431608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17708" y="284988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17708" y="2945130"/>
              <a:ext cx="1445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72540" y="4035742"/>
              <a:ext cx="1659255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80160" y="4042410"/>
              <a:ext cx="164496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72540" y="4302442"/>
              <a:ext cx="16592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272540" y="4586288"/>
              <a:ext cx="165925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64368" y="4035742"/>
              <a:ext cx="1552575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71035" y="4042410"/>
              <a:ext cx="153828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64368" y="4302442"/>
              <a:ext cx="15525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64368" y="4586288"/>
              <a:ext cx="15525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09185" y="228266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3381" y="2557462"/>
              <a:ext cx="2042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observers: List&lt;Observer&gt;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3381" y="2842260"/>
              <a:ext cx="143751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attach(Observer o)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detach(Observer o)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notifyObservers()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53112" y="2484596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68244" y="2647474"/>
              <a:ext cx="744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88574" y="3017520"/>
              <a:ext cx="1387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update(Subject s)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80179" y="4100036"/>
              <a:ext cx="843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ClockTimer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43406" y="437483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hour, minute, second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43406" y="4658678"/>
              <a:ext cx="108413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getHour(): int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tick()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87481" y="4100036"/>
              <a:ext cx="906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DigitalClock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35234" y="4374832"/>
              <a:ext cx="1504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subject: ClockTimer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35234" y="4658678"/>
              <a:ext cx="130416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update(Subject s)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draw()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629978" y="2612708"/>
              <a:ext cx="38862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63467" y="2639378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09950" y="4333875"/>
              <a:ext cx="57531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37839" y="4360545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7114222" y="1967865"/>
            <a:ext cx="4544378" cy="2470785"/>
            <a:chOff x="7114222" y="1967865"/>
            <a:chExt cx="4544378" cy="2470785"/>
          </a:xfrm>
        </p:grpSpPr>
        <p:sp>
          <p:nvSpPr>
            <p:cNvPr id="50" name="Rectangle 50"/>
            <p:cNvSpPr/>
            <p:nvPr/>
          </p:nvSpPr>
          <p:spPr>
            <a:xfrm>
              <a:off x="7114222" y="1967865"/>
              <a:ext cx="4544378" cy="2470785"/>
            </a:xfrm>
            <a:prstGeom prst="roundRect">
              <a:avLst>
                <a:gd name="adj" fmla="val 539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16152" y="2202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和上一个骨架的差别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16152" y="2556510"/>
              <a:ext cx="3787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notifyObservers() 这次直接在 Subject 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实现，子类只管改状态后调用它。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6152" y="3177540"/>
              <a:ext cx="3806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update() 带一个 Subject 参数，观察者据此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判断是不是自己关心的那个目标。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17296" y="3794284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张老师课件把通知方法声明为抽象，陈伟老师课件在基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类里实现。后者更常见，子类少写一遍循环。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7114222" y="4628198"/>
            <a:ext cx="4544378" cy="782955"/>
            <a:chOff x="7114222" y="4628198"/>
            <a:chExt cx="4544378" cy="782955"/>
          </a:xfrm>
        </p:grpSpPr>
        <p:sp>
          <p:nvSpPr>
            <p:cNvPr id="56" name="Rectangle 56"/>
            <p:cNvSpPr/>
            <p:nvPr/>
          </p:nvSpPr>
          <p:spPr>
            <a:xfrm>
              <a:off x="7114222" y="4628198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19010" y="4919663"/>
              <a:ext cx="200026" cy="200026"/>
              <a:chOff x="7319010" y="4919663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19010" y="49196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19023" y="4986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407910" y="50196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620952" y="4776788"/>
              <a:ext cx="3644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AnalogClock 的写法和 DigitalClock 完全一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样，只是 draw() 里改成转指针。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7665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update(Subject s) 里那句 if (s == subject) 是在一个观察者订阅多个目标时用的。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58516" cy="909257"/>
            <a:chOff x="520446" y="342900"/>
            <a:chExt cx="54585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585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实例二代码：C++ 课件改写成 Java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735002" cy="3545205"/>
            <a:chOff x="533400" y="1524000"/>
            <a:chExt cx="5735002" cy="3545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851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ClockTimer.java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79926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ClockTimer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Subject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hour, minute, second;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getHour()  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hour;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getMinute()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minute;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getSecond()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second;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tick() {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每秒调一次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LocalTime now = LocalTime.now();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hour   = now.getHour();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minute = now.getMinute();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second = now.getSecond();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notifyObservers();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时间变了，通知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573202" y="1524000"/>
            <a:ext cx="5085398" cy="3139440"/>
            <a:chOff x="6573202" y="1524000"/>
            <a:chExt cx="5085398" cy="3139440"/>
          </a:xfrm>
        </p:grpSpPr>
        <p:sp>
          <p:nvSpPr>
            <p:cNvPr id="11" name="Rectangle 11"/>
            <p:cNvSpPr/>
            <p:nvPr/>
          </p:nvSpPr>
          <p:spPr>
            <a:xfrm>
              <a:off x="6573202" y="1524000"/>
              <a:ext cx="5085398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01600" y="1675924"/>
              <a:ext cx="1139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DigitalClock.java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00838" y="1937861"/>
              <a:ext cx="3688334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DigitalClock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ClockTimer subject;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DigitalClock(ClockTimer 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.subject = s;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s.attach(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构造时注册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close() {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用完显式注销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subject.detach(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update(Subject s)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 == subject) { draw();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llout-2"/>
          <p:cNvGrpSpPr/>
          <p:nvPr/>
        </p:nvGrpSpPr>
        <p:grpSpPr>
          <a:xfrm>
            <a:off x="6573202" y="4853940"/>
            <a:ext cx="5085398" cy="782955"/>
            <a:chOff x="6573202" y="4853940"/>
            <a:chExt cx="5085398" cy="782955"/>
          </a:xfrm>
        </p:grpSpPr>
        <p:sp>
          <p:nvSpPr>
            <p:cNvPr id="15" name="Rectangle 15"/>
            <p:cNvSpPr/>
            <p:nvPr/>
          </p:nvSpPr>
          <p:spPr>
            <a:xfrm>
              <a:off x="6573202" y="4853940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765932" y="5141713"/>
              <a:ext cx="224134" cy="192560"/>
              <a:chOff x="6765932" y="5141713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878003" y="52120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765932" y="51417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878003" y="5289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079933" y="5002530"/>
              <a:ext cx="4196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原课件在 ~DigitalClock() 里 detach。Java 没有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析构函数，必须自己提供 close() 并显式调用。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2" name="Rectangle 2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991225"/>
              <a:ext cx="6906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更正：原课件构造函数参数类型拼成 ClockTiemr，正确拼写是 ClockTimer。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实例三：自定义登录控件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91817" cy="264033"/>
            <a:chOff x="526542" y="1545907"/>
            <a:chExt cx="69918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91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的 AWT/Swing 事件处理就建在观察者模式上，这个例子把整套机制自己写一遍。</a:t>
              </a:r>
            </a:p>
          </p:txBody>
        </p:sp>
      </p:grpSp>
      <p:grpSp>
        <p:nvGrpSpPr>
          <p:cNvPr id="46" name="c1-uml-1"/>
          <p:cNvGrpSpPr/>
          <p:nvPr/>
        </p:nvGrpSpPr>
        <p:grpSpPr>
          <a:xfrm>
            <a:off x="1243012" y="2261235"/>
            <a:ext cx="5101633" cy="2734628"/>
            <a:chOff x="1243012" y="2261235"/>
            <a:chExt cx="5101633" cy="2734628"/>
          </a:xfrm>
        </p:grpSpPr>
        <p:sp>
          <p:nvSpPr>
            <p:cNvPr id="9" name="Freeform 9"/>
            <p:cNvSpPr/>
            <p:nvPr/>
          </p:nvSpPr>
          <p:spPr>
            <a:xfrm>
              <a:off x="2251710" y="3161348"/>
              <a:ext cx="3055620" cy="712470"/>
            </a:xfrm>
            <a:custGeom>
              <a:avLst/>
              <a:gdLst/>
              <a:ahLst/>
              <a:cxnLst/>
              <a:rect l="l" t="t" r="r" b="b"/>
              <a:pathLst>
                <a:path w="3055620" h="712470">
                  <a:moveTo>
                    <a:pt x="3055620" y="0"/>
                  </a:moveTo>
                  <a:lnTo>
                    <a:pt x="3055620" y="461010"/>
                  </a:lnTo>
                  <a:lnTo>
                    <a:pt x="0" y="461010"/>
                  </a:lnTo>
                  <a:lnTo>
                    <a:pt x="0" y="71247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93608" y="3873818"/>
              <a:ext cx="116205" cy="209550"/>
            </a:xfrm>
            <a:custGeom>
              <a:avLst/>
              <a:gdLst/>
              <a:ahLst/>
              <a:cxnLst/>
              <a:rect l="l" t="t" r="r" b="b"/>
              <a:pathLst>
                <a:path w="116205" h="209550">
                  <a:moveTo>
                    <a:pt x="58102" y="209550"/>
                  </a:moveTo>
                  <a:lnTo>
                    <a:pt x="0" y="104775"/>
                  </a:lnTo>
                  <a:lnTo>
                    <a:pt x="58102" y="0"/>
                  </a:lnTo>
                  <a:lnTo>
                    <a:pt x="116205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061210" y="3336608"/>
              <a:ext cx="95250" cy="746760"/>
            </a:xfrm>
            <a:custGeom>
              <a:avLst/>
              <a:gdLst/>
              <a:ahLst/>
              <a:cxnLst/>
              <a:rect l="l" t="t" r="r" b="b"/>
              <a:pathLst>
                <a:path w="95250" h="746760">
                  <a:moveTo>
                    <a:pt x="0" y="746760"/>
                  </a:moveTo>
                  <a:lnTo>
                    <a:pt x="0" y="373380"/>
                  </a:lnTo>
                  <a:lnTo>
                    <a:pt x="95250" y="37338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099310" y="3336608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115252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402580" y="3287078"/>
              <a:ext cx="95250" cy="958215"/>
            </a:xfrm>
            <a:custGeom>
              <a:avLst/>
              <a:gdLst/>
              <a:ahLst/>
              <a:cxnLst/>
              <a:rect l="l" t="t" r="r" b="b"/>
              <a:pathLst>
                <a:path w="95250" h="958215">
                  <a:moveTo>
                    <a:pt x="0" y="958215"/>
                  </a:moveTo>
                  <a:lnTo>
                    <a:pt x="0" y="416242"/>
                  </a:lnTo>
                  <a:lnTo>
                    <a:pt x="95250" y="416242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424488" y="31613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88745" y="2261235"/>
              <a:ext cx="153543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96365" y="2268855"/>
              <a:ext cx="152114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88745" y="2491740"/>
              <a:ext cx="15354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88745" y="2911792"/>
              <a:ext cx="15354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00562" y="2436495"/>
              <a:ext cx="1804035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07230" y="2443162"/>
              <a:ext cx="1789748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00562" y="2804160"/>
              <a:ext cx="18040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00562" y="2899410"/>
              <a:ext cx="18040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43012" y="4083368"/>
              <a:ext cx="1826895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49680" y="4090035"/>
              <a:ext cx="181260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43012" y="4313872"/>
              <a:ext cx="1826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43012" y="4571048"/>
              <a:ext cx="18268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00562" y="4245292"/>
              <a:ext cx="180403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07230" y="4252912"/>
              <a:ext cx="178974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00562" y="4475798"/>
              <a:ext cx="18040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00562" y="4571048"/>
              <a:ext cx="18040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83765" y="2316956"/>
              <a:ext cx="745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LoginEvent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0182" y="2561273"/>
              <a:ext cx="107823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userName: String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password: String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0182" y="2981325"/>
              <a:ext cx="139255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getUserName(): String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getPassword(): String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77691" y="248935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40422" y="2629376"/>
              <a:ext cx="1324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LoginEventListener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72000" y="2968942"/>
              <a:ext cx="17726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validateLogin(LoginEvent e)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21881" y="4139089"/>
              <a:ext cx="669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LoginBean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14450" y="4383405"/>
              <a:ext cx="15057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lel: LoginEventListener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14450" y="4640580"/>
              <a:ext cx="168402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addLoginEventListener(...)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fireLoginEvent(...)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72281" y="4301014"/>
              <a:ext cx="1060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LoginValidatorA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72000" y="4640580"/>
              <a:ext cx="17726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validateLogin(LoginEvent e)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666172" y="3426142"/>
              <a:ext cx="2266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705092" y="3449002"/>
              <a:ext cx="1488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lel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089785" y="3817620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13598" y="384048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58" name="c2-kv-1"/>
          <p:cNvGrpSpPr/>
          <p:nvPr/>
        </p:nvGrpSpPr>
        <p:grpSpPr>
          <a:xfrm>
            <a:off x="7323963" y="1949291"/>
            <a:ext cx="4334637" cy="2091499"/>
            <a:chOff x="7323963" y="1949291"/>
            <a:chExt cx="4334637" cy="2091499"/>
          </a:xfrm>
        </p:grpSpPr>
        <p:sp>
          <p:nvSpPr>
            <p:cNvPr id="47" name="TextBox 47"/>
            <p:cNvSpPr txBox="1"/>
            <p:nvPr/>
          </p:nvSpPr>
          <p:spPr>
            <a:xfrm>
              <a:off x="7323963" y="1949291"/>
              <a:ext cx="874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LoginBean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43250" y="19492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具体目标，也是界面组件本身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330440" y="222218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23963" y="2323624"/>
              <a:ext cx="1729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LoginEventListener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43250" y="2323624"/>
              <a:ext cx="21262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抽象观察者，声明事件处理方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330440" y="283559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23963" y="2937034"/>
              <a:ext cx="15909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LoginValidatorA/B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43250" y="2937034"/>
              <a:ext cx="21262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具体观察者，两套不同的校验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0440" y="344900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23963" y="3551396"/>
              <a:ext cx="973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LoginEvent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43250" y="3551396"/>
              <a:ext cx="21262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事件类，不属于模式角色，只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负责搬数据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7330440" y="4154805"/>
            <a:ext cx="4328160" cy="1255395"/>
            <a:chOff x="7330440" y="4154805"/>
            <a:chExt cx="4328160" cy="1255395"/>
          </a:xfrm>
        </p:grpSpPr>
        <p:sp>
          <p:nvSpPr>
            <p:cNvPr id="59" name="Rectangle 59"/>
            <p:cNvSpPr/>
            <p:nvPr/>
          </p:nvSpPr>
          <p:spPr>
            <a:xfrm>
              <a:off x="7330440" y="4154805"/>
              <a:ext cx="4328160" cy="1255395"/>
            </a:xfrm>
            <a:prstGeom prst="roundRect">
              <a:avLst>
                <a:gd name="adj" fmla="val 106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39965" y="4288155"/>
              <a:ext cx="47625" cy="9886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49515" y="43357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42187" y="43686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15491" y="4375309"/>
              <a:ext cx="2534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类图把 LoginBean 标成了抽象类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43038" y="4692491"/>
              <a:ext cx="3475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正文说 LoginBean 是具体目标类，客户端要直接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它，类图上的 {abstract} 应当去掉。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这里没有抽象目标类，是对标准结构的一次简化，只有一个具体目标时常这么写。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实例三代码：点火方法在哪一行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670935"/>
            <a:chOff x="533400" y="1524000"/>
            <a:chExt cx="5626418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43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LoginBean.java（节选）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301873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LoginBean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JPanel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ActionListener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LoginEventListener lel;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JTextField userName;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JPasswordField password;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addLoginEventListener(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LoginEventListener lel)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.lel = lel;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注册观察者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fireLoginEvent(Object src,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String user, String pwd)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LoginEvent e =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LoginEvent(src, user, pwd);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lel.validateLogin(e);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点火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464618" y="1524000"/>
            <a:ext cx="5193982" cy="2264092"/>
            <a:chOff x="6464618" y="1524000"/>
            <a:chExt cx="5193982" cy="2264092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93015" y="1675924"/>
              <a:ext cx="1407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LoginValidatorA.java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3015" y="1935956"/>
              <a:ext cx="3227197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LoginValidatorA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LoginEventListener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validateLogin(LoginEvent 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(e.getUserName().isEmpty()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|| e.getPassword().isEmpty())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JOptionPane.showMessageDialog(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"用户名或密码为空！"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2"/>
          <p:cNvGrpSpPr/>
          <p:nvPr/>
        </p:nvGrpSpPr>
        <p:grpSpPr>
          <a:xfrm>
            <a:off x="6464618" y="3952875"/>
            <a:ext cx="5193982" cy="1696402"/>
            <a:chOff x="6464618" y="3952875"/>
            <a:chExt cx="5193982" cy="1696402"/>
          </a:xfrm>
        </p:grpSpPr>
        <p:sp>
          <p:nvSpPr>
            <p:cNvPr id="15" name="Rectangle 15"/>
            <p:cNvSpPr/>
            <p:nvPr/>
          </p:nvSpPr>
          <p:spPr>
            <a:xfrm>
              <a:off x="6464618" y="3952875"/>
              <a:ext cx="5193982" cy="1696402"/>
            </a:xfrm>
            <a:prstGeom prst="roundRect">
              <a:avLst>
                <a:gd name="adj" fmla="val 7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74142" y="4086225"/>
              <a:ext cx="47625" cy="14297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77216" y="41552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换了叫法的三个方法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77216" y="4456271"/>
              <a:ext cx="3330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addLoginEventListener() 就是 attach()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77216" y="4741069"/>
              <a:ext cx="4523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fireLoginEvent() 就是 notifyObservers()，课件里叫“点火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77216" y="5269706"/>
              <a:ext cx="2530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LoginEvent 是推模型的数据载体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2" name="Rectangle 2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1273" y="6039326"/>
              <a:ext cx="7145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LoginBean 只存了一个 lel，是一对一的写法；要一对多得换成 List&lt;LoginEventListener&gt;。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72582" cy="909257"/>
            <a:chOff x="520446" y="342900"/>
            <a:chExt cx="43725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三个完整实例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725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事件处理模型的三要素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28433" cy="278702"/>
            <a:chOff x="526161" y="1547336"/>
            <a:chExt cx="762843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284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1.0 的事件模型基于职责链，从 JDK 1.1 起换成了基于观察者的委派事件模型 DEM。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542" y="1964055"/>
            <a:ext cx="5417058" cy="1820418"/>
            <a:chOff x="526542" y="1964055"/>
            <a:chExt cx="5417058" cy="1820418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1840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事件源 Event Source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4404" y="196405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发布事件的对象，通常是界面组件，对应观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察目标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060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615565"/>
              <a:ext cx="1420035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事件监听器 Event</a:t>
              </a:r>
              <a:br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Listener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4404" y="261556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订阅并处理事件的对象，对应观察者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1584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3267075"/>
              <a:ext cx="1248585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事件对象 Event</a:t>
              </a:r>
              <a:br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74404" y="326707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承载事件相关信息，在两者之间传数据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907155"/>
            <a:ext cx="5410200" cy="1779270"/>
            <a:chOff x="533400" y="3907155"/>
            <a:chExt cx="5410200" cy="1779270"/>
          </a:xfrm>
        </p:grpSpPr>
        <p:sp>
          <p:nvSpPr>
            <p:cNvPr id="18" name="Rectangle 18"/>
            <p:cNvSpPr/>
            <p:nvPr/>
          </p:nvSpPr>
          <p:spPr>
            <a:xfrm>
              <a:off x="533400" y="3907155"/>
              <a:ext cx="5410200" cy="1779270"/>
            </a:xfrm>
            <a:prstGeom prst="roundRect">
              <a:avLst>
                <a:gd name="adj" fmla="val 642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696780"/>
              <a:ext cx="200023" cy="200023"/>
              <a:chOff x="738188" y="4696780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6967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4763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457771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组件引发的事件不由组件自己处理，而是委派给独立的监听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器对象，这就是“委派”二字的来历。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8400" y="1941195"/>
            <a:ext cx="5410200" cy="2840355"/>
            <a:chOff x="6248400" y="1941195"/>
            <a:chExt cx="5410200" cy="2840355"/>
          </a:xfrm>
        </p:grpSpPr>
        <p:sp>
          <p:nvSpPr>
            <p:cNvPr id="24" name="Rectangle 24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2970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观察者模式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09499" y="2065496"/>
              <a:ext cx="1015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事件模型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48412" y="2471261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5370" y="2471261"/>
              <a:ext cx="1401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事件源，如 JButton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8412" y="2877026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attach()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75370" y="2877026"/>
              <a:ext cx="13109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addXxxListener()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8412" y="3282791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detach()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75370" y="3282791"/>
              <a:ext cx="1589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removeXxxListener()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8412" y="3688556"/>
              <a:ext cx="1489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notifyObservers()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75370" y="3688556"/>
              <a:ext cx="1899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fireXxxEvent()，点火方法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965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8412" y="4094321"/>
              <a:ext cx="744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75370" y="4094321"/>
              <a:ext cx="12421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XxxListener 接口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4371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43757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8412" y="4500086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75370" y="4500086"/>
              <a:ext cx="2218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actionPerformed() 等处理方法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941195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70595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2"/>
          <p:cNvGrpSpPr/>
          <p:nvPr/>
        </p:nvGrpSpPr>
        <p:grpSpPr>
          <a:xfrm>
            <a:off x="6248400" y="4956810"/>
            <a:ext cx="5410200" cy="729615"/>
            <a:chOff x="6248400" y="4956810"/>
            <a:chExt cx="5410200" cy="729615"/>
          </a:xfrm>
        </p:grpSpPr>
        <p:sp>
          <p:nvSpPr>
            <p:cNvPr id="50" name="Rectangle 50"/>
            <p:cNvSpPr/>
            <p:nvPr/>
          </p:nvSpPr>
          <p:spPr>
            <a:xfrm>
              <a:off x="6248400" y="495681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221605"/>
              <a:ext cx="200026" cy="200026"/>
              <a:chOff x="6453188" y="522160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52216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5288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2088" y="53216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892" y="5103495"/>
              <a:ext cx="44799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所有自定义事件类都应继承 java.util.EventObject，监听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器接口继承 EventListener。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6649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会用 addActionListener 就等于已经用过观察者模式了，只是当时没叫这个名字。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效果、适用环境与应用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好处在哪，代价在哪，什么场合该想到它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广播的代价与循环通知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三类适用场合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09456" cy="909257"/>
            <a:chOff x="520446" y="342900"/>
            <a:chExt cx="2509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效果、适用环境与应用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四条优点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558034" cy="264033"/>
            <a:chOff x="526542" y="1545907"/>
            <a:chExt cx="25580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前两条讲耦合，后两条讲扩展。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168718"/>
            <a:chOff x="533400" y="1928812"/>
            <a:chExt cx="5410200" cy="11687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5998" y="213026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目标与观察者只在抽象层耦合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432209"/>
              <a:ext cx="4878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目标手里拿的是 Observer 接口，不知道有哪些具体观察者类。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71700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具体观察者怎么改、改成几个，目标的代码都不动。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261360"/>
            <a:ext cx="5410200" cy="1168718"/>
            <a:chOff x="533400" y="3261360"/>
            <a:chExt cx="5410200" cy="1168718"/>
          </a:xfrm>
        </p:grpSpPr>
        <p:sp>
          <p:nvSpPr>
            <p:cNvPr id="15" name="Rectangle 15"/>
            <p:cNvSpPr/>
            <p:nvPr/>
          </p:nvSpPr>
          <p:spPr>
            <a:xfrm>
              <a:off x="533400" y="3261360"/>
              <a:ext cx="5410200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94710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5998" y="34637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支持广播通信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76475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一次通知发给名单上所有注册者，不必为每个观察者写一遍调用。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404955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想缩小范围，可以在目标里按条件过滤，只通知一部分。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594860"/>
            <a:ext cx="5410200" cy="945832"/>
            <a:chOff x="533400" y="4594860"/>
            <a:chExt cx="5410200" cy="945832"/>
          </a:xfrm>
        </p:grpSpPr>
        <p:sp>
          <p:nvSpPr>
            <p:cNvPr id="21" name="Rectangle 21"/>
            <p:cNvSpPr/>
            <p:nvPr/>
          </p:nvSpPr>
          <p:spPr>
            <a:xfrm>
              <a:off x="533400" y="4594860"/>
              <a:ext cx="5410200" cy="945832"/>
            </a:xfrm>
            <a:prstGeom prst="roundRect">
              <a:avLst>
                <a:gd name="adj" fmla="val 120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967288"/>
              <a:ext cx="200026" cy="200026"/>
              <a:chOff x="738188" y="496728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9672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0339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0673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4861084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没有这个模式时，目标状态一变就得挨个点名调用，加一个观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察者就要改目标。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928812"/>
            <a:ext cx="5410200" cy="1168718"/>
            <a:chOff x="6248400" y="1928812"/>
            <a:chExt cx="5410200" cy="1168718"/>
          </a:xfrm>
        </p:grpSpPr>
        <p:sp>
          <p:nvSpPr>
            <p:cNvPr id="28" name="Rectangle 28"/>
            <p:cNvSpPr/>
            <p:nvPr/>
          </p:nvSpPr>
          <p:spPr>
            <a:xfrm>
              <a:off x="6248400" y="1928812"/>
              <a:ext cx="5410200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62162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60998" y="213026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实现了动态联动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0998" y="243220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联动就是做一个操作会引起其他相关操作。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0998" y="271700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注册关系在运行期随时增删，等于在运行期控制联动的范围。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261360"/>
            <a:ext cx="5410200" cy="1411605"/>
            <a:chOff x="6248400" y="3261360"/>
            <a:chExt cx="5410200" cy="1411605"/>
          </a:xfrm>
        </p:grpSpPr>
        <p:sp>
          <p:nvSpPr>
            <p:cNvPr id="34" name="Rectangle 34"/>
            <p:cNvSpPr/>
            <p:nvPr/>
          </p:nvSpPr>
          <p:spPr>
            <a:xfrm>
              <a:off x="6248400" y="3261360"/>
              <a:ext cx="5410200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394710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0998" y="34637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满足开闭原则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0998" y="37647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增加新的具体观察者，不用改任何已有代码。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0998" y="404955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具体观察者与具体目标之间没有关联时，增加新的观察目标同样方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248400" y="4837748"/>
            <a:ext cx="5410200" cy="702945"/>
            <a:chOff x="6248400" y="4837748"/>
            <a:chExt cx="5410200" cy="702945"/>
          </a:xfrm>
        </p:grpSpPr>
        <p:sp>
          <p:nvSpPr>
            <p:cNvPr id="40" name="Rectangle 40"/>
            <p:cNvSpPr/>
            <p:nvPr/>
          </p:nvSpPr>
          <p:spPr>
            <a:xfrm>
              <a:off x="6248400" y="483774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089208"/>
              <a:ext cx="200026" cy="200025"/>
              <a:chOff x="6453188" y="5089208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50892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92926" y="51336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7642" y="52447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6273" y="4983004"/>
              <a:ext cx="43858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把某个观察者临时 detach 掉，就相当于在运行期关掉了它那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一段功能。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7" name="Rectangle 4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四条好处归根到底都来自同一件事：目标手里拿的是接口，不是具体类。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09456" cy="909257"/>
            <a:chOff x="520446" y="342900"/>
            <a:chExt cx="2509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效果、适用环境与应用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代价与使用注意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695393" cy="308039"/>
            <a:chOff x="525399" y="1550194"/>
            <a:chExt cx="46953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前两条来自源课件，后三条是工程里最常踩的坑。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6712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6094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3871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怎么处理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426018"/>
              <a:ext cx="220599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无谓的调用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6263" y="2551271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每次都是广播，不管观察者需不需要，update() 都会被调到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8863" y="2551271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不再关心就及时 detach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2874645"/>
              <a:ext cx="220599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循环通知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6263" y="300085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两个对象互为观察者和目标，相互广播可能死循环直至栈溢出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28863" y="30008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加通知中标志位或打断环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通知顺序不定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66263" y="344947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观察者之间没有约定的先后，集合顺序不能当作业务依据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28863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有先后要求就别用广播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8981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一个观察者抛异常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66263" y="389810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异常会打断遍历，后面的观察者收不到通知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28863" y="389810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里兜住异常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失效监听器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66263" y="434673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观察者忘了注销，目标一直持有引用，对象回收不掉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8863" y="4346734"/>
              <a:ext cx="1994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成对写 attach 与 detach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5367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1627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851082"/>
            <a:ext cx="11125200" cy="806768"/>
            <a:chOff x="533400" y="4851082"/>
            <a:chExt cx="11125200" cy="806768"/>
          </a:xfrm>
        </p:grpSpPr>
        <p:sp>
          <p:nvSpPr>
            <p:cNvPr id="40" name="Rectangle 40"/>
            <p:cNvSpPr/>
            <p:nvPr/>
          </p:nvSpPr>
          <p:spPr>
            <a:xfrm>
              <a:off x="533400" y="4851082"/>
              <a:ext cx="11125200" cy="806768"/>
            </a:xfrm>
            <a:prstGeom prst="roundRect">
              <a:avLst>
                <a:gd name="adj" fmla="val 1416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150286"/>
              <a:ext cx="224134" cy="192560"/>
              <a:chOff x="726129" y="5150286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2206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1502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52984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149215"/>
              <a:ext cx="85366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目标只告诉观察者“我变了”，没说“哪里变了”。需要增量信息时要么用推模型，要么自己比对。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7231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观察者数量多、update() 又重的时候，一次 setState 的代价会被放大很多倍。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效果、适用环境与应用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什么时候该想到观察者模式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38878" cy="264033"/>
            <a:chOff x="526542" y="1545907"/>
            <a:chExt cx="47388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判据很直接：依赖方的个数和身份，会不会在运行期变化。</a:t>
              </a:r>
            </a:p>
          </p:txBody>
        </p:sp>
      </p:grpSp>
      <p:grpSp>
        <p:nvGrpSpPr>
          <p:cNvPr id="25" name="c1-bullets-1"/>
          <p:cNvGrpSpPr/>
          <p:nvPr/>
        </p:nvGrpSpPr>
        <p:grpSpPr>
          <a:xfrm>
            <a:off x="526923" y="1949291"/>
            <a:ext cx="3907765" cy="1769841"/>
            <a:chOff x="526923" y="1949291"/>
            <a:chExt cx="3907765" cy="1769841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源课件给的三类场合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39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274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25123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一个抽象模型有两个方面，其中一方依赖另一方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255841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4791" y="249936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把两方封装在独立对象里，各自独立改变和复用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2747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5307" y="2781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148" y="27579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一个对象的改变会导致一个或多个其他对象改变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" y="306514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4791" y="300609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而且事先不知道具体有多少个，也不知道它们是谁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25374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307" y="32884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148" y="32646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需要在系统中建立一条触发链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357187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4791" y="3513773"/>
              <a:ext cx="2780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影响 B，B 影响 C，用观察者串成链式触发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842385"/>
            <a:ext cx="6059805" cy="1635442"/>
            <a:chOff x="533400" y="3842385"/>
            <a:chExt cx="6059805" cy="1635442"/>
          </a:xfrm>
        </p:grpSpPr>
        <p:sp>
          <p:nvSpPr>
            <p:cNvPr id="26" name="Rectangle 26"/>
            <p:cNvSpPr/>
            <p:nvPr/>
          </p:nvSpPr>
          <p:spPr>
            <a:xfrm>
              <a:off x="533400" y="3842385"/>
              <a:ext cx="6059805" cy="1635442"/>
            </a:xfrm>
            <a:prstGeom prst="roundRect">
              <a:avLst>
                <a:gd name="adj" fmla="val 81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975735"/>
              <a:ext cx="47625" cy="1368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402336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8246" y="405622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4625" y="4062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触发链长什么样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379119"/>
              <a:ext cx="4338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订单状态改成“已支付”，库存服务收到通知，扣减库存。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466486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库存扣完又发一次通知，采购服务收到后决定要不要补货。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7141" y="494538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中间每一环既是上一环的观察者，又是下一环的目标。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898005" y="1928812"/>
            <a:ext cx="4760595" cy="1730692"/>
            <a:chOff x="6898005" y="1928812"/>
            <a:chExt cx="4760595" cy="1730692"/>
          </a:xfrm>
        </p:grpSpPr>
        <p:sp>
          <p:nvSpPr>
            <p:cNvPr id="35" name="Rectangle 35"/>
            <p:cNvSpPr/>
            <p:nvPr/>
          </p:nvSpPr>
          <p:spPr>
            <a:xfrm>
              <a:off x="6898005" y="1928812"/>
              <a:ext cx="4760595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07530" y="2062162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17080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5701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反过来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7833" y="21493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10603" y="246554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只有一个固定的观察者，而且以后也不会变，直接调用更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清楚。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0603" y="299418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观察者之间有严格先后顺序要求，广播给不了这个保证。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10603" y="3278981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update() 里又反过来改目标状态，容易绕成环。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898005" y="3823335"/>
            <a:ext cx="4760595" cy="1654492"/>
            <a:chOff x="6898005" y="3823335"/>
            <a:chExt cx="4760595" cy="1654492"/>
          </a:xfrm>
        </p:grpSpPr>
        <p:sp>
          <p:nvSpPr>
            <p:cNvPr id="44" name="Rectangle 44"/>
            <p:cNvSpPr/>
            <p:nvPr/>
          </p:nvSpPr>
          <p:spPr>
            <a:xfrm>
              <a:off x="6898005" y="3823335"/>
              <a:ext cx="4760595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3956685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10603" y="40257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实现时还要定两件事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0603" y="4326731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关联管理：目标直接持有观察者，或把订阅关系存进一张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表。观察者订阅多个目标时，两者成为多对多。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0603" y="485441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更新的触发：目标改完状态自己触发，还是客户端显式调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触发链和职责链不是一回事：职责链上通常只有一个处理者处理，触发链上人人都要动。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09456" cy="909257"/>
            <a:chOff x="520446" y="342900"/>
            <a:chExt cx="2509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效果、适用环境与应用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工程里的观察者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6542" y="1545907"/>
            <a:ext cx="4365117" cy="1207008"/>
            <a:chOff x="526542" y="1545907"/>
            <a:chExt cx="4365117" cy="1207008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源课件举的例子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41972" y="192214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992" y="1865947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电商网站在用户下单后给多个渠道发送商品打折信息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972" y="223361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992" y="217741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团队战斗游戏中某队友牺牲，向所有成员发提示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972" y="254508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992" y="2488882"/>
              <a:ext cx="4161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AWT/Swing 的整套事件处理（DEM 委派事件模型）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2874645"/>
            <a:ext cx="5410200" cy="729615"/>
            <a:chOff x="533400" y="2874645"/>
            <a:chExt cx="541020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28746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139440"/>
              <a:ext cx="200026" cy="200026"/>
              <a:chOff x="738188" y="3139440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31394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32061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32394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020377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凡是一对一或者一对多的对象交互场景，都可以考虑这个模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3778568"/>
            <a:ext cx="5410200" cy="1503998"/>
            <a:chOff x="533400" y="3778568"/>
            <a:chExt cx="5410200" cy="1503998"/>
          </a:xfrm>
        </p:grpSpPr>
        <p:sp>
          <p:nvSpPr>
            <p:cNvPr id="22" name="Rectangle 22"/>
            <p:cNvSpPr/>
            <p:nvPr/>
          </p:nvSpPr>
          <p:spPr>
            <a:xfrm>
              <a:off x="533400" y="3778568"/>
              <a:ext cx="5410200" cy="1503998"/>
            </a:xfrm>
            <a:prstGeom prst="roundRect">
              <a:avLst>
                <a:gd name="adj" fmla="val 886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8947" y="39938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这些框架的共同写法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947" y="431387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一份可增删的监听器名单，配一个注册方法和一个注销方法。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947" y="461581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一个在状态变化时调用的通知方法，逐个回调名单上的对象。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090" y="4914424"/>
              <a:ext cx="4733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名字从 attach/update 换成 addListener/onEvent，骨架一点没变。</a:t>
              </a:r>
            </a:p>
          </p:txBody>
        </p:sp>
      </p:grpSp>
      <p:grpSp>
        <p:nvGrpSpPr>
          <p:cNvPr id="42" name="c2-kv-1"/>
          <p:cNvGrpSpPr/>
          <p:nvPr/>
        </p:nvGrpSpPr>
        <p:grpSpPr>
          <a:xfrm>
            <a:off x="6241542" y="1545907"/>
            <a:ext cx="5417058" cy="2616708"/>
            <a:chOff x="6241542" y="1545907"/>
            <a:chExt cx="5417058" cy="2616708"/>
          </a:xfrm>
        </p:grpSpPr>
        <p:sp>
          <p:nvSpPr>
            <p:cNvPr id="28" name="TextBox 28"/>
            <p:cNvSpPr txBox="1"/>
            <p:nvPr/>
          </p:nvSpPr>
          <p:spPr>
            <a:xfrm>
              <a:off x="6241542" y="1545907"/>
              <a:ext cx="1022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Spring 事件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5030" y="1545907"/>
              <a:ext cx="380276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ApplicationEvent 加 ApplicationListener，容器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负责广播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088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1542" y="2198370"/>
              <a:ext cx="1015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java.beans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5030" y="2198370"/>
              <a:ext cx="393134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PropertyChangeSupport 管理监听器，属性一变就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740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1542" y="28498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响应式流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75030" y="2849880"/>
              <a:ext cx="349415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java.util.concurrent.Flow 的 Publisher 与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Subscriber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391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1542" y="3501390"/>
              <a:ext cx="1032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浏览器 DOM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75030" y="3501390"/>
              <a:ext cx="4177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addEventListener 注册回调，事件发生时逐个调用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7899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1542" y="38985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消息中间件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75030" y="389858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发布订阅主题，中间多了一层消息代理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285298"/>
            <a:ext cx="5410200" cy="998220"/>
            <a:chOff x="6248400" y="4285298"/>
            <a:chExt cx="5410200" cy="998220"/>
          </a:xfrm>
        </p:grpSpPr>
        <p:sp>
          <p:nvSpPr>
            <p:cNvPr id="43" name="Rectangle 43"/>
            <p:cNvSpPr/>
            <p:nvPr/>
          </p:nvSpPr>
          <p:spPr>
            <a:xfrm>
              <a:off x="6248400" y="4285298"/>
              <a:ext cx="5410200" cy="998220"/>
            </a:xfrm>
            <a:prstGeom prst="roundRect">
              <a:avLst>
                <a:gd name="adj" fmla="val 1145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4684395"/>
              <a:ext cx="200026" cy="200025"/>
              <a:chOff x="6453188" y="468439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46843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47288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48399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892" y="456533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消息中间件和观察者的区别在于，发布方和订阅方连对方的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接口都不知道，全靠中间的代理转。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名字可以叫监听器、订阅者、回调，判断标准只有一个：有没有一份可增删的名单。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72483" cy="2997517"/>
            <a:chOff x="667512" y="1835468"/>
            <a:chExt cx="447248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6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自带的支持、MVC，以及这个模式的本质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552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java.util 的 Observable 与 Observer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91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 三个角色的对应关系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本质是触发联动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13398" cy="909257"/>
            <a:chOff x="520446" y="342900"/>
            <a:chExt cx="61133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13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自带的 Observable 与 Observer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83642" cy="264033"/>
            <a:chOff x="526542" y="1545907"/>
            <a:chExt cx="628364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83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java.util 包里提供了一个类和一个接口，直接当抽象层用，自己只写具体类。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1257300" y="1995488"/>
            <a:ext cx="5447792" cy="3014662"/>
            <a:chOff x="1257300" y="1995488"/>
            <a:chExt cx="5447792" cy="3014662"/>
          </a:xfrm>
        </p:grpSpPr>
        <p:sp>
          <p:nvSpPr>
            <p:cNvPr id="9" name="Freeform 9"/>
            <p:cNvSpPr/>
            <p:nvPr/>
          </p:nvSpPr>
          <p:spPr>
            <a:xfrm>
              <a:off x="3373755" y="2857500"/>
              <a:ext cx="1108710" cy="9525"/>
            </a:xfrm>
            <a:custGeom>
              <a:avLst/>
              <a:gdLst/>
              <a:ahLst/>
              <a:cxnLst/>
              <a:rect l="l" t="t" r="r" b="b"/>
              <a:pathLst>
                <a:path w="1108710" h="9525">
                  <a:moveTo>
                    <a:pt x="110871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4205" y="280035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10752" y="3845242"/>
              <a:ext cx="9525" cy="577215"/>
            </a:xfrm>
            <a:custGeom>
              <a:avLst/>
              <a:gdLst/>
              <a:ahLst/>
              <a:cxnLst/>
              <a:rect l="l" t="t" r="r" b="b"/>
              <a:pathLst>
                <a:path w="9525" h="577215">
                  <a:moveTo>
                    <a:pt x="0" y="57721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37410" y="371951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564505" y="3346132"/>
              <a:ext cx="9525" cy="1076325"/>
            </a:xfrm>
            <a:custGeom>
              <a:avLst/>
              <a:gdLst/>
              <a:ahLst/>
              <a:cxnLst/>
              <a:rect l="l" t="t" r="r" b="b"/>
              <a:pathLst>
                <a:path w="9525" h="1076325">
                  <a:moveTo>
                    <a:pt x="0" y="10763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491162" y="32204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57300" y="1995488"/>
              <a:ext cx="1906905" cy="172402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63968" y="2003108"/>
              <a:ext cx="189261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57300" y="2225992"/>
              <a:ext cx="19069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57300" y="2646045"/>
              <a:ext cx="19069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82465" y="2495550"/>
              <a:ext cx="2164080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90085" y="2502218"/>
              <a:ext cx="2149792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82465" y="2863215"/>
              <a:ext cx="21640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82465" y="2958465"/>
              <a:ext cx="21640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71612" y="4422458"/>
              <a:ext cx="147732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479232" y="4429125"/>
              <a:ext cx="146304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471612" y="4652962"/>
              <a:ext cx="14773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71612" y="4748212"/>
              <a:ext cx="14773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82465" y="4422458"/>
              <a:ext cx="216408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90085" y="4429125"/>
              <a:ext cx="214979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82465" y="4652962"/>
              <a:ext cx="21640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82465" y="4748212"/>
              <a:ext cx="21640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26185" y="2051209"/>
              <a:ext cx="7691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Observable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8738" y="2295525"/>
              <a:ext cx="147256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changed: boolean = false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obs: Vector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8738" y="2715578"/>
              <a:ext cx="1764030" cy="985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addObserver(Observer o)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deleteObserver(Observer o)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notifyObservers(Object arg)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setChanged()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hasChanged(): boolean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countObservers(): int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39616" y="254841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38693" y="2688431"/>
              <a:ext cx="651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53902" y="3027998"/>
              <a:ext cx="21511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update(Observable o, Object arg)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9278" y="4478179"/>
              <a:ext cx="1382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ConcreteObservable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43050" y="4817745"/>
              <a:ext cx="9898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setData(int d)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31784" y="4478179"/>
              <a:ext cx="12654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53902" y="4817745"/>
              <a:ext cx="21511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update(Observable o, Object arg)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538538" y="2661285"/>
              <a:ext cx="5695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67170" y="2684145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obs 1..*</a:t>
              </a:r>
            </a:p>
          </p:txBody>
        </p:sp>
      </p:grpSp>
      <p:grpSp>
        <p:nvGrpSpPr>
          <p:cNvPr id="51" name="c2-bullets-1"/>
          <p:cNvGrpSpPr/>
          <p:nvPr/>
        </p:nvGrpSpPr>
        <p:grpSpPr>
          <a:xfrm>
            <a:off x="7539799" y="1950720"/>
            <a:ext cx="2704079" cy="1072992"/>
            <a:chOff x="7539799" y="1950720"/>
            <a:chExt cx="2704079" cy="1072992"/>
          </a:xfrm>
        </p:grpSpPr>
        <p:sp>
          <p:nvSpPr>
            <p:cNvPr id="44" name="TextBox 44"/>
            <p:cNvSpPr txBox="1"/>
            <p:nvPr/>
          </p:nvSpPr>
          <p:spPr>
            <a:xfrm>
              <a:off x="7539799" y="19507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角色对应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556182" y="23069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712392" y="2264569"/>
              <a:ext cx="2531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Observable 相当于抽象目标 Subject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556182" y="257651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12392" y="2534126"/>
              <a:ext cx="19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Observer 相当于抽象观察者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556182" y="284702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12392" y="280368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自己只需要写两个具体类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7546658" y="3148965"/>
            <a:ext cx="4111942" cy="2495550"/>
            <a:chOff x="7546658" y="3148965"/>
            <a:chExt cx="4111942" cy="2495550"/>
          </a:xfrm>
        </p:grpSpPr>
        <p:sp>
          <p:nvSpPr>
            <p:cNvPr id="52" name="Rectangle 52"/>
            <p:cNvSpPr/>
            <p:nvPr/>
          </p:nvSpPr>
          <p:spPr>
            <a:xfrm>
              <a:off x="7546658" y="3148965"/>
              <a:ext cx="4111942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56182" y="3282315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64589" y="3358515"/>
              <a:ext cx="22075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Observable 是类不是接口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64589" y="3675698"/>
              <a:ext cx="35112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具体目标必须 extends Observable，Java 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继承，这个位置一旦占掉就不能再继承别的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65732" y="4485799"/>
              <a:ext cx="32829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这是它被诟病最多的一点，也是后来被替代的原因之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8373"/>
              <a:ext cx="5690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changed 标志位是 Observable 与手写骨架最大的不同，下一页专讲。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88009" cy="909257"/>
            <a:chOff x="520446" y="342900"/>
            <a:chExt cx="41880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880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setChanged 这一句不能漏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319462"/>
            <a:chOff x="533400" y="1524000"/>
            <a:chExt cx="5626418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具体目标与具体观察者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538347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ConcreteObservable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Observable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setData(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.data = d;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setChanged();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漏了这句就不通知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notifyObservers(d);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通知并清标志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MyObserver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Observer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update(Observable o, Object arg)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"收到新数据："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arg);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008245"/>
            <a:ext cx="5626418" cy="702945"/>
            <a:chOff x="533400" y="5008245"/>
            <a:chExt cx="5626418" cy="702945"/>
          </a:xfrm>
        </p:grpSpPr>
        <p:sp>
          <p:nvSpPr>
            <p:cNvPr id="11" name="Rectangle 11"/>
            <p:cNvSpPr/>
            <p:nvPr/>
          </p:nvSpPr>
          <p:spPr>
            <a:xfrm>
              <a:off x="533400" y="5008245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259705"/>
              <a:ext cx="200026" cy="200025"/>
              <a:chOff x="738188" y="525970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597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3041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4152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1273" y="5153501"/>
              <a:ext cx="46215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OpenJDK 的实现按注册的倒序逐个通知，但文档并未对通知顺序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作出任何承诺。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464618" y="1533525"/>
            <a:ext cx="3442278" cy="2149412"/>
            <a:chOff x="6464618" y="1533525"/>
            <a:chExt cx="3442278" cy="2149412"/>
          </a:xfrm>
        </p:grpSpPr>
        <p:sp>
          <p:nvSpPr>
            <p:cNvPr id="18" name="Rectangle 18"/>
            <p:cNvSpPr/>
            <p:nvPr/>
          </p:nvSpPr>
          <p:spPr>
            <a:xfrm>
              <a:off x="6597968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64618" y="208692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63937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319278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7241" y="1564481"/>
              <a:ext cx="1013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setChanged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8384" y="1818322"/>
              <a:ext cx="26892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changed 置为 true，表示状态确实变过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7241" y="2116931"/>
              <a:ext cx="1502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notifyObservers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8384" y="2371725"/>
              <a:ext cx="3014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先查 changed，为 false 直接返回，什么也不做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7241" y="2670334"/>
              <a:ext cx="10089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 update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8384" y="2925128"/>
              <a:ext cx="3028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true 才遍历 obs，调用每个观察者的 update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7241" y="3222784"/>
              <a:ext cx="1167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clearChanged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8384" y="3477578"/>
              <a:ext cx="2166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通知完自动把 changed 改回 false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3844290"/>
            <a:ext cx="5193982" cy="1865948"/>
            <a:chOff x="6464618" y="3844290"/>
            <a:chExt cx="5193982" cy="1865948"/>
          </a:xfrm>
        </p:grpSpPr>
        <p:sp>
          <p:nvSpPr>
            <p:cNvPr id="36" name="Rectangle 36"/>
            <p:cNvSpPr/>
            <p:nvPr/>
          </p:nvSpPr>
          <p:spPr>
            <a:xfrm>
              <a:off x="6464618" y="3844290"/>
              <a:ext cx="5193982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397764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3692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6364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50620" y="4065746"/>
              <a:ext cx="1833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9 起已被标记废弃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77216" y="438197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废弃理由：事件模型太简单，通知顺序未作规定，状态改变与通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知不是一一对应，且不可序列化。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7216" y="4909661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新代码改用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java.beans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PropertyChangeSupport，或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java.util.concurrent.Flow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7573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考试里最常考的一点：只调 notifyObservers() 而不调 setChanged()，观察者收不到任何通知。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20821" cy="909257"/>
            <a:chOff x="520446" y="342900"/>
            <a:chExt cx="4620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20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 是观察者模式的一个用法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013460" y="2068830"/>
            <a:ext cx="4882515" cy="3110230"/>
            <a:chOff x="1013460" y="2068830"/>
            <a:chExt cx="4882515" cy="3110230"/>
          </a:xfrm>
        </p:grpSpPr>
        <p:sp>
          <p:nvSpPr>
            <p:cNvPr id="7" name="Freeform 7"/>
            <p:cNvSpPr/>
            <p:nvPr/>
          </p:nvSpPr>
          <p:spPr>
            <a:xfrm>
              <a:off x="1879282" y="2564130"/>
              <a:ext cx="1345882" cy="1450658"/>
            </a:xfrm>
            <a:custGeom>
              <a:avLst/>
              <a:gdLst/>
              <a:ahLst/>
              <a:cxnLst/>
              <a:rect l="l" t="t" r="r" b="b"/>
              <a:pathLst>
                <a:path w="1345882" h="1450658">
                  <a:moveTo>
                    <a:pt x="1345882" y="0"/>
                  </a:moveTo>
                  <a:lnTo>
                    <a:pt x="0" y="14506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14512" y="3982402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0" y="101917"/>
                  </a:moveTo>
                  <a:lnTo>
                    <a:pt x="30480" y="0"/>
                  </a:lnTo>
                  <a:lnTo>
                    <a:pt x="100012" y="647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84270" y="2564130"/>
              <a:ext cx="1345882" cy="1450658"/>
            </a:xfrm>
            <a:custGeom>
              <a:avLst/>
              <a:gdLst/>
              <a:ahLst/>
              <a:cxnLst/>
              <a:rect l="l" t="t" r="r" b="b"/>
              <a:pathLst>
                <a:path w="1345882" h="1450658">
                  <a:moveTo>
                    <a:pt x="0" y="0"/>
                  </a:moveTo>
                  <a:lnTo>
                    <a:pt x="1345882" y="14506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994910" y="3982402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4770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98345" y="4579620"/>
              <a:ext cx="2831782" cy="599440"/>
            </a:xfrm>
            <a:custGeom>
              <a:avLst/>
              <a:gdLst/>
              <a:ahLst/>
              <a:cxnLst/>
              <a:rect l="l" t="t" r="r" b="b"/>
              <a:pathLst>
                <a:path w="2831782" h="599440">
                  <a:moveTo>
                    <a:pt x="0" y="0"/>
                  </a:moveTo>
                  <a:cubicBezTo>
                    <a:pt x="970915" y="582930"/>
                    <a:pt x="1914843" y="599440"/>
                    <a:pt x="2831782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05362" y="4579620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49530" y="90488"/>
                  </a:lnTo>
                  <a:lnTo>
                    <a:pt x="0" y="85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12908" y="2536508"/>
              <a:ext cx="1060132" cy="1547812"/>
            </a:xfrm>
            <a:custGeom>
              <a:avLst/>
              <a:gdLst/>
              <a:ahLst/>
              <a:cxnLst/>
              <a:rect l="l" t="t" r="r" b="b"/>
              <a:pathLst>
                <a:path w="1060132" h="1547812">
                  <a:moveTo>
                    <a:pt x="1060132" y="1547812"/>
                  </a:moveTo>
                  <a:cubicBezTo>
                    <a:pt x="874712" y="667068"/>
                    <a:pt x="521335" y="151130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21468" y="249078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19050"/>
                  </a:moveTo>
                  <a:lnTo>
                    <a:pt x="104775" y="0"/>
                  </a:lnTo>
                  <a:lnTo>
                    <a:pt x="7810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87968" y="2068830"/>
              <a:ext cx="1333500" cy="495300"/>
            </a:xfrm>
            <a:prstGeom prst="roundRect">
              <a:avLst>
                <a:gd name="adj" fmla="val 1923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13460" y="4084320"/>
              <a:ext cx="11430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752975" y="4084320"/>
              <a:ext cx="1143000" cy="49530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22168" y="2241232"/>
              <a:ext cx="865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Controller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283" y="4257675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33456" y="4257675"/>
              <a:ext cx="382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View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95525" y="323088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17471" y="32656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165282" y="3230880"/>
              <a:ext cx="44958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87228" y="32656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换界面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81325" y="4924425"/>
              <a:ext cx="94773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88018" y="495919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数据变了就通知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58665" y="2937510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77512" y="29722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用户操作</a:t>
              </a:r>
            </a:p>
          </p:txBody>
        </p:sp>
      </p:grpSp>
      <p:grpSp>
        <p:nvGrpSpPr>
          <p:cNvPr id="38" name="c2-kv-1"/>
          <p:cNvGrpSpPr/>
          <p:nvPr/>
        </p:nvGrpSpPr>
        <p:grpSpPr>
          <a:xfrm>
            <a:off x="6673215" y="1548765"/>
            <a:ext cx="4985385" cy="1737360"/>
            <a:chOff x="6673215" y="1548765"/>
            <a:chExt cx="4985385" cy="1737360"/>
          </a:xfrm>
        </p:grpSpPr>
        <p:sp>
          <p:nvSpPr>
            <p:cNvPr id="30" name="TextBox 30"/>
            <p:cNvSpPr txBox="1"/>
            <p:nvPr/>
          </p:nvSpPr>
          <p:spPr>
            <a:xfrm>
              <a:off x="6673215" y="1548765"/>
              <a:ext cx="106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模型 Model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6748" y="154876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观察目标，存业务数据，数据一变就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发通知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73215" y="2270760"/>
              <a:ext cx="945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视图 View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66748" y="227076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观察者，收到通知后自动改显示内容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25908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73215" y="2710815"/>
              <a:ext cx="10153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控制器</a:t>
              </a:r>
              <a:br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Controller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66748" y="271081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充当两者之间的中介者，接收用户操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作并分派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680835" y="3417570"/>
            <a:ext cx="4977765" cy="782955"/>
            <a:chOff x="6680835" y="3417570"/>
            <a:chExt cx="4977765" cy="782955"/>
          </a:xfrm>
        </p:grpSpPr>
        <p:sp>
          <p:nvSpPr>
            <p:cNvPr id="39" name="Rectangle 39"/>
            <p:cNvSpPr/>
            <p:nvPr/>
          </p:nvSpPr>
          <p:spPr>
            <a:xfrm>
              <a:off x="6680835" y="341757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85623" y="3709037"/>
              <a:ext cx="200023" cy="200023"/>
              <a:chOff x="6885623" y="3709037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885623" y="37090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18973" y="37757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187565" y="3566160"/>
              <a:ext cx="4101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MVC 是架构模式，观察者模式是它内部 Model 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View 那条线的实现手段。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680835" y="4391025"/>
            <a:ext cx="4977765" cy="782955"/>
            <a:chOff x="6680835" y="4391025"/>
            <a:chExt cx="4977765" cy="782955"/>
          </a:xfrm>
        </p:grpSpPr>
        <p:sp>
          <p:nvSpPr>
            <p:cNvPr id="45" name="Rectangle 45"/>
            <p:cNvSpPr/>
            <p:nvPr/>
          </p:nvSpPr>
          <p:spPr>
            <a:xfrm>
              <a:off x="6680835" y="439102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885623" y="4682490"/>
              <a:ext cx="200026" cy="200026"/>
              <a:chOff x="6885623" y="468249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885623" y="46824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985635" y="47491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74523" y="47825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187565" y="453961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一个模型可以挂多个视图，表格和饼图看同一份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数据，改一处两边同时刷新。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7019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Model 换成 Subject、View 换成 Observer，前面的类图可以原样套上去。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模式扩展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模式本质：触发联动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951220" cy="1849755"/>
            <a:chOff x="533400" y="1524000"/>
            <a:chExt cx="5951220" cy="18497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849755"/>
            </a:xfrm>
            <a:prstGeom prst="roundRect">
              <a:avLst>
                <a:gd name="adj" fmla="val 720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一句话概括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5330" y="211264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修改目标对象的状态，就触发相应的通知，循环调用所有注册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观察者的响应方法，相当于联动调用这些方法。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6473" y="273034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而且这个联动是动态的：通过注册和取消注册控制观察者，等于在运行期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变相地添加和删除某些功能处理。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3564255"/>
            <a:ext cx="5951220" cy="1460182"/>
            <a:chOff x="533400" y="3564255"/>
            <a:chExt cx="5951220" cy="1460182"/>
          </a:xfrm>
        </p:grpSpPr>
        <p:sp>
          <p:nvSpPr>
            <p:cNvPr id="12" name="Rectangle 12"/>
            <p:cNvSpPr/>
            <p:nvPr/>
          </p:nvSpPr>
          <p:spPr>
            <a:xfrm>
              <a:off x="533400" y="3564255"/>
              <a:ext cx="5951220" cy="1460182"/>
            </a:xfrm>
            <a:prstGeom prst="roundRect">
              <a:avLst>
                <a:gd name="adj" fmla="val 782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193858"/>
              <a:ext cx="200026" cy="200026"/>
              <a:chOff x="738188" y="4193858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41938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4260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7088" y="42938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4050982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目标与观察者解耦，又保证了无论观察者怎么变，目标总能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正确地联动过来。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6789420" y="1533525"/>
            <a:ext cx="3182595" cy="2529173"/>
            <a:chOff x="6789420" y="1533525"/>
            <a:chExt cx="3182595" cy="2529173"/>
          </a:xfrm>
        </p:grpSpPr>
        <p:sp>
          <p:nvSpPr>
            <p:cNvPr id="19" name="Rectangle 19"/>
            <p:cNvSpPr/>
            <p:nvPr/>
          </p:nvSpPr>
          <p:spPr>
            <a:xfrm>
              <a:off x="692277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89420" y="218408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8304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89420" y="283464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8304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89420" y="348615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8304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090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2043" y="186166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目标的数据被修改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090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2043" y="251221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修改动作顺带发出通知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090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043" y="316277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名单上每个观察者的方法被依次调用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090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02043" y="38133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注册与注销随时改变联动范围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789420" y="4241482"/>
            <a:ext cx="4869180" cy="782955"/>
            <a:chOff x="6789420" y="4241482"/>
            <a:chExt cx="4869180" cy="782955"/>
          </a:xfrm>
        </p:grpSpPr>
        <p:sp>
          <p:nvSpPr>
            <p:cNvPr id="37" name="Rectangle 37"/>
            <p:cNvSpPr/>
            <p:nvPr/>
          </p:nvSpPr>
          <p:spPr>
            <a:xfrm>
              <a:off x="6789420" y="4241482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994208" y="4532948"/>
              <a:ext cx="200026" cy="200025"/>
              <a:chOff x="6994208" y="453294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994208" y="45329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33946" y="45773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68662" y="46885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96150" y="4390072"/>
              <a:ext cx="3996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观察者在 update 里执行的那段代码，就是被动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态挂上去的“功能”。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58914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记住“触发联动”四个字，优点、缺点、适用场合都能从它推出来。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对比、易错与自测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和几个近邻划清界线，再把本讲过一遍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与中介者、职责链、命令的区别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六条易错点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964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 12 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对比、易错与自测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和几个近邻的分界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11125200" cy="2150745"/>
            <a:chOff x="533400" y="1524000"/>
            <a:chExt cx="11125200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8972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726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参与方关系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1271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请求走向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05453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谁知道谁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观察者（本讲）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6672" y="208502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一个目标对多个观察者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882640" y="1964055"/>
              <a:ext cx="331851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78462" y="208502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一次广播，人人都收到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16022" y="208502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目标只认识观察者接口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515552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中介者（第 34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86672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多个同事对一个中介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8462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经中介双向转发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16022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中介认识所有同事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2946082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职责链（第 30 讲）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6672" y="29460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处理者串成一条链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8462" y="294608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沿链传递，通常一人处理就停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16022" y="294608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每个处理者只认识下家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9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4421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37566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命令（第 31 讲）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6672" y="3375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一个调用者对一个接收者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78462" y="3375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请求被封装成对象再执行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16022" y="33756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调用者只认识命令接口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7656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6835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20591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ompare-2"/>
          <p:cNvGrpSpPr/>
          <p:nvPr/>
        </p:nvGrpSpPr>
        <p:grpSpPr>
          <a:xfrm>
            <a:off x="533400" y="3860482"/>
            <a:ext cx="11125200" cy="1812608"/>
            <a:chOff x="533400" y="3860482"/>
            <a:chExt cx="11125200" cy="1812608"/>
          </a:xfrm>
        </p:grpSpPr>
        <p:sp>
          <p:nvSpPr>
            <p:cNvPr id="39" name="Rectangle 39"/>
            <p:cNvSpPr/>
            <p:nvPr/>
          </p:nvSpPr>
          <p:spPr>
            <a:xfrm>
              <a:off x="533400" y="3860482"/>
              <a:ext cx="5353050" cy="1812608"/>
            </a:xfrm>
            <a:prstGeom prst="roundRect">
              <a:avLst>
                <a:gd name="adj" fmla="val 73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993832"/>
              <a:ext cx="47625" cy="154590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8096" y="408765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2955" y="448627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546" y="44257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目标直接持有观察者的引用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2955" y="480631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546" y="474583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通知是同步的方法调用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82955" y="512635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9546" y="50658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双方在同一个进程里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05550" y="3860482"/>
              <a:ext cx="5353050" cy="1812608"/>
            </a:xfrm>
            <a:prstGeom prst="roundRect">
              <a:avLst>
                <a:gd name="adj" fmla="val 73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15075" y="3993832"/>
              <a:ext cx="47625" cy="15459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0246" y="4087654"/>
              <a:ext cx="2227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发布-订阅（消息中间件）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555105" y="448627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11696" y="442579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中间隔着一个消息代理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555105" y="480631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11696" y="474583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发布方和订阅方互相不知道对方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55105" y="512635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11696" y="506587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通常跨进程、可异步、可持久化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934075" y="460438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04415" y="470058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5194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课本把两者当同义词，工程里则用“中间有没有代理”来区分。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25612" cy="909257"/>
            <a:chOff x="520446" y="342900"/>
            <a:chExt cx="2225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 · 对比、易错与自测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6923" y="1545431"/>
            <a:ext cx="5233775" cy="1136142"/>
            <a:chOff x="526923" y="1545431"/>
            <a:chExt cx="5233775" cy="1136142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容易写错或答错的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7737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428" y="1846421"/>
              <a:ext cx="2992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Java 里把通知方法命名为 notify()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16979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428" y="2139791"/>
              <a:ext cx="5003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Observable 时只调 notifyObservers() 不调 setChanged()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46316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7428" y="243220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把观察者的调用顺序当成业务逻辑的一部分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2796540"/>
            <a:ext cx="5410200" cy="1107758"/>
            <a:chOff x="533400" y="2796540"/>
            <a:chExt cx="5410200" cy="1107758"/>
          </a:xfrm>
        </p:grpSpPr>
        <p:sp>
          <p:nvSpPr>
            <p:cNvPr id="15" name="Rectangle 15"/>
            <p:cNvSpPr/>
            <p:nvPr/>
          </p:nvSpPr>
          <p:spPr>
            <a:xfrm>
              <a:off x="533400" y="2796540"/>
              <a:ext cx="5410200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294846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第一条的正误对照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3207544"/>
              <a:ext cx="3185795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Subject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notify();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编不过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notifyObservers();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正确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069080"/>
            <a:ext cx="5410200" cy="1654492"/>
            <a:chOff x="533400" y="4069080"/>
            <a:chExt cx="5410200" cy="1654492"/>
          </a:xfrm>
        </p:grpSpPr>
        <p:sp>
          <p:nvSpPr>
            <p:cNvPr id="19" name="Rectangle 19"/>
            <p:cNvSpPr/>
            <p:nvPr/>
          </p:nvSpPr>
          <p:spPr>
            <a:xfrm>
              <a:off x="533400" y="4069080"/>
              <a:ext cx="5410200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202430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5998" y="42714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第二条为什么最容易漏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4572476"/>
              <a:ext cx="4645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setChanged() 是 protected 的，只能在 Observable 的子类里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调，客户端根本看不到它。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998" y="5100161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notifyObservers() 查到 changed 是 false 就静默返回，不报错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也没有任何输出。</a:t>
              </a:r>
            </a:p>
          </p:txBody>
        </p:sp>
      </p:grpSp>
      <p:grpSp>
        <p:nvGrpSpPr>
          <p:cNvPr id="32" name="c2-bullets-1"/>
          <p:cNvGrpSpPr/>
          <p:nvPr/>
        </p:nvGrpSpPr>
        <p:grpSpPr>
          <a:xfrm>
            <a:off x="6241923" y="1545431"/>
            <a:ext cx="3258947" cy="1136142"/>
            <a:chOff x="6241923" y="1545431"/>
            <a:chExt cx="3258947" cy="1136142"/>
          </a:xfrm>
        </p:grpSpPr>
        <p:sp>
          <p:nvSpPr>
            <p:cNvPr id="25" name="TextBox 25"/>
            <p:cNvSpPr txBox="1"/>
            <p:nvPr/>
          </p:nvSpPr>
          <p:spPr>
            <a:xfrm>
              <a:off x="6241923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接着三条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248400" y="187737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2428" y="1846421"/>
              <a:ext cx="3028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 attach 不 detach，造成失效监听器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48400" y="216979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2428" y="21397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把聚合菱形画在观察者那一端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248400" y="2463165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72428" y="243220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把实现关系画成实线空心三角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248400" y="2796540"/>
            <a:ext cx="5410200" cy="1525905"/>
            <a:chOff x="6248400" y="2796540"/>
            <a:chExt cx="5410200" cy="1525905"/>
          </a:xfrm>
        </p:grpSpPr>
        <p:sp>
          <p:nvSpPr>
            <p:cNvPr id="33" name="Rectangle 33"/>
            <p:cNvSpPr/>
            <p:nvPr/>
          </p:nvSpPr>
          <p:spPr>
            <a:xfrm>
              <a:off x="6248400" y="2796540"/>
              <a:ext cx="5410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0383" y="29136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6765" y="29136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43198" y="29136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3079" y="32946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79461" y="32946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16796" y="329469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空心三角指向父类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554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55949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36766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9461" y="36766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6796" y="36766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空心三角指向接口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935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40576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9461" y="40576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16796" y="40576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空心菱形在整体端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796540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780020" y="27965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17355" y="27965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3"/>
          <p:cNvGrpSpPr/>
          <p:nvPr/>
        </p:nvGrpSpPr>
        <p:grpSpPr>
          <a:xfrm>
            <a:off x="6248400" y="4486275"/>
            <a:ext cx="5410200" cy="1236345"/>
            <a:chOff x="6248400" y="4486275"/>
            <a:chExt cx="5410200" cy="1236345"/>
          </a:xfrm>
        </p:grpSpPr>
        <p:sp>
          <p:nvSpPr>
            <p:cNvPr id="53" name="Rectangle 53"/>
            <p:cNvSpPr/>
            <p:nvPr/>
          </p:nvSpPr>
          <p:spPr>
            <a:xfrm>
              <a:off x="6248400" y="4486275"/>
              <a:ext cx="5410200" cy="1236345"/>
            </a:xfrm>
            <a:prstGeom prst="roundRect">
              <a:avLst>
                <a:gd name="adj" fmla="val 924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5005388"/>
              <a:ext cx="200026" cy="200026"/>
              <a:chOff x="6453188" y="500538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0053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9863" y="50831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6273" y="5016341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菱形永远在“拥有名单”的那一端。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9" name="Rectangle 5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画类图时先问一句：这根线的箭头是从子类指向父类的吗。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自测（上）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观察者模式定义的是什么关系？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对象间一对多的依赖关系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3317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里通知方法为什么不能叫 notify？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437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Object.notify() 是 final，不能重写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推模型和拉模型差在哪？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推把数据当参数传，拉让观察者回查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目标和观察者在哪一层耦合？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只在抽象层，目标只认识观察者接口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谁负责把观察者加进名单？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394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目标的 attach，常由观察者自己调用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两个对象互为观察者会怎样？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相互通知可能死循环直至栈溢出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前六题围绕定义、结构和调用链，答不上来就回到第二部分。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自测（下）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3843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Observable 的通知不生效，最可能漏了什么？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001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漏调 setChanged()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观察者模式满足开闭原则吗？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满足，新增观察者不改已有代码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观察者和中介者的区别？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前者一对多广播，后者多方集中协调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329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java.util.Observable 为什么被废弃？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模型简单、顺序未定、不可序列化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62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 里谁是目标，谁是观察者？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834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Model 是目标，View 是观察者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观察者不再需要通知时该做什么？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085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 detach 注销，否则白跑还泄漏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十二道题里只要有一道说不出理由，就回到对应的那一页重看一遍。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36 观察者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5748147" cy="2198370"/>
            <a:chOff x="533400" y="1535430"/>
            <a:chExt cx="5748147" cy="219837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观察者模式定义对象间的一对多依赖，目标状态一变，所有观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察者自动更新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四个角色：Subject、ConcreteSubject、Observer、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5253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调用链：attach、setState、notifyObservers、update 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5447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数据传递有推、拉两种模型，决定 update 的签名和耦合强度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865245"/>
            <a:ext cx="5842635" cy="1704975"/>
            <a:chOff x="533400" y="3865245"/>
            <a:chExt cx="5842635" cy="1704975"/>
          </a:xfrm>
        </p:grpSpPr>
        <p:sp>
          <p:nvSpPr>
            <p:cNvPr id="20" name="Rectangle 20"/>
            <p:cNvSpPr/>
            <p:nvPr/>
          </p:nvSpPr>
          <p:spPr>
            <a:xfrm>
              <a:off x="533400" y="3865245"/>
              <a:ext cx="5842635" cy="1704975"/>
            </a:xfrm>
            <a:prstGeom prst="roundRect">
              <a:avLst>
                <a:gd name="adj" fmla="val 670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617722"/>
              <a:ext cx="200023" cy="200023"/>
              <a:chOff x="738188" y="4617722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6177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46843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47484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本质是触发联动，注册名单可增可删，联动范围在运行期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就能改。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673215" y="1548765"/>
            <a:ext cx="4985385" cy="1613535"/>
            <a:chOff x="6673215" y="1548765"/>
            <a:chExt cx="4985385" cy="1613535"/>
          </a:xfrm>
        </p:grpSpPr>
        <p:sp>
          <p:nvSpPr>
            <p:cNvPr id="26" name="TextBox 26"/>
            <p:cNvSpPr txBox="1"/>
            <p:nvPr/>
          </p:nvSpPr>
          <p:spPr>
            <a:xfrm>
              <a:off x="6673215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必须记住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15250" y="1548765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菱形在目标端，update 在观察者端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18688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73215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最大的坑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5250" y="1988820"/>
              <a:ext cx="298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Observable 漏调 setChanged()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80835" y="23088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73215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工程用法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5250" y="2428875"/>
              <a:ext cx="3323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事件监听器、Spring 事件、响应式流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2748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7321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相邻模式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15250" y="2868930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中介者（第 34 讲）、职责链（第 30 讲）</a:t>
              </a:r>
            </a:p>
          </p:txBody>
        </p:sp>
      </p:grpSp>
      <p:grpSp>
        <p:nvGrpSpPr>
          <p:cNvPr id="45" name="c2-bullets-2"/>
          <p:cNvGrpSpPr/>
          <p:nvPr/>
        </p:nvGrpSpPr>
        <p:grpSpPr>
          <a:xfrm>
            <a:off x="6673215" y="3318510"/>
            <a:ext cx="5005730" cy="1337310"/>
            <a:chOff x="6673215" y="3318510"/>
            <a:chExt cx="5005730" cy="1337310"/>
          </a:xfrm>
        </p:grpSpPr>
        <p:sp>
          <p:nvSpPr>
            <p:cNvPr id="38" name="TextBox 38"/>
            <p:cNvSpPr txBox="1"/>
            <p:nvPr/>
          </p:nvSpPr>
          <p:spPr>
            <a:xfrm>
              <a:off x="6673215" y="331851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复习时按这个顺序过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80835" y="370427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32295" y="36728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默画标准类图，标出四个角色和三种连线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680835" y="4049078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32295" y="4017645"/>
              <a:ext cx="474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 attach、notifyObservers、update 三段代码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680835" y="439388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32295" y="43624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说出推模型和拉模型各自的代价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680835" y="4787265"/>
            <a:ext cx="4977765" cy="782955"/>
            <a:chOff x="6680835" y="4787265"/>
            <a:chExt cx="4977765" cy="782955"/>
          </a:xfrm>
        </p:grpSpPr>
        <p:sp>
          <p:nvSpPr>
            <p:cNvPr id="46" name="Rectangle 46"/>
            <p:cNvSpPr/>
            <p:nvPr/>
          </p:nvSpPr>
          <p:spPr>
            <a:xfrm>
              <a:off x="6680835" y="478726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85623" y="5078730"/>
              <a:ext cx="200026" cy="200026"/>
              <a:chOff x="6885623" y="5078730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885623" y="50787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85635" y="51454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74523" y="51787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187565" y="4935855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下一讲进入状态模式，主角从“谁来通知”换成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“对象行为随状态改变”。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判断能否用观察者，只看一件事：依赖方的个数和身份会不会在运行期变化。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观察者模式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6">
  <a:themeElements>
    <a:clrScheme name="sdp_3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2026-09-19T09:27:23Z</dcterms:created>
  <dcterms:modified xsi:type="dcterms:W3CDTF">2026-09-19T09:27:23Z</dcterms:modified>
  <cp:category/>
  <cp:contentStatus/>
</cp:coreProperties>
</file>