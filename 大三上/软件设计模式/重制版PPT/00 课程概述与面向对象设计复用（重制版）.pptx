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0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0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5bfee688edf898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5bfee688edf8986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3cdf84e73500b40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4b19e3f150c5cec.png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8274" y="1619250"/>
            <a:ext cx="6072759" cy="3352038"/>
            <a:chOff x="668274" y="1619250"/>
            <a:chExt cx="6072759" cy="3352038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第一讲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8274" y="2403158"/>
              <a:ext cx="607275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课程概述与面向对象设计复用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061335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38137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从面向对象的目标出发，走到设计模式门口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89096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8357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为什么要学设计模式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18147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12623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面向对象设计的三个层次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4719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4167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类设计难在变化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7625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0725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复用的两条路与模式分类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6109964" cy="205359"/>
            <a:chOff x="680466" y="6192202"/>
            <a:chExt cx="610996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61099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自学复习版｜据吉林大学《软件设计模式》张欣佳、陈伟两位老师第一讲课件合并整理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8681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337" y="407194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面向对象的目标与发展脉络，设计模式在其中的位置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课程地图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四大板块、学习目标、考核方式与学习建议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设计的三个层次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框架级设计、类设计、代码设计各管什么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类设计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类、行为、属性的组织与表示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变化与适应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职责变化与实现变化，修改代码还是扩展代码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复用与模式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继承与组合、设计原则、模式的定义与三大分类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说出面向对象的四个目标，并用一个比喻解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释每一个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区分职责变化与实现变化，指出各自的适应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办法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比较继承复用与组合复用的适用场合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68808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写出设计模式的定义和四个要素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0862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02336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23 个 GoF 模式按创建型、结构型、行为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型归类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35499" cy="2997517"/>
            <a:chOff x="667512" y="1835468"/>
            <a:chExt cx="513549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为什么要学设计模式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先把面向对象的目标和历史摆清楚，模式才有落脚点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面向对象的定义与四个目标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9728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OOM 贯穿开发全过程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468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Simula 67 到 GoF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为什么要学设计模式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设计模式之于面向对象，相当于数据结构之于面向过程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736686" cy="308039"/>
            <a:chOff x="525399" y="1550194"/>
            <a:chExt cx="87366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7366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设计模式不是凭空发明的技巧，它是面向对象技术用得足够多、足够久之后沉淀下来的经验。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67865"/>
            <a:ext cx="5626418" cy="1866900"/>
            <a:chOff x="533400" y="1967865"/>
            <a:chExt cx="5626418" cy="186690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什么是软件设计模式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设计模式是一套被反复使用、多数人知晓、经过分类编目的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面向对象程序设计经验的总结。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190399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面向过程时代积累下来的经验叫数据结构与算法；面向对象时代积累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下来的经验叫设计模式。</a:t>
              </a:r>
            </a:p>
          </p:txBody>
        </p:sp>
      </p:grpSp>
      <p:grpSp>
        <p:nvGrpSpPr>
          <p:cNvPr id="24" name="c1-bullets-2"/>
          <p:cNvGrpSpPr/>
          <p:nvPr/>
        </p:nvGrpSpPr>
        <p:grpSpPr>
          <a:xfrm>
            <a:off x="525780" y="4049078"/>
            <a:ext cx="4473512" cy="1337310"/>
            <a:chOff x="525780" y="4049078"/>
            <a:chExt cx="4473512" cy="1337310"/>
          </a:xfrm>
        </p:grpSpPr>
        <p:sp>
          <p:nvSpPr>
            <p:cNvPr id="17" name="TextBox 17"/>
            <p:cNvSpPr txBox="1"/>
            <p:nvPr/>
          </p:nvSpPr>
          <p:spPr>
            <a:xfrm>
              <a:off x="525780" y="404907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学这门课能换来什么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4434840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3908" y="4403408"/>
              <a:ext cx="4215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更深地理解面向对象思想，而不是只会写 class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33400" y="4779645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3908" y="4748212"/>
              <a:ext cx="3670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读得懂框架源码里那些“绕来绕去”的写法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33400" y="5124450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3908" y="5093018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手里多一套重构既有代码的固定招式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464618" y="1967865"/>
            <a:ext cx="5193982" cy="2272665"/>
            <a:chOff x="6464618" y="1967865"/>
            <a:chExt cx="5193982" cy="2272665"/>
          </a:xfrm>
        </p:grpSpPr>
        <p:sp>
          <p:nvSpPr>
            <p:cNvPr id="25" name="Rectangle 25"/>
            <p:cNvSpPr/>
            <p:nvPr/>
          </p:nvSpPr>
          <p:spPr>
            <a:xfrm>
              <a:off x="6464618" y="1967865"/>
              <a:ext cx="5193982" cy="2272665"/>
            </a:xfrm>
            <a:prstGeom prst="roundRect">
              <a:avLst>
                <a:gd name="adj" fmla="val 586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74168" y="217741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43675" y="22131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课程的三条主线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674167" y="254127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36017" y="25835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5158" y="255460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面向对象设计原则：判断一个设计好不好的尺子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674167" y="287655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36017" y="29188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75158" y="288988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关系模型（依赖、关联、聚合、组合、继承、实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现）：搭设计的零件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674167" y="349758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36017" y="35398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75158" y="3510915"/>
              <a:ext cx="4139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 个 GoF 模式：把尺子和零件组合起来的成品方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案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464618" y="4431030"/>
            <a:ext cx="5193982" cy="897255"/>
            <a:chOff x="6464618" y="4431030"/>
            <a:chExt cx="5193982" cy="897255"/>
          </a:xfrm>
        </p:grpSpPr>
        <p:sp>
          <p:nvSpPr>
            <p:cNvPr id="38" name="Rectangle 38"/>
            <p:cNvSpPr/>
            <p:nvPr/>
          </p:nvSpPr>
          <p:spPr>
            <a:xfrm>
              <a:off x="6464618" y="4431030"/>
              <a:ext cx="5193982" cy="897255"/>
            </a:xfrm>
            <a:prstGeom prst="roundRect">
              <a:avLst>
                <a:gd name="adj" fmla="val 1273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69405" y="4778693"/>
              <a:ext cx="200026" cy="200026"/>
              <a:chOff x="6669405" y="4778693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669405" y="47786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69418" y="48453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58305" y="48787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971348" y="4635818"/>
              <a:ext cx="4168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本讲只讲到“模式的门口”。原则细讲在第 02 讲，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类图细讲在第 01 讲，模式总览在第 03 讲。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60046" cy="909257"/>
            <a:chOff x="520446" y="342900"/>
            <a:chExt cx="54600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为什么要学设计模式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600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 = 对象 + 类 + 继承 + 通信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410200" cy="2962275"/>
            <a:chOff x="533400" y="1524000"/>
            <a:chExt cx="5410200" cy="29622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62275"/>
            </a:xfrm>
            <a:prstGeom prst="roundRect">
              <a:avLst>
                <a:gd name="adj" fmla="val 45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9557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764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Coad 的四要素定义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一个软件系统如果是用对象、类、继承、通信这四个概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念设计和实现的，就称它是面向对象的。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：问题域中某个事物的抽象，把数据和操作包在一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：一组具有相同属性特征和行为特征的对象的描述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7699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70713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继承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：子类复用并特化父类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10527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04241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：对象之间靠发消息（调方法）协作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676775"/>
            <a:ext cx="5410200" cy="1337310"/>
            <a:chOff x="533400" y="4676775"/>
            <a:chExt cx="5410200" cy="1337310"/>
          </a:xfrm>
        </p:grpSpPr>
        <p:sp>
          <p:nvSpPr>
            <p:cNvPr id="22" name="Rectangle 22"/>
            <p:cNvSpPr/>
            <p:nvPr/>
          </p:nvSpPr>
          <p:spPr>
            <a:xfrm>
              <a:off x="533400" y="4676775"/>
              <a:ext cx="5410200" cy="1337310"/>
            </a:xfrm>
            <a:prstGeom prst="roundRect">
              <a:avLst>
                <a:gd name="adj" fmla="val 854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245418"/>
              <a:ext cx="200026" cy="200025"/>
              <a:chOff x="738188" y="5245418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2454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52898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4009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10254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判断一段代码是不是面向对象的，看这四个概念是否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齐备，而不是看用了哪门语言。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6248400" y="1524000"/>
            <a:ext cx="5410200" cy="2697480"/>
            <a:chOff x="6248400" y="1524000"/>
            <a:chExt cx="5410200" cy="2697480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27927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看问题的角度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0521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面向过程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0641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面向对象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56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基本单位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63066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函数（过程）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64268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2421255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6223" y="26703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数据与操作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63066" y="2556986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分开存放，数据被各函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数共用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64268" y="2556986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绑在一起，由对象自己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6223" y="33456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建模层次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63066" y="334565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贴近机器的执行步骤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64268" y="323230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贴近事物的自然运行方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7680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377285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6223" y="39076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经验沉淀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63066" y="39076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数据结构与算法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64268" y="39076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1524000"/>
              <a:ext cx="541020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650480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65168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rd-2"/>
          <p:cNvGrpSpPr/>
          <p:nvPr/>
        </p:nvGrpSpPr>
        <p:grpSpPr>
          <a:xfrm>
            <a:off x="6248400" y="4411980"/>
            <a:ext cx="5410200" cy="1602105"/>
            <a:chOff x="6248400" y="4411980"/>
            <a:chExt cx="5410200" cy="1602105"/>
          </a:xfrm>
        </p:grpSpPr>
        <p:sp>
          <p:nvSpPr>
            <p:cNvPr id="54" name="Rectangle 54"/>
            <p:cNvSpPr/>
            <p:nvPr/>
          </p:nvSpPr>
          <p:spPr>
            <a:xfrm>
              <a:off x="6248400" y="441198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454533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96050" y="462153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78359" y="46572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适用范围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88430" y="499872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面向对象既是编程范式，也是开发方法。它的概念已经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扩展到数据库系统、交互界面、应用平台、分布式系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统、网络管理、CAD、人工智能等领域。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为什么要学设计模式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四个目标：一盘活字为什么比一块雕版好用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311286" cy="308039"/>
            <a:chOff x="525399" y="1550194"/>
            <a:chExt cx="83112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3112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毕昇的活字印刷，把雕版印刷的四个毛病一次解决。面向对象追求的正是同样的四件事。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67865"/>
            <a:ext cx="6059805" cy="3150870"/>
            <a:chOff x="533400" y="1967865"/>
            <a:chExt cx="6059805" cy="315087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059805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847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89748" y="2102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雕版印刷的困境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87103" y="2102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活字印刷的做法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46307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对应到代码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2315" y="266461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可维护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89900" y="2551271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错一个字，整块版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25343" y="2551271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要改，只需换掉要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改的那个字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82706" y="2551271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改动局部化，不波及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其他模块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870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091815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2315" y="334089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可复用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89900" y="334089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印完这一版就废了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25343" y="3227546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这批字后面的书还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能接着用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82706" y="3227546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类和构件能被新项目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直接拿去用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7623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2315" y="40162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89900" y="3902869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加一句话要重刻整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25343" y="3902869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若要加字，另刻字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加入即可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82706" y="3902869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新增功能靠加新类，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不动老类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4376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44246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2315" y="469153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灵活性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89900" y="4578191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版式定死，横排竖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排各刻一次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25343" y="4578191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移动活字就能改排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82706" y="4578191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结构可重新组合，适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应新需求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67865"/>
              <a:ext cx="6059805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377315" y="1967865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012758" y="1967865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770120" y="1967865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llout-2"/>
          <p:cNvGrpSpPr/>
          <p:nvPr/>
        </p:nvGrpSpPr>
        <p:grpSpPr>
          <a:xfrm>
            <a:off x="533400" y="5309235"/>
            <a:ext cx="6059805" cy="782955"/>
            <a:chOff x="533400" y="5309235"/>
            <a:chExt cx="6059805" cy="782955"/>
          </a:xfrm>
        </p:grpSpPr>
        <p:sp>
          <p:nvSpPr>
            <p:cNvPr id="40" name="Rectangle 40"/>
            <p:cNvSpPr/>
            <p:nvPr/>
          </p:nvSpPr>
          <p:spPr>
            <a:xfrm>
              <a:off x="533400" y="530923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600702"/>
              <a:ext cx="200023" cy="200023"/>
              <a:chOff x="738188" y="5600702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6007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56673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457825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这四个目标贯穿全课。后面每学一个模式，都要回头问：它改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善了哪一个目标，代价是什么。</a:t>
              </a:r>
            </a:p>
          </p:txBody>
        </p:sp>
      </p:grpSp>
      <p:grpSp>
        <p:nvGrpSpPr>
          <p:cNvPr id="48" name="c2-image-1"/>
          <p:cNvGrpSpPr/>
          <p:nvPr/>
        </p:nvGrpSpPr>
        <p:grpSpPr>
          <a:xfrm>
            <a:off x="6898005" y="1967865"/>
            <a:ext cx="4760595" cy="4420077"/>
            <a:chOff x="6898005" y="1967865"/>
            <a:chExt cx="4760595" cy="4420077"/>
          </a:xfrm>
        </p:grpSpPr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2"/>
            <a:srcRect l="17386" t="0" r="17385" b="0"/>
            <a:stretch>
              <a:fillRect/>
            </a:stretch>
          </p:blipFill>
          <p:spPr>
            <a:xfrm>
              <a:off x="6898005" y="1967865"/>
              <a:ext cx="4760595" cy="4105275"/>
            </a:xfrm>
            <a:prstGeom prst="roundRect">
              <a:avLst>
                <a:gd name="adj" fmla="val 3248"/>
              </a:avLst>
            </a:prstGeom>
          </p:spPr>
        </p:pic>
        <p:sp>
          <p:nvSpPr>
            <p:cNvPr id="47" name="TextBox 47"/>
            <p:cNvSpPr txBox="1"/>
            <p:nvPr/>
          </p:nvSpPr>
          <p:spPr>
            <a:xfrm>
              <a:off x="8066392" y="616791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换掉一个活字，其余的排版原样不动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6127" cy="909257"/>
            <a:chOff x="520446" y="342900"/>
            <a:chExt cx="71761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为什么要学设计模式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61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面向对象不止于编程：OOM 贯穿软件生命周期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3656076" cy="3031236"/>
            <a:chOff x="533400" y="1533525"/>
            <a:chExt cx="3656076" cy="303123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831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9566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1669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905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566386"/>
              <a:ext cx="16598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OOA 面向对象分析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1846898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弄清问题域里有哪些对象、它们之间什么关系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187416"/>
              <a:ext cx="16598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OOD 面向对象设计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467927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把分析结果规范化整理成可直接编码的类结构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808446"/>
              <a:ext cx="16598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OOP 面向对象编程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088957"/>
              <a:ext cx="20122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OOPL 把类结构落成代码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429476"/>
              <a:ext cx="16598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OOT 面向对象测试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70998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以类和对象为单位设计测试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4049554"/>
              <a:ext cx="22012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OOSM 面向对象软件维护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33006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在对象结构上做修改与演化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741545"/>
            <a:ext cx="4977765" cy="1577340"/>
            <a:chOff x="533400" y="4741545"/>
            <a:chExt cx="4977765" cy="1577340"/>
          </a:xfrm>
        </p:grpSpPr>
        <p:sp>
          <p:nvSpPr>
            <p:cNvPr id="29" name="Rectangle 29"/>
            <p:cNvSpPr/>
            <p:nvPr/>
          </p:nvSpPr>
          <p:spPr>
            <a:xfrm>
              <a:off x="533400" y="4741545"/>
              <a:ext cx="4977765" cy="157734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430203"/>
              <a:ext cx="200026" cy="200026"/>
              <a:chOff x="738188" y="5430203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4302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4968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5302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511" y="5167789"/>
              <a:ext cx="395490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这五个阶段合称 OOM（Object-Oriented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Method，面向对象方法）。本课程主要站在 OOD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这一环。</a:t>
              </a:r>
            </a:p>
          </p:txBody>
        </p:sp>
      </p:grpSp>
      <p:grpSp>
        <p:nvGrpSpPr>
          <p:cNvPr id="72" name="c2-table-1"/>
          <p:cNvGrpSpPr/>
          <p:nvPr/>
        </p:nvGrpSpPr>
        <p:grpSpPr>
          <a:xfrm>
            <a:off x="5810250" y="1524000"/>
            <a:ext cx="5848350" cy="2877027"/>
            <a:chOff x="5810250" y="1524000"/>
            <a:chExt cx="5848350" cy="2877027"/>
          </a:xfrm>
        </p:grpSpPr>
        <p:sp>
          <p:nvSpPr>
            <p:cNvPr id="36" name="Rectangle 36"/>
            <p:cNvSpPr/>
            <p:nvPr/>
          </p:nvSpPr>
          <p:spPr>
            <a:xfrm>
              <a:off x="5815965" y="1524000"/>
              <a:ext cx="5842635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5694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5902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9542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份额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91572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是否面向对象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71846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38556" y="2085022"/>
              <a:ext cx="550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Python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74264" y="2085022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18.04%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95432" y="208502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15965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71846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38556" y="2515552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74264" y="2515552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10.04%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695432" y="251555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15965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71846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38556" y="294608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18689" y="2946082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9.17%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695432" y="294608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32394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15965" y="324421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71846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38556" y="3375660"/>
              <a:ext cx="372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018689" y="337566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9.16%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95432" y="33756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15965" y="36699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71846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38556" y="380619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C#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18689" y="380619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6.39%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695432" y="380619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815965" y="1524000"/>
              <a:ext cx="5842635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28448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615362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901238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810250" y="4180999"/>
              <a:ext cx="27459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2024 年 8 月 TIOBE 编程语言排行榜前五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5815965" y="4541520"/>
            <a:ext cx="5842635" cy="1777365"/>
            <a:chOff x="5815965" y="4541520"/>
            <a:chExt cx="5842635" cy="1777365"/>
          </a:xfrm>
        </p:grpSpPr>
        <p:sp>
          <p:nvSpPr>
            <p:cNvPr id="73" name="Rectangle 73"/>
            <p:cNvSpPr/>
            <p:nvPr/>
          </p:nvSpPr>
          <p:spPr>
            <a:xfrm>
              <a:off x="5815965" y="4541520"/>
              <a:ext cx="5842635" cy="1777365"/>
            </a:xfrm>
            <a:prstGeom prst="roundRect">
              <a:avLst>
                <a:gd name="adj" fmla="val 75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5825490" y="4674870"/>
              <a:ext cx="47625" cy="15106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057900" y="47453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139256" y="47810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读这张表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050661" y="5118259"/>
              <a:ext cx="495579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前五里有四门是面向对象语言，再往后 JavaScript、Visual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Basic 也是。除 C 和 SQL 外，常用语言基本都支持面向对象。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051804" y="5706428"/>
              <a:ext cx="5193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语言支持面向对象，不等于写出来的代码就是面向对象的。仍要用四要素来判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断。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80912" cy="909257"/>
            <a:chOff x="520446" y="342900"/>
            <a:chExt cx="76809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为什么要学设计模式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809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Simula 67 到设计模式：经验是怎样沉淀下来的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flow-1"/>
          <p:cNvGrpSpPr/>
          <p:nvPr/>
        </p:nvGrpSpPr>
        <p:grpSpPr>
          <a:xfrm>
            <a:off x="672465" y="1870710"/>
            <a:ext cx="5673091" cy="3904298"/>
            <a:chOff x="672465" y="1870710"/>
            <a:chExt cx="5673091" cy="3904298"/>
          </a:xfrm>
        </p:grpSpPr>
        <p:sp>
          <p:nvSpPr>
            <p:cNvPr id="7" name="Freeform 7"/>
            <p:cNvSpPr/>
            <p:nvPr/>
          </p:nvSpPr>
          <p:spPr>
            <a:xfrm>
              <a:off x="1524952" y="2654618"/>
              <a:ext cx="1984057" cy="974408"/>
            </a:xfrm>
            <a:custGeom>
              <a:avLst/>
              <a:gdLst/>
              <a:ahLst/>
              <a:cxnLst/>
              <a:rect l="l" t="t" r="r" b="b"/>
              <a:pathLst>
                <a:path w="1984057" h="974408">
                  <a:moveTo>
                    <a:pt x="0" y="974408"/>
                  </a:moveTo>
                  <a:lnTo>
                    <a:pt x="0" y="434340"/>
                  </a:lnTo>
                  <a:lnTo>
                    <a:pt x="1984057" y="434340"/>
                  </a:lnTo>
                  <a:lnTo>
                    <a:pt x="198405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56622" y="25498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362450" y="2330768"/>
              <a:ext cx="172403" cy="9525"/>
            </a:xfrm>
            <a:custGeom>
              <a:avLst/>
              <a:gdLst/>
              <a:ahLst/>
              <a:cxnLst/>
              <a:rect l="l" t="t" r="r" b="b"/>
              <a:pathLst>
                <a:path w="172403" h="9525">
                  <a:moveTo>
                    <a:pt x="0" y="0"/>
                  </a:moveTo>
                  <a:lnTo>
                    <a:pt x="17240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534852" y="22783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78392" y="3943350"/>
              <a:ext cx="172403" cy="9525"/>
            </a:xfrm>
            <a:custGeom>
              <a:avLst/>
              <a:gdLst/>
              <a:ahLst/>
              <a:cxnLst/>
              <a:rect l="l" t="t" r="r" b="b"/>
              <a:pathLst>
                <a:path w="172403" h="9525">
                  <a:moveTo>
                    <a:pt x="0" y="0"/>
                  </a:moveTo>
                  <a:lnTo>
                    <a:pt x="17240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50795" y="38909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509010" y="4257675"/>
              <a:ext cx="9525" cy="974407"/>
            </a:xfrm>
            <a:custGeom>
              <a:avLst/>
              <a:gdLst/>
              <a:ahLst/>
              <a:cxnLst/>
              <a:rect l="l" t="t" r="r" b="b"/>
              <a:pathLst>
                <a:path w="9525" h="974407">
                  <a:moveTo>
                    <a:pt x="0" y="0"/>
                  </a:moveTo>
                  <a:lnTo>
                    <a:pt x="0" y="9744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56622" y="52320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93068" y="2549842"/>
              <a:ext cx="9525" cy="2682240"/>
            </a:xfrm>
            <a:custGeom>
              <a:avLst/>
              <a:gdLst/>
              <a:ahLst/>
              <a:cxnLst/>
              <a:rect l="l" t="t" r="r" b="b"/>
              <a:pathLst>
                <a:path w="9525" h="2682240">
                  <a:moveTo>
                    <a:pt x="0" y="0"/>
                  </a:moveTo>
                  <a:lnTo>
                    <a:pt x="0" y="26822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440680" y="52320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362450" y="5555932"/>
              <a:ext cx="172403" cy="9525"/>
            </a:xfrm>
            <a:custGeom>
              <a:avLst/>
              <a:gdLst/>
              <a:ahLst/>
              <a:cxnLst/>
              <a:rect l="l" t="t" r="r" b="b"/>
              <a:pathLst>
                <a:path w="172403" h="9525">
                  <a:moveTo>
                    <a:pt x="0" y="0"/>
                  </a:moveTo>
                  <a:lnTo>
                    <a:pt x="17240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534852" y="55035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72465" y="3629025"/>
              <a:ext cx="1705928" cy="629602"/>
            </a:xfrm>
            <a:prstGeom prst="roundRect">
              <a:avLst>
                <a:gd name="adj" fmla="val 15129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55570" y="2111692"/>
              <a:ext cx="17059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639628" y="2111692"/>
              <a:ext cx="1705928" cy="438150"/>
            </a:xfrm>
            <a:prstGeom prst="roundRect">
              <a:avLst>
                <a:gd name="adj" fmla="val 21739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55570" y="3629025"/>
              <a:ext cx="17059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55570" y="5336858"/>
              <a:ext cx="17059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639628" y="5336858"/>
              <a:ext cx="17059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3259" y="3744754"/>
              <a:ext cx="118338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OOP 面向对象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12359" y="2241709"/>
              <a:ext cx="1193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可重用构件群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68730" y="2241709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设计模式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52293" y="3744754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 UML 统一建模语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12359" y="5466874"/>
              <a:ext cx="1193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 上流工程建模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68730" y="5466874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⑥ 开发流程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136458" y="2872740"/>
              <a:ext cx="7620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158746" y="2899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利用并创建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186238" y="1870710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12526" y="18973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提取思想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537585" y="4705350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560826" y="473202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用图表示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521642" y="3850958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44884" y="38776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指导设计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186238" y="5095875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212526" y="51225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推进开发</a:t>
              </a:r>
            </a:p>
          </p:txBody>
        </p:sp>
      </p:grpSp>
      <p:grpSp>
        <p:nvGrpSpPr>
          <p:cNvPr id="53" name="c2-kv-1"/>
          <p:cNvGrpSpPr/>
          <p:nvPr/>
        </p:nvGrpSpPr>
        <p:grpSpPr>
          <a:xfrm>
            <a:off x="6781800" y="1548765"/>
            <a:ext cx="4876800" cy="2741295"/>
            <a:chOff x="6781800" y="1548765"/>
            <a:chExt cx="4876800" cy="2741295"/>
          </a:xfrm>
        </p:grpSpPr>
        <p:sp>
          <p:nvSpPr>
            <p:cNvPr id="42" name="TextBox 42"/>
            <p:cNvSpPr txBox="1"/>
            <p:nvPr/>
          </p:nvSpPr>
          <p:spPr>
            <a:xfrm>
              <a:off x="6781800" y="1548765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1967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45755" y="1548765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挪威的 Simula 67 首次提供类、继承、多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态，被视为最早的面向对象语言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789420" y="215074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81800" y="2270760"/>
              <a:ext cx="954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Smalltalk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45755" y="2270760"/>
              <a:ext cx="34632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沿用这套结构，确立了“面向对象”这个概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念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89420" y="287274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81800" y="2992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其后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45755" y="2992755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C++、Objective-C、Java、C# 等相继出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9420" y="359473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1800" y="3714750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1994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45755" y="3714750"/>
              <a:ext cx="34347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出版《设计模式：可复用面向对象软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件的基础》，编目 23 个模式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789420" y="4421505"/>
            <a:ext cx="4869180" cy="1602105"/>
            <a:chOff x="6789420" y="4421505"/>
            <a:chExt cx="4869180" cy="1602105"/>
          </a:xfrm>
        </p:grpSpPr>
        <p:sp>
          <p:nvSpPr>
            <p:cNvPr id="54" name="Rectangle 54"/>
            <p:cNvSpPr/>
            <p:nvPr/>
          </p:nvSpPr>
          <p:spPr>
            <a:xfrm>
              <a:off x="6789420" y="4421505"/>
              <a:ext cx="4869180" cy="1602105"/>
            </a:xfrm>
            <a:prstGeom prst="roundRect">
              <a:avLst>
                <a:gd name="adj" fmla="val 832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98970" y="463105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68477" y="466677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这条线索的逻辑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91350" y="5008245"/>
              <a:ext cx="4244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OOPL 写多了，就攒出类库和框架；从类库和框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架里反复出现的写法中提取思想，就成了设计模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式。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691253" cy="2997517"/>
            <a:chOff x="667512" y="1835468"/>
            <a:chExt cx="469125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课程地图与学法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这门课要讲哪些内容，考什么，怎么学才不白学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四大板块与 23 个模式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六条学习目标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考核方式与学习建议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4442" cy="909257"/>
            <a:chOff x="520446" y="342900"/>
            <a:chExt cx="64744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课程地图与学法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44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课程四大板块：先立规矩，再学 23 个模式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ree-1"/>
          <p:cNvGrpSpPr/>
          <p:nvPr/>
        </p:nvGrpSpPr>
        <p:grpSpPr>
          <a:xfrm>
            <a:off x="533400" y="1624012"/>
            <a:ext cx="4328160" cy="2038351"/>
            <a:chOff x="533400" y="1624012"/>
            <a:chExt cx="4328160" cy="2038351"/>
          </a:xfrm>
        </p:grpSpPr>
        <p:sp>
          <p:nvSpPr>
            <p:cNvPr id="7" name="Freeform 7"/>
            <p:cNvSpPr/>
            <p:nvPr/>
          </p:nvSpPr>
          <p:spPr>
            <a:xfrm>
              <a:off x="2346960" y="1804035"/>
              <a:ext cx="419100" cy="839152"/>
            </a:xfrm>
            <a:custGeom>
              <a:avLst/>
              <a:gdLst/>
              <a:ahLst/>
              <a:cxnLst/>
              <a:rect l="l" t="t" r="r" b="b"/>
              <a:pathLst>
                <a:path w="419100" h="839152">
                  <a:moveTo>
                    <a:pt x="0" y="839152"/>
                  </a:moveTo>
                  <a:lnTo>
                    <a:pt x="209550" y="83915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346960" y="2363152"/>
              <a:ext cx="419100" cy="280035"/>
            </a:xfrm>
            <a:custGeom>
              <a:avLst/>
              <a:gdLst/>
              <a:ahLst/>
              <a:cxnLst/>
              <a:rect l="l" t="t" r="r" b="b"/>
              <a:pathLst>
                <a:path w="419100" h="280035">
                  <a:moveTo>
                    <a:pt x="0" y="280035"/>
                  </a:moveTo>
                  <a:lnTo>
                    <a:pt x="209550" y="2800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346960" y="2643188"/>
              <a:ext cx="419100" cy="280035"/>
            </a:xfrm>
            <a:custGeom>
              <a:avLst/>
              <a:gdLst/>
              <a:ahLst/>
              <a:cxnLst/>
              <a:rect l="l" t="t" r="r" b="b"/>
              <a:pathLst>
                <a:path w="419100" h="280035">
                  <a:moveTo>
                    <a:pt x="0" y="0"/>
                  </a:moveTo>
                  <a:lnTo>
                    <a:pt x="209550" y="0"/>
                  </a:lnTo>
                  <a:lnTo>
                    <a:pt x="209550" y="280035"/>
                  </a:lnTo>
                  <a:lnTo>
                    <a:pt x="419100" y="28003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46960" y="2643188"/>
              <a:ext cx="419100" cy="839153"/>
            </a:xfrm>
            <a:custGeom>
              <a:avLst/>
              <a:gdLst/>
              <a:ahLst/>
              <a:cxnLst/>
              <a:rect l="l" t="t" r="r" b="b"/>
              <a:pathLst>
                <a:path w="419100" h="839153">
                  <a:moveTo>
                    <a:pt x="0" y="0"/>
                  </a:moveTo>
                  <a:lnTo>
                    <a:pt x="209550" y="0"/>
                  </a:lnTo>
                  <a:lnTo>
                    <a:pt x="209550" y="839153"/>
                  </a:lnTo>
                  <a:lnTo>
                    <a:pt x="419100" y="83915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766060" y="1624012"/>
              <a:ext cx="209550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766060" y="2183130"/>
              <a:ext cx="209550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766060" y="2743200"/>
              <a:ext cx="209550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766060" y="3302318"/>
              <a:ext cx="209550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63165"/>
              <a:ext cx="1813560" cy="360045"/>
            </a:xfrm>
            <a:prstGeom prst="roundRect">
              <a:avLst>
                <a:gd name="adj" fmla="val 2645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855214" y="1720215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设计原则（7 条）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5214" y="2279332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创建型（5 + 1）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55214" y="2839402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结构型（7 个）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55214" y="3398520"/>
              <a:ext cx="1207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行为型（11 个）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2554" y="255936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软件设计模式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942398"/>
            <a:ext cx="4328160" cy="2383155"/>
            <a:chOff x="533400" y="3942398"/>
            <a:chExt cx="4328160" cy="2383155"/>
          </a:xfrm>
        </p:grpSpPr>
        <p:sp>
          <p:nvSpPr>
            <p:cNvPr id="22" name="Rectangle 22"/>
            <p:cNvSpPr/>
            <p:nvPr/>
          </p:nvSpPr>
          <p:spPr>
            <a:xfrm>
              <a:off x="533400" y="3942398"/>
              <a:ext cx="4328160" cy="2383155"/>
            </a:xfrm>
            <a:prstGeom prst="roundRect">
              <a:avLst>
                <a:gd name="adj" fmla="val 55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075748"/>
              <a:ext cx="47625" cy="2116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9620" y="4140518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7057" y="417480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两个容易混的记号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77240" y="456152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3831" y="4501039"/>
              <a:ext cx="355815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的 23 个模式不含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简单工厂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，它是工厂方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法的简化形式，课程单列一讲。所以创建型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5 + 1。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77240" y="542163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3831" y="5362099"/>
              <a:ext cx="352209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课程原则表里的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CRP 指合成复用原则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（Composite Reuse Principle）；包设计里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CRP 是共同重用原则，两者不是一回事。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166360" y="1524000"/>
            <a:ext cx="6492240" cy="2122170"/>
            <a:chOff x="5166360" y="1524000"/>
            <a:chExt cx="6492240" cy="2122170"/>
          </a:xfrm>
        </p:grpSpPr>
        <p:sp>
          <p:nvSpPr>
            <p:cNvPr id="31" name="Rectangle 31"/>
            <p:cNvSpPr/>
            <p:nvPr/>
          </p:nvSpPr>
          <p:spPr>
            <a:xfrm>
              <a:off x="5166360" y="1524000"/>
              <a:ext cx="6492240" cy="42481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7786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板块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43213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关注点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68849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设计原则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27139" y="207645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判断设计好坏的尺子，不依赖具体模式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166360" y="236791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166360" y="2372678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68849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27139" y="2501265"/>
              <a:ext cx="2346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对象怎么造出来，把 new 隔离开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166360" y="279273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68849" y="29260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27139" y="292608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类和对象怎么组合成更大的结构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66360" y="32165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166360" y="3221355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68849" y="33499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27139" y="3349942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对象之间怎么分配职责、怎么协作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66360" y="1524000"/>
              <a:ext cx="649224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19888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kv-2"/>
          <p:cNvGrpSpPr/>
          <p:nvPr/>
        </p:nvGrpSpPr>
        <p:grpSpPr>
          <a:xfrm>
            <a:off x="5159121" y="3849529"/>
            <a:ext cx="6499479" cy="1795081"/>
            <a:chOff x="5159121" y="3849529"/>
            <a:chExt cx="6499479" cy="1795081"/>
          </a:xfrm>
        </p:grpSpPr>
        <p:sp>
          <p:nvSpPr>
            <p:cNvPr id="50" name="TextBox 50"/>
            <p:cNvSpPr txBox="1"/>
            <p:nvPr/>
          </p:nvSpPr>
          <p:spPr>
            <a:xfrm>
              <a:off x="5159121" y="384952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设计原则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58294" y="3849529"/>
              <a:ext cx="34277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SRP、OCP、LSP、DIP、ISP、CRP、LoD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166360" y="41529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159121" y="426577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创建型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58294" y="4265771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简单工厂、工厂方法、抽象工厂、建造者、原型、单例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66360" y="45691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159121" y="468201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结构型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58294" y="4682014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适配器、桥接、组合、装饰、外观、享元、代理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166360" y="49853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159121" y="509825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行为型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58294" y="5098256"/>
              <a:ext cx="50639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职责链、命令、解释器、迭代器、中介者、备忘录、观察者、状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态、策略、模板方法、访问者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课程地图与学法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学习目标、考核与学习建议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bullets-1"/>
          <p:cNvGrpSpPr/>
          <p:nvPr/>
        </p:nvGrpSpPr>
        <p:grpSpPr>
          <a:xfrm>
            <a:off x="526161" y="1547336"/>
            <a:ext cx="3244037" cy="2263712"/>
            <a:chOff x="526161" y="1547336"/>
            <a:chExt cx="3244037" cy="226371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六条学习目标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7356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1745" y="191390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4293" y="188642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提升面向对象分析与设计能力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20313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1745" y="22434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4293" y="2215039"/>
              <a:ext cx="29459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掌握常用设计原则和 GoF 设计模式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53269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1745" y="25720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4293" y="254460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学会在应用开发中运用设计模式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286131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1745" y="29016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4293" y="287416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学会用模式重构代码和设计方案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190875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1745" y="323121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4293" y="3202781"/>
              <a:ext cx="23603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进一步熟悉建模工具与 UML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352044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1745" y="355982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4293" y="35323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培养软件设计与架构思想</a:t>
              </a:r>
            </a:p>
          </p:txBody>
        </p:sp>
      </p:grpSp>
      <p:grpSp>
        <p:nvGrpSpPr>
          <p:cNvPr id="43" name="c1-table-2"/>
          <p:cNvGrpSpPr/>
          <p:nvPr/>
        </p:nvGrpSpPr>
        <p:grpSpPr>
          <a:xfrm>
            <a:off x="527685" y="3940492"/>
            <a:ext cx="5415915" cy="1799750"/>
            <a:chOff x="527685" y="3940492"/>
            <a:chExt cx="5415915" cy="1799750"/>
          </a:xfrm>
        </p:grpSpPr>
        <p:sp>
          <p:nvSpPr>
            <p:cNvPr id="27" name="Rectangle 27"/>
            <p:cNvSpPr/>
            <p:nvPr/>
          </p:nvSpPr>
          <p:spPr>
            <a:xfrm>
              <a:off x="533400" y="3940492"/>
              <a:ext cx="5410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87933" y="407193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考核项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05038" y="40719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07192" y="40719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8746" y="450151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平时成绩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17153" y="4501515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11412" y="450151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出勤、测验、讨论、作业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7958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800600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8746" y="50387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期末考试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17153" y="5038725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70%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11412" y="4932045"/>
              <a:ext cx="2755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开卷；选择、判断、问答、分析、综合设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940492"/>
              <a:ext cx="5410200" cy="1503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935480" y="3940492"/>
              <a:ext cx="9525" cy="1503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801302" y="3940492"/>
              <a:ext cx="9525" cy="1503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7685" y="5520214"/>
              <a:ext cx="4813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成绩分布：优秀 20%，良好 30%–40%，中等 30%，其余为及格与不及格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248400" y="1524000"/>
            <a:ext cx="5410200" cy="2893695"/>
            <a:chOff x="6248400" y="1524000"/>
            <a:chExt cx="5410200" cy="2893695"/>
          </a:xfrm>
        </p:grpSpPr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1657350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90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80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91744" y="176736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六条学习建议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97955" y="217932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54546" y="21197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需求导向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：先看企业岗位要求的是什么能力，再倒推该练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97955" y="27708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54546" y="271129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培养兴趣、自我激励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97955" y="309086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54546" y="303133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选择合适的书籍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97955" y="341090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54546" y="335137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别指望看第一遍书就能记住，要看第二遍、第三遍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97955" y="373094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54546" y="367141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思考与练习并重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97955" y="405098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54546" y="399145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到项目实训、工程实践里真正用一次</a:t>
              </a:r>
            </a:p>
          </p:txBody>
        </p:sp>
      </p:grpSp>
      <p:grpSp>
        <p:nvGrpSpPr>
          <p:cNvPr id="73" name="c2-kv-2"/>
          <p:cNvGrpSpPr/>
          <p:nvPr/>
        </p:nvGrpSpPr>
        <p:grpSpPr>
          <a:xfrm>
            <a:off x="6241161" y="4626769"/>
            <a:ext cx="5417439" cy="1543622"/>
            <a:chOff x="6241161" y="4626769"/>
            <a:chExt cx="5417439" cy="1543622"/>
          </a:xfrm>
        </p:grpSpPr>
        <p:sp>
          <p:nvSpPr>
            <p:cNvPr id="62" name="TextBox 62"/>
            <p:cNvSpPr txBox="1"/>
            <p:nvPr/>
          </p:nvSpPr>
          <p:spPr>
            <a:xfrm>
              <a:off x="6241161" y="4626769"/>
              <a:ext cx="22386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《Head First 设计模式》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21458" y="462676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入门最易读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49320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41161" y="504777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《研磨设计模式》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21458" y="504777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中文讲解最细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5354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241161" y="5469731"/>
              <a:ext cx="15051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GoF《设计模式》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21458" y="546973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原著，当手册查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57759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241161" y="589168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《重构》《重构与模式》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621458" y="589168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练看出坏味道的眼力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面向对象设计的三个层次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设计模式只是其中一层，先看清它上下都有什么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框架级设计与包的六个原则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类设计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代码设计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面向对象设计的三个层次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面向对象设计做的事：把分析结果整理成能直接编码的形式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621155"/>
            <a:chOff x="533400" y="1524000"/>
            <a:chExt cx="5193982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089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面向对象设计（OOD）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面向对象设计的任务，是对面向对象分析的结果作进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一步的规范化整理，以便能够被面向对象编程直接接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受。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3335655"/>
            <a:ext cx="5193982" cy="2248852"/>
            <a:chOff x="533400" y="3335655"/>
            <a:chExt cx="5193982" cy="2248852"/>
          </a:xfrm>
        </p:grpSpPr>
        <p:sp>
          <p:nvSpPr>
            <p:cNvPr id="14" name="Rectangle 14"/>
            <p:cNvSpPr/>
            <p:nvPr/>
          </p:nvSpPr>
          <p:spPr>
            <a:xfrm>
              <a:off x="533400" y="3335655"/>
              <a:ext cx="5193982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6109" y="34713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13509" y="34713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处理的对象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22624" y="34713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14799" y="34713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对应的模式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" y="39200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框架级设计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84223" y="39200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一组协作的类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33916" y="39200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包与体系结构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84560" y="39200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框架模式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2814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23291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242435"/>
              <a:ext cx="112395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48198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类设计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84223" y="4368641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单个类及其关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33916" y="44819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386262" y="4242435"/>
              <a:ext cx="133159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84560" y="44819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软件设计模式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9044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51573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代码设计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84223" y="515731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类的具体实现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33916" y="5043964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源码与可执行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84560" y="515731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微模式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335655"/>
              <a:ext cx="5193982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671638" y="333565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021330" y="333565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371975" y="333565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flow-1"/>
          <p:cNvGrpSpPr/>
          <p:nvPr/>
        </p:nvGrpSpPr>
        <p:grpSpPr>
          <a:xfrm>
            <a:off x="6425565" y="1781175"/>
            <a:ext cx="4838700" cy="2343150"/>
            <a:chOff x="6425565" y="1781175"/>
            <a:chExt cx="4838700" cy="2343150"/>
          </a:xfrm>
        </p:grpSpPr>
        <p:sp>
          <p:nvSpPr>
            <p:cNvPr id="41" name="Freeform 41"/>
            <p:cNvSpPr/>
            <p:nvPr/>
          </p:nvSpPr>
          <p:spPr>
            <a:xfrm>
              <a:off x="8844915" y="221932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792528" y="26289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844915" y="317182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792528" y="35814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25565" y="1781175"/>
              <a:ext cx="483870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25565" y="2733675"/>
              <a:ext cx="4838700" cy="438150"/>
            </a:xfrm>
            <a:prstGeom prst="roundRect">
              <a:avLst>
                <a:gd name="adj" fmla="val 21739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25565" y="3686175"/>
              <a:ext cx="483870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18400" y="191119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框架级设计：类怎么分组成包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04556" y="286369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类设计：单个类怎么划职责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18400" y="381619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代码设计：实现、部署与性能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873490" y="238410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896731" y="24107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细化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873490" y="333660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896731" y="33632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落地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6032182" y="4572000"/>
            <a:ext cx="5626418" cy="1012508"/>
            <a:chOff x="6032182" y="4572000"/>
            <a:chExt cx="5626418" cy="1012508"/>
          </a:xfrm>
        </p:grpSpPr>
        <p:sp>
          <p:nvSpPr>
            <p:cNvPr id="56" name="Rectangle 56"/>
            <p:cNvSpPr/>
            <p:nvPr/>
          </p:nvSpPr>
          <p:spPr>
            <a:xfrm>
              <a:off x="6032182" y="4572000"/>
              <a:ext cx="5626418" cy="1012508"/>
            </a:xfrm>
            <a:prstGeom prst="roundRect">
              <a:avLst>
                <a:gd name="adj" fmla="val 1128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236970" y="4977767"/>
              <a:ext cx="200023" cy="200023"/>
              <a:chOff x="6236970" y="4977767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236970" y="49777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370320" y="50444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538912" y="4834890"/>
              <a:ext cx="4606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本课程的主战场是中间这一层。上一层管“类放哪儿”，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下一层管“代码长什么样”。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面向对象设计的三个层次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框架级设计：用包把类分组，六个原则管住包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807856" cy="278702"/>
            <a:chOff x="526161" y="1547336"/>
            <a:chExt cx="880785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8078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框架是从一类特定软件中提取出来的、可复用的一组相互协作的类，它通常定义了该类软件的体系结构。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28066" y="1941195"/>
            <a:ext cx="5631752" cy="4352544"/>
            <a:chOff x="528066" y="1941195"/>
            <a:chExt cx="5631752" cy="4352544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44481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3930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07958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02517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3062" y="25146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内聚性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70520" y="2514600"/>
              <a:ext cx="1842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重用发布等价原则 REP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20324" y="25146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复用粒度就是发布粒度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260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30830"/>
              <a:ext cx="5626418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3062" y="307848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内聚性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70520" y="3078480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共同重用原则 CRP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20324" y="2958465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会被一起用到的类才同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109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3062" y="376332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内聚性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70520" y="3763327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共同封闭原则 CCP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20324" y="3643312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会因同一原因改动的类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同包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1957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200525"/>
              <a:ext cx="5626418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3062" y="444817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70520" y="4448175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无环依赖原则 ADP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20324" y="4328160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包之间的依赖不许出现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8796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3062" y="5133023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70520" y="5133023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稳定依赖原则 SDP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20324" y="5013008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只依赖比自己更稳定的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5645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569268"/>
              <a:ext cx="5626418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3062" y="569785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70520" y="5697855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稳定抽象原则 SAP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20324" y="56978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越稳定的包越应该抽象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941195"/>
              <a:ext cx="5626418" cy="40728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766888" y="1941195"/>
              <a:ext cx="9525" cy="4072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016692" y="1941195"/>
              <a:ext cx="9525" cy="4072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8066" y="6088380"/>
              <a:ext cx="3996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前三条回答“类该放进哪个包”，后三条回答“包与包之间怎么连”</a:t>
              </a:r>
            </a:p>
          </p:txBody>
        </p:sp>
      </p:grpSp>
      <p:grpSp>
        <p:nvGrpSpPr>
          <p:cNvPr id="62" name="c2-flow-1"/>
          <p:cNvGrpSpPr/>
          <p:nvPr/>
        </p:nvGrpSpPr>
        <p:grpSpPr>
          <a:xfrm>
            <a:off x="6828472" y="2027872"/>
            <a:ext cx="4466272" cy="2687956"/>
            <a:chOff x="6828472" y="2027872"/>
            <a:chExt cx="4466272" cy="2687956"/>
          </a:xfrm>
        </p:grpSpPr>
        <p:sp>
          <p:nvSpPr>
            <p:cNvPr id="44" name="Freeform 44"/>
            <p:cNvSpPr/>
            <p:nvPr/>
          </p:nvSpPr>
          <p:spPr>
            <a:xfrm>
              <a:off x="9062085" y="2426970"/>
              <a:ext cx="9525" cy="68580"/>
            </a:xfrm>
            <a:custGeom>
              <a:avLst/>
              <a:gdLst/>
              <a:ahLst/>
              <a:cxnLst/>
              <a:rect l="l" t="t" r="r" b="b"/>
              <a:pathLst>
                <a:path w="9525" h="68580">
                  <a:moveTo>
                    <a:pt x="0" y="0"/>
                  </a:moveTo>
                  <a:lnTo>
                    <a:pt x="0" y="685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009698" y="24955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9062085" y="2999422"/>
              <a:ext cx="9525" cy="68580"/>
            </a:xfrm>
            <a:custGeom>
              <a:avLst/>
              <a:gdLst/>
              <a:ahLst/>
              <a:cxnLst/>
              <a:rect l="l" t="t" r="r" b="b"/>
              <a:pathLst>
                <a:path w="9525" h="68580">
                  <a:moveTo>
                    <a:pt x="0" y="0"/>
                  </a:moveTo>
                  <a:lnTo>
                    <a:pt x="0" y="685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009698" y="30680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062085" y="3570922"/>
              <a:ext cx="9525" cy="68580"/>
            </a:xfrm>
            <a:custGeom>
              <a:avLst/>
              <a:gdLst/>
              <a:ahLst/>
              <a:cxnLst/>
              <a:rect l="l" t="t" r="r" b="b"/>
              <a:pathLst>
                <a:path w="9525" h="68580">
                  <a:moveTo>
                    <a:pt x="0" y="0"/>
                  </a:moveTo>
                  <a:lnTo>
                    <a:pt x="0" y="685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009698" y="36395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062085" y="4143375"/>
              <a:ext cx="9525" cy="68580"/>
            </a:xfrm>
            <a:custGeom>
              <a:avLst/>
              <a:gdLst/>
              <a:ahLst/>
              <a:cxnLst/>
              <a:rect l="l" t="t" r="r" b="b"/>
              <a:pathLst>
                <a:path w="9525" h="68580">
                  <a:moveTo>
                    <a:pt x="0" y="0"/>
                  </a:moveTo>
                  <a:lnTo>
                    <a:pt x="0" y="685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009698" y="42119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28472" y="2027872"/>
              <a:ext cx="44662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28472" y="2600325"/>
              <a:ext cx="4466272" cy="399098"/>
            </a:xfrm>
            <a:prstGeom prst="roundRect">
              <a:avLst>
                <a:gd name="adj" fmla="val 1909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28472" y="3172778"/>
              <a:ext cx="44662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28472" y="3744278"/>
              <a:ext cx="4466272" cy="399098"/>
            </a:xfrm>
            <a:prstGeom prst="roundRect">
              <a:avLst>
                <a:gd name="adj" fmla="val 1909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28472" y="4316730"/>
              <a:ext cx="44662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135508" y="2149316"/>
              <a:ext cx="1853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UI 层：应用窗口、界面组件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97159" y="2720816"/>
              <a:ext cx="13298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«Facade» 服务接口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76784" y="3293269"/>
              <a:ext cx="2770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业务对象层：控制 / 实体 / 外部业务对象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95610" y="3865721"/>
              <a:ext cx="1932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«Facade» 对象到关系转换包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82015" y="4437221"/>
              <a:ext cx="1560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数据库层：SQL 产生器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464618" y="4976812"/>
            <a:ext cx="5193982" cy="1275398"/>
            <a:chOff x="6464618" y="4976812"/>
            <a:chExt cx="5193982" cy="1275398"/>
          </a:xfrm>
        </p:grpSpPr>
        <p:sp>
          <p:nvSpPr>
            <p:cNvPr id="63" name="Rectangle 63"/>
            <p:cNvSpPr/>
            <p:nvPr/>
          </p:nvSpPr>
          <p:spPr>
            <a:xfrm>
              <a:off x="6464618" y="4976812"/>
              <a:ext cx="5193982" cy="1275398"/>
            </a:xfrm>
            <a:prstGeom prst="roundRect">
              <a:avLst>
                <a:gd name="adj" fmla="val 104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74142" y="5110162"/>
              <a:ext cx="47625" cy="10086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95122" y="516921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90563" y="520350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45464" y="5209223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三层的逻辑框架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88264" y="5543550"/>
              <a:ext cx="42313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上下两层之间各夹一个 Facade（外观）包。上层只认识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Facade 提供的服务接口，下层换实现时上层不用动。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面向对象设计的三个层次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代码设计：类是逻辑的，代码是物理的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bullets-1"/>
          <p:cNvGrpSpPr/>
          <p:nvPr/>
        </p:nvGrpSpPr>
        <p:grpSpPr>
          <a:xfrm>
            <a:off x="525780" y="1548765"/>
            <a:ext cx="4023360" cy="1337310"/>
            <a:chOff x="525780" y="1548765"/>
            <a:chExt cx="4023360" cy="133731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代码设计要考虑什么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9115" y="196596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7230" y="190309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代码的形式（源码、二进制、可执行件）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9115" y="23107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230" y="22479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部署方式和位置（本地库、动态库、服务）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9115" y="26555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230" y="25927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性能、可靠性、可移植性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33400" y="3017520"/>
            <a:ext cx="4977765" cy="1795462"/>
            <a:chOff x="533400" y="3017520"/>
            <a:chExt cx="4977765" cy="1795462"/>
          </a:xfrm>
        </p:grpSpPr>
        <p:sp>
          <p:nvSpPr>
            <p:cNvPr id="15" name="Rectangle 15"/>
            <p:cNvSpPr/>
            <p:nvPr/>
          </p:nvSpPr>
          <p:spPr>
            <a:xfrm>
              <a:off x="533400" y="3017520"/>
              <a:ext cx="4977765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1839" y="31532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35479" y="31532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典型扩展名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27132" y="31532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由什么产生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" y="36018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34730" y="3601879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.java .c .cpp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26395" y="36018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人编写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9100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91477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0505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二进制代码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34730" y="4050506"/>
              <a:ext cx="127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.class .obj .lib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26395" y="40505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3595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4991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可执行代码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34730" y="4499134"/>
              <a:ext cx="11243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.exe .dll .jar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26395" y="44991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链接器或打包工具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017520"/>
              <a:ext cx="497776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22145" y="301752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813810" y="301752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kv-3"/>
          <p:cNvGrpSpPr/>
          <p:nvPr/>
        </p:nvGrpSpPr>
        <p:grpSpPr>
          <a:xfrm>
            <a:off x="525780" y="5028248"/>
            <a:ext cx="4985385" cy="1297304"/>
            <a:chOff x="525780" y="5028248"/>
            <a:chExt cx="4985385" cy="1297304"/>
          </a:xfrm>
        </p:grpSpPr>
        <p:sp>
          <p:nvSpPr>
            <p:cNvPr id="35" name="TextBox 35"/>
            <p:cNvSpPr txBox="1"/>
            <p:nvPr/>
          </p:nvSpPr>
          <p:spPr>
            <a:xfrm>
              <a:off x="525780" y="5028248"/>
              <a:ext cx="488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71612" y="5028248"/>
              <a:ext cx="35871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源码 .java 编译成 .class 字节码，打包成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.jar，由 JVM 装载运行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6302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5780" y="5750242"/>
              <a:ext cx="765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 / C++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71612" y="5750242"/>
              <a:ext cx="31680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源码编译成 .obj，再链接成 .lib 静态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库、.dll 动态库或 .exe</a:t>
              </a:r>
            </a:p>
          </p:txBody>
        </p:sp>
      </p:grpSp>
      <p:grpSp>
        <p:nvGrpSpPr>
          <p:cNvPr id="79" name="c2-flow-1"/>
          <p:cNvGrpSpPr/>
          <p:nvPr/>
        </p:nvGrpSpPr>
        <p:grpSpPr>
          <a:xfrm>
            <a:off x="5952172" y="1707832"/>
            <a:ext cx="5570221" cy="3256598"/>
            <a:chOff x="5952172" y="1707832"/>
            <a:chExt cx="5570221" cy="3256598"/>
          </a:xfrm>
        </p:grpSpPr>
        <p:sp>
          <p:nvSpPr>
            <p:cNvPr id="41" name="Freeform 41"/>
            <p:cNvSpPr/>
            <p:nvPr/>
          </p:nvSpPr>
          <p:spPr>
            <a:xfrm>
              <a:off x="7626668" y="2167890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0" y="0"/>
                  </a:moveTo>
                  <a:lnTo>
                    <a:pt x="168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795260" y="21155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626668" y="3456622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0" y="0"/>
                  </a:moveTo>
                  <a:lnTo>
                    <a:pt x="168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795260" y="34042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7626668" y="4745355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0" y="0"/>
                  </a:moveTo>
                  <a:lnTo>
                    <a:pt x="168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795260" y="4692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737282" y="2386965"/>
              <a:ext cx="1947862" cy="2034540"/>
            </a:xfrm>
            <a:custGeom>
              <a:avLst/>
              <a:gdLst/>
              <a:ahLst/>
              <a:cxnLst/>
              <a:rect l="l" t="t" r="r" b="b"/>
              <a:pathLst>
                <a:path w="1947862" h="2034540">
                  <a:moveTo>
                    <a:pt x="0" y="0"/>
                  </a:moveTo>
                  <a:lnTo>
                    <a:pt x="0" y="1069657"/>
                  </a:lnTo>
                  <a:lnTo>
                    <a:pt x="1947862" y="1069657"/>
                  </a:lnTo>
                  <a:lnTo>
                    <a:pt x="1947862" y="20345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632758" y="44215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9574530" y="4745355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0" y="0"/>
                  </a:moveTo>
                  <a:lnTo>
                    <a:pt x="1676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742170" y="4692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10685145" y="2386965"/>
              <a:ext cx="9525" cy="2034540"/>
            </a:xfrm>
            <a:custGeom>
              <a:avLst/>
              <a:gdLst/>
              <a:ahLst/>
              <a:cxnLst/>
              <a:rect l="l" t="t" r="r" b="b"/>
              <a:pathLst>
                <a:path w="9525" h="2034540">
                  <a:moveTo>
                    <a:pt x="0" y="0"/>
                  </a:moveTo>
                  <a:lnTo>
                    <a:pt x="0" y="203454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52" name="Freeform 52"/>
            <p:cNvSpPr/>
            <p:nvPr/>
          </p:nvSpPr>
          <p:spPr>
            <a:xfrm>
              <a:off x="10632758" y="44215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952172" y="1948815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952172" y="3237548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952172" y="4526280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900035" y="1948815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900035" y="3237548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900035" y="4526280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846945" y="1948815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846945" y="4526280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86622" y="2078831"/>
              <a:ext cx="8055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wnnd.cpp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91849" y="3367564"/>
              <a:ext cx="995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comhnd.cpp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08161" y="4656296"/>
              <a:ext cx="762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main.cpp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56023" y="2078831"/>
              <a:ext cx="762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wnnd.obj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61251" y="3367564"/>
              <a:ext cx="9520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comhnd.obj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77563" y="4656296"/>
              <a:ext cx="7194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main.obj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222037" y="2078831"/>
              <a:ext cx="9262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graphic.dll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90962" y="4656296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client.dll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581900" y="170783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16190" y="17345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581900" y="299656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616190" y="30232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581900" y="428529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616190" y="43119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529762" y="299656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564052" y="30232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链接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713720" y="336423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736961" y="33909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引用</a:t>
              </a:r>
            </a:p>
          </p:txBody>
        </p:sp>
      </p:grpSp>
      <p:grpSp>
        <p:nvGrpSpPr>
          <p:cNvPr id="86" name="c2-callout-2"/>
          <p:cNvGrpSpPr/>
          <p:nvPr/>
        </p:nvGrpSpPr>
        <p:grpSpPr>
          <a:xfrm>
            <a:off x="5815965" y="5579745"/>
            <a:ext cx="5842635" cy="782955"/>
            <a:chOff x="5815965" y="5579745"/>
            <a:chExt cx="5842635" cy="782955"/>
          </a:xfrm>
        </p:grpSpPr>
        <p:sp>
          <p:nvSpPr>
            <p:cNvPr id="80" name="Rectangle 80"/>
            <p:cNvSpPr/>
            <p:nvPr/>
          </p:nvSpPr>
          <p:spPr>
            <a:xfrm>
              <a:off x="5815965" y="557974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6020753" y="5871210"/>
              <a:ext cx="200026" cy="200026"/>
              <a:chOff x="6020753" y="5871210"/>
              <a:chExt cx="200026" cy="200026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6020753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120765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109653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6322695" y="5728335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同一份类设计，可以编进静态库、动态库或可执行文件，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物理划分与逻辑划分不必一一对应。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类设计：类、行为、属性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类设计要回答三组问题，每组都有固定的检查清单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类的组织与表示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行为的组织与表示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属性的组织与表示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类设计：类、行为、属性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类的组织与表示：一果篮水果引出的六个问题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056359" cy="308039"/>
            <a:chOff x="525399" y="1550194"/>
            <a:chExt cx="705635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05635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拿“果篮里装了苹果、香蕉、葡萄、桃”这个场景，把类设计的六步走一遍。</a:t>
              </a:r>
            </a:p>
          </p:txBody>
        </p:sp>
      </p:grpSp>
      <p:grpSp>
        <p:nvGrpSpPr>
          <p:cNvPr id="26" name="c1-kv-1"/>
          <p:cNvGrpSpPr/>
          <p:nvPr/>
        </p:nvGrpSpPr>
        <p:grpSpPr>
          <a:xfrm>
            <a:off x="525780" y="1992630"/>
            <a:ext cx="6067425" cy="2493645"/>
            <a:chOff x="525780" y="1992630"/>
            <a:chExt cx="6067425" cy="249364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类的发现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65935" y="199263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从问题域里找出候选类。果篮里有什么，就先列什么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31267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4326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聚类分析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65935" y="243268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同类事物归到一起：苹果、香蕉、葡萄、桃各一类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5272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28727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类的再抽象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65935" y="2872740"/>
              <a:ext cx="427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向上提取共性得到“水果”，容器抽象成链表模板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1927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33127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类的拆分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65935" y="331279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果篮里混进鲜花，不属于水果，拆出去单独建类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6328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37528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类的可见性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65935" y="375285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果篮的编织材料使用者不关心，应该藏起来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728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5780" y="419290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类的复用性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65935" y="419290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内紧外松：降低类间耦合度，提高类内内聚度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617720"/>
            <a:ext cx="6059805" cy="782955"/>
            <a:chOff x="533400" y="4617720"/>
            <a:chExt cx="6059805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461772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4909187"/>
              <a:ext cx="200023" cy="200023"/>
              <a:chOff x="738188" y="4909187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9091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49758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4766310"/>
              <a:ext cx="4987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“内紧外松”是全课的口径：类内部的成员联系要紧，类与类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之间的联系要松。</a:t>
              </a:r>
            </a:p>
          </p:txBody>
        </p:sp>
      </p:grpSp>
      <p:grpSp>
        <p:nvGrpSpPr>
          <p:cNvPr id="35" name="c2-image-1"/>
          <p:cNvGrpSpPr/>
          <p:nvPr/>
        </p:nvGrpSpPr>
        <p:grpSpPr>
          <a:xfrm>
            <a:off x="6898005" y="1967865"/>
            <a:ext cx="4760595" cy="4420077"/>
            <a:chOff x="6898005" y="1967865"/>
            <a:chExt cx="4760595" cy="4420077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rcRect l="6514" t="0" r="6514" b="0"/>
            <a:stretch>
              <a:fillRect/>
            </a:stretch>
          </p:blipFill>
          <p:spPr>
            <a:xfrm>
              <a:off x="6898005" y="1967865"/>
              <a:ext cx="4760595" cy="4105275"/>
            </a:xfrm>
            <a:prstGeom prst="roundRect">
              <a:avLst>
                <a:gd name="adj" fmla="val 3248"/>
              </a:avLst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7614069" y="6167914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先发现，再聚类，再抽象，不属于这一族的拆出去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类设计：类、行为、属性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行为与属性的组织：两张检查清单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410200" cy="3708082"/>
            <a:chOff x="533400" y="1524000"/>
            <a:chExt cx="5410200" cy="37080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708082"/>
            </a:xfrm>
            <a:prstGeom prst="roundRect">
              <a:avLst>
                <a:gd name="adj" fmla="val 35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4413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行为的组织与表示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17932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1197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参与者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：老鼠吃各种水果，犬吠人、吠门、吠车。同一个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行为，参与者可能不止一个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27708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2711291"/>
              <a:ext cx="48890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分组与接口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：吃苹果、吃香蕉…… 归并成“吃水果”一个接口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09086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031331"/>
              <a:ext cx="46041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分解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：吃水果 = 剥皮 + 吃果肉 + 吐核，分解之后才谈得上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抽象与封装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368236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3622834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可见性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：吐核是内部动作，对外不必暴露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2955" y="400240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546" y="3942874"/>
              <a:ext cx="45590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返回结果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：返回空、返回“吃没吃”、返回“吃了多少”，三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种设计后果不同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2955" y="459390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9546" y="4534376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差异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：吃不同水果的区别有多大，决定是重载、覆盖还是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另立接口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524000"/>
            <a:ext cx="5410200" cy="3708082"/>
            <a:chOff x="6248400" y="1524000"/>
            <a:chExt cx="5410200" cy="370808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3708082"/>
            </a:xfrm>
            <a:prstGeom prst="roundRect">
              <a:avLst>
                <a:gd name="adj" fmla="val 35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34413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90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80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属性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91744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属性的组织与表示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97955" y="217932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4546" y="211978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：内置类型还是自定义类型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97955" y="249936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4546" y="2439829"/>
              <a:ext cx="459781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本征 / 可计算 / 复合属性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：年龄可由生日算出，就不必单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独存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97955" y="309086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4546" y="3031331"/>
              <a:ext cx="41067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只读 / 只写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 getter、setter 控制读写方向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97955" y="341090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4546" y="335137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不变属性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：中国公民的身份证号，一经确定不再改变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97955" y="373094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4546" y="367141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类属性与实例属性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：扑克牌的背面图案属于整副牌，点数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属于每张牌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97955" y="432244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54546" y="4262914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可见性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：属性通常不可见，靠方法访问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97955" y="464248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4546" y="4582954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设计时属性与运行时属性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：编译期确定还是运行期才确定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5" name="Rectangle 4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6004084"/>
              <a:ext cx="75112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属性的很多结论要结合具体编程语言才成立，比如 Java 没有 C++ 那样的常量成员函数。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变化：类设计真正的难点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分清两类变化，再决定是改代码还是扩代码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职责变化与实现变化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修改与扩展的五种方式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子类爆炸与委托实现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变化：类设计真正的难点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两类变化：改接口的是职责变化，改内部的是实现变化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530792"/>
            <a:chOff x="533400" y="1524000"/>
            <a:chExt cx="5626418" cy="2530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一个类身上可能发生的五种变化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361182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0. 新增一个方法 f1        -&gt; 职责变化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1. f 的参数表可能变化      -&gt; 职责变化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2. f 的具体实现可能变化    -&gt; 实现变化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3. 数据的类型可能变化      -&gt; 实现变化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4. 数据的组织形式可能变化  -&gt; 实现变化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nums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[50];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240530"/>
            <a:ext cx="5626418" cy="756285"/>
            <a:chOff x="533400" y="4240530"/>
            <a:chExt cx="5626418" cy="756285"/>
          </a:xfrm>
        </p:grpSpPr>
        <p:sp>
          <p:nvSpPr>
            <p:cNvPr id="11" name="Rectangle 11"/>
            <p:cNvSpPr/>
            <p:nvPr/>
          </p:nvSpPr>
          <p:spPr>
            <a:xfrm>
              <a:off x="533400" y="4240530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4518662"/>
              <a:ext cx="200023" cy="200023"/>
              <a:chOff x="738188" y="4518662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5186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45853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511" y="4387691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判据只有一条：使用者看得见的（方法名、参数、返回值、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可访问性）变了就是职责变化，否则是实现变化。</a:t>
              </a:r>
            </a:p>
          </p:txBody>
        </p:sp>
      </p:grpSp>
      <p:grpSp>
        <p:nvGrpSpPr>
          <p:cNvPr id="22" name="c1-kv-3"/>
          <p:cNvGrpSpPr/>
          <p:nvPr/>
        </p:nvGrpSpPr>
        <p:grpSpPr>
          <a:xfrm>
            <a:off x="526161" y="5204936"/>
            <a:ext cx="5633657" cy="968312"/>
            <a:chOff x="526161" y="5204936"/>
            <a:chExt cx="5633657" cy="968312"/>
          </a:xfrm>
        </p:grpSpPr>
        <p:sp>
          <p:nvSpPr>
            <p:cNvPr id="17" name="TextBox 17"/>
            <p:cNvSpPr txBox="1"/>
            <p:nvPr/>
          </p:nvSpPr>
          <p:spPr>
            <a:xfrm>
              <a:off x="526161" y="520493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9096" y="5204936"/>
              <a:ext cx="470331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方法名、参数表、返回类型、可访问性，使用者直接依赖的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57788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161" y="58945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9096" y="5894546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方法体里的算法、私有数据的类型与组织，使用者看不见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464618" y="1524000"/>
            <a:ext cx="5193982" cy="2577465"/>
            <a:chOff x="6464618" y="1524000"/>
            <a:chExt cx="5193982" cy="2577465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6847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10169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职责的变化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36136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实现的变化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9964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变的是什么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12964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接口、功能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37979" y="208502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数据表示、行为过程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64618" y="23793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64618" y="2384108"/>
              <a:ext cx="519398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9964" y="262223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典型表现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12964" y="2515552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增方法、改参数、改返回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类型、改可访问性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37979" y="2515552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改算法、换数据类型、换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存储组织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302323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9964" y="3159442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使用者是否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受影响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17142" y="3037522"/>
              <a:ext cx="2006918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12964" y="326612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是，通常要同步修改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642158" y="3037522"/>
              <a:ext cx="2006918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37979" y="32661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否，重新编译即可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36661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4618" y="367093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9964" y="38023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应对难度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12964" y="380238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大，应尽早避免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37979" y="380238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小，可用继承或组合吸收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1524000"/>
              <a:ext cx="5193982" cy="25774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02855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627870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rd-2"/>
          <p:cNvGrpSpPr/>
          <p:nvPr/>
        </p:nvGrpSpPr>
        <p:grpSpPr>
          <a:xfrm>
            <a:off x="6464618" y="4287202"/>
            <a:ext cx="5193982" cy="1914525"/>
            <a:chOff x="6464618" y="4287202"/>
            <a:chExt cx="5193982" cy="1914525"/>
          </a:xfrm>
        </p:grpSpPr>
        <p:sp>
          <p:nvSpPr>
            <p:cNvPr id="50" name="Rectangle 50"/>
            <p:cNvSpPr/>
            <p:nvPr/>
          </p:nvSpPr>
          <p:spPr>
            <a:xfrm>
              <a:off x="6464618" y="4287202"/>
              <a:ext cx="5193982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4142" y="4420552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706552" y="449103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97713" y="45267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714172" y="492347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70764" y="4863941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职责变化后，扩展出来的类和原有类的接口不再一致。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714172" y="524351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70764" y="518398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职责变化一般需要同步修改原有类的全部使用者。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714172" y="556355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70764" y="5504021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职责变化应尽早、尽量避免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，设计阶段就要把接口定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变化：类设计真正的难点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清点一个类上的十一种改动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ode-1"/>
          <p:cNvGrpSpPr/>
          <p:nvPr/>
        </p:nvGrpSpPr>
        <p:grpSpPr>
          <a:xfrm>
            <a:off x="533400" y="1524000"/>
            <a:ext cx="6276022" cy="3545205"/>
            <a:chOff x="533400" y="1524000"/>
            <a:chExt cx="6276022" cy="35452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545205"/>
            </a:xfrm>
            <a:prstGeom prst="roundRect">
              <a:avLst>
                <a:gd name="adj" fmla="val 26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4400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高亮的四行是职责变化（对外可见），其余七行是实现变化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301240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504122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2707005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2909888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035" y="1937861"/>
              <a:ext cx="4883150" cy="3060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func01()      { }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1. 修改实现代码   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func01(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}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2. 增加重载 func01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func02()      { }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3. 增加新方法     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func03()      { }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4. 删除已有 func03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func04()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}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5. 改返回类型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func05() { }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6. 修改实现代码      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func06() { }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7. 增加新方法 func06 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func07() { }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8. 修改实现代码      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func08() { }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9. 增加新方法 func08 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10. 修改数据的类型   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newData;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11. 增加新数据成员   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bullets-2"/>
          <p:cNvGrpSpPr/>
          <p:nvPr/>
        </p:nvGrpSpPr>
        <p:grpSpPr>
          <a:xfrm>
            <a:off x="533400" y="5281136"/>
            <a:ext cx="4620415" cy="860869"/>
            <a:chOff x="533400" y="5281136"/>
            <a:chExt cx="4620415" cy="860869"/>
          </a:xfrm>
        </p:grpSpPr>
        <p:sp>
          <p:nvSpPr>
            <p:cNvPr id="15" name="Freeform 15"/>
            <p:cNvSpPr/>
            <p:nvPr/>
          </p:nvSpPr>
          <p:spPr>
            <a:xfrm>
              <a:off x="533400" y="5307330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4096" y="5281136"/>
              <a:ext cx="4389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先圈出 public 段：这一段的任何增、删、改都是职责变化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33400" y="5614035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4096" y="5586889"/>
              <a:ext cx="41915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 段对子类可见，对子类而言同样是职责变化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33400" y="591978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4096" y="5892641"/>
              <a:ext cx="4303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 成员和方法体怎么改，对使用者都只是实现变化</a:t>
              </a:r>
            </a:p>
          </p:txBody>
        </p:sp>
      </p:grpSp>
      <p:grpSp>
        <p:nvGrpSpPr>
          <p:cNvPr id="37" name="c2-table-1"/>
          <p:cNvGrpSpPr/>
          <p:nvPr/>
        </p:nvGrpSpPr>
        <p:grpSpPr>
          <a:xfrm>
            <a:off x="7114222" y="1524000"/>
            <a:ext cx="4544378" cy="1800225"/>
            <a:chOff x="7114222" y="1524000"/>
            <a:chExt cx="4544378" cy="1800225"/>
          </a:xfrm>
        </p:grpSpPr>
        <p:sp>
          <p:nvSpPr>
            <p:cNvPr id="22" name="Rectangle 22"/>
            <p:cNvSpPr/>
            <p:nvPr/>
          </p:nvSpPr>
          <p:spPr>
            <a:xfrm>
              <a:off x="7114222" y="1524000"/>
              <a:ext cx="4544378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440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346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977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35928" y="2108359"/>
              <a:ext cx="5738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2 3 4 5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6235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职责变化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03270" y="2108359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public 部分的签名集合变了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114222" y="24164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14222" y="2421255"/>
              <a:ext cx="4544378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77405" y="2556986"/>
              <a:ext cx="49088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1 6 7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8 9 10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62353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实现变化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03270" y="2783681"/>
              <a:ext cx="2149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只动方法体或非 public 成员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14222" y="1524000"/>
              <a:ext cx="4544378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927658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290685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ard-2"/>
          <p:cNvGrpSpPr/>
          <p:nvPr/>
        </p:nvGrpSpPr>
        <p:grpSpPr>
          <a:xfrm>
            <a:off x="7114222" y="3514725"/>
            <a:ext cx="4544378" cy="2653665"/>
            <a:chOff x="7114222" y="3514725"/>
            <a:chExt cx="4544378" cy="2653665"/>
          </a:xfrm>
        </p:grpSpPr>
        <p:sp>
          <p:nvSpPr>
            <p:cNvPr id="38" name="Rectangle 38"/>
            <p:cNvSpPr/>
            <p:nvPr/>
          </p:nvSpPr>
          <p:spPr>
            <a:xfrm>
              <a:off x="7114222" y="3514725"/>
              <a:ext cx="4544378" cy="2653665"/>
            </a:xfrm>
            <a:prstGeom prst="roundRect">
              <a:avLst>
                <a:gd name="adj" fmla="val 50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23748" y="3648075"/>
              <a:ext cx="47625" cy="23869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361872" y="37242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52081" y="37599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54252" y="4101465"/>
              <a:ext cx="38728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原课件在第 4 条后注了“面向对象不支持”。准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确的说法是：用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派生子类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的办法无法删掉父类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已有的方法，子类只能加不能减。要真删掉，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只能改 A 的源码。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55396" y="5289709"/>
              <a:ext cx="388188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 protected 成员对子类可见，所以第 7 条“增加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protected 方法”对子类而言其实也是职责变化。判定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时要先说清“对谁而言”。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变化：类设计真正的难点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变化来了怎么办：修改既有代码，还是扩展既有代码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compare-1"/>
          <p:cNvGrpSpPr/>
          <p:nvPr/>
        </p:nvGrpSpPr>
        <p:grpSpPr>
          <a:xfrm>
            <a:off x="533400" y="1524000"/>
            <a:ext cx="4760596" cy="3581400"/>
            <a:chOff x="533400" y="1524000"/>
            <a:chExt cx="4760596" cy="3581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170748" cy="3581400"/>
            </a:xfrm>
            <a:prstGeom prst="roundRect">
              <a:avLst>
                <a:gd name="adj" fmla="val 6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3147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8096" y="17511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修改既有代码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2955" y="214979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9546" y="2090261"/>
              <a:ext cx="14571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既有代码未必拿得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到（只有二进制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301275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953226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改实现有顾虑：别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处可能依赖旧行为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60426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544729"/>
              <a:ext cx="14571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改接口有顾虑：所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有使用者都要跟着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44672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4407694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改完要重新测试、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重新发布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23248" y="1524000"/>
              <a:ext cx="2170748" cy="3581400"/>
            </a:xfrm>
            <a:prstGeom prst="roundRect">
              <a:avLst>
                <a:gd name="adj" fmla="val 6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32772" y="1657350"/>
              <a:ext cx="47625" cy="33147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57944" y="17511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扩展既有代码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372802" y="214979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29394" y="2090261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原有类和原有使用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者一行不动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372802" y="274129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29394" y="2681764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新行为集中在新类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里，出问题好定位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372802" y="333279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29394" y="3273266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是面向对象设计的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基本路子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372802" y="392430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29394" y="3864769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代价是类的数量变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2751772" y="315277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822113" y="32489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7" name="c1-callout-2"/>
          <p:cNvGrpSpPr/>
          <p:nvPr/>
        </p:nvGrpSpPr>
        <p:grpSpPr>
          <a:xfrm>
            <a:off x="533400" y="5290185"/>
            <a:ext cx="4760595" cy="1018222"/>
            <a:chOff x="533400" y="5290185"/>
            <a:chExt cx="4760595" cy="1018222"/>
          </a:xfrm>
        </p:grpSpPr>
        <p:sp>
          <p:nvSpPr>
            <p:cNvPr id="32" name="Rectangle 32"/>
            <p:cNvSpPr/>
            <p:nvPr/>
          </p:nvSpPr>
          <p:spPr>
            <a:xfrm>
              <a:off x="533400" y="5290185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699762"/>
              <a:ext cx="200023" cy="200023"/>
              <a:chOff x="738188" y="5699762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6997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57664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5438299"/>
              <a:ext cx="38016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扩展既有代码是面向对象设计的基本原则，这条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思路往前再走一步，就是开闭原则：对扩展开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放，对修改关闭。</a:t>
              </a:r>
            </a:p>
          </p:txBody>
        </p:sp>
      </p:grpSp>
      <p:grpSp>
        <p:nvGrpSpPr>
          <p:cNvPr id="74" name="c2-table-1"/>
          <p:cNvGrpSpPr/>
          <p:nvPr/>
        </p:nvGrpSpPr>
        <p:grpSpPr>
          <a:xfrm>
            <a:off x="5593080" y="1524000"/>
            <a:ext cx="6065520" cy="4629627"/>
            <a:chOff x="5593080" y="1524000"/>
            <a:chExt cx="6065520" cy="4629627"/>
          </a:xfrm>
        </p:grpSpPr>
        <p:sp>
          <p:nvSpPr>
            <p:cNvPr id="38" name="Rectangle 38"/>
            <p:cNvSpPr/>
            <p:nvPr/>
          </p:nvSpPr>
          <p:spPr>
            <a:xfrm>
              <a:off x="5598795" y="1524000"/>
              <a:ext cx="6059805" cy="72199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05869" y="1658779"/>
              <a:ext cx="5554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扩展方</a:t>
              </a:r>
              <a:br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94856" y="178546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91258" y="178546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11523" y="178546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02998" y="2381726"/>
              <a:ext cx="5554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继承扩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94856" y="25084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21321" y="2381726"/>
              <a:ext cx="21785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派生子类，加方法或覆盖方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66401" y="250840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子类数量易爆炸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98795" y="29641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598795" y="2968942"/>
              <a:ext cx="605980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702998" y="3103721"/>
              <a:ext cx="5554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关联扩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94856" y="323040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21321" y="323040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新类长期持有对方引用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66401" y="3103721"/>
              <a:ext cx="12768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双方生命期要协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598795" y="36861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702998" y="3825716"/>
              <a:ext cx="5554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依赖扩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94856" y="395239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21321" y="3825716"/>
              <a:ext cx="21785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需要时才临时创建或接收对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66401" y="3825716"/>
              <a:ext cx="12768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每次都要拿到对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598795" y="44091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598795" y="4413885"/>
              <a:ext cx="605980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702998" y="4548664"/>
              <a:ext cx="5554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聚合扩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94856" y="46753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21321" y="4548664"/>
              <a:ext cx="21785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新类持有部分，但不管它的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生死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66401" y="467534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部分可能被共享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598795" y="51311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702998" y="5270659"/>
              <a:ext cx="5554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组合扩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794856" y="539734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21321" y="5270659"/>
              <a:ext cx="21785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新类持有部分并负责它的创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建与销毁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66401" y="539734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部分不能被共享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598795" y="1524000"/>
              <a:ext cx="6059805" cy="43338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563678" y="1524000"/>
              <a:ext cx="9525" cy="4333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412355" y="1524000"/>
              <a:ext cx="9525" cy="4333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957435" y="1524000"/>
              <a:ext cx="9525" cy="4333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593080" y="5933599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后四种统称“委托”：把活交给被持有的对象去干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97001" cy="909257"/>
            <a:chOff x="520446" y="342900"/>
            <a:chExt cx="66970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变化：类设计真正的难点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970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职责变化的适应：给 Some 增加一个 operC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755609" cy="264033"/>
            <a:chOff x="526542" y="1545907"/>
            <a:chExt cx="775560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7556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已有 Some 类，使用者只调用 operA 和 operB。现在要新增行为 operC，有继承和组合两条路。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735002" cy="3670935"/>
            <a:chOff x="533400" y="1928812"/>
            <a:chExt cx="5735002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735002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765358"/>
              <a:ext cx="569690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3756152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{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原有类，不动它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operB()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路线一：继承扩展，子类只补 operC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ExtSome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operC()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路线二：组合扩展，operA/operB 委托给 Some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WrapSome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some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operA() { some.operA();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operB() { some.operB();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operC()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8" name="c2-uml-1"/>
          <p:cNvGrpSpPr/>
          <p:nvPr/>
        </p:nvGrpSpPr>
        <p:grpSpPr>
          <a:xfrm>
            <a:off x="6849428" y="2119312"/>
            <a:ext cx="4532947" cy="1963103"/>
            <a:chOff x="6849428" y="2119312"/>
            <a:chExt cx="4532947" cy="1963103"/>
          </a:xfrm>
        </p:grpSpPr>
        <p:sp>
          <p:nvSpPr>
            <p:cNvPr id="14" name="Freeform 14"/>
            <p:cNvSpPr/>
            <p:nvPr/>
          </p:nvSpPr>
          <p:spPr>
            <a:xfrm>
              <a:off x="7420928" y="2995612"/>
              <a:ext cx="1599247" cy="336233"/>
            </a:xfrm>
            <a:custGeom>
              <a:avLst/>
              <a:gdLst/>
              <a:ahLst/>
              <a:cxnLst/>
              <a:rect l="l" t="t" r="r" b="b"/>
              <a:pathLst>
                <a:path w="1599247" h="336233">
                  <a:moveTo>
                    <a:pt x="0" y="336233"/>
                  </a:moveTo>
                  <a:lnTo>
                    <a:pt x="0" y="104775"/>
                  </a:lnTo>
                  <a:lnTo>
                    <a:pt x="1599247" y="104775"/>
                  </a:lnTo>
                  <a:lnTo>
                    <a:pt x="1599247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946832" y="286988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210675" y="2869882"/>
              <a:ext cx="1600200" cy="149542"/>
            </a:xfrm>
            <a:custGeom>
              <a:avLst/>
              <a:gdLst/>
              <a:ahLst/>
              <a:cxnLst/>
              <a:rect l="l" t="t" r="r" b="b"/>
              <a:pathLst>
                <a:path w="1600200" h="149542">
                  <a:moveTo>
                    <a:pt x="0" y="0"/>
                  </a:moveTo>
                  <a:lnTo>
                    <a:pt x="0" y="149542"/>
                  </a:lnTo>
                  <a:lnTo>
                    <a:pt x="1600200" y="149542"/>
                  </a:lnTo>
                  <a:lnTo>
                    <a:pt x="1600200" y="90488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0753725" y="2960370"/>
              <a:ext cx="115252" cy="209550"/>
            </a:xfrm>
            <a:custGeom>
              <a:avLst/>
              <a:gdLst/>
              <a:ahLst/>
              <a:cxnLst/>
              <a:rect l="l" t="t" r="r" b="b"/>
              <a:pathLst>
                <a:path w="115252" h="209550">
                  <a:moveTo>
                    <a:pt x="57150" y="209550"/>
                  </a:moveTo>
                  <a:lnTo>
                    <a:pt x="0" y="104775"/>
                  </a:lnTo>
                  <a:lnTo>
                    <a:pt x="57150" y="0"/>
                  </a:lnTo>
                  <a:lnTo>
                    <a:pt x="115252" y="104775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543925" y="2119312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551545" y="212598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543925" y="23498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543925" y="24450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849428" y="333184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6095" y="333946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49428" y="35623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49428" y="365760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239375" y="3169920"/>
              <a:ext cx="1143000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0246995" y="3176588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0239375" y="34004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239375" y="34956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41891" y="2175034"/>
              <a:ext cx="347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Some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15362" y="2514600"/>
              <a:ext cx="54673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operB()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30927" y="3387566"/>
              <a:ext cx="5800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ExtSome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20865" y="3727132"/>
              <a:ext cx="5854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operC()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68760" y="3225641"/>
              <a:ext cx="6842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WrapSome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10812" y="3565208"/>
              <a:ext cx="546735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operB()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operC()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848850" y="2823210"/>
              <a:ext cx="3238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84854" y="284607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委托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573202" y="4361498"/>
            <a:ext cx="5085398" cy="1238250"/>
            <a:chOff x="6573202" y="4361498"/>
            <a:chExt cx="5085398" cy="1238250"/>
          </a:xfrm>
        </p:grpSpPr>
        <p:sp>
          <p:nvSpPr>
            <p:cNvPr id="39" name="Rectangle 39"/>
            <p:cNvSpPr/>
            <p:nvPr/>
          </p:nvSpPr>
          <p:spPr>
            <a:xfrm>
              <a:off x="6573202" y="4361498"/>
              <a:ext cx="5085398" cy="1238250"/>
            </a:xfrm>
            <a:prstGeom prst="roundRect">
              <a:avLst>
                <a:gd name="adj" fmla="val 10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582728" y="4494848"/>
              <a:ext cx="47625" cy="9715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97992" y="45481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89712" y="45810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91134" y="4892992"/>
              <a:ext cx="43599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原课件组合版写作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operB() { mpSome-&gt;operC(); }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托错了方法，应为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some.operB()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5" name="Rectangle 4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6028373"/>
              <a:ext cx="9049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继承版 ExtSome 仍然是 Some，可以传给只认 Some 的老代码；组合版 WrapSome 不是 Some，老代码接不住。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变化：类设计真正的难点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实现变化的适应：先抽出接口，再换实现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381333" cy="264033"/>
            <a:chOff x="526542" y="1545907"/>
            <a:chExt cx="838133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3813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要换掉 Some 的数据表示或某个方法的实现，同时不惊动使用者，办法是让新旧两个类实现同一个接口。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276022" cy="3670935"/>
            <a:chOff x="533400" y="1928812"/>
            <a:chExt cx="6276022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276022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4390898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ISome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operA();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operB();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ISome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旧的数据表示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operB()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路线一：继承 + 覆盖，子类给出新实现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NewSome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{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operA() { }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路线二：新类组合旧类，对外仍是 ISome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OtherSome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ISome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data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[64];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old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operA() { }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用新表示重写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operB() { old.operB();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0" name="c2-uml-1"/>
          <p:cNvGrpSpPr/>
          <p:nvPr/>
        </p:nvGrpSpPr>
        <p:grpSpPr>
          <a:xfrm>
            <a:off x="7679055" y="2010728"/>
            <a:ext cx="3414713" cy="1790699"/>
            <a:chOff x="7679055" y="2010728"/>
            <a:chExt cx="3414713" cy="1790699"/>
          </a:xfrm>
        </p:grpSpPr>
        <p:sp>
          <p:nvSpPr>
            <p:cNvPr id="13" name="Freeform 13"/>
            <p:cNvSpPr/>
            <p:nvPr/>
          </p:nvSpPr>
          <p:spPr>
            <a:xfrm>
              <a:off x="8250555" y="3024188"/>
              <a:ext cx="1040130" cy="189547"/>
            </a:xfrm>
            <a:custGeom>
              <a:avLst/>
              <a:gdLst/>
              <a:ahLst/>
              <a:cxnLst/>
              <a:rect l="l" t="t" r="r" b="b"/>
              <a:pathLst>
                <a:path w="1040130" h="189547">
                  <a:moveTo>
                    <a:pt x="0" y="189547"/>
                  </a:moveTo>
                  <a:lnTo>
                    <a:pt x="0" y="31433"/>
                  </a:lnTo>
                  <a:lnTo>
                    <a:pt x="1040130" y="31433"/>
                  </a:lnTo>
                  <a:lnTo>
                    <a:pt x="104013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9217342" y="289845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481185" y="3024188"/>
              <a:ext cx="1041083" cy="189547"/>
            </a:xfrm>
            <a:custGeom>
              <a:avLst/>
              <a:gdLst/>
              <a:ahLst/>
              <a:cxnLst/>
              <a:rect l="l" t="t" r="r" b="b"/>
              <a:pathLst>
                <a:path w="1041083" h="189547">
                  <a:moveTo>
                    <a:pt x="1041083" y="189547"/>
                  </a:moveTo>
                  <a:lnTo>
                    <a:pt x="1041083" y="31433"/>
                  </a:lnTo>
                  <a:lnTo>
                    <a:pt x="0" y="3143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9407842" y="289845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822055" y="3507105"/>
              <a:ext cx="919162" cy="9525"/>
            </a:xfrm>
            <a:custGeom>
              <a:avLst/>
              <a:gdLst/>
              <a:ahLst/>
              <a:cxnLst/>
              <a:rect l="l" t="t" r="r" b="b"/>
              <a:pathLst>
                <a:path w="919162" h="9525">
                  <a:moveTo>
                    <a:pt x="0" y="0"/>
                  </a:moveTo>
                  <a:lnTo>
                    <a:pt x="91916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741218" y="3449955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209550" y="57150"/>
                  </a:moveTo>
                  <a:lnTo>
                    <a:pt x="104775" y="115253"/>
                  </a:lnTo>
                  <a:lnTo>
                    <a:pt x="0" y="5715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814435" y="2010728"/>
              <a:ext cx="1143000" cy="88773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822055" y="2018348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814435" y="23783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814435" y="24736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79055" y="321373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85722" y="322040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79055" y="34442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79055" y="370141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950768" y="321373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958388" y="3220402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950768" y="34442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950768" y="370141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1046" y="2063591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89740" y="2203609"/>
              <a:ext cx="392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ISome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85872" y="2543175"/>
              <a:ext cx="54673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operB()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77021" y="3269456"/>
              <a:ext cx="347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Some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50492" y="3513773"/>
              <a:ext cx="6516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data: int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42102" y="3269456"/>
              <a:ext cx="7603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OtherSome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22205" y="3513773"/>
              <a:ext cx="8515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data: long[]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049702" y="3310890"/>
              <a:ext cx="67246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73157" y="3333750"/>
              <a:ext cx="6255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委托 operB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7114222" y="4198620"/>
            <a:ext cx="4544378" cy="1401128"/>
            <a:chOff x="7114222" y="4198620"/>
            <a:chExt cx="4544378" cy="1401128"/>
          </a:xfrm>
        </p:grpSpPr>
        <p:sp>
          <p:nvSpPr>
            <p:cNvPr id="41" name="Rectangle 41"/>
            <p:cNvSpPr/>
            <p:nvPr/>
          </p:nvSpPr>
          <p:spPr>
            <a:xfrm>
              <a:off x="7114222" y="4198620"/>
              <a:ext cx="4544378" cy="1401128"/>
            </a:xfrm>
            <a:prstGeom prst="roundRect">
              <a:avLst>
                <a:gd name="adj" fmla="val 95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23748" y="4331970"/>
              <a:ext cx="47625" cy="11344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33298" y="437959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25017" y="44124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26820" y="4719161"/>
              <a:ext cx="389001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原课件接口里写作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virtual ~Some()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virtual void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opera()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，析构函数名和方法名大小写都写错了，应为</a:t>
              </a:r>
              <a:br/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~ISome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operA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1273" y="6039326"/>
              <a:ext cx="64075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继承路线不必改使用者；组合路线要把使用者手里持有的类型从 Some 换成 ISome。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变化：类设计真正的难点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只靠派生子类会失控：子类数量按乘法增长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516380"/>
            <a:chOff x="533400" y="1524000"/>
            <a:chExt cx="5410200" cy="15163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534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如果 operA 有多种实现，operB 也有多种实现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915918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operA() { }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有 m 种实现变化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operB() { }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有 n 种实现变化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27685" y="3230880"/>
            <a:ext cx="5415915" cy="2091214"/>
            <a:chOff x="527685" y="3230880"/>
            <a:chExt cx="5415915" cy="2091214"/>
          </a:xfrm>
        </p:grpSpPr>
        <p:sp>
          <p:nvSpPr>
            <p:cNvPr id="11" name="Rectangle 11"/>
            <p:cNvSpPr/>
            <p:nvPr/>
          </p:nvSpPr>
          <p:spPr>
            <a:xfrm>
              <a:off x="533400" y="3230880"/>
              <a:ext cx="5410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4785" y="3366611"/>
              <a:ext cx="1260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operA 的实现数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37845" y="3366611"/>
              <a:ext cx="1260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operB 的实现数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142" y="336661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需要的子类数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8697" y="381523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14127" y="38152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07697" y="38152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1233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412813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88697" y="42638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14127" y="426386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60311" y="426386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5729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70605" y="4712494"/>
              <a:ext cx="1486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14127" y="47124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789045" y="4587240"/>
              <a:ext cx="214503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3999" y="4712494"/>
              <a:ext cx="4351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× 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23088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151698" y="323088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774758" y="323088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510206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每种组合都得单独写一个子类，两个维度相乘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5468302"/>
            <a:ext cx="5410200" cy="782955"/>
            <a:chOff x="533400" y="5468302"/>
            <a:chExt cx="5410200" cy="782955"/>
          </a:xfrm>
        </p:grpSpPr>
        <p:sp>
          <p:nvSpPr>
            <p:cNvPr id="33" name="Rectangle 33"/>
            <p:cNvSpPr/>
            <p:nvPr/>
          </p:nvSpPr>
          <p:spPr>
            <a:xfrm>
              <a:off x="533400" y="546830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5756076"/>
              <a:ext cx="224134" cy="192560"/>
              <a:chOff x="726129" y="5756076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58264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57560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9042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61689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若派生出的子类太多、太频繁，还不如直接改源码。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减少子类数量因此成了必须解决的问题。</a:t>
              </a:r>
            </a:p>
          </p:txBody>
        </p:sp>
      </p:grpSp>
      <p:grpSp>
        <p:nvGrpSpPr>
          <p:cNvPr id="42" name="c2-image-1"/>
          <p:cNvGrpSpPr/>
          <p:nvPr/>
        </p:nvGrpSpPr>
        <p:grpSpPr>
          <a:xfrm>
            <a:off x="6248400" y="1524000"/>
            <a:ext cx="5410200" cy="4863942"/>
            <a:chOff x="6248400" y="1524000"/>
            <a:chExt cx="5410200" cy="4863942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rcRect l="5402" t="0" r="5402" b="0"/>
            <a:stretch>
              <a:fillRect/>
            </a:stretch>
          </p:blipFill>
          <p:spPr>
            <a:xfrm>
              <a:off x="6248400" y="1524000"/>
              <a:ext cx="5410200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6836943" y="6167914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把易变的部分做成规格统一、可插拔的模块，机壳就不用跟着改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变化：类设计真正的难点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把实现委托出去：两个维度各自独立变化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763778" cy="278702"/>
            <a:chOff x="526161" y="1547336"/>
            <a:chExt cx="776377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7637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给每个易变的方法配一个实现接口，Some 只持有接口引用。子类数量从 m × n 降到 m + n。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41195"/>
            <a:ext cx="5951220" cy="3533775"/>
            <a:chOff x="533400" y="1941195"/>
            <a:chExt cx="5951220" cy="353377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951220" cy="3533775"/>
            </a:xfrm>
            <a:prstGeom prst="roundRect">
              <a:avLst>
                <a:gd name="adj" fmla="val 26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587240"/>
              <a:ext cx="591312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776788"/>
              <a:ext cx="591312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416" y="2354580"/>
              <a:ext cx="4777931" cy="3048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ImpA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doA(Some s); 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ImpB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doB(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每种实现变化各写一个小类，互不干扰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ImpA01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ImpA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doA(Some s) { } 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ImpA02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ImpA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doA(Some s) { } 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ImpB01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ImpB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doB(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 { }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ImpA impA;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ImpB impB;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Some(ImpA a, ImpB b)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.impA = a;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.impB = b;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operA() { impA.doA(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operB() { impB.doB(data);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0" name="c2-uml-1"/>
          <p:cNvGrpSpPr/>
          <p:nvPr/>
        </p:nvGrpSpPr>
        <p:grpSpPr>
          <a:xfrm>
            <a:off x="7029450" y="2106930"/>
            <a:ext cx="4389120" cy="1746885"/>
            <a:chOff x="7029450" y="2106930"/>
            <a:chExt cx="4389120" cy="1746885"/>
          </a:xfrm>
        </p:grpSpPr>
        <p:sp>
          <p:nvSpPr>
            <p:cNvPr id="15" name="Freeform 15"/>
            <p:cNvSpPr/>
            <p:nvPr/>
          </p:nvSpPr>
          <p:spPr>
            <a:xfrm>
              <a:off x="8172450" y="2505075"/>
              <a:ext cx="270510" cy="9525"/>
            </a:xfrm>
            <a:custGeom>
              <a:avLst/>
              <a:gdLst/>
              <a:ahLst/>
              <a:cxnLst/>
              <a:rect l="l" t="t" r="r" b="b"/>
              <a:pathLst>
                <a:path w="270510" h="9525">
                  <a:moveTo>
                    <a:pt x="0" y="0"/>
                  </a:moveTo>
                  <a:lnTo>
                    <a:pt x="27051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442960" y="2446972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209550" y="58103"/>
                  </a:moveTo>
                  <a:lnTo>
                    <a:pt x="104775" y="115253"/>
                  </a:lnTo>
                  <a:lnTo>
                    <a:pt x="0" y="58103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0005060" y="2505075"/>
              <a:ext cx="270510" cy="9525"/>
            </a:xfrm>
            <a:custGeom>
              <a:avLst/>
              <a:gdLst/>
              <a:ahLst/>
              <a:cxnLst/>
              <a:rect l="l" t="t" r="r" b="b"/>
              <a:pathLst>
                <a:path w="270510" h="9525">
                  <a:moveTo>
                    <a:pt x="27051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795510" y="2446972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505700" y="3014662"/>
              <a:ext cx="95250" cy="395288"/>
            </a:xfrm>
            <a:custGeom>
              <a:avLst/>
              <a:gdLst/>
              <a:ahLst/>
              <a:cxnLst/>
              <a:rect l="l" t="t" r="r" b="b"/>
              <a:pathLst>
                <a:path w="95250" h="395288">
                  <a:moveTo>
                    <a:pt x="95250" y="395288"/>
                  </a:moveTo>
                  <a:lnTo>
                    <a:pt x="95250" y="135255"/>
                  </a:lnTo>
                  <a:lnTo>
                    <a:pt x="0" y="13525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7432358" y="288893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696200" y="3014662"/>
              <a:ext cx="1527810" cy="395288"/>
            </a:xfrm>
            <a:custGeom>
              <a:avLst/>
              <a:gdLst/>
              <a:ahLst/>
              <a:cxnLst/>
              <a:rect l="l" t="t" r="r" b="b"/>
              <a:pathLst>
                <a:path w="1527810" h="395288">
                  <a:moveTo>
                    <a:pt x="1527810" y="395288"/>
                  </a:moveTo>
                  <a:lnTo>
                    <a:pt x="1527810" y="135255"/>
                  </a:lnTo>
                  <a:lnTo>
                    <a:pt x="0" y="13525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7622858" y="288893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847070" y="3014662"/>
              <a:ext cx="9525" cy="395288"/>
            </a:xfrm>
            <a:custGeom>
              <a:avLst/>
              <a:gdLst/>
              <a:ahLst/>
              <a:cxnLst/>
              <a:rect l="l" t="t" r="r" b="b"/>
              <a:pathLst>
                <a:path w="9525" h="395288">
                  <a:moveTo>
                    <a:pt x="0" y="39528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10773728" y="288893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29450" y="2121218"/>
              <a:ext cx="1143000" cy="7686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037070" y="2127885"/>
              <a:ext cx="1128712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29450" y="251841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29450" y="26136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652510" y="2106930"/>
              <a:ext cx="1143000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659178" y="2114550"/>
              <a:ext cx="1128712" cy="24574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652510" y="23555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652510" y="24507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275570" y="2121218"/>
              <a:ext cx="1143000" cy="7686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282238" y="2127885"/>
              <a:ext cx="1128712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275570" y="251841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275570" y="26136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29450" y="340995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037070" y="341661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029450" y="36585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029450" y="37538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652510" y="340995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659178" y="341661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652510" y="36585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652510" y="37538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275570" y="340995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282238" y="341661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275570" y="36585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275570" y="37538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44829" y="2178368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31550" y="2329815"/>
              <a:ext cx="338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00697" y="2684621"/>
              <a:ext cx="8142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doA(Some)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38053" y="2166938"/>
              <a:ext cx="371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Some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23757" y="2521744"/>
              <a:ext cx="594868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operB()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90949" y="2178368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677670" y="2329815"/>
              <a:ext cx="338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46817" y="2684621"/>
              <a:ext cx="67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doB(int)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47610" y="3469958"/>
              <a:ext cx="506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ImpA01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70670" y="3469958"/>
              <a:ext cx="506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ImpA02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593730" y="3469958"/>
              <a:ext cx="506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ImpB01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789420" y="4370070"/>
            <a:ext cx="4869180" cy="1209675"/>
            <a:chOff x="6789420" y="4370070"/>
            <a:chExt cx="4869180" cy="1209675"/>
          </a:xfrm>
        </p:grpSpPr>
        <p:sp>
          <p:nvSpPr>
            <p:cNvPr id="61" name="Rectangle 61"/>
            <p:cNvSpPr/>
            <p:nvPr/>
          </p:nvSpPr>
          <p:spPr>
            <a:xfrm>
              <a:off x="6789420" y="4370070"/>
              <a:ext cx="486918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798945" y="450342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019925" y="456247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11365" y="45967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13067" y="4919662"/>
              <a:ext cx="42571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原课件写作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mImpA-&gt;doB(mData)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，拿 ImpA 的引用去调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ImpB 的方法，编译通不过，应为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impB.doB(data)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7" name="Rectangle 6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3610"/>
              <a:ext cx="6519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这套“抽象持有实现、两边各自派生”的写法，正是桥接模式（第 21 讲）的骨架。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变化：类设计真正的难点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谁来决定用哪个实现：依赖倒转与控制反转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412660" cy="264033"/>
            <a:chOff x="526542" y="1545907"/>
            <a:chExt cx="84126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4126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实现抽出来之后还剩一个问题：那句 new ImpA01() 写在谁那里。写在使用者那里，使用者就被绑死了。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167438" cy="2967990"/>
            <a:chOff x="533400" y="1928812"/>
            <a:chExt cx="6167438" cy="296799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167438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28557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版本一：Client 亲自决定，换实现就得改 Client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4135755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xxx();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 a;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B(IA a)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.a = a; }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构造注入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func() { a.xxx();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call()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IA a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ImpA01();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Client 控制实现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B(a).func();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5066348"/>
            <a:ext cx="6167438" cy="1209675"/>
            <a:chOff x="533400" y="5066348"/>
            <a:chExt cx="6167438" cy="1209675"/>
          </a:xfrm>
        </p:grpSpPr>
        <p:sp>
          <p:nvSpPr>
            <p:cNvPr id="13" name="Rectangle 13"/>
            <p:cNvSpPr/>
            <p:nvPr/>
          </p:nvSpPr>
          <p:spPr>
            <a:xfrm>
              <a:off x="533400" y="5066348"/>
              <a:ext cx="6167438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5218271"/>
              <a:ext cx="27565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版本二：交给容器，Client 和 B 都不再写 new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797" y="5478304"/>
              <a:ext cx="3843274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B2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 a = AMgr.getAByClassName(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"ImpA01"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func() { a.xxx();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2-card-1"/>
          <p:cNvGrpSpPr/>
          <p:nvPr/>
        </p:nvGrpSpPr>
        <p:grpSpPr>
          <a:xfrm>
            <a:off x="7005638" y="1928812"/>
            <a:ext cx="4652962" cy="1459230"/>
            <a:chOff x="7005638" y="1928812"/>
            <a:chExt cx="4652962" cy="1459230"/>
          </a:xfrm>
        </p:grpSpPr>
        <p:sp>
          <p:nvSpPr>
            <p:cNvPr id="17" name="Rectangle 17"/>
            <p:cNvSpPr/>
            <p:nvPr/>
          </p:nvSpPr>
          <p:spPr>
            <a:xfrm>
              <a:off x="7005638" y="1928812"/>
              <a:ext cx="4652962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015162" y="206216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30428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23099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原则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96974" y="2150745"/>
              <a:ext cx="17498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依赖倒转原则（DIP）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23570" y="2476500"/>
              <a:ext cx="39742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“倒转”是相对结构化设计而言的：结构化设计里高层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依赖底层的具体实现；面向对象里高层只依赖底层的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抽象类和接口，底层的实现类反过来依赖抽象。</a:t>
              </a:r>
            </a:p>
          </p:txBody>
        </p:sp>
      </p:grpSp>
      <p:grpSp>
        <p:nvGrpSpPr>
          <p:cNvPr id="32" name="c2-kv-2"/>
          <p:cNvGrpSpPr/>
          <p:nvPr/>
        </p:nvGrpSpPr>
        <p:grpSpPr>
          <a:xfrm>
            <a:off x="6998780" y="3580448"/>
            <a:ext cx="4659820" cy="1809940"/>
            <a:chOff x="6998780" y="3580448"/>
            <a:chExt cx="4659820" cy="1809940"/>
          </a:xfrm>
        </p:grpSpPr>
        <p:sp>
          <p:nvSpPr>
            <p:cNvPr id="24" name="TextBox 24"/>
            <p:cNvSpPr txBox="1"/>
            <p:nvPr/>
          </p:nvSpPr>
          <p:spPr>
            <a:xfrm>
              <a:off x="6998780" y="358044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版本一的问题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80882" y="3580448"/>
              <a:ext cx="277406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Client 既要管流程，又要管选实现，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责任过重；换实现必须改 Client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05638" y="4120515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98780" y="4226242"/>
              <a:ext cx="14267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IOC（控制反转）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80882" y="4226242"/>
              <a:ext cx="277406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把“选哪个实现”的控制权从使用者手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里拿走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005638" y="4766310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98780" y="48729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依赖注入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80882" y="4872990"/>
              <a:ext cx="27569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AMgr 看成一个容器，由容器把实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现对象送进来，就是依赖注入</a:t>
              </a:r>
            </a:p>
          </p:txBody>
        </p:sp>
      </p:grpSp>
      <p:grpSp>
        <p:nvGrpSpPr>
          <p:cNvPr id="39" name="c2-callout-3"/>
          <p:cNvGrpSpPr/>
          <p:nvPr/>
        </p:nvGrpSpPr>
        <p:grpSpPr>
          <a:xfrm>
            <a:off x="7005638" y="5507355"/>
            <a:ext cx="4652962" cy="768668"/>
            <a:chOff x="7005638" y="5507355"/>
            <a:chExt cx="4652962" cy="768668"/>
          </a:xfrm>
        </p:grpSpPr>
        <p:sp>
          <p:nvSpPr>
            <p:cNvPr id="33" name="Rectangle 33"/>
            <p:cNvSpPr/>
            <p:nvPr/>
          </p:nvSpPr>
          <p:spPr>
            <a:xfrm>
              <a:off x="7005638" y="5507355"/>
              <a:ext cx="4652962" cy="768668"/>
            </a:xfrm>
            <a:prstGeom prst="roundRect">
              <a:avLst>
                <a:gd name="adj" fmla="val 1487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10425" y="5791200"/>
              <a:ext cx="200026" cy="200025"/>
              <a:chOff x="7210425" y="5791200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210425" y="57912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50164" y="58356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84879" y="59467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513130" y="5673090"/>
              <a:ext cx="38027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记住这条线索：抽象出接口只解决“能不能换”，控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制反转才解决“由谁来换”。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246114" cy="2997517"/>
            <a:chOff x="667512" y="1835468"/>
            <a:chExt cx="624611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从复用走到设计模式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关系模型是工具，设计原则是准则，模式是两者反复配合的成品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继承复用与组合复用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七条设计原则总览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模式的定义、要素与分类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从复用走到设计模式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复用的两条路：继承复用与组合复用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139440"/>
            <a:chOff x="533400" y="1524000"/>
            <a:chExt cx="5410200" cy="3139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297174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service()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继承方式复用 A：EA 就是一个 A */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组合方式复用 A：EA2 内部有一个 A */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EA2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a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service() { a.service();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849178"/>
            <a:ext cx="5410200" cy="929640"/>
            <a:chOff x="533400" y="4849178"/>
            <a:chExt cx="5410200" cy="929640"/>
          </a:xfrm>
        </p:grpSpPr>
        <p:sp>
          <p:nvSpPr>
            <p:cNvPr id="11" name="Rectangle 11"/>
            <p:cNvSpPr/>
            <p:nvPr/>
          </p:nvSpPr>
          <p:spPr>
            <a:xfrm>
              <a:off x="533400" y="4849178"/>
              <a:ext cx="5410200" cy="929640"/>
            </a:xfrm>
            <a:prstGeom prst="roundRect">
              <a:avLst>
                <a:gd name="adj" fmla="val 12295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213987"/>
              <a:ext cx="200023" cy="200023"/>
              <a:chOff x="738188" y="5213987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2139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52806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511" y="5083016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组合优先原则：能用组合表达的关系就别用继承。继承是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编译期就定死的强约束，组合可以在运行期换对象。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248400" y="1524000"/>
            <a:ext cx="5410200" cy="2794635"/>
            <a:chOff x="6248400" y="1524000"/>
            <a:chExt cx="5410200" cy="2794635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0293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713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继承复用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28338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组合复用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3747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60589" y="2085022"/>
              <a:ext cx="8808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 是一个 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61791" y="2085022"/>
              <a:ext cx="974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EA2 有一个 A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3747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绑定时机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60589" y="251555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编译期固定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665970" y="2393632"/>
              <a:ext cx="198310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61791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运行期可替换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3747" y="30527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60589" y="2946082"/>
              <a:ext cx="11170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子类看得见父类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 细节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61791" y="305276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只能通过公开接口访问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34528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345757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3747" y="358902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父类改动的影响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60589" y="358902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直接波及所有子类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61791" y="358902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只要接口不变就不受影响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8833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3747" y="40195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类数量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60589" y="401955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组合维度多时按乘法增长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665970" y="3897630"/>
              <a:ext cx="198310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761791" y="40195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按加法增长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27946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50480" y="1524000"/>
              <a:ext cx="9525" cy="2794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51682" y="1524000"/>
              <a:ext cx="9525" cy="2794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2"/>
          <p:cNvGrpSpPr/>
          <p:nvPr/>
        </p:nvGrpSpPr>
        <p:grpSpPr>
          <a:xfrm>
            <a:off x="6248400" y="4503420"/>
            <a:ext cx="5410200" cy="1274445"/>
            <a:chOff x="6248400" y="4503420"/>
            <a:chExt cx="5410200" cy="1274445"/>
          </a:xfrm>
        </p:grpSpPr>
        <p:sp>
          <p:nvSpPr>
            <p:cNvPr id="48" name="Rectangle 48"/>
            <p:cNvSpPr/>
            <p:nvPr/>
          </p:nvSpPr>
          <p:spPr>
            <a:xfrm>
              <a:off x="6248400" y="4503420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463677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90335" y="470725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50990" y="474297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什么时候仍该用继承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83096" y="508015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子类确实是父类的一种特殊情况，并且满足里氏替换：任何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出现父类的地方都能换成子类对象而程序照常工作。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从复用走到设计模式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关系模型是工具，设计原则是准则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999017" cy="278702"/>
            <a:chOff x="526161" y="1547336"/>
            <a:chExt cx="899901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999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面向对象设计就是在原则的约束下，反复用这几种关系搭结构；搭出来被验证有效的定式，就是设计模式。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28066" y="1941195"/>
            <a:ext cx="4983099" cy="4112514"/>
            <a:chOff x="528066" y="1941195"/>
            <a:chExt cx="4983099" cy="4112514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977765" cy="44481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962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70180" y="2069782"/>
              <a:ext cx="810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UML 记号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86784" y="20697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962" y="263461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27632" y="263461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虚线箭头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21152" y="2514600"/>
              <a:ext cx="20711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临时用一下对方（参数、局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部变量）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660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70860"/>
              <a:ext cx="4977765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962" y="319849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27632" y="319849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实线箭头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21152" y="319849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长期持有对方的引用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109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962" y="376332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27632" y="376332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空心菱形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21152" y="3643312"/>
              <a:ext cx="20711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整体持有部分，不管部分的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1957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200525"/>
              <a:ext cx="497776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2962" y="44481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27632" y="44481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实心菱形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21152" y="4328160"/>
              <a:ext cx="20711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整体持有部分，并负责部分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的生死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8796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2962" y="501300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27632" y="501300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空心三角实线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21152" y="501300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子类继承父类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3244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329238"/>
              <a:ext cx="4977765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2962" y="54578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27632" y="54578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空心三角虚线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21152" y="54578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实现类实现接口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941195"/>
              <a:ext cx="4977765" cy="38328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524000" y="1941195"/>
              <a:ext cx="9525" cy="3832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017520" y="1941195"/>
              <a:ext cx="9525" cy="3832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8066" y="5848350"/>
              <a:ext cx="957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细讲见第 01 讲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5815965" y="1941195"/>
            <a:ext cx="5842635" cy="2071688"/>
            <a:chOff x="5815965" y="1941195"/>
            <a:chExt cx="5842635" cy="2071688"/>
          </a:xfrm>
        </p:grpSpPr>
        <p:sp>
          <p:nvSpPr>
            <p:cNvPr id="44" name="Rectangle 44"/>
            <p:cNvSpPr/>
            <p:nvPr/>
          </p:nvSpPr>
          <p:spPr>
            <a:xfrm>
              <a:off x="5815965" y="1941195"/>
              <a:ext cx="5842635" cy="2071688"/>
            </a:xfrm>
            <a:prstGeom prst="roundRect">
              <a:avLst>
                <a:gd name="adj" fmla="val 643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08370" y="213360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75807" y="216789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三组容易混的判定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016942" y="25469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72962" y="2490788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依赖还是关联：对方是不是这个类的成员变量。是成员就是关联，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只在方法里出现就是依赖。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016942" y="310610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72962" y="3049905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聚合还是组合：整体消失时部分是否跟着消失。跟着消失是组合，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能独立存在是聚合。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016942" y="366617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72962" y="3609975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泛化还是实现：父方是普通类就是泛化，父方是接口就是实现。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5815965" y="4188142"/>
            <a:ext cx="5842635" cy="1254442"/>
            <a:chOff x="5815965" y="4188142"/>
            <a:chExt cx="5842635" cy="1254442"/>
          </a:xfrm>
        </p:grpSpPr>
        <p:sp>
          <p:nvSpPr>
            <p:cNvPr id="54" name="Rectangle 54"/>
            <p:cNvSpPr/>
            <p:nvPr/>
          </p:nvSpPr>
          <p:spPr>
            <a:xfrm>
              <a:off x="5815965" y="4188142"/>
              <a:ext cx="5842635" cy="1254442"/>
            </a:xfrm>
            <a:prstGeom prst="roundRect">
              <a:avLst>
                <a:gd name="adj" fmla="val 106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25490" y="4321492"/>
              <a:ext cx="47625" cy="9877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46470" y="438054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41911" y="441483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39612" y="473773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计算机与网卡是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聚合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：网卡拆下来插到别的机器上照样能用。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39612" y="503967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人与四肢是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组合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：人不在了，四肢也就不存在了。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5815965" y="5617845"/>
            <a:ext cx="5842635" cy="729615"/>
            <a:chOff x="5815965" y="5617845"/>
            <a:chExt cx="5842635" cy="729615"/>
          </a:xfrm>
        </p:grpSpPr>
        <p:sp>
          <p:nvSpPr>
            <p:cNvPr id="61" name="Rectangle 61"/>
            <p:cNvSpPr/>
            <p:nvPr/>
          </p:nvSpPr>
          <p:spPr>
            <a:xfrm>
              <a:off x="5815965" y="5617845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008694" y="5878948"/>
              <a:ext cx="224134" cy="192560"/>
              <a:chOff x="6008694" y="5878948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120765" y="59493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008694" y="58789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120765" y="6027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323457" y="5764530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画错方向是最常见的失分点：菱形一律画在整体一端，空心三角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一律指向父类或接口。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44599" cy="909257"/>
            <a:chOff x="520446" y="342900"/>
            <a:chExt cx="54445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从复用走到设计模式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445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九条设计准则：第 02 讲会逐条展开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table-1"/>
          <p:cNvGrpSpPr/>
          <p:nvPr/>
        </p:nvGrpSpPr>
        <p:grpSpPr>
          <a:xfrm>
            <a:off x="533400" y="1524000"/>
            <a:ext cx="11125200" cy="4057650"/>
            <a:chOff x="533400" y="1524000"/>
            <a:chExt cx="11125200" cy="4057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654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0302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0060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5771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根本原则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23148" y="1939290"/>
              <a:ext cx="287369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13635" y="2054066"/>
              <a:ext cx="957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 OCP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06378" y="205406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对扩展开放，对修改关闭。所有其他原则都是为它服务的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15771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基本原则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13635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抽象与封装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06378" y="2459831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分离稳定与变化，封装变化，为变化抽象出接口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5771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基本原则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13635" y="28655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针对接口编程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06378" y="286559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成员和参数的类型写接口，不写具体实现类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15771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基本原则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13635" y="3271361"/>
              <a:ext cx="925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组合优先 CRP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06378" y="327136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优先用组合复用，其次才考虑继承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15771" y="36771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具体原则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13635" y="3677126"/>
              <a:ext cx="925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单一职责 SRP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06378" y="367712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一个类只承担一类职责，不要定义巨型类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95859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15771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具体原则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13635" y="4082891"/>
              <a:ext cx="925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里氏替换 LSP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06378" y="408289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任何出现父类的地方都能换成子类对象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359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15771" y="4488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具体原则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13635" y="4488656"/>
              <a:ext cx="885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依赖倒转 DIP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06378" y="448865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高层只依赖底层的抽象，实现类反过来依赖抽象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765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77012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15771" y="48944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具体原则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13635" y="4894421"/>
              <a:ext cx="885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接口隔离 ISP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06378" y="489442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一个接口的职责不要太多，拆成多个小接口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51711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15771" y="53001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具体原则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413635" y="5300186"/>
              <a:ext cx="10704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 LoD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06378" y="530018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引入中间类代为交互，减少类之间直接打交道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524000"/>
              <a:ext cx="11125200" cy="40576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2308860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201602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5" name="Rectangle 5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3610"/>
              <a:ext cx="8555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这九条里，开闭原则是目标，其余八条是达成目标的手段。判断一个设计好不好，先问它对扩展是否开放。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从复用走到设计模式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设计模式的定义与四个要素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954530"/>
            <a:chOff x="533400" y="1524000"/>
            <a:chExt cx="5410200" cy="19545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54530"/>
            </a:xfrm>
            <a:prstGeom prst="roundRect">
              <a:avLst>
                <a:gd name="adj" fmla="val 68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783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设计模式是在特定环境下为解决某一通用软件设计问题提供的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一套定制的解决方案，该方案描述了对象和类之间的相互作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2903696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拆开看有四层意思：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特定环境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通用问题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定制方案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类与对象的相互作</a:t>
              </a:r>
              <a:br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2" name="c1-steps-2"/>
          <p:cNvGrpSpPr/>
          <p:nvPr/>
        </p:nvGrpSpPr>
        <p:grpSpPr>
          <a:xfrm>
            <a:off x="533400" y="3663315"/>
            <a:ext cx="2852283" cy="2280762"/>
            <a:chOff x="533400" y="3663315"/>
            <a:chExt cx="2852283" cy="2280762"/>
          </a:xfrm>
        </p:grpSpPr>
        <p:sp>
          <p:nvSpPr>
            <p:cNvPr id="15" name="Rectangle 15"/>
            <p:cNvSpPr/>
            <p:nvPr/>
          </p:nvSpPr>
          <p:spPr>
            <a:xfrm>
              <a:off x="666750" y="380619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366331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37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2500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323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83774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9115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542448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7024" y="5498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6947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模式名称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962876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一个便于交流的短名字，如“观察者”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28244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应用场景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54961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在什么问题和约束下才该用它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486918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解决方案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51363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参与的角色、类图结构与协作方式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642" y="545592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效果及说明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785" y="5724049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带来的好处、付出的代价、注意事项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6248400" y="1524000"/>
            <a:ext cx="5410200" cy="1823085"/>
            <a:chOff x="6248400" y="1524000"/>
            <a:chExt cx="5410200" cy="1823085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8722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8548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粒度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9526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48412" y="2054066"/>
              <a:ext cx="810463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框架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Framework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39038" y="2054066"/>
              <a:ext cx="1007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一类软件的体系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44928" y="2054066"/>
              <a:ext cx="24508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MVC、Document/View、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COM/DCOM/EJB、Spring、Hibernate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5307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25355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2545080"/>
              <a:ext cx="117157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8412" y="2659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39038" y="26598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几个类的协作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44928" y="2659856"/>
              <a:ext cx="1026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个 GoF 模式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29365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8412" y="30656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39038" y="306562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几行代码的写法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44928" y="3065621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switch 取代一长串 else if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1524000"/>
              <a:ext cx="5410200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434262" y="152400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840152" y="152400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ode-2"/>
          <p:cNvGrpSpPr/>
          <p:nvPr/>
        </p:nvGrpSpPr>
        <p:grpSpPr>
          <a:xfrm>
            <a:off x="6248400" y="3522345"/>
            <a:ext cx="5410200" cy="2586990"/>
            <a:chOff x="6248400" y="3522345"/>
            <a:chExt cx="5410200" cy="2586990"/>
          </a:xfrm>
        </p:grpSpPr>
        <p:sp>
          <p:nvSpPr>
            <p:cNvPr id="54" name="Rectangle 54"/>
            <p:cNvSpPr/>
            <p:nvPr/>
          </p:nvSpPr>
          <p:spPr>
            <a:xfrm>
              <a:off x="6248400" y="3522345"/>
              <a:ext cx="5410200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76797" y="367426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微模式例：同样的判断，两种写法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76416" y="3935730"/>
              <a:ext cx="1697546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(ord == 0)  { 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(ord == 2)  { 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(ord == 60) { 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{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(ord)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0: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2: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60: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 · 从复用走到设计模式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三大分类对应对象生命周期的三个阶段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c1-graph-1"/>
          <p:cNvGrpSpPr/>
          <p:nvPr/>
        </p:nvGrpSpPr>
        <p:grpSpPr>
          <a:xfrm>
            <a:off x="789622" y="1747838"/>
            <a:ext cx="5415915" cy="3542347"/>
            <a:chOff x="789622" y="1747838"/>
            <a:chExt cx="5415915" cy="3542347"/>
          </a:xfrm>
        </p:grpSpPr>
        <p:sp>
          <p:nvSpPr>
            <p:cNvPr id="7" name="Freeform 7"/>
            <p:cNvSpPr/>
            <p:nvPr/>
          </p:nvSpPr>
          <p:spPr>
            <a:xfrm>
              <a:off x="1477328" y="2106930"/>
              <a:ext cx="646748" cy="9525"/>
            </a:xfrm>
            <a:custGeom>
              <a:avLst/>
              <a:gdLst/>
              <a:ahLst/>
              <a:cxnLst/>
              <a:rect l="l" t="t" r="r" b="b"/>
              <a:pathLst>
                <a:path w="646748" h="9525">
                  <a:moveTo>
                    <a:pt x="0" y="0"/>
                  </a:moveTo>
                  <a:lnTo>
                    <a:pt x="6467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124075" y="20593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520315" y="2236470"/>
              <a:ext cx="9525" cy="1061085"/>
            </a:xfrm>
            <a:custGeom>
              <a:avLst/>
              <a:gdLst/>
              <a:ahLst/>
              <a:cxnLst/>
              <a:rect l="l" t="t" r="r" b="b"/>
              <a:pathLst>
                <a:path w="9525" h="1061085">
                  <a:moveTo>
                    <a:pt x="0" y="0"/>
                  </a:moveTo>
                  <a:lnTo>
                    <a:pt x="0" y="10610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72690" y="32975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14462" y="3522345"/>
              <a:ext cx="820102" cy="9525"/>
            </a:xfrm>
            <a:custGeom>
              <a:avLst/>
              <a:gdLst/>
              <a:ahLst/>
              <a:cxnLst/>
              <a:rect l="l" t="t" r="r" b="b"/>
              <a:pathLst>
                <a:path w="820102" h="9525">
                  <a:moveTo>
                    <a:pt x="0" y="0"/>
                  </a:moveTo>
                  <a:lnTo>
                    <a:pt x="8201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34565" y="34747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710815" y="3522345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0" y="0"/>
                  </a:moveTo>
                  <a:lnTo>
                    <a:pt x="16954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06265" y="34747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740592" y="2331720"/>
              <a:ext cx="9525" cy="1061085"/>
            </a:xfrm>
            <a:custGeom>
              <a:avLst/>
              <a:gdLst/>
              <a:ahLst/>
              <a:cxnLst/>
              <a:rect l="l" t="t" r="r" b="b"/>
              <a:pathLst>
                <a:path w="9525" h="1061085">
                  <a:moveTo>
                    <a:pt x="0" y="106108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692968" y="22364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414838" y="2236470"/>
              <a:ext cx="247650" cy="1074420"/>
            </a:xfrm>
            <a:custGeom>
              <a:avLst/>
              <a:gdLst/>
              <a:ahLst/>
              <a:cxnLst/>
              <a:rect l="l" t="t" r="r" b="b"/>
              <a:pathLst>
                <a:path w="247650" h="1074420">
                  <a:moveTo>
                    <a:pt x="247650" y="0"/>
                  </a:moveTo>
                  <a:cubicBezTo>
                    <a:pt x="16510" y="385445"/>
                    <a:pt x="0" y="743585"/>
                    <a:pt x="198120" y="107442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572952" y="3286125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89535" y="106680"/>
                  </a:moveTo>
                  <a:lnTo>
                    <a:pt x="0" y="49530"/>
                  </a:lnTo>
                  <a:lnTo>
                    <a:pt x="809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978718" y="3522345"/>
              <a:ext cx="654367" cy="9525"/>
            </a:xfrm>
            <a:custGeom>
              <a:avLst/>
              <a:gdLst/>
              <a:ahLst/>
              <a:cxnLst/>
              <a:rect l="l" t="t" r="r" b="b"/>
              <a:pathLst>
                <a:path w="654367" h="9525">
                  <a:moveTo>
                    <a:pt x="0" y="0"/>
                  </a:moveTo>
                  <a:lnTo>
                    <a:pt x="65436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633085" y="34747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104198" y="1747838"/>
              <a:ext cx="9525" cy="2507932"/>
            </a:xfrm>
            <a:custGeom>
              <a:avLst/>
              <a:gdLst/>
              <a:ahLst/>
              <a:cxnLst/>
              <a:rect l="l" t="t" r="r" b="b"/>
              <a:pathLst>
                <a:path w="9525" h="2507932">
                  <a:moveTo>
                    <a:pt x="0" y="0"/>
                  </a:moveTo>
                  <a:lnTo>
                    <a:pt x="0" y="250793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4214812" y="1747838"/>
              <a:ext cx="9525" cy="2507932"/>
            </a:xfrm>
            <a:custGeom>
              <a:avLst/>
              <a:gdLst/>
              <a:ahLst/>
              <a:cxnLst/>
              <a:rect l="l" t="t" r="r" b="b"/>
              <a:pathLst>
                <a:path w="9525" h="2507932">
                  <a:moveTo>
                    <a:pt x="0" y="0"/>
                  </a:moveTo>
                  <a:lnTo>
                    <a:pt x="0" y="250793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3" name="Rectangle 23"/>
            <p:cNvSpPr/>
            <p:nvPr/>
          </p:nvSpPr>
          <p:spPr>
            <a:xfrm>
              <a:off x="875348" y="1976438"/>
              <a:ext cx="60198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19325" y="1976438"/>
              <a:ext cx="60198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937260" y="3392805"/>
              <a:ext cx="477202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329815" y="3392805"/>
              <a:ext cx="38100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01515" y="3392805"/>
              <a:ext cx="477202" cy="260032"/>
            </a:xfrm>
            <a:prstGeom prst="roundRect">
              <a:avLst>
                <a:gd name="adj" fmla="val 36630"/>
              </a:avLst>
            </a:prstGeom>
            <a:solidFill>
              <a:srgbClr val="5B3FA0"/>
            </a:solidFill>
            <a:ln w="17145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728335" y="3392805"/>
              <a:ext cx="477202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501515" y="1976438"/>
              <a:ext cx="477202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9622" y="4752975"/>
              <a:ext cx="2059305" cy="537210"/>
            </a:xfrm>
            <a:prstGeom prst="roundRect">
              <a:avLst>
                <a:gd name="adj" fmla="val 177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229928" y="4752975"/>
              <a:ext cx="859155" cy="537210"/>
            </a:xfrm>
            <a:prstGeom prst="roundRect">
              <a:avLst>
                <a:gd name="adj" fmla="val 177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71022" y="4752975"/>
              <a:ext cx="1790700" cy="537210"/>
            </a:xfrm>
            <a:prstGeom prst="roundRect">
              <a:avLst>
                <a:gd name="adj" fmla="val 17730"/>
              </a:avLst>
            </a:prstGeom>
            <a:solidFill>
              <a:srgbClr val="5B3FA0"/>
            </a:solidFill>
            <a:ln w="17145">
              <a:solidFill>
                <a:srgbClr val="5B3FA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3493" y="20464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类模板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17471" y="20464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9457" y="34618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49398" y="346186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03712" y="34618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30532" y="34618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销毁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3712" y="20464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84503" y="488299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结构型模式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8720" y="50382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类怎么分解、组织、封装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56661" y="488299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18567" y="5038249"/>
              <a:ext cx="4818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类→对象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31600" y="488299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行为型模式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33709" y="50382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对象运行期的协作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653540" y="2027872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677505" y="205787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实例化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729740" y="344424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757464" y="34732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继承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411855" y="3444240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35820" y="347329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实例化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597718" y="273653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625442" y="276558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212080" y="344424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38852" y="34732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销毁</a:t>
              </a:r>
            </a:p>
          </p:txBody>
        </p:sp>
      </p:grpSp>
      <p:grpSp>
        <p:nvGrpSpPr>
          <p:cNvPr id="84" name="c2-table-1"/>
          <p:cNvGrpSpPr/>
          <p:nvPr/>
        </p:nvGrpSpPr>
        <p:grpSpPr>
          <a:xfrm>
            <a:off x="6680835" y="1524000"/>
            <a:ext cx="4977765" cy="2337435"/>
            <a:chOff x="6680835" y="1524000"/>
            <a:chExt cx="4977765" cy="2337435"/>
          </a:xfrm>
        </p:grpSpPr>
        <p:sp>
          <p:nvSpPr>
            <p:cNvPr id="57" name="Rectangle 57"/>
            <p:cNvSpPr/>
            <p:nvPr/>
          </p:nvSpPr>
          <p:spPr>
            <a:xfrm>
              <a:off x="6680835" y="1524000"/>
              <a:ext cx="4977765" cy="42481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6182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4517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对应阶段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37764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关注什么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14234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个数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90360" y="1958340"/>
              <a:ext cx="877252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81050" y="218313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79626" y="21831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类到对象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874062" y="2076450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对象怎么被创建出来，把创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建与使用分开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59464" y="21831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680835" y="25812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80835" y="2586038"/>
              <a:ext cx="497776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690360" y="2595562"/>
              <a:ext cx="877252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881050" y="28213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结构型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79626" y="282130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类与类之间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874062" y="2714625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怎么分解、组织、封装各个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59464" y="28213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680835" y="321945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690360" y="3233738"/>
              <a:ext cx="877252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881050" y="34594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79626" y="345948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对象运行期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74062" y="3352800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职责怎么分配，对象之间怎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么协作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215040" y="34594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680835" y="1524000"/>
              <a:ext cx="4977765" cy="23374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572375" y="152400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8766810" y="152400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956608" y="152400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4" name="c2-card-2"/>
          <p:cNvGrpSpPr/>
          <p:nvPr/>
        </p:nvGrpSpPr>
        <p:grpSpPr>
          <a:xfrm>
            <a:off x="6680835" y="4042410"/>
            <a:ext cx="4977765" cy="1615440"/>
            <a:chOff x="6680835" y="4042410"/>
            <a:chExt cx="4977765" cy="1615440"/>
          </a:xfrm>
        </p:grpSpPr>
        <p:sp>
          <p:nvSpPr>
            <p:cNvPr id="85" name="Rectangle 85"/>
            <p:cNvSpPr/>
            <p:nvPr/>
          </p:nvSpPr>
          <p:spPr>
            <a:xfrm>
              <a:off x="6680835" y="4042410"/>
              <a:ext cx="4977765" cy="1615440"/>
            </a:xfrm>
            <a:prstGeom prst="roundRect">
              <a:avLst>
                <a:gd name="adj" fmla="val 825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878955" y="424053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950392" y="427482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用模式要付的账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6886575" y="466058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043166" y="460105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内聚度提高、耦合度降低，这是收益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6886575" y="4978717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043166" y="4918234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类的数量和代码量都会变多，这是代价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6886575" y="529590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043166" y="5236369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易维护性通常变好，易理解性对新人反而变差</a:t>
              </a:r>
            </a:p>
          </p:txBody>
        </p:sp>
      </p:grpSp>
      <p:grpSp>
        <p:nvGrpSpPr>
          <p:cNvPr id="10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95" name="Rectangle 9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1040511" y="6011704"/>
              <a:ext cx="7660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判断该不该上模式，看变化是否真的会来。为不存在的变化提前设计，只会把代码搞复杂。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自测（一）：概念与变化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758891" cy="308039"/>
            <a:chOff x="525399" y="1550194"/>
            <a:chExt cx="57588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先自己写出答案，再对照。带计算或判断的题目要说出理由。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67865"/>
            <a:ext cx="3505200" cy="1651635"/>
            <a:chOff x="533400" y="1967865"/>
            <a:chExt cx="3505200" cy="165163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3505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217741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0437" y="221313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2554605"/>
              <a:ext cx="280130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Coad 给面向对象下的定义由哪四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个概念组成？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3175635"/>
              <a:ext cx="2731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 + 类 + 继承 + 通信。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10000"/>
            <a:ext cx="3505200" cy="1937385"/>
            <a:chOff x="533400" y="3810000"/>
            <a:chExt cx="3505200" cy="1937385"/>
          </a:xfrm>
        </p:grpSpPr>
        <p:sp>
          <p:nvSpPr>
            <p:cNvPr id="15" name="Rectangle 15"/>
            <p:cNvSpPr/>
            <p:nvPr/>
          </p:nvSpPr>
          <p:spPr>
            <a:xfrm>
              <a:off x="533400" y="3810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42950" y="4019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0437" y="4055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330" y="4396740"/>
              <a:ext cx="228885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把类内部的 int[] 换成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ArrayList，是哪类变化？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330" y="501777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实现变化，使用者只需重新编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67865"/>
            <a:ext cx="3505200" cy="1651635"/>
            <a:chOff x="4343400" y="1967865"/>
            <a:chExt cx="3505200" cy="165163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67865"/>
              <a:ext cx="3505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52950" y="217741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40437" y="221313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45330" y="255460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面向对象追求的四个目标是什么？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45330" y="288988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可维护、可复用、可扩展、灵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活性。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3810000"/>
            <a:ext cx="3505200" cy="1937385"/>
            <a:chOff x="4343400" y="3810000"/>
            <a:chExt cx="3505200" cy="1937385"/>
          </a:xfrm>
        </p:grpSpPr>
        <p:sp>
          <p:nvSpPr>
            <p:cNvPr id="27" name="Rectangle 27"/>
            <p:cNvSpPr/>
            <p:nvPr/>
          </p:nvSpPr>
          <p:spPr>
            <a:xfrm>
              <a:off x="4343400" y="3810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52950" y="4019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40437" y="4055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45330" y="43967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为什么说职责变化应尽早避免？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45330" y="473202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扩展后接口与原类不一致，使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用者要全部同步修改。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67865"/>
            <a:ext cx="3505200" cy="1937385"/>
            <a:chOff x="8153400" y="1967865"/>
            <a:chExt cx="3505200" cy="193738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67865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62950" y="217741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50437" y="221313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55330" y="2554605"/>
              <a:ext cx="283940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public 方法的参数由 (int) 改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(int, int)，是哪类变化？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55330" y="317563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职责变化，所有调用点都要跟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着改。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95750"/>
            <a:ext cx="3505200" cy="1651635"/>
            <a:chOff x="8153400" y="4095750"/>
            <a:chExt cx="3505200" cy="1651635"/>
          </a:xfrm>
        </p:grpSpPr>
        <p:sp>
          <p:nvSpPr>
            <p:cNvPr id="39" name="Rectangle 39"/>
            <p:cNvSpPr/>
            <p:nvPr/>
          </p:nvSpPr>
          <p:spPr>
            <a:xfrm>
              <a:off x="8153400" y="4095750"/>
              <a:ext cx="3505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62950" y="430530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50437" y="434101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55330" y="468249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用派生子类能删掉父类已有的方法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55330" y="530352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不能，子类只能新增或覆盖。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自测（二）：复用与模式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365885"/>
            <a:chOff x="533400" y="1524000"/>
            <a:chExt cx="5410200" cy="1365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5041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 有 3 种、operB 有 4 种实现，继承要几个子类？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3922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× 4 = 12 个；委托只要 3 + 4 = 7 个。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080385"/>
            <a:ext cx="5410200" cy="1365885"/>
            <a:chOff x="533400" y="3080385"/>
            <a:chExt cx="5410200" cy="1365885"/>
          </a:xfrm>
        </p:grpSpPr>
        <p:sp>
          <p:nvSpPr>
            <p:cNvPr id="13" name="Rectangle 13"/>
            <p:cNvSpPr/>
            <p:nvPr/>
          </p:nvSpPr>
          <p:spPr>
            <a:xfrm>
              <a:off x="533400" y="3080385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2899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3256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36671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哪种复用能在运行期替换？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00240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组合复用，继承在编译期定死。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636770"/>
            <a:ext cx="5410200" cy="1365885"/>
            <a:chOff x="533400" y="4636770"/>
            <a:chExt cx="5410200" cy="1365885"/>
          </a:xfrm>
        </p:grpSpPr>
        <p:sp>
          <p:nvSpPr>
            <p:cNvPr id="19" name="Rectangle 19"/>
            <p:cNvSpPr/>
            <p:nvPr/>
          </p:nvSpPr>
          <p:spPr>
            <a:xfrm>
              <a:off x="533400" y="4636770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2950" y="48463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0437" y="48820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330" y="5223510"/>
              <a:ext cx="3293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简单工厂属于 GoF 的 23 个模式吗？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5330" y="555879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不属于，它是工厂方法的简化形式。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365885"/>
            <a:chOff x="6248400" y="1524000"/>
            <a:chExt cx="5410200" cy="136588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21107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聚合与组合的菱形画在哪一端？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244602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都在整体一端，聚合空心，组合实心。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080385"/>
            <a:ext cx="5410200" cy="1365885"/>
            <a:chOff x="6248400" y="3080385"/>
            <a:chExt cx="5410200" cy="1365885"/>
          </a:xfrm>
        </p:grpSpPr>
        <p:sp>
          <p:nvSpPr>
            <p:cNvPr id="31" name="Rectangle 31"/>
            <p:cNvSpPr/>
            <p:nvPr/>
          </p:nvSpPr>
          <p:spPr>
            <a:xfrm>
              <a:off x="6248400" y="3080385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57950" y="32899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5437" y="33256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50330" y="36671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写出设计模式的四个要素。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50330" y="400240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模式名称、应用场景、解决方案、效果及说明。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636770"/>
            <a:ext cx="5410200" cy="1365885"/>
            <a:chOff x="6248400" y="4636770"/>
            <a:chExt cx="5410200" cy="1365885"/>
          </a:xfrm>
        </p:grpSpPr>
        <p:sp>
          <p:nvSpPr>
            <p:cNvPr id="37" name="Rectangle 37"/>
            <p:cNvSpPr/>
            <p:nvPr/>
          </p:nvSpPr>
          <p:spPr>
            <a:xfrm>
              <a:off x="6248400" y="4636770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57950" y="48463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45437" y="48820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50330" y="522351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使用设计模式一定让代码更好懂吗？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50330" y="555879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不一定，类的数量和代码量都会增加。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8681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337" y="407194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00 概述与复用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35430"/>
            <a:ext cx="5078730" cy="2484120"/>
            <a:chOff x="533400" y="1535430"/>
            <a:chExt cx="5078730" cy="2484120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面向对象由对象、类、继承、通信四个概念构成；四个目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标是可维护、可复用、可扩展、灵活性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659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208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1793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面向对象设计分三层：框架级设计管包，类设计管类，代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码设计管实现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79654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8388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80987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类设计要回答三组问题：类、行为、属性各自怎么组织与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2709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4693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44043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变化分两类：动了对外签名是职责变化，只动内部是实现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150995"/>
            <a:ext cx="5410200" cy="1795462"/>
            <a:chOff x="533400" y="4150995"/>
            <a:chExt cx="5410200" cy="1795462"/>
          </a:xfrm>
        </p:grpSpPr>
        <p:sp>
          <p:nvSpPr>
            <p:cNvPr id="20" name="Rectangle 20"/>
            <p:cNvSpPr/>
            <p:nvPr/>
          </p:nvSpPr>
          <p:spPr>
            <a:xfrm>
              <a:off x="533400" y="4150995"/>
              <a:ext cx="5410200" cy="1795462"/>
            </a:xfrm>
            <a:prstGeom prst="roundRect">
              <a:avLst>
                <a:gd name="adj" fmla="val 636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948240"/>
              <a:ext cx="200023" cy="200023"/>
              <a:chOff x="738188" y="4948240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9482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50149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80536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全讲的主线是一句话：把稳定的部分和变化的部分分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开，让变化的部分能被替换。</a:t>
              </a:r>
            </a:p>
          </p:txBody>
        </p:sp>
      </p:grpSp>
      <p:grpSp>
        <p:nvGrpSpPr>
          <p:cNvPr id="38" name="c2-bullets-1"/>
          <p:cNvGrpSpPr/>
          <p:nvPr/>
        </p:nvGrpSpPr>
        <p:grpSpPr>
          <a:xfrm>
            <a:off x="6248400" y="1535430"/>
            <a:ext cx="5078730" cy="2484120"/>
            <a:chOff x="6248400" y="1535430"/>
            <a:chExt cx="5078730" cy="2484120"/>
          </a:xfrm>
        </p:grpSpPr>
        <p:sp>
          <p:nvSpPr>
            <p:cNvPr id="26" name="Ellipse 26"/>
            <p:cNvSpPr/>
            <p:nvPr/>
          </p:nvSpPr>
          <p:spPr>
            <a:xfrm>
              <a:off x="6248400" y="153543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10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9390" y="154876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适应变化优先扩展而不是修改；扩展有继承、关联、依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赖、聚合、组合五种方式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48400" y="21659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10249" y="2208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49390" y="21793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只靠派生子类会让类数量按乘法增长，把实现委托给接口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可降到加法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48400" y="279654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10249" y="28388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9390" y="280987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复用有继承和组合两条路，组合优先；换实现之后还要靠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控制反转决定由谁来换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48400" y="342709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10249" y="34693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9390" y="344043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设计模式是特定环境下针对通用问题的定制方案，四要素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是名称、场景、方案、效果</a:t>
              </a:r>
            </a:p>
          </p:txBody>
        </p:sp>
      </p:grpSp>
      <p:grpSp>
        <p:nvGrpSpPr>
          <p:cNvPr id="53" name="c2-table-2"/>
          <p:cNvGrpSpPr/>
          <p:nvPr/>
        </p:nvGrpSpPr>
        <p:grpSpPr>
          <a:xfrm>
            <a:off x="6248400" y="4150995"/>
            <a:ext cx="5410200" cy="1795462"/>
            <a:chOff x="6248400" y="4150995"/>
            <a:chExt cx="5410200" cy="1795462"/>
          </a:xfrm>
        </p:grpSpPr>
        <p:sp>
          <p:nvSpPr>
            <p:cNvPr id="39" name="Rectangle 39"/>
            <p:cNvSpPr/>
            <p:nvPr/>
          </p:nvSpPr>
          <p:spPr>
            <a:xfrm>
              <a:off x="6248400" y="4150995"/>
              <a:ext cx="5410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94983" y="428672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86239" y="428672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27350" y="4735354"/>
              <a:ext cx="66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01 讲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79283" y="4735354"/>
              <a:ext cx="1955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类图与六种类间关系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5043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504825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27350" y="5183981"/>
              <a:ext cx="66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02 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79283" y="518398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七条面向对象设计原则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54930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27350" y="5632609"/>
              <a:ext cx="66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03 讲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79283" y="56326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设计模式总览与分类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4150995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866698" y="415099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课程概述与面向对象设计复用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00">
  <a:themeElements>
    <a:clrScheme name="sdp_0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00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0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2026-09-23T06:07:49Z</dcterms:created>
  <dcterms:modified xsi:type="dcterms:W3CDTF">2026-09-23T06:07:49Z</dcterms:modified>
  <cp:category/>
  <cp:contentStatus/>
</cp:coreProperties>
</file>