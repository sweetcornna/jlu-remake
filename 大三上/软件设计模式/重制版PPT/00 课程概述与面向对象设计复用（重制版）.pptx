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sdp_00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sdp_00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05bfee688edf8986.png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05bfee688edf8986.png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83cdf84e73500b40.png"/>
</Relationships>
</file>

<file path=ppt/slides/_rels/slide1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a4b19e3f150c5cec.png"/>
</Relationships>
</file>

<file path=ppt/slides/_rels/slide2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her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-scrim"/>
          <p:cNvSpPr/>
          <p:nvPr/>
        </p:nvSpPr>
        <p:spPr>
          <a:xfrm>
            <a:off x="0" y="0"/>
            <a:ext cx="7620000" cy="6858000"/>
          </a:xfrm>
          <a:prstGeom prst="rect">
            <a:avLst/>
          </a:prstGeom>
          <a:gradFill>
            <a:gsLst>
              <a:gs pos="0">
                <a:srgbClr val="FFFFFF">
                  <a:alpha val="97000"/>
                </a:srgbClr>
              </a:gs>
              <a:gs pos="58000">
                <a:srgbClr val="FFFFFF">
                  <a:alpha val="85000"/>
                </a:srgbClr>
              </a:gs>
              <a:gs pos="100000">
                <a:srgbClr val="FFFFFF">
                  <a:alpha val="0"/>
                </a:srgbClr>
              </a:gs>
            </a:gsLst>
            <a:lin ang="0" scaled="1"/>
          </a:gradFill>
          <a:ln>
            <a:noFill/>
          </a:ln>
        </p:spPr>
      </p:sp>
      <p:grpSp>
        <p:nvGrpSpPr>
          <p:cNvPr id="17" name="cover-title"/>
          <p:cNvGrpSpPr/>
          <p:nvPr/>
        </p:nvGrpSpPr>
        <p:grpSpPr>
          <a:xfrm>
            <a:off x="666750" y="1619250"/>
            <a:ext cx="5372100" cy="4077843"/>
            <a:chOff x="666750" y="1619250"/>
            <a:chExt cx="5372100" cy="4077843"/>
          </a:xfrm>
        </p:grpSpPr>
        <p:sp>
          <p:nvSpPr>
            <p:cNvPr id="4" name="Rectangle 4"/>
            <p:cNvSpPr/>
            <p:nvPr/>
          </p:nvSpPr>
          <p:spPr>
            <a:xfrm>
              <a:off x="685800" y="1619250"/>
              <a:ext cx="1898332" cy="3429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804866" y="1718310"/>
              <a:ext cx="16611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软件设计模式 · 第一讲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66750" y="2407920"/>
              <a:ext cx="5372100" cy="145923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5040"/>
                </a:lnSpc>
              </a:pPr>
              <a:r>
                <a:rPr lang="zh-CN" sz="4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课程概述与面向对象设</a:t>
              </a:r>
              <a:br/>
              <a:r>
                <a:rPr lang="zh-CN" sz="4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计复用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685800" y="3787140"/>
              <a:ext cx="990600" cy="5715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76656" y="4107180"/>
              <a:ext cx="462229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从面向对象的目标出发，走到设计模式门口</a:t>
              </a:r>
            </a:p>
          </p:txBody>
        </p:sp>
        <p:sp>
          <p:nvSpPr>
            <p:cNvPr id="9" name="Ellipse 9"/>
            <p:cNvSpPr/>
            <p:nvPr/>
          </p:nvSpPr>
          <p:spPr>
            <a:xfrm>
              <a:off x="709612" y="4616768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9442" y="4561522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为什么要学设计模式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09612" y="4907280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9442" y="485203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面向对象设计的三个层次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09612" y="5197792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69442" y="5142548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类设计难在变化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09612" y="5488305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69442" y="543306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复用的两条路与模式分类</a:t>
              </a:r>
            </a:p>
          </p:txBody>
        </p:sp>
      </p:grpSp>
      <p:grpSp>
        <p:nvGrpSpPr>
          <p:cNvPr id="19" name="cover-credit"/>
          <p:cNvGrpSpPr/>
          <p:nvPr/>
        </p:nvGrpSpPr>
        <p:grpSpPr>
          <a:xfrm>
            <a:off x="680466" y="6192202"/>
            <a:ext cx="6109964" cy="205359"/>
            <a:chOff x="680466" y="6192202"/>
            <a:chExt cx="6109964" cy="205359"/>
          </a:xfrm>
        </p:grpSpPr>
        <p:sp>
          <p:nvSpPr>
            <p:cNvPr id="18" name="TextBox 18"/>
            <p:cNvSpPr txBox="1"/>
            <p:nvPr/>
          </p:nvSpPr>
          <p:spPr>
            <a:xfrm>
              <a:off x="680466" y="6192202"/>
              <a:ext cx="610996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重制讲义 · 自学复习版｜据吉林大学《软件设计模式》张欣佳、陈伟两位老师第一讲课件合并整理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085594" cy="909257"/>
            <a:chOff x="520446" y="342900"/>
            <a:chExt cx="20855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186815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3337" y="407194"/>
              <a:ext cx="9869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00 概述与复用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0855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本讲学习路线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0" name="c1-agenda-1"/>
          <p:cNvGrpSpPr/>
          <p:nvPr/>
        </p:nvGrpSpPr>
        <p:grpSpPr>
          <a:xfrm>
            <a:off x="521970" y="1515428"/>
            <a:ext cx="6287453" cy="4461795"/>
            <a:chOff x="521970" y="1515428"/>
            <a:chExt cx="6287453" cy="4461795"/>
          </a:xfrm>
        </p:grpSpPr>
        <p:sp>
          <p:nvSpPr>
            <p:cNvPr id="7" name="TextBox 7"/>
            <p:cNvSpPr txBox="1"/>
            <p:nvPr/>
          </p:nvSpPr>
          <p:spPr>
            <a:xfrm>
              <a:off x="521970" y="151542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65086" y="155162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为什么学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66990" y="1868329"/>
              <a:ext cx="397616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面向对象的目标与发展脉络，设计模式在其中的位置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073468" y="218122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21970" y="2286952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5086" y="2323148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课程地图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66990" y="2639854"/>
              <a:ext cx="32869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四大板块、学习目标、考核方式与学习建议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073468" y="2953702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21970" y="305847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65086" y="3094673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设计的三个层次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66990" y="3412331"/>
              <a:ext cx="31145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框架级设计、类设计、代码设计各管什么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1073468" y="3725228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21970" y="3830955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65086" y="3867150"/>
              <a:ext cx="6831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类设计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66990" y="4183856"/>
              <a:ext cx="22530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类、行为、属性的组织与表示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1073468" y="449770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1970" y="4602480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5086" y="463867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变化与适应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66990" y="4955381"/>
              <a:ext cx="34592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职责变化与实现变化，修改代码还是扩展代码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1073468" y="5269230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21970" y="537495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65086" y="5411152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复用与模式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66990" y="5727859"/>
              <a:ext cx="363154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继承与组合、设计原则、模式的定义与三大分类</a:t>
              </a:r>
            </a:p>
          </p:txBody>
        </p:sp>
      </p:grpSp>
      <p:grpSp>
        <p:nvGrpSpPr>
          <p:cNvPr id="45" name="c2-card-1"/>
          <p:cNvGrpSpPr/>
          <p:nvPr/>
        </p:nvGrpSpPr>
        <p:grpSpPr>
          <a:xfrm>
            <a:off x="7114222" y="1524000"/>
            <a:ext cx="4544378" cy="4402455"/>
            <a:chOff x="7114222" y="1524000"/>
            <a:chExt cx="4544378" cy="4402455"/>
          </a:xfrm>
        </p:grpSpPr>
        <p:sp>
          <p:nvSpPr>
            <p:cNvPr id="31" name="Rectangle 31"/>
            <p:cNvSpPr/>
            <p:nvPr/>
          </p:nvSpPr>
          <p:spPr>
            <a:xfrm>
              <a:off x="7114222" y="1524000"/>
              <a:ext cx="4544378" cy="4402455"/>
            </a:xfrm>
            <a:prstGeom prst="roundRect">
              <a:avLst>
                <a:gd name="adj" fmla="val 302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7123748" y="1657350"/>
              <a:ext cx="47625" cy="4135755"/>
            </a:xfrm>
            <a:prstGeom prst="roundRect">
              <a:avLst>
                <a:gd name="adj" fmla="val 50000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7361872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44322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学习目标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7367588" y="217360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525702" y="211074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说出面向对象的四个目标，并用一个比喻解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释每一个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7367588" y="279463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525702" y="273177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区分职责变化与实现变化，指出各自的适应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办法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7367588" y="341566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525702" y="3352800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比较继承复用与组合复用的适用场合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7367588" y="375094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525702" y="3688080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写出设计模式的定义和四个要素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7367588" y="408622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525702" y="4023360"/>
              <a:ext cx="36252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 23 个 GoF 模式按创建型、结构型、行为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型归类</a:t>
              </a:r>
            </a:p>
          </p:txBody>
        </p:sp>
      </p:grpSp>
      <p:grpSp>
        <p:nvGrpSpPr>
          <p:cNvPr id="4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6" name="TextBox 46"/>
            <p:cNvSpPr txBox="1"/>
            <p:nvPr/>
          </p:nvSpPr>
          <p:spPr>
            <a:xfrm>
              <a:off x="528447" y="6581299"/>
              <a:ext cx="266824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课程概述与面向对象设计复用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5B3FA0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EEAF7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5135499" cy="2997517"/>
            <a:chOff x="667512" y="1835468"/>
            <a:chExt cx="5135499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第一部分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4398264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为什么要学设计模式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512559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先把面向对象的目标和历史摆清楚，模式才有落脚点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面向对象的定义与四个目标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97281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OOM 贯穿开发全过程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84689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 Simula 67 到 GoF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266824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课程概述与面向对象设计复用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264652" cy="909257"/>
            <a:chOff x="520446" y="342900"/>
            <a:chExt cx="826465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3937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627" y="407194"/>
              <a:ext cx="2525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00 概述与复用 · 为什么要学设计模式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26465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设计模式之于面向对象，相当于数据结构之于面向过程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8736686" cy="308039"/>
            <a:chOff x="525399" y="1550194"/>
            <a:chExt cx="8736686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8736686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设计模式不是凭空发明的技巧，它是面向对象技术用得足够多、足够久之后沉淀下来的经验。</a:t>
              </a:r>
            </a:p>
          </p:txBody>
        </p:sp>
      </p:grpSp>
      <p:grpSp>
        <p:nvGrpSpPr>
          <p:cNvPr id="16" name="c1-card-1"/>
          <p:cNvGrpSpPr/>
          <p:nvPr/>
        </p:nvGrpSpPr>
        <p:grpSpPr>
          <a:xfrm>
            <a:off x="533400" y="1967865"/>
            <a:ext cx="5626418" cy="1866900"/>
            <a:chOff x="533400" y="1967865"/>
            <a:chExt cx="5626418" cy="1866900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5626418" cy="1866900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101215"/>
              <a:ext cx="47625" cy="1600200"/>
            </a:xfrm>
            <a:prstGeom prst="roundRect">
              <a:avLst>
                <a:gd name="adj" fmla="val 50000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81050" y="217741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71258" y="221313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定位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2078" y="2212658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什么是软件设计模式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73430" y="2573655"/>
              <a:ext cx="4968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设计模式是一套被反复使用、多数人知晓、经过分类编目的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面向对象程序设计经验的总结。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74573" y="3190399"/>
              <a:ext cx="488975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面向过程时代积累下来的经验叫数据结构与算法；面向对象时代积累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下来的经验叫设计模式。</a:t>
              </a:r>
            </a:p>
          </p:txBody>
        </p:sp>
      </p:grpSp>
      <p:grpSp>
        <p:nvGrpSpPr>
          <p:cNvPr id="24" name="c1-bullets-2"/>
          <p:cNvGrpSpPr/>
          <p:nvPr/>
        </p:nvGrpSpPr>
        <p:grpSpPr>
          <a:xfrm>
            <a:off x="525780" y="4049078"/>
            <a:ext cx="4473512" cy="1337310"/>
            <a:chOff x="525780" y="4049078"/>
            <a:chExt cx="4473512" cy="1337310"/>
          </a:xfrm>
        </p:grpSpPr>
        <p:sp>
          <p:nvSpPr>
            <p:cNvPr id="17" name="TextBox 17"/>
            <p:cNvSpPr txBox="1"/>
            <p:nvPr/>
          </p:nvSpPr>
          <p:spPr>
            <a:xfrm>
              <a:off x="525780" y="4049078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学这门课能换来什么</a:t>
              </a:r>
            </a:p>
          </p:txBody>
        </p:sp>
        <p:sp>
          <p:nvSpPr>
            <p:cNvPr id="18" name="Freeform 18"/>
            <p:cNvSpPr/>
            <p:nvPr/>
          </p:nvSpPr>
          <p:spPr>
            <a:xfrm>
              <a:off x="533400" y="4434840"/>
              <a:ext cx="143827" cy="117157"/>
            </a:xfrm>
            <a:custGeom>
              <a:avLst/>
              <a:gdLst/>
              <a:ahLst/>
              <a:cxnLst/>
              <a:rect l="l" t="t" r="r" b="b"/>
              <a:pathLst>
                <a:path w="143827" h="117157">
                  <a:moveTo>
                    <a:pt x="0" y="61912"/>
                  </a:moveTo>
                  <a:lnTo>
                    <a:pt x="55245" y="117157"/>
                  </a:lnTo>
                  <a:lnTo>
                    <a:pt x="143827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83908" y="4403408"/>
              <a:ext cx="421538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更深地理解面向对象思想，而不是只会写 class</a:t>
              </a:r>
            </a:p>
          </p:txBody>
        </p:sp>
        <p:sp>
          <p:nvSpPr>
            <p:cNvPr id="20" name="Freeform 20"/>
            <p:cNvSpPr/>
            <p:nvPr/>
          </p:nvSpPr>
          <p:spPr>
            <a:xfrm>
              <a:off x="533400" y="4779645"/>
              <a:ext cx="143827" cy="117158"/>
            </a:xfrm>
            <a:custGeom>
              <a:avLst/>
              <a:gdLst/>
              <a:ahLst/>
              <a:cxnLst/>
              <a:rect l="l" t="t" r="r" b="b"/>
              <a:pathLst>
                <a:path w="143827" h="117158">
                  <a:moveTo>
                    <a:pt x="0" y="61912"/>
                  </a:moveTo>
                  <a:lnTo>
                    <a:pt x="55245" y="117158"/>
                  </a:lnTo>
                  <a:lnTo>
                    <a:pt x="143827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83908" y="4748212"/>
              <a:ext cx="367017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读得懂框架源码里那些“绕来绕去”的写法</a:t>
              </a:r>
            </a:p>
          </p:txBody>
        </p:sp>
        <p:sp>
          <p:nvSpPr>
            <p:cNvPr id="22" name="Freeform 22"/>
            <p:cNvSpPr/>
            <p:nvPr/>
          </p:nvSpPr>
          <p:spPr>
            <a:xfrm>
              <a:off x="533400" y="5124450"/>
              <a:ext cx="143827" cy="117157"/>
            </a:xfrm>
            <a:custGeom>
              <a:avLst/>
              <a:gdLst/>
              <a:ahLst/>
              <a:cxnLst/>
              <a:rect l="l" t="t" r="r" b="b"/>
              <a:pathLst>
                <a:path w="143827" h="117157">
                  <a:moveTo>
                    <a:pt x="0" y="61912"/>
                  </a:moveTo>
                  <a:lnTo>
                    <a:pt x="55245" y="117157"/>
                  </a:lnTo>
                  <a:lnTo>
                    <a:pt x="143827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783908" y="5093018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手里多一套重构既有代码的固定招式</a:t>
              </a:r>
            </a:p>
          </p:txBody>
        </p:sp>
      </p:grpSp>
      <p:grpSp>
        <p:nvGrpSpPr>
          <p:cNvPr id="37" name="c2-card-1"/>
          <p:cNvGrpSpPr/>
          <p:nvPr/>
        </p:nvGrpSpPr>
        <p:grpSpPr>
          <a:xfrm>
            <a:off x="6464618" y="1967865"/>
            <a:ext cx="5193982" cy="2272665"/>
            <a:chOff x="6464618" y="1967865"/>
            <a:chExt cx="5193982" cy="2272665"/>
          </a:xfrm>
        </p:grpSpPr>
        <p:sp>
          <p:nvSpPr>
            <p:cNvPr id="25" name="Rectangle 25"/>
            <p:cNvSpPr/>
            <p:nvPr/>
          </p:nvSpPr>
          <p:spPr>
            <a:xfrm>
              <a:off x="6464618" y="1967865"/>
              <a:ext cx="5193982" cy="2272665"/>
            </a:xfrm>
            <a:prstGeom prst="roundRect">
              <a:avLst>
                <a:gd name="adj" fmla="val 5868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674168" y="2177415"/>
              <a:ext cx="1204912" cy="257175"/>
            </a:xfrm>
            <a:prstGeom prst="roundRect">
              <a:avLst>
                <a:gd name="adj" fmla="val 50000"/>
              </a:avLst>
            </a:prstGeom>
            <a:solidFill>
              <a:srgbClr val="462F80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743675" y="2213134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课程的三条主线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6674167" y="2541270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736017" y="258356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975158" y="2554605"/>
              <a:ext cx="42557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面向对象设计原则：判断一个设计好不好的尺子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6674167" y="2876550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736017" y="291884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975158" y="2889885"/>
              <a:ext cx="4015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关系模型（依赖、关联、聚合、组合、继承、实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现）：搭设计的零件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6674167" y="3497580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736017" y="353987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975158" y="3510915"/>
              <a:ext cx="41395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23 个 GoF 模式：把尺子和零件组合起来的成品方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案</a:t>
              </a:r>
            </a:p>
          </p:txBody>
        </p:sp>
      </p:grpSp>
      <p:grpSp>
        <p:nvGrpSpPr>
          <p:cNvPr id="44" name="c2-callout-2"/>
          <p:cNvGrpSpPr/>
          <p:nvPr/>
        </p:nvGrpSpPr>
        <p:grpSpPr>
          <a:xfrm>
            <a:off x="6464618" y="4431030"/>
            <a:ext cx="5193982" cy="897255"/>
            <a:chOff x="6464618" y="4431030"/>
            <a:chExt cx="5193982" cy="897255"/>
          </a:xfrm>
        </p:grpSpPr>
        <p:sp>
          <p:nvSpPr>
            <p:cNvPr id="38" name="Rectangle 38"/>
            <p:cNvSpPr/>
            <p:nvPr/>
          </p:nvSpPr>
          <p:spPr>
            <a:xfrm>
              <a:off x="6464618" y="4431030"/>
              <a:ext cx="5193982" cy="897255"/>
            </a:xfrm>
            <a:prstGeom prst="roundRect">
              <a:avLst>
                <a:gd name="adj" fmla="val 1273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2" name="Group 42"/>
            <p:cNvGrpSpPr/>
            <p:nvPr/>
          </p:nvGrpSpPr>
          <p:grpSpPr>
            <a:xfrm>
              <a:off x="6669405" y="4778693"/>
              <a:ext cx="200026" cy="200026"/>
              <a:chOff x="6669405" y="4778693"/>
              <a:chExt cx="200026" cy="200026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6669405" y="477869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6769418" y="484536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6758305" y="487870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3" name="TextBox 43"/>
            <p:cNvSpPr txBox="1"/>
            <p:nvPr/>
          </p:nvSpPr>
          <p:spPr>
            <a:xfrm>
              <a:off x="6971348" y="4635818"/>
              <a:ext cx="41681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本讲只讲到“模式的门口”。原则细讲在第 02 讲，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UML 类图细讲在第 01 讲，模式总览在第 03 讲。</a:t>
              </a:r>
            </a:p>
          </p:txBody>
        </p:sp>
      </p:grpSp>
      <p:grpSp>
        <p:nvGrpSpPr>
          <p:cNvPr id="4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5" name="TextBox 45"/>
            <p:cNvSpPr txBox="1"/>
            <p:nvPr/>
          </p:nvSpPr>
          <p:spPr>
            <a:xfrm>
              <a:off x="528447" y="6581299"/>
              <a:ext cx="266824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课程概述与面向对象设计复用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460046" cy="909257"/>
            <a:chOff x="520446" y="342900"/>
            <a:chExt cx="546004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3937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627" y="407194"/>
              <a:ext cx="2525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00 概述与复用 · 为什么要学设计模式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46004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面向对象 = 对象 + 类 + 继承 + 通信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1" name="c1-card-1"/>
          <p:cNvGrpSpPr/>
          <p:nvPr/>
        </p:nvGrpSpPr>
        <p:grpSpPr>
          <a:xfrm>
            <a:off x="533400" y="1524000"/>
            <a:ext cx="5410200" cy="2962275"/>
            <a:chOff x="533400" y="1524000"/>
            <a:chExt cx="5410200" cy="296227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2962275"/>
            </a:xfrm>
            <a:prstGeom prst="roundRect">
              <a:avLst>
                <a:gd name="adj" fmla="val 450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695575"/>
            </a:xfrm>
            <a:prstGeom prst="roundRect">
              <a:avLst>
                <a:gd name="adj" fmla="val 50000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82078" y="1768792"/>
              <a:ext cx="176438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Coad 的四要素定义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129790"/>
              <a:ext cx="4587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一个软件系统如果是用对象、类、继承、通信这四个概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念设计和实现的，就称它是面向对象的。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86765" y="281368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44880" y="2750820"/>
              <a:ext cx="4587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对象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：问题域中某个事物的抽象，把数据和操作包在一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起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86765" y="343471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4880" y="3371850"/>
              <a:ext cx="46596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类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：一组具有相同属性特征和行为特征的对象的描述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86765" y="376999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44880" y="3707130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继承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：子类复用并特化父类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786765" y="410527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44880" y="4042410"/>
              <a:ext cx="36499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通信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：对象之间靠发消息（调方法）协作</a:t>
              </a:r>
            </a:p>
          </p:txBody>
        </p:sp>
      </p:grpSp>
      <p:grpSp>
        <p:nvGrpSpPr>
          <p:cNvPr id="28" name="c1-callout-2"/>
          <p:cNvGrpSpPr/>
          <p:nvPr/>
        </p:nvGrpSpPr>
        <p:grpSpPr>
          <a:xfrm>
            <a:off x="533400" y="4676775"/>
            <a:ext cx="5410200" cy="1337310"/>
            <a:chOff x="533400" y="4676775"/>
            <a:chExt cx="5410200" cy="1337310"/>
          </a:xfrm>
        </p:grpSpPr>
        <p:sp>
          <p:nvSpPr>
            <p:cNvPr id="22" name="Rectangle 22"/>
            <p:cNvSpPr/>
            <p:nvPr/>
          </p:nvSpPr>
          <p:spPr>
            <a:xfrm>
              <a:off x="533400" y="4676775"/>
              <a:ext cx="5410200" cy="1337310"/>
            </a:xfrm>
            <a:prstGeom prst="roundRect">
              <a:avLst>
                <a:gd name="adj" fmla="val 8547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38188" y="5245418"/>
              <a:ext cx="200026" cy="200025"/>
              <a:chOff x="738188" y="5245418"/>
              <a:chExt cx="200026" cy="200025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738188" y="524541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777926" y="528986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812642" y="540099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7" name="TextBox 27"/>
            <p:cNvSpPr txBox="1"/>
            <p:nvPr/>
          </p:nvSpPr>
          <p:spPr>
            <a:xfrm>
              <a:off x="1040130" y="5102542"/>
              <a:ext cx="4396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判断一段代码是不是面向对象的，看这四个概念是否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齐备，而不是看用了哪门语言。</a:t>
              </a:r>
            </a:p>
          </p:txBody>
        </p:sp>
      </p:grpSp>
      <p:grpSp>
        <p:nvGrpSpPr>
          <p:cNvPr id="53" name="c2-table-1"/>
          <p:cNvGrpSpPr/>
          <p:nvPr/>
        </p:nvGrpSpPr>
        <p:grpSpPr>
          <a:xfrm>
            <a:off x="6248400" y="1524000"/>
            <a:ext cx="5410200" cy="2697480"/>
            <a:chOff x="6248400" y="1524000"/>
            <a:chExt cx="5410200" cy="2697480"/>
          </a:xfrm>
        </p:grpSpPr>
        <p:sp>
          <p:nvSpPr>
            <p:cNvPr id="29" name="Rectangle 29"/>
            <p:cNvSpPr/>
            <p:nvPr/>
          </p:nvSpPr>
          <p:spPr>
            <a:xfrm>
              <a:off x="6248400" y="1524000"/>
              <a:ext cx="5410200" cy="448628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27927" y="1659731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看问题的角度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305216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面向过程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0306418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面向对象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356223" y="210835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基本单位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763066" y="2108359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函数（过程）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764268" y="2108359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6248400" y="241649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6248400" y="2421255"/>
              <a:ext cx="5410200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356223" y="2670334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数据与操作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763066" y="2556986"/>
              <a:ext cx="163855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分开存放，数据被各函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数共用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764268" y="2556986"/>
              <a:ext cx="163855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绑在一起，由对象自己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负责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248400" y="309276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356223" y="334565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建模层次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763066" y="3345656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贴近机器的执行步骤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9764268" y="3232309"/>
              <a:ext cx="163855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贴近事物的自然运行方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式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248400" y="376809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6248400" y="3772852"/>
              <a:ext cx="5410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356223" y="39076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经验沉淀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763066" y="3907631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数据结构与算法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9764268" y="39076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设计模式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6248400" y="1524000"/>
              <a:ext cx="5410200" cy="269748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7650480" y="1524000"/>
              <a:ext cx="9525" cy="26974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9651682" y="1524000"/>
              <a:ext cx="9525" cy="26974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9" name="c2-card-2"/>
          <p:cNvGrpSpPr/>
          <p:nvPr/>
        </p:nvGrpSpPr>
        <p:grpSpPr>
          <a:xfrm>
            <a:off x="6248400" y="4411980"/>
            <a:ext cx="5410200" cy="1602105"/>
            <a:chOff x="6248400" y="4411980"/>
            <a:chExt cx="5410200" cy="1602105"/>
          </a:xfrm>
        </p:grpSpPr>
        <p:sp>
          <p:nvSpPr>
            <p:cNvPr id="54" name="Rectangle 54"/>
            <p:cNvSpPr/>
            <p:nvPr/>
          </p:nvSpPr>
          <p:spPr>
            <a:xfrm>
              <a:off x="6248400" y="4411980"/>
              <a:ext cx="5410200" cy="1602105"/>
            </a:xfrm>
            <a:prstGeom prst="roundRect">
              <a:avLst>
                <a:gd name="adj" fmla="val 832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5" name="Rectangle 55"/>
            <p:cNvSpPr/>
            <p:nvPr/>
          </p:nvSpPr>
          <p:spPr>
            <a:xfrm>
              <a:off x="6257925" y="4545330"/>
              <a:ext cx="47625" cy="133540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6496050" y="462153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578359" y="465724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适用范围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6488430" y="4998720"/>
              <a:ext cx="45872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面向对象既是编程范式，也是开发方法。它的概念已经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扩展到数据库系统、交互界面、应用平台、分布式系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统、网络管理、CAD、人工智能等领域。</a:t>
              </a:r>
            </a:p>
          </p:txBody>
        </p:sp>
      </p:grpSp>
      <p:grpSp>
        <p:nvGrpSpPr>
          <p:cNvPr id="6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0" name="TextBox 60"/>
            <p:cNvSpPr txBox="1"/>
            <p:nvPr/>
          </p:nvSpPr>
          <p:spPr>
            <a:xfrm>
              <a:off x="528447" y="6581299"/>
              <a:ext cx="266824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课程概述与面向对象设计复用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3937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627" y="407194"/>
              <a:ext cx="2525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00 概述与复用 · 为什么要学设计模式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四个目标：一盘活字为什么比一块雕版好用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8311286" cy="308039"/>
            <a:chOff x="525399" y="1550194"/>
            <a:chExt cx="8311286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8311286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毕昇的活字印刷，把雕版印刷的四个毛病一次解决。面向对象追求的正是同样的四件事。</a:t>
              </a:r>
            </a:p>
          </p:txBody>
        </p:sp>
      </p:grpSp>
      <p:grpSp>
        <p:nvGrpSpPr>
          <p:cNvPr id="39" name="c1-table-1"/>
          <p:cNvGrpSpPr/>
          <p:nvPr/>
        </p:nvGrpSpPr>
        <p:grpSpPr>
          <a:xfrm>
            <a:off x="533400" y="1967865"/>
            <a:ext cx="6059805" cy="3150870"/>
            <a:chOff x="533400" y="1967865"/>
            <a:chExt cx="6059805" cy="3150870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6059805" cy="448628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78472" y="210264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目标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589748" y="2102644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雕版印刷的困境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287103" y="2102644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活字印刷的做法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246307" y="2102644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对应到代码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92315" y="2664619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可维护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489900" y="2551271"/>
              <a:ext cx="131343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错一个字，整块版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重刻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125343" y="2551271"/>
              <a:ext cx="131343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要改，只需换掉要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改的那个字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882706" y="2551271"/>
              <a:ext cx="147599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改动局部化，不波及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其他模块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308705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533400" y="3091815"/>
              <a:ext cx="6059805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92315" y="334089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可复用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489900" y="3340894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印完这一版就废了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125343" y="3227546"/>
              <a:ext cx="131343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这批字后面的书还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能接着用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882706" y="3227546"/>
              <a:ext cx="147599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类和构件能被新项目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直接拿去用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33400" y="3762375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92315" y="4016216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可扩展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489900" y="3902869"/>
              <a:ext cx="131343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加一句话要重刻整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版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125343" y="3902869"/>
              <a:ext cx="131343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若要加字，另刻字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加入即可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882706" y="3902869"/>
              <a:ext cx="147599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新增功能靠加新类，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不动老类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533400" y="443769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533400" y="4442460"/>
              <a:ext cx="6059805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92315" y="4691539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灵活性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89900" y="4578191"/>
              <a:ext cx="131343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版式定死，横排竖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排各刻一次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125343" y="4578191"/>
              <a:ext cx="131343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移动活字就能改排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列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882706" y="4578191"/>
              <a:ext cx="147599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结构可重新组合，适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应新需求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33400" y="1967865"/>
              <a:ext cx="6059805" cy="315087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1377315" y="1967865"/>
              <a:ext cx="9525" cy="31508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3012758" y="1967865"/>
              <a:ext cx="9525" cy="31508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4770120" y="1967865"/>
              <a:ext cx="9525" cy="31508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5" name="c1-callout-2"/>
          <p:cNvGrpSpPr/>
          <p:nvPr/>
        </p:nvGrpSpPr>
        <p:grpSpPr>
          <a:xfrm>
            <a:off x="533400" y="5309235"/>
            <a:ext cx="6059805" cy="782955"/>
            <a:chOff x="533400" y="5309235"/>
            <a:chExt cx="6059805" cy="782955"/>
          </a:xfrm>
        </p:grpSpPr>
        <p:sp>
          <p:nvSpPr>
            <p:cNvPr id="40" name="Rectangle 40"/>
            <p:cNvSpPr/>
            <p:nvPr/>
          </p:nvSpPr>
          <p:spPr>
            <a:xfrm>
              <a:off x="533400" y="5309235"/>
              <a:ext cx="6059805" cy="782955"/>
            </a:xfrm>
            <a:prstGeom prst="roundRect">
              <a:avLst>
                <a:gd name="adj" fmla="val 14599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43" name="Group 43"/>
            <p:cNvGrpSpPr/>
            <p:nvPr/>
          </p:nvGrpSpPr>
          <p:grpSpPr>
            <a:xfrm>
              <a:off x="738188" y="5600702"/>
              <a:ext cx="200023" cy="200023"/>
              <a:chOff x="738188" y="5600702"/>
              <a:chExt cx="200023" cy="200023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738188" y="560070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871538" y="56673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4" name="TextBox 44"/>
            <p:cNvSpPr txBox="1"/>
            <p:nvPr/>
          </p:nvSpPr>
          <p:spPr>
            <a:xfrm>
              <a:off x="1040130" y="5457825"/>
              <a:ext cx="5158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这四个目标贯穿全课。后面每学一个模式，都要回头问：它改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善了哪一个目标，代价是什么。</a:t>
              </a:r>
            </a:p>
          </p:txBody>
        </p:sp>
      </p:grpSp>
      <p:grpSp>
        <p:nvGrpSpPr>
          <p:cNvPr id="48" name="c2-image-1"/>
          <p:cNvGrpSpPr/>
          <p:nvPr/>
        </p:nvGrpSpPr>
        <p:grpSpPr>
          <a:xfrm>
            <a:off x="6898005" y="1967865"/>
            <a:ext cx="4760595" cy="4420077"/>
            <a:chOff x="6898005" y="1967865"/>
            <a:chExt cx="4760595" cy="4420077"/>
          </a:xfrm>
        </p:grpSpPr>
        <p:pic>
          <p:nvPicPr>
            <p:cNvPr id="46" name="Image 46"/>
            <p:cNvPicPr>
              <a:picLocks noChangeAspect="1"/>
            </p:cNvPicPr>
            <p:nvPr/>
          </p:nvPicPr>
          <p:blipFill>
            <a:blip r:embed="rId2"/>
            <a:srcRect l="17386" t="0" r="17385" b="0"/>
            <a:stretch>
              <a:fillRect/>
            </a:stretch>
          </p:blipFill>
          <p:spPr>
            <a:xfrm>
              <a:off x="6898005" y="1967865"/>
              <a:ext cx="4760595" cy="4105275"/>
            </a:xfrm>
            <a:prstGeom prst="roundRect">
              <a:avLst>
                <a:gd name="adj" fmla="val 3248"/>
              </a:avLst>
            </a:prstGeom>
          </p:spPr>
        </p:pic>
        <p:sp>
          <p:nvSpPr>
            <p:cNvPr id="47" name="TextBox 47"/>
            <p:cNvSpPr txBox="1"/>
            <p:nvPr/>
          </p:nvSpPr>
          <p:spPr>
            <a:xfrm>
              <a:off x="8066392" y="6167914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换掉一个活字，其余的排版原样不动</a:t>
              </a:r>
            </a:p>
          </p:txBody>
        </p:sp>
      </p:grpSp>
      <p:grpSp>
        <p:nvGrpSpPr>
          <p:cNvPr id="5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9" name="TextBox 49"/>
            <p:cNvSpPr txBox="1"/>
            <p:nvPr/>
          </p:nvSpPr>
          <p:spPr>
            <a:xfrm>
              <a:off x="528447" y="6581299"/>
              <a:ext cx="266824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课程概述与面向对象设计复用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176127" cy="909257"/>
            <a:chOff x="520446" y="342900"/>
            <a:chExt cx="717612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3937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627" y="407194"/>
              <a:ext cx="2525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00 概述与复用 · 为什么要学设计模式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17612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面向对象不止于编程：OOM 贯穿软件生命周期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8" name="c1-steps-1"/>
          <p:cNvGrpSpPr/>
          <p:nvPr/>
        </p:nvGrpSpPr>
        <p:grpSpPr>
          <a:xfrm>
            <a:off x="533400" y="1533525"/>
            <a:ext cx="3656076" cy="3031236"/>
            <a:chOff x="533400" y="1533525"/>
            <a:chExt cx="3656076" cy="3031236"/>
          </a:xfrm>
        </p:grpSpPr>
        <p:sp>
          <p:nvSpPr>
            <p:cNvPr id="7" name="Rectangle 7"/>
            <p:cNvSpPr/>
            <p:nvPr/>
          </p:nvSpPr>
          <p:spPr>
            <a:xfrm>
              <a:off x="666750" y="1676400"/>
              <a:ext cx="19050" cy="248316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33400" y="1533525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27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154555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22837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775585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84940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395662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46948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4016692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27024" y="409051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5261" y="1566386"/>
              <a:ext cx="165982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OOA 面向对象分析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404" y="1846898"/>
              <a:ext cx="324307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弄清问题域里有哪些对象、它们之间什么关系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5261" y="2187416"/>
              <a:ext cx="165982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OOD 面向对象设计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404" y="2467927"/>
              <a:ext cx="324307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把分析结果规范化整理成可直接编码的类结构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5261" y="2808446"/>
              <a:ext cx="165982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OOP 面向对象编程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6404" y="3088957"/>
              <a:ext cx="20122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 OOPL 把类结构落成代码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45261" y="3429476"/>
              <a:ext cx="165982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OOT 面向对象测试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46404" y="3709988"/>
              <a:ext cx="19507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以类和对象为单位设计测试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45261" y="4049554"/>
              <a:ext cx="220120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OOSM 面向对象软件维护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46404" y="4330065"/>
              <a:ext cx="19507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在对象结构上做修改与演化</a:t>
              </a:r>
            </a:p>
          </p:txBody>
        </p:sp>
      </p:grpSp>
      <p:grpSp>
        <p:nvGrpSpPr>
          <p:cNvPr id="35" name="c1-callout-2"/>
          <p:cNvGrpSpPr/>
          <p:nvPr/>
        </p:nvGrpSpPr>
        <p:grpSpPr>
          <a:xfrm>
            <a:off x="533400" y="4741545"/>
            <a:ext cx="4977765" cy="1577340"/>
            <a:chOff x="533400" y="4741545"/>
            <a:chExt cx="4977765" cy="1577340"/>
          </a:xfrm>
        </p:grpSpPr>
        <p:sp>
          <p:nvSpPr>
            <p:cNvPr id="29" name="Rectangle 29"/>
            <p:cNvSpPr/>
            <p:nvPr/>
          </p:nvSpPr>
          <p:spPr>
            <a:xfrm>
              <a:off x="533400" y="4741545"/>
              <a:ext cx="4977765" cy="1577340"/>
            </a:xfrm>
            <a:prstGeom prst="roundRect">
              <a:avLst>
                <a:gd name="adj" fmla="val 7246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738188" y="5430203"/>
              <a:ext cx="200026" cy="200026"/>
              <a:chOff x="738188" y="5430203"/>
              <a:chExt cx="200026" cy="200026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738188" y="543020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838200" y="549687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827088" y="553021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4" name="TextBox 34"/>
            <p:cNvSpPr txBox="1"/>
            <p:nvPr/>
          </p:nvSpPr>
          <p:spPr>
            <a:xfrm>
              <a:off x="1040511" y="5167789"/>
              <a:ext cx="3954907" cy="8044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这五个阶段合称 OOM（Object-Oriented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Method，面向对象方法）。本课程主要站在 OOD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这一环。</a:t>
              </a:r>
            </a:p>
          </p:txBody>
        </p:sp>
      </p:grpSp>
      <p:grpSp>
        <p:nvGrpSpPr>
          <p:cNvPr id="72" name="c2-table-1"/>
          <p:cNvGrpSpPr/>
          <p:nvPr/>
        </p:nvGrpSpPr>
        <p:grpSpPr>
          <a:xfrm>
            <a:off x="5810250" y="1524000"/>
            <a:ext cx="5848350" cy="2877027"/>
            <a:chOff x="5810250" y="1524000"/>
            <a:chExt cx="5848350" cy="2877027"/>
          </a:xfrm>
        </p:grpSpPr>
        <p:sp>
          <p:nvSpPr>
            <p:cNvPr id="36" name="Rectangle 36"/>
            <p:cNvSpPr/>
            <p:nvPr/>
          </p:nvSpPr>
          <p:spPr>
            <a:xfrm>
              <a:off x="5815965" y="1524000"/>
              <a:ext cx="5842635" cy="430530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056948" y="165544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名次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459028" y="165544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语言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095422" y="165544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份额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0291572" y="1655445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是否面向对象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171846" y="208502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738556" y="2085022"/>
              <a:ext cx="55031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Python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974264" y="2085022"/>
              <a:ext cx="5775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18.04%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0695432" y="2085022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5815965" y="2379345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5815965" y="2384108"/>
              <a:ext cx="5842635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171846" y="251555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738556" y="2515552"/>
              <a:ext cx="29382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C++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974264" y="2515552"/>
              <a:ext cx="5775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10.04%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0695432" y="2515552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5815965" y="2809875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171846" y="294608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6738556" y="2946082"/>
              <a:ext cx="10607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9018689" y="2946082"/>
              <a:ext cx="48874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9.17%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0695432" y="2946082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5815965" y="323945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5815965" y="3244215"/>
              <a:ext cx="5842635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6171846" y="337566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6738556" y="3375660"/>
              <a:ext cx="37261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9018689" y="3375660"/>
              <a:ext cx="48874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9.16%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0695432" y="3375660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5815965" y="366998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6171846" y="380619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6738556" y="3806190"/>
              <a:ext cx="19994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C#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9018689" y="3806190"/>
              <a:ext cx="48874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6.39%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0695432" y="3806190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5815965" y="1524000"/>
              <a:ext cx="5842635" cy="258127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8" name="Rectangle 68"/>
            <p:cNvSpPr/>
            <p:nvPr/>
          </p:nvSpPr>
          <p:spPr>
            <a:xfrm>
              <a:off x="6628448" y="1524000"/>
              <a:ext cx="9525" cy="25812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9" name="Rectangle 69"/>
            <p:cNvSpPr/>
            <p:nvPr/>
          </p:nvSpPr>
          <p:spPr>
            <a:xfrm>
              <a:off x="8615362" y="1524000"/>
              <a:ext cx="9525" cy="25812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0" name="Rectangle 70"/>
            <p:cNvSpPr/>
            <p:nvPr/>
          </p:nvSpPr>
          <p:spPr>
            <a:xfrm>
              <a:off x="9901238" y="1524000"/>
              <a:ext cx="9525" cy="25812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5810250" y="4180999"/>
              <a:ext cx="27459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2024 年 8 月 TIOBE 编程语言排行榜前五</a:t>
              </a:r>
            </a:p>
          </p:txBody>
        </p:sp>
      </p:grpSp>
      <p:grpSp>
        <p:nvGrpSpPr>
          <p:cNvPr id="79" name="c2-card-2"/>
          <p:cNvGrpSpPr/>
          <p:nvPr/>
        </p:nvGrpSpPr>
        <p:grpSpPr>
          <a:xfrm>
            <a:off x="5815965" y="4541520"/>
            <a:ext cx="5842635" cy="1777365"/>
            <a:chOff x="5815965" y="4541520"/>
            <a:chExt cx="5842635" cy="1777365"/>
          </a:xfrm>
        </p:grpSpPr>
        <p:sp>
          <p:nvSpPr>
            <p:cNvPr id="73" name="Rectangle 73"/>
            <p:cNvSpPr/>
            <p:nvPr/>
          </p:nvSpPr>
          <p:spPr>
            <a:xfrm>
              <a:off x="5815965" y="4541520"/>
              <a:ext cx="5842635" cy="1777365"/>
            </a:xfrm>
            <a:prstGeom prst="roundRect">
              <a:avLst>
                <a:gd name="adj" fmla="val 750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74" name="Rectangle 74"/>
            <p:cNvSpPr/>
            <p:nvPr/>
          </p:nvSpPr>
          <p:spPr>
            <a:xfrm>
              <a:off x="5825490" y="4674870"/>
              <a:ext cx="47625" cy="151066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75" name="Rectangle 75"/>
            <p:cNvSpPr/>
            <p:nvPr/>
          </p:nvSpPr>
          <p:spPr>
            <a:xfrm>
              <a:off x="6057900" y="4745355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6139256" y="478107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读这张表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6050661" y="5118259"/>
              <a:ext cx="4955794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前五里有四门是面向对象语言，再往后 JavaScript、Visual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Basic 也是。除 C 和 SQL 外，常用语言基本都支持面向对象。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6051804" y="5706428"/>
              <a:ext cx="519379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语言支持面向对象，不等于写出来的代码就是面向对象的。仍要用四要素来判</a:t>
              </a:r>
              <a:br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断。</a:t>
              </a:r>
            </a:p>
          </p:txBody>
        </p:sp>
      </p:grpSp>
      <p:grpSp>
        <p:nvGrpSpPr>
          <p:cNvPr id="8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0" name="TextBox 80"/>
            <p:cNvSpPr txBox="1"/>
            <p:nvPr/>
          </p:nvSpPr>
          <p:spPr>
            <a:xfrm>
              <a:off x="528447" y="6581299"/>
              <a:ext cx="266824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课程概述与面向对象设计复用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680912" cy="909257"/>
            <a:chOff x="520446" y="342900"/>
            <a:chExt cx="768091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3937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627" y="407194"/>
              <a:ext cx="2525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00 概述与复用 · 为什么要学设计模式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68091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 Simula 67 到设计模式：经验是怎样沉淀下来的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1" name="c1-flow-1"/>
          <p:cNvGrpSpPr/>
          <p:nvPr/>
        </p:nvGrpSpPr>
        <p:grpSpPr>
          <a:xfrm>
            <a:off x="672465" y="2111692"/>
            <a:ext cx="5673091" cy="3663316"/>
            <a:chOff x="672465" y="2111692"/>
            <a:chExt cx="5673091" cy="3663316"/>
          </a:xfrm>
        </p:grpSpPr>
        <p:sp>
          <p:nvSpPr>
            <p:cNvPr id="7" name="Freeform 7"/>
            <p:cNvSpPr/>
            <p:nvPr/>
          </p:nvSpPr>
          <p:spPr>
            <a:xfrm>
              <a:off x="1524952" y="2654618"/>
              <a:ext cx="1984057" cy="974408"/>
            </a:xfrm>
            <a:custGeom>
              <a:avLst/>
              <a:gdLst/>
              <a:ahLst/>
              <a:cxnLst/>
              <a:rect l="l" t="t" r="r" b="b"/>
              <a:pathLst>
                <a:path w="1984057" h="974408">
                  <a:moveTo>
                    <a:pt x="0" y="974408"/>
                  </a:moveTo>
                  <a:lnTo>
                    <a:pt x="0" y="434340"/>
                  </a:lnTo>
                  <a:lnTo>
                    <a:pt x="1984057" y="434340"/>
                  </a:lnTo>
                  <a:lnTo>
                    <a:pt x="1984057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3456622" y="254984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0"/>
                  </a:moveTo>
                  <a:lnTo>
                    <a:pt x="104775" y="104775"/>
                  </a:lnTo>
                  <a:lnTo>
                    <a:pt x="0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4362450" y="2330768"/>
              <a:ext cx="172403" cy="9525"/>
            </a:xfrm>
            <a:custGeom>
              <a:avLst/>
              <a:gdLst/>
              <a:ahLst/>
              <a:cxnLst/>
              <a:rect l="l" t="t" r="r" b="b"/>
              <a:pathLst>
                <a:path w="172403" h="9525">
                  <a:moveTo>
                    <a:pt x="0" y="0"/>
                  </a:moveTo>
                  <a:lnTo>
                    <a:pt x="172403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4534852" y="227838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2378392" y="3943350"/>
              <a:ext cx="172403" cy="9525"/>
            </a:xfrm>
            <a:custGeom>
              <a:avLst/>
              <a:gdLst/>
              <a:ahLst/>
              <a:cxnLst/>
              <a:rect l="l" t="t" r="r" b="b"/>
              <a:pathLst>
                <a:path w="172403" h="9525">
                  <a:moveTo>
                    <a:pt x="0" y="0"/>
                  </a:moveTo>
                  <a:lnTo>
                    <a:pt x="172403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2550795" y="389096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3509010" y="4257675"/>
              <a:ext cx="9525" cy="974407"/>
            </a:xfrm>
            <a:custGeom>
              <a:avLst/>
              <a:gdLst/>
              <a:ahLst/>
              <a:cxnLst/>
              <a:rect l="l" t="t" r="r" b="b"/>
              <a:pathLst>
                <a:path w="9525" h="974407">
                  <a:moveTo>
                    <a:pt x="0" y="0"/>
                  </a:moveTo>
                  <a:lnTo>
                    <a:pt x="0" y="974407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3456622" y="523208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5493068" y="2549842"/>
              <a:ext cx="9525" cy="2682240"/>
            </a:xfrm>
            <a:custGeom>
              <a:avLst/>
              <a:gdLst/>
              <a:ahLst/>
              <a:cxnLst/>
              <a:rect l="l" t="t" r="r" b="b"/>
              <a:pathLst>
                <a:path w="9525" h="2682240">
                  <a:moveTo>
                    <a:pt x="0" y="0"/>
                  </a:moveTo>
                  <a:lnTo>
                    <a:pt x="0" y="268224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5440680" y="523208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4362450" y="5555932"/>
              <a:ext cx="172403" cy="9525"/>
            </a:xfrm>
            <a:custGeom>
              <a:avLst/>
              <a:gdLst/>
              <a:ahLst/>
              <a:cxnLst/>
              <a:rect l="l" t="t" r="r" b="b"/>
              <a:pathLst>
                <a:path w="172403" h="9525">
                  <a:moveTo>
                    <a:pt x="0" y="0"/>
                  </a:moveTo>
                  <a:lnTo>
                    <a:pt x="172403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4534852" y="550354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672465" y="3629025"/>
              <a:ext cx="1705928" cy="629602"/>
            </a:xfrm>
            <a:prstGeom prst="roundRect">
              <a:avLst>
                <a:gd name="adj" fmla="val 15129"/>
              </a:avLst>
            </a:prstGeom>
            <a:solidFill>
              <a:srgbClr val="EEEAF7"/>
            </a:solidFill>
            <a:ln w="19050">
              <a:solidFill>
                <a:srgbClr val="5B3FA0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2655570" y="2111692"/>
              <a:ext cx="1705928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5B3FA0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4639628" y="2111692"/>
              <a:ext cx="1705928" cy="438150"/>
            </a:xfrm>
            <a:prstGeom prst="roundRect">
              <a:avLst>
                <a:gd name="adj" fmla="val 21739"/>
              </a:avLst>
            </a:prstGeom>
            <a:solidFill>
              <a:srgbClr val="EEEAF7"/>
            </a:solidFill>
            <a:ln w="19050">
              <a:solidFill>
                <a:srgbClr val="5B3FA0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2655570" y="3629025"/>
              <a:ext cx="1705928" cy="629602"/>
            </a:xfrm>
            <a:prstGeom prst="roundRect">
              <a:avLst>
                <a:gd name="adj" fmla="val 15129"/>
              </a:avLst>
            </a:prstGeom>
            <a:solidFill>
              <a:srgbClr val="FFFFFF"/>
            </a:solidFill>
            <a:ln w="15240">
              <a:solidFill>
                <a:srgbClr val="5B3FA0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2655570" y="5336858"/>
              <a:ext cx="1705928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5B3FA0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4639628" y="5336858"/>
              <a:ext cx="1705928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5B3FA0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33259" y="3744754"/>
              <a:ext cx="1183386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① OOP 面向对象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编程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912359" y="2241709"/>
              <a:ext cx="119330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② 可重用构件群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5068730" y="2241709"/>
              <a:ext cx="84867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③ 设计模式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852293" y="3744754"/>
              <a:ext cx="1313434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④ UML 统一建模语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言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912359" y="5466874"/>
              <a:ext cx="119330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⑤ 上流工程建模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5068730" y="5466874"/>
              <a:ext cx="84867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⑥ 开发流程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2136458" y="2872740"/>
              <a:ext cx="7620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2158746" y="2899410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利用并创建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4186238" y="2114550"/>
              <a:ext cx="62865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212526" y="214122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提取思想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3537585" y="4705350"/>
              <a:ext cx="62865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3560826" y="473202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用图表示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521642" y="3850958"/>
              <a:ext cx="62865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5544884" y="3877628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指导设计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4186238" y="5339715"/>
              <a:ext cx="62865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4212526" y="5366385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推进开发</a:t>
              </a:r>
            </a:p>
          </p:txBody>
        </p:sp>
      </p:grpSp>
      <p:grpSp>
        <p:nvGrpSpPr>
          <p:cNvPr id="53" name="c2-kv-1"/>
          <p:cNvGrpSpPr/>
          <p:nvPr/>
        </p:nvGrpSpPr>
        <p:grpSpPr>
          <a:xfrm>
            <a:off x="6781800" y="1548765"/>
            <a:ext cx="4876800" cy="2741295"/>
            <a:chOff x="6781800" y="1548765"/>
            <a:chExt cx="4876800" cy="2741295"/>
          </a:xfrm>
        </p:grpSpPr>
        <p:sp>
          <p:nvSpPr>
            <p:cNvPr id="42" name="TextBox 42"/>
            <p:cNvSpPr txBox="1"/>
            <p:nvPr/>
          </p:nvSpPr>
          <p:spPr>
            <a:xfrm>
              <a:off x="6781800" y="1548765"/>
              <a:ext cx="48169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1967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945755" y="1548765"/>
              <a:ext cx="34442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挪威的 Simula 67 首次提供类、继承、多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态，被视为最早的面向对象语言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6789420" y="2150745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781800" y="2270760"/>
              <a:ext cx="95402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Smalltalk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945755" y="2270760"/>
              <a:ext cx="346329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沿用这套结构，确立了“面向对象”这个概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念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6789420" y="2872740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781800" y="299275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其后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945755" y="2992755"/>
              <a:ext cx="34442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C++、Objective-C、Java、C# 等相继出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现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6789420" y="3594735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781800" y="3714750"/>
              <a:ext cx="48169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1994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945755" y="3714750"/>
              <a:ext cx="3434715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GoF 出版《设计模式：可复用面向对象软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件的基础》，编目 23 个模式</a:t>
              </a:r>
            </a:p>
          </p:txBody>
        </p:sp>
      </p:grpSp>
      <p:grpSp>
        <p:nvGrpSpPr>
          <p:cNvPr id="58" name="c2-card-2"/>
          <p:cNvGrpSpPr/>
          <p:nvPr/>
        </p:nvGrpSpPr>
        <p:grpSpPr>
          <a:xfrm>
            <a:off x="6789420" y="4421505"/>
            <a:ext cx="4869180" cy="1602105"/>
            <a:chOff x="6789420" y="4421505"/>
            <a:chExt cx="4869180" cy="1602105"/>
          </a:xfrm>
        </p:grpSpPr>
        <p:sp>
          <p:nvSpPr>
            <p:cNvPr id="54" name="Rectangle 54"/>
            <p:cNvSpPr/>
            <p:nvPr/>
          </p:nvSpPr>
          <p:spPr>
            <a:xfrm>
              <a:off x="6789420" y="4421505"/>
              <a:ext cx="4869180" cy="1602105"/>
            </a:xfrm>
            <a:prstGeom prst="roundRect">
              <a:avLst>
                <a:gd name="adj" fmla="val 8323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6998970" y="4631055"/>
              <a:ext cx="1204912" cy="257175"/>
            </a:xfrm>
            <a:prstGeom prst="roundRect">
              <a:avLst>
                <a:gd name="adj" fmla="val 50000"/>
              </a:avLst>
            </a:prstGeom>
            <a:solidFill>
              <a:srgbClr val="462F80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7068477" y="4666774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这条线索的逻辑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6991350" y="5008245"/>
              <a:ext cx="42443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用 OOPL 写多了，就攒出类库和框架；从类库和框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架里反复出现的写法中提取思想，就成了设计模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式。</a:t>
              </a:r>
            </a:p>
          </p:txBody>
        </p:sp>
      </p:grpSp>
      <p:grpSp>
        <p:nvGrpSpPr>
          <p:cNvPr id="6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9" name="TextBox 59"/>
            <p:cNvSpPr txBox="1"/>
            <p:nvPr/>
          </p:nvSpPr>
          <p:spPr>
            <a:xfrm>
              <a:off x="528447" y="6581299"/>
              <a:ext cx="266824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课程概述与面向对象设计复用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5B3FA0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EEAF7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4691253" cy="2997517"/>
            <a:chOff x="667512" y="1835468"/>
            <a:chExt cx="4691253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第二部分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42900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课程地图与学法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68134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这门课要讲哪些内容，考什么，怎么学才不白学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97396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四大板块与 23 个模式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六条学习目标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考核方式与学习建议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266824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课程概述与面向对象设计复用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474442" cy="909257"/>
            <a:chOff x="520446" y="342900"/>
            <a:chExt cx="64744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5458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8479" y="407194"/>
              <a:ext cx="2224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00 概述与复用 · 课程地图与学法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4744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课程四大板块：先立规矩，再学 23 个模式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1" name="c1-tree-1"/>
          <p:cNvGrpSpPr/>
          <p:nvPr/>
        </p:nvGrpSpPr>
        <p:grpSpPr>
          <a:xfrm>
            <a:off x="533400" y="1624012"/>
            <a:ext cx="4328160" cy="2038351"/>
            <a:chOff x="533400" y="1624012"/>
            <a:chExt cx="4328160" cy="2038351"/>
          </a:xfrm>
        </p:grpSpPr>
        <p:sp>
          <p:nvSpPr>
            <p:cNvPr id="7" name="Freeform 7"/>
            <p:cNvSpPr/>
            <p:nvPr/>
          </p:nvSpPr>
          <p:spPr>
            <a:xfrm>
              <a:off x="2346960" y="1804035"/>
              <a:ext cx="419100" cy="839152"/>
            </a:xfrm>
            <a:custGeom>
              <a:avLst/>
              <a:gdLst/>
              <a:ahLst/>
              <a:cxnLst/>
              <a:rect l="l" t="t" r="r" b="b"/>
              <a:pathLst>
                <a:path w="419100" h="839152">
                  <a:moveTo>
                    <a:pt x="0" y="839152"/>
                  </a:moveTo>
                  <a:lnTo>
                    <a:pt x="209550" y="839152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2346960" y="2363152"/>
              <a:ext cx="419100" cy="280035"/>
            </a:xfrm>
            <a:custGeom>
              <a:avLst/>
              <a:gdLst/>
              <a:ahLst/>
              <a:cxnLst/>
              <a:rect l="l" t="t" r="r" b="b"/>
              <a:pathLst>
                <a:path w="419100" h="280035">
                  <a:moveTo>
                    <a:pt x="0" y="280035"/>
                  </a:moveTo>
                  <a:lnTo>
                    <a:pt x="209550" y="280035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9" name="Freeform 9"/>
            <p:cNvSpPr/>
            <p:nvPr/>
          </p:nvSpPr>
          <p:spPr>
            <a:xfrm>
              <a:off x="2346960" y="2643188"/>
              <a:ext cx="419100" cy="280035"/>
            </a:xfrm>
            <a:custGeom>
              <a:avLst/>
              <a:gdLst/>
              <a:ahLst/>
              <a:cxnLst/>
              <a:rect l="l" t="t" r="r" b="b"/>
              <a:pathLst>
                <a:path w="419100" h="280035">
                  <a:moveTo>
                    <a:pt x="0" y="0"/>
                  </a:moveTo>
                  <a:lnTo>
                    <a:pt x="209550" y="0"/>
                  </a:lnTo>
                  <a:lnTo>
                    <a:pt x="209550" y="280035"/>
                  </a:lnTo>
                  <a:lnTo>
                    <a:pt x="419100" y="280035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2346960" y="2643188"/>
              <a:ext cx="419100" cy="839153"/>
            </a:xfrm>
            <a:custGeom>
              <a:avLst/>
              <a:gdLst/>
              <a:ahLst/>
              <a:cxnLst/>
              <a:rect l="l" t="t" r="r" b="b"/>
              <a:pathLst>
                <a:path w="419100" h="839153">
                  <a:moveTo>
                    <a:pt x="0" y="0"/>
                  </a:moveTo>
                  <a:lnTo>
                    <a:pt x="209550" y="0"/>
                  </a:lnTo>
                  <a:lnTo>
                    <a:pt x="209550" y="839153"/>
                  </a:lnTo>
                  <a:lnTo>
                    <a:pt x="419100" y="839153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2766060" y="1624012"/>
              <a:ext cx="2095500" cy="360045"/>
            </a:xfrm>
            <a:prstGeom prst="roundRect">
              <a:avLst>
                <a:gd name="adj" fmla="val 2645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2766060" y="2183130"/>
              <a:ext cx="2095500" cy="360045"/>
            </a:xfrm>
            <a:prstGeom prst="roundRect">
              <a:avLst>
                <a:gd name="adj" fmla="val 2645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2766060" y="2743200"/>
              <a:ext cx="2095500" cy="360045"/>
            </a:xfrm>
            <a:prstGeom prst="roundRect">
              <a:avLst>
                <a:gd name="adj" fmla="val 2645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2766060" y="3302318"/>
              <a:ext cx="2095500" cy="360045"/>
            </a:xfrm>
            <a:prstGeom prst="roundRect">
              <a:avLst>
                <a:gd name="adj" fmla="val 2645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463165"/>
              <a:ext cx="1813560" cy="360045"/>
            </a:xfrm>
            <a:prstGeom prst="roundRect">
              <a:avLst>
                <a:gd name="adj" fmla="val 26455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2855214" y="1720215"/>
              <a:ext cx="12803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设计原则（7 条）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855214" y="2279332"/>
              <a:ext cx="118338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创建型（5 + 1）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855214" y="2839402"/>
              <a:ext cx="11187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结构型（7 个）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855214" y="3398520"/>
              <a:ext cx="120761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行为型（11 个）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22554" y="2559368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软件设计模式</a:t>
              </a:r>
            </a:p>
          </p:txBody>
        </p:sp>
      </p:grpSp>
      <p:grpSp>
        <p:nvGrpSpPr>
          <p:cNvPr id="30" name="c1-card-2"/>
          <p:cNvGrpSpPr/>
          <p:nvPr/>
        </p:nvGrpSpPr>
        <p:grpSpPr>
          <a:xfrm>
            <a:off x="533400" y="3942398"/>
            <a:ext cx="4328160" cy="2383155"/>
            <a:chOff x="533400" y="3942398"/>
            <a:chExt cx="4328160" cy="2383155"/>
          </a:xfrm>
        </p:grpSpPr>
        <p:sp>
          <p:nvSpPr>
            <p:cNvPr id="22" name="Rectangle 22"/>
            <p:cNvSpPr/>
            <p:nvPr/>
          </p:nvSpPr>
          <p:spPr>
            <a:xfrm>
              <a:off x="533400" y="3942398"/>
              <a:ext cx="4328160" cy="2383155"/>
            </a:xfrm>
            <a:prstGeom prst="roundRect">
              <a:avLst>
                <a:gd name="adj" fmla="val 559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542925" y="4075748"/>
              <a:ext cx="47625" cy="211645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769620" y="4140518"/>
              <a:ext cx="1276350" cy="247650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37057" y="4174808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两个容易混的记号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777240" y="4561522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33831" y="4501039"/>
              <a:ext cx="3558159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GoF 的 23 个模式不含</a:t>
              </a:r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简单工厂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，它是工厂方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法的简化形式，课程单列一讲。所以创建型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写成 5 + 1。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777240" y="5421630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33831" y="5362099"/>
              <a:ext cx="3522091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课程原则表里的 </a:t>
              </a:r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CRP 指合成复用原则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（Composite Reuse Principle）；包设计里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 CRP 是共同重用原则，两者不是一回事。</a:t>
              </a:r>
            </a:p>
          </p:txBody>
        </p:sp>
      </p:grpSp>
      <p:grpSp>
        <p:nvGrpSpPr>
          <p:cNvPr id="49" name="c2-table-1"/>
          <p:cNvGrpSpPr/>
          <p:nvPr/>
        </p:nvGrpSpPr>
        <p:grpSpPr>
          <a:xfrm>
            <a:off x="5166360" y="1524000"/>
            <a:ext cx="6492240" cy="2122170"/>
            <a:chOff x="5166360" y="1524000"/>
            <a:chExt cx="6492240" cy="2122170"/>
          </a:xfrm>
        </p:grpSpPr>
        <p:sp>
          <p:nvSpPr>
            <p:cNvPr id="31" name="Rectangle 31"/>
            <p:cNvSpPr/>
            <p:nvPr/>
          </p:nvSpPr>
          <p:spPr>
            <a:xfrm>
              <a:off x="5166360" y="1524000"/>
              <a:ext cx="6492240" cy="42481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5777865" y="165258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板块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943213" y="1652588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关注点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5268849" y="207645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设计原则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827139" y="2076450"/>
              <a:ext cx="27584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判断设计好坏的尺子，不依赖具体模式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166360" y="2367915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5166360" y="2372678"/>
              <a:ext cx="6492240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5268849" y="2501265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创建型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827139" y="2501265"/>
              <a:ext cx="234650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对象怎么造出来，把 new 隔离开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5166360" y="2792730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5268849" y="2926080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结构型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827139" y="2926080"/>
              <a:ext cx="22738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类和对象怎么组合成更大的结构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5166360" y="3216592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5166360" y="3221355"/>
              <a:ext cx="6492240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5268849" y="3349942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行为型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827139" y="3349942"/>
              <a:ext cx="24353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对象之间怎么分配职责、怎么协作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5166360" y="1524000"/>
              <a:ext cx="6492240" cy="212217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6719888" y="1524000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1" name="c2-kv-2"/>
          <p:cNvGrpSpPr/>
          <p:nvPr/>
        </p:nvGrpSpPr>
        <p:grpSpPr>
          <a:xfrm>
            <a:off x="5159121" y="3849529"/>
            <a:ext cx="6499479" cy="1795081"/>
            <a:chOff x="5159121" y="3849529"/>
            <a:chExt cx="6499479" cy="1795081"/>
          </a:xfrm>
        </p:grpSpPr>
        <p:sp>
          <p:nvSpPr>
            <p:cNvPr id="50" name="TextBox 50"/>
            <p:cNvSpPr txBox="1"/>
            <p:nvPr/>
          </p:nvSpPr>
          <p:spPr>
            <a:xfrm>
              <a:off x="5159121" y="3849529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设计原则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158294" y="3849529"/>
              <a:ext cx="34277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SRP、OCP、LSP、DIP、ISP、CRP、LoD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5166360" y="4152900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5159121" y="4265771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创建型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158294" y="4265771"/>
              <a:ext cx="460232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简单工厂、工厂方法、抽象工厂、建造者、原型、单例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5166360" y="4569142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5159121" y="4682014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结构型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6158294" y="4682014"/>
              <a:ext cx="40288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适配器、桥接、组合、装饰、外观、享元、代理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5166360" y="4985385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5159121" y="5098256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行为型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6158294" y="5098256"/>
              <a:ext cx="5063998" cy="5463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职责链、命令、解释器、迭代器、中介者、备忘录、观察者、状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态、策略、模板方法、访问者</a:t>
              </a:r>
            </a:p>
          </p:txBody>
        </p:sp>
      </p:grpSp>
      <p:grpSp>
        <p:nvGrpSpPr>
          <p:cNvPr id="6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2" name="TextBox 62"/>
            <p:cNvSpPr txBox="1"/>
            <p:nvPr/>
          </p:nvSpPr>
          <p:spPr>
            <a:xfrm>
              <a:off x="528447" y="6581299"/>
              <a:ext cx="266824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课程概述与面向对象设计复用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145280" cy="909257"/>
            <a:chOff x="520446" y="342900"/>
            <a:chExt cx="414528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5458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8479" y="407194"/>
              <a:ext cx="2224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00 概述与复用 · 课程地图与学法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14528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学习目标、考核与学习建议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6" name="c1-bullets-1"/>
          <p:cNvGrpSpPr/>
          <p:nvPr/>
        </p:nvGrpSpPr>
        <p:grpSpPr>
          <a:xfrm>
            <a:off x="525780" y="1548765"/>
            <a:ext cx="3420428" cy="2371725"/>
            <a:chOff x="525780" y="1548765"/>
            <a:chExt cx="3420428" cy="2371725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六条学习目标</a:t>
              </a:r>
            </a:p>
          </p:txBody>
        </p:sp>
        <p:sp>
          <p:nvSpPr>
            <p:cNvPr id="8" name="Ellipse 8"/>
            <p:cNvSpPr/>
            <p:nvPr/>
          </p:nvSpPr>
          <p:spPr>
            <a:xfrm>
              <a:off x="533400" y="1889760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95249" y="193205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34390" y="190309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提升面向对象分析与设计能力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533400" y="2234565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95249" y="227685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34390" y="2247900"/>
              <a:ext cx="311181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掌握常用设计原则和 GoF 设计模式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2579370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95249" y="262166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34390" y="2592705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学会在应用开发中运用设计模式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533400" y="2924175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95249" y="296646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34390" y="2937510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学会用模式重构代码和设计方案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533400" y="3268980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595249" y="331127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34390" y="3282315"/>
              <a:ext cx="249326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进一步熟悉建模工具与 UML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533400" y="3613785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595249" y="365607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34390" y="3627120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培养软件设计与架构思想</a:t>
              </a:r>
            </a:p>
          </p:txBody>
        </p:sp>
      </p:grpSp>
      <p:grpSp>
        <p:nvGrpSpPr>
          <p:cNvPr id="43" name="c1-table-2"/>
          <p:cNvGrpSpPr/>
          <p:nvPr/>
        </p:nvGrpSpPr>
        <p:grpSpPr>
          <a:xfrm>
            <a:off x="527685" y="4051935"/>
            <a:ext cx="5415915" cy="1869282"/>
            <a:chOff x="527685" y="4051935"/>
            <a:chExt cx="5415915" cy="1869282"/>
          </a:xfrm>
        </p:grpSpPr>
        <p:sp>
          <p:nvSpPr>
            <p:cNvPr id="27" name="Rectangle 27"/>
            <p:cNvSpPr/>
            <p:nvPr/>
          </p:nvSpPr>
          <p:spPr>
            <a:xfrm>
              <a:off x="533400" y="4051935"/>
              <a:ext cx="5410200" cy="448628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71398" y="4187666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考核项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193887" y="418766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占比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196042" y="418766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1223" y="463629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平时成绩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206810" y="4636294"/>
              <a:ext cx="3317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30%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2913888" y="4636294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出勤、测验、讨论、作业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3400" y="494442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533400" y="4949190"/>
              <a:ext cx="5410200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41223" y="519826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期末考试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2206810" y="5198269"/>
              <a:ext cx="3317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70%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2913888" y="5084921"/>
              <a:ext cx="277647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开卷；选择、判断、问答、分析、综合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533400" y="4051935"/>
              <a:ext cx="5410200" cy="157353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1935480" y="4051935"/>
              <a:ext cx="9525" cy="157353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2801302" y="4051935"/>
              <a:ext cx="9525" cy="157353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527685" y="5701189"/>
              <a:ext cx="4813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成绩分布：优秀 20%，良好 30%–40%，中等 30%，其余为及格与不及格</a:t>
              </a:r>
            </a:p>
          </p:txBody>
        </p:sp>
      </p:grpSp>
      <p:grpSp>
        <p:nvGrpSpPr>
          <p:cNvPr id="61" name="c2-card-1"/>
          <p:cNvGrpSpPr/>
          <p:nvPr/>
        </p:nvGrpSpPr>
        <p:grpSpPr>
          <a:xfrm>
            <a:off x="6248400" y="1524000"/>
            <a:ext cx="5410200" cy="3011805"/>
            <a:chOff x="6248400" y="1524000"/>
            <a:chExt cx="5410200" cy="3011805"/>
          </a:xfrm>
        </p:grpSpPr>
        <p:sp>
          <p:nvSpPr>
            <p:cNvPr id="44" name="Rectangle 44"/>
            <p:cNvSpPr/>
            <p:nvPr/>
          </p:nvSpPr>
          <p:spPr>
            <a:xfrm>
              <a:off x="6248400" y="1524000"/>
              <a:ext cx="5410200" cy="3011805"/>
            </a:xfrm>
            <a:prstGeom prst="roundRect">
              <a:avLst>
                <a:gd name="adj" fmla="val 442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6257925" y="1657350"/>
              <a:ext cx="47625" cy="2745105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6496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586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097078" y="1768792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六条学习建议</a:t>
              </a:r>
            </a:p>
          </p:txBody>
        </p:sp>
        <p:sp>
          <p:nvSpPr>
            <p:cNvPr id="49" name="Ellipse 49"/>
            <p:cNvSpPr/>
            <p:nvPr/>
          </p:nvSpPr>
          <p:spPr>
            <a:xfrm>
              <a:off x="6501765" y="219265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659880" y="2129790"/>
              <a:ext cx="4587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需求导向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：先看企业岗位要求的是什么能力，再倒推该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练什么</a:t>
              </a:r>
            </a:p>
          </p:txBody>
        </p:sp>
        <p:sp>
          <p:nvSpPr>
            <p:cNvPr id="51" name="Ellipse 51"/>
            <p:cNvSpPr/>
            <p:nvPr/>
          </p:nvSpPr>
          <p:spPr>
            <a:xfrm>
              <a:off x="6501765" y="281368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659880" y="275082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培养兴趣、自我激励</a:t>
              </a:r>
            </a:p>
          </p:txBody>
        </p:sp>
        <p:sp>
          <p:nvSpPr>
            <p:cNvPr id="53" name="Ellipse 53"/>
            <p:cNvSpPr/>
            <p:nvPr/>
          </p:nvSpPr>
          <p:spPr>
            <a:xfrm>
              <a:off x="6501765" y="314896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659880" y="3086100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选择合适的书籍</a:t>
              </a:r>
            </a:p>
          </p:txBody>
        </p:sp>
        <p:sp>
          <p:nvSpPr>
            <p:cNvPr id="55" name="Ellipse 55"/>
            <p:cNvSpPr/>
            <p:nvPr/>
          </p:nvSpPr>
          <p:spPr>
            <a:xfrm>
              <a:off x="6501765" y="348424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659880" y="3421380"/>
              <a:ext cx="44577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别指望看第一遍书就能记住，要看第二遍、第三遍</a:t>
              </a:r>
            </a:p>
          </p:txBody>
        </p:sp>
        <p:sp>
          <p:nvSpPr>
            <p:cNvPr id="57" name="Ellipse 57"/>
            <p:cNvSpPr/>
            <p:nvPr/>
          </p:nvSpPr>
          <p:spPr>
            <a:xfrm>
              <a:off x="6501765" y="381952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6659880" y="3756660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思考与练习并重</a:t>
              </a:r>
            </a:p>
          </p:txBody>
        </p:sp>
        <p:sp>
          <p:nvSpPr>
            <p:cNvPr id="59" name="Ellipse 59"/>
            <p:cNvSpPr/>
            <p:nvPr/>
          </p:nvSpPr>
          <p:spPr>
            <a:xfrm>
              <a:off x="6501765" y="415480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6659880" y="4091940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到项目实训、工程实践里真正用一次</a:t>
              </a:r>
            </a:p>
          </p:txBody>
        </p:sp>
      </p:grpSp>
      <p:grpSp>
        <p:nvGrpSpPr>
          <p:cNvPr id="73" name="c2-kv-2"/>
          <p:cNvGrpSpPr/>
          <p:nvPr/>
        </p:nvGrpSpPr>
        <p:grpSpPr>
          <a:xfrm>
            <a:off x="6240780" y="4751070"/>
            <a:ext cx="5417820" cy="1613535"/>
            <a:chOff x="6240780" y="4751070"/>
            <a:chExt cx="5417820" cy="1613535"/>
          </a:xfrm>
        </p:grpSpPr>
        <p:sp>
          <p:nvSpPr>
            <p:cNvPr id="62" name="TextBox 62"/>
            <p:cNvSpPr txBox="1"/>
            <p:nvPr/>
          </p:nvSpPr>
          <p:spPr>
            <a:xfrm>
              <a:off x="6240780" y="4751070"/>
              <a:ext cx="236469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《Head First 设计模式》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8783002" y="4751070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入门最易读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6248400" y="507111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6240780" y="519112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《研磨设计模式》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8783002" y="519112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中文讲解最细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6248400" y="551116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6240780" y="5631180"/>
              <a:ext cx="158986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GoF《设计模式》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8783002" y="5631180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原著，当手册查</a:t>
              </a:r>
            </a:p>
          </p:txBody>
        </p:sp>
        <p:sp>
          <p:nvSpPr>
            <p:cNvPr id="70" name="Rectangle 70"/>
            <p:cNvSpPr/>
            <p:nvPr/>
          </p:nvSpPr>
          <p:spPr>
            <a:xfrm>
              <a:off x="6248400" y="595122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6240780" y="607123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《重构》《重构与模式》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8783002" y="607123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练看出坏味道的眼力</a:t>
              </a:r>
            </a:p>
          </p:txBody>
        </p:sp>
      </p:grpSp>
      <p:grpSp>
        <p:nvGrpSpPr>
          <p:cNvPr id="7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4" name="TextBox 74"/>
            <p:cNvSpPr txBox="1"/>
            <p:nvPr/>
          </p:nvSpPr>
          <p:spPr>
            <a:xfrm>
              <a:off x="528447" y="6581299"/>
              <a:ext cx="266824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课程概述与面向对象设计复用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5B3FA0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EEAF7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5367528" cy="2997517"/>
            <a:chOff x="667512" y="1835468"/>
            <a:chExt cx="5367528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第三部分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536752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面向对象设计的三个层次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68134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设计模式只是其中一层，先看清它上下都有什么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框架级设计与包的六个原则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类设计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代码设计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266824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课程概述与面向对象设计复用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951214" cy="909257"/>
            <a:chOff x="520446" y="342900"/>
            <a:chExt cx="895121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2322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1728" y="407194"/>
              <a:ext cx="28275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00 概述与复用 · 面向对象设计的三个层次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95121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面向对象设计做的事：把分析结果整理成能直接编码的形式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5193982" cy="1621155"/>
            <a:chOff x="533400" y="1524000"/>
            <a:chExt cx="5193982" cy="162115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193982" cy="1621155"/>
            </a:xfrm>
            <a:prstGeom prst="roundRect">
              <a:avLst>
                <a:gd name="adj" fmla="val 822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354455"/>
            </a:xfrm>
            <a:prstGeom prst="roundRect">
              <a:avLst>
                <a:gd name="adj" fmla="val 50000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82078" y="1768792"/>
              <a:ext cx="208993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面向对象设计（OOD）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129790"/>
              <a:ext cx="43967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面向对象设计的任务，是对面向对象分析的结果作进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一步的规范化整理，以便能够被面向对象编程直接接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受。</a:t>
              </a:r>
            </a:p>
          </p:txBody>
        </p:sp>
      </p:grpSp>
      <p:grpSp>
        <p:nvGrpSpPr>
          <p:cNvPr id="40" name="c1-table-2"/>
          <p:cNvGrpSpPr/>
          <p:nvPr/>
        </p:nvGrpSpPr>
        <p:grpSpPr>
          <a:xfrm>
            <a:off x="533400" y="3335655"/>
            <a:ext cx="5193982" cy="2248852"/>
            <a:chOff x="533400" y="3335655"/>
            <a:chExt cx="5193982" cy="2248852"/>
          </a:xfrm>
        </p:grpSpPr>
        <p:sp>
          <p:nvSpPr>
            <p:cNvPr id="14" name="Rectangle 14"/>
            <p:cNvSpPr/>
            <p:nvPr/>
          </p:nvSpPr>
          <p:spPr>
            <a:xfrm>
              <a:off x="533400" y="3335655"/>
              <a:ext cx="5193982" cy="448628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26109" y="347138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层次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913509" y="347138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处理的对象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522624" y="347138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产物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14799" y="347138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对应的模式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1223" y="3920014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框架级设计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84223" y="3920014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一组协作的类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133916" y="3920014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包与体系结构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484560" y="392001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框架模式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422814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4232910"/>
              <a:ext cx="5193982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542925" y="4242435"/>
              <a:ext cx="1123950" cy="65627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1223" y="4481989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类设计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784223" y="4368641"/>
              <a:ext cx="98831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单个类及其关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133916" y="4481989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类图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386262" y="4242435"/>
              <a:ext cx="1331595" cy="65627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4484560" y="4481989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软件设计模式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33400" y="490442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41223" y="515731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代码设计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784223" y="5157311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类的具体实现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3133916" y="5043964"/>
              <a:ext cx="98831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源码与可执行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件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484560" y="515731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微模式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33400" y="3335655"/>
              <a:ext cx="5193982" cy="224885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1671638" y="3335655"/>
              <a:ext cx="9525" cy="22488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3021330" y="3335655"/>
              <a:ext cx="9525" cy="22488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4371975" y="3335655"/>
              <a:ext cx="9525" cy="22488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5" name="c2-flow-1"/>
          <p:cNvGrpSpPr/>
          <p:nvPr/>
        </p:nvGrpSpPr>
        <p:grpSpPr>
          <a:xfrm>
            <a:off x="6425565" y="1781175"/>
            <a:ext cx="4838700" cy="2343150"/>
            <a:chOff x="6425565" y="1781175"/>
            <a:chExt cx="4838700" cy="2343150"/>
          </a:xfrm>
        </p:grpSpPr>
        <p:sp>
          <p:nvSpPr>
            <p:cNvPr id="41" name="Freeform 41"/>
            <p:cNvSpPr/>
            <p:nvPr/>
          </p:nvSpPr>
          <p:spPr>
            <a:xfrm>
              <a:off x="8844915" y="2219325"/>
              <a:ext cx="9525" cy="409575"/>
            </a:xfrm>
            <a:custGeom>
              <a:avLst/>
              <a:gdLst/>
              <a:ahLst/>
              <a:cxnLst/>
              <a:rect l="l" t="t" r="r" b="b"/>
              <a:pathLst>
                <a:path w="9525" h="409575">
                  <a:moveTo>
                    <a:pt x="0" y="0"/>
                  </a:moveTo>
                  <a:lnTo>
                    <a:pt x="0" y="40957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2" name="Freeform 42"/>
            <p:cNvSpPr/>
            <p:nvPr/>
          </p:nvSpPr>
          <p:spPr>
            <a:xfrm>
              <a:off x="8792528" y="262890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3" name="Freeform 43"/>
            <p:cNvSpPr/>
            <p:nvPr/>
          </p:nvSpPr>
          <p:spPr>
            <a:xfrm>
              <a:off x="8844915" y="3171825"/>
              <a:ext cx="9525" cy="409575"/>
            </a:xfrm>
            <a:custGeom>
              <a:avLst/>
              <a:gdLst/>
              <a:ahLst/>
              <a:cxnLst/>
              <a:rect l="l" t="t" r="r" b="b"/>
              <a:pathLst>
                <a:path w="9525" h="409575">
                  <a:moveTo>
                    <a:pt x="0" y="0"/>
                  </a:moveTo>
                  <a:lnTo>
                    <a:pt x="0" y="40957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4" name="Freeform 44"/>
            <p:cNvSpPr/>
            <p:nvPr/>
          </p:nvSpPr>
          <p:spPr>
            <a:xfrm>
              <a:off x="8792528" y="358140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6425565" y="1781175"/>
              <a:ext cx="4838700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5B3FA0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6425565" y="2733675"/>
              <a:ext cx="4838700" cy="438150"/>
            </a:xfrm>
            <a:prstGeom prst="roundRect">
              <a:avLst>
                <a:gd name="adj" fmla="val 21739"/>
              </a:avLst>
            </a:prstGeom>
            <a:solidFill>
              <a:srgbClr val="EEEAF7"/>
            </a:solidFill>
            <a:ln w="19050">
              <a:solidFill>
                <a:srgbClr val="5B3FA0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6425565" y="3686175"/>
              <a:ext cx="4838700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5B3FA0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7718400" y="1911191"/>
              <a:ext cx="22530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框架级设计：类怎么分组成包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804556" y="2863691"/>
              <a:ext cx="2080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类设计：单个类怎么划职责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718400" y="3816191"/>
              <a:ext cx="22530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代码设计：实现、部署与性能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8873490" y="2384108"/>
              <a:ext cx="36195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8896731" y="2410778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细化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8873490" y="3336608"/>
              <a:ext cx="36195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8896731" y="3363278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落地</a:t>
              </a:r>
            </a:p>
          </p:txBody>
        </p:sp>
      </p:grpSp>
      <p:grpSp>
        <p:nvGrpSpPr>
          <p:cNvPr id="61" name="c2-callout-2"/>
          <p:cNvGrpSpPr/>
          <p:nvPr/>
        </p:nvGrpSpPr>
        <p:grpSpPr>
          <a:xfrm>
            <a:off x="6032182" y="4572000"/>
            <a:ext cx="5626418" cy="1012508"/>
            <a:chOff x="6032182" y="4572000"/>
            <a:chExt cx="5626418" cy="1012508"/>
          </a:xfrm>
        </p:grpSpPr>
        <p:sp>
          <p:nvSpPr>
            <p:cNvPr id="56" name="Rectangle 56"/>
            <p:cNvSpPr/>
            <p:nvPr/>
          </p:nvSpPr>
          <p:spPr>
            <a:xfrm>
              <a:off x="6032182" y="4572000"/>
              <a:ext cx="5626418" cy="1012508"/>
            </a:xfrm>
            <a:prstGeom prst="roundRect">
              <a:avLst>
                <a:gd name="adj" fmla="val 11289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59" name="Group 59"/>
            <p:cNvGrpSpPr/>
            <p:nvPr/>
          </p:nvGrpSpPr>
          <p:grpSpPr>
            <a:xfrm>
              <a:off x="6236970" y="4977767"/>
              <a:ext cx="200023" cy="200023"/>
              <a:chOff x="6236970" y="4977767"/>
              <a:chExt cx="200023" cy="200023"/>
            </a:xfrm>
          </p:grpSpPr>
          <p:sp>
            <p:nvSpPr>
              <p:cNvPr id="57" name="Freeform 57"/>
              <p:cNvSpPr/>
              <p:nvPr/>
            </p:nvSpPr>
            <p:spPr>
              <a:xfrm>
                <a:off x="6236970" y="497776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8" name="Freeform 58"/>
              <p:cNvSpPr/>
              <p:nvPr/>
            </p:nvSpPr>
            <p:spPr>
              <a:xfrm>
                <a:off x="6370320" y="504444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0" name="TextBox 60"/>
            <p:cNvSpPr txBox="1"/>
            <p:nvPr/>
          </p:nvSpPr>
          <p:spPr>
            <a:xfrm>
              <a:off x="6538912" y="4834890"/>
              <a:ext cx="46062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本课程的主战场是中间这一层。上一层管“类放哪儿”，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下一层管“代码长什么样”。</a:t>
              </a:r>
            </a:p>
          </p:txBody>
        </p:sp>
      </p:grpSp>
      <p:grpSp>
        <p:nvGrpSpPr>
          <p:cNvPr id="6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2" name="TextBox 62"/>
            <p:cNvSpPr txBox="1"/>
            <p:nvPr/>
          </p:nvSpPr>
          <p:spPr>
            <a:xfrm>
              <a:off x="528447" y="6581299"/>
              <a:ext cx="266824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课程概述与面向对象设计复用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91528" cy="909257"/>
            <a:chOff x="520446" y="342900"/>
            <a:chExt cx="68915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2322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1728" y="407194"/>
              <a:ext cx="28275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00 概述与复用 · 面向对象设计的三个层次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915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框架级设计：用包把类分组，六个原则管住包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8807856" cy="278702"/>
            <a:chOff x="526161" y="1547336"/>
            <a:chExt cx="8807856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880785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框架是从一类特定软件中提取出来的、可复用的一组相互协作的类，它通常定义了该类软件的体系结构。</a:t>
              </a:r>
            </a:p>
          </p:txBody>
        </p:sp>
      </p:grpSp>
      <p:grpSp>
        <p:nvGrpSpPr>
          <p:cNvPr id="43" name="c1-table-1"/>
          <p:cNvGrpSpPr/>
          <p:nvPr/>
        </p:nvGrpSpPr>
        <p:grpSpPr>
          <a:xfrm>
            <a:off x="528066" y="1941195"/>
            <a:ext cx="5631752" cy="4352544"/>
            <a:chOff x="528066" y="1941195"/>
            <a:chExt cx="5631752" cy="4352544"/>
          </a:xfrm>
        </p:grpSpPr>
        <p:sp>
          <p:nvSpPr>
            <p:cNvPr id="9" name="Rectangle 9"/>
            <p:cNvSpPr/>
            <p:nvPr/>
          </p:nvSpPr>
          <p:spPr>
            <a:xfrm>
              <a:off x="533400" y="1941195"/>
              <a:ext cx="5626418" cy="444818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3930" y="2069782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类别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707958" y="2069782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原则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902517" y="2069782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作用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73062" y="2514600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内聚性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870520" y="2514600"/>
              <a:ext cx="18420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重用发布等价原则 REP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120324" y="251460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复用粒度就是发布粒度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82606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2830830"/>
              <a:ext cx="5626418" cy="68484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73062" y="3078480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内聚性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870520" y="3078480"/>
              <a:ext cx="147858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共同重用原则 CRP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120324" y="2958465"/>
              <a:ext cx="1728216" cy="5040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会被一起用到的类才同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包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3510915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73062" y="3763327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内聚性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870520" y="3763327"/>
              <a:ext cx="147858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共同封闭原则 CCP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120324" y="3643312"/>
              <a:ext cx="1728216" cy="5040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会因同一原因改动的类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同包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419576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533400" y="4200525"/>
              <a:ext cx="5626418" cy="68484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73062" y="4448175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耦合性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870520" y="4448175"/>
              <a:ext cx="147858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无环依赖原则 ADP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120324" y="4328160"/>
              <a:ext cx="1728216" cy="5040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包之间的依赖不许出现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环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487965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73062" y="5133023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耦合性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870520" y="5133023"/>
              <a:ext cx="147858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稳定依赖原则 SDP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120324" y="5013008"/>
              <a:ext cx="1728216" cy="5040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只依赖比自己更稳定的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包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3400" y="5564505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533400" y="5569268"/>
              <a:ext cx="5626418" cy="44481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73062" y="5697855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耦合性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870520" y="5697855"/>
              <a:ext cx="147858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稳定抽象原则 SAP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120324" y="569785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越稳定的包越应该抽象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533400" y="1941195"/>
              <a:ext cx="5626418" cy="407289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1766888" y="1941195"/>
              <a:ext cx="9525" cy="40728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4016692" y="1941195"/>
              <a:ext cx="9525" cy="40728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528066" y="6088380"/>
              <a:ext cx="399676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前三条回答“类该放进哪个包”，后三条回答“包与包之间怎么连”</a:t>
              </a:r>
            </a:p>
          </p:txBody>
        </p:sp>
      </p:grpSp>
      <p:grpSp>
        <p:nvGrpSpPr>
          <p:cNvPr id="62" name="c2-flow-1"/>
          <p:cNvGrpSpPr/>
          <p:nvPr/>
        </p:nvGrpSpPr>
        <p:grpSpPr>
          <a:xfrm>
            <a:off x="6828472" y="2027872"/>
            <a:ext cx="4466272" cy="2687956"/>
            <a:chOff x="6828472" y="2027872"/>
            <a:chExt cx="4466272" cy="2687956"/>
          </a:xfrm>
        </p:grpSpPr>
        <p:sp>
          <p:nvSpPr>
            <p:cNvPr id="44" name="Freeform 44"/>
            <p:cNvSpPr/>
            <p:nvPr/>
          </p:nvSpPr>
          <p:spPr>
            <a:xfrm>
              <a:off x="9062085" y="2426970"/>
              <a:ext cx="9525" cy="68580"/>
            </a:xfrm>
            <a:custGeom>
              <a:avLst/>
              <a:gdLst/>
              <a:ahLst/>
              <a:cxnLst/>
              <a:rect l="l" t="t" r="r" b="b"/>
              <a:pathLst>
                <a:path w="9525" h="68580">
                  <a:moveTo>
                    <a:pt x="0" y="0"/>
                  </a:moveTo>
                  <a:lnTo>
                    <a:pt x="0" y="6858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9009698" y="249555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6" name="Freeform 46"/>
            <p:cNvSpPr/>
            <p:nvPr/>
          </p:nvSpPr>
          <p:spPr>
            <a:xfrm>
              <a:off x="9062085" y="2999422"/>
              <a:ext cx="9525" cy="68580"/>
            </a:xfrm>
            <a:custGeom>
              <a:avLst/>
              <a:gdLst/>
              <a:ahLst/>
              <a:cxnLst/>
              <a:rect l="l" t="t" r="r" b="b"/>
              <a:pathLst>
                <a:path w="9525" h="68580">
                  <a:moveTo>
                    <a:pt x="0" y="0"/>
                  </a:moveTo>
                  <a:lnTo>
                    <a:pt x="0" y="6858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7" name="Freeform 47"/>
            <p:cNvSpPr/>
            <p:nvPr/>
          </p:nvSpPr>
          <p:spPr>
            <a:xfrm>
              <a:off x="9009698" y="306800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8" name="Freeform 48"/>
            <p:cNvSpPr/>
            <p:nvPr/>
          </p:nvSpPr>
          <p:spPr>
            <a:xfrm>
              <a:off x="9062085" y="3570922"/>
              <a:ext cx="9525" cy="68580"/>
            </a:xfrm>
            <a:custGeom>
              <a:avLst/>
              <a:gdLst/>
              <a:ahLst/>
              <a:cxnLst/>
              <a:rect l="l" t="t" r="r" b="b"/>
              <a:pathLst>
                <a:path w="9525" h="68580">
                  <a:moveTo>
                    <a:pt x="0" y="0"/>
                  </a:moveTo>
                  <a:lnTo>
                    <a:pt x="0" y="6858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9" name="Freeform 49"/>
            <p:cNvSpPr/>
            <p:nvPr/>
          </p:nvSpPr>
          <p:spPr>
            <a:xfrm>
              <a:off x="9009698" y="363950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50" name="Freeform 50"/>
            <p:cNvSpPr/>
            <p:nvPr/>
          </p:nvSpPr>
          <p:spPr>
            <a:xfrm>
              <a:off x="9062085" y="4143375"/>
              <a:ext cx="9525" cy="68580"/>
            </a:xfrm>
            <a:custGeom>
              <a:avLst/>
              <a:gdLst/>
              <a:ahLst/>
              <a:cxnLst/>
              <a:rect l="l" t="t" r="r" b="b"/>
              <a:pathLst>
                <a:path w="9525" h="68580">
                  <a:moveTo>
                    <a:pt x="0" y="0"/>
                  </a:moveTo>
                  <a:lnTo>
                    <a:pt x="0" y="6858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51" name="Freeform 51"/>
            <p:cNvSpPr/>
            <p:nvPr/>
          </p:nvSpPr>
          <p:spPr>
            <a:xfrm>
              <a:off x="9009698" y="421195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6828472" y="2027872"/>
              <a:ext cx="4466272" cy="399098"/>
            </a:xfrm>
            <a:prstGeom prst="roundRect">
              <a:avLst>
                <a:gd name="adj" fmla="val 23866"/>
              </a:avLst>
            </a:prstGeom>
            <a:solidFill>
              <a:srgbClr val="FFFFFF"/>
            </a:solidFill>
            <a:ln w="15240">
              <a:solidFill>
                <a:srgbClr val="5B3FA0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6828472" y="2600325"/>
              <a:ext cx="4466272" cy="399098"/>
            </a:xfrm>
            <a:prstGeom prst="roundRect">
              <a:avLst>
                <a:gd name="adj" fmla="val 19093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6828472" y="3172778"/>
              <a:ext cx="4466272" cy="399098"/>
            </a:xfrm>
            <a:prstGeom prst="roundRect">
              <a:avLst>
                <a:gd name="adj" fmla="val 23866"/>
              </a:avLst>
            </a:prstGeom>
            <a:solidFill>
              <a:srgbClr val="FFFFFF"/>
            </a:solidFill>
            <a:ln w="15240">
              <a:solidFill>
                <a:srgbClr val="5B3FA0"/>
              </a:solidFill>
            </a:ln>
          </p:spPr>
        </p:sp>
        <p:sp>
          <p:nvSpPr>
            <p:cNvPr id="55" name="Rectangle 55"/>
            <p:cNvSpPr/>
            <p:nvPr/>
          </p:nvSpPr>
          <p:spPr>
            <a:xfrm>
              <a:off x="6828472" y="3744278"/>
              <a:ext cx="4466272" cy="399098"/>
            </a:xfrm>
            <a:prstGeom prst="roundRect">
              <a:avLst>
                <a:gd name="adj" fmla="val 19093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6828472" y="4316730"/>
              <a:ext cx="4466272" cy="399098"/>
            </a:xfrm>
            <a:prstGeom prst="roundRect">
              <a:avLst>
                <a:gd name="adj" fmla="val 23866"/>
              </a:avLst>
            </a:prstGeom>
            <a:solidFill>
              <a:srgbClr val="FFFFFF"/>
            </a:solidFill>
            <a:ln w="15240">
              <a:solidFill>
                <a:srgbClr val="5B3FA0"/>
              </a:solidFill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8135508" y="2149316"/>
              <a:ext cx="18531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UI 层：应用窗口、界面组件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8397159" y="2720816"/>
              <a:ext cx="13298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«Facade» 服务接口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7676784" y="3293269"/>
              <a:ext cx="27706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业务对象层：控制 / 实体 / 外部业务对象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095610" y="3865721"/>
              <a:ext cx="19329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«Facade» 对象到关系转换包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8282015" y="4437221"/>
              <a:ext cx="15601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数据库层：SQL 产生器</a:t>
              </a:r>
            </a:p>
          </p:txBody>
        </p:sp>
      </p:grpSp>
      <p:grpSp>
        <p:nvGrpSpPr>
          <p:cNvPr id="69" name="c2-card-2"/>
          <p:cNvGrpSpPr/>
          <p:nvPr/>
        </p:nvGrpSpPr>
        <p:grpSpPr>
          <a:xfrm>
            <a:off x="6464618" y="4976812"/>
            <a:ext cx="5193982" cy="1275398"/>
            <a:chOff x="6464618" y="4976812"/>
            <a:chExt cx="5193982" cy="1275398"/>
          </a:xfrm>
        </p:grpSpPr>
        <p:sp>
          <p:nvSpPr>
            <p:cNvPr id="63" name="Rectangle 63"/>
            <p:cNvSpPr/>
            <p:nvPr/>
          </p:nvSpPr>
          <p:spPr>
            <a:xfrm>
              <a:off x="6464618" y="4976812"/>
              <a:ext cx="5193982" cy="1275398"/>
            </a:xfrm>
            <a:prstGeom prst="roundRect">
              <a:avLst>
                <a:gd name="adj" fmla="val 1045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4" name="Rectangle 64"/>
            <p:cNvSpPr/>
            <p:nvPr/>
          </p:nvSpPr>
          <p:spPr>
            <a:xfrm>
              <a:off x="6474142" y="5110162"/>
              <a:ext cx="47625" cy="100869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65" name="Rectangle 65"/>
            <p:cNvSpPr/>
            <p:nvPr/>
          </p:nvSpPr>
          <p:spPr>
            <a:xfrm>
              <a:off x="6695122" y="5169218"/>
              <a:ext cx="34290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6790563" y="5203508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7145464" y="5209223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三层的逻辑框架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6688264" y="5543550"/>
              <a:ext cx="423138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上下两层之间各夹一个 Facade（外观）包。上层只认识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Facade 提供的服务接口，下层换实现时上层不用动。</a:t>
              </a:r>
            </a:p>
          </p:txBody>
        </p:sp>
      </p:grpSp>
      <p:grpSp>
        <p:nvGrpSpPr>
          <p:cNvPr id="7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0" name="TextBox 70"/>
            <p:cNvSpPr txBox="1"/>
            <p:nvPr/>
          </p:nvSpPr>
          <p:spPr>
            <a:xfrm>
              <a:off x="528447" y="6581299"/>
              <a:ext cx="266824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课程概述与面向对象设计复用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61685" cy="909257"/>
            <a:chOff x="520446" y="342900"/>
            <a:chExt cx="58616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2322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1728" y="407194"/>
              <a:ext cx="28275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00 概述与复用 · 面向对象设计的三个层次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616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代码设计：类是逻辑的，代码是物理的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bullets-1"/>
          <p:cNvGrpSpPr/>
          <p:nvPr/>
        </p:nvGrpSpPr>
        <p:grpSpPr>
          <a:xfrm>
            <a:off x="525780" y="1548765"/>
            <a:ext cx="4023360" cy="1337310"/>
            <a:chOff x="525780" y="1548765"/>
            <a:chExt cx="4023360" cy="133731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代码设计要考虑什么</a:t>
              </a:r>
            </a:p>
          </p:txBody>
        </p:sp>
        <p:sp>
          <p:nvSpPr>
            <p:cNvPr id="8" name="Ellipse 8"/>
            <p:cNvSpPr/>
            <p:nvPr/>
          </p:nvSpPr>
          <p:spPr>
            <a:xfrm>
              <a:off x="539115" y="1965960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97230" y="1903095"/>
              <a:ext cx="36499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代码的形式（源码、二进制、可执行件）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9115" y="231076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97230" y="2247900"/>
              <a:ext cx="38519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部署方式和位置（本地库、动态库、服务）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9115" y="2655570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97230" y="259270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性能、可靠性、可移植性</a:t>
              </a:r>
            </a:p>
          </p:txBody>
        </p:sp>
      </p:grpSp>
      <p:grpSp>
        <p:nvGrpSpPr>
          <p:cNvPr id="34" name="c1-table-2"/>
          <p:cNvGrpSpPr/>
          <p:nvPr/>
        </p:nvGrpSpPr>
        <p:grpSpPr>
          <a:xfrm>
            <a:off x="533400" y="3017520"/>
            <a:ext cx="4977765" cy="1795462"/>
            <a:chOff x="533400" y="3017520"/>
            <a:chExt cx="4977765" cy="1795462"/>
          </a:xfrm>
        </p:grpSpPr>
        <p:sp>
          <p:nvSpPr>
            <p:cNvPr id="15" name="Rectangle 15"/>
            <p:cNvSpPr/>
            <p:nvPr/>
          </p:nvSpPr>
          <p:spPr>
            <a:xfrm>
              <a:off x="533400" y="3017520"/>
              <a:ext cx="4977765" cy="448628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051839" y="315325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形式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435479" y="315325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典型扩展名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227132" y="315325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由什么产生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1223" y="3601879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源代码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034730" y="3601879"/>
              <a:ext cx="11157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.java .c .cpp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926395" y="3601879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人编写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3910012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533400" y="3914775"/>
              <a:ext cx="497776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1223" y="405050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二进制代码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034730" y="4050506"/>
              <a:ext cx="127084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.class .obj .lib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926395" y="4050506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编译器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33400" y="4359592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1223" y="4499134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可执行代码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034730" y="4499134"/>
              <a:ext cx="112437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.exe .dll .jar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926395" y="4499134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链接器或打包工具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33400" y="3017520"/>
              <a:ext cx="4977765" cy="179546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1922145" y="3017520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3813810" y="3017520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0" name="c1-kv-3"/>
          <p:cNvGrpSpPr/>
          <p:nvPr/>
        </p:nvGrpSpPr>
        <p:grpSpPr>
          <a:xfrm>
            <a:off x="525780" y="5028248"/>
            <a:ext cx="4985385" cy="1297304"/>
            <a:chOff x="525780" y="5028248"/>
            <a:chExt cx="4985385" cy="1297304"/>
          </a:xfrm>
        </p:grpSpPr>
        <p:sp>
          <p:nvSpPr>
            <p:cNvPr id="35" name="TextBox 35"/>
            <p:cNvSpPr txBox="1"/>
            <p:nvPr/>
          </p:nvSpPr>
          <p:spPr>
            <a:xfrm>
              <a:off x="525780" y="5028248"/>
              <a:ext cx="48829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Java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471612" y="5028248"/>
              <a:ext cx="3587115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源码 .java 编译成 .class 字节码，打包成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.jar，由 JVM 装载运行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5630228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525780" y="5750242"/>
              <a:ext cx="76573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C / C++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471612" y="5750242"/>
              <a:ext cx="3168015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源码编译成 .obj，再链接成 .lib 静态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库、.dll 动态库或 .exe</a:t>
              </a:r>
            </a:p>
          </p:txBody>
        </p:sp>
      </p:grpSp>
      <p:grpSp>
        <p:nvGrpSpPr>
          <p:cNvPr id="79" name="c2-flow-1"/>
          <p:cNvGrpSpPr/>
          <p:nvPr/>
        </p:nvGrpSpPr>
        <p:grpSpPr>
          <a:xfrm>
            <a:off x="5952172" y="1948815"/>
            <a:ext cx="5570221" cy="3015615"/>
            <a:chOff x="5952172" y="1948815"/>
            <a:chExt cx="5570221" cy="3015615"/>
          </a:xfrm>
        </p:grpSpPr>
        <p:sp>
          <p:nvSpPr>
            <p:cNvPr id="41" name="Freeform 41"/>
            <p:cNvSpPr/>
            <p:nvPr/>
          </p:nvSpPr>
          <p:spPr>
            <a:xfrm>
              <a:off x="7626668" y="2167890"/>
              <a:ext cx="168592" cy="9525"/>
            </a:xfrm>
            <a:custGeom>
              <a:avLst/>
              <a:gdLst/>
              <a:ahLst/>
              <a:cxnLst/>
              <a:rect l="l" t="t" r="r" b="b"/>
              <a:pathLst>
                <a:path w="168592" h="9525">
                  <a:moveTo>
                    <a:pt x="0" y="0"/>
                  </a:moveTo>
                  <a:lnTo>
                    <a:pt x="168592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2" name="Freeform 42"/>
            <p:cNvSpPr/>
            <p:nvPr/>
          </p:nvSpPr>
          <p:spPr>
            <a:xfrm>
              <a:off x="7795260" y="211550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3" name="Freeform 43"/>
            <p:cNvSpPr/>
            <p:nvPr/>
          </p:nvSpPr>
          <p:spPr>
            <a:xfrm>
              <a:off x="7626668" y="3456622"/>
              <a:ext cx="168592" cy="9525"/>
            </a:xfrm>
            <a:custGeom>
              <a:avLst/>
              <a:gdLst/>
              <a:ahLst/>
              <a:cxnLst/>
              <a:rect l="l" t="t" r="r" b="b"/>
              <a:pathLst>
                <a:path w="168592" h="9525">
                  <a:moveTo>
                    <a:pt x="0" y="0"/>
                  </a:moveTo>
                  <a:lnTo>
                    <a:pt x="168592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4" name="Freeform 44"/>
            <p:cNvSpPr/>
            <p:nvPr/>
          </p:nvSpPr>
          <p:spPr>
            <a:xfrm>
              <a:off x="7795260" y="340423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5" name="Freeform 45"/>
            <p:cNvSpPr/>
            <p:nvPr/>
          </p:nvSpPr>
          <p:spPr>
            <a:xfrm>
              <a:off x="7626668" y="4745355"/>
              <a:ext cx="168592" cy="9525"/>
            </a:xfrm>
            <a:custGeom>
              <a:avLst/>
              <a:gdLst/>
              <a:ahLst/>
              <a:cxnLst/>
              <a:rect l="l" t="t" r="r" b="b"/>
              <a:pathLst>
                <a:path w="168592" h="9525">
                  <a:moveTo>
                    <a:pt x="0" y="0"/>
                  </a:moveTo>
                  <a:lnTo>
                    <a:pt x="168592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6" name="Freeform 46"/>
            <p:cNvSpPr/>
            <p:nvPr/>
          </p:nvSpPr>
          <p:spPr>
            <a:xfrm>
              <a:off x="7795260" y="469296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7" name="Freeform 47"/>
            <p:cNvSpPr/>
            <p:nvPr/>
          </p:nvSpPr>
          <p:spPr>
            <a:xfrm>
              <a:off x="8737282" y="2386965"/>
              <a:ext cx="1947862" cy="2034540"/>
            </a:xfrm>
            <a:custGeom>
              <a:avLst/>
              <a:gdLst/>
              <a:ahLst/>
              <a:cxnLst/>
              <a:rect l="l" t="t" r="r" b="b"/>
              <a:pathLst>
                <a:path w="1947862" h="2034540">
                  <a:moveTo>
                    <a:pt x="0" y="0"/>
                  </a:moveTo>
                  <a:lnTo>
                    <a:pt x="0" y="1069657"/>
                  </a:lnTo>
                  <a:lnTo>
                    <a:pt x="1947862" y="1069657"/>
                  </a:lnTo>
                  <a:lnTo>
                    <a:pt x="1947862" y="203454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8" name="Freeform 48"/>
            <p:cNvSpPr/>
            <p:nvPr/>
          </p:nvSpPr>
          <p:spPr>
            <a:xfrm>
              <a:off x="10632758" y="442150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9" name="Freeform 49"/>
            <p:cNvSpPr/>
            <p:nvPr/>
          </p:nvSpPr>
          <p:spPr>
            <a:xfrm>
              <a:off x="9574530" y="4745355"/>
              <a:ext cx="167640" cy="9525"/>
            </a:xfrm>
            <a:custGeom>
              <a:avLst/>
              <a:gdLst/>
              <a:ahLst/>
              <a:cxnLst/>
              <a:rect l="l" t="t" r="r" b="b"/>
              <a:pathLst>
                <a:path w="167640" h="9525">
                  <a:moveTo>
                    <a:pt x="0" y="0"/>
                  </a:moveTo>
                  <a:lnTo>
                    <a:pt x="16764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50" name="Freeform 50"/>
            <p:cNvSpPr/>
            <p:nvPr/>
          </p:nvSpPr>
          <p:spPr>
            <a:xfrm>
              <a:off x="9742170" y="469296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51" name="Freeform 51"/>
            <p:cNvSpPr/>
            <p:nvPr/>
          </p:nvSpPr>
          <p:spPr>
            <a:xfrm>
              <a:off x="10685145" y="2386965"/>
              <a:ext cx="9525" cy="2034540"/>
            </a:xfrm>
            <a:custGeom>
              <a:avLst/>
              <a:gdLst/>
              <a:ahLst/>
              <a:cxnLst/>
              <a:rect l="l" t="t" r="r" b="b"/>
              <a:pathLst>
                <a:path w="9525" h="2034540">
                  <a:moveTo>
                    <a:pt x="0" y="0"/>
                  </a:moveTo>
                  <a:lnTo>
                    <a:pt x="0" y="2034540"/>
                  </a:lnTo>
                </a:path>
              </a:pathLst>
            </a:custGeom>
            <a:noFill/>
            <a:ln w="15240">
              <a:solidFill>
                <a:srgbClr val="5B6475"/>
              </a:solidFill>
              <a:custDash>
                <a:ds d="375000" sp="250000"/>
              </a:custDash>
            </a:ln>
          </p:spPr>
        </p:sp>
        <p:sp>
          <p:nvSpPr>
            <p:cNvPr id="52" name="Freeform 52"/>
            <p:cNvSpPr/>
            <p:nvPr/>
          </p:nvSpPr>
          <p:spPr>
            <a:xfrm>
              <a:off x="10632758" y="442150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5952172" y="1948815"/>
              <a:ext cx="1675448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5B3FA0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5952172" y="3237548"/>
              <a:ext cx="1675448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5B3FA0"/>
              </a:solidFill>
            </a:ln>
          </p:spPr>
        </p:sp>
        <p:sp>
          <p:nvSpPr>
            <p:cNvPr id="55" name="Rectangle 55"/>
            <p:cNvSpPr/>
            <p:nvPr/>
          </p:nvSpPr>
          <p:spPr>
            <a:xfrm>
              <a:off x="5952172" y="4526280"/>
              <a:ext cx="1675448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5B3FA0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7900035" y="1948815"/>
              <a:ext cx="1675448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5B3FA0"/>
              </a:solidFill>
            </a:ln>
          </p:spPr>
        </p:sp>
        <p:sp>
          <p:nvSpPr>
            <p:cNvPr id="57" name="Rectangle 57"/>
            <p:cNvSpPr/>
            <p:nvPr/>
          </p:nvSpPr>
          <p:spPr>
            <a:xfrm>
              <a:off x="7900035" y="3237548"/>
              <a:ext cx="1675448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5B3FA0"/>
              </a:solidFill>
            </a:ln>
          </p:spPr>
        </p:sp>
        <p:sp>
          <p:nvSpPr>
            <p:cNvPr id="58" name="Rectangle 58"/>
            <p:cNvSpPr/>
            <p:nvPr/>
          </p:nvSpPr>
          <p:spPr>
            <a:xfrm>
              <a:off x="7900035" y="4526280"/>
              <a:ext cx="1675448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5B3FA0"/>
              </a:solidFill>
            </a:ln>
          </p:spPr>
        </p:sp>
        <p:sp>
          <p:nvSpPr>
            <p:cNvPr id="59" name="Rectangle 59"/>
            <p:cNvSpPr/>
            <p:nvPr/>
          </p:nvSpPr>
          <p:spPr>
            <a:xfrm>
              <a:off x="9846945" y="1948815"/>
              <a:ext cx="1675448" cy="438150"/>
            </a:xfrm>
            <a:prstGeom prst="roundRect">
              <a:avLst>
                <a:gd name="adj" fmla="val 21739"/>
              </a:avLst>
            </a:prstGeom>
            <a:solidFill>
              <a:srgbClr val="F4F6FB"/>
            </a:solidFill>
            <a:ln w="13335">
              <a:solidFill>
                <a:srgbClr val="D9DFEA"/>
              </a:solidFill>
            </a:ln>
          </p:spPr>
        </p:sp>
        <p:sp>
          <p:nvSpPr>
            <p:cNvPr id="60" name="Rectangle 60"/>
            <p:cNvSpPr/>
            <p:nvPr/>
          </p:nvSpPr>
          <p:spPr>
            <a:xfrm>
              <a:off x="9846945" y="4526280"/>
              <a:ext cx="1675448" cy="438150"/>
            </a:xfrm>
            <a:prstGeom prst="roundRect">
              <a:avLst>
                <a:gd name="adj" fmla="val 21739"/>
              </a:avLst>
            </a:prstGeom>
            <a:solidFill>
              <a:srgbClr val="EEEAF7"/>
            </a:solidFill>
            <a:ln w="19050">
              <a:solidFill>
                <a:srgbClr val="5B3FA0"/>
              </a:solidFill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6386622" y="2078831"/>
              <a:ext cx="80559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wnnd.cpp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6291849" y="3367564"/>
              <a:ext cx="99514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comhnd.cpp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6408161" y="4656296"/>
              <a:ext cx="76251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main.cpp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8356023" y="2078831"/>
              <a:ext cx="76251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wnnd.obj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8261251" y="3367564"/>
              <a:ext cx="9520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comhnd.obj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8377563" y="4656296"/>
              <a:ext cx="71944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main.obj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0222037" y="2078831"/>
              <a:ext cx="9262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graphic.dll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0290962" y="4656296"/>
              <a:ext cx="7883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client.dll</a:t>
              </a:r>
            </a:p>
          </p:txBody>
        </p:sp>
        <p:sp>
          <p:nvSpPr>
            <p:cNvPr id="69" name="Rectangle 69"/>
            <p:cNvSpPr/>
            <p:nvPr/>
          </p:nvSpPr>
          <p:spPr>
            <a:xfrm>
              <a:off x="7581900" y="1951672"/>
              <a:ext cx="36195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7616190" y="197834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编译</a:t>
              </a:r>
            </a:p>
          </p:txBody>
        </p:sp>
        <p:sp>
          <p:nvSpPr>
            <p:cNvPr id="71" name="Rectangle 71"/>
            <p:cNvSpPr/>
            <p:nvPr/>
          </p:nvSpPr>
          <p:spPr>
            <a:xfrm>
              <a:off x="7581900" y="3240405"/>
              <a:ext cx="36195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7616190" y="326707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编译</a:t>
              </a:r>
            </a:p>
          </p:txBody>
        </p:sp>
        <p:sp>
          <p:nvSpPr>
            <p:cNvPr id="73" name="Rectangle 73"/>
            <p:cNvSpPr/>
            <p:nvPr/>
          </p:nvSpPr>
          <p:spPr>
            <a:xfrm>
              <a:off x="7581900" y="4529138"/>
              <a:ext cx="36195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4" name="TextBox 74"/>
            <p:cNvSpPr txBox="1"/>
            <p:nvPr/>
          </p:nvSpPr>
          <p:spPr>
            <a:xfrm>
              <a:off x="7616190" y="4555808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编译</a:t>
              </a:r>
            </a:p>
          </p:txBody>
        </p:sp>
        <p:sp>
          <p:nvSpPr>
            <p:cNvPr id="75" name="Rectangle 75"/>
            <p:cNvSpPr/>
            <p:nvPr/>
          </p:nvSpPr>
          <p:spPr>
            <a:xfrm>
              <a:off x="9529762" y="3240405"/>
              <a:ext cx="36195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9564052" y="326707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链接</a:t>
              </a:r>
            </a:p>
          </p:txBody>
        </p:sp>
        <p:sp>
          <p:nvSpPr>
            <p:cNvPr id="77" name="Rectangle 77"/>
            <p:cNvSpPr/>
            <p:nvPr/>
          </p:nvSpPr>
          <p:spPr>
            <a:xfrm>
              <a:off x="10713720" y="3364230"/>
              <a:ext cx="36195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8" name="TextBox 78"/>
            <p:cNvSpPr txBox="1"/>
            <p:nvPr/>
          </p:nvSpPr>
          <p:spPr>
            <a:xfrm>
              <a:off x="10736961" y="339090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引用</a:t>
              </a:r>
            </a:p>
          </p:txBody>
        </p:sp>
      </p:grpSp>
      <p:grpSp>
        <p:nvGrpSpPr>
          <p:cNvPr id="86" name="c2-callout-2"/>
          <p:cNvGrpSpPr/>
          <p:nvPr/>
        </p:nvGrpSpPr>
        <p:grpSpPr>
          <a:xfrm>
            <a:off x="5815965" y="5579745"/>
            <a:ext cx="5842635" cy="782955"/>
            <a:chOff x="5815965" y="5579745"/>
            <a:chExt cx="5842635" cy="782955"/>
          </a:xfrm>
        </p:grpSpPr>
        <p:sp>
          <p:nvSpPr>
            <p:cNvPr id="80" name="Rectangle 80"/>
            <p:cNvSpPr/>
            <p:nvPr/>
          </p:nvSpPr>
          <p:spPr>
            <a:xfrm>
              <a:off x="5815965" y="5579745"/>
              <a:ext cx="5842635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84" name="Group 84"/>
            <p:cNvGrpSpPr/>
            <p:nvPr/>
          </p:nvGrpSpPr>
          <p:grpSpPr>
            <a:xfrm>
              <a:off x="6020753" y="5871210"/>
              <a:ext cx="200026" cy="200026"/>
              <a:chOff x="6020753" y="5871210"/>
              <a:chExt cx="200026" cy="200026"/>
            </a:xfrm>
          </p:grpSpPr>
          <p:sp>
            <p:nvSpPr>
              <p:cNvPr id="81" name="Freeform 81"/>
              <p:cNvSpPr/>
              <p:nvPr/>
            </p:nvSpPr>
            <p:spPr>
              <a:xfrm>
                <a:off x="6020753" y="587121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82" name="Freeform 82"/>
              <p:cNvSpPr/>
              <p:nvPr/>
            </p:nvSpPr>
            <p:spPr>
              <a:xfrm>
                <a:off x="6120765" y="593788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83" name="Freeform 83"/>
              <p:cNvSpPr/>
              <p:nvPr/>
            </p:nvSpPr>
            <p:spPr>
              <a:xfrm>
                <a:off x="6109653" y="597122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85" name="TextBox 85"/>
            <p:cNvSpPr txBox="1"/>
            <p:nvPr/>
          </p:nvSpPr>
          <p:spPr>
            <a:xfrm>
              <a:off x="6322695" y="5728335"/>
              <a:ext cx="4777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同一份类设计，可以编进静态库、动态库或可执行文件，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物理划分与逻辑划分不必一一对应。</a:t>
              </a:r>
            </a:p>
          </p:txBody>
        </p:sp>
      </p:grpSp>
      <p:grpSp>
        <p:nvGrpSpPr>
          <p:cNvPr id="8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7" name="TextBox 87"/>
            <p:cNvSpPr txBox="1"/>
            <p:nvPr/>
          </p:nvSpPr>
          <p:spPr>
            <a:xfrm>
              <a:off x="528447" y="6581299"/>
              <a:ext cx="266824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课程概述与面向对象设计复用</a:t>
              </a:r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5B3FA0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EEAF7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5367528" cy="2997517"/>
            <a:chOff x="667512" y="1835468"/>
            <a:chExt cx="5367528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第四部分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536752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类设计：类、行为、属性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90347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类设计要回答三组问题，每组都有固定的检查清单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类的组织与表示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行为的组织与表示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属性的组织与表示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266824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课程概述与面向对象设计复用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91528" cy="909257"/>
            <a:chOff x="520446" y="342900"/>
            <a:chExt cx="68915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2322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1728" y="407194"/>
              <a:ext cx="28275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00 概述与复用 · 类设计：类、行为、属性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915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类的组织与表示：一果篮水果引出的六个问题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7056359" cy="308039"/>
            <a:chOff x="525399" y="1550194"/>
            <a:chExt cx="7056359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705635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拿“果篮里装了苹果、香蕉、葡萄、桃”这个场景，把类设计的六步走一遍。</a:t>
              </a:r>
            </a:p>
          </p:txBody>
        </p:sp>
      </p:grpSp>
      <p:grpSp>
        <p:nvGrpSpPr>
          <p:cNvPr id="26" name="c1-kv-1"/>
          <p:cNvGrpSpPr/>
          <p:nvPr/>
        </p:nvGrpSpPr>
        <p:grpSpPr>
          <a:xfrm>
            <a:off x="525780" y="1992630"/>
            <a:ext cx="6067425" cy="2493645"/>
            <a:chOff x="525780" y="1992630"/>
            <a:chExt cx="6067425" cy="2493645"/>
          </a:xfrm>
        </p:grpSpPr>
        <p:sp>
          <p:nvSpPr>
            <p:cNvPr id="9" name="TextBox 9"/>
            <p:cNvSpPr txBox="1"/>
            <p:nvPr/>
          </p:nvSpPr>
          <p:spPr>
            <a:xfrm>
              <a:off x="525780" y="199263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类的发现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65935" y="1992630"/>
              <a:ext cx="46596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从问题域里找出候选类。果篮里有什么，就先列什么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" y="2312670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25780" y="243268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聚类分析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765935" y="2432685"/>
              <a:ext cx="44577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同类事物归到一起：苹果、香蕉、葡萄、桃各一类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752725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25780" y="2872740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类的再抽象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765935" y="2872740"/>
              <a:ext cx="427596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向上提取共性得到“水果”，容器抽象成链表模板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" y="3192780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25780" y="331279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类的拆分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765935" y="3312795"/>
              <a:ext cx="42557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果篮里混进鲜花，不属于水果，拆出去单独建类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533400" y="3632835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525780" y="3752850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类的可见性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765935" y="3752850"/>
              <a:ext cx="38519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果篮的编织材料使用者不关心，应该藏起来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4072890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525780" y="419290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类的复用性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765935" y="4192905"/>
              <a:ext cx="4053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内紧外松：降低类间耦合度，提高类内内聚度</a:t>
              </a:r>
            </a:p>
          </p:txBody>
        </p:sp>
      </p:grpSp>
      <p:grpSp>
        <p:nvGrpSpPr>
          <p:cNvPr id="32" name="c1-callout-2"/>
          <p:cNvGrpSpPr/>
          <p:nvPr/>
        </p:nvGrpSpPr>
        <p:grpSpPr>
          <a:xfrm>
            <a:off x="533400" y="4617720"/>
            <a:ext cx="6059805" cy="782955"/>
            <a:chOff x="533400" y="4617720"/>
            <a:chExt cx="6059805" cy="782955"/>
          </a:xfrm>
        </p:grpSpPr>
        <p:sp>
          <p:nvSpPr>
            <p:cNvPr id="27" name="Rectangle 27"/>
            <p:cNvSpPr/>
            <p:nvPr/>
          </p:nvSpPr>
          <p:spPr>
            <a:xfrm>
              <a:off x="533400" y="4617720"/>
              <a:ext cx="6059805" cy="782955"/>
            </a:xfrm>
            <a:prstGeom prst="roundRect">
              <a:avLst>
                <a:gd name="adj" fmla="val 14599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30" name="Group 30"/>
            <p:cNvGrpSpPr/>
            <p:nvPr/>
          </p:nvGrpSpPr>
          <p:grpSpPr>
            <a:xfrm>
              <a:off x="738188" y="4909187"/>
              <a:ext cx="200023" cy="200023"/>
              <a:chOff x="738188" y="4909187"/>
              <a:chExt cx="200023" cy="200023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738188" y="490918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871538" y="497586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1" name="TextBox 31"/>
            <p:cNvSpPr txBox="1"/>
            <p:nvPr/>
          </p:nvSpPr>
          <p:spPr>
            <a:xfrm>
              <a:off x="1040130" y="4766310"/>
              <a:ext cx="49872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“内紧外松”是全课的口径：类内部的成员联系要紧，类与类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之间的联系要松。</a:t>
              </a:r>
            </a:p>
          </p:txBody>
        </p:sp>
      </p:grpSp>
      <p:grpSp>
        <p:nvGrpSpPr>
          <p:cNvPr id="35" name="c2-image-1"/>
          <p:cNvGrpSpPr/>
          <p:nvPr/>
        </p:nvGrpSpPr>
        <p:grpSpPr>
          <a:xfrm>
            <a:off x="6898005" y="1967865"/>
            <a:ext cx="4760595" cy="4420077"/>
            <a:chOff x="6898005" y="1967865"/>
            <a:chExt cx="4760595" cy="4420077"/>
          </a:xfrm>
        </p:grpSpPr>
        <p:pic>
          <p:nvPicPr>
            <p:cNvPr id="33" name="Image 33"/>
            <p:cNvPicPr>
              <a:picLocks noChangeAspect="1"/>
            </p:cNvPicPr>
            <p:nvPr/>
          </p:nvPicPr>
          <p:blipFill>
            <a:blip r:embed="rId2"/>
            <a:srcRect l="6514" t="0" r="6514" b="0"/>
            <a:stretch>
              <a:fillRect/>
            </a:stretch>
          </p:blipFill>
          <p:spPr>
            <a:xfrm>
              <a:off x="6898005" y="1967865"/>
              <a:ext cx="4760595" cy="4105275"/>
            </a:xfrm>
            <a:prstGeom prst="roundRect">
              <a:avLst>
                <a:gd name="adj" fmla="val 3248"/>
              </a:avLst>
            </a:prstGeom>
          </p:spPr>
        </p:pic>
        <p:sp>
          <p:nvSpPr>
            <p:cNvPr id="34" name="TextBox 34"/>
            <p:cNvSpPr txBox="1"/>
            <p:nvPr/>
          </p:nvSpPr>
          <p:spPr>
            <a:xfrm>
              <a:off x="7614069" y="6167914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先发现，再聚类，再抽象，不属于这一族的拆出去</a:t>
              </a:r>
            </a:p>
          </p:txBody>
        </p:sp>
      </p:grpSp>
      <p:grpSp>
        <p:nvGrpSpPr>
          <p:cNvPr id="3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6" name="TextBox 36"/>
            <p:cNvSpPr txBox="1"/>
            <p:nvPr/>
          </p:nvSpPr>
          <p:spPr>
            <a:xfrm>
              <a:off x="528447" y="6581299"/>
              <a:ext cx="266824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课程概述与面向对象设计复用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2322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1728" y="407194"/>
              <a:ext cx="28275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00 概述与复用 · 类设计：类、行为、属性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行为与属性的组织：两张检查清单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4" name="c1-card-1"/>
          <p:cNvGrpSpPr/>
          <p:nvPr/>
        </p:nvGrpSpPr>
        <p:grpSpPr>
          <a:xfrm>
            <a:off x="533400" y="1524000"/>
            <a:ext cx="5410200" cy="3708082"/>
            <a:chOff x="533400" y="1524000"/>
            <a:chExt cx="5410200" cy="370808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3708082"/>
            </a:xfrm>
            <a:prstGeom prst="roundRect">
              <a:avLst>
                <a:gd name="adj" fmla="val 359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344138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75335" y="172783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5543" y="176355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行为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76744" y="1767364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行为的组织与表示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82955" y="2179320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39546" y="2119789"/>
              <a:ext cx="45229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参与者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：老鼠吃各种水果，犬吠人、吠门、吠车。同一个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行为，参与者可能不止一个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82955" y="2770823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39546" y="2711291"/>
              <a:ext cx="488906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分组与接口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：吃苹果、吃香蕉…… 归并成“吃水果”一个接口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82955" y="3090862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39546" y="3031331"/>
              <a:ext cx="4604131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分解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：吃水果 = 剥皮 + 吃果肉 + 吐核，分解之后才谈得上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抽象与封装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82955" y="3682365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39546" y="3622834"/>
              <a:ext cx="345536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可见性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：吐核是内部动作，对外不必暴露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782955" y="4002405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39546" y="3942874"/>
              <a:ext cx="4559046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返回结果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：返回空、返回“吃没吃”、返回“吃了多少”，三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种设计后果不同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782955" y="4593908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39546" y="4534376"/>
              <a:ext cx="45229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差异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：吃不同水果的区别有多大，决定是重载、覆盖还是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另立接口</a:t>
              </a:r>
            </a:p>
          </p:txBody>
        </p:sp>
      </p:grpSp>
      <p:grpSp>
        <p:nvGrpSpPr>
          <p:cNvPr id="44" name="c2-card-1"/>
          <p:cNvGrpSpPr/>
          <p:nvPr/>
        </p:nvGrpSpPr>
        <p:grpSpPr>
          <a:xfrm>
            <a:off x="6248400" y="1524000"/>
            <a:ext cx="5410200" cy="3708082"/>
            <a:chOff x="6248400" y="1524000"/>
            <a:chExt cx="5410200" cy="3708082"/>
          </a:xfrm>
        </p:grpSpPr>
        <p:sp>
          <p:nvSpPr>
            <p:cNvPr id="25" name="Rectangle 25"/>
            <p:cNvSpPr/>
            <p:nvPr/>
          </p:nvSpPr>
          <p:spPr>
            <a:xfrm>
              <a:off x="6248400" y="1524000"/>
              <a:ext cx="5410200" cy="3708082"/>
            </a:xfrm>
            <a:prstGeom prst="roundRect">
              <a:avLst>
                <a:gd name="adj" fmla="val 359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6257925" y="1657350"/>
              <a:ext cx="47625" cy="344138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6490335" y="172783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580543" y="176355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属性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091744" y="1767364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属性的组织与表示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6497955" y="2179320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654546" y="2119789"/>
              <a:ext cx="269072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类型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：内置类型还是自定义类型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6497955" y="2499360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654546" y="2439829"/>
              <a:ext cx="4597819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本征 / 可计算 / 复合属性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：年龄可由生日算出，就不必单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独存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6497955" y="3090862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654546" y="3031331"/>
              <a:ext cx="410674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只读 / 只写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：用 getter、setter 控制读写方向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6497955" y="3410902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654546" y="3351371"/>
              <a:ext cx="441116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不变属性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：中国公民的身份证号，一经确定不再改变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6497955" y="3730942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654546" y="3671411"/>
              <a:ext cx="45229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类属性与实例属性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：扑克牌的背面图案属于整副牌，点数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属于每张牌</a:t>
              </a:r>
            </a:p>
          </p:txBody>
        </p:sp>
        <p:sp>
          <p:nvSpPr>
            <p:cNvPr id="40" name="Ellipse 40"/>
            <p:cNvSpPr/>
            <p:nvPr/>
          </p:nvSpPr>
          <p:spPr>
            <a:xfrm>
              <a:off x="6497955" y="4322445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654546" y="4262914"/>
              <a:ext cx="326420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可见性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：属性通常不可见，靠方法访问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6497955" y="4642485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654546" y="4582954"/>
              <a:ext cx="479348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设计时属性与运行时属性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：编译期确定还是运行期才确定</a:t>
              </a:r>
            </a:p>
          </p:txBody>
        </p:sp>
      </p:grpSp>
      <p:grpSp>
        <p:nvGrpSpPr>
          <p:cNvPr id="51" name="takeaway"/>
          <p:cNvGrpSpPr/>
          <p:nvPr/>
        </p:nvGrpSpPr>
        <p:grpSpPr>
          <a:xfrm>
            <a:off x="533400" y="5844540"/>
            <a:ext cx="11125200" cy="518160"/>
            <a:chOff x="533400" y="5844540"/>
            <a:chExt cx="11125200" cy="518160"/>
          </a:xfrm>
        </p:grpSpPr>
        <p:sp>
          <p:nvSpPr>
            <p:cNvPr id="45" name="Rectangle 45"/>
            <p:cNvSpPr/>
            <p:nvPr/>
          </p:nvSpPr>
          <p:spPr>
            <a:xfrm>
              <a:off x="533400" y="5844540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9" name="Group 49"/>
            <p:cNvGrpSpPr/>
            <p:nvPr/>
          </p:nvGrpSpPr>
          <p:grpSpPr>
            <a:xfrm>
              <a:off x="738188" y="6003608"/>
              <a:ext cx="200026" cy="200025"/>
              <a:chOff x="738188" y="6003608"/>
              <a:chExt cx="200026" cy="200025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738188" y="600360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777926" y="604805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812642" y="615918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0" name="TextBox 50"/>
            <p:cNvSpPr txBox="1"/>
            <p:nvPr/>
          </p:nvSpPr>
          <p:spPr>
            <a:xfrm>
              <a:off x="1040511" y="6004084"/>
              <a:ext cx="751121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属性的很多结论要结合具体编程语言才成立，比如 Java 没有 C++ 那样的常量成员函数。</a:t>
              </a:r>
            </a:p>
          </p:txBody>
        </p:sp>
      </p:grpSp>
      <p:grpSp>
        <p:nvGrpSpPr>
          <p:cNvPr id="5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2" name="TextBox 52"/>
            <p:cNvSpPr txBox="1"/>
            <p:nvPr/>
          </p:nvSpPr>
          <p:spPr>
            <a:xfrm>
              <a:off x="528447" y="6581299"/>
              <a:ext cx="266824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课程概述与面向对象设计复用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5B3FA0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EEAF7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5367528" cy="2997517"/>
            <a:chOff x="667512" y="1835468"/>
            <a:chExt cx="5367528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第五部分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536752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变化：类设计真正的难点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23710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分清两类变化，再决定是改代码还是扩代码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职责变化与实现变化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修改与扩展的五种方式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子类爆炸与委托实现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266824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课程概述与面向对象设计复用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264652" cy="909257"/>
            <a:chOff x="520446" y="342900"/>
            <a:chExt cx="826465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2322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1728" y="407194"/>
              <a:ext cx="28275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00 概述与复用 · 变化：类设计真正的难点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26465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两类变化：改接口的是职责变化，改内部的是实现变化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5626418" cy="2530792"/>
            <a:chOff x="533400" y="1524000"/>
            <a:chExt cx="5626418" cy="253079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2530792"/>
            </a:xfrm>
            <a:prstGeom prst="roundRect">
              <a:avLst>
                <a:gd name="adj" fmla="val 3764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一个类身上可能发生的五种变化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035" y="1937861"/>
              <a:ext cx="3361182" cy="20459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0. 新增一个方法 f1        -&gt; 职责变化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1. f 的参数表可能变化      -&gt; 职责变化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2. f 的具体实现可能变化    -&gt; 实现变化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f(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n,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m) {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3. 数据的类型可能变化      -&gt; 实现变化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4. 数据的组织形式可能变化  -&gt; 实现变化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[] nums =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[50];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6" name="c1-callout-2"/>
          <p:cNvGrpSpPr/>
          <p:nvPr/>
        </p:nvGrpSpPr>
        <p:grpSpPr>
          <a:xfrm>
            <a:off x="533400" y="4240530"/>
            <a:ext cx="5626418" cy="756285"/>
            <a:chOff x="533400" y="4240530"/>
            <a:chExt cx="5626418" cy="756285"/>
          </a:xfrm>
        </p:grpSpPr>
        <p:sp>
          <p:nvSpPr>
            <p:cNvPr id="11" name="Rectangle 11"/>
            <p:cNvSpPr/>
            <p:nvPr/>
          </p:nvSpPr>
          <p:spPr>
            <a:xfrm>
              <a:off x="533400" y="4240530"/>
              <a:ext cx="5626418" cy="756285"/>
            </a:xfrm>
            <a:prstGeom prst="roundRect">
              <a:avLst>
                <a:gd name="adj" fmla="val 15113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738188" y="4518662"/>
              <a:ext cx="200023" cy="200023"/>
              <a:chOff x="738188" y="4518662"/>
              <a:chExt cx="200023" cy="200023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738188" y="451866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871538" y="458533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1040511" y="4387691"/>
              <a:ext cx="470331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判据只有一条：使用者看得见的（方法名、参数、返回值、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可访问性）变了就是职责变化，否则是实现变化。</a:t>
              </a:r>
            </a:p>
          </p:txBody>
        </p:sp>
      </p:grpSp>
      <p:grpSp>
        <p:nvGrpSpPr>
          <p:cNvPr id="22" name="c1-kv-3"/>
          <p:cNvGrpSpPr/>
          <p:nvPr/>
        </p:nvGrpSpPr>
        <p:grpSpPr>
          <a:xfrm>
            <a:off x="526161" y="5204936"/>
            <a:ext cx="5633657" cy="968312"/>
            <a:chOff x="526161" y="5204936"/>
            <a:chExt cx="5633657" cy="968312"/>
          </a:xfrm>
        </p:grpSpPr>
        <p:sp>
          <p:nvSpPr>
            <p:cNvPr id="17" name="TextBox 17"/>
            <p:cNvSpPr txBox="1"/>
            <p:nvPr/>
          </p:nvSpPr>
          <p:spPr>
            <a:xfrm>
              <a:off x="526161" y="5204936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接口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49096" y="5204936"/>
              <a:ext cx="4703318" cy="5463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方法名、参数表、返回类型、可访问性，使用者直接依赖的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部分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577881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26161" y="5894546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49096" y="5894546"/>
              <a:ext cx="479348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方法体里的算法、私有数据的类型与组织，使用者看不见</a:t>
              </a:r>
            </a:p>
          </p:txBody>
        </p:sp>
      </p:grpSp>
      <p:grpSp>
        <p:nvGrpSpPr>
          <p:cNvPr id="49" name="c2-table-1"/>
          <p:cNvGrpSpPr/>
          <p:nvPr/>
        </p:nvGrpSpPr>
        <p:grpSpPr>
          <a:xfrm>
            <a:off x="6464618" y="1524000"/>
            <a:ext cx="5193982" cy="2577465"/>
            <a:chOff x="6464618" y="1524000"/>
            <a:chExt cx="5193982" cy="2577465"/>
          </a:xfrm>
        </p:grpSpPr>
        <p:sp>
          <p:nvSpPr>
            <p:cNvPr id="23" name="Rectangle 23"/>
            <p:cNvSpPr/>
            <p:nvPr/>
          </p:nvSpPr>
          <p:spPr>
            <a:xfrm>
              <a:off x="6464618" y="1524000"/>
              <a:ext cx="5193982" cy="430530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868478" y="165544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维度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210169" y="1655445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职责的变化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236136" y="1655445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实现的变化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569964" y="2085022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变的是什么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712964" y="2085022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接口、功能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737979" y="2085022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数据表示、行为过程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464618" y="2379345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6464618" y="2384108"/>
              <a:ext cx="5193982" cy="6438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569964" y="262223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典型表现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712964" y="2515552"/>
              <a:ext cx="16885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增方法、改参数、改返回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类型、改可访问性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737979" y="2515552"/>
              <a:ext cx="16885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改算法、换数据类型、换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存储组织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464618" y="3023235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569964" y="3159442"/>
              <a:ext cx="7741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使用者是否</a:t>
              </a:r>
              <a:br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受影响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17142" y="3037522"/>
              <a:ext cx="2006918" cy="624840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712964" y="3266122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是，通常要同步修改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9642158" y="3037522"/>
              <a:ext cx="2006918" cy="62484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9737979" y="3266122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否，重新编译即可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464618" y="366617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6464618" y="3670935"/>
              <a:ext cx="5193982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569964" y="380238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应对难度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712964" y="380238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大，应尽早避免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737979" y="3802380"/>
              <a:ext cx="17891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小，可用继承或组合吸收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6464618" y="1524000"/>
              <a:ext cx="5193982" cy="257746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7602855" y="1524000"/>
              <a:ext cx="9525" cy="257746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9627870" y="1524000"/>
              <a:ext cx="9525" cy="257746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0" name="c2-card-2"/>
          <p:cNvGrpSpPr/>
          <p:nvPr/>
        </p:nvGrpSpPr>
        <p:grpSpPr>
          <a:xfrm>
            <a:off x="6464618" y="4287202"/>
            <a:ext cx="5193982" cy="1914525"/>
            <a:chOff x="6464618" y="4287202"/>
            <a:chExt cx="5193982" cy="1914525"/>
          </a:xfrm>
        </p:grpSpPr>
        <p:sp>
          <p:nvSpPr>
            <p:cNvPr id="50" name="Rectangle 50"/>
            <p:cNvSpPr/>
            <p:nvPr/>
          </p:nvSpPr>
          <p:spPr>
            <a:xfrm>
              <a:off x="6464618" y="4287202"/>
              <a:ext cx="5193982" cy="1914525"/>
            </a:xfrm>
            <a:prstGeom prst="roundRect">
              <a:avLst>
                <a:gd name="adj" fmla="val 696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6474142" y="4420552"/>
              <a:ext cx="47625" cy="164782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6706552" y="4491038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6797713" y="452675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结论</a:t>
              </a:r>
            </a:p>
          </p:txBody>
        </p:sp>
        <p:sp>
          <p:nvSpPr>
            <p:cNvPr id="54" name="Ellipse 54"/>
            <p:cNvSpPr/>
            <p:nvPr/>
          </p:nvSpPr>
          <p:spPr>
            <a:xfrm>
              <a:off x="6714172" y="4923472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870764" y="4863941"/>
              <a:ext cx="460232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职责变化后，扩展出来的类和原有类的接口不再一致。</a:t>
              </a:r>
            </a:p>
          </p:txBody>
        </p:sp>
        <p:sp>
          <p:nvSpPr>
            <p:cNvPr id="56" name="Ellipse 56"/>
            <p:cNvSpPr/>
            <p:nvPr/>
          </p:nvSpPr>
          <p:spPr>
            <a:xfrm>
              <a:off x="6714172" y="5243512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870764" y="5183981"/>
              <a:ext cx="422000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职责变化一般需要同步修改原有类的全部使用者。</a:t>
              </a:r>
            </a:p>
          </p:txBody>
        </p:sp>
        <p:sp>
          <p:nvSpPr>
            <p:cNvPr id="58" name="Ellipse 58"/>
            <p:cNvSpPr/>
            <p:nvPr/>
          </p:nvSpPr>
          <p:spPr>
            <a:xfrm>
              <a:off x="6714172" y="5563552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6870764" y="5504021"/>
              <a:ext cx="416229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职责变化应尽早、尽量避免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，设计阶段就要把接口定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稳。</a:t>
              </a:r>
            </a:p>
          </p:txBody>
        </p:sp>
      </p:grpSp>
      <p:grpSp>
        <p:nvGrpSpPr>
          <p:cNvPr id="6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1" name="TextBox 61"/>
            <p:cNvSpPr txBox="1"/>
            <p:nvPr/>
          </p:nvSpPr>
          <p:spPr>
            <a:xfrm>
              <a:off x="528447" y="6581299"/>
              <a:ext cx="266824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课程概述与面向对象设计复用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145280" cy="909257"/>
            <a:chOff x="520446" y="342900"/>
            <a:chExt cx="414528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2322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1728" y="407194"/>
              <a:ext cx="28275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00 概述与复用 · 变化：类设计真正的难点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14528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清点一个类上的十一种改动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code-1"/>
          <p:cNvGrpSpPr/>
          <p:nvPr/>
        </p:nvGrpSpPr>
        <p:grpSpPr>
          <a:xfrm>
            <a:off x="533400" y="1524000"/>
            <a:ext cx="6276022" cy="3545205"/>
            <a:chOff x="533400" y="1524000"/>
            <a:chExt cx="6276022" cy="354520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276022" cy="3545205"/>
            </a:xfrm>
            <a:prstGeom prst="roundRect">
              <a:avLst>
                <a:gd name="adj" fmla="val 2687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344002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高亮的四行是职责变化（对外可见），其余七行是实现变化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52450" y="2301240"/>
              <a:ext cx="6237922" cy="20288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552450" y="2504122"/>
              <a:ext cx="6237922" cy="20288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552450" y="2707005"/>
              <a:ext cx="6237922" cy="20288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552450" y="2909888"/>
              <a:ext cx="6237922" cy="20288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61035" y="1937861"/>
              <a:ext cx="4883150" cy="3060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func01()      { }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1. 修改实现代码    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func01(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n) { }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2. 增加重载 func01 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func02()      { }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3. 增加新方法      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func03()      { }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4. 删除已有 func03 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[] func04() {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null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; }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5. 改返回类型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protected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func05() { }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6. 修改实现代码       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protected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func06() { }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7. 增加新方法 func06  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func07() { }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8. 修改实现代码       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func08() { }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9. 增加新方法 func08  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float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data;    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10. 修改数据的类型    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newData; 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11. 增加新数据成员    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21" name="c1-bullets-2"/>
          <p:cNvGrpSpPr/>
          <p:nvPr/>
        </p:nvGrpSpPr>
        <p:grpSpPr>
          <a:xfrm>
            <a:off x="533400" y="5281136"/>
            <a:ext cx="4620415" cy="860869"/>
            <a:chOff x="533400" y="5281136"/>
            <a:chExt cx="4620415" cy="860869"/>
          </a:xfrm>
        </p:grpSpPr>
        <p:sp>
          <p:nvSpPr>
            <p:cNvPr id="15" name="Freeform 15"/>
            <p:cNvSpPr/>
            <p:nvPr/>
          </p:nvSpPr>
          <p:spPr>
            <a:xfrm>
              <a:off x="533400" y="5307330"/>
              <a:ext cx="122873" cy="99060"/>
            </a:xfrm>
            <a:custGeom>
              <a:avLst/>
              <a:gdLst/>
              <a:ahLst/>
              <a:cxnLst/>
              <a:rect l="l" t="t" r="r" b="b"/>
              <a:pathLst>
                <a:path w="122873" h="99060">
                  <a:moveTo>
                    <a:pt x="0" y="52388"/>
                  </a:moveTo>
                  <a:lnTo>
                    <a:pt x="46672" y="99060"/>
                  </a:lnTo>
                  <a:lnTo>
                    <a:pt x="122873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764096" y="5281136"/>
              <a:ext cx="438971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先圈出 public 段：这一段的任何增、删、改都是职责变化</a:t>
              </a:r>
            </a:p>
          </p:txBody>
        </p:sp>
        <p:sp>
          <p:nvSpPr>
            <p:cNvPr id="17" name="Freeform 17"/>
            <p:cNvSpPr/>
            <p:nvPr/>
          </p:nvSpPr>
          <p:spPr>
            <a:xfrm>
              <a:off x="533400" y="5614035"/>
              <a:ext cx="122873" cy="99060"/>
            </a:xfrm>
            <a:custGeom>
              <a:avLst/>
              <a:gdLst/>
              <a:ahLst/>
              <a:cxnLst/>
              <a:rect l="l" t="t" r="r" b="b"/>
              <a:pathLst>
                <a:path w="122873" h="99060">
                  <a:moveTo>
                    <a:pt x="0" y="52388"/>
                  </a:moveTo>
                  <a:lnTo>
                    <a:pt x="46672" y="99060"/>
                  </a:lnTo>
                  <a:lnTo>
                    <a:pt x="122873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64096" y="5586889"/>
              <a:ext cx="419155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protected 段对子类可见，对子类而言同样是职责变化</a:t>
              </a:r>
            </a:p>
          </p:txBody>
        </p:sp>
        <p:sp>
          <p:nvSpPr>
            <p:cNvPr id="19" name="Freeform 19"/>
            <p:cNvSpPr/>
            <p:nvPr/>
          </p:nvSpPr>
          <p:spPr>
            <a:xfrm>
              <a:off x="533400" y="5919788"/>
              <a:ext cx="122873" cy="99060"/>
            </a:xfrm>
            <a:custGeom>
              <a:avLst/>
              <a:gdLst/>
              <a:ahLst/>
              <a:cxnLst/>
              <a:rect l="l" t="t" r="r" b="b"/>
              <a:pathLst>
                <a:path w="122873" h="99060">
                  <a:moveTo>
                    <a:pt x="0" y="52388"/>
                  </a:moveTo>
                  <a:lnTo>
                    <a:pt x="46672" y="99060"/>
                  </a:lnTo>
                  <a:lnTo>
                    <a:pt x="122873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4096" y="5892641"/>
              <a:ext cx="43035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private 成员和方法体怎么改，对使用者都只是实现变化</a:t>
              </a:r>
            </a:p>
          </p:txBody>
        </p:sp>
      </p:grpSp>
      <p:grpSp>
        <p:nvGrpSpPr>
          <p:cNvPr id="37" name="c2-table-1"/>
          <p:cNvGrpSpPr/>
          <p:nvPr/>
        </p:nvGrpSpPr>
        <p:grpSpPr>
          <a:xfrm>
            <a:off x="7114222" y="1524000"/>
            <a:ext cx="4544378" cy="1800225"/>
            <a:chOff x="7114222" y="1524000"/>
            <a:chExt cx="4544378" cy="1800225"/>
          </a:xfrm>
        </p:grpSpPr>
        <p:sp>
          <p:nvSpPr>
            <p:cNvPr id="22" name="Rectangle 22"/>
            <p:cNvSpPr/>
            <p:nvPr/>
          </p:nvSpPr>
          <p:spPr>
            <a:xfrm>
              <a:off x="7114222" y="1524000"/>
              <a:ext cx="4544378" cy="448628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7344054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编号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434667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归类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297757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理由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235928" y="2108359"/>
              <a:ext cx="57383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2 3 4 5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262353" y="210835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职责变化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403270" y="2108359"/>
              <a:ext cx="20979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public 部分的签名集合变了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114222" y="2416492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7114222" y="2421255"/>
              <a:ext cx="4544378" cy="90201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277405" y="2556986"/>
              <a:ext cx="490880" cy="7027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1 6 7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8 9 10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262353" y="278368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实现变化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403270" y="2783681"/>
              <a:ext cx="214964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只动方法体或非 public 成员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114222" y="1524000"/>
              <a:ext cx="4544378" cy="180022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7927658" y="1524000"/>
              <a:ext cx="9525" cy="18002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9290685" y="1524000"/>
              <a:ext cx="9525" cy="18002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4" name="c2-card-2"/>
          <p:cNvGrpSpPr/>
          <p:nvPr/>
        </p:nvGrpSpPr>
        <p:grpSpPr>
          <a:xfrm>
            <a:off x="7114222" y="3514725"/>
            <a:ext cx="4544378" cy="2653665"/>
            <a:chOff x="7114222" y="3514725"/>
            <a:chExt cx="4544378" cy="2653665"/>
          </a:xfrm>
        </p:grpSpPr>
        <p:sp>
          <p:nvSpPr>
            <p:cNvPr id="38" name="Rectangle 38"/>
            <p:cNvSpPr/>
            <p:nvPr/>
          </p:nvSpPr>
          <p:spPr>
            <a:xfrm>
              <a:off x="7114222" y="3514725"/>
              <a:ext cx="4544378" cy="2653665"/>
            </a:xfrm>
            <a:prstGeom prst="roundRect">
              <a:avLst>
                <a:gd name="adj" fmla="val 502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7123748" y="3648075"/>
              <a:ext cx="47625" cy="238696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7361872" y="372427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7452081" y="375999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354252" y="4101465"/>
              <a:ext cx="3872865" cy="11506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原课件在第 4 条后注了“面向对象不支持”。准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确的说法是：用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派生子类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的办法无法删掉父类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已有的方法，子类只能加不能减。要真删掉，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只能改 A 的源码。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355396" y="5289709"/>
              <a:ext cx="3881882" cy="7179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注意 protected 成员对子类可见，所以第 7 条“增加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protected 方法”对子类而言其实也是职责变化。判定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时要先说清“对谁而言”。</a:t>
              </a:r>
            </a:p>
          </p:txBody>
        </p:sp>
      </p:grpSp>
      <p:grpSp>
        <p:nvGrpSpPr>
          <p:cNvPr id="4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5" name="TextBox 45"/>
            <p:cNvSpPr txBox="1"/>
            <p:nvPr/>
          </p:nvSpPr>
          <p:spPr>
            <a:xfrm>
              <a:off x="528447" y="6581299"/>
              <a:ext cx="266824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课程概述与面向对象设计复用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921371" cy="909257"/>
            <a:chOff x="520446" y="342900"/>
            <a:chExt cx="792137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2322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1728" y="407194"/>
              <a:ext cx="28275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00 概述与复用 · 变化：类设计真正的难点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92137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变化来了怎么办：修改既有代码，还是扩展既有代码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1" name="c1-compare-1"/>
          <p:cNvGrpSpPr/>
          <p:nvPr/>
        </p:nvGrpSpPr>
        <p:grpSpPr>
          <a:xfrm>
            <a:off x="533400" y="1524000"/>
            <a:ext cx="4760596" cy="3581400"/>
            <a:chOff x="533400" y="1524000"/>
            <a:chExt cx="4760596" cy="358140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2208848" cy="3581400"/>
            </a:xfrm>
            <a:prstGeom prst="roundRect">
              <a:avLst>
                <a:gd name="adj" fmla="val 603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3314700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68096" y="1751171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修改既有代码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82955" y="2149792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39546" y="2090261"/>
              <a:ext cx="145719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既有代码未必拿得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到（只有二进制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库）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82955" y="3012758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39546" y="2953226"/>
              <a:ext cx="145719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改实现有顾虑：别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处可能依赖旧行为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82955" y="3604260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39546" y="3544729"/>
              <a:ext cx="145719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改接口有顾虑：所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有使用者都要跟着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改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82955" y="4467225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39546" y="4407694"/>
              <a:ext cx="145719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改完要重新测试、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重新发布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085148" y="1524000"/>
              <a:ext cx="2208848" cy="3581400"/>
            </a:xfrm>
            <a:prstGeom prst="roundRect">
              <a:avLst>
                <a:gd name="adj" fmla="val 603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3094672" y="1657350"/>
              <a:ext cx="47625" cy="331470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319844" y="1751171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扩展既有代码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3334702" y="2149792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3491294" y="2090261"/>
              <a:ext cx="145719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原有类和原有使用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者一行不动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3334702" y="2741295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3491294" y="2681764"/>
              <a:ext cx="145719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新行为集中在新类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里，出问题好定位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3334702" y="3332798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3491294" y="3273266"/>
              <a:ext cx="145719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是面向对象设计的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基本路子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3334702" y="3924300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3491294" y="3864769"/>
              <a:ext cx="145719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代价是类的数量变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2751772" y="3152775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2822113" y="3248978"/>
              <a:ext cx="1831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VS</a:t>
              </a:r>
            </a:p>
          </p:txBody>
        </p:sp>
      </p:grpSp>
      <p:grpSp>
        <p:nvGrpSpPr>
          <p:cNvPr id="37" name="c1-callout-2"/>
          <p:cNvGrpSpPr/>
          <p:nvPr/>
        </p:nvGrpSpPr>
        <p:grpSpPr>
          <a:xfrm>
            <a:off x="533400" y="5290185"/>
            <a:ext cx="4760595" cy="1018222"/>
            <a:chOff x="533400" y="5290185"/>
            <a:chExt cx="4760595" cy="1018222"/>
          </a:xfrm>
        </p:grpSpPr>
        <p:sp>
          <p:nvSpPr>
            <p:cNvPr id="32" name="Rectangle 32"/>
            <p:cNvSpPr/>
            <p:nvPr/>
          </p:nvSpPr>
          <p:spPr>
            <a:xfrm>
              <a:off x="533400" y="5290185"/>
              <a:ext cx="4760595" cy="1018222"/>
            </a:xfrm>
            <a:prstGeom prst="roundRect">
              <a:avLst>
                <a:gd name="adj" fmla="val 11225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35" name="Group 35"/>
            <p:cNvGrpSpPr/>
            <p:nvPr/>
          </p:nvGrpSpPr>
          <p:grpSpPr>
            <a:xfrm>
              <a:off x="738188" y="5699762"/>
              <a:ext cx="200023" cy="200023"/>
              <a:chOff x="738188" y="5699762"/>
              <a:chExt cx="200023" cy="200023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738188" y="569976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871538" y="576643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6" name="TextBox 36"/>
            <p:cNvSpPr txBox="1"/>
            <p:nvPr/>
          </p:nvSpPr>
          <p:spPr>
            <a:xfrm>
              <a:off x="1040511" y="5438299"/>
              <a:ext cx="3801618" cy="8044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扩展既有代码是面向对象设计的基本原则，这条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思路往前再走一步，就是开闭原则：对扩展开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放，对修改关闭。</a:t>
              </a:r>
            </a:p>
          </p:txBody>
        </p:sp>
      </p:grpSp>
      <p:grpSp>
        <p:nvGrpSpPr>
          <p:cNvPr id="74" name="c2-table-1"/>
          <p:cNvGrpSpPr/>
          <p:nvPr/>
        </p:nvGrpSpPr>
        <p:grpSpPr>
          <a:xfrm>
            <a:off x="5593080" y="1524000"/>
            <a:ext cx="6065520" cy="4629627"/>
            <a:chOff x="5593080" y="1524000"/>
            <a:chExt cx="6065520" cy="4629627"/>
          </a:xfrm>
        </p:grpSpPr>
        <p:sp>
          <p:nvSpPr>
            <p:cNvPr id="38" name="Rectangle 38"/>
            <p:cNvSpPr/>
            <p:nvPr/>
          </p:nvSpPr>
          <p:spPr>
            <a:xfrm>
              <a:off x="5598795" y="1524000"/>
              <a:ext cx="6059805" cy="72199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5805869" y="1658779"/>
              <a:ext cx="555498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995"/>
                </a:lnSpc>
              </a:pPr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扩展方</a:t>
              </a:r>
              <a:br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式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794856" y="1785461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关系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491258" y="1785461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做法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611523" y="1785461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代价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5702998" y="2381726"/>
              <a:ext cx="555498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继承扩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展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794856" y="2508409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泛化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521321" y="2381726"/>
              <a:ext cx="2178558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派生子类，加方法或覆盖方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法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0066401" y="2508409"/>
              <a:ext cx="13526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子类数量易爆炸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5598795" y="2964180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5598795" y="2968942"/>
              <a:ext cx="6059805" cy="72199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5702998" y="3103721"/>
              <a:ext cx="555498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关联扩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展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794856" y="3230404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关联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521321" y="3230404"/>
              <a:ext cx="192608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新类长期持有对方引用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0066401" y="3103721"/>
              <a:ext cx="1276858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双方生命期要协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调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5598795" y="3686175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5702998" y="3825716"/>
              <a:ext cx="555498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依赖扩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展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6794856" y="3952399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依赖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521321" y="3825716"/>
              <a:ext cx="2178558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需要时才临时创建或接收对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0066401" y="3825716"/>
              <a:ext cx="1276858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每次都要拿到对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象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5598795" y="440912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5598795" y="4413885"/>
              <a:ext cx="6059805" cy="72199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5702998" y="4548664"/>
              <a:ext cx="555498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聚合扩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展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6794856" y="4675346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聚合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7521321" y="4548664"/>
              <a:ext cx="2178558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新类持有部分，但不管它的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生死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0066401" y="4675346"/>
              <a:ext cx="13526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部分可能被共享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5598795" y="513111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5702998" y="5270659"/>
              <a:ext cx="555498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组合扩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展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6794856" y="5397341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组合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7521321" y="5270659"/>
              <a:ext cx="2178558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新类持有部分并负责它的创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建与销毁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0066401" y="5397341"/>
              <a:ext cx="13526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部分不能被共享</a:t>
              </a:r>
            </a:p>
          </p:txBody>
        </p:sp>
        <p:sp>
          <p:nvSpPr>
            <p:cNvPr id="69" name="Rectangle 69"/>
            <p:cNvSpPr/>
            <p:nvPr/>
          </p:nvSpPr>
          <p:spPr>
            <a:xfrm>
              <a:off x="5598795" y="1524000"/>
              <a:ext cx="6059805" cy="433387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70" name="Rectangle 70"/>
            <p:cNvSpPr/>
            <p:nvPr/>
          </p:nvSpPr>
          <p:spPr>
            <a:xfrm>
              <a:off x="6563678" y="1524000"/>
              <a:ext cx="9525" cy="43338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1" name="Rectangle 71"/>
            <p:cNvSpPr/>
            <p:nvPr/>
          </p:nvSpPr>
          <p:spPr>
            <a:xfrm>
              <a:off x="7412355" y="1524000"/>
              <a:ext cx="9525" cy="43338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2" name="Rectangle 72"/>
            <p:cNvSpPr/>
            <p:nvPr/>
          </p:nvSpPr>
          <p:spPr>
            <a:xfrm>
              <a:off x="9957435" y="1524000"/>
              <a:ext cx="9525" cy="43338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5593080" y="5933599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后四种统称“委托”：把活交给被持有的对象去干</a:t>
              </a:r>
            </a:p>
          </p:txBody>
        </p:sp>
      </p:grpSp>
      <p:grpSp>
        <p:nvGrpSpPr>
          <p:cNvPr id="7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5" name="TextBox 75"/>
            <p:cNvSpPr txBox="1"/>
            <p:nvPr/>
          </p:nvSpPr>
          <p:spPr>
            <a:xfrm>
              <a:off x="528447" y="6581299"/>
              <a:ext cx="266824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课程概述与面向对象设计复用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697001" cy="909257"/>
            <a:chOff x="520446" y="342900"/>
            <a:chExt cx="669700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2322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1728" y="407194"/>
              <a:ext cx="28275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00 概述与复用 · 变化：类设计真正的难点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69700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职责变化的适应：给 Some 增加一个 operC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7755609" cy="264033"/>
            <a:chOff x="526542" y="1545907"/>
            <a:chExt cx="7755609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775560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已有 Some 类，使用者只调用 operA 和 operB。现在要新增行为 operC，有继承和组合两条路。</a:t>
              </a:r>
            </a:p>
          </p:txBody>
        </p:sp>
      </p:grpSp>
      <p:grpSp>
        <p:nvGrpSpPr>
          <p:cNvPr id="13" name="c1-code-1"/>
          <p:cNvGrpSpPr/>
          <p:nvPr/>
        </p:nvGrpSpPr>
        <p:grpSpPr>
          <a:xfrm>
            <a:off x="533400" y="1928812"/>
            <a:ext cx="5735002" cy="3670935"/>
            <a:chOff x="533400" y="1928812"/>
            <a:chExt cx="5735002" cy="3670935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5735002" cy="3670935"/>
            </a:xfrm>
            <a:prstGeom prst="roundRect">
              <a:avLst>
                <a:gd name="adj" fmla="val 2595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080736"/>
              <a:ext cx="3189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52450" y="4765358"/>
              <a:ext cx="5696902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61797" y="2340769"/>
              <a:ext cx="3756152" cy="31863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Some {           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原有类，不动它 */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data;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operA() {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operB() {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路线一：继承扩展，子类只补 operC */</a:t>
              </a:r>
              <a:br/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ExtSome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Some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operC() {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路线二：组合扩展，operA/operB 委托给 Some */</a:t>
              </a:r>
              <a:br/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WrapSome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final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Some some =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Some();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operA() { some.operA();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operB() { some.operB();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operC() {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38" name="c2-uml-1"/>
          <p:cNvGrpSpPr/>
          <p:nvPr/>
        </p:nvGrpSpPr>
        <p:grpSpPr>
          <a:xfrm>
            <a:off x="6849428" y="2119312"/>
            <a:ext cx="4532947" cy="1963103"/>
            <a:chOff x="6849428" y="2119312"/>
            <a:chExt cx="4532947" cy="1963103"/>
          </a:xfrm>
        </p:grpSpPr>
        <p:sp>
          <p:nvSpPr>
            <p:cNvPr id="14" name="Freeform 14"/>
            <p:cNvSpPr/>
            <p:nvPr/>
          </p:nvSpPr>
          <p:spPr>
            <a:xfrm>
              <a:off x="7420928" y="2995612"/>
              <a:ext cx="1694497" cy="336233"/>
            </a:xfrm>
            <a:custGeom>
              <a:avLst/>
              <a:gdLst/>
              <a:ahLst/>
              <a:cxnLst/>
              <a:rect l="l" t="t" r="r" b="b"/>
              <a:pathLst>
                <a:path w="1694497" h="336233">
                  <a:moveTo>
                    <a:pt x="0" y="336233"/>
                  </a:moveTo>
                  <a:lnTo>
                    <a:pt x="0" y="104775"/>
                  </a:lnTo>
                  <a:lnTo>
                    <a:pt x="1694497" y="104775"/>
                  </a:lnTo>
                  <a:lnTo>
                    <a:pt x="1694497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9042082" y="2869882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9115425" y="2869882"/>
              <a:ext cx="1695450" cy="149542"/>
            </a:xfrm>
            <a:custGeom>
              <a:avLst/>
              <a:gdLst/>
              <a:ahLst/>
              <a:cxnLst/>
              <a:rect l="l" t="t" r="r" b="b"/>
              <a:pathLst>
                <a:path w="1695450" h="149542">
                  <a:moveTo>
                    <a:pt x="0" y="0"/>
                  </a:moveTo>
                  <a:lnTo>
                    <a:pt x="0" y="149542"/>
                  </a:lnTo>
                  <a:lnTo>
                    <a:pt x="1695450" y="149542"/>
                  </a:lnTo>
                  <a:lnTo>
                    <a:pt x="1695450" y="90488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10753725" y="2960370"/>
              <a:ext cx="115252" cy="209550"/>
            </a:xfrm>
            <a:custGeom>
              <a:avLst/>
              <a:gdLst/>
              <a:ahLst/>
              <a:cxnLst/>
              <a:rect l="l" t="t" r="r" b="b"/>
              <a:pathLst>
                <a:path w="115252" h="209550">
                  <a:moveTo>
                    <a:pt x="57150" y="209550"/>
                  </a:moveTo>
                  <a:lnTo>
                    <a:pt x="0" y="104775"/>
                  </a:lnTo>
                  <a:lnTo>
                    <a:pt x="57150" y="0"/>
                  </a:lnTo>
                  <a:lnTo>
                    <a:pt x="115252" y="104775"/>
                  </a:lnTo>
                  <a:close/>
                </a:path>
              </a:pathLst>
            </a:custGeom>
            <a:solidFill>
              <a:srgbClr val="1F2937"/>
            </a:solidFill>
            <a:ln w="15240">
              <a:solidFill>
                <a:srgbClr val="1F2937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8543925" y="2119312"/>
              <a:ext cx="1143000" cy="75057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8551545" y="2125980"/>
              <a:ext cx="1128712" cy="22764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8543925" y="2349818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8543925" y="2445068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6849428" y="3331845"/>
              <a:ext cx="1143000" cy="58769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6856095" y="3339465"/>
              <a:ext cx="1128712" cy="22764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6849428" y="356235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849428" y="365760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10239375" y="3169920"/>
              <a:ext cx="1143000" cy="912495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10246995" y="3176588"/>
              <a:ext cx="1128712" cy="227648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10239375" y="3400425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10239375" y="3495675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941891" y="2175034"/>
              <a:ext cx="34706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Some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615362" y="2514600"/>
              <a:ext cx="546735" cy="3381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75"/>
                </a:lnSpc>
              </a:pPr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operA()</a:t>
              </a:r>
              <a:br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operB()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130927" y="3387566"/>
              <a:ext cx="58000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ExtSome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920865" y="3727132"/>
              <a:ext cx="58541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operC()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0468760" y="3225641"/>
              <a:ext cx="68423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WrapSome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310812" y="3565208"/>
              <a:ext cx="546735" cy="50006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75"/>
                </a:lnSpc>
              </a:pPr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operA()</a:t>
              </a:r>
              <a:br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operB()</a:t>
              </a:r>
              <a:br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operC()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9801225" y="2823210"/>
              <a:ext cx="323850" cy="165735"/>
            </a:xfrm>
            <a:prstGeom prst="roundRect">
              <a:avLst>
                <a:gd name="adj" fmla="val 22989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9837230" y="2846070"/>
              <a:ext cx="25184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委托</a:t>
              </a:r>
            </a:p>
          </p:txBody>
        </p:sp>
      </p:grpSp>
      <p:grpSp>
        <p:nvGrpSpPr>
          <p:cNvPr id="44" name="c2-card-2"/>
          <p:cNvGrpSpPr/>
          <p:nvPr/>
        </p:nvGrpSpPr>
        <p:grpSpPr>
          <a:xfrm>
            <a:off x="6573202" y="4361498"/>
            <a:ext cx="5085398" cy="1238250"/>
            <a:chOff x="6573202" y="4361498"/>
            <a:chExt cx="5085398" cy="1238250"/>
          </a:xfrm>
        </p:grpSpPr>
        <p:sp>
          <p:nvSpPr>
            <p:cNvPr id="39" name="Rectangle 39"/>
            <p:cNvSpPr/>
            <p:nvPr/>
          </p:nvSpPr>
          <p:spPr>
            <a:xfrm>
              <a:off x="6573202" y="4361498"/>
              <a:ext cx="5085398" cy="1238250"/>
            </a:xfrm>
            <a:prstGeom prst="roundRect">
              <a:avLst>
                <a:gd name="adj" fmla="val 1076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6582728" y="4494848"/>
              <a:ext cx="47625" cy="971550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6797992" y="4548188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889712" y="458104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791134" y="4892992"/>
              <a:ext cx="435997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原课件组合版写作 </a:t>
              </a: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operB() { mpSome-&gt;operC(); }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，委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托错了方法，应为 </a:t>
              </a:r>
              <a:r>
                <a:rPr lang="en-US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some.operB()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</p:grpSp>
      <p:grpSp>
        <p:nvGrpSpPr>
          <p:cNvPr id="51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45" name="Rectangle 45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9" name="Group 49"/>
            <p:cNvGrpSpPr/>
            <p:nvPr/>
          </p:nvGrpSpPr>
          <p:grpSpPr>
            <a:xfrm>
              <a:off x="738188" y="6022658"/>
              <a:ext cx="200026" cy="200026"/>
              <a:chOff x="738188" y="6022658"/>
              <a:chExt cx="200026" cy="200026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738188" y="602265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838200" y="60893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827088" y="612267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0" name="TextBox 50"/>
            <p:cNvSpPr txBox="1"/>
            <p:nvPr/>
          </p:nvSpPr>
          <p:spPr>
            <a:xfrm>
              <a:off x="1040892" y="6028373"/>
              <a:ext cx="904976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继承版 ExtSome 仍然是 Some，可以传给只认 Some 的老代码；组合版 WrapSome 不是 Some，老代码接不住。</a:t>
              </a:r>
            </a:p>
          </p:txBody>
        </p:sp>
      </p:grpSp>
      <p:grpSp>
        <p:nvGrpSpPr>
          <p:cNvPr id="5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2" name="TextBox 52"/>
            <p:cNvSpPr txBox="1"/>
            <p:nvPr/>
          </p:nvSpPr>
          <p:spPr>
            <a:xfrm>
              <a:off x="528447" y="6581299"/>
              <a:ext cx="266824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课程概述与面向对象设计复用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2322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1728" y="407194"/>
              <a:ext cx="28275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00 概述与复用 · 变化：类设计真正的难点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实现变化的适应：先抽出接口，再换实现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8381333" cy="264033"/>
            <a:chOff x="526542" y="1545907"/>
            <a:chExt cx="8381333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838133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要换掉 Some 的数据表示或某个方法的实现，同时不惊动使用者，办法是让新旧两个类实现同一个接口。</a:t>
              </a:r>
            </a:p>
          </p:txBody>
        </p:sp>
      </p:grpSp>
      <p:grpSp>
        <p:nvGrpSpPr>
          <p:cNvPr id="12" name="c1-code-1"/>
          <p:cNvGrpSpPr/>
          <p:nvPr/>
        </p:nvGrpSpPr>
        <p:grpSpPr>
          <a:xfrm>
            <a:off x="533400" y="1928812"/>
            <a:ext cx="6276022" cy="3670935"/>
            <a:chOff x="533400" y="1928812"/>
            <a:chExt cx="6276022" cy="3670935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6276022" cy="3670935"/>
            </a:xfrm>
            <a:prstGeom prst="roundRect">
              <a:avLst>
                <a:gd name="adj" fmla="val 2595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080736"/>
              <a:ext cx="3189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61797" y="2340769"/>
              <a:ext cx="4390898" cy="31863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interface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ISome {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operA();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operB();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Some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implements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ISome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data;         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旧的数据表示 */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operA() {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operB() {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路线一：继承 + 覆盖，子类给出新实现 */</a:t>
              </a:r>
              <a:br/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NewSome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Some { @Override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operA() { }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路线二：新类组合旧类，对外仍是 ISome */</a:t>
              </a:r>
              <a:br/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OtherSome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implements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ISome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final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long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[] data =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long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[64];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final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Some old =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Some();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operA() { }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用新表示重写 */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operB() { old.operB();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40" name="c2-uml-1"/>
          <p:cNvGrpSpPr/>
          <p:nvPr/>
        </p:nvGrpSpPr>
        <p:grpSpPr>
          <a:xfrm>
            <a:off x="7679055" y="2010728"/>
            <a:ext cx="3414713" cy="1790699"/>
            <a:chOff x="7679055" y="2010728"/>
            <a:chExt cx="3414713" cy="1790699"/>
          </a:xfrm>
        </p:grpSpPr>
        <p:sp>
          <p:nvSpPr>
            <p:cNvPr id="13" name="Freeform 13"/>
            <p:cNvSpPr/>
            <p:nvPr/>
          </p:nvSpPr>
          <p:spPr>
            <a:xfrm>
              <a:off x="8250555" y="3024188"/>
              <a:ext cx="1135380" cy="189547"/>
            </a:xfrm>
            <a:custGeom>
              <a:avLst/>
              <a:gdLst/>
              <a:ahLst/>
              <a:cxnLst/>
              <a:rect l="l" t="t" r="r" b="b"/>
              <a:pathLst>
                <a:path w="1135380" h="189547">
                  <a:moveTo>
                    <a:pt x="0" y="189547"/>
                  </a:moveTo>
                  <a:lnTo>
                    <a:pt x="0" y="31433"/>
                  </a:lnTo>
                  <a:lnTo>
                    <a:pt x="1135380" y="31433"/>
                  </a:lnTo>
                  <a:lnTo>
                    <a:pt x="113538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  <a:custDash>
                <a:ds d="375000" sp="250000"/>
              </a:custDash>
            </a:ln>
          </p:spPr>
        </p:sp>
        <p:sp>
          <p:nvSpPr>
            <p:cNvPr id="14" name="Freeform 14"/>
            <p:cNvSpPr/>
            <p:nvPr/>
          </p:nvSpPr>
          <p:spPr>
            <a:xfrm>
              <a:off x="9312592" y="2898458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2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9385935" y="3024188"/>
              <a:ext cx="1136333" cy="189547"/>
            </a:xfrm>
            <a:custGeom>
              <a:avLst/>
              <a:gdLst/>
              <a:ahLst/>
              <a:cxnLst/>
              <a:rect l="l" t="t" r="r" b="b"/>
              <a:pathLst>
                <a:path w="1136333" h="189547">
                  <a:moveTo>
                    <a:pt x="1136333" y="189547"/>
                  </a:moveTo>
                  <a:lnTo>
                    <a:pt x="1136333" y="31433"/>
                  </a:lnTo>
                  <a:lnTo>
                    <a:pt x="0" y="31433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  <a:custDash>
                <a:ds d="375000" sp="250000"/>
              </a:custDash>
            </a:ln>
          </p:spPr>
        </p:sp>
        <p:sp>
          <p:nvSpPr>
            <p:cNvPr id="16" name="Freeform 16"/>
            <p:cNvSpPr/>
            <p:nvPr/>
          </p:nvSpPr>
          <p:spPr>
            <a:xfrm>
              <a:off x="9312592" y="2898458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2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8822055" y="3507105"/>
              <a:ext cx="919162" cy="9525"/>
            </a:xfrm>
            <a:custGeom>
              <a:avLst/>
              <a:gdLst/>
              <a:ahLst/>
              <a:cxnLst/>
              <a:rect l="l" t="t" r="r" b="b"/>
              <a:pathLst>
                <a:path w="919162" h="9525">
                  <a:moveTo>
                    <a:pt x="0" y="0"/>
                  </a:moveTo>
                  <a:lnTo>
                    <a:pt x="919162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9741218" y="3449955"/>
              <a:ext cx="209550" cy="115253"/>
            </a:xfrm>
            <a:custGeom>
              <a:avLst/>
              <a:gdLst/>
              <a:ahLst/>
              <a:cxnLst/>
              <a:rect l="l" t="t" r="r" b="b"/>
              <a:pathLst>
                <a:path w="209550" h="115253">
                  <a:moveTo>
                    <a:pt x="209550" y="57150"/>
                  </a:moveTo>
                  <a:lnTo>
                    <a:pt x="104775" y="115253"/>
                  </a:lnTo>
                  <a:lnTo>
                    <a:pt x="0" y="5715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1F2937"/>
            </a:solidFill>
            <a:ln w="15240">
              <a:solidFill>
                <a:srgbClr val="1F2937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8814435" y="2010728"/>
              <a:ext cx="1143000" cy="88773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8822055" y="2018348"/>
              <a:ext cx="1128712" cy="36480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8814435" y="2378392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8814435" y="2473642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7679055" y="3213735"/>
              <a:ext cx="1143000" cy="58769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7685722" y="3220402"/>
              <a:ext cx="1128712" cy="22764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7679055" y="344424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7679055" y="3701415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9950768" y="3213735"/>
              <a:ext cx="1143000" cy="58769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9958388" y="3220402"/>
              <a:ext cx="1128712" cy="227648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9950768" y="344424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9950768" y="3701415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061046" y="2063591"/>
              <a:ext cx="649778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«interface»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189740" y="2203609"/>
              <a:ext cx="3923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ISome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885872" y="2543175"/>
              <a:ext cx="546735" cy="3381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75"/>
                </a:lnSpc>
              </a:pPr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operA()</a:t>
              </a:r>
              <a:br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operB()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077021" y="3269456"/>
              <a:ext cx="34706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Some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750492" y="3513773"/>
              <a:ext cx="6516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data: int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142102" y="3269456"/>
              <a:ext cx="76033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OtherSome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0022205" y="3513773"/>
              <a:ext cx="85157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data: long[]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9049702" y="3310890"/>
              <a:ext cx="672465" cy="165735"/>
            </a:xfrm>
            <a:prstGeom prst="roundRect">
              <a:avLst>
                <a:gd name="adj" fmla="val 22989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9073157" y="3333750"/>
              <a:ext cx="62555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委托 operB</a:t>
              </a:r>
            </a:p>
          </p:txBody>
        </p:sp>
      </p:grpSp>
      <p:grpSp>
        <p:nvGrpSpPr>
          <p:cNvPr id="46" name="c2-card-2"/>
          <p:cNvGrpSpPr/>
          <p:nvPr/>
        </p:nvGrpSpPr>
        <p:grpSpPr>
          <a:xfrm>
            <a:off x="7114222" y="4198620"/>
            <a:ext cx="4544378" cy="1401128"/>
            <a:chOff x="7114222" y="4198620"/>
            <a:chExt cx="4544378" cy="1401128"/>
          </a:xfrm>
        </p:grpSpPr>
        <p:sp>
          <p:nvSpPr>
            <p:cNvPr id="41" name="Rectangle 41"/>
            <p:cNvSpPr/>
            <p:nvPr/>
          </p:nvSpPr>
          <p:spPr>
            <a:xfrm>
              <a:off x="7114222" y="4198620"/>
              <a:ext cx="4544378" cy="1401128"/>
            </a:xfrm>
            <a:prstGeom prst="roundRect">
              <a:avLst>
                <a:gd name="adj" fmla="val 951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7123748" y="4331970"/>
              <a:ext cx="47625" cy="1134428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7333298" y="4379595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425017" y="441245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326820" y="4719161"/>
              <a:ext cx="3890010" cy="7351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原课件接口里写作 </a:t>
              </a:r>
              <a:r>
                <a:rPr lang="en-US" sz="12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virtual ~Some()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和 </a:t>
              </a:r>
              <a:r>
                <a:rPr lang="en-US" sz="12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virtual void</a:t>
              </a:r>
              <a:br/>
              <a:r>
                <a:rPr lang="en-US" sz="12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opera()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，析构函数名和方法名大小写都写错了，应为</a:t>
              </a:r>
              <a:br/>
              <a:r>
                <a:rPr lang="en-US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~ISome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与 </a:t>
              </a:r>
              <a:r>
                <a:rPr lang="en-US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operA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</p:grpSp>
      <p:grpSp>
        <p:nvGrpSpPr>
          <p:cNvPr id="53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47" name="Rectangle 47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1" name="Group 51"/>
            <p:cNvGrpSpPr/>
            <p:nvPr/>
          </p:nvGrpSpPr>
          <p:grpSpPr>
            <a:xfrm>
              <a:off x="738188" y="6028373"/>
              <a:ext cx="200026" cy="200025"/>
              <a:chOff x="738188" y="6028373"/>
              <a:chExt cx="200026" cy="200025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738188" y="602837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777926" y="607282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812642" y="618394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2" name="TextBox 52"/>
            <p:cNvSpPr txBox="1"/>
            <p:nvPr/>
          </p:nvSpPr>
          <p:spPr>
            <a:xfrm>
              <a:off x="1041273" y="6039326"/>
              <a:ext cx="640757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继承路线不必改使用者；组合路线要把使用者手里持有的类型从 Some 换成 ISome。</a:t>
              </a:r>
            </a:p>
          </p:txBody>
        </p:sp>
      </p:grpSp>
      <p:grpSp>
        <p:nvGrpSpPr>
          <p:cNvPr id="5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4" name="TextBox 54"/>
            <p:cNvSpPr txBox="1"/>
            <p:nvPr/>
          </p:nvSpPr>
          <p:spPr>
            <a:xfrm>
              <a:off x="528447" y="6581299"/>
              <a:ext cx="266824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课程概述与面向对象设计复用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2322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1728" y="407194"/>
              <a:ext cx="28275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00 概述与复用 · 变化：类设计真正的难点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只靠派生子类会失控：子类数量按乘法增长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5410200" cy="1516380"/>
            <a:chOff x="533400" y="1524000"/>
            <a:chExt cx="5410200" cy="151638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516380"/>
            </a:xfrm>
            <a:prstGeom prst="roundRect">
              <a:avLst>
                <a:gd name="adj" fmla="val 6281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27534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如果 operA 有多种实现，operB 也有多种实现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035" y="1937861"/>
              <a:ext cx="3915918" cy="10315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Some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data;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operA() { }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有 m 种实现变化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operB() { }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有 n 种实现变化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32" name="c1-table-2"/>
          <p:cNvGrpSpPr/>
          <p:nvPr/>
        </p:nvGrpSpPr>
        <p:grpSpPr>
          <a:xfrm>
            <a:off x="527685" y="3230880"/>
            <a:ext cx="5415915" cy="2091214"/>
            <a:chOff x="527685" y="3230880"/>
            <a:chExt cx="5415915" cy="2091214"/>
          </a:xfrm>
        </p:grpSpPr>
        <p:sp>
          <p:nvSpPr>
            <p:cNvPr id="11" name="Rectangle 11"/>
            <p:cNvSpPr/>
            <p:nvPr/>
          </p:nvSpPr>
          <p:spPr>
            <a:xfrm>
              <a:off x="533400" y="3230880"/>
              <a:ext cx="5410200" cy="448628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714785" y="3366611"/>
              <a:ext cx="12602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operA 的实现数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337845" y="3366611"/>
              <a:ext cx="12602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operB 的实现数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338142" y="3366611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需要的子类数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288697" y="3815239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914127" y="381523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807697" y="381523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412337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533400" y="4128135"/>
              <a:ext cx="5410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288697" y="426386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914127" y="426386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760311" y="4263866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457295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270605" y="4712494"/>
              <a:ext cx="14865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914127" y="471249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3789045" y="4587240"/>
              <a:ext cx="2145030" cy="429578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43999" y="4712494"/>
              <a:ext cx="4351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 × n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3230880"/>
              <a:ext cx="5410200" cy="179546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2151698" y="3230880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3774758" y="3230880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527685" y="5102066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每种组合都得单独写一个子类，两个维度相乘</a:t>
              </a:r>
            </a:p>
          </p:txBody>
        </p:sp>
      </p:grpSp>
      <p:grpSp>
        <p:nvGrpSpPr>
          <p:cNvPr id="39" name="c1-callout-3"/>
          <p:cNvGrpSpPr/>
          <p:nvPr/>
        </p:nvGrpSpPr>
        <p:grpSpPr>
          <a:xfrm>
            <a:off x="533400" y="5468302"/>
            <a:ext cx="5410200" cy="782955"/>
            <a:chOff x="533400" y="5468302"/>
            <a:chExt cx="5410200" cy="782955"/>
          </a:xfrm>
        </p:grpSpPr>
        <p:sp>
          <p:nvSpPr>
            <p:cNvPr id="33" name="Rectangle 33"/>
            <p:cNvSpPr/>
            <p:nvPr/>
          </p:nvSpPr>
          <p:spPr>
            <a:xfrm>
              <a:off x="533400" y="5468302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37" name="Group 37"/>
            <p:cNvGrpSpPr/>
            <p:nvPr/>
          </p:nvGrpSpPr>
          <p:grpSpPr>
            <a:xfrm>
              <a:off x="726129" y="5756076"/>
              <a:ext cx="224134" cy="192560"/>
              <a:chOff x="726129" y="5756076"/>
              <a:chExt cx="224134" cy="192560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838200" y="582644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726129" y="575607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838200" y="590423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38" name="TextBox 38"/>
            <p:cNvSpPr txBox="1"/>
            <p:nvPr/>
          </p:nvSpPr>
          <p:spPr>
            <a:xfrm>
              <a:off x="1040130" y="5616892"/>
              <a:ext cx="4396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若派生出的子类太多、太频繁，还不如直接改源码。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减少子类数量因此成了必须解决的问题。</a:t>
              </a:r>
            </a:p>
          </p:txBody>
        </p:sp>
      </p:grpSp>
      <p:grpSp>
        <p:nvGrpSpPr>
          <p:cNvPr id="42" name="c2-image-1"/>
          <p:cNvGrpSpPr/>
          <p:nvPr/>
        </p:nvGrpSpPr>
        <p:grpSpPr>
          <a:xfrm>
            <a:off x="6248400" y="1524000"/>
            <a:ext cx="5410200" cy="4863942"/>
            <a:chOff x="6248400" y="1524000"/>
            <a:chExt cx="5410200" cy="4863942"/>
          </a:xfrm>
        </p:grpSpPr>
        <p:pic>
          <p:nvPicPr>
            <p:cNvPr id="40" name="Image 40"/>
            <p:cNvPicPr>
              <a:picLocks noChangeAspect="1"/>
            </p:cNvPicPr>
            <p:nvPr/>
          </p:nvPicPr>
          <p:blipFill>
            <a:blip r:embed="rId2"/>
            <a:srcRect l="5402" t="0" r="5402" b="0"/>
            <a:stretch>
              <a:fillRect/>
            </a:stretch>
          </p:blipFill>
          <p:spPr>
            <a:xfrm>
              <a:off x="6248400" y="1524000"/>
              <a:ext cx="5410200" cy="4549140"/>
            </a:xfrm>
            <a:prstGeom prst="roundRect">
              <a:avLst>
                <a:gd name="adj" fmla="val 2931"/>
              </a:avLst>
            </a:prstGeom>
          </p:spPr>
        </p:pic>
        <p:sp>
          <p:nvSpPr>
            <p:cNvPr id="41" name="TextBox 41"/>
            <p:cNvSpPr txBox="1"/>
            <p:nvPr/>
          </p:nvSpPr>
          <p:spPr>
            <a:xfrm>
              <a:off x="6836943" y="6167914"/>
              <a:ext cx="42331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把易变的部分做成规格统一、可插拔的模块，机壳就不用跟着改</a:t>
              </a:r>
            </a:p>
          </p:txBody>
        </p:sp>
      </p:grpSp>
      <p:grpSp>
        <p:nvGrpSpPr>
          <p:cNvPr id="4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3" name="TextBox 43"/>
            <p:cNvSpPr txBox="1"/>
            <p:nvPr/>
          </p:nvSpPr>
          <p:spPr>
            <a:xfrm>
              <a:off x="528447" y="6581299"/>
              <a:ext cx="266824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课程概述与面向对象设计复用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2322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1728" y="407194"/>
              <a:ext cx="28275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00 概述与复用 · 变化：类设计真正的难点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把实现委托出去：两个维度各自独立变化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7763778" cy="278702"/>
            <a:chOff x="526161" y="1547336"/>
            <a:chExt cx="7763778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776377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给每个易变的方法配一个实现接口，Some 只持有接口引用。子类数量从 m × n 降到 m + n。</a:t>
              </a:r>
            </a:p>
          </p:txBody>
        </p:sp>
      </p:grpSp>
      <p:grpSp>
        <p:nvGrpSpPr>
          <p:cNvPr id="14" name="c1-code-1"/>
          <p:cNvGrpSpPr/>
          <p:nvPr/>
        </p:nvGrpSpPr>
        <p:grpSpPr>
          <a:xfrm>
            <a:off x="533400" y="1941195"/>
            <a:ext cx="5951220" cy="3533775"/>
            <a:chOff x="533400" y="1941195"/>
            <a:chExt cx="5951220" cy="3533775"/>
          </a:xfrm>
        </p:grpSpPr>
        <p:sp>
          <p:nvSpPr>
            <p:cNvPr id="9" name="Rectangle 9"/>
            <p:cNvSpPr/>
            <p:nvPr/>
          </p:nvSpPr>
          <p:spPr>
            <a:xfrm>
              <a:off x="533400" y="1941195"/>
              <a:ext cx="5951220" cy="3533775"/>
            </a:xfrm>
            <a:prstGeom prst="roundRect">
              <a:avLst>
                <a:gd name="adj" fmla="val 2695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093119"/>
              <a:ext cx="3189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52450" y="4587240"/>
              <a:ext cx="5913120" cy="18954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552450" y="4776788"/>
              <a:ext cx="5913120" cy="18954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61416" y="2354580"/>
              <a:ext cx="4777931" cy="30485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interface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ImpA {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doA(Some s); }</a:t>
              </a:r>
              <a:br/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interface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ImpB {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doB(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n); 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每种实现变化各写一个小类，互不干扰 */</a:t>
              </a:r>
              <a:br/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ImpA01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implements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ImpA {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doA(Some s) { } }</a:t>
              </a:r>
              <a:br/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ImpA02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implements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ImpA {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doA(Some s) { } }</a:t>
              </a:r>
              <a:br/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ImpB01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implements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ImpB {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doB(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n)  { } 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Some {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final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ImpA impA;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final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ImpB impB;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data;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Some(ImpA a, ImpB b) {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.impA = a;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.impB = b; 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operA() { impA.doA(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 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operB() { impB.doB(data); 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60" name="c2-uml-1"/>
          <p:cNvGrpSpPr/>
          <p:nvPr/>
        </p:nvGrpSpPr>
        <p:grpSpPr>
          <a:xfrm>
            <a:off x="7029450" y="2106930"/>
            <a:ext cx="4389120" cy="1746885"/>
            <a:chOff x="7029450" y="2106930"/>
            <a:chExt cx="4389120" cy="1746885"/>
          </a:xfrm>
        </p:grpSpPr>
        <p:sp>
          <p:nvSpPr>
            <p:cNvPr id="15" name="Freeform 15"/>
            <p:cNvSpPr/>
            <p:nvPr/>
          </p:nvSpPr>
          <p:spPr>
            <a:xfrm>
              <a:off x="8172450" y="2505075"/>
              <a:ext cx="270510" cy="9525"/>
            </a:xfrm>
            <a:custGeom>
              <a:avLst/>
              <a:gdLst/>
              <a:ahLst/>
              <a:cxnLst/>
              <a:rect l="l" t="t" r="r" b="b"/>
              <a:pathLst>
                <a:path w="270510" h="9525">
                  <a:moveTo>
                    <a:pt x="0" y="0"/>
                  </a:moveTo>
                  <a:lnTo>
                    <a:pt x="27051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8442960" y="2446972"/>
              <a:ext cx="209550" cy="115253"/>
            </a:xfrm>
            <a:custGeom>
              <a:avLst/>
              <a:gdLst/>
              <a:ahLst/>
              <a:cxnLst/>
              <a:rect l="l" t="t" r="r" b="b"/>
              <a:pathLst>
                <a:path w="209550" h="115253">
                  <a:moveTo>
                    <a:pt x="209550" y="58103"/>
                  </a:moveTo>
                  <a:lnTo>
                    <a:pt x="104775" y="115253"/>
                  </a:lnTo>
                  <a:lnTo>
                    <a:pt x="0" y="58103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10005060" y="2505075"/>
              <a:ext cx="270510" cy="9525"/>
            </a:xfrm>
            <a:custGeom>
              <a:avLst/>
              <a:gdLst/>
              <a:ahLst/>
              <a:cxnLst/>
              <a:rect l="l" t="t" r="r" b="b"/>
              <a:pathLst>
                <a:path w="270510" h="9525">
                  <a:moveTo>
                    <a:pt x="270510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9795510" y="2446972"/>
              <a:ext cx="209550" cy="115253"/>
            </a:xfrm>
            <a:custGeom>
              <a:avLst/>
              <a:gdLst/>
              <a:ahLst/>
              <a:cxnLst/>
              <a:rect l="l" t="t" r="r" b="b"/>
              <a:pathLst>
                <a:path w="209550" h="115253">
                  <a:moveTo>
                    <a:pt x="0" y="58103"/>
                  </a:moveTo>
                  <a:lnTo>
                    <a:pt x="104775" y="0"/>
                  </a:lnTo>
                  <a:lnTo>
                    <a:pt x="209550" y="58103"/>
                  </a:lnTo>
                  <a:lnTo>
                    <a:pt x="104775" y="115253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7600950" y="3014662"/>
              <a:ext cx="9525" cy="395288"/>
            </a:xfrm>
            <a:custGeom>
              <a:avLst/>
              <a:gdLst/>
              <a:ahLst/>
              <a:cxnLst/>
              <a:rect l="l" t="t" r="r" b="b"/>
              <a:pathLst>
                <a:path w="9525" h="395288">
                  <a:moveTo>
                    <a:pt x="0" y="395288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  <a:custDash>
                <a:ds d="375000" sp="250000"/>
              </a:custDash>
            </a:ln>
          </p:spPr>
        </p:sp>
        <p:sp>
          <p:nvSpPr>
            <p:cNvPr id="20" name="Freeform 20"/>
            <p:cNvSpPr/>
            <p:nvPr/>
          </p:nvSpPr>
          <p:spPr>
            <a:xfrm>
              <a:off x="7527608" y="2888932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21" name="Freeform 21"/>
            <p:cNvSpPr/>
            <p:nvPr/>
          </p:nvSpPr>
          <p:spPr>
            <a:xfrm>
              <a:off x="7600950" y="3014662"/>
              <a:ext cx="1623060" cy="395288"/>
            </a:xfrm>
            <a:custGeom>
              <a:avLst/>
              <a:gdLst/>
              <a:ahLst/>
              <a:cxnLst/>
              <a:rect l="l" t="t" r="r" b="b"/>
              <a:pathLst>
                <a:path w="1623060" h="395288">
                  <a:moveTo>
                    <a:pt x="1623060" y="395288"/>
                  </a:moveTo>
                  <a:lnTo>
                    <a:pt x="1623060" y="135255"/>
                  </a:lnTo>
                  <a:lnTo>
                    <a:pt x="0" y="135255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  <a:custDash>
                <a:ds d="375000" sp="250000"/>
              </a:custDash>
            </a:ln>
          </p:spPr>
        </p:sp>
        <p:sp>
          <p:nvSpPr>
            <p:cNvPr id="22" name="Freeform 22"/>
            <p:cNvSpPr/>
            <p:nvPr/>
          </p:nvSpPr>
          <p:spPr>
            <a:xfrm>
              <a:off x="7527608" y="2888932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23" name="Freeform 23"/>
            <p:cNvSpPr/>
            <p:nvPr/>
          </p:nvSpPr>
          <p:spPr>
            <a:xfrm>
              <a:off x="10847070" y="3014662"/>
              <a:ext cx="9525" cy="395288"/>
            </a:xfrm>
            <a:custGeom>
              <a:avLst/>
              <a:gdLst/>
              <a:ahLst/>
              <a:cxnLst/>
              <a:rect l="l" t="t" r="r" b="b"/>
              <a:pathLst>
                <a:path w="9525" h="395288">
                  <a:moveTo>
                    <a:pt x="0" y="395288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  <a:custDash>
                <a:ds d="375000" sp="250000"/>
              </a:custDash>
            </a:ln>
          </p:spPr>
        </p:sp>
        <p:sp>
          <p:nvSpPr>
            <p:cNvPr id="24" name="Freeform 24"/>
            <p:cNvSpPr/>
            <p:nvPr/>
          </p:nvSpPr>
          <p:spPr>
            <a:xfrm>
              <a:off x="10773728" y="2888932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7029450" y="2121218"/>
              <a:ext cx="1143000" cy="76866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7037070" y="2127885"/>
              <a:ext cx="1128712" cy="39433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7029450" y="251841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7029450" y="261366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8652510" y="2106930"/>
              <a:ext cx="1143000" cy="79533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8659178" y="2114550"/>
              <a:ext cx="1128712" cy="24574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8652510" y="2355532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8652510" y="2450782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10275570" y="2121218"/>
              <a:ext cx="1143000" cy="76866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10282238" y="2127885"/>
              <a:ext cx="1128712" cy="39433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10275570" y="251841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10275570" y="261366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7029450" y="3409950"/>
              <a:ext cx="1143000" cy="443865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7037070" y="3416618"/>
              <a:ext cx="1128712" cy="24574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7029450" y="3658552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7029450" y="3753802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8652510" y="3409950"/>
              <a:ext cx="1143000" cy="443865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659178" y="3416618"/>
              <a:ext cx="1128712" cy="24574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8652510" y="3658552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8652510" y="3753802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10275570" y="3409950"/>
              <a:ext cx="1143000" cy="443865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10282238" y="3416618"/>
              <a:ext cx="1128712" cy="24574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10275570" y="3658552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10275570" y="3753802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7244829" y="2178368"/>
              <a:ext cx="71224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«interface»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431550" y="2329815"/>
              <a:ext cx="33879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ImpA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100697" y="2684621"/>
              <a:ext cx="81427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doA(Some)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9038053" y="2166938"/>
              <a:ext cx="37191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Some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8723757" y="2521744"/>
              <a:ext cx="594868" cy="3669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operA()</a:t>
              </a:r>
              <a:br/>
              <a:r>
                <a:rPr lang="en-US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operB()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0490949" y="2178368"/>
              <a:ext cx="71224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«interface»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0677670" y="2329815"/>
              <a:ext cx="33879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ImpB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0346817" y="2684621"/>
              <a:ext cx="67576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doB(int)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347610" y="3469958"/>
              <a:ext cx="50668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ImpA01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8970670" y="3469958"/>
              <a:ext cx="50668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ImpA02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0593730" y="3469958"/>
              <a:ext cx="50668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ImpB01</a:t>
              </a:r>
            </a:p>
          </p:txBody>
        </p:sp>
      </p:grpSp>
      <p:grpSp>
        <p:nvGrpSpPr>
          <p:cNvPr id="66" name="c2-card-2"/>
          <p:cNvGrpSpPr/>
          <p:nvPr/>
        </p:nvGrpSpPr>
        <p:grpSpPr>
          <a:xfrm>
            <a:off x="6789420" y="4370070"/>
            <a:ext cx="4869180" cy="1209675"/>
            <a:chOff x="6789420" y="4370070"/>
            <a:chExt cx="4869180" cy="1209675"/>
          </a:xfrm>
        </p:grpSpPr>
        <p:sp>
          <p:nvSpPr>
            <p:cNvPr id="61" name="Rectangle 61"/>
            <p:cNvSpPr/>
            <p:nvPr/>
          </p:nvSpPr>
          <p:spPr>
            <a:xfrm>
              <a:off x="6789420" y="4370070"/>
              <a:ext cx="4869180" cy="1209675"/>
            </a:xfrm>
            <a:prstGeom prst="roundRect">
              <a:avLst>
                <a:gd name="adj" fmla="val 1102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2" name="Rectangle 62"/>
            <p:cNvSpPr/>
            <p:nvPr/>
          </p:nvSpPr>
          <p:spPr>
            <a:xfrm>
              <a:off x="6798945" y="4503420"/>
              <a:ext cx="47625" cy="94297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63" name="Rectangle 63"/>
            <p:cNvSpPr/>
            <p:nvPr/>
          </p:nvSpPr>
          <p:spPr>
            <a:xfrm>
              <a:off x="7019925" y="4562475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7111365" y="459676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7013067" y="4919662"/>
              <a:ext cx="425710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原课件写作 </a:t>
              </a: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mImpA-&gt;doB(mData)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，拿 ImpA 的引用去调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ImpB 的方法，编译通不过，应为 </a:t>
              </a:r>
              <a:r>
                <a:rPr lang="en-US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impB.doB(data)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</p:grpSp>
      <p:grpSp>
        <p:nvGrpSpPr>
          <p:cNvPr id="72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67" name="Rectangle 67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70" name="Group 70"/>
            <p:cNvGrpSpPr/>
            <p:nvPr/>
          </p:nvGrpSpPr>
          <p:grpSpPr>
            <a:xfrm>
              <a:off x="738188" y="6017897"/>
              <a:ext cx="200023" cy="200023"/>
              <a:chOff x="738188" y="6017897"/>
              <a:chExt cx="200023" cy="200023"/>
            </a:xfrm>
          </p:grpSpPr>
          <p:sp>
            <p:nvSpPr>
              <p:cNvPr id="68" name="Freeform 68"/>
              <p:cNvSpPr/>
              <p:nvPr/>
            </p:nvSpPr>
            <p:spPr>
              <a:xfrm>
                <a:off x="738188" y="601789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9" name="Freeform 69"/>
              <p:cNvSpPr/>
              <p:nvPr/>
            </p:nvSpPr>
            <p:spPr>
              <a:xfrm>
                <a:off x="871538" y="60845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71" name="TextBox 71"/>
            <p:cNvSpPr txBox="1"/>
            <p:nvPr/>
          </p:nvSpPr>
          <p:spPr>
            <a:xfrm>
              <a:off x="1040892" y="6023610"/>
              <a:ext cx="65199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这套“抽象持有实现、两边各自派生”的写法，正是桥接模式（第 21 讲）的骨架。</a:t>
              </a:r>
            </a:p>
          </p:txBody>
        </p:sp>
      </p:grpSp>
      <p:grpSp>
        <p:nvGrpSpPr>
          <p:cNvPr id="7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3" name="TextBox 73"/>
            <p:cNvSpPr txBox="1"/>
            <p:nvPr/>
          </p:nvSpPr>
          <p:spPr>
            <a:xfrm>
              <a:off x="528447" y="6581299"/>
              <a:ext cx="266824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课程概述与面向对象设计复用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2322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1728" y="407194"/>
              <a:ext cx="28275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00 概述与复用 · 变化：类设计真正的难点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谁来决定用哪个实现：依赖倒转与控制反转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8412660" cy="264033"/>
            <a:chOff x="526542" y="1545907"/>
            <a:chExt cx="8412660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84126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实现抽出来之后还剩一个问题：那句 new ImpA01() 写在谁那里。写在使用者那里，使用者就被绑死了。</a:t>
              </a:r>
            </a:p>
          </p:txBody>
        </p:sp>
      </p:grpSp>
      <p:grpSp>
        <p:nvGrpSpPr>
          <p:cNvPr id="12" name="c1-code-1"/>
          <p:cNvGrpSpPr/>
          <p:nvPr/>
        </p:nvGrpSpPr>
        <p:grpSpPr>
          <a:xfrm>
            <a:off x="533400" y="1928812"/>
            <a:ext cx="6167438" cy="2967990"/>
            <a:chOff x="533400" y="1928812"/>
            <a:chExt cx="6167438" cy="2967990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6167438" cy="2967990"/>
            </a:xfrm>
            <a:prstGeom prst="roundRect">
              <a:avLst>
                <a:gd name="adj" fmla="val 3209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080736"/>
              <a:ext cx="28557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版本一：Client 亲自决定，换实现就得改 Client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61797" y="2340769"/>
              <a:ext cx="4135755" cy="24814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interface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IA {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xxx();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final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IA a;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B(IA a) {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.a = a; }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构造注入 */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func() { a.xxx();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Client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call()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IA a =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ImpA01();      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Client 控制实现 */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B(a).func();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6" name="c1-code-2"/>
          <p:cNvGrpSpPr/>
          <p:nvPr/>
        </p:nvGrpSpPr>
        <p:grpSpPr>
          <a:xfrm>
            <a:off x="533400" y="5066348"/>
            <a:ext cx="6167438" cy="1209675"/>
            <a:chOff x="533400" y="5066348"/>
            <a:chExt cx="6167438" cy="1209675"/>
          </a:xfrm>
        </p:grpSpPr>
        <p:sp>
          <p:nvSpPr>
            <p:cNvPr id="13" name="Rectangle 13"/>
            <p:cNvSpPr/>
            <p:nvPr/>
          </p:nvSpPr>
          <p:spPr>
            <a:xfrm>
              <a:off x="533400" y="5066348"/>
              <a:ext cx="6167438" cy="1209675"/>
            </a:xfrm>
            <a:prstGeom prst="roundRect">
              <a:avLst>
                <a:gd name="adj" fmla="val 7874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" y="5218271"/>
              <a:ext cx="27565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版本二：交给容器，Client 和 B 都不再写 new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61797" y="5478304"/>
              <a:ext cx="3843274" cy="7193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B2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final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IA a = AMgr.getAByClassName(</a:t>
              </a:r>
              <a:r>
                <a:rPr lang="en-US" sz="98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"ImpA01"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func() { a.xxx();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23" name="c2-card-1"/>
          <p:cNvGrpSpPr/>
          <p:nvPr/>
        </p:nvGrpSpPr>
        <p:grpSpPr>
          <a:xfrm>
            <a:off x="7005638" y="1928812"/>
            <a:ext cx="4652962" cy="1459230"/>
            <a:chOff x="7005638" y="1928812"/>
            <a:chExt cx="4652962" cy="1459230"/>
          </a:xfrm>
        </p:grpSpPr>
        <p:sp>
          <p:nvSpPr>
            <p:cNvPr id="17" name="Rectangle 17"/>
            <p:cNvSpPr/>
            <p:nvPr/>
          </p:nvSpPr>
          <p:spPr>
            <a:xfrm>
              <a:off x="7005638" y="1928812"/>
              <a:ext cx="4652962" cy="1459230"/>
            </a:xfrm>
            <a:prstGeom prst="roundRect">
              <a:avLst>
                <a:gd name="adj" fmla="val 913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015162" y="2062162"/>
              <a:ext cx="47625" cy="1192530"/>
            </a:xfrm>
            <a:prstGeom prst="roundRect">
              <a:avLst>
                <a:gd name="adj" fmla="val 50000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7230428" y="2115502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323099" y="214836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原则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796974" y="2150745"/>
              <a:ext cx="174988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依赖倒转原则（DIP）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223570" y="2476500"/>
              <a:ext cx="3974211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“倒转”是相对结构化设计而言的：结构化设计里高层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依赖底层的具体实现；面向对象里高层只依赖底层的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抽象类和接口，底层的实现类反过来依赖抽象。</a:t>
              </a:r>
            </a:p>
          </p:txBody>
        </p:sp>
      </p:grpSp>
      <p:grpSp>
        <p:nvGrpSpPr>
          <p:cNvPr id="32" name="c2-kv-2"/>
          <p:cNvGrpSpPr/>
          <p:nvPr/>
        </p:nvGrpSpPr>
        <p:grpSpPr>
          <a:xfrm>
            <a:off x="6998780" y="3580448"/>
            <a:ext cx="4659820" cy="1809940"/>
            <a:chOff x="6998780" y="3580448"/>
            <a:chExt cx="4659820" cy="1809940"/>
          </a:xfrm>
        </p:grpSpPr>
        <p:sp>
          <p:nvSpPr>
            <p:cNvPr id="24" name="TextBox 24"/>
            <p:cNvSpPr txBox="1"/>
            <p:nvPr/>
          </p:nvSpPr>
          <p:spPr>
            <a:xfrm>
              <a:off x="6998780" y="358044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版本一的问题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618030" y="3580448"/>
              <a:ext cx="2774061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Client 既要管流程，又要管选实现，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责任过重；换实现必须改 Client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005638" y="4120515"/>
              <a:ext cx="465296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998780" y="4226242"/>
              <a:ext cx="14267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IOC（控制反转）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618030" y="4226242"/>
              <a:ext cx="2774061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把“选哪个实现”的控制权从使用者手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里拿走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005638" y="4766310"/>
              <a:ext cx="465296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998780" y="487299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依赖注入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618030" y="4872990"/>
              <a:ext cx="2756916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 AMgr 看成一个容器，由容器把实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现对象送进来，就是依赖注入</a:t>
              </a:r>
            </a:p>
          </p:txBody>
        </p:sp>
      </p:grpSp>
      <p:grpSp>
        <p:nvGrpSpPr>
          <p:cNvPr id="39" name="c2-callout-3"/>
          <p:cNvGrpSpPr/>
          <p:nvPr/>
        </p:nvGrpSpPr>
        <p:grpSpPr>
          <a:xfrm>
            <a:off x="7005638" y="5507355"/>
            <a:ext cx="4652962" cy="768668"/>
            <a:chOff x="7005638" y="5507355"/>
            <a:chExt cx="4652962" cy="768668"/>
          </a:xfrm>
        </p:grpSpPr>
        <p:sp>
          <p:nvSpPr>
            <p:cNvPr id="33" name="Rectangle 33"/>
            <p:cNvSpPr/>
            <p:nvPr/>
          </p:nvSpPr>
          <p:spPr>
            <a:xfrm>
              <a:off x="7005638" y="5507355"/>
              <a:ext cx="4652962" cy="768668"/>
            </a:xfrm>
            <a:prstGeom prst="roundRect">
              <a:avLst>
                <a:gd name="adj" fmla="val 14870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7" name="Group 37"/>
            <p:cNvGrpSpPr/>
            <p:nvPr/>
          </p:nvGrpSpPr>
          <p:grpSpPr>
            <a:xfrm>
              <a:off x="7210425" y="5791200"/>
              <a:ext cx="200026" cy="200025"/>
              <a:chOff x="7210425" y="5791200"/>
              <a:chExt cx="200026" cy="200025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7210425" y="579120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7250164" y="583565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7284879" y="594677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8" name="TextBox 38"/>
            <p:cNvSpPr txBox="1"/>
            <p:nvPr/>
          </p:nvSpPr>
          <p:spPr>
            <a:xfrm>
              <a:off x="7513130" y="5673090"/>
              <a:ext cx="3802761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记住这条线索：抽象出接口只解决“能不能换”，控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制反转才解决“由谁来换”。</a:t>
              </a:r>
            </a:p>
          </p:txBody>
        </p:sp>
      </p:grpSp>
      <p:grpSp>
        <p:nvGrpSpPr>
          <p:cNvPr id="4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0" name="TextBox 40"/>
            <p:cNvSpPr txBox="1"/>
            <p:nvPr/>
          </p:nvSpPr>
          <p:spPr>
            <a:xfrm>
              <a:off x="528447" y="6581299"/>
              <a:ext cx="266824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课程概述与面向对象设计复用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5B3FA0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EEAF7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6246114" cy="2997517"/>
            <a:chOff x="667512" y="1835468"/>
            <a:chExt cx="6246114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第六部分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4398264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从复用走到设计模式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623620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关系模型是工具，设计原则是准则，模式是两者反复配合的成品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继承复用与组合复用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七条设计原则总览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模式的定义、要素与分类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266824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课程概述与面向对象设计复用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3937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627" y="407194"/>
              <a:ext cx="2525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00 概述与复用 · 从复用走到设计模式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复用的两条路：继承复用与组合复用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5410200" cy="3139440"/>
            <a:chOff x="533400" y="1524000"/>
            <a:chExt cx="5410200" cy="313944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3139440"/>
            </a:xfrm>
            <a:prstGeom prst="roundRect">
              <a:avLst>
                <a:gd name="adj" fmla="val 3034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3189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035" y="1937861"/>
              <a:ext cx="3297174" cy="26546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service() {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继承方式复用 A：EA 就是一个 A */</a:t>
              </a:r>
              <a:br/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EA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组合方式复用 A：EA2 内部有一个 A */</a:t>
              </a:r>
              <a:br/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EA2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final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 a =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A();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service() { a.service();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6" name="c1-callout-2"/>
          <p:cNvGrpSpPr/>
          <p:nvPr/>
        </p:nvGrpSpPr>
        <p:grpSpPr>
          <a:xfrm>
            <a:off x="533400" y="4849178"/>
            <a:ext cx="5410200" cy="929640"/>
            <a:chOff x="533400" y="4849178"/>
            <a:chExt cx="5410200" cy="929640"/>
          </a:xfrm>
        </p:grpSpPr>
        <p:sp>
          <p:nvSpPr>
            <p:cNvPr id="11" name="Rectangle 11"/>
            <p:cNvSpPr/>
            <p:nvPr/>
          </p:nvSpPr>
          <p:spPr>
            <a:xfrm>
              <a:off x="533400" y="4849178"/>
              <a:ext cx="5410200" cy="929640"/>
            </a:xfrm>
            <a:prstGeom prst="roundRect">
              <a:avLst>
                <a:gd name="adj" fmla="val 12295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738188" y="5213987"/>
              <a:ext cx="200023" cy="200023"/>
              <a:chOff x="738188" y="5213987"/>
              <a:chExt cx="200023" cy="200023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738188" y="521398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871538" y="528066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1040511" y="5083016"/>
              <a:ext cx="452297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组合优先原则：能用组合表达的关系就别用继承。继承是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编译期就定死的强约束，组合可以在运行期换对象。</a:t>
              </a:r>
            </a:p>
          </p:txBody>
        </p:sp>
      </p:grpSp>
      <p:grpSp>
        <p:nvGrpSpPr>
          <p:cNvPr id="47" name="c2-table-1"/>
          <p:cNvGrpSpPr/>
          <p:nvPr/>
        </p:nvGrpSpPr>
        <p:grpSpPr>
          <a:xfrm>
            <a:off x="6248400" y="1524000"/>
            <a:ext cx="5410200" cy="2794635"/>
            <a:chOff x="6248400" y="1524000"/>
            <a:chExt cx="5410200" cy="2794635"/>
          </a:xfrm>
        </p:grpSpPr>
        <p:sp>
          <p:nvSpPr>
            <p:cNvPr id="17" name="Rectangle 17"/>
            <p:cNvSpPr/>
            <p:nvPr/>
          </p:nvSpPr>
          <p:spPr>
            <a:xfrm>
              <a:off x="6248400" y="1524000"/>
              <a:ext cx="5410200" cy="430530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702933" y="1655445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比较项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327136" y="165544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继承复用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328338" y="165544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组合复用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353747" y="2085022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语义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760589" y="2085022"/>
              <a:ext cx="88087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EA 是一个 A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761791" y="2085022"/>
              <a:ext cx="97475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EA2 有一个 A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48400" y="237934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48400" y="2384108"/>
              <a:ext cx="5410200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353747" y="251555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绑定时机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760589" y="2515552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编译期固定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665970" y="2393632"/>
              <a:ext cx="1983105" cy="41148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761791" y="2515552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运行期可替换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48400" y="280987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353747" y="3052762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封装性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760589" y="2946082"/>
              <a:ext cx="11170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子类看得见父类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protected 细节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761791" y="3052762"/>
              <a:ext cx="16276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只能通过公开接口访问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248400" y="345281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6248400" y="3457575"/>
              <a:ext cx="5410200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353747" y="358902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父类改动的影响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760589" y="358902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直接波及所有子类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761791" y="3589020"/>
              <a:ext cx="17891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只要接口不变就不受影响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248400" y="388334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353747" y="4019550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类数量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760589" y="4019550"/>
              <a:ext cx="17891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组合维度多时按乘法增长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9665970" y="3897630"/>
              <a:ext cx="1983105" cy="41148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9761791" y="401955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按加法增长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6248400" y="1524000"/>
              <a:ext cx="5410200" cy="279463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7650480" y="1524000"/>
              <a:ext cx="9525" cy="27946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9651682" y="1524000"/>
              <a:ext cx="9525" cy="27946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3" name="c2-card-2"/>
          <p:cNvGrpSpPr/>
          <p:nvPr/>
        </p:nvGrpSpPr>
        <p:grpSpPr>
          <a:xfrm>
            <a:off x="6248400" y="4503420"/>
            <a:ext cx="5410200" cy="1274445"/>
            <a:chOff x="6248400" y="4503420"/>
            <a:chExt cx="5410200" cy="1274445"/>
          </a:xfrm>
        </p:grpSpPr>
        <p:sp>
          <p:nvSpPr>
            <p:cNvPr id="48" name="Rectangle 48"/>
            <p:cNvSpPr/>
            <p:nvPr/>
          </p:nvSpPr>
          <p:spPr>
            <a:xfrm>
              <a:off x="6248400" y="4503420"/>
              <a:ext cx="5410200" cy="1274445"/>
            </a:xfrm>
            <a:prstGeom prst="roundRect">
              <a:avLst>
                <a:gd name="adj" fmla="val 104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6257925" y="4636770"/>
              <a:ext cx="47625" cy="100774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6490335" y="4707255"/>
              <a:ext cx="1489710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550990" y="4742974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什么时候仍该用继承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483096" y="5080159"/>
              <a:ext cx="47033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子类确实是父类的一种特殊情况，并且满足里氏替换：任何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出现父类的地方都能换成子类对象而程序照常工作。</a:t>
              </a:r>
            </a:p>
          </p:txBody>
        </p:sp>
      </p:grpSp>
      <p:grpSp>
        <p:nvGrpSpPr>
          <p:cNvPr id="5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4" name="TextBox 54"/>
            <p:cNvSpPr txBox="1"/>
            <p:nvPr/>
          </p:nvSpPr>
          <p:spPr>
            <a:xfrm>
              <a:off x="528447" y="6581299"/>
              <a:ext cx="266824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课程概述与面向对象设计复用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3937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627" y="407194"/>
              <a:ext cx="2525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00 概述与复用 · 从复用走到设计模式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关系模型是工具，设计原则是准则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8999017" cy="278702"/>
            <a:chOff x="526161" y="1547336"/>
            <a:chExt cx="8999017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899901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面向对象设计就是在原则的约束下，反复用这几种关系搭结构；搭出来被验证有效的定式，就是设计模式。</a:t>
              </a:r>
            </a:p>
          </p:txBody>
        </p:sp>
      </p:grpSp>
      <p:grpSp>
        <p:nvGrpSpPr>
          <p:cNvPr id="43" name="c1-table-1"/>
          <p:cNvGrpSpPr/>
          <p:nvPr/>
        </p:nvGrpSpPr>
        <p:grpSpPr>
          <a:xfrm>
            <a:off x="528066" y="1941195"/>
            <a:ext cx="4983099" cy="4112514"/>
            <a:chOff x="528066" y="1941195"/>
            <a:chExt cx="4983099" cy="4112514"/>
          </a:xfrm>
        </p:grpSpPr>
        <p:sp>
          <p:nvSpPr>
            <p:cNvPr id="9" name="Rectangle 9"/>
            <p:cNvSpPr/>
            <p:nvPr/>
          </p:nvSpPr>
          <p:spPr>
            <a:xfrm>
              <a:off x="533400" y="1941195"/>
              <a:ext cx="4977765" cy="444818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2962" y="2069782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关系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870180" y="2069782"/>
              <a:ext cx="81068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UML 记号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986784" y="2069782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一句话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42962" y="2634615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依赖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627632" y="263461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虚线箭头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121152" y="2514600"/>
              <a:ext cx="2071116" cy="5040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临时用一下对方（参数、局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部变量）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3066098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3070860"/>
              <a:ext cx="4977765" cy="44481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42962" y="3198495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关联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627632" y="319849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实线箭头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121152" y="319849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长期持有对方的引用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3510915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42962" y="3763327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聚合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627632" y="3763327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空心菱形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121152" y="3643312"/>
              <a:ext cx="2071116" cy="5040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整体持有部分，不管部分的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生死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4195762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533400" y="4200525"/>
              <a:ext cx="4977765" cy="68484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42962" y="4448175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组合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627632" y="44481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实心菱形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121152" y="4328160"/>
              <a:ext cx="2071116" cy="5040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整体持有部分，并负责部分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的生死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4879658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42962" y="5013008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泛化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627632" y="501300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空心三角实线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121152" y="501300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子类继承父类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3400" y="5324475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533400" y="5329238"/>
              <a:ext cx="4977765" cy="44481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42962" y="5457825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实现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627632" y="54578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空心三角虚线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121152" y="54578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实现类实现接口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533400" y="1941195"/>
              <a:ext cx="4977765" cy="383286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1524000" y="1941195"/>
              <a:ext cx="9525" cy="38328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3017520" y="1941195"/>
              <a:ext cx="9525" cy="38328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528066" y="5848350"/>
              <a:ext cx="95772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细讲见第 01 讲</a:t>
              </a:r>
            </a:p>
          </p:txBody>
        </p:sp>
      </p:grpSp>
      <p:grpSp>
        <p:nvGrpSpPr>
          <p:cNvPr id="53" name="c2-card-1"/>
          <p:cNvGrpSpPr/>
          <p:nvPr/>
        </p:nvGrpSpPr>
        <p:grpSpPr>
          <a:xfrm>
            <a:off x="5815965" y="1941195"/>
            <a:ext cx="5842635" cy="2071688"/>
            <a:chOff x="5815965" y="1941195"/>
            <a:chExt cx="5842635" cy="2071688"/>
          </a:xfrm>
        </p:grpSpPr>
        <p:sp>
          <p:nvSpPr>
            <p:cNvPr id="44" name="Rectangle 44"/>
            <p:cNvSpPr/>
            <p:nvPr/>
          </p:nvSpPr>
          <p:spPr>
            <a:xfrm>
              <a:off x="5815965" y="1941195"/>
              <a:ext cx="5842635" cy="2071688"/>
            </a:xfrm>
            <a:prstGeom prst="roundRect">
              <a:avLst>
                <a:gd name="adj" fmla="val 6437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6008370" y="2133600"/>
              <a:ext cx="1276350" cy="247650"/>
            </a:xfrm>
            <a:prstGeom prst="roundRect">
              <a:avLst>
                <a:gd name="adj" fmla="val 50000"/>
              </a:avLst>
            </a:prstGeom>
            <a:solidFill>
              <a:srgbClr val="462F80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075807" y="2167890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三组容易混的判定</a:t>
              </a:r>
            </a:p>
          </p:txBody>
        </p:sp>
        <p:sp>
          <p:nvSpPr>
            <p:cNvPr id="47" name="Ellipse 47"/>
            <p:cNvSpPr/>
            <p:nvPr/>
          </p:nvSpPr>
          <p:spPr>
            <a:xfrm>
              <a:off x="6016942" y="2546985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172962" y="2490788"/>
              <a:ext cx="49857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依赖还是关联：对方是不是这个类的成员变量。是成员就是关联，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只在方法里出现就是依赖。</a:t>
              </a:r>
            </a:p>
          </p:txBody>
        </p:sp>
        <p:sp>
          <p:nvSpPr>
            <p:cNvPr id="49" name="Ellipse 49"/>
            <p:cNvSpPr/>
            <p:nvPr/>
          </p:nvSpPr>
          <p:spPr>
            <a:xfrm>
              <a:off x="6016942" y="3106102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172962" y="3049905"/>
              <a:ext cx="49857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聚合还是组合：整体消失时部分是否跟着消失。跟着消失是组合，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能独立存在是聚合。</a:t>
              </a:r>
            </a:p>
          </p:txBody>
        </p:sp>
        <p:sp>
          <p:nvSpPr>
            <p:cNvPr id="51" name="Ellipse 51"/>
            <p:cNvSpPr/>
            <p:nvPr/>
          </p:nvSpPr>
          <p:spPr>
            <a:xfrm>
              <a:off x="6016942" y="3666172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172962" y="3609975"/>
              <a:ext cx="51023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泛化还是实现：父方是普通类就是泛化，父方是接口就是实现。</a:t>
              </a:r>
            </a:p>
          </p:txBody>
        </p:sp>
      </p:grpSp>
      <p:grpSp>
        <p:nvGrpSpPr>
          <p:cNvPr id="60" name="c2-card-2"/>
          <p:cNvGrpSpPr/>
          <p:nvPr/>
        </p:nvGrpSpPr>
        <p:grpSpPr>
          <a:xfrm>
            <a:off x="5815965" y="4188142"/>
            <a:ext cx="5842635" cy="1254442"/>
            <a:chOff x="5815965" y="4188142"/>
            <a:chExt cx="5842635" cy="1254442"/>
          </a:xfrm>
        </p:grpSpPr>
        <p:sp>
          <p:nvSpPr>
            <p:cNvPr id="54" name="Rectangle 54"/>
            <p:cNvSpPr/>
            <p:nvPr/>
          </p:nvSpPr>
          <p:spPr>
            <a:xfrm>
              <a:off x="5815965" y="4188142"/>
              <a:ext cx="5842635" cy="1254442"/>
            </a:xfrm>
            <a:prstGeom prst="roundRect">
              <a:avLst>
                <a:gd name="adj" fmla="val 1063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5" name="Rectangle 55"/>
            <p:cNvSpPr/>
            <p:nvPr/>
          </p:nvSpPr>
          <p:spPr>
            <a:xfrm>
              <a:off x="5825490" y="4321492"/>
              <a:ext cx="47625" cy="98774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6046470" y="4380548"/>
              <a:ext cx="34290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141911" y="4414838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6039612" y="473773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计算机与网卡是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聚合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：网卡拆下来插到别的机器上照样能用。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6039612" y="5039678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人与四肢是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组合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：人不在了，四肢也就不存在了。</a:t>
              </a:r>
            </a:p>
          </p:txBody>
        </p:sp>
      </p:grpSp>
      <p:grpSp>
        <p:nvGrpSpPr>
          <p:cNvPr id="67" name="c2-callout-3"/>
          <p:cNvGrpSpPr/>
          <p:nvPr/>
        </p:nvGrpSpPr>
        <p:grpSpPr>
          <a:xfrm>
            <a:off x="5815965" y="5617845"/>
            <a:ext cx="5842635" cy="729615"/>
            <a:chOff x="5815965" y="5617845"/>
            <a:chExt cx="5842635" cy="729615"/>
          </a:xfrm>
        </p:grpSpPr>
        <p:sp>
          <p:nvSpPr>
            <p:cNvPr id="61" name="Rectangle 61"/>
            <p:cNvSpPr/>
            <p:nvPr/>
          </p:nvSpPr>
          <p:spPr>
            <a:xfrm>
              <a:off x="5815965" y="5617845"/>
              <a:ext cx="5842635" cy="729615"/>
            </a:xfrm>
            <a:prstGeom prst="roundRect">
              <a:avLst>
                <a:gd name="adj" fmla="val 15666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65" name="Group 65"/>
            <p:cNvGrpSpPr/>
            <p:nvPr/>
          </p:nvGrpSpPr>
          <p:grpSpPr>
            <a:xfrm>
              <a:off x="6008694" y="5878948"/>
              <a:ext cx="224134" cy="192560"/>
              <a:chOff x="6008694" y="5878948"/>
              <a:chExt cx="224134" cy="192560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6120765" y="5949315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3" name="Freeform 63"/>
              <p:cNvSpPr/>
              <p:nvPr/>
            </p:nvSpPr>
            <p:spPr>
              <a:xfrm>
                <a:off x="6008694" y="5878948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4" name="Freeform 64"/>
              <p:cNvSpPr/>
              <p:nvPr/>
            </p:nvSpPr>
            <p:spPr>
              <a:xfrm>
                <a:off x="6120765" y="602710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66" name="TextBox 66"/>
            <p:cNvSpPr txBox="1"/>
            <p:nvPr/>
          </p:nvSpPr>
          <p:spPr>
            <a:xfrm>
              <a:off x="6323457" y="5764530"/>
              <a:ext cx="481431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画错方向是最常见的失分点：菱形一律画在整体一端，空心三角</a:t>
              </a:r>
              <a:br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一律指向父类或接口。</a:t>
              </a:r>
            </a:p>
          </p:txBody>
        </p:sp>
      </p:grpSp>
      <p:grpSp>
        <p:nvGrpSpPr>
          <p:cNvPr id="7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8" name="TextBox 68"/>
            <p:cNvSpPr txBox="1"/>
            <p:nvPr/>
          </p:nvSpPr>
          <p:spPr>
            <a:xfrm>
              <a:off x="528447" y="6581299"/>
              <a:ext cx="266824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课程概述与面向对象设计复用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444599" cy="909257"/>
            <a:chOff x="520446" y="342900"/>
            <a:chExt cx="544459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3937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627" y="407194"/>
              <a:ext cx="2525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00 概述与复用 · 从复用走到设计模式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44459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九条设计准则：第 02 讲会逐条展开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54" name="c1-table-1"/>
          <p:cNvGrpSpPr/>
          <p:nvPr/>
        </p:nvGrpSpPr>
        <p:grpSpPr>
          <a:xfrm>
            <a:off x="533400" y="1524000"/>
            <a:ext cx="11125200" cy="4057650"/>
            <a:chOff x="533400" y="1524000"/>
            <a:chExt cx="11125200" cy="405765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11125200" cy="40576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266546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层级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603028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原则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200606" y="1648301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一句话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15771" y="205406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根本原则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2323148" y="1939290"/>
              <a:ext cx="2873692" cy="38671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2413635" y="2054066"/>
              <a:ext cx="9570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开闭原则 OCP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306378" y="2054066"/>
              <a:ext cx="3780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对扩展开放，对修改关闭。所有其他原则都是为它服务的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" y="233076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533400" y="2335530"/>
              <a:ext cx="11125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115771" y="245983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基本原则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413635" y="2459831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抽象与封装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306378" y="2459831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分离稳定与变化，封装变化，为变化抽象出接口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533400" y="273653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115771" y="286559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基本原则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413635" y="286559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针对接口编程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306378" y="2865596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成员和参数的类型写接口，不写具体实现类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33400" y="314229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533400" y="3147060"/>
              <a:ext cx="11125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1115771" y="327136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基本原则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413635" y="3271361"/>
              <a:ext cx="92518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组合优先 CRP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06378" y="3271361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优先用组合复用，其次才考虑继承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533400" y="354806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1115771" y="367712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具体原则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413635" y="3677126"/>
              <a:ext cx="92518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单一职责 SRP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5306378" y="3677126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一个类只承担一类职责，不要定义巨型类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33400" y="395382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533400" y="3958590"/>
              <a:ext cx="11125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1115771" y="408289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具体原则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2413635" y="4082891"/>
              <a:ext cx="92518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里氏替换 LSP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5306378" y="4082891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任何出现父类的地方都能换成子类对象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533400" y="435959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1115771" y="448865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具体原则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2413635" y="4488656"/>
              <a:ext cx="8853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依赖倒转 DIP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5306378" y="4488656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高层只依赖底层的抽象，实现类反过来依赖抽象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533400" y="476535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533400" y="4770120"/>
              <a:ext cx="11125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1115771" y="489442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具体原则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2413635" y="4894421"/>
              <a:ext cx="8853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接口隔离 ISP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5306378" y="4894421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一个接口的职责不要太多，拆成多个小接口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533400" y="517112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1115771" y="530018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具体原则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2413635" y="5300186"/>
              <a:ext cx="10704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迪米特法则 LoD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5306378" y="5300186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引入中间类代为交互，减少类之间直接打交道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533400" y="1524000"/>
              <a:ext cx="11125200" cy="40576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2" name="Rectangle 52"/>
            <p:cNvSpPr/>
            <p:nvPr/>
          </p:nvSpPr>
          <p:spPr>
            <a:xfrm>
              <a:off x="2308860" y="1524000"/>
              <a:ext cx="9525" cy="40576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5201602" y="1524000"/>
              <a:ext cx="9525" cy="40576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0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55" name="Rectangle 55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58" name="Group 58"/>
            <p:cNvGrpSpPr/>
            <p:nvPr/>
          </p:nvGrpSpPr>
          <p:grpSpPr>
            <a:xfrm>
              <a:off x="738188" y="6017897"/>
              <a:ext cx="200023" cy="200023"/>
              <a:chOff x="738188" y="6017897"/>
              <a:chExt cx="200023" cy="200023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738188" y="601789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871538" y="60845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9" name="TextBox 59"/>
            <p:cNvSpPr txBox="1"/>
            <p:nvPr/>
          </p:nvSpPr>
          <p:spPr>
            <a:xfrm>
              <a:off x="1040892" y="6023610"/>
              <a:ext cx="855535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这九条里，开闭原则是目标，其余八条是达成目标的手段。判断一个设计好不好，先问它对扩展是否开放。</a:t>
              </a:r>
            </a:p>
          </p:txBody>
        </p:sp>
      </p:grpSp>
      <p:grpSp>
        <p:nvGrpSpPr>
          <p:cNvPr id="6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1" name="TextBox 61"/>
            <p:cNvSpPr txBox="1"/>
            <p:nvPr/>
          </p:nvSpPr>
          <p:spPr>
            <a:xfrm>
              <a:off x="528447" y="6581299"/>
              <a:ext cx="266824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课程概述与面向对象设计复用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145280" cy="909257"/>
            <a:chOff x="520446" y="342900"/>
            <a:chExt cx="414528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3937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627" y="407194"/>
              <a:ext cx="2525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00 概述与复用 · 从复用走到设计模式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14528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设计模式的定义与四个要素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card-1"/>
          <p:cNvGrpSpPr/>
          <p:nvPr/>
        </p:nvGrpSpPr>
        <p:grpSpPr>
          <a:xfrm>
            <a:off x="533400" y="1524000"/>
            <a:ext cx="5410200" cy="1954530"/>
            <a:chOff x="533400" y="1524000"/>
            <a:chExt cx="5410200" cy="195453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954530"/>
            </a:xfrm>
            <a:prstGeom prst="roundRect">
              <a:avLst>
                <a:gd name="adj" fmla="val 682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687830"/>
            </a:xfrm>
            <a:prstGeom prst="roundRect">
              <a:avLst>
                <a:gd name="adj" fmla="val 50000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3905" y="1716405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5345" y="175069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47597" y="175641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设计模式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7047" y="2090738"/>
              <a:ext cx="464286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设计模式是在特定环境下为解决某一通用软件设计问题提供的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一套定制的解决方案，该方案描述了对象和类之间的相互作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用。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58190" y="2903696"/>
              <a:ext cx="4563110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拆开看有四层意思：</a:t>
              </a:r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特定环境</a:t>
              </a: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、</a:t>
              </a:r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通用问题</a:t>
              </a: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、</a:t>
              </a:r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定制方案</a:t>
              </a: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、</a:t>
              </a:r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类与对象的相互作</a:t>
              </a:r>
              <a:br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用</a:t>
              </a: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</p:grpSp>
      <p:grpSp>
        <p:nvGrpSpPr>
          <p:cNvPr id="32" name="c1-steps-2"/>
          <p:cNvGrpSpPr/>
          <p:nvPr/>
        </p:nvGrpSpPr>
        <p:grpSpPr>
          <a:xfrm>
            <a:off x="533400" y="3663315"/>
            <a:ext cx="2852283" cy="2280762"/>
            <a:chOff x="533400" y="3663315"/>
            <a:chExt cx="2852283" cy="2280762"/>
          </a:xfrm>
        </p:grpSpPr>
        <p:sp>
          <p:nvSpPr>
            <p:cNvPr id="15" name="Rectangle 15"/>
            <p:cNvSpPr/>
            <p:nvPr/>
          </p:nvSpPr>
          <p:spPr>
            <a:xfrm>
              <a:off x="666750" y="3806190"/>
              <a:ext cx="19050" cy="176117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6" name="Ellipse 16"/>
            <p:cNvSpPr/>
            <p:nvPr/>
          </p:nvSpPr>
          <p:spPr>
            <a:xfrm>
              <a:off x="533400" y="3663315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27024" y="373713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533400" y="4250055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27024" y="432387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533400" y="4837748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27024" y="491156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533400" y="5424488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27024" y="549830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45642" y="369474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模式名称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46785" y="3962876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一个便于交流的短名字，如“观察者”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45642" y="428244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应用场景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46785" y="4549616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在什么问题和约束下才该用它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45642" y="486918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解决方案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46785" y="5136356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参与的角色、类图结构与协作方式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45642" y="545592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效果及说明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46785" y="5724049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带来的好处、付出的代价、注意事项</a:t>
              </a:r>
            </a:p>
          </p:txBody>
        </p:sp>
      </p:grpSp>
      <p:grpSp>
        <p:nvGrpSpPr>
          <p:cNvPr id="53" name="c2-table-1"/>
          <p:cNvGrpSpPr/>
          <p:nvPr/>
        </p:nvGrpSpPr>
        <p:grpSpPr>
          <a:xfrm>
            <a:off x="6248400" y="1524000"/>
            <a:ext cx="5410200" cy="1823085"/>
            <a:chOff x="6248400" y="1524000"/>
            <a:chExt cx="5410200" cy="1823085"/>
          </a:xfrm>
        </p:grpSpPr>
        <p:sp>
          <p:nvSpPr>
            <p:cNvPr id="33" name="Rectangle 33"/>
            <p:cNvSpPr/>
            <p:nvPr/>
          </p:nvSpPr>
          <p:spPr>
            <a:xfrm>
              <a:off x="6248400" y="1524000"/>
              <a:ext cx="5410200" cy="40576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687223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层次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985481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粒度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095268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例子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348412" y="2054066"/>
              <a:ext cx="810463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框架</a:t>
              </a:r>
              <a:br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Framework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539038" y="2054066"/>
              <a:ext cx="100711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一类软件的体系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结构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944928" y="2054066"/>
              <a:ext cx="2450846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MVC、Document/View、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COM/DCOM/EJB、Spring、Hibernate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48400" y="253079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6248400" y="2535555"/>
              <a:ext cx="5410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6257925" y="2545080"/>
              <a:ext cx="1171575" cy="38671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348412" y="265985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设计模式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539038" y="265985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几个类的协作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944928" y="2659856"/>
              <a:ext cx="1026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23 个 GoF 模式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6248400" y="293655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348412" y="3065621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微模式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539038" y="3065621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几行代码的写法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944928" y="3065621"/>
              <a:ext cx="20091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 switch 取代一长串 else if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6248400" y="1524000"/>
              <a:ext cx="5410200" cy="182308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7434262" y="1524000"/>
              <a:ext cx="9525" cy="182308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8840152" y="1524000"/>
              <a:ext cx="9525" cy="182308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7" name="c2-code-2"/>
          <p:cNvGrpSpPr/>
          <p:nvPr/>
        </p:nvGrpSpPr>
        <p:grpSpPr>
          <a:xfrm>
            <a:off x="6248400" y="3522345"/>
            <a:ext cx="5410200" cy="2586990"/>
            <a:chOff x="6248400" y="3522345"/>
            <a:chExt cx="5410200" cy="2586990"/>
          </a:xfrm>
        </p:grpSpPr>
        <p:sp>
          <p:nvSpPr>
            <p:cNvPr id="54" name="Rectangle 54"/>
            <p:cNvSpPr/>
            <p:nvPr/>
          </p:nvSpPr>
          <p:spPr>
            <a:xfrm>
              <a:off x="6248400" y="3522345"/>
              <a:ext cx="5410200" cy="2586990"/>
            </a:xfrm>
            <a:prstGeom prst="roundRect">
              <a:avLst>
                <a:gd name="adj" fmla="val 3682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376797" y="367426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微模式例：同样的判断，两种写法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6376416" y="3935730"/>
              <a:ext cx="1697546" cy="210083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(ord == 0)  { }</a:t>
              </a:r>
              <a:br/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else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(ord == 2)  { }</a:t>
              </a:r>
              <a:br/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else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(ord == 60) { }</a:t>
              </a:r>
              <a:br/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else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    { 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switch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(ord) {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case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0: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break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case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2: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break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case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60: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break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default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: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break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6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8" name="TextBox 58"/>
            <p:cNvSpPr txBox="1"/>
            <p:nvPr/>
          </p:nvSpPr>
          <p:spPr>
            <a:xfrm>
              <a:off x="528447" y="6581299"/>
              <a:ext cx="266824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课程概述与面向对象设计复用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61685" cy="909257"/>
            <a:chOff x="520446" y="342900"/>
            <a:chExt cx="58616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3937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9627" y="407194"/>
              <a:ext cx="2525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00 概述与复用 · 从复用走到设计模式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616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三大分类对应对象生命周期的三个阶段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5" name="c1-graph-1"/>
          <p:cNvGrpSpPr/>
          <p:nvPr/>
        </p:nvGrpSpPr>
        <p:grpSpPr>
          <a:xfrm>
            <a:off x="875348" y="1985010"/>
            <a:ext cx="5272086" cy="1549717"/>
            <a:chOff x="875348" y="1985010"/>
            <a:chExt cx="5272086" cy="1549717"/>
          </a:xfrm>
        </p:grpSpPr>
        <p:sp>
          <p:nvSpPr>
            <p:cNvPr id="7" name="Freeform 7"/>
            <p:cNvSpPr/>
            <p:nvPr/>
          </p:nvSpPr>
          <p:spPr>
            <a:xfrm>
              <a:off x="1477328" y="2114550"/>
              <a:ext cx="822008" cy="9525"/>
            </a:xfrm>
            <a:custGeom>
              <a:avLst/>
              <a:gdLst/>
              <a:ahLst/>
              <a:cxnLst/>
              <a:rect l="l" t="t" r="r" b="b"/>
              <a:pathLst>
                <a:path w="822008" h="9525">
                  <a:moveTo>
                    <a:pt x="0" y="0"/>
                  </a:moveTo>
                  <a:lnTo>
                    <a:pt x="822008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2299335" y="206692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2695575" y="2245042"/>
              <a:ext cx="9525" cy="934403"/>
            </a:xfrm>
            <a:custGeom>
              <a:avLst/>
              <a:gdLst/>
              <a:ahLst/>
              <a:cxnLst/>
              <a:rect l="l" t="t" r="r" b="b"/>
              <a:pathLst>
                <a:path w="9525" h="934403">
                  <a:moveTo>
                    <a:pt x="0" y="0"/>
                  </a:moveTo>
                  <a:lnTo>
                    <a:pt x="0" y="934403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2647950" y="317944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1414462" y="3404235"/>
              <a:ext cx="995362" cy="9525"/>
            </a:xfrm>
            <a:custGeom>
              <a:avLst/>
              <a:gdLst/>
              <a:ahLst/>
              <a:cxnLst/>
              <a:rect l="l" t="t" r="r" b="b"/>
              <a:pathLst>
                <a:path w="995362" h="9525">
                  <a:moveTo>
                    <a:pt x="0" y="0"/>
                  </a:moveTo>
                  <a:lnTo>
                    <a:pt x="995362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2409825" y="335661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2886075" y="3404235"/>
              <a:ext cx="1286828" cy="9525"/>
            </a:xfrm>
            <a:custGeom>
              <a:avLst/>
              <a:gdLst/>
              <a:ahLst/>
              <a:cxnLst/>
              <a:rect l="l" t="t" r="r" b="b"/>
              <a:pathLst>
                <a:path w="1286828" h="9525">
                  <a:moveTo>
                    <a:pt x="0" y="0"/>
                  </a:moveTo>
                  <a:lnTo>
                    <a:pt x="1286828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4172902" y="335661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4506278" y="2340292"/>
              <a:ext cx="9525" cy="934403"/>
            </a:xfrm>
            <a:custGeom>
              <a:avLst/>
              <a:gdLst/>
              <a:ahLst/>
              <a:cxnLst/>
              <a:rect l="l" t="t" r="r" b="b"/>
              <a:pathLst>
                <a:path w="9525" h="934403">
                  <a:moveTo>
                    <a:pt x="0" y="934403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4458652" y="2245042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4206240" y="2245042"/>
              <a:ext cx="221932" cy="947738"/>
            </a:xfrm>
            <a:custGeom>
              <a:avLst/>
              <a:gdLst/>
              <a:ahLst/>
              <a:cxnLst/>
              <a:rect l="l" t="t" r="r" b="b"/>
              <a:pathLst>
                <a:path w="221932" h="947738">
                  <a:moveTo>
                    <a:pt x="221932" y="0"/>
                  </a:moveTo>
                  <a:cubicBezTo>
                    <a:pt x="16192" y="342900"/>
                    <a:pt x="0" y="658813"/>
                    <a:pt x="173355" y="947738"/>
                  </a:cubicBez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4338638" y="3168015"/>
              <a:ext cx="89535" cy="106680"/>
            </a:xfrm>
            <a:custGeom>
              <a:avLst/>
              <a:gdLst/>
              <a:ahLst/>
              <a:cxnLst/>
              <a:rect l="l" t="t" r="r" b="b"/>
              <a:pathLst>
                <a:path w="89535" h="106680">
                  <a:moveTo>
                    <a:pt x="89535" y="106680"/>
                  </a:moveTo>
                  <a:lnTo>
                    <a:pt x="0" y="48577"/>
                  </a:lnTo>
                  <a:lnTo>
                    <a:pt x="81915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9" name="Freeform 19"/>
            <p:cNvSpPr/>
            <p:nvPr/>
          </p:nvSpPr>
          <p:spPr>
            <a:xfrm>
              <a:off x="4745355" y="3404235"/>
              <a:ext cx="829627" cy="9525"/>
            </a:xfrm>
            <a:custGeom>
              <a:avLst/>
              <a:gdLst/>
              <a:ahLst/>
              <a:cxnLst/>
              <a:rect l="l" t="t" r="r" b="b"/>
              <a:pathLst>
                <a:path w="829627" h="9525">
                  <a:moveTo>
                    <a:pt x="0" y="0"/>
                  </a:moveTo>
                  <a:lnTo>
                    <a:pt x="829627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5574982" y="335661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875348" y="1985010"/>
              <a:ext cx="601980" cy="260032"/>
            </a:xfrm>
            <a:prstGeom prst="roundRect">
              <a:avLst>
                <a:gd name="adj" fmla="val 36630"/>
              </a:avLst>
            </a:prstGeom>
            <a:solidFill>
              <a:srgbClr val="FFFFFF"/>
            </a:solidFill>
            <a:ln w="17145">
              <a:solidFill>
                <a:srgbClr val="5B3FA0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2394585" y="1985010"/>
              <a:ext cx="601980" cy="260032"/>
            </a:xfrm>
            <a:prstGeom prst="roundRect">
              <a:avLst>
                <a:gd name="adj" fmla="val 36630"/>
              </a:avLst>
            </a:prstGeom>
            <a:solidFill>
              <a:srgbClr val="FFFFFF"/>
            </a:solidFill>
            <a:ln w="17145">
              <a:solidFill>
                <a:srgbClr val="5B3FA0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937260" y="3274695"/>
              <a:ext cx="477202" cy="260032"/>
            </a:xfrm>
            <a:prstGeom prst="roundRect">
              <a:avLst>
                <a:gd name="adj" fmla="val 36630"/>
              </a:avLst>
            </a:prstGeom>
            <a:solidFill>
              <a:srgbClr val="FFFFFF"/>
            </a:solidFill>
            <a:ln w="17145">
              <a:solidFill>
                <a:srgbClr val="5B3FA0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2505075" y="3274695"/>
              <a:ext cx="381000" cy="260032"/>
            </a:xfrm>
            <a:prstGeom prst="roundRect">
              <a:avLst>
                <a:gd name="adj" fmla="val 36630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4268152" y="3274695"/>
              <a:ext cx="477202" cy="260032"/>
            </a:xfrm>
            <a:prstGeom prst="roundRect">
              <a:avLst>
                <a:gd name="adj" fmla="val 36630"/>
              </a:avLst>
            </a:prstGeom>
            <a:solidFill>
              <a:srgbClr val="5B3FA0"/>
            </a:solidFill>
            <a:ln w="17145">
              <a:solidFill>
                <a:srgbClr val="5B3FA0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5670232" y="3274695"/>
              <a:ext cx="477202" cy="260032"/>
            </a:xfrm>
            <a:prstGeom prst="roundRect">
              <a:avLst>
                <a:gd name="adj" fmla="val 36630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4268152" y="1985010"/>
              <a:ext cx="477202" cy="260032"/>
            </a:xfrm>
            <a:prstGeom prst="roundRect">
              <a:avLst>
                <a:gd name="adj" fmla="val 36630"/>
              </a:avLst>
            </a:prstGeom>
            <a:solidFill>
              <a:srgbClr val="FFFFFF"/>
            </a:solidFill>
            <a:ln w="17145">
              <a:solidFill>
                <a:srgbClr val="5B3FA0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73493" y="2054066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类模板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492731" y="2054066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模板类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39457" y="334375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基类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624658" y="3343751"/>
              <a:ext cx="1418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369397" y="334375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对象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772429" y="334375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销毁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369397" y="205406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行为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1741170" y="2036445"/>
              <a:ext cx="388620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1765135" y="2065496"/>
              <a:ext cx="34069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实例化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1817370" y="3325178"/>
              <a:ext cx="284798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1845094" y="3355181"/>
              <a:ext cx="23030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继承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3382328" y="3325178"/>
              <a:ext cx="388620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3406292" y="3355181"/>
              <a:ext cx="34069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实例化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4364355" y="2681288"/>
              <a:ext cx="284798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4391127" y="2710339"/>
              <a:ext cx="23030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调用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5065395" y="3325178"/>
              <a:ext cx="284798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5093119" y="3355181"/>
              <a:ext cx="23030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销毁</a:t>
              </a:r>
            </a:p>
          </p:txBody>
        </p:sp>
      </p:grpSp>
      <p:grpSp>
        <p:nvGrpSpPr>
          <p:cNvPr id="73" name="c2-table-1"/>
          <p:cNvGrpSpPr/>
          <p:nvPr/>
        </p:nvGrpSpPr>
        <p:grpSpPr>
          <a:xfrm>
            <a:off x="6680835" y="1524000"/>
            <a:ext cx="4977765" cy="2337435"/>
            <a:chOff x="6680835" y="1524000"/>
            <a:chExt cx="4977765" cy="2337435"/>
          </a:xfrm>
        </p:grpSpPr>
        <p:sp>
          <p:nvSpPr>
            <p:cNvPr id="46" name="Rectangle 46"/>
            <p:cNvSpPr/>
            <p:nvPr/>
          </p:nvSpPr>
          <p:spPr>
            <a:xfrm>
              <a:off x="6680835" y="1524000"/>
              <a:ext cx="4977765" cy="42481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961822" y="165258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分类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845171" y="1652588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对应阶段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9537764" y="1652588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关注什么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1142345" y="165258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个数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6690360" y="1958340"/>
              <a:ext cx="877252" cy="61912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881050" y="2183130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创建型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679626" y="218313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类到对象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874062" y="2076450"/>
              <a:ext cx="18409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对象怎么被创建出来，把创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建与使用分开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259464" y="218313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6680835" y="2581275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6680835" y="2586038"/>
              <a:ext cx="4977765" cy="6381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8" name="Rectangle 58"/>
            <p:cNvSpPr/>
            <p:nvPr/>
          </p:nvSpPr>
          <p:spPr>
            <a:xfrm>
              <a:off x="6690360" y="2595562"/>
              <a:ext cx="877252" cy="61912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6881050" y="2821305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结构型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7679626" y="2821305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类与类之间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8874062" y="2714625"/>
              <a:ext cx="18409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怎么分解、组织、封装各个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259464" y="282130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63" name="Rectangle 63"/>
            <p:cNvSpPr/>
            <p:nvPr/>
          </p:nvSpPr>
          <p:spPr>
            <a:xfrm>
              <a:off x="6680835" y="3219450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4" name="Rectangle 64"/>
            <p:cNvSpPr/>
            <p:nvPr/>
          </p:nvSpPr>
          <p:spPr>
            <a:xfrm>
              <a:off x="6690360" y="3233738"/>
              <a:ext cx="877252" cy="61912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6881050" y="3459480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行为型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7679626" y="345948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对象运行期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8874062" y="3352800"/>
              <a:ext cx="18409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职责怎么分配，对象之间怎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么协作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1215040" y="3459480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  <p:sp>
          <p:nvSpPr>
            <p:cNvPr id="69" name="Rectangle 69"/>
            <p:cNvSpPr/>
            <p:nvPr/>
          </p:nvSpPr>
          <p:spPr>
            <a:xfrm>
              <a:off x="6680835" y="1524000"/>
              <a:ext cx="4977765" cy="233743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70" name="Rectangle 70"/>
            <p:cNvSpPr/>
            <p:nvPr/>
          </p:nvSpPr>
          <p:spPr>
            <a:xfrm>
              <a:off x="7572375" y="1524000"/>
              <a:ext cx="9525" cy="23374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1" name="Rectangle 71"/>
            <p:cNvSpPr/>
            <p:nvPr/>
          </p:nvSpPr>
          <p:spPr>
            <a:xfrm>
              <a:off x="8766810" y="1524000"/>
              <a:ext cx="9525" cy="23374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2" name="Rectangle 72"/>
            <p:cNvSpPr/>
            <p:nvPr/>
          </p:nvSpPr>
          <p:spPr>
            <a:xfrm>
              <a:off x="10956608" y="1524000"/>
              <a:ext cx="9525" cy="23374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83" name="c2-card-2"/>
          <p:cNvGrpSpPr/>
          <p:nvPr/>
        </p:nvGrpSpPr>
        <p:grpSpPr>
          <a:xfrm>
            <a:off x="6680835" y="4042410"/>
            <a:ext cx="4977765" cy="1615440"/>
            <a:chOff x="6680835" y="4042410"/>
            <a:chExt cx="4977765" cy="1615440"/>
          </a:xfrm>
        </p:grpSpPr>
        <p:sp>
          <p:nvSpPr>
            <p:cNvPr id="74" name="Rectangle 74"/>
            <p:cNvSpPr/>
            <p:nvPr/>
          </p:nvSpPr>
          <p:spPr>
            <a:xfrm>
              <a:off x="6680835" y="4042410"/>
              <a:ext cx="4977765" cy="1615440"/>
            </a:xfrm>
            <a:prstGeom prst="roundRect">
              <a:avLst>
                <a:gd name="adj" fmla="val 8255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75" name="Rectangle 75"/>
            <p:cNvSpPr/>
            <p:nvPr/>
          </p:nvSpPr>
          <p:spPr>
            <a:xfrm>
              <a:off x="6878955" y="4240530"/>
              <a:ext cx="1143000" cy="247650"/>
            </a:xfrm>
            <a:prstGeom prst="roundRect">
              <a:avLst>
                <a:gd name="adj" fmla="val 50000"/>
              </a:avLst>
            </a:prstGeom>
            <a:solidFill>
              <a:srgbClr val="462F80"/>
            </a:solidFill>
            <a:ln>
              <a:noFill/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6950392" y="4274820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用模式要付的账</a:t>
              </a:r>
            </a:p>
          </p:txBody>
        </p:sp>
        <p:sp>
          <p:nvSpPr>
            <p:cNvPr id="77" name="Ellipse 77"/>
            <p:cNvSpPr/>
            <p:nvPr/>
          </p:nvSpPr>
          <p:spPr>
            <a:xfrm>
              <a:off x="6886575" y="4660582"/>
              <a:ext cx="60960" cy="6096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8" name="TextBox 78"/>
            <p:cNvSpPr txBox="1"/>
            <p:nvPr/>
          </p:nvSpPr>
          <p:spPr>
            <a:xfrm>
              <a:off x="7043166" y="4601051"/>
              <a:ext cx="307304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内聚度提高、耦合度降低，这是收益</a:t>
              </a:r>
            </a:p>
          </p:txBody>
        </p:sp>
        <p:sp>
          <p:nvSpPr>
            <p:cNvPr id="79" name="Ellipse 79"/>
            <p:cNvSpPr/>
            <p:nvPr/>
          </p:nvSpPr>
          <p:spPr>
            <a:xfrm>
              <a:off x="6886575" y="4978717"/>
              <a:ext cx="60960" cy="6096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0" name="TextBox 80"/>
            <p:cNvSpPr txBox="1"/>
            <p:nvPr/>
          </p:nvSpPr>
          <p:spPr>
            <a:xfrm>
              <a:off x="7043166" y="4918234"/>
              <a:ext cx="326420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类的数量和代码量都会变多，这是代价</a:t>
              </a:r>
            </a:p>
          </p:txBody>
        </p:sp>
        <p:sp>
          <p:nvSpPr>
            <p:cNvPr id="81" name="Ellipse 81"/>
            <p:cNvSpPr/>
            <p:nvPr/>
          </p:nvSpPr>
          <p:spPr>
            <a:xfrm>
              <a:off x="6886575" y="5295900"/>
              <a:ext cx="60960" cy="6096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2" name="TextBox 82"/>
            <p:cNvSpPr txBox="1"/>
            <p:nvPr/>
          </p:nvSpPr>
          <p:spPr>
            <a:xfrm>
              <a:off x="7043166" y="5236369"/>
              <a:ext cx="383768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易维护性通常变好，易理解性对新人反而变差</a:t>
              </a:r>
            </a:p>
          </p:txBody>
        </p:sp>
      </p:grpSp>
      <p:grpSp>
        <p:nvGrpSpPr>
          <p:cNvPr id="90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84" name="Rectangle 84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88" name="Group 88"/>
            <p:cNvGrpSpPr/>
            <p:nvPr/>
          </p:nvGrpSpPr>
          <p:grpSpPr>
            <a:xfrm>
              <a:off x="726129" y="6007536"/>
              <a:ext cx="224134" cy="192560"/>
              <a:chOff x="726129" y="6007536"/>
              <a:chExt cx="224134" cy="192560"/>
            </a:xfrm>
          </p:grpSpPr>
          <p:sp>
            <p:nvSpPr>
              <p:cNvPr id="85" name="Freeform 85"/>
              <p:cNvSpPr/>
              <p:nvPr/>
            </p:nvSpPr>
            <p:spPr>
              <a:xfrm>
                <a:off x="838200" y="607790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86" name="Freeform 86"/>
              <p:cNvSpPr/>
              <p:nvPr/>
            </p:nvSpPr>
            <p:spPr>
              <a:xfrm>
                <a:off x="726129" y="600753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87" name="Freeform 87"/>
              <p:cNvSpPr/>
              <p:nvPr/>
            </p:nvSpPr>
            <p:spPr>
              <a:xfrm>
                <a:off x="838200" y="615569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89" name="TextBox 89"/>
            <p:cNvSpPr txBox="1"/>
            <p:nvPr/>
          </p:nvSpPr>
          <p:spPr>
            <a:xfrm>
              <a:off x="1040511" y="6011704"/>
              <a:ext cx="766089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判断该不该上模式，看变化是否真的会来。为不存在的变化提前设计，只会把代码搞复杂。</a:t>
              </a:r>
            </a:p>
          </p:txBody>
        </p:sp>
      </p:grpSp>
      <p:grpSp>
        <p:nvGrpSpPr>
          <p:cNvPr id="9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91" name="TextBox 91"/>
            <p:cNvSpPr txBox="1"/>
            <p:nvPr/>
          </p:nvSpPr>
          <p:spPr>
            <a:xfrm>
              <a:off x="528447" y="6581299"/>
              <a:ext cx="266824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课程概述与面向对象设计复用</a:t>
              </a:r>
            </a:p>
          </p:txBody>
        </p:sp>
        <p:sp>
          <p:nvSpPr>
            <p:cNvPr id="92" name="TextBox 9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801999" cy="909257"/>
            <a:chOff x="520446" y="342900"/>
            <a:chExt cx="380199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55149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52183" y="40719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自测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80199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自测（一）：概念与变化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5175809" cy="278702"/>
            <a:chOff x="526161" y="1547336"/>
            <a:chExt cx="5175809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517580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先自己写出答案，再对照。带计算或判断的题目要说出理由。</a:t>
              </a:r>
            </a:p>
          </p:txBody>
        </p:sp>
      </p:grpSp>
      <p:grpSp>
        <p:nvGrpSpPr>
          <p:cNvPr id="14" name="c1-card-1"/>
          <p:cNvGrpSpPr/>
          <p:nvPr/>
        </p:nvGrpSpPr>
        <p:grpSpPr>
          <a:xfrm>
            <a:off x="533400" y="1941195"/>
            <a:ext cx="5410200" cy="1254442"/>
            <a:chOff x="533400" y="1941195"/>
            <a:chExt cx="5410200" cy="1254442"/>
          </a:xfrm>
        </p:grpSpPr>
        <p:sp>
          <p:nvSpPr>
            <p:cNvPr id="9" name="Rectangle 9"/>
            <p:cNvSpPr/>
            <p:nvPr/>
          </p:nvSpPr>
          <p:spPr>
            <a:xfrm>
              <a:off x="533400" y="1941195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725805" y="213360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814753" y="216789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18947" y="2490788"/>
              <a:ext cx="376879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Coad 给面向对象下的定义由哪四个概念组成？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18947" y="2792730"/>
              <a:ext cx="245807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 + 类 + 继承 + 通信。</a:t>
              </a:r>
            </a:p>
          </p:txBody>
        </p:sp>
      </p:grpSp>
      <p:grpSp>
        <p:nvGrpSpPr>
          <p:cNvPr id="20" name="c1-card-2"/>
          <p:cNvGrpSpPr/>
          <p:nvPr/>
        </p:nvGrpSpPr>
        <p:grpSpPr>
          <a:xfrm>
            <a:off x="533400" y="3371850"/>
            <a:ext cx="5410200" cy="1254442"/>
            <a:chOff x="533400" y="3371850"/>
            <a:chExt cx="5410200" cy="1254442"/>
          </a:xfrm>
        </p:grpSpPr>
        <p:sp>
          <p:nvSpPr>
            <p:cNvPr id="15" name="Rectangle 15"/>
            <p:cNvSpPr/>
            <p:nvPr/>
          </p:nvSpPr>
          <p:spPr>
            <a:xfrm>
              <a:off x="533400" y="3371850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25805" y="3564255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14753" y="3598545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18947" y="3920490"/>
              <a:ext cx="51255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 public 方法的参数由 (int) 改成 (int, int)，是哪类变化？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18947" y="4223385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职责变化，所有调用点都要跟着改。</a:t>
              </a:r>
            </a:p>
          </p:txBody>
        </p:sp>
      </p:grpSp>
      <p:grpSp>
        <p:nvGrpSpPr>
          <p:cNvPr id="26" name="c1-card-3"/>
          <p:cNvGrpSpPr/>
          <p:nvPr/>
        </p:nvGrpSpPr>
        <p:grpSpPr>
          <a:xfrm>
            <a:off x="533400" y="4801552"/>
            <a:ext cx="5410200" cy="1254442"/>
            <a:chOff x="533400" y="4801552"/>
            <a:chExt cx="5410200" cy="1254442"/>
          </a:xfrm>
        </p:grpSpPr>
        <p:sp>
          <p:nvSpPr>
            <p:cNvPr id="21" name="Rectangle 21"/>
            <p:cNvSpPr/>
            <p:nvPr/>
          </p:nvSpPr>
          <p:spPr>
            <a:xfrm>
              <a:off x="533400" y="4801552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725805" y="4993958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14753" y="5028248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18947" y="5350192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为什么说职责变化应尽早避免？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18947" y="5653088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扩展后接口与原类不一致，使用者要全部同步修改。</a:t>
              </a:r>
            </a:p>
          </p:txBody>
        </p:sp>
      </p:grpSp>
      <p:grpSp>
        <p:nvGrpSpPr>
          <p:cNvPr id="32" name="c2-card-1"/>
          <p:cNvGrpSpPr/>
          <p:nvPr/>
        </p:nvGrpSpPr>
        <p:grpSpPr>
          <a:xfrm>
            <a:off x="6248400" y="1941195"/>
            <a:ext cx="5410200" cy="1254442"/>
            <a:chOff x="6248400" y="1941195"/>
            <a:chExt cx="5410200" cy="1254442"/>
          </a:xfrm>
        </p:grpSpPr>
        <p:sp>
          <p:nvSpPr>
            <p:cNvPr id="27" name="Rectangle 27"/>
            <p:cNvSpPr/>
            <p:nvPr/>
          </p:nvSpPr>
          <p:spPr>
            <a:xfrm>
              <a:off x="6248400" y="1941195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40805" y="213360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529753" y="216789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33947" y="2490788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面向对象追求的四个目标是什么？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33947" y="279273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可维护、可复用、可扩展、灵活性。</a:t>
              </a:r>
            </a:p>
          </p:txBody>
        </p:sp>
      </p:grpSp>
      <p:grpSp>
        <p:nvGrpSpPr>
          <p:cNvPr id="38" name="c2-card-2"/>
          <p:cNvGrpSpPr/>
          <p:nvPr/>
        </p:nvGrpSpPr>
        <p:grpSpPr>
          <a:xfrm>
            <a:off x="6248400" y="3371850"/>
            <a:ext cx="5410200" cy="1254442"/>
            <a:chOff x="6248400" y="3371850"/>
            <a:chExt cx="5410200" cy="1254442"/>
          </a:xfrm>
        </p:grpSpPr>
        <p:sp>
          <p:nvSpPr>
            <p:cNvPr id="33" name="Rectangle 33"/>
            <p:cNvSpPr/>
            <p:nvPr/>
          </p:nvSpPr>
          <p:spPr>
            <a:xfrm>
              <a:off x="6248400" y="3371850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6440805" y="3564255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529753" y="3598545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33947" y="3920490"/>
              <a:ext cx="411570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把类内部的 int[] 换成 ArrayList，是哪类变化？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433947" y="422338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实现变化，使用者只需重新编译。</a:t>
              </a:r>
            </a:p>
          </p:txBody>
        </p:sp>
      </p:grpSp>
      <p:grpSp>
        <p:nvGrpSpPr>
          <p:cNvPr id="44" name="c2-card-3"/>
          <p:cNvGrpSpPr/>
          <p:nvPr/>
        </p:nvGrpSpPr>
        <p:grpSpPr>
          <a:xfrm>
            <a:off x="6248400" y="4801552"/>
            <a:ext cx="5410200" cy="1254442"/>
            <a:chOff x="6248400" y="4801552"/>
            <a:chExt cx="5410200" cy="1254442"/>
          </a:xfrm>
        </p:grpSpPr>
        <p:sp>
          <p:nvSpPr>
            <p:cNvPr id="39" name="Rectangle 39"/>
            <p:cNvSpPr/>
            <p:nvPr/>
          </p:nvSpPr>
          <p:spPr>
            <a:xfrm>
              <a:off x="6248400" y="4801552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6440805" y="4993958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529753" y="5028248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Q6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433947" y="5350192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用派生子类能删掉父类已有的方法吗？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433947" y="5653088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不能，子类只能新增或覆盖。</a:t>
              </a:r>
            </a:p>
          </p:txBody>
        </p:sp>
      </p:grpSp>
      <p:grpSp>
        <p:nvGrpSpPr>
          <p:cNvPr id="4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5" name="TextBox 45"/>
            <p:cNvSpPr txBox="1"/>
            <p:nvPr/>
          </p:nvSpPr>
          <p:spPr>
            <a:xfrm>
              <a:off x="528447" y="6581299"/>
              <a:ext cx="266824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课程概述与面向对象设计复用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801999" cy="909257"/>
            <a:chOff x="520446" y="342900"/>
            <a:chExt cx="380199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55149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52183" y="40719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自测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80199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自测（二）：复用与模式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410200" cy="1365885"/>
            <a:chOff x="533400" y="1524000"/>
            <a:chExt cx="5410200" cy="136588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365885"/>
            </a:xfrm>
            <a:prstGeom prst="roundRect">
              <a:avLst>
                <a:gd name="adj" fmla="val 976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42950" y="1733550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30437" y="1769269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35330" y="2110740"/>
              <a:ext cx="504178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operA 有 3 种、operB 有 4 种实现，继承要几个子类？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35330" y="2446020"/>
              <a:ext cx="39225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 × 4 = 12 个；委托只要 3 + 4 = 7 个。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3080385"/>
            <a:ext cx="5410200" cy="1365885"/>
            <a:chOff x="533400" y="3080385"/>
            <a:chExt cx="5410200" cy="1365885"/>
          </a:xfrm>
        </p:grpSpPr>
        <p:sp>
          <p:nvSpPr>
            <p:cNvPr id="13" name="Rectangle 13"/>
            <p:cNvSpPr/>
            <p:nvPr/>
          </p:nvSpPr>
          <p:spPr>
            <a:xfrm>
              <a:off x="533400" y="3080385"/>
              <a:ext cx="5410200" cy="1365885"/>
            </a:xfrm>
            <a:prstGeom prst="roundRect">
              <a:avLst>
                <a:gd name="adj" fmla="val 976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42950" y="3289935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30437" y="3325654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35330" y="366712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哪种复用能在运行期替换？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35330" y="4002405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组合复用，继承在编译期定死。</a:t>
              </a:r>
            </a:p>
          </p:txBody>
        </p:sp>
      </p:grpSp>
      <p:grpSp>
        <p:nvGrpSpPr>
          <p:cNvPr id="24" name="c1-card-3"/>
          <p:cNvGrpSpPr/>
          <p:nvPr/>
        </p:nvGrpSpPr>
        <p:grpSpPr>
          <a:xfrm>
            <a:off x="533400" y="4636770"/>
            <a:ext cx="5410200" cy="1365885"/>
            <a:chOff x="533400" y="4636770"/>
            <a:chExt cx="5410200" cy="1365885"/>
          </a:xfrm>
        </p:grpSpPr>
        <p:sp>
          <p:nvSpPr>
            <p:cNvPr id="19" name="Rectangle 19"/>
            <p:cNvSpPr/>
            <p:nvPr/>
          </p:nvSpPr>
          <p:spPr>
            <a:xfrm>
              <a:off x="533400" y="4636770"/>
              <a:ext cx="5410200" cy="1365885"/>
            </a:xfrm>
            <a:prstGeom prst="roundRect">
              <a:avLst>
                <a:gd name="adj" fmla="val 976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742950" y="4846320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30437" y="4882039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35330" y="5223510"/>
              <a:ext cx="329390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简单工厂属于 GoF 的 23 个模式吗？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35330" y="5558790"/>
              <a:ext cx="36499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不属于，它是工厂方法的简化形式。</a:t>
              </a:r>
            </a:p>
          </p:txBody>
        </p:sp>
      </p:grpSp>
      <p:grpSp>
        <p:nvGrpSpPr>
          <p:cNvPr id="30" name="c2-card-1"/>
          <p:cNvGrpSpPr/>
          <p:nvPr/>
        </p:nvGrpSpPr>
        <p:grpSpPr>
          <a:xfrm>
            <a:off x="6248400" y="1524000"/>
            <a:ext cx="5410200" cy="1365885"/>
            <a:chOff x="6248400" y="1524000"/>
            <a:chExt cx="5410200" cy="1365885"/>
          </a:xfrm>
        </p:grpSpPr>
        <p:sp>
          <p:nvSpPr>
            <p:cNvPr id="25" name="Rectangle 25"/>
            <p:cNvSpPr/>
            <p:nvPr/>
          </p:nvSpPr>
          <p:spPr>
            <a:xfrm>
              <a:off x="6248400" y="1524000"/>
              <a:ext cx="5410200" cy="1365885"/>
            </a:xfrm>
            <a:prstGeom prst="roundRect">
              <a:avLst>
                <a:gd name="adj" fmla="val 976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457950" y="1733550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45437" y="1769269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50330" y="2110740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聚合与组合的菱形画在哪一端？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50330" y="2446020"/>
              <a:ext cx="38519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都在整体一端，聚合空心，组合实心。</a:t>
              </a:r>
            </a:p>
          </p:txBody>
        </p:sp>
      </p:grpSp>
      <p:grpSp>
        <p:nvGrpSpPr>
          <p:cNvPr id="36" name="c2-card-2"/>
          <p:cNvGrpSpPr/>
          <p:nvPr/>
        </p:nvGrpSpPr>
        <p:grpSpPr>
          <a:xfrm>
            <a:off x="6248400" y="3080385"/>
            <a:ext cx="5410200" cy="1365885"/>
            <a:chOff x="6248400" y="3080385"/>
            <a:chExt cx="5410200" cy="1365885"/>
          </a:xfrm>
        </p:grpSpPr>
        <p:sp>
          <p:nvSpPr>
            <p:cNvPr id="31" name="Rectangle 31"/>
            <p:cNvSpPr/>
            <p:nvPr/>
          </p:nvSpPr>
          <p:spPr>
            <a:xfrm>
              <a:off x="6248400" y="3080385"/>
              <a:ext cx="5410200" cy="1365885"/>
            </a:xfrm>
            <a:prstGeom prst="roundRect">
              <a:avLst>
                <a:gd name="adj" fmla="val 976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457950" y="3289935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45437" y="3325654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450330" y="366712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写出设计模式的四个要素。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50330" y="4002405"/>
              <a:ext cx="46596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模式名称、应用场景、解决方案、效果及说明。</a:t>
              </a:r>
            </a:p>
          </p:txBody>
        </p:sp>
      </p:grpSp>
      <p:grpSp>
        <p:nvGrpSpPr>
          <p:cNvPr id="42" name="c2-card-3"/>
          <p:cNvGrpSpPr/>
          <p:nvPr/>
        </p:nvGrpSpPr>
        <p:grpSpPr>
          <a:xfrm>
            <a:off x="6248400" y="4636770"/>
            <a:ext cx="5410200" cy="1365885"/>
            <a:chOff x="6248400" y="4636770"/>
            <a:chExt cx="5410200" cy="1365885"/>
          </a:xfrm>
        </p:grpSpPr>
        <p:sp>
          <p:nvSpPr>
            <p:cNvPr id="37" name="Rectangle 37"/>
            <p:cNvSpPr/>
            <p:nvPr/>
          </p:nvSpPr>
          <p:spPr>
            <a:xfrm>
              <a:off x="6248400" y="4636770"/>
              <a:ext cx="5410200" cy="1365885"/>
            </a:xfrm>
            <a:prstGeom prst="roundRect">
              <a:avLst>
                <a:gd name="adj" fmla="val 976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457950" y="4846320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545437" y="4882039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Q6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450330" y="5223510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使用设计模式一定让代码更好懂吗？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50330" y="5558790"/>
              <a:ext cx="38519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不一定，类的数量和代码量都会增加。</a:t>
              </a:r>
            </a:p>
          </p:txBody>
        </p:sp>
      </p:grpSp>
      <p:grpSp>
        <p:nvGrpSpPr>
          <p:cNvPr id="4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3" name="TextBox 43"/>
            <p:cNvSpPr txBox="1"/>
            <p:nvPr/>
          </p:nvSpPr>
          <p:spPr>
            <a:xfrm>
              <a:off x="528447" y="6581299"/>
              <a:ext cx="266824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课程概述与面向对象设计复用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399032" cy="909257"/>
            <a:chOff x="520446" y="342900"/>
            <a:chExt cx="139903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186815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3337" y="407194"/>
              <a:ext cx="9869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00 概述与复用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3990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本讲小结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9" name="c1-bullets-1"/>
          <p:cNvGrpSpPr/>
          <p:nvPr/>
        </p:nvGrpSpPr>
        <p:grpSpPr>
          <a:xfrm>
            <a:off x="533400" y="1535430"/>
            <a:ext cx="5078730" cy="2484120"/>
            <a:chOff x="533400" y="1535430"/>
            <a:chExt cx="5078730" cy="2484120"/>
          </a:xfrm>
        </p:grpSpPr>
        <p:sp>
          <p:nvSpPr>
            <p:cNvPr id="7" name="Ellipse 7"/>
            <p:cNvSpPr/>
            <p:nvPr/>
          </p:nvSpPr>
          <p:spPr>
            <a:xfrm>
              <a:off x="533400" y="1535430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595249" y="157772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34390" y="1548765"/>
              <a:ext cx="4777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面向对象由对象、类、继承、通信四个概念构成；四个目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标是可维护、可复用、可扩展、灵活性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165985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95249" y="220827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34390" y="2179320"/>
              <a:ext cx="4777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面向对象设计分三层：框架级设计管包，类设计管类，代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码设计管实现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533400" y="2796540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95249" y="283883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34390" y="2809875"/>
              <a:ext cx="4777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类设计要回答三组问题：类、行为、属性各自怎么组织与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表示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3427095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95249" y="346938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34390" y="3440430"/>
              <a:ext cx="4777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变化分两类：动了对外签名是职责变化，只动内部是实现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变化</a:t>
              </a:r>
            </a:p>
          </p:txBody>
        </p:sp>
      </p:grpSp>
      <p:grpSp>
        <p:nvGrpSpPr>
          <p:cNvPr id="25" name="c1-callout-2"/>
          <p:cNvGrpSpPr/>
          <p:nvPr/>
        </p:nvGrpSpPr>
        <p:grpSpPr>
          <a:xfrm>
            <a:off x="533400" y="4150995"/>
            <a:ext cx="5410200" cy="1795462"/>
            <a:chOff x="533400" y="4150995"/>
            <a:chExt cx="5410200" cy="1795462"/>
          </a:xfrm>
        </p:grpSpPr>
        <p:sp>
          <p:nvSpPr>
            <p:cNvPr id="20" name="Rectangle 20"/>
            <p:cNvSpPr/>
            <p:nvPr/>
          </p:nvSpPr>
          <p:spPr>
            <a:xfrm>
              <a:off x="533400" y="4150995"/>
              <a:ext cx="5410200" cy="1795462"/>
            </a:xfrm>
            <a:prstGeom prst="roundRect">
              <a:avLst>
                <a:gd name="adj" fmla="val 6366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23" name="Group 23"/>
            <p:cNvGrpSpPr/>
            <p:nvPr/>
          </p:nvGrpSpPr>
          <p:grpSpPr>
            <a:xfrm>
              <a:off x="738188" y="4948240"/>
              <a:ext cx="200023" cy="200023"/>
              <a:chOff x="738188" y="4948240"/>
              <a:chExt cx="200023" cy="200023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738188" y="494824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871538" y="501491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24" name="TextBox 24"/>
            <p:cNvSpPr txBox="1"/>
            <p:nvPr/>
          </p:nvSpPr>
          <p:spPr>
            <a:xfrm>
              <a:off x="1040130" y="4805362"/>
              <a:ext cx="4396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全讲的主线是一句话：把稳定的部分和变化的部分分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开，让变化的部分能被替换。</a:t>
              </a:r>
            </a:p>
          </p:txBody>
        </p:sp>
      </p:grpSp>
      <p:grpSp>
        <p:nvGrpSpPr>
          <p:cNvPr id="38" name="c2-bullets-1"/>
          <p:cNvGrpSpPr/>
          <p:nvPr/>
        </p:nvGrpSpPr>
        <p:grpSpPr>
          <a:xfrm>
            <a:off x="6248400" y="1535430"/>
            <a:ext cx="5078730" cy="2484120"/>
            <a:chOff x="6248400" y="1535430"/>
            <a:chExt cx="5078730" cy="2484120"/>
          </a:xfrm>
        </p:grpSpPr>
        <p:sp>
          <p:nvSpPr>
            <p:cNvPr id="26" name="Ellipse 26"/>
            <p:cNvSpPr/>
            <p:nvPr/>
          </p:nvSpPr>
          <p:spPr>
            <a:xfrm>
              <a:off x="6248400" y="1535430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310249" y="157772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549390" y="1548765"/>
              <a:ext cx="4587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适应变化优先扩展而不是修改；扩展有继承、关联、依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赖、聚合、组合五种方式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6248400" y="2165985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310249" y="220827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549390" y="2179320"/>
              <a:ext cx="4777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只靠派生子类会让类数量按乘法增长，把实现委托给接口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可降到加法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6248400" y="2796540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310249" y="283883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549390" y="2809875"/>
              <a:ext cx="4777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复用有继承和组合两条路，组合优先；换实现之后还要靠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控制反转决定由谁来换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6248400" y="3427095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310249" y="346938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549390" y="3440430"/>
              <a:ext cx="4777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设计模式是特定环境下针对通用问题的定制方案，四要素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是名称、场景、方案、效果</a:t>
              </a:r>
            </a:p>
          </p:txBody>
        </p:sp>
      </p:grpSp>
      <p:grpSp>
        <p:nvGrpSpPr>
          <p:cNvPr id="53" name="c2-table-2"/>
          <p:cNvGrpSpPr/>
          <p:nvPr/>
        </p:nvGrpSpPr>
        <p:grpSpPr>
          <a:xfrm>
            <a:off x="6248400" y="4150995"/>
            <a:ext cx="5410200" cy="1795462"/>
            <a:chOff x="6248400" y="4150995"/>
            <a:chExt cx="5410200" cy="1795462"/>
          </a:xfrm>
        </p:grpSpPr>
        <p:sp>
          <p:nvSpPr>
            <p:cNvPr id="39" name="Rectangle 39"/>
            <p:cNvSpPr/>
            <p:nvPr/>
          </p:nvSpPr>
          <p:spPr>
            <a:xfrm>
              <a:off x="6248400" y="4150995"/>
              <a:ext cx="5410200" cy="448628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794983" y="4286726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下一讲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9586239" y="428672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主题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727350" y="4735354"/>
              <a:ext cx="6651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01 讲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979283" y="4735354"/>
              <a:ext cx="195522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UML 类图与六种类间关系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6248400" y="504348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6248400" y="5048250"/>
              <a:ext cx="5410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727350" y="5183981"/>
              <a:ext cx="6651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02 讲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979283" y="5183981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七条面向对象设计原则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6248400" y="549306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727350" y="5632609"/>
              <a:ext cx="6651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03 讲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979283" y="5632609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设计模式总览与分类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6248400" y="4150995"/>
              <a:ext cx="5410200" cy="179546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2" name="Rectangle 52"/>
            <p:cNvSpPr/>
            <p:nvPr/>
          </p:nvSpPr>
          <p:spPr>
            <a:xfrm>
              <a:off x="7866698" y="4150995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4" name="TextBox 54"/>
            <p:cNvSpPr txBox="1"/>
            <p:nvPr/>
          </p:nvSpPr>
          <p:spPr>
            <a:xfrm>
              <a:off x="528447" y="6581299"/>
              <a:ext cx="266824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课程概述与面向对象设计复用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sdp_00">
  <a:themeElements>
    <a:clrScheme name="sdp_0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dp_00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dp_0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36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2026-09-19T04:41:34Z</dcterms:created>
  <dcterms:modified xsi:type="dcterms:W3CDTF">2026-09-19T04:41:34Z</dcterms:modified>
  <cp:category/>
  <cp:contentStatus/>
</cp:coreProperties>
</file>