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ba82ec52fd2dc7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0db6b4d7e0aa353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071012add1e375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第十九讲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把一次请求做成可以传递和保存的对象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发送者与接收者解耦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队列日志撤销与宏命令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与职责链、策略的分界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开关不知道自己将来控制什么电器，软件里也常有这种局面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把请求封装成对象，定义里的四个术语逐个拆开讲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15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Command、ConcreteCommand、Invoker、Receiver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551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骨架四个类，加上客户端装配与运行输出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电视机遥控器、功能键设置，都是一个按钮配多种功能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四种扩展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命令队列、请求日志、撤销操作、宏命令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说清调用者为什么不能直接持有接收者，以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及命令对象在中间起了什么作用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默画出标准类图，聚合菱形在调用者一端，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空心三角从具体命令指向抽象命令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写全四个角色，并说出客户端那三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行装配代码各自绑定了什么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分别写出命令队列、请求日志、单次撤销和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多次撤销的关键代码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说出命令与职责链、策略、备忘录、组合的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分界，判断一段需求该用哪一个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动机：请求发不出去，是因为发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送者认识了接收者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从墙上的开关讲到一串越写越长的重载方法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开关与电器的例子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一串重载方法的三种变化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把参数和动作一起封装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定义里的四个术语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动机：请求发不出去，是因为发送者认识了接收者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开关不知道自己将来控制什么电器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49385" cy="308039"/>
            <a:chOff x="525399" y="1550194"/>
            <a:chExt cx="89493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493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买开关的时候，谁也不知道它装好以后接的是电灯还是排气扇。开关和电器之间只有一根电线。</a:t>
              </a:r>
            </a:p>
          </p:txBody>
        </p:sp>
      </p:grpSp>
      <p:grpSp>
        <p:nvGrpSpPr>
          <p:cNvPr id="31" name="c1-graph-1"/>
          <p:cNvGrpSpPr/>
          <p:nvPr/>
        </p:nvGrpSpPr>
        <p:grpSpPr>
          <a:xfrm>
            <a:off x="855345" y="2126932"/>
            <a:ext cx="4097655" cy="2092357"/>
            <a:chOff x="855345" y="2126932"/>
            <a:chExt cx="4097655" cy="2092357"/>
          </a:xfrm>
        </p:grpSpPr>
        <p:sp>
          <p:nvSpPr>
            <p:cNvPr id="9" name="Freeform 9"/>
            <p:cNvSpPr/>
            <p:nvPr/>
          </p:nvSpPr>
          <p:spPr>
            <a:xfrm>
              <a:off x="1769745" y="2489835"/>
              <a:ext cx="2108835" cy="479108"/>
            </a:xfrm>
            <a:custGeom>
              <a:avLst/>
              <a:gdLst/>
              <a:ahLst/>
              <a:cxnLst/>
              <a:rect l="l" t="t" r="r" b="b"/>
              <a:pathLst>
                <a:path w="2108835" h="479108">
                  <a:moveTo>
                    <a:pt x="0" y="479108"/>
                  </a:moveTo>
                  <a:lnTo>
                    <a:pt x="21088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68102" y="2443162"/>
              <a:ext cx="103822" cy="93345"/>
            </a:xfrm>
            <a:custGeom>
              <a:avLst/>
              <a:gdLst/>
              <a:ahLst/>
              <a:cxnLst/>
              <a:rect l="l" t="t" r="r" b="b"/>
              <a:pathLst>
                <a:path w="103822" h="93345">
                  <a:moveTo>
                    <a:pt x="103822" y="25717"/>
                  </a:moveTo>
                  <a:lnTo>
                    <a:pt x="2095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69745" y="3072765"/>
              <a:ext cx="2106930" cy="9525"/>
            </a:xfrm>
            <a:custGeom>
              <a:avLst/>
              <a:gdLst/>
              <a:ahLst/>
              <a:cxnLst/>
              <a:rect l="l" t="t" r="r" b="b"/>
              <a:pathLst>
                <a:path w="2106930" h="9525">
                  <a:moveTo>
                    <a:pt x="0" y="0"/>
                  </a:moveTo>
                  <a:lnTo>
                    <a:pt x="21069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76675" y="30251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69745" y="3182302"/>
              <a:ext cx="2042160" cy="492442"/>
            </a:xfrm>
            <a:custGeom>
              <a:avLst/>
              <a:gdLst/>
              <a:ahLst/>
              <a:cxnLst/>
              <a:rect l="l" t="t" r="r" b="b"/>
              <a:pathLst>
                <a:path w="2042160" h="492442">
                  <a:moveTo>
                    <a:pt x="0" y="0"/>
                  </a:moveTo>
                  <a:lnTo>
                    <a:pt x="2042160" y="49244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801428" y="3629025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8580"/>
                  </a:moveTo>
                  <a:lnTo>
                    <a:pt x="0" y="92392"/>
                  </a:lnTo>
                  <a:lnTo>
                    <a:pt x="2190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5345" y="2815590"/>
              <a:ext cx="914400" cy="514350"/>
            </a:xfrm>
            <a:prstGeom prst="roundRect">
              <a:avLst>
                <a:gd name="adj" fmla="val 185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971925" y="2126932"/>
              <a:ext cx="91440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71925" y="2834640"/>
              <a:ext cx="91440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05250" y="3585210"/>
              <a:ext cx="1047750" cy="47625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6056" y="3002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2636" y="22950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97248" y="30027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排气扇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861" y="37533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其他电器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18435" y="263271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4914" y="26650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718435" y="298704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44914" y="301847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电线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70798" y="335470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90419" y="338613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换一根线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7773" y="36304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请求发送者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94353" y="40285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请求接收者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368165"/>
            <a:ext cx="4869180" cy="1824990"/>
            <a:chOff x="533400" y="4368165"/>
            <a:chExt cx="4869180" cy="1824990"/>
          </a:xfrm>
        </p:grpSpPr>
        <p:sp>
          <p:nvSpPr>
            <p:cNvPr id="32" name="Rectangle 32"/>
            <p:cNvSpPr/>
            <p:nvPr/>
          </p:nvSpPr>
          <p:spPr>
            <a:xfrm>
              <a:off x="533400" y="4368165"/>
              <a:ext cx="4869180" cy="1824990"/>
            </a:xfrm>
            <a:prstGeom prst="roundRect">
              <a:avLst>
                <a:gd name="adj" fmla="val 62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179695"/>
              <a:ext cx="200026" cy="200025"/>
              <a:chOff x="738188" y="517969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1796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2241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3352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03682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相同的开关换一根电线就能控制另一台电器，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两边都不用改。</a:t>
              </a:r>
            </a:p>
          </p:txBody>
        </p:sp>
      </p:grpSp>
      <p:grpSp>
        <p:nvGrpSpPr>
          <p:cNvPr id="52" name="c2-bullets-1"/>
          <p:cNvGrpSpPr/>
          <p:nvPr/>
        </p:nvGrpSpPr>
        <p:grpSpPr>
          <a:xfrm>
            <a:off x="5699760" y="1992630"/>
            <a:ext cx="4201409" cy="2103405"/>
            <a:chOff x="5699760" y="1992630"/>
            <a:chExt cx="4201409" cy="2103405"/>
          </a:xfrm>
        </p:grpSpPr>
        <p:sp>
          <p:nvSpPr>
            <p:cNvPr id="39" name="TextBox 39"/>
            <p:cNvSpPr txBox="1"/>
            <p:nvPr/>
          </p:nvSpPr>
          <p:spPr>
            <a:xfrm>
              <a:off x="5699760" y="19926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把这幅图翻译成软件里的说法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71309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71210" y="23469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开关是请求发送者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7883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62853" y="2639854"/>
              <a:ext cx="383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它只负责“把请求发出去”，不负责“请求怎么完成”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713095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71210" y="29498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电灯和排气扇是请求接收者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7883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62853" y="324278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它们提供真正的业务操作，开灯、通风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713095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71210" y="35528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电线是中间那一层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78830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62853" y="384667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换电线就是换绑定，发送者和接收者都不知情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707380" y="4235768"/>
            <a:ext cx="5951220" cy="1956435"/>
            <a:chOff x="5707380" y="4235768"/>
            <a:chExt cx="5951220" cy="1956435"/>
          </a:xfrm>
        </p:grpSpPr>
        <p:sp>
          <p:nvSpPr>
            <p:cNvPr id="53" name="Rectangle 53"/>
            <p:cNvSpPr/>
            <p:nvPr/>
          </p:nvSpPr>
          <p:spPr>
            <a:xfrm>
              <a:off x="5707380" y="4235768"/>
              <a:ext cx="595122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6905" y="4369118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55030" y="444531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19635" y="448103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软件里的同一件事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09498" y="44805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按钮与事件处理类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47410" y="4841558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一个按钮可能是“关闭窗口”请求的发送者，按钮点击事件处理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类是这个请求的接收者。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47410" y="546258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希望它们之间没有直接引用，运行时想换哪个处理类就换哪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动机：请求发不出去，是因为发送者认识了接收者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另一条线索：一个类里过程行为越堆越多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陈伟老师的课件从一段代码讲起。一个类有一串过程行为，每个行为的参数还各不相同。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1719262"/>
            <a:chOff x="533400" y="1967865"/>
            <a:chExt cx="5626418" cy="17192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原始写法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94715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源课件写作 class Object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procedure1()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procedure1(A pa)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procedure2()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procedure3(B b)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877628"/>
            <a:ext cx="5626418" cy="1719262"/>
            <a:chOff x="533400" y="3877628"/>
            <a:chExt cx="5626418" cy="1719262"/>
          </a:xfrm>
        </p:grpSpPr>
        <p:sp>
          <p:nvSpPr>
            <p:cNvPr id="13" name="Rectangle 13"/>
            <p:cNvSpPr/>
            <p:nvPr/>
          </p:nvSpPr>
          <p:spPr>
            <a:xfrm>
              <a:off x="533400" y="3877628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029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先用重载把名字统一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291489"/>
              <a:ext cx="282778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procedure(A pa)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procedure(B b)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6456998" y="1992630"/>
            <a:ext cx="3942248" cy="2103405"/>
            <a:chOff x="6456998" y="1992630"/>
            <a:chExt cx="3942248" cy="2103405"/>
          </a:xfrm>
        </p:grpSpPr>
        <p:sp>
          <p:nvSpPr>
            <p:cNvPr id="17" name="TextBox 17"/>
            <p:cNvSpPr txBox="1"/>
            <p:nvPr/>
          </p:nvSpPr>
          <p:spPr>
            <a:xfrm>
              <a:off x="6456998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这个类会从三个方向变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64617" y="2333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6467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65608" y="23469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增加新的过程行为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7322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7251" y="2639854"/>
              <a:ext cx="3441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再添一个 procedure4()，类的接口又长一截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7" y="2936558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26467" y="297884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5608" y="29498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更改行为的参与者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77322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57251" y="3242786"/>
              <a:ext cx="3266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procedure(B b) 换成 procedure(D d)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4617" y="35394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6467" y="35817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5608" y="3552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更改行为的实现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73228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7251" y="384667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方法名和签名都不动，只改方法体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4235768"/>
            <a:ext cx="5193982" cy="2005965"/>
            <a:chOff x="6464618" y="4235768"/>
            <a:chExt cx="5193982" cy="2005965"/>
          </a:xfrm>
        </p:grpSpPr>
        <p:sp>
          <p:nvSpPr>
            <p:cNvPr id="34" name="Rectangle 34"/>
            <p:cNvSpPr/>
            <p:nvPr/>
          </p:nvSpPr>
          <p:spPr>
            <a:xfrm>
              <a:off x="6464618" y="4235768"/>
              <a:ext cx="5193982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369118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444531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5724" y="44810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重载解决不了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81938" y="448056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名字统一了，类还是要跟着改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4841558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重载只是让四个方法看起来像一个方法。只要参数种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类一变，Target 的源码仍然要动一次。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7983" y="5525452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6098" y="546258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每加一种参数，就多一个重载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7983" y="5860733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6098" y="579786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调用方还得知道该传哪一种参数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动机：请求发不出去，是因为发送者认识了接收者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重新设计：把动作和参数一起封装成对象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28427" cy="308039"/>
            <a:chOff x="525399" y="1550194"/>
            <a:chExt cx="79284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284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既然变的是“做什么”和“拿什么参数做”，就让这两样一起搬到一个单独的对象里去。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951220" cy="3950970"/>
            <a:chOff x="533400" y="1967865"/>
            <a:chExt cx="5951220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76224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只剩一个方法了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procedure(Arguments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args.execute(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this 把上下文交出去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Arguments {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动作 + 参数打成一包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execute(Target 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XXArguments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Arguments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pa;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原来的实参变成字段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XXArguments(A pa)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 = pa;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execute(Target 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具体动作写在这里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781800" y="1992630"/>
            <a:ext cx="3636762" cy="2103405"/>
            <a:chOff x="6781800" y="1992630"/>
            <a:chExt cx="3636762" cy="2103405"/>
          </a:xfrm>
        </p:grpSpPr>
        <p:sp>
          <p:nvSpPr>
            <p:cNvPr id="13" name="TextBox 13"/>
            <p:cNvSpPr txBox="1"/>
            <p:nvPr/>
          </p:nvSpPr>
          <p:spPr>
            <a:xfrm>
              <a:off x="6781800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三种变化各自落到哪里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789420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39928" y="23469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增加新行为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754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1570" y="2639854"/>
              <a:ext cx="3186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新写一个 Arguments 子类，Target 不动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789420" y="2981325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39928" y="29498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更改参与者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754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31570" y="3242786"/>
              <a:ext cx="305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改子类的字段和构造函数，Target 不动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789420" y="358425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39928" y="3552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更改实现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7548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1570" y="3846671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改子类的 execute()，其他子类不受影响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789420" y="4235768"/>
            <a:ext cx="4869180" cy="1682115"/>
            <a:chOff x="6789420" y="4235768"/>
            <a:chExt cx="4869180" cy="1682115"/>
          </a:xfrm>
        </p:grpSpPr>
        <p:sp>
          <p:nvSpPr>
            <p:cNvPr id="27" name="Rectangle 27"/>
            <p:cNvSpPr/>
            <p:nvPr/>
          </p:nvSpPr>
          <p:spPr>
            <a:xfrm>
              <a:off x="6789420" y="4235768"/>
              <a:ext cx="4869180" cy="1682115"/>
            </a:xfrm>
            <a:prstGeom prst="roundRect">
              <a:avLst>
                <a:gd name="adj" fmla="val 792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98970" y="444531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68477" y="448103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这就是命令模式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1350" y="4822508"/>
              <a:ext cx="3362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Arguments 换个名字就叫 Command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91350" y="5176838"/>
              <a:ext cx="4053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Arguments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改名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Command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、把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Target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改名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Invoker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，这段代码就是命令模式的骨架。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动机：请求发不出去，是因为发送者认识了接收者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五个追问，正好对上命令模式的五项能力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62085" cy="308039"/>
            <a:chOff x="525399" y="1550194"/>
            <a:chExt cx="91620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620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陈伟老师在课件里给出一个请求者类，然后连问五个问题。每个问题都指向命令模式的一项设计。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4977765" cy="1516380"/>
            <a:chOff x="533400" y="1967865"/>
            <a:chExt cx="4977765" cy="15163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请求者直接认识每一个接收者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2971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doAction1(ReceiverA a)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doAction1(ReceiverB b)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doAction2(ReceiverD d)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74745"/>
            <a:ext cx="4977765" cy="2511742"/>
            <a:chOff x="533400" y="3674745"/>
            <a:chExt cx="4977765" cy="2511742"/>
          </a:xfrm>
        </p:grpSpPr>
        <p:sp>
          <p:nvSpPr>
            <p:cNvPr id="13" name="Rectangle 13"/>
            <p:cNvSpPr/>
            <p:nvPr/>
          </p:nvSpPr>
          <p:spPr>
            <a:xfrm>
              <a:off x="533400" y="3674745"/>
              <a:ext cx="4977765" cy="2511742"/>
            </a:xfrm>
            <a:prstGeom prst="roundRect">
              <a:avLst>
                <a:gd name="adj" fmla="val 5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808095"/>
              <a:ext cx="47625" cy="22450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842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920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症结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2078" y="391953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接收者的类型写死在方法签名里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80535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接收者一多，Requester 的方法就跟着一条条加；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请求想排队、想记录、想撤销，更是无处下手。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5965" y="1967865"/>
            <a:ext cx="5842635" cy="2692718"/>
            <a:chOff x="5815965" y="1967865"/>
            <a:chExt cx="5842635" cy="2692718"/>
          </a:xfrm>
        </p:grpSpPr>
        <p:sp>
          <p:nvSpPr>
            <p:cNvPr id="20" name="Rectangle 20"/>
            <p:cNvSpPr/>
            <p:nvPr/>
          </p:nvSpPr>
          <p:spPr>
            <a:xfrm>
              <a:off x="5815965" y="1967865"/>
              <a:ext cx="584263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1785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课件里的追问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46945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命令模式怎么答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23788" y="2551271"/>
              <a:ext cx="1718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 ReceiverA2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61310" y="255127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新写一个具体命令类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860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86512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3788" y="3000851"/>
              <a:ext cx="1718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同时增加 ReceiverD2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61310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仍然只加命令类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33089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23788" y="34494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新动作由两个动作顺序组成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863012" y="3323272"/>
              <a:ext cx="27860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61310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用宏命令把它们串起来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37576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376237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3788" y="38981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每个动作都要记日志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63012" y="3771900"/>
              <a:ext cx="27860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61310" y="3898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命令对象可序列化存盘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42071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23788" y="43467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每个动作都要能撤销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863012" y="4221480"/>
              <a:ext cx="27860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61310" y="4346734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命令类里加一个 undo()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1967865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4872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5815965" y="4851082"/>
            <a:ext cx="5842635" cy="1335405"/>
            <a:chOff x="5815965" y="4851082"/>
            <a:chExt cx="5842635" cy="1335405"/>
          </a:xfrm>
        </p:grpSpPr>
        <p:sp>
          <p:nvSpPr>
            <p:cNvPr id="45" name="Rectangle 45"/>
            <p:cNvSpPr/>
            <p:nvPr/>
          </p:nvSpPr>
          <p:spPr>
            <a:xfrm>
              <a:off x="5815965" y="4851082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98443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63615" y="50606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53823" y="50963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3690" y="5095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右列就是本讲的目录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55995" y="5456872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前两行在第二部分讲，后三行分别是第四部分的宏命令、请求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日志和撤销操作。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动机：请求发不出去，是因为发送者认识了接收者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定义：把一个请求封装为一个对象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98587" cy="308039"/>
            <a:chOff x="525399" y="1550194"/>
            <a:chExt cx="80985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98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这条定义一口气提了四件事，课件没有逐个解释，这里先拆开，后面各有一节专门讲。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5410200" cy="2577465"/>
            <a:chOff x="533400" y="1967865"/>
            <a:chExt cx="5410200" cy="257746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3022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命令模式（Command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将一个请求封装为一个对象，从而让我们可用不同的请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求对客户进行参数化；对请求排队或者记录请求日志，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以及支持可撤销的操作。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5433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480435"/>
              <a:ext cx="3129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别名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动作模式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（Action）、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事务模式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（Transaction）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1643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10146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735830"/>
            <a:ext cx="5410200" cy="1464945"/>
            <a:chOff x="533400" y="4735830"/>
            <a:chExt cx="5410200" cy="1464945"/>
          </a:xfrm>
        </p:grpSpPr>
        <p:sp>
          <p:nvSpPr>
            <p:cNvPr id="20" name="Rectangle 20"/>
            <p:cNvSpPr/>
            <p:nvPr/>
          </p:nvSpPr>
          <p:spPr>
            <a:xfrm>
              <a:off x="533400" y="4735830"/>
              <a:ext cx="5410200" cy="1464945"/>
            </a:xfrm>
            <a:prstGeom prst="roundRect">
              <a:avLst>
                <a:gd name="adj" fmla="val 910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" y="49453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3158" y="4981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3978" y="49806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封装请求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53416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请求一旦变成对象，就和别的对象一样可以被存储、被传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递、被放进集合、被写进文件。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240780" y="1992630"/>
            <a:ext cx="5417820" cy="2741295"/>
            <a:chOff x="6240780" y="1992630"/>
            <a:chExt cx="5417820" cy="2741295"/>
          </a:xfrm>
        </p:grpSpPr>
        <p:sp>
          <p:nvSpPr>
            <p:cNvPr id="26" name="TextBox 26"/>
            <p:cNvSpPr txBox="1"/>
            <p:nvPr/>
          </p:nvSpPr>
          <p:spPr>
            <a:xfrm>
              <a:off x="6240780" y="1992630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用不同的请求参数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8642" y="199263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同一个调用者，装进不同的命令对象，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就变成不同的请求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594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0780" y="27146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对请求排队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8642" y="271462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命令对象可以放进队列，按顺序或并发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地逐个执行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3316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40780" y="34366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记录请求日志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8642" y="343662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命令对象可以序列化写进文件，故障后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读回来重放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4038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0780" y="4158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支持可撤销操作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8642" y="415861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在命令类里加一个逆操作，或者配合备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忘录保存状态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865370"/>
            <a:ext cx="5410200" cy="1335405"/>
            <a:chOff x="6248400" y="4865370"/>
            <a:chExt cx="5410200" cy="1335405"/>
          </a:xfrm>
        </p:grpSpPr>
        <p:sp>
          <p:nvSpPr>
            <p:cNvPr id="38" name="Rectangle 38"/>
            <p:cNvSpPr/>
            <p:nvPr/>
          </p:nvSpPr>
          <p:spPr>
            <a:xfrm>
              <a:off x="6248400" y="486537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499872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5074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6258" y="5110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7078" y="511016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这四件事都做不到，是因为请求原来不是对象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47116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一次方法调用没法存起来，也没法放进集合。变成对象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之后，这四件事才都有了着落。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结构、四个角色与骨架代码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五个类各站一个位置，客户端那三行装配代码是全部关节所在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四个角色的职责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运行时的调用顺序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34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骨架代码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结构：调用者只认识抽象命令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调用者与接收者之间没有任何一条线，这是这张图最要紧的地方。</a:t>
              </a:r>
            </a:p>
          </p:txBody>
        </p:sp>
      </p:grpSp>
      <p:grpSp>
        <p:nvGrpSpPr>
          <p:cNvPr id="56" name="c1-uml-1"/>
          <p:cNvGrpSpPr/>
          <p:nvPr/>
        </p:nvGrpSpPr>
        <p:grpSpPr>
          <a:xfrm>
            <a:off x="1007745" y="2302192"/>
            <a:ext cx="5459888" cy="3638551"/>
            <a:chOff x="1007745" y="2302192"/>
            <a:chExt cx="5459888" cy="3638551"/>
          </a:xfrm>
        </p:grpSpPr>
        <p:sp>
          <p:nvSpPr>
            <p:cNvPr id="9" name="Freeform 9"/>
            <p:cNvSpPr/>
            <p:nvPr/>
          </p:nvSpPr>
          <p:spPr>
            <a:xfrm>
              <a:off x="4451985" y="2700338"/>
              <a:ext cx="740093" cy="9525"/>
            </a:xfrm>
            <a:custGeom>
              <a:avLst/>
              <a:gdLst/>
              <a:ahLst/>
              <a:cxnLst/>
              <a:rect l="l" t="t" r="r" b="b"/>
              <a:pathLst>
                <a:path w="740093" h="9525">
                  <a:moveTo>
                    <a:pt x="74009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42435" y="264223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63578" y="3135630"/>
              <a:ext cx="9525" cy="631508"/>
            </a:xfrm>
            <a:custGeom>
              <a:avLst/>
              <a:gdLst/>
              <a:ahLst/>
              <a:cxnLst/>
              <a:rect l="l" t="t" r="r" b="b"/>
              <a:pathLst>
                <a:path w="9525" h="631508">
                  <a:moveTo>
                    <a:pt x="0" y="63150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690235" y="30099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66185" y="4562475"/>
              <a:ext cx="1997393" cy="758190"/>
            </a:xfrm>
            <a:custGeom>
              <a:avLst/>
              <a:gdLst/>
              <a:ahLst/>
              <a:cxnLst/>
              <a:rect l="l" t="t" r="r" b="b"/>
              <a:pathLst>
                <a:path w="1997393" h="758190">
                  <a:moveTo>
                    <a:pt x="1997393" y="0"/>
                  </a:moveTo>
                  <a:lnTo>
                    <a:pt x="1997393" y="379095"/>
                  </a:lnTo>
                  <a:lnTo>
                    <a:pt x="0" y="379095"/>
                  </a:lnTo>
                  <a:lnTo>
                    <a:pt x="0" y="75819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09035" y="5215890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50745" y="4165282"/>
              <a:ext cx="2911792" cy="9525"/>
            </a:xfrm>
            <a:custGeom>
              <a:avLst/>
              <a:gdLst/>
              <a:ahLst/>
              <a:cxnLst/>
              <a:rect l="l" t="t" r="r" b="b"/>
              <a:pathLst>
                <a:path w="2911792" h="9525">
                  <a:moveTo>
                    <a:pt x="0" y="0"/>
                  </a:moveTo>
                  <a:lnTo>
                    <a:pt x="291179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957762" y="4107180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579245" y="4387215"/>
              <a:ext cx="1996440" cy="933450"/>
            </a:xfrm>
            <a:custGeom>
              <a:avLst/>
              <a:gdLst/>
              <a:ahLst/>
              <a:cxnLst/>
              <a:rect l="l" t="t" r="r" b="b"/>
              <a:pathLst>
                <a:path w="1996440" h="933450">
                  <a:moveTo>
                    <a:pt x="0" y="0"/>
                  </a:moveTo>
                  <a:lnTo>
                    <a:pt x="0" y="466725"/>
                  </a:lnTo>
                  <a:lnTo>
                    <a:pt x="1996440" y="466725"/>
                  </a:lnTo>
                  <a:lnTo>
                    <a:pt x="1996440" y="93345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518535" y="5215890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99435" y="2302192"/>
              <a:ext cx="114300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107055" y="2309812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99435" y="25507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99435" y="28222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92078" y="2389822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98745" y="2397442"/>
              <a:ext cx="1128712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92078" y="26384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92078" y="27336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07745" y="39433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15365" y="395001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7745" y="41919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07745" y="42872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62538" y="3767138"/>
              <a:ext cx="140208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69205" y="3774758"/>
              <a:ext cx="138779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62538" y="4015740"/>
              <a:ext cx="1402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62538" y="4287202"/>
              <a:ext cx="1402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099435" y="5320665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107055" y="5327332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099435" y="55692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099435" y="56645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96287" y="2362200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Invoker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70682" y="2621756"/>
              <a:ext cx="682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command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70682" y="2893219"/>
              <a:ext cx="491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call()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40304" y="2449830"/>
              <a:ext cx="646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Command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63324" y="280463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4165" y="4003358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11489" y="3827145"/>
              <a:ext cx="130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ConcreteCommand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33784" y="4086701"/>
              <a:ext cx="1333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receiver: Receiver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33784" y="4358164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55453" y="5380672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Receiver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70682" y="573547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action()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440555" y="4725352"/>
              <a:ext cx="64865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466720" y="4752022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receiver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426142" y="39490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460432" y="39757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396490" y="463772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430780" y="46643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70" name="c2-bullets-1"/>
          <p:cNvGrpSpPr/>
          <p:nvPr/>
        </p:nvGrpSpPr>
        <p:grpSpPr>
          <a:xfrm>
            <a:off x="7106602" y="1992630"/>
            <a:ext cx="3555234" cy="2103405"/>
            <a:chOff x="7106602" y="1992630"/>
            <a:chExt cx="3555234" cy="2103405"/>
          </a:xfrm>
        </p:grpSpPr>
        <p:sp>
          <p:nvSpPr>
            <p:cNvPr id="57" name="TextBox 57"/>
            <p:cNvSpPr txBox="1"/>
            <p:nvPr/>
          </p:nvSpPr>
          <p:spPr>
            <a:xfrm>
              <a:off x="7106602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三处要看清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78052" y="2346960"/>
              <a:ext cx="2604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Invoker 到 Command 是聚合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8567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69696" y="2639854"/>
              <a:ext cx="2121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空心菱形画在 Invoker 一端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1993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78052" y="29498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具体命令到接收者是关联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28567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69696" y="3242786"/>
              <a:ext cx="3192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字段名就叫 receiver，绑定在构造时完成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19938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78052" y="3552825"/>
              <a:ext cx="2986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Invoker 与 Receiver 之间没有线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28567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69696" y="384667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两者互不知道，这正是解耦的位置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7114222" y="4235768"/>
            <a:ext cx="4544378" cy="1621155"/>
            <a:chOff x="7114222" y="4235768"/>
            <a:chExt cx="4544378" cy="1621155"/>
          </a:xfrm>
        </p:grpSpPr>
        <p:sp>
          <p:nvSpPr>
            <p:cNvPr id="71" name="Rectangle 71"/>
            <p:cNvSpPr/>
            <p:nvPr/>
          </p:nvSpPr>
          <p:spPr>
            <a:xfrm>
              <a:off x="7114222" y="4235768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23772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13981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23848" y="44805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具体命令类是唯一知道接收者的人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16152" y="4841558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调用者针对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Command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编程，只有实现了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Command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的具体命令才与接收者关联。换接收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者就是换一个具体命令对象。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角色名要和类图里的位置对得上，考试里给一段代码判断角色，看的就是这四条。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5780" y="1992630"/>
            <a:ext cx="5850255" cy="3023235"/>
            <a:chOff x="525780" y="1992630"/>
            <a:chExt cx="5850255" cy="302323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997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Command 抽象命令类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79420" y="1992630"/>
              <a:ext cx="31680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抽象类或接口，声明 execute() 等执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行请求的方法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218646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ConcreteCommand 具体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命令类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79420" y="2714625"/>
              <a:ext cx="3063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抽象命令类的子类，绑定一个接收者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对象，在 execute() 里调用它的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5985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718560"/>
              <a:ext cx="1454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Invoker 调用者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79420" y="3718560"/>
              <a:ext cx="3110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请求发送者，只与抽象命令类关联，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运行时注入具体命令再调 execute()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3205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440555"/>
              <a:ext cx="1571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Receiver 接收者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79420" y="444055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执行与请求相关的操作，真正实现业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务处理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147310"/>
            <a:ext cx="5842635" cy="817245"/>
            <a:chOff x="533400" y="5147310"/>
            <a:chExt cx="5842635" cy="817245"/>
          </a:xfrm>
        </p:grpSpPr>
        <p:sp>
          <p:nvSpPr>
            <p:cNvPr id="21" name="Rectangle 21"/>
            <p:cNvSpPr/>
            <p:nvPr/>
          </p:nvSpPr>
          <p:spPr>
            <a:xfrm>
              <a:off x="533400" y="5147310"/>
              <a:ext cx="5842635" cy="817245"/>
            </a:xfrm>
            <a:prstGeom prst="roundRect">
              <a:avLst>
                <a:gd name="adj" fmla="val 1398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5452228"/>
              <a:ext cx="224134" cy="192560"/>
              <a:chOff x="726129" y="5452228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5225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54522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600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31304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调用者不是客户端。装配由客户端做，调用者只负责在业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务方法里触发一次 execute()。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680835" y="1967865"/>
            <a:ext cx="4977765" cy="2470785"/>
            <a:chOff x="6680835" y="1967865"/>
            <a:chExt cx="4977765" cy="2470785"/>
          </a:xfrm>
        </p:grpSpPr>
        <p:sp>
          <p:nvSpPr>
            <p:cNvPr id="28" name="Rectangle 28"/>
            <p:cNvSpPr/>
            <p:nvPr/>
          </p:nvSpPr>
          <p:spPr>
            <a:xfrm>
              <a:off x="6680835" y="1967865"/>
              <a:ext cx="497776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4881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953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知道谁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644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不知道谁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8658" y="2551271"/>
              <a:ext cx="66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Invoker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81250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抽象命令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26015" y="2426018"/>
              <a:ext cx="162306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124313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接收者是谁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28603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80835" y="2865120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8658" y="3000851"/>
              <a:ext cx="139552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ConcreteComman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1250" y="31141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一个接收者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26015" y="2874645"/>
              <a:ext cx="162306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24313" y="31141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谁在调用它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5356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8658" y="3676174"/>
              <a:ext cx="769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81250" y="36761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自己的业务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4313" y="36761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请求从哪来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39843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398907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8658" y="4124801"/>
              <a:ext cx="524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81250" y="41248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全部四个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24313" y="412480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1967865"/>
              <a:ext cx="497776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68665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11728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680835" y="4629150"/>
            <a:ext cx="4977765" cy="1335405"/>
            <a:chOff x="6680835" y="4629150"/>
            <a:chExt cx="4977765" cy="1335405"/>
          </a:xfrm>
        </p:grpSpPr>
        <p:sp>
          <p:nvSpPr>
            <p:cNvPr id="55" name="Rectangle 55"/>
            <p:cNvSpPr/>
            <p:nvPr/>
          </p:nvSpPr>
          <p:spPr>
            <a:xfrm>
              <a:off x="6680835" y="4629150"/>
              <a:ext cx="497776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0360" y="476250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28485" y="48387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14743" y="48744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71435" y="487394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三个角色都只知道一半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20865" y="52349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每个角色都被限制在只知道自己必须知道的那一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半，剩下的一半由客户端在装配时补上。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运行时的调用顺序：三次创建，两层转发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按张欣佳老师课件里的顺序图逐步读一遍，就知道每个对象是什么时候出场的。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50720"/>
            <a:ext cx="4451155" cy="2867502"/>
            <a:chOff x="533400" y="1950720"/>
            <a:chExt cx="4451155" cy="286750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9863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724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9831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客户端创建接收者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250281"/>
              <a:ext cx="2640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Receiver()，这是真正干活的对象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5698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客户端创建具体命令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837021"/>
              <a:ext cx="4037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ConcreteCommand(aReceiver)，把接收者装进命令里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15658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客户端创建调用者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424714"/>
              <a:ext cx="328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Invoker(aCommand)，把命令装进调用者里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7433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调用者触发请求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011454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call() 内部只写一句 command.execute()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331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命令转调接收者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598194"/>
              <a:ext cx="3087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execute() 内部只写一句 receiver.action()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987290"/>
            <a:ext cx="5193982" cy="1226820"/>
            <a:chOff x="533400" y="4987290"/>
            <a:chExt cx="5193982" cy="1226820"/>
          </a:xfrm>
        </p:grpSpPr>
        <p:sp>
          <p:nvSpPr>
            <p:cNvPr id="31" name="Rectangle 31"/>
            <p:cNvSpPr/>
            <p:nvPr/>
          </p:nvSpPr>
          <p:spPr>
            <a:xfrm>
              <a:off x="533400" y="4987290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12064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51796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344" y="52139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对照类图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14297" y="52197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客户端与接收者之间那条线只在装配时存在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5553075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客户端要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出接收者，所以类图上有一条依赖。运行起来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以后，请求全部沿调用者到命令再到接收者这一条线走。</a:t>
              </a:r>
            </a:p>
          </p:txBody>
        </p:sp>
      </p:grpSp>
      <p:grpSp>
        <p:nvGrpSpPr>
          <p:cNvPr id="58" name="c2-flow-1"/>
          <p:cNvGrpSpPr/>
          <p:nvPr/>
        </p:nvGrpSpPr>
        <p:grpSpPr>
          <a:xfrm>
            <a:off x="6165532" y="2554605"/>
            <a:ext cx="5359718" cy="578168"/>
            <a:chOff x="6165532" y="2554605"/>
            <a:chExt cx="5359718" cy="578168"/>
          </a:xfrm>
        </p:grpSpPr>
        <p:sp>
          <p:nvSpPr>
            <p:cNvPr id="38" name="Freeform 38"/>
            <p:cNvSpPr/>
            <p:nvPr/>
          </p:nvSpPr>
          <p:spPr>
            <a:xfrm>
              <a:off x="7305675" y="28432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67600" y="2790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711565" y="28432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873490" y="2790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18408" y="284321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80332" y="2790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65532" y="2644140"/>
              <a:ext cx="1140142" cy="399098"/>
            </a:xfrm>
            <a:prstGeom prst="roundRect">
              <a:avLst>
                <a:gd name="adj" fmla="val 498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72375" y="2644140"/>
              <a:ext cx="114014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78265" y="2554605"/>
              <a:ext cx="1140142" cy="578168"/>
            </a:xfrm>
            <a:prstGeom prst="roundRect">
              <a:avLst>
                <a:gd name="adj" fmla="val 16474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85108" y="2644140"/>
              <a:ext cx="1140142" cy="399098"/>
            </a:xfrm>
            <a:prstGeom prst="roundRect">
              <a:avLst>
                <a:gd name="adj" fmla="val 498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05683" y="2764631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62667" y="2764631"/>
              <a:ext cx="558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Invoker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30170" y="2668429"/>
              <a:ext cx="63728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Command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19116" y="276463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Receiver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266622" y="263652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2144" y="26617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89632" y="2636520"/>
              <a:ext cx="7115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13441" y="2661761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execute()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46005" y="2636520"/>
              <a:ext cx="61150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73055" y="2661761"/>
              <a:ext cx="557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action()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032182" y="3919538"/>
            <a:ext cx="5626418" cy="1226820"/>
            <a:chOff x="6032182" y="3919538"/>
            <a:chExt cx="5626418" cy="1226820"/>
          </a:xfrm>
        </p:grpSpPr>
        <p:sp>
          <p:nvSpPr>
            <p:cNvPr id="59" name="Rectangle 59"/>
            <p:cNvSpPr/>
            <p:nvPr/>
          </p:nvSpPr>
          <p:spPr>
            <a:xfrm>
              <a:off x="6032182" y="3919538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24588" y="41119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16028" y="41462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08280" y="41519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两层转发，每层只写一句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17730" y="4486275"/>
              <a:ext cx="50457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call()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不知道自己触发了什么业务，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execute()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不知道自己被谁触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发。两句转发把发送和执行彻底隔开。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032182" y="5321618"/>
            <a:ext cx="5626418" cy="892492"/>
            <a:chOff x="6032182" y="5321618"/>
            <a:chExt cx="5626418" cy="892492"/>
          </a:xfrm>
        </p:grpSpPr>
        <p:sp>
          <p:nvSpPr>
            <p:cNvPr id="65" name="Rectangle 65"/>
            <p:cNvSpPr/>
            <p:nvPr/>
          </p:nvSpPr>
          <p:spPr>
            <a:xfrm>
              <a:off x="6032182" y="5321618"/>
              <a:ext cx="5626418" cy="892492"/>
            </a:xfrm>
            <a:prstGeom prst="roundRect">
              <a:avLst>
                <a:gd name="adj" fmla="val 1280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236970" y="5667375"/>
              <a:ext cx="200026" cy="200025"/>
              <a:chOff x="6236970" y="5667375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236970" y="5667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276709" y="5711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11424" y="5822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539674" y="554926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装配发生在客户端，运行期间换一次命令对象，同一个按钮就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换了一种功能。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骨架代码（一）：抽象命令、接收者、具体命令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2790" cy="293370"/>
            <a:chOff x="525780" y="1548765"/>
            <a:chExt cx="70827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三个类加起来不到二十行。具体命令类里那个构造函数是关节，源课件漏掉了。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276022" cy="4291012"/>
            <a:chOff x="533400" y="1954530"/>
            <a:chExt cx="6276022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4344543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抽象命令类：只声明执行请求的方法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接收者：真正执行业务的对象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"接收者执行具体业务"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具体命令：把 execute() 翻译成对接收者的调用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ConcreteCommand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Receiver receiver;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关联接收者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ConcreteCommand(Receiver receiver)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.receiver = receiver;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 receiver.action();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7106984" y="1977866"/>
            <a:ext cx="2901734" cy="1988725"/>
            <a:chOff x="7106984" y="1977866"/>
            <a:chExt cx="2901734" cy="1988725"/>
          </a:xfrm>
        </p:grpSpPr>
        <p:sp>
          <p:nvSpPr>
            <p:cNvPr id="13" name="TextBox 13"/>
            <p:cNvSpPr txBox="1"/>
            <p:nvPr/>
          </p:nvSpPr>
          <p:spPr>
            <a:xfrm>
              <a:off x="7106984" y="19778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三处写法要记住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114222" y="2344102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2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57491" y="2314099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抽象命令里只有 execute()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64730" y="266033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9134" y="259175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最简单的形态就是一个抽象方法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114222" y="291369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57491" y="28836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接收者是普通业务类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64730" y="322992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49134" y="316134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它完全不知道命令模式的存在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114222" y="3483292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9055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57491" y="3453289"/>
              <a:ext cx="2604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具体命令的 execute() 不干活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364730" y="379952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9134" y="3731895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只把调用转给 receiver.action()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114222" y="4099560"/>
            <a:ext cx="4544378" cy="2146935"/>
            <a:chOff x="7114222" y="4099560"/>
            <a:chExt cx="4544378" cy="2146935"/>
          </a:xfrm>
        </p:grpSpPr>
        <p:sp>
          <p:nvSpPr>
            <p:cNvPr id="27" name="Rectangle 27"/>
            <p:cNvSpPr/>
            <p:nvPr/>
          </p:nvSpPr>
          <p:spPr>
            <a:xfrm>
              <a:off x="7114222" y="4099560"/>
              <a:ext cx="4544378" cy="2146935"/>
            </a:xfrm>
            <a:prstGeom prst="roundRect">
              <a:avLst>
                <a:gd name="adj" fmla="val 62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4232910"/>
              <a:ext cx="47625" cy="1880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50442" y="42976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1883" y="4331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43204" y="4658201"/>
              <a:ext cx="3796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ConcreteCommand 没有构造函数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43204" y="4993481"/>
              <a:ext cx="392785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张欣佳课件第 15 页只写了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 Receiver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receiver;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，没有给它赋值的地方，运行时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receiver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null，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必然抛空指针。讲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义补上构造注入。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骨架代码（二）：调用者与客户端装配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调用者提供构造注入和设值注入两种口子，客户端那三行决定了谁配谁。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54530"/>
            <a:ext cx="6059805" cy="4291012"/>
            <a:chOff x="533400" y="1954530"/>
            <a:chExt cx="6059805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978718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16826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535781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416" y="2367915"/>
              <a:ext cx="4431220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调用者：只认识抽象命令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Invoker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command;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Invoker(Command command) {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构造注入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.command = command;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setCommand(Command command) {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设值注入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.command = command;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call() { command.execute();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Receiver receiver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Receiver();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 command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ConcreteCommand(receiver);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Invoker invoker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Invoker(command);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invoker.call();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输出：接收者执行具体业务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6890766" y="1977866"/>
            <a:ext cx="2924175" cy="1988725"/>
            <a:chOff x="6890766" y="1977866"/>
            <a:chExt cx="2924175" cy="1988725"/>
          </a:xfrm>
        </p:grpSpPr>
        <p:sp>
          <p:nvSpPr>
            <p:cNvPr id="16" name="TextBox 16"/>
            <p:cNvSpPr txBox="1"/>
            <p:nvPr/>
          </p:nvSpPr>
          <p:spPr>
            <a:xfrm>
              <a:off x="6890766" y="197786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客户端那三行各绑定了什么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98005" y="23012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6350" y="23415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7946" y="231409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第一行造出接收者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95185" y="266033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79589" y="25917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决定这次请求由谁来执行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8005" y="287083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6350" y="29111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7946" y="288369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第二行把接收者装进命令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95185" y="322992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79589" y="316134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决定这条命令做哪一件事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98005" y="344138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56350" y="34807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87946" y="345328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第三行把命令装进调用者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95185" y="379952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9589" y="373189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决定这个按钮按下去触发哪条命令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898005" y="4099560"/>
            <a:ext cx="4760595" cy="2146935"/>
            <a:chOff x="6898005" y="4099560"/>
            <a:chExt cx="4760595" cy="2146935"/>
          </a:xfrm>
        </p:grpSpPr>
        <p:sp>
          <p:nvSpPr>
            <p:cNvPr id="33" name="Rectangle 33"/>
            <p:cNvSpPr/>
            <p:nvPr/>
          </p:nvSpPr>
          <p:spPr>
            <a:xfrm>
              <a:off x="6898005" y="4099560"/>
              <a:ext cx="4760595" cy="2146935"/>
            </a:xfrm>
            <a:prstGeom prst="roundRect">
              <a:avLst>
                <a:gd name="adj" fmla="val 621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96125" y="429768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83565" y="4331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换功能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12786" y="433244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三行里改哪一行，效果完全不同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8886" y="4676299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改第一行是换一台设备，改第二行是换一种操作，改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第三行是换整条命令。三处都不用碰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Invoker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模式分析：请求本身成了一个对象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659630" cy="293370"/>
            <a:chOff x="525780" y="1548765"/>
            <a:chExt cx="46596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把这句话想透，后面四种扩展就都是顺理成章的事。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4413885" cy="2000155"/>
            <a:chOff x="526161" y="1977866"/>
            <a:chExt cx="4413885" cy="200015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课件里的三条分析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020" y="237648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611" y="231695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本质是对请求进行封装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266414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254" y="2595562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一个请求对应一个命令，发出请求和执行请求的职责分开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020" y="29498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289036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请求者不必知道接收者的接口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323754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9254" y="316992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更不必知道请求何时、怎样被执行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41020" y="352329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611" y="34637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关键在引入抽象命令类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" y="38109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9254" y="374332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发送者针对抽象命令编程，具体命令才关联接收者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115752"/>
            <a:ext cx="5410200" cy="1861185"/>
            <a:chOff x="533400" y="4115752"/>
            <a:chExt cx="5410200" cy="1861185"/>
          </a:xfrm>
        </p:grpSpPr>
        <p:sp>
          <p:nvSpPr>
            <p:cNvPr id="23" name="Rectangle 23"/>
            <p:cNvSpPr/>
            <p:nvPr/>
          </p:nvSpPr>
          <p:spPr>
            <a:xfrm>
              <a:off x="533400" y="4115752"/>
              <a:ext cx="5410200" cy="1861185"/>
            </a:xfrm>
            <a:prstGeom prst="roundRect">
              <a:avLst>
                <a:gd name="adj" fmla="val 614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946335"/>
              <a:ext cx="200023" cy="200023"/>
              <a:chOff x="738188" y="4946335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9463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013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481536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请求成了对象，于是能存进集合、写进文件、压进栈，这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三件事分别对应队列、日志和撤销。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248400" y="1954530"/>
            <a:ext cx="5410200" cy="2569369"/>
            <a:chOff x="6248400" y="1954530"/>
            <a:chExt cx="5410200" cy="2569369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22218" r="0" b="22219"/>
            <a:stretch>
              <a:fillRect/>
            </a:stretch>
          </p:blipFill>
          <p:spPr>
            <a:xfrm>
              <a:off x="6248400" y="1954530"/>
              <a:ext cx="5410200" cy="2254568"/>
            </a:xfrm>
            <a:prstGeom prst="roundRect">
              <a:avLst>
                <a:gd name="adj" fmla="val 5914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213879" y="430387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顾客写点菜单，服务员挂到轨道上，厨师取下来做菜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4683442"/>
            <a:ext cx="5410200" cy="1293495"/>
            <a:chOff x="6248400" y="4683442"/>
            <a:chExt cx="5410200" cy="1293495"/>
          </a:xfrm>
        </p:grpSpPr>
        <p:sp>
          <p:nvSpPr>
            <p:cNvPr id="32" name="Rectangle 32"/>
            <p:cNvSpPr/>
            <p:nvPr/>
          </p:nvSpPr>
          <p:spPr>
            <a:xfrm>
              <a:off x="6248400" y="4683442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481679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0335" y="48872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0543" y="49229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1744" y="492775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点菜单就是命令对象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3096" y="527923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服务员是调用者，厨师是接收者，点菜单是命令对象。挂在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轨道上的一排单子就是命令队列，单子留底就是请求日志。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课件中的两个实例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遥控器和功能键，都是同一个按钮对应不同功能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电视机遥控器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功能键设置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改配置文件换功能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实例一：电视机遥控器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62085" cy="308039"/>
            <a:chOff x="525399" y="1550194"/>
            <a:chExt cx="91620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620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电视机是请求的接收者，遥控器是请求的发送者，三个按钮对应打开、关闭、切换频道三种操作。</a:t>
              </a:r>
            </a:p>
          </p:txBody>
        </p:sp>
      </p:grpSp>
      <p:grpSp>
        <p:nvGrpSpPr>
          <p:cNvPr id="63" name="c1-uml-1"/>
          <p:cNvGrpSpPr/>
          <p:nvPr/>
        </p:nvGrpSpPr>
        <p:grpSpPr>
          <a:xfrm>
            <a:off x="814388" y="2162175"/>
            <a:ext cx="6344602" cy="3924300"/>
            <a:chOff x="814388" y="2162175"/>
            <a:chExt cx="6344602" cy="3924300"/>
          </a:xfrm>
        </p:grpSpPr>
        <p:sp>
          <p:nvSpPr>
            <p:cNvPr id="9" name="Freeform 9"/>
            <p:cNvSpPr/>
            <p:nvPr/>
          </p:nvSpPr>
          <p:spPr>
            <a:xfrm>
              <a:off x="2166938" y="2700338"/>
              <a:ext cx="1966912" cy="9525"/>
            </a:xfrm>
            <a:custGeom>
              <a:avLst/>
              <a:gdLst/>
              <a:ahLst/>
              <a:cxnLst/>
              <a:rect l="l" t="t" r="r" b="b"/>
              <a:pathLst>
                <a:path w="1966912" h="9525">
                  <a:moveTo>
                    <a:pt x="196691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57388" y="264223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89910" y="3119438"/>
              <a:ext cx="1513523" cy="670560"/>
            </a:xfrm>
            <a:custGeom>
              <a:avLst/>
              <a:gdLst/>
              <a:ahLst/>
              <a:cxnLst/>
              <a:rect l="l" t="t" r="r" b="b"/>
              <a:pathLst>
                <a:path w="1513523" h="670560">
                  <a:moveTo>
                    <a:pt x="0" y="670560"/>
                  </a:moveTo>
                  <a:lnTo>
                    <a:pt x="0" y="272415"/>
                  </a:lnTo>
                  <a:lnTo>
                    <a:pt x="1513523" y="272415"/>
                  </a:lnTo>
                  <a:lnTo>
                    <a:pt x="151352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30090" y="29937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93932" y="3119438"/>
              <a:ext cx="9525" cy="670560"/>
            </a:xfrm>
            <a:custGeom>
              <a:avLst/>
              <a:gdLst/>
              <a:ahLst/>
              <a:cxnLst/>
              <a:rect l="l" t="t" r="r" b="b"/>
              <a:pathLst>
                <a:path w="9525" h="670560">
                  <a:moveTo>
                    <a:pt x="0" y="670560"/>
                  </a:moveTo>
                  <a:lnTo>
                    <a:pt x="0" y="272415"/>
                  </a:lnTo>
                  <a:lnTo>
                    <a:pt x="0" y="27241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20590" y="29937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984432" y="3119438"/>
              <a:ext cx="1513523" cy="670560"/>
            </a:xfrm>
            <a:custGeom>
              <a:avLst/>
              <a:gdLst/>
              <a:ahLst/>
              <a:cxnLst/>
              <a:rect l="l" t="t" r="r" b="b"/>
              <a:pathLst>
                <a:path w="1513523" h="670560">
                  <a:moveTo>
                    <a:pt x="1513523" y="670560"/>
                  </a:moveTo>
                  <a:lnTo>
                    <a:pt x="1513523" y="272415"/>
                  </a:lnTo>
                  <a:lnTo>
                    <a:pt x="0" y="27241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911090" y="29937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9410" y="4540568"/>
              <a:ext cx="190500" cy="633413"/>
            </a:xfrm>
            <a:custGeom>
              <a:avLst/>
              <a:gdLst/>
              <a:ahLst/>
              <a:cxnLst/>
              <a:rect l="l" t="t" r="r" b="b"/>
              <a:pathLst>
                <a:path w="190500" h="633413">
                  <a:moveTo>
                    <a:pt x="190500" y="0"/>
                  </a:moveTo>
                  <a:lnTo>
                    <a:pt x="190500" y="316230"/>
                  </a:lnTo>
                  <a:lnTo>
                    <a:pt x="0" y="316230"/>
                  </a:lnTo>
                  <a:lnTo>
                    <a:pt x="0" y="63341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41308" y="506920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089910" y="4540568"/>
              <a:ext cx="1704023" cy="633413"/>
            </a:xfrm>
            <a:custGeom>
              <a:avLst/>
              <a:gdLst/>
              <a:ahLst/>
              <a:cxnLst/>
              <a:rect l="l" t="t" r="r" b="b"/>
              <a:pathLst>
                <a:path w="1704023" h="633413">
                  <a:moveTo>
                    <a:pt x="1704023" y="0"/>
                  </a:moveTo>
                  <a:lnTo>
                    <a:pt x="1704023" y="316230"/>
                  </a:lnTo>
                  <a:lnTo>
                    <a:pt x="0" y="316230"/>
                  </a:lnTo>
                  <a:lnTo>
                    <a:pt x="0" y="63341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31808" y="506920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80410" y="4540568"/>
              <a:ext cx="3217545" cy="633413"/>
            </a:xfrm>
            <a:custGeom>
              <a:avLst/>
              <a:gdLst/>
              <a:ahLst/>
              <a:cxnLst/>
              <a:rect l="l" t="t" r="r" b="b"/>
              <a:pathLst>
                <a:path w="3217545" h="633413">
                  <a:moveTo>
                    <a:pt x="3217545" y="0"/>
                  </a:moveTo>
                  <a:lnTo>
                    <a:pt x="3217545" y="316230"/>
                  </a:lnTo>
                  <a:lnTo>
                    <a:pt x="0" y="316230"/>
                  </a:lnTo>
                  <a:lnTo>
                    <a:pt x="0" y="63341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222308" y="506920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4388" y="2162175"/>
              <a:ext cx="114300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21055" y="21697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4388" y="23926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4388" y="26508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33850" y="2406015"/>
              <a:ext cx="132111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140518" y="2412682"/>
              <a:ext cx="1306830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133850" y="2636520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33850" y="2731770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7930" y="3789998"/>
              <a:ext cx="1203008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95550" y="3796665"/>
              <a:ext cx="118872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487930" y="4020502"/>
              <a:ext cx="12030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87930" y="4277678"/>
              <a:ext cx="12030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85285" y="3789998"/>
              <a:ext cx="1216342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92905" y="3796665"/>
              <a:ext cx="1202055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85285" y="4020502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85285" y="4277678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37872" y="3789998"/>
              <a:ext cx="1321118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44540" y="3796665"/>
              <a:ext cx="130683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37872" y="4020502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37872" y="4277678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507932" y="5173980"/>
              <a:ext cx="1163955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514600" y="5180648"/>
              <a:ext cx="114966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507932" y="5404485"/>
              <a:ext cx="11639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507932" y="5499735"/>
              <a:ext cx="11639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2664" y="2217896"/>
              <a:ext cx="706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Controller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5825" y="2462212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三个命令引用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5825" y="2720340"/>
              <a:ext cx="60960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close()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change()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5342" y="2461736"/>
              <a:ext cx="1217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AbstractCommand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205288" y="280130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38828" y="3845719"/>
              <a:ext cx="11021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TVOpenCommand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59368" y="4090035"/>
              <a:ext cx="928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tv: Television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59368" y="434721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36480" y="3845719"/>
              <a:ext cx="111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TVCloseCommand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56722" y="4090035"/>
              <a:ext cx="928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tv: Television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256722" y="434721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84843" y="3845719"/>
              <a:ext cx="1226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TVChangeCommand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09310" y="4090035"/>
              <a:ext cx="928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tv: Television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09310" y="434721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54100" y="5229701"/>
              <a:ext cx="6716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Television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79370" y="5569267"/>
              <a:ext cx="102108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open()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close()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changeChannel()</a:t>
              </a:r>
            </a:p>
          </p:txBody>
        </p:sp>
      </p:grpSp>
      <p:grpSp>
        <p:nvGrpSpPr>
          <p:cNvPr id="77" name="c2-bullets-1"/>
          <p:cNvGrpSpPr/>
          <p:nvPr/>
        </p:nvGrpSpPr>
        <p:grpSpPr>
          <a:xfrm>
            <a:off x="7647623" y="1992630"/>
            <a:ext cx="3830447" cy="2337720"/>
            <a:chOff x="7647623" y="1992630"/>
            <a:chExt cx="3830447" cy="2337720"/>
          </a:xfrm>
        </p:grpSpPr>
        <p:sp>
          <p:nvSpPr>
            <p:cNvPr id="64" name="TextBox 64"/>
            <p:cNvSpPr txBox="1"/>
            <p:nvPr/>
          </p:nvSpPr>
          <p:spPr>
            <a:xfrm>
              <a:off x="7647623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三处对应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66095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19073" y="2346960"/>
              <a:ext cx="1899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Controller 是调用者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82669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010716" y="2639854"/>
              <a:ext cx="2945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三个字段都声明成 AbstractCommand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66095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819073" y="2949892"/>
              <a:ext cx="2599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 TV 开头的类是具体命令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82669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10716" y="3242786"/>
              <a:ext cx="3467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各绑定同一台电视机，execute() 各转调一个方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660958" y="38500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19073" y="3787140"/>
              <a:ext cx="1848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Television 是接收者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826692" y="415385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10716" y="40809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它完全不知道遥控器的存在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7655242" y="4471035"/>
            <a:ext cx="4003358" cy="1621155"/>
            <a:chOff x="7655242" y="4471035"/>
            <a:chExt cx="4003358" cy="1621155"/>
          </a:xfrm>
        </p:grpSpPr>
        <p:sp>
          <p:nvSpPr>
            <p:cNvPr id="78" name="Rectangle 78"/>
            <p:cNvSpPr/>
            <p:nvPr/>
          </p:nvSpPr>
          <p:spPr>
            <a:xfrm>
              <a:off x="7655242" y="4471035"/>
              <a:ext cx="4003358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864792" y="46805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55001" y="47163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64868" y="47158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换一台电视机只动客户端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57173" y="5076825"/>
              <a:ext cx="3320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把另一台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Television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传进三个命令的构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造函数就换完了，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Controller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和三个命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令类的源码都不用改。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实例一代码：电视机与三个命令类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152074" cy="308039"/>
            <a:chOff x="525399" y="1550194"/>
            <a:chExt cx="715207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1520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接收者是普通的业务类，三个命令类的 execute() 各自转调它的一个方法。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167438" cy="3950970"/>
            <a:chOff x="533400" y="1967865"/>
            <a:chExt cx="6167438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16743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712462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{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接收者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open() 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"打开电视机"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close()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"关闭电视机"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changeChannel()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"切换电视频道"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TVOpenCommand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tv;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TVOpenCommand(Television tv)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.tv = tv;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 tv.open();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005638" y="1967865"/>
            <a:ext cx="4652962" cy="2125028"/>
            <a:chOff x="7005638" y="1967865"/>
            <a:chExt cx="4652962" cy="2125028"/>
          </a:xfrm>
        </p:grpSpPr>
        <p:sp>
          <p:nvSpPr>
            <p:cNvPr id="13" name="Rectangle 13"/>
            <p:cNvSpPr/>
            <p:nvPr/>
          </p:nvSpPr>
          <p:spPr>
            <a:xfrm>
              <a:off x="7005638" y="1967865"/>
              <a:ext cx="465296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4034" y="21197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另外两个命令类同样写法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3272" y="2381726"/>
              <a:ext cx="329717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TVCloseCommand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tv;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TVCloseCommand(Television tv)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.tv = tv;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 tv.close();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005638" y="4283392"/>
            <a:ext cx="4652962" cy="1906905"/>
            <a:chOff x="7005638" y="4283392"/>
            <a:chExt cx="4652962" cy="1906905"/>
          </a:xfrm>
        </p:grpSpPr>
        <p:sp>
          <p:nvSpPr>
            <p:cNvPr id="17" name="Rectangle 17"/>
            <p:cNvSpPr/>
            <p:nvPr/>
          </p:nvSpPr>
          <p:spPr>
            <a:xfrm>
              <a:off x="7005638" y="4283392"/>
              <a:ext cx="4652962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15162" y="4416742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53288" y="44929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44448" y="4528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4315" y="45281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原课件类图里是无参构造函数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5668" y="4889182"/>
              <a:ext cx="40443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类图上三个命令类都写成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TVOpenCommand()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各自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一台电视机，三个按钮控制的就成了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三台不同的电视机。讲义改成构造注入，把同一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台传进去。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实例一代码：遥控器与客户端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105280" cy="308039"/>
            <a:chOff x="525399" y="1550194"/>
            <a:chExt cx="710528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105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Controller 的三个业务方法各转发一次，客户端负责把命令和电视机配好。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951220" cy="3545205"/>
            <a:chOff x="533400" y="1967865"/>
            <a:chExt cx="5951220" cy="35452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157726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Controller {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openCommand;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closeCommand;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changeCommand;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Controller(AbstractCommand open,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AbstractCommand close,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AbstractCommand change)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.openCommand = open;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.closeCommand = close;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.changeCommand = change;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open()   { openCommand.execute();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close()  { closeCommand.execute();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change() { changeCommand.execute();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789420" y="1967865"/>
            <a:ext cx="4869180" cy="2125028"/>
            <a:chOff x="6789420" y="1967865"/>
            <a:chExt cx="4869180" cy="2125028"/>
          </a:xfrm>
        </p:grpSpPr>
        <p:sp>
          <p:nvSpPr>
            <p:cNvPr id="13" name="Rectangle 13"/>
            <p:cNvSpPr/>
            <p:nvPr/>
          </p:nvSpPr>
          <p:spPr>
            <a:xfrm>
              <a:off x="6789420" y="1967865"/>
              <a:ext cx="486918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781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7055" y="2381726"/>
              <a:ext cx="259308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Television tv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Controller 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Controller(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TVOpenCommand(tv),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TVCloseCommand(tv),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TVChangeCommand(tv));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c.open();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c.change();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c.close();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6789420" y="4283392"/>
            <a:ext cx="4869180" cy="1999298"/>
            <a:chOff x="6789420" y="4283392"/>
            <a:chExt cx="4869180" cy="1999298"/>
          </a:xfrm>
        </p:grpSpPr>
        <p:sp>
          <p:nvSpPr>
            <p:cNvPr id="17" name="Rectangle 17"/>
            <p:cNvSpPr/>
            <p:nvPr/>
          </p:nvSpPr>
          <p:spPr>
            <a:xfrm>
              <a:off x="6789420" y="4283392"/>
              <a:ext cx="4869180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4416742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9450" y="451770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29450" y="487203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打开电视机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9450" y="520731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切换电视频道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9450" y="55425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关闭电视机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0593" y="5873591"/>
              <a:ext cx="3007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三条输出都来自同一个 Television 对象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实例二：一个功能键，两种用途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86565" cy="308039"/>
            <a:chOff x="525399" y="1550194"/>
            <a:chExt cx="918656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865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功能键 FunctionButton 可以用于退出系统，也可以用于打开帮助界面，用户改配置文件就能换。</a:t>
              </a:r>
            </a:p>
          </p:txBody>
        </p:sp>
      </p:grpSp>
      <p:grpSp>
        <p:nvGrpSpPr>
          <p:cNvPr id="59" name="c1-uml-1"/>
          <p:cNvGrpSpPr/>
          <p:nvPr/>
        </p:nvGrpSpPr>
        <p:grpSpPr>
          <a:xfrm>
            <a:off x="757238" y="2609850"/>
            <a:ext cx="6251257" cy="3028950"/>
            <a:chOff x="757238" y="2609850"/>
            <a:chExt cx="6251257" cy="3028950"/>
          </a:xfrm>
        </p:grpSpPr>
        <p:sp>
          <p:nvSpPr>
            <p:cNvPr id="9" name="Freeform 9"/>
            <p:cNvSpPr/>
            <p:nvPr/>
          </p:nvSpPr>
          <p:spPr>
            <a:xfrm>
              <a:off x="2163128" y="3066098"/>
              <a:ext cx="1991678" cy="9525"/>
            </a:xfrm>
            <a:custGeom>
              <a:avLst/>
              <a:gdLst/>
              <a:ahLst/>
              <a:cxnLst/>
              <a:rect l="l" t="t" r="r" b="b"/>
              <a:pathLst>
                <a:path w="1991678" h="9525">
                  <a:moveTo>
                    <a:pt x="199167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53578" y="300894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48952" y="3554730"/>
              <a:ext cx="1582102" cy="1333500"/>
            </a:xfrm>
            <a:custGeom>
              <a:avLst/>
              <a:gdLst/>
              <a:ahLst/>
              <a:cxnLst/>
              <a:rect l="l" t="t" r="r" b="b"/>
              <a:pathLst>
                <a:path w="1582102" h="1333500">
                  <a:moveTo>
                    <a:pt x="0" y="1333500"/>
                  </a:moveTo>
                  <a:lnTo>
                    <a:pt x="0" y="603885"/>
                  </a:lnTo>
                  <a:lnTo>
                    <a:pt x="1582102" y="603885"/>
                  </a:lnTo>
                  <a:lnTo>
                    <a:pt x="158210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557712" y="34290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26305" y="3554730"/>
              <a:ext cx="95250" cy="1333500"/>
            </a:xfrm>
            <a:custGeom>
              <a:avLst/>
              <a:gdLst/>
              <a:ahLst/>
              <a:cxnLst/>
              <a:rect l="l" t="t" r="r" b="b"/>
              <a:pathLst>
                <a:path w="95250" h="1333500">
                  <a:moveTo>
                    <a:pt x="0" y="1333500"/>
                  </a:moveTo>
                  <a:lnTo>
                    <a:pt x="0" y="603885"/>
                  </a:lnTo>
                  <a:lnTo>
                    <a:pt x="95250" y="60388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748212" y="34290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86915" y="5263515"/>
              <a:ext cx="490538" cy="9525"/>
            </a:xfrm>
            <a:custGeom>
              <a:avLst/>
              <a:gdLst/>
              <a:ahLst/>
              <a:cxnLst/>
              <a:rect l="l" t="t" r="r" b="b"/>
              <a:pathLst>
                <a:path w="490538" h="9525">
                  <a:moveTo>
                    <a:pt x="4905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86915" y="520636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97805" y="5263515"/>
              <a:ext cx="501015" cy="9525"/>
            </a:xfrm>
            <a:custGeom>
              <a:avLst/>
              <a:gdLst/>
              <a:ahLst/>
              <a:cxnLst/>
              <a:rect l="l" t="t" r="r" b="b"/>
              <a:pathLst>
                <a:path w="501015" h="9525">
                  <a:moveTo>
                    <a:pt x="0" y="0"/>
                  </a:moveTo>
                  <a:lnTo>
                    <a:pt x="50101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694045" y="520636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9622" y="2609850"/>
              <a:ext cx="1163955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7242" y="2617470"/>
              <a:ext cx="114966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9622" y="2840355"/>
              <a:ext cx="11639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9622" y="3097530"/>
              <a:ext cx="11639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54805" y="2704148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62425" y="2710815"/>
              <a:ext cx="1128712" cy="36480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54805" y="30718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54805" y="31670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7238" y="4970145"/>
              <a:ext cx="122967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4858" y="4976812"/>
              <a:ext cx="121539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7238" y="5200650"/>
              <a:ext cx="1229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7238" y="5295900"/>
              <a:ext cx="1229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77452" y="4888230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85072" y="489585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477452" y="51196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77452" y="53768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54805" y="4888230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62425" y="489585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54805" y="51196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54805" y="53768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98820" y="4970145"/>
              <a:ext cx="120967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05488" y="4976812"/>
              <a:ext cx="119538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98820" y="5200650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98820" y="5295900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6473" y="2665571"/>
              <a:ext cx="1050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FunctionButton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1060" y="2909888"/>
              <a:ext cx="627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command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1060" y="3168015"/>
              <a:ext cx="90678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setCommand()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click()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1416" y="275701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24608" y="2896076"/>
              <a:ext cx="6033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Command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26242" y="323659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9781" y="5025866"/>
              <a:ext cx="11236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SystemExitClass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675" y="5365432"/>
              <a:ext cx="482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exit()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10156" y="4943951"/>
              <a:ext cx="877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ExitCommand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48890" y="5189220"/>
              <a:ext cx="444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seObj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48890" y="544639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87508" y="4943951"/>
              <a:ext cx="877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HelpCommand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26242" y="5189220"/>
              <a:ext cx="444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hcObj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26242" y="544639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52727" y="5025866"/>
              <a:ext cx="1101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DisplayHelpClass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70258" y="5365432"/>
              <a:ext cx="6516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display()</a:t>
              </a:r>
            </a:p>
          </p:txBody>
        </p:sp>
      </p:grpSp>
      <p:grpSp>
        <p:nvGrpSpPr>
          <p:cNvPr id="73" name="c2-bullets-1"/>
          <p:cNvGrpSpPr/>
          <p:nvPr/>
        </p:nvGrpSpPr>
        <p:grpSpPr>
          <a:xfrm>
            <a:off x="7539038" y="1992630"/>
            <a:ext cx="3253683" cy="2103405"/>
            <a:chOff x="7539038" y="1992630"/>
            <a:chExt cx="3253683" cy="2103405"/>
          </a:xfrm>
        </p:grpSpPr>
        <p:sp>
          <p:nvSpPr>
            <p:cNvPr id="60" name="TextBox 60"/>
            <p:cNvSpPr txBox="1"/>
            <p:nvPr/>
          </p:nvSpPr>
          <p:spPr>
            <a:xfrm>
              <a:off x="7539038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对上四个角色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52372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0488" y="2346960"/>
              <a:ext cx="2400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FunctionButton 是调用者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71810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02130" y="2639854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click() 里只写 command.execute()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52372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10488" y="2949892"/>
              <a:ext cx="1951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Command 是抽象命令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71810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02130" y="32427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这里用接口，比抽象类更常见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52372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10488" y="3552825"/>
              <a:ext cx="2465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Class 结尾的是接收者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718108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02130" y="38466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退出系统和显示帮助两件真正的业务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7546658" y="4235768"/>
            <a:ext cx="4111942" cy="1335405"/>
            <a:chOff x="7546658" y="4235768"/>
            <a:chExt cx="4111942" cy="1335405"/>
          </a:xfrm>
        </p:grpSpPr>
        <p:sp>
          <p:nvSpPr>
            <p:cNvPr id="74" name="Rectangle 74"/>
            <p:cNvSpPr/>
            <p:nvPr/>
          </p:nvSpPr>
          <p:spPr>
            <a:xfrm>
              <a:off x="7546658" y="4235768"/>
              <a:ext cx="411194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56182" y="4369118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94308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85468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95335" y="44805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接口与实现类之间走虚线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86688" y="4841558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实现关系用虚线加空心三角。源课件这张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图画成了实线，讲义按规范改成虚线。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实例二代码：改一行配置就换一种功能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客户端不写死具体命令的类名，而是从配置文件读类名再反射创建。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048633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SystemExitClass {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接收者之一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exit()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"退出系统"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ExitCommand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SystemExitClass seObj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SystemExitClass();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 seObj.exit();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FunctionButton {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调用者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command;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setCommand(Command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.command = c;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click()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"单击功能键："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command.execute();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898005" y="1928812"/>
            <a:ext cx="4760595" cy="1912620"/>
            <a:chOff x="6898005" y="1928812"/>
            <a:chExt cx="4760595" cy="1912620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26402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客户端与配置读取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6402" y="2340769"/>
              <a:ext cx="3295650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FunctionButton fb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FunctionButton();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Command cmd = (Command) XMLUtil.getBean();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fb.setCommand(cmd);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fb.click();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单击功能键：退出系统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XMLUtil 内部的关键两句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Class&lt;?&gt; c = Class.forName(className);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c.getDeclaredConstructor().newInstance();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6898005" y="4010978"/>
            <a:ext cx="4760595" cy="1588770"/>
            <a:chOff x="6898005" y="4010978"/>
            <a:chExt cx="4760595" cy="1588770"/>
          </a:xfrm>
        </p:grpSpPr>
        <p:sp>
          <p:nvSpPr>
            <p:cNvPr id="17" name="Rectangle 17"/>
            <p:cNvSpPr/>
            <p:nvPr/>
          </p:nvSpPr>
          <p:spPr>
            <a:xfrm>
              <a:off x="6898005" y="4010978"/>
              <a:ext cx="4760595" cy="1588770"/>
            </a:xfrm>
            <a:prstGeom prst="roundRect">
              <a:avLst>
                <a:gd name="adj" fmla="val 839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84695" y="41976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76414" y="42305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50289" y="4232910"/>
              <a:ext cx="2902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把配置里的类名换成 HelpCommand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77837" y="4558665"/>
              <a:ext cx="31169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输出变成“单击功能键：显示帮助文档”，</a:t>
              </a:r>
              <a:br/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FunctionButton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的源码一个字不用改。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3" name="Rectangle 2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6028373"/>
              <a:ext cx="8052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Class.newInstance() 自 Java 9 起已废弃，改用 getDeclaredConstructor().newInstance()。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四种扩展：队列、日志、撤销、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宏命令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请求成了对象以后，能做的事比单纯解耦多得多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命令队列与批处理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请求日志与恢复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撤销与多次撤销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宏命令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扩展一：命令队列让一个请求触发一串响应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72703" cy="293370"/>
            <a:chOff x="525780" y="1548765"/>
            <a:chExt cx="867270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727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一个发送者发出请求后，要让多个接收者逐个响应，最灵活的做法是加一个 CommandQueue 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167438" cy="3950970"/>
            <a:chOff x="533400" y="1954530"/>
            <a:chExt cx="6167438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16743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4314190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CommandQueue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用一个 ArrayList 存放命令队列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List&lt;Command&gt; commands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addCommand(Command command)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commands.add(command);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removeCommand(Command command)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commands.remove(command);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循环调用每一个命令对象的 execute()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(Command command : commands)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command.execute();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005638" y="1954530"/>
            <a:ext cx="4652962" cy="2530792"/>
            <a:chOff x="7005638" y="1954530"/>
            <a:chExt cx="4652962" cy="2530792"/>
          </a:xfrm>
        </p:grpSpPr>
        <p:sp>
          <p:nvSpPr>
            <p:cNvPr id="13" name="Rectangle 13"/>
            <p:cNvSpPr/>
            <p:nvPr/>
          </p:nvSpPr>
          <p:spPr>
            <a:xfrm>
              <a:off x="7005638" y="1954530"/>
              <a:ext cx="4652962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4034" y="210645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调用者改为面向队列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3272" y="2368391"/>
              <a:ext cx="3375406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Invoker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CommandQueue queue;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Invoker(CommandQueue q)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.queue = q;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setQueue(CommandQueue q)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.queue = q;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call() { queue.execute();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005638" y="4671060"/>
            <a:ext cx="4652962" cy="1564958"/>
            <a:chOff x="7005638" y="4671060"/>
            <a:chExt cx="4652962" cy="1564958"/>
          </a:xfrm>
        </p:grpSpPr>
        <p:sp>
          <p:nvSpPr>
            <p:cNvPr id="17" name="Rectangle 17"/>
            <p:cNvSpPr/>
            <p:nvPr/>
          </p:nvSpPr>
          <p:spPr>
            <a:xfrm>
              <a:off x="7005638" y="4671060"/>
              <a:ext cx="465296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15162" y="480441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47572" y="48748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38733" y="4910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48981" y="491442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原课件的遍历写法是旧版遗留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0334" y="5265896"/>
              <a:ext cx="405409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课件写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for (Object command : commands)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再强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制转换成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Command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。集合已经声明了泛型，直接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for (Command c : commands)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即可。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命令队列、批处理与宏命令的关系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354762" cy="308039"/>
            <a:chOff x="525399" y="1550194"/>
            <a:chExt cx="535476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3547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三个名字听起来很像，区别在于“这一串命令是谁在管”。</a:t>
              </a:r>
            </a:p>
          </p:txBody>
        </p:sp>
      </p:grpSp>
      <p:grpSp>
        <p:nvGrpSpPr>
          <p:cNvPr id="29" name="c1-table-1"/>
          <p:cNvGrpSpPr/>
          <p:nvPr/>
        </p:nvGrpSpPr>
        <p:grpSpPr>
          <a:xfrm>
            <a:off x="533400" y="1967865"/>
            <a:ext cx="5626418" cy="1795462"/>
            <a:chOff x="533400" y="1967865"/>
            <a:chExt cx="5626418" cy="17954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612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023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容器在哪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66246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对外是什么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命令队列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04263" y="2551271"/>
              <a:ext cx="2058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独立的 CommandQueue 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5020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一个容器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宏命令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4263" y="30008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具体命令类内部的集合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56722" y="2874645"/>
              <a:ext cx="18935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55020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一条命令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494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04263" y="34494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上面两种都可以实现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55020" y="3449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一次调用做一批事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6786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9167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24243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952875"/>
            <a:ext cx="5626418" cy="1988820"/>
            <a:chOff x="533400" y="3952875"/>
            <a:chExt cx="5626418" cy="1988820"/>
          </a:xfrm>
        </p:grpSpPr>
        <p:sp>
          <p:nvSpPr>
            <p:cNvPr id="30" name="Rectangle 30"/>
            <p:cNvSpPr/>
            <p:nvPr/>
          </p:nvSpPr>
          <p:spPr>
            <a:xfrm>
              <a:off x="533400" y="3952875"/>
              <a:ext cx="5626418" cy="1988820"/>
            </a:xfrm>
            <a:prstGeom prst="roundRect">
              <a:avLst>
                <a:gd name="adj" fmla="val 670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2950" y="41624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158" y="4198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3978" y="419766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宏命令自己也是一条命令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330" y="4558665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队列不是命令，不能被装进另一个队列；宏命令是命令，可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以再被放进另一个宏命令里，这正是它和组合模式联用的地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方。</a:t>
              </a:r>
            </a:p>
          </p:txBody>
        </p:sp>
      </p:grpSp>
      <p:grpSp>
        <p:nvGrpSpPr>
          <p:cNvPr id="45" name="c2-bullets-1"/>
          <p:cNvGrpSpPr/>
          <p:nvPr/>
        </p:nvGrpSpPr>
        <p:grpSpPr>
          <a:xfrm>
            <a:off x="6456998" y="1992630"/>
            <a:ext cx="4210025" cy="1499520"/>
            <a:chOff x="6456998" y="1992630"/>
            <a:chExt cx="4210025" cy="1499520"/>
          </a:xfrm>
        </p:grpSpPr>
        <p:sp>
          <p:nvSpPr>
            <p:cNvPr id="36" name="TextBox 36"/>
            <p:cNvSpPr txBox="1"/>
            <p:nvPr/>
          </p:nvSpPr>
          <p:spPr>
            <a:xfrm>
              <a:off x="6456998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课件补充的两点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70333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28448" y="23469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命令队列和批处理很像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3606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20091" y="263985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一个发送者发出请求，一系列接收者依次响应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0333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28448" y="29498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次序不敏感时可以并发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3606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20091" y="3242786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用多线程同时调用各命令的 execute()，提高效率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3632835"/>
            <a:ext cx="5193982" cy="782955"/>
            <a:chOff x="6464618" y="3632835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363283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57347" y="3920608"/>
              <a:ext cx="224134" cy="192560"/>
              <a:chOff x="6657347" y="3920608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9418" y="39909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7347" y="39206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69418" y="4068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378142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并发执行的前提是各接收者之间没有先后依赖，有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依赖仍须串行。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464618" y="4606290"/>
            <a:ext cx="5193982" cy="1335405"/>
            <a:chOff x="6464618" y="4606290"/>
            <a:chExt cx="5193982" cy="1335405"/>
          </a:xfrm>
        </p:grpSpPr>
        <p:sp>
          <p:nvSpPr>
            <p:cNvPr id="53" name="Rectangle 53"/>
            <p:cNvSpPr/>
            <p:nvPr/>
          </p:nvSpPr>
          <p:spPr>
            <a:xfrm>
              <a:off x="6464618" y="460629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473964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12268" y="48158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3428" y="48515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13295" y="485108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线程池里的任务队列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4648" y="5212080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ExecutorService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收下的每个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Runnable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就是一个命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令对象，线程池内部的阻塞队列就是命令队列。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扩展二：请求日志把命令存进文件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87484" cy="308039"/>
            <a:chOff x="525399" y="1550194"/>
            <a:chExt cx="95874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874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课件的例子是一个配置文件编辑窗口，对配置文件的每次增删改都记进日志，重建时把日志重放一遍。</a:t>
              </a:r>
            </a:p>
          </p:txBody>
        </p:sp>
      </p:grpSp>
      <p:grpSp>
        <p:nvGrpSpPr>
          <p:cNvPr id="39" name="c1-flow-1"/>
          <p:cNvGrpSpPr/>
          <p:nvPr/>
        </p:nvGrpSpPr>
        <p:grpSpPr>
          <a:xfrm>
            <a:off x="669608" y="2481262"/>
            <a:ext cx="5571172" cy="3368040"/>
            <a:chOff x="669608" y="2481262"/>
            <a:chExt cx="5571172" cy="3368040"/>
          </a:xfrm>
        </p:grpSpPr>
        <p:sp>
          <p:nvSpPr>
            <p:cNvPr id="9" name="Freeform 9"/>
            <p:cNvSpPr/>
            <p:nvPr/>
          </p:nvSpPr>
          <p:spPr>
            <a:xfrm>
              <a:off x="2345055" y="2700338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12695" y="2647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91965" y="2700338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60558" y="2647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54718" y="2919412"/>
              <a:ext cx="9525" cy="922020"/>
            </a:xfrm>
            <a:custGeom>
              <a:avLst/>
              <a:gdLst/>
              <a:ahLst/>
              <a:cxnLst/>
              <a:rect l="l" t="t" r="r" b="b"/>
              <a:pathLst>
                <a:path w="9525" h="922020">
                  <a:moveTo>
                    <a:pt x="0" y="0"/>
                  </a:moveTo>
                  <a:lnTo>
                    <a:pt x="0" y="922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02330" y="3841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54718" y="4384358"/>
              <a:ext cx="9525" cy="922020"/>
            </a:xfrm>
            <a:custGeom>
              <a:avLst/>
              <a:gdLst/>
              <a:ahLst/>
              <a:cxnLst/>
              <a:rect l="l" t="t" r="r" b="b"/>
              <a:pathLst>
                <a:path w="9525" h="922020">
                  <a:moveTo>
                    <a:pt x="0" y="0"/>
                  </a:moveTo>
                  <a:lnTo>
                    <a:pt x="0" y="922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02330" y="53063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83920" y="4165282"/>
              <a:ext cx="1733550" cy="1464945"/>
            </a:xfrm>
            <a:custGeom>
              <a:avLst/>
              <a:gdLst/>
              <a:ahLst/>
              <a:cxnLst/>
              <a:rect l="l" t="t" r="r" b="b"/>
              <a:pathLst>
                <a:path w="1733550" h="1464945">
                  <a:moveTo>
                    <a:pt x="1733550" y="1464945"/>
                  </a:moveTo>
                  <a:lnTo>
                    <a:pt x="1524000" y="1464945"/>
                  </a:lnTo>
                  <a:lnTo>
                    <a:pt x="0" y="1464945"/>
                  </a:lnTo>
                  <a:lnTo>
                    <a:pt x="0" y="0"/>
                  </a:lnTo>
                  <a:lnTo>
                    <a:pt x="1524000" y="0"/>
                  </a:lnTo>
                  <a:lnTo>
                    <a:pt x="1628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12695" y="41128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9608" y="2481262"/>
              <a:ext cx="1675448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17470" y="2481262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65332" y="2481262"/>
              <a:ext cx="1675448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17470" y="394620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617470" y="5411152"/>
              <a:ext cx="1674495" cy="438150"/>
            </a:xfrm>
            <a:custGeom>
              <a:avLst/>
              <a:gdLst/>
              <a:ahLst/>
              <a:cxnLst/>
              <a:rect l="l" t="t" r="r" b="b"/>
              <a:pathLst>
                <a:path w="1674495" h="438150">
                  <a:moveTo>
                    <a:pt x="133350" y="0"/>
                  </a:moveTo>
                  <a:lnTo>
                    <a:pt x="1674495" y="0"/>
                  </a:lnTo>
                  <a:lnTo>
                    <a:pt x="154114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EEAF7"/>
            </a:solidFill>
            <a:ln w="13335">
              <a:solidFill>
                <a:srgbClr val="5B3FA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55751" y="26112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31300" y="26112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51476" y="26112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31300" y="40762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命令历史集合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7456" y="55411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config.log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20290" y="2484120"/>
              <a:ext cx="32194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55780" y="2510790"/>
              <a:ext cx="250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48150" y="248412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82440" y="25107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83292" y="334041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06534" y="33670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记一条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83292" y="4805362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06534" y="483203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save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42072" y="5414010"/>
              <a:ext cx="60864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68485" y="544068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recover</a:t>
              </a:r>
            </a:p>
          </p:txBody>
        </p:sp>
      </p:grpSp>
      <p:grpSp>
        <p:nvGrpSpPr>
          <p:cNvPr id="49" name="c2-bullets-1"/>
          <p:cNvGrpSpPr/>
          <p:nvPr/>
        </p:nvGrpSpPr>
        <p:grpSpPr>
          <a:xfrm>
            <a:off x="6673215" y="1992630"/>
            <a:ext cx="3393008" cy="1499520"/>
            <a:chOff x="6673215" y="1992630"/>
            <a:chExt cx="3393008" cy="1499520"/>
          </a:xfrm>
        </p:grpSpPr>
        <p:sp>
          <p:nvSpPr>
            <p:cNvPr id="40" name="TextBox 40"/>
            <p:cNvSpPr txBox="1"/>
            <p:nvPr/>
          </p:nvSpPr>
          <p:spPr>
            <a:xfrm>
              <a:off x="6673215" y="199263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日志文件派得上的两个用场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680835" y="2378392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32295" y="23469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故障后恢复到某个状态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39915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23938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记下每一步操作，重放到出错前那一刻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680835" y="2981325"/>
              <a:ext cx="144780" cy="116205"/>
            </a:xfrm>
            <a:custGeom>
              <a:avLst/>
              <a:gdLst/>
              <a:ahLst/>
              <a:cxnLst/>
              <a:rect l="l" t="t" r="r" b="b"/>
              <a:pathLst>
                <a:path w="144780" h="116205">
                  <a:moveTo>
                    <a:pt x="0" y="61912"/>
                  </a:moveTo>
                  <a:lnTo>
                    <a:pt x="55245" y="116205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32295" y="29498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断电重启后接着执行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39915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23938" y="324278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执行一条删一条，剩下的读回来继续跑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3632835"/>
            <a:ext cx="4977765" cy="1906905"/>
            <a:chOff x="6680835" y="3632835"/>
            <a:chExt cx="4977765" cy="1906905"/>
          </a:xfrm>
        </p:grpSpPr>
        <p:sp>
          <p:nvSpPr>
            <p:cNvPr id="50" name="Rectangle 50"/>
            <p:cNvSpPr/>
            <p:nvPr/>
          </p:nvSpPr>
          <p:spPr>
            <a:xfrm>
              <a:off x="6680835" y="3632835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0385" y="38423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81546" y="38781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1412" y="387762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命令类必须可序列化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2765" y="4238625"/>
              <a:ext cx="4320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命令对象要写进文件，抽象命令类就得实现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Serializable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。它持有的接收者字段也要能序列化，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所以课件类图里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ConfigOperator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也连了一条虚线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到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Serializable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请求日志代码：记一条、存盘、重放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356784" cy="264033"/>
            <a:chOff x="526542" y="1545907"/>
            <a:chExt cx="53567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56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窗口类多了一个 commands 集合，每执行一条命令就往里加一条。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4198620"/>
            <a:chOff x="533400" y="1928812"/>
            <a:chExt cx="5951220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980180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Serializable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ConfigOperator configOperator;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execute(String args);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ConfigSettingWindow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List&lt;Command&gt; commands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command;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call(String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command.execute(args);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commands.add(command);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执行一条记一条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save() { FileUtil.write(commands);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recover()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(Command c : FileUtil.read()) { c.execute();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789420" y="1928812"/>
            <a:ext cx="4869180" cy="1384935"/>
            <a:chOff x="6789420" y="1928812"/>
            <a:chExt cx="4869180" cy="1384935"/>
          </a:xfrm>
        </p:grpSpPr>
        <p:sp>
          <p:nvSpPr>
            <p:cNvPr id="13" name="Rectangle 13"/>
            <p:cNvSpPr/>
            <p:nvPr/>
          </p:nvSpPr>
          <p:spPr>
            <a:xfrm>
              <a:off x="6789420" y="1928812"/>
              <a:ext cx="486918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781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对象流读写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7817" y="2340769"/>
              <a:ext cx="3021838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ObjectOutputStream out =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FileOutputStream(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"config.log"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out.writeObject(commands);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out.close();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789420" y="3484245"/>
            <a:ext cx="4869180" cy="1459230"/>
            <a:chOff x="6789420" y="3484245"/>
            <a:chExt cx="4869180" cy="1459230"/>
          </a:xfrm>
        </p:grpSpPr>
        <p:sp>
          <p:nvSpPr>
            <p:cNvPr id="17" name="Rectangle 17"/>
            <p:cNvSpPr/>
            <p:nvPr/>
          </p:nvSpPr>
          <p:spPr>
            <a:xfrm>
              <a:off x="6789420" y="3484245"/>
              <a:ext cx="486918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361759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14210" y="36709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06882" y="3703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9804" y="3705225"/>
              <a:ext cx="2163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execute() 不是重复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07352" y="4031932"/>
              <a:ext cx="42656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execute(String args)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用于用户当场操作，参数由界面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传入并存进命令对象；无参的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用于重放，参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数取自命令对象自己记下的那份。</a:t>
              </a:r>
            </a:p>
          </p:txBody>
        </p:sp>
      </p:grpSp>
      <p:grpSp>
        <p:nvGrpSpPr>
          <p:cNvPr id="30" name="c2-callout-3"/>
          <p:cNvGrpSpPr/>
          <p:nvPr/>
        </p:nvGrpSpPr>
        <p:grpSpPr>
          <a:xfrm>
            <a:off x="6789420" y="5113020"/>
            <a:ext cx="4869180" cy="1013460"/>
            <a:chOff x="6789420" y="5113020"/>
            <a:chExt cx="4869180" cy="1013460"/>
          </a:xfrm>
        </p:grpSpPr>
        <p:sp>
          <p:nvSpPr>
            <p:cNvPr id="24" name="Rectangle 24"/>
            <p:cNvSpPr/>
            <p:nvPr/>
          </p:nvSpPr>
          <p:spPr>
            <a:xfrm>
              <a:off x="6789420" y="5113020"/>
              <a:ext cx="4869180" cy="1013460"/>
            </a:xfrm>
            <a:prstGeom prst="roundRect">
              <a:avLst>
                <a:gd name="adj" fmla="val 112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994208" y="5520690"/>
              <a:ext cx="200026" cy="200025"/>
              <a:chOff x="6994208" y="552069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94208" y="5520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33946" y="5565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068662" y="5676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296912" y="552640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重放时不再弹界面，读到什么命令就执行什么命令。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扩展三：撤销靠在命令里加一个逆操作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课件的例子是一个简易计算器，能做加法，也能把刚才那一次加法撤销掉。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783908" y="2528888"/>
            <a:ext cx="4557712" cy="3190875"/>
            <a:chOff x="783908" y="2528888"/>
            <a:chExt cx="4557712" cy="3190875"/>
          </a:xfrm>
        </p:grpSpPr>
        <p:sp>
          <p:nvSpPr>
            <p:cNvPr id="9" name="Freeform 9"/>
            <p:cNvSpPr/>
            <p:nvPr/>
          </p:nvSpPr>
          <p:spPr>
            <a:xfrm>
              <a:off x="2151698" y="3066098"/>
              <a:ext cx="1868805" cy="9525"/>
            </a:xfrm>
            <a:custGeom>
              <a:avLst/>
              <a:gdLst/>
              <a:ahLst/>
              <a:cxnLst/>
              <a:rect l="l" t="t" r="r" b="b"/>
              <a:pathLst>
                <a:path w="1868805" h="9525">
                  <a:moveTo>
                    <a:pt x="186880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42148" y="300894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681538" y="3567112"/>
              <a:ext cx="9525" cy="1240155"/>
            </a:xfrm>
            <a:custGeom>
              <a:avLst/>
              <a:gdLst/>
              <a:ahLst/>
              <a:cxnLst/>
              <a:rect l="l" t="t" r="r" b="b"/>
              <a:pathLst>
                <a:path w="9525" h="1240155">
                  <a:moveTo>
                    <a:pt x="0" y="12401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08195" y="34413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34528" y="5263515"/>
              <a:ext cx="2130742" cy="9525"/>
            </a:xfrm>
            <a:custGeom>
              <a:avLst/>
              <a:gdLst/>
              <a:ahLst/>
              <a:cxnLst/>
              <a:rect l="l" t="t" r="r" b="b"/>
              <a:pathLst>
                <a:path w="2130742" h="9525">
                  <a:moveTo>
                    <a:pt x="213074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34528" y="520636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3908" y="2528888"/>
              <a:ext cx="1157288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1528" y="2535555"/>
              <a:ext cx="114300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3908" y="2759392"/>
              <a:ext cx="11572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3908" y="3016568"/>
              <a:ext cx="115728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20502" y="2690812"/>
              <a:ext cx="1321118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8122" y="2698432"/>
              <a:ext cx="1306830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20502" y="2921318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20502" y="3016568"/>
              <a:ext cx="1321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91528" y="497014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98195" y="497681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91528" y="52006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91528" y="52959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65270" y="4807268"/>
              <a:ext cx="1232535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71938" y="4814888"/>
              <a:ext cx="12182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65270" y="5037772"/>
              <a:ext cx="12325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65270" y="5295900"/>
              <a:ext cx="12325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1391" y="2584609"/>
              <a:ext cx="10432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CalculatorForm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5345" y="2828925"/>
              <a:ext cx="627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command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5345" y="3086100"/>
              <a:ext cx="90678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setCommand()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compute(int)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undo()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72947" y="2746534"/>
              <a:ext cx="1217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AbstractCommand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91940" y="3086100"/>
              <a:ext cx="10896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execute(int): int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undo(): int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65448" y="5025866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Adder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965" y="5365432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add(int): int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3313" y="4862989"/>
              <a:ext cx="83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AddCommand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36708" y="510730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36708" y="5365432"/>
              <a:ext cx="10896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execute(int): int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undo(): int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768918" y="5047298"/>
              <a:ext cx="46196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99731" y="507396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adder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5815965" y="1967865"/>
            <a:ext cx="5842635" cy="3342322"/>
            <a:chOff x="5815965" y="1967865"/>
            <a:chExt cx="5842635" cy="3342322"/>
          </a:xfrm>
        </p:grpSpPr>
        <p:sp>
          <p:nvSpPr>
            <p:cNvPr id="44" name="Rectangle 44"/>
            <p:cNvSpPr/>
            <p:nvPr/>
          </p:nvSpPr>
          <p:spPr>
            <a:xfrm>
              <a:off x="5815965" y="1967865"/>
              <a:ext cx="584263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44362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43600" y="2381726"/>
              <a:ext cx="462711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 {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接收者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value) { num += value;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AddCommand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 adder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记住这次加了多少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.value = value;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adder.add(value);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undo()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adder.add(-value);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815965" y="5500688"/>
            <a:ext cx="5842635" cy="533400"/>
            <a:chOff x="5815965" y="5500688"/>
            <a:chExt cx="5842635" cy="533400"/>
          </a:xfrm>
        </p:grpSpPr>
        <p:sp>
          <p:nvSpPr>
            <p:cNvPr id="48" name="Rectangle 48"/>
            <p:cNvSpPr/>
            <p:nvPr/>
          </p:nvSpPr>
          <p:spPr>
            <a:xfrm>
              <a:off x="5815965" y="5500688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020753" y="5667377"/>
              <a:ext cx="200023" cy="200023"/>
              <a:chOff x="6020753" y="566737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020753" y="56673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154103" y="573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322695" y="5662612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撤销加法就是加一个相反数，这就是所谓的逆操作。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从一次撤销到多次撤销：把参数压进栈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73797" cy="264033"/>
            <a:chOff x="526542" y="1545907"/>
            <a:chExt cx="79737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73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课件的写法只记住最后一次的 value，所以只能撤销一次。要连续撤销，得把每次的参数都留下来。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967990"/>
            <a:chOff x="533400" y="1928812"/>
            <a:chExt cx="5410200" cy="29679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843274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AbstractCommand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 adder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Deque&lt;Integer&gt; history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ArrayDeque&lt;&gt;();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history.push(value);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参数入栈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adder.add(value);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undo()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(history.isEmpty())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adder.add(0);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没有可撤销的操作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adder.add(-history.pop());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5066348"/>
            <a:ext cx="5410200" cy="1292542"/>
            <a:chOff x="533400" y="5066348"/>
            <a:chExt cx="5410200" cy="1292542"/>
          </a:xfrm>
        </p:grpSpPr>
        <p:sp>
          <p:nvSpPr>
            <p:cNvPr id="13" name="Rectangle 13"/>
            <p:cNvSpPr/>
            <p:nvPr/>
          </p:nvSpPr>
          <p:spPr>
            <a:xfrm>
              <a:off x="533400" y="5066348"/>
              <a:ext cx="5410200" cy="1292542"/>
            </a:xfrm>
            <a:prstGeom prst="roundRect">
              <a:avLst>
                <a:gd name="adj" fmla="val 103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199698"/>
              <a:ext cx="47625" cy="10258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253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759" y="5285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再进一步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3340" y="52882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重做怎么加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61403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撤销时把弹出的参数压进另一个栈，重做就从那个栈里弹一个再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执行一次。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8400" y="1928812"/>
            <a:ext cx="5410200" cy="2800350"/>
            <a:chOff x="6248400" y="1928812"/>
            <a:chExt cx="5410200" cy="280035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7395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2133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栈内容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3980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累加结果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45555" y="2450306"/>
              <a:ext cx="100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compute(10)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9635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32695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5555" y="2850356"/>
              <a:ext cx="913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compute(5)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9635" y="28503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32695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5555" y="3250406"/>
              <a:ext cx="100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compute(10)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9635" y="32504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10, 5, 10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32695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5555" y="36504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635" y="36504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45065" y="3538538"/>
              <a:ext cx="160401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32695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5555" y="405050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9635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32695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3243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43291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5555" y="44505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09635" y="4450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045065" y="4338638"/>
              <a:ext cx="16040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132695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1928812"/>
              <a:ext cx="5410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0771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3077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248400" y="4898708"/>
            <a:ext cx="5410200" cy="1459230"/>
            <a:chOff x="6248400" y="4898708"/>
            <a:chExt cx="5410200" cy="1459230"/>
          </a:xfrm>
        </p:grpSpPr>
        <p:sp>
          <p:nvSpPr>
            <p:cNvPr id="56" name="Rectangle 56"/>
            <p:cNvSpPr/>
            <p:nvPr/>
          </p:nvSpPr>
          <p:spPr>
            <a:xfrm>
              <a:off x="6248400" y="4898708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503205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3190" y="50853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7759" y="51182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另一条路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88339" y="51206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保存状态而不是逆操作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6332" y="544639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有些操作没有现成的逆操作，比如把一段文字全部替换。这时改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用备忘录模式保存操作前的状态，撤销就是把状态整个恢复回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去。备忘录见第 35 讲。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四种扩展：队列、日志、撤销、宏命令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扩展四：宏命令是命令模式与组合模式的产物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10367" cy="264033"/>
            <a:chOff x="526542" y="1545907"/>
            <a:chExt cx="75103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1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宏命令自己也是一个具体命令，但它持有一组命令，执行时递归调用每个成员的 execute()。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638175" y="2258378"/>
            <a:ext cx="5229225" cy="2868930"/>
            <a:chOff x="638175" y="2258378"/>
            <a:chExt cx="5229225" cy="2868930"/>
          </a:xfrm>
        </p:grpSpPr>
        <p:sp>
          <p:nvSpPr>
            <p:cNvPr id="9" name="Freeform 9"/>
            <p:cNvSpPr/>
            <p:nvPr/>
          </p:nvSpPr>
          <p:spPr>
            <a:xfrm>
              <a:off x="1990725" y="2877502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13525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81175" y="281940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62225" y="3355658"/>
              <a:ext cx="1257300" cy="1141095"/>
            </a:xfrm>
            <a:custGeom>
              <a:avLst/>
              <a:gdLst/>
              <a:ahLst/>
              <a:cxnLst/>
              <a:rect l="l" t="t" r="r" b="b"/>
              <a:pathLst>
                <a:path w="1257300" h="1141095">
                  <a:moveTo>
                    <a:pt x="0" y="1141095"/>
                  </a:moveTo>
                  <a:lnTo>
                    <a:pt x="0" y="507683"/>
                  </a:lnTo>
                  <a:lnTo>
                    <a:pt x="1257300" y="507683"/>
                  </a:lnTo>
                  <a:lnTo>
                    <a:pt x="1257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6182" y="32299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010025" y="3355658"/>
              <a:ext cx="1352550" cy="1066800"/>
            </a:xfrm>
            <a:custGeom>
              <a:avLst/>
              <a:gdLst/>
              <a:ahLst/>
              <a:cxnLst/>
              <a:rect l="l" t="t" r="r" b="b"/>
              <a:pathLst>
                <a:path w="1352550" h="1066800">
                  <a:moveTo>
                    <a:pt x="1352550" y="1066800"/>
                  </a:moveTo>
                  <a:lnTo>
                    <a:pt x="1352550" y="470535"/>
                  </a:lnTo>
                  <a:lnTo>
                    <a:pt x="0" y="47053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36682" y="32299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14775" y="2258378"/>
              <a:ext cx="1257300" cy="1954530"/>
            </a:xfrm>
            <a:custGeom>
              <a:avLst/>
              <a:gdLst/>
              <a:ahLst/>
              <a:cxnLst/>
              <a:rect l="l" t="t" r="r" b="b"/>
              <a:pathLst>
                <a:path w="1257300" h="1954530">
                  <a:moveTo>
                    <a:pt x="0" y="266700"/>
                  </a:moveTo>
                  <a:lnTo>
                    <a:pt x="0" y="0"/>
                  </a:lnTo>
                  <a:lnTo>
                    <a:pt x="1257300" y="0"/>
                  </a:lnTo>
                  <a:lnTo>
                    <a:pt x="1257300" y="195453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14925" y="4212908"/>
              <a:ext cx="114300" cy="209550"/>
            </a:xfrm>
            <a:custGeom>
              <a:avLst/>
              <a:gdLst/>
              <a:ahLst/>
              <a:cxnLst/>
              <a:rect l="l" t="t" r="r" b="b"/>
              <a:pathLst>
                <a:path w="114300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8175" y="267366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5795" y="26803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" y="28860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8175" y="29813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43275" y="252507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50895" y="2531745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43275" y="27374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43275" y="28327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62150" y="4496752"/>
              <a:ext cx="120015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69770" y="4503420"/>
              <a:ext cx="118586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62150" y="470916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62150" y="480441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67250" y="4422458"/>
              <a:ext cx="120015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74870" y="4429125"/>
              <a:ext cx="118586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67250" y="4634865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67250" y="4878705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072" y="2725102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Invoker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7493" y="2576512"/>
              <a:ext cx="554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Command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14712" y="2900839"/>
              <a:ext cx="827024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addCommand()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66059" y="4548188"/>
              <a:ext cx="11923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ConcreteCommandA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33588" y="487251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76432" y="4473892"/>
              <a:ext cx="11817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CompositeCommand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38688" y="4702969"/>
              <a:ext cx="633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commands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8688" y="494680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execute()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00650" y="3261360"/>
              <a:ext cx="3467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24462" y="328422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248400" y="1928812"/>
            <a:ext cx="5410200" cy="2440305"/>
            <a:chOff x="6248400" y="1928812"/>
            <a:chExt cx="5410200" cy="2440305"/>
          </a:xfrm>
        </p:grpSpPr>
        <p:sp>
          <p:nvSpPr>
            <p:cNvPr id="44" name="Rectangle 44"/>
            <p:cNvSpPr/>
            <p:nvPr/>
          </p:nvSpPr>
          <p:spPr>
            <a:xfrm>
              <a:off x="6248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797" y="2340769"/>
              <a:ext cx="3980180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List&lt;Command&gt; commands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addCommand(Command c) { commands.add(c);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execute() {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递归执行每个成员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(Command command : commands)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command.execute();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533900"/>
            <a:ext cx="5410200" cy="1160145"/>
            <a:chOff x="6248400" y="4533900"/>
            <a:chExt cx="5410200" cy="1160145"/>
          </a:xfrm>
        </p:grpSpPr>
        <p:sp>
          <p:nvSpPr>
            <p:cNvPr id="48" name="Rectangle 48"/>
            <p:cNvSpPr/>
            <p:nvPr/>
          </p:nvSpPr>
          <p:spPr>
            <a:xfrm>
              <a:off x="6248400" y="45339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29375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2047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95351" y="47544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成员可以还是宏命令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2898" y="507063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成员既可以是简单命令，也可以还是宏命令，一次调用能触发整棵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命令树。组合模式见第 22 讲。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9601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课件把 addCommand() 声明在抽象命令类里，简单命令继承到这个方法却无法实现，这是组合模式的透明式写法带来的代价。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效果、适用环境与工程中的应用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优点集中在解耦和动态控制，缺点只有一条但很实在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一条缺点与适用环境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工程中的三处应用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优点：解耦之外还多了动态控制的余地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830193" cy="264033"/>
            <a:chOff x="526542" y="1545907"/>
            <a:chExt cx="383019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课件列了四条，前两条讲结构，后两条讲能力。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923" y="1949291"/>
            <a:ext cx="5416677" cy="2330577"/>
            <a:chOff x="526923" y="1949291"/>
            <a:chExt cx="5416677" cy="233057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更松散的耦合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5180" y="194929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请求者与接收者完全解耦，同一个请求者可对应不同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接收者，同一个接收者也可供不同请求者使用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更动态的控制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5180" y="256365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请求被封装起来，可以对它做参数化、队列化、日志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化等操作，系统更灵活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9883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更容易组合命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5180" y="317706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很容易设计出一个命令队列或者宏命令，一条调用就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能触发一串操作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890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37904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更好的扩展性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5180" y="379047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新命令加进来不用修改原有代码，连客户类也不用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改，满足开闭原则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94835"/>
            <a:ext cx="5410200" cy="1160145"/>
            <a:chOff x="533400" y="4394835"/>
            <a:chExt cx="5410200" cy="1160145"/>
          </a:xfrm>
        </p:grpSpPr>
        <p:sp>
          <p:nvSpPr>
            <p:cNvPr id="21" name="Rectangle 21"/>
            <p:cNvSpPr/>
            <p:nvPr/>
          </p:nvSpPr>
          <p:spPr>
            <a:xfrm>
              <a:off x="533400" y="439483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281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5758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6086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落到实处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6153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换一个接收者要改几个地方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93156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没有命令模式时，调用者里凡是出现接收者类型的地方都要改一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遍。用了命令模式，只改客户端装配那一行。</a:t>
              </a:r>
            </a:p>
          </p:txBody>
        </p:sp>
      </p:grpSp>
      <p:grpSp>
        <p:nvGrpSpPr>
          <p:cNvPr id="52" name="c2-compare-1"/>
          <p:cNvGrpSpPr/>
          <p:nvPr/>
        </p:nvGrpSpPr>
        <p:grpSpPr>
          <a:xfrm>
            <a:off x="6248400" y="1928812"/>
            <a:ext cx="5410200" cy="1738312"/>
            <a:chOff x="6248400" y="1928812"/>
            <a:chExt cx="5410200" cy="1738312"/>
          </a:xfrm>
        </p:grpSpPr>
        <p:sp>
          <p:nvSpPr>
            <p:cNvPr id="28" name="Rectangle 28"/>
            <p:cNvSpPr/>
            <p:nvPr/>
          </p:nvSpPr>
          <p:spPr>
            <a:xfrm>
              <a:off x="6248400" y="1928812"/>
              <a:ext cx="2476500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62162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60998" y="21302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没有命令模式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770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32448" y="243220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调用者持有接收者的引用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7700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32448" y="27170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换接收者要改调用者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32448" y="30018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请求无法存起来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77000" y="333946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2448" y="32866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撤销要在业务类里自己写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82100" y="1928812"/>
              <a:ext cx="2476500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91625" y="2062162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4698" y="21302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用了命令模式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107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66148" y="24322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调用者只持有抽象命令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1070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66148" y="27170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换接收者只换命令对象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1070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66148" y="30018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请求可以进集合进文件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410700" y="333946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66148" y="32866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撤销集中在命令类里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772525" y="261651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27580" y="27422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解耦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831908"/>
            <a:ext cx="5410200" cy="1723072"/>
            <a:chOff x="6248400" y="3831908"/>
            <a:chExt cx="5410200" cy="1723072"/>
          </a:xfrm>
        </p:grpSpPr>
        <p:sp>
          <p:nvSpPr>
            <p:cNvPr id="53" name="Rectangle 53"/>
            <p:cNvSpPr/>
            <p:nvPr/>
          </p:nvSpPr>
          <p:spPr>
            <a:xfrm>
              <a:off x="6248400" y="3831908"/>
              <a:ext cx="5410200" cy="1723072"/>
            </a:xfrm>
            <a:prstGeom prst="roundRect">
              <a:avLst>
                <a:gd name="adj" fmla="val 7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3965258"/>
              <a:ext cx="47625" cy="1456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7475" y="40128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0147" y="40457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33451" y="405241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这四条优点都建立在多一层间接上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0998" y="4368641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请求多走了一次转发，类也多了一层。系统小、接收者固定的时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候，这层间接换不回相应的好处。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5733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四条优点里，前两条来自“发送与执行分离”，后两条来自“请求成了对象”。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36176" cy="909257"/>
            <a:chOff x="520446" y="342900"/>
            <a:chExt cx="2936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13932" cy="278702"/>
            <a:chOff x="526161" y="1547336"/>
            <a:chExt cx="65139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缺点只有一条：具体命令类会变多。判断该不该用，看下面五条里中了几条。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4760595" cy="1226820"/>
            <a:chOff x="533400" y="1941195"/>
            <a:chExt cx="4760595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具体命令类可能过多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针对每一个对接收者的调用操作都要设计一个具体命令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类。接收者的操作一多，命令类就跟着成片出现。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343275"/>
            <a:ext cx="4760595" cy="2942272"/>
            <a:chOff x="533400" y="3343275"/>
            <a:chExt cx="4760595" cy="2942272"/>
          </a:xfrm>
        </p:grpSpPr>
        <p:sp>
          <p:nvSpPr>
            <p:cNvPr id="16" name="Rectangle 16"/>
            <p:cNvSpPr/>
            <p:nvPr/>
          </p:nvSpPr>
          <p:spPr>
            <a:xfrm>
              <a:off x="533400" y="3343275"/>
              <a:ext cx="4760595" cy="2942272"/>
            </a:xfrm>
            <a:prstGeom prst="roundRect">
              <a:avLst>
                <a:gd name="adj" fmla="val 45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76625"/>
              <a:ext cx="47625" cy="267557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5356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5345" y="3569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缓解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47597" y="357568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三种常见做法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39662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391001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一个命令类带参数，用参数区分同一类操作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2681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2119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用宏命令把常用组合打包，减少组合爆炸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457104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514850"/>
              <a:ext cx="3673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简单场景直接用 Lambda 表达式实现命令接口</a:t>
              </a:r>
            </a:p>
          </p:txBody>
        </p:sp>
      </p:grpSp>
      <p:grpSp>
        <p:nvGrpSpPr>
          <p:cNvPr id="49" name="c2-bullets-1"/>
          <p:cNvGrpSpPr/>
          <p:nvPr/>
        </p:nvGrpSpPr>
        <p:grpSpPr>
          <a:xfrm>
            <a:off x="5591937" y="1964055"/>
            <a:ext cx="3347085" cy="2964657"/>
            <a:chOff x="5591937" y="1964055"/>
            <a:chExt cx="3347085" cy="2964657"/>
          </a:xfrm>
        </p:grpSpPr>
        <p:sp>
          <p:nvSpPr>
            <p:cNvPr id="28" name="TextBox 28"/>
            <p:cNvSpPr txBox="1"/>
            <p:nvPr/>
          </p:nvSpPr>
          <p:spPr>
            <a:xfrm>
              <a:off x="5591937" y="19640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适用环境（课件五条）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598795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35777" y="22840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需要抽象出待执行的动作并参数化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42635" y="261080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27420" y="254746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把动作做成命令，再实现命令的参数化配置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598795" y="285273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35777" y="282416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需要在不同时刻指定、排列和执行请求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42635" y="315087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7420" y="308752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把请求封装成命令对象，实现请求队列化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598795" y="339280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35777" y="336423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需要支持取消操作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42635" y="369189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27420" y="362854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管理命令对象，很容易实现恢复和重做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598795" y="39328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35777" y="39042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需要在系统崩溃后重新执行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42635" y="423195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7420" y="416861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实现日志命令，恢复后读日志重放一遍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98795" y="447294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35777" y="444436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需要对事务建模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42635" y="47720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27420" y="470868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正向遍历执行，出异常改为反向遍历回滚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598795" y="5059680"/>
            <a:ext cx="6059805" cy="1226820"/>
            <a:chOff x="5598795" y="5059680"/>
            <a:chExt cx="6059805" cy="1226820"/>
          </a:xfrm>
        </p:grpSpPr>
        <p:sp>
          <p:nvSpPr>
            <p:cNvPr id="50" name="Rectangle 50"/>
            <p:cNvSpPr/>
            <p:nvPr/>
          </p:nvSpPr>
          <p:spPr>
            <a:xfrm>
              <a:off x="5598795" y="5059680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08320" y="519303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29300" y="525208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12739" y="52863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9692" y="529113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22442" y="5625465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调用者本来就该知道接收者、请求又不需要留存时，加一层命令只会多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出一堆类。界面按钮直接调一个业务方法反而清楚。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36176" cy="909257"/>
            <a:chOff x="520446" y="342900"/>
            <a:chExt cx="2936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工程中的命令模式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269994" cy="308039"/>
            <a:chOff x="525399" y="1550194"/>
            <a:chExt cx="42699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课件给了两处，这里再补两处日常能遇到的。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5780" y="1992630"/>
            <a:ext cx="5634038" cy="1579245"/>
            <a:chOff x="525780" y="1992630"/>
            <a:chExt cx="5634038" cy="157924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47637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AWT/Swing 事件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13610" y="1992630"/>
              <a:ext cx="37204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委派事件模型（DEM）。Button 等组件是请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求发送者，事件监听器接口是抽象命令，自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己写的监听器类是具体命令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765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996565"/>
              <a:ext cx="1167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Shell 宏命令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13610" y="299656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把多条命令封装进一个脚本，敲一条命令就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执行一个命令序列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03320"/>
            <a:ext cx="5626418" cy="2174558"/>
            <a:chOff x="533400" y="3703320"/>
            <a:chExt cx="5626418" cy="2174558"/>
          </a:xfrm>
        </p:grpSpPr>
        <p:sp>
          <p:nvSpPr>
            <p:cNvPr id="15" name="Rectangle 15"/>
            <p:cNvSpPr/>
            <p:nvPr/>
          </p:nvSpPr>
          <p:spPr>
            <a:xfrm>
              <a:off x="533400" y="3703320"/>
              <a:ext cx="5626418" cy="2174558"/>
            </a:xfrm>
            <a:prstGeom prst="roundRect">
              <a:avLst>
                <a:gd name="adj" fmla="val 6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36670"/>
              <a:ext cx="47625" cy="1907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9128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9485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94811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两处课件没提的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3719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30911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Runnable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就是一个命令接口，线程池的任务队列就是命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令队列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9930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93014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数据库的重做日志按命令顺序重放，思路与请求日志一致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6464618" y="1967865"/>
            <a:ext cx="5193982" cy="2936558"/>
            <a:chOff x="6464618" y="1967865"/>
            <a:chExt cx="5193982" cy="2936558"/>
          </a:xfrm>
        </p:grpSpPr>
        <p:sp>
          <p:nvSpPr>
            <p:cNvPr id="25" name="Rectangle 25"/>
            <p:cNvSpPr/>
            <p:nvPr/>
          </p:nvSpPr>
          <p:spPr>
            <a:xfrm>
              <a:off x="6464618" y="1967865"/>
              <a:ext cx="519398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3015" y="2119789"/>
              <a:ext cx="1221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Swing 里的四个角色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2252" y="2381726"/>
              <a:ext cx="4036822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JButton button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JButton(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"保存"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调用者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Document doc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Document();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接收者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匿名内部类就是具体命令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button.addActionListener(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actionPerformed(ActionEvent 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doc.save();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Java 8 起可以写成 Lambda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button.addActionListener(e -&gt; doc.save());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464618" y="5094922"/>
            <a:ext cx="5193982" cy="782955"/>
            <a:chOff x="6464618" y="5094922"/>
            <a:chExt cx="5193982" cy="782955"/>
          </a:xfrm>
        </p:grpSpPr>
        <p:sp>
          <p:nvSpPr>
            <p:cNvPr id="29" name="Rectangle 29"/>
            <p:cNvSpPr/>
            <p:nvPr/>
          </p:nvSpPr>
          <p:spPr>
            <a:xfrm>
              <a:off x="6464618" y="509492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69405" y="5386390"/>
              <a:ext cx="200023" cy="200023"/>
              <a:chOff x="6669405" y="538639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669405" y="53863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02755" y="5453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71348" y="524351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组件只认识监听器接口，不关心它的实现，这正是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调用者只认识抽象命令。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模式本质：封装请求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把请求封装成命令对象，之后对它做的一切处理，都是本讲讲过的那几件事。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67865"/>
            <a:ext cx="5410200" cy="2696052"/>
            <a:chOff x="533400" y="1967865"/>
            <a:chExt cx="5410200" cy="269605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0658" r="0" b="20657"/>
            <a:stretch>
              <a:fillRect/>
            </a:stretch>
          </p:blipFill>
          <p:spPr>
            <a:xfrm>
              <a:off x="533400" y="1967865"/>
              <a:ext cx="5410200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21943" y="4443889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执行过的命令一张张摞在托盘里，撤销就是把最上面那张取回来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29175"/>
            <a:ext cx="5410200" cy="1345882"/>
            <a:chOff x="533400" y="4829175"/>
            <a:chExt cx="5410200" cy="1345882"/>
          </a:xfrm>
        </p:grpSpPr>
        <p:sp>
          <p:nvSpPr>
            <p:cNvPr id="12" name="Rectangle 12"/>
            <p:cNvSpPr/>
            <p:nvPr/>
          </p:nvSpPr>
          <p:spPr>
            <a:xfrm>
              <a:off x="533400" y="4829175"/>
              <a:ext cx="5410200" cy="1345882"/>
            </a:xfrm>
            <a:prstGeom prst="roundRect">
              <a:avLst>
                <a:gd name="adj" fmla="val 849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01630"/>
              <a:ext cx="200023" cy="200023"/>
              <a:chOff x="738188" y="5401630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4016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5468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25875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请求是对象，所以能压栈；能压栈，所以能一次次撤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销。</a:t>
              </a:r>
            </a:p>
          </p:txBody>
        </p:sp>
      </p:grpSp>
      <p:grpSp>
        <p:nvGrpSpPr>
          <p:cNvPr id="35" name="c2-bullets-1"/>
          <p:cNvGrpSpPr/>
          <p:nvPr/>
        </p:nvGrpSpPr>
        <p:grpSpPr>
          <a:xfrm>
            <a:off x="6240780" y="1992630"/>
            <a:ext cx="3477692" cy="2706338"/>
            <a:chOff x="6240780" y="1992630"/>
            <a:chExt cx="3477692" cy="2706338"/>
          </a:xfrm>
        </p:grpSpPr>
        <p:sp>
          <p:nvSpPr>
            <p:cNvPr id="18" name="TextBox 18"/>
            <p:cNvSpPr txBox="1"/>
            <p:nvPr/>
          </p:nvSpPr>
          <p:spPr>
            <a:xfrm>
              <a:off x="6240780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封装之后能做的事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25411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0" y="23469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参数化配置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1985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03873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同一个调用者装不同命令，就是不同请求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54115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0" y="29498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队列请求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1985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03873" y="32427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命令进集合，按序或并发执行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54115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0" y="3552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日志请求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19850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3873" y="384667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命令序列化存盘，故障后重放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54115" y="4218622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0" y="41557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可撤销操作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19850" y="452247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03873" y="44496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命令里加逆操作，或配合备忘录存状态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838700"/>
            <a:ext cx="5410200" cy="1335405"/>
            <a:chOff x="6248400" y="4838700"/>
            <a:chExt cx="5410200" cy="1335405"/>
          </a:xfrm>
        </p:grpSpPr>
        <p:sp>
          <p:nvSpPr>
            <p:cNvPr id="36" name="Rectangle 36"/>
            <p:cNvSpPr/>
            <p:nvPr/>
          </p:nvSpPr>
          <p:spPr>
            <a:xfrm>
              <a:off x="6248400" y="48387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57950" y="50482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8158" y="50839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58978" y="50834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54444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命令模式的本质是封装请求。发出请求的职责和执行请求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的职责被分开，中间隔着一个可以被随意摆弄的对象。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与相关模式的分界，以及自测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四个行为型模式的类图都有点像，区分只能看意图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四个近邻的对比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三句话判别法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自测十二题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94254" cy="909257"/>
            <a:chOff x="520446" y="342900"/>
            <a:chExt cx="2794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与四个近邻的分界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这四个模式常和命令模式一起出现在选择题里，各自封装的东西完全不同。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67865"/>
            <a:ext cx="11125200" cy="2470785"/>
            <a:chOff x="533400" y="1967865"/>
            <a:chExt cx="11125200" cy="24707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85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62463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它封装的是什么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4944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与命令模式的分界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职责链（第 30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9148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一条可以传递请求的链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773228" y="2426018"/>
              <a:ext cx="487584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71526" y="25512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命令模式的接收者是确定的，职责链在运行时才知道谁处理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86512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114199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策略（第 38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89148" y="311419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完成同一件事的不同算法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71526" y="3000851"/>
              <a:ext cx="4402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策略的环境类知道自己要办什么事，调用者完全不知道命令做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356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676174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备忘录（第 35 讲）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9148" y="367617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对象某一时刻的内部状态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73228" y="3549968"/>
              <a:ext cx="487584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71526" y="367617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撤销的两条路线，命令靠逆操作，备忘录靠恢复状态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843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8907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24801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9148" y="41248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部分与整体的一致对待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1526" y="412480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宏命令是两者联用，命令树的每个结点都是命令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67865"/>
              <a:ext cx="11125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976562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58940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ompare-2"/>
          <p:cNvGrpSpPr/>
          <p:nvPr/>
        </p:nvGrpSpPr>
        <p:grpSpPr>
          <a:xfrm>
            <a:off x="533400" y="4629150"/>
            <a:ext cx="11125200" cy="1733550"/>
            <a:chOff x="533400" y="4629150"/>
            <a:chExt cx="11125200" cy="1733550"/>
          </a:xfrm>
        </p:grpSpPr>
        <p:sp>
          <p:nvSpPr>
            <p:cNvPr id="36" name="Rectangle 36"/>
            <p:cNvSpPr/>
            <p:nvPr/>
          </p:nvSpPr>
          <p:spPr>
            <a:xfrm>
              <a:off x="533400" y="4629150"/>
              <a:ext cx="531495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76250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3430" y="4863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528066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521779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调用者问：这条命令是什么，我不管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6765" y="56159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4880" y="5553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接收者在装配时就绑定好了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6765" y="59512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4880" y="58883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关注请求本身能不能被保存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43650" y="4629150"/>
              <a:ext cx="531495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53175" y="476250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3680" y="4863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97015" y="528066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55130" y="52177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环境类问：这件事用哪种算法做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97015" y="56159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5130" y="5553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算法对象一般不绑定别的对象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97015" y="59512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55130" y="58883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关注算法能不能互相替换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95975" y="529590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49315" y="54302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拿到一段需求，怎么判断该不该用命令模式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21246" cy="293370"/>
            <a:chOff x="525780" y="1548765"/>
            <a:chExt cx="692124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21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先看有没有“发送”和“执行”两件事需要分开，再看请求本身要不要被留下来。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3363087" cy="2000155"/>
            <a:chOff x="526161" y="1977866"/>
            <a:chExt cx="3363087" cy="200015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三句话判别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4696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7621" y="231695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发送请求的人要不要知道谁执行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4860" y="266414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69264" y="259556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不需要知道，就该在中间插一个命令对象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92036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7621" y="289036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请求要不要被排队、记录或撤销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4860" y="323754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9264" y="316992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只要中一条，请求就必须先变成对象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4937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7621" y="346376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同一个入口要不要对应多种功能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4860" y="38109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9264" y="374332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按钮、菜单、快捷键这类入口最典型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115752"/>
            <a:ext cx="5410200" cy="2089785"/>
            <a:chOff x="533400" y="4115752"/>
            <a:chExt cx="5410200" cy="2089785"/>
          </a:xfrm>
        </p:grpSpPr>
        <p:sp>
          <p:nvSpPr>
            <p:cNvPr id="23" name="Rectangle 23"/>
            <p:cNvSpPr/>
            <p:nvPr/>
          </p:nvSpPr>
          <p:spPr>
            <a:xfrm>
              <a:off x="533400" y="4115752"/>
              <a:ext cx="5410200" cy="2089785"/>
            </a:xfrm>
            <a:prstGeom prst="roundRect">
              <a:avLst>
                <a:gd name="adj" fmla="val 63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49102"/>
              <a:ext cx="47625" cy="18230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43195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543" y="4355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76744" y="435911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三条都不中的情形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096" y="47115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只是想在几种实现方式之间换来换去，发送和执行本来就在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一起，那多半是策略模式，不是命令模式。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9239" y="5298758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判断的落点始终是：请求要不要变成一个能留下来的对象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954530"/>
            <a:ext cx="5410200" cy="1293495"/>
            <a:chOff x="6248400" y="1954530"/>
            <a:chExt cx="5410200" cy="1293495"/>
          </a:xfrm>
        </p:grpSpPr>
        <p:sp>
          <p:nvSpPr>
            <p:cNvPr id="31" name="Rectangle 31"/>
            <p:cNvSpPr/>
            <p:nvPr/>
          </p:nvSpPr>
          <p:spPr>
            <a:xfrm>
              <a:off x="6248400" y="195453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208788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0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6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3666" y="21978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把调用者和客户端混为一谈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3096" y="255031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调用者只负责触发，装配是客户端的事。考题里问“谁决定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用哪条命令”，答案是客户端。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3432810"/>
            <a:ext cx="5410200" cy="1293495"/>
            <a:chOff x="6248400" y="3432810"/>
            <a:chExt cx="5410200" cy="1293495"/>
          </a:xfrm>
        </p:grpSpPr>
        <p:sp>
          <p:nvSpPr>
            <p:cNvPr id="38" name="Rectangle 38"/>
            <p:cNvSpPr/>
            <p:nvPr/>
          </p:nvSpPr>
          <p:spPr>
            <a:xfrm>
              <a:off x="6248400" y="343281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356616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0335" y="363664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6593" y="36723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3666" y="36771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以为命令类里要写业务逻辑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3096" y="402859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具体命令的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通常只有一句转调。业务逻辑属于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接收者，写进命令类就退化成没有接收者的伪命令模式。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248400" y="4912042"/>
            <a:ext cx="5410200" cy="1293495"/>
            <a:chOff x="6248400" y="4912042"/>
            <a:chExt cx="5410200" cy="1293495"/>
          </a:xfrm>
        </p:grpSpPr>
        <p:sp>
          <p:nvSpPr>
            <p:cNvPr id="45" name="Rectangle 45"/>
            <p:cNvSpPr/>
            <p:nvPr/>
          </p:nvSpPr>
          <p:spPr>
            <a:xfrm>
              <a:off x="6248400" y="4912042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504539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511587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6593" y="5151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易错三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33666" y="515540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以为命令队列就是宏命令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3096" y="550687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队列是一个容器类，宏命令自己是一条命令。判断标准是它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能不能被当成命令再装进别的容器。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把请求封装成对象，从而参数化、排队、记录、可撤销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它的两个别名是什么？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4358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动作模式（Action）、事务模式（Transaction）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调用者和接收者之间有线吗？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没有，调用者只与抽象命令关联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它按目的和范围各属哪一类？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 + 对象模式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抽象命令、具体命令、调用者、接收者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谁把命令和接收者绑在一起？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客户端，在装配时决定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答不上来的题，回到对应正文页把那一张类图或那一段代码再读一遍。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890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具体命令的 execute() 里写什么？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调用接收者的业务方法，自己不写业务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命令队列和宏命令差在哪？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队列是容器类，宏命令自己也是一条命令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要连续撤销多次该怎么改？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把每次的参数压栈，撤销时逐个弹出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调用者到抽象命令是什么关系？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聚合，空心菱形画在调用者一端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撤销有哪两种实现思路？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执行逆操作，或用备忘录保存状态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请求日志靠什么把命令存盘？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81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命令类实现 Serializable，用对象流写文件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8228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判断题眼：看见“同一个入口要对应多种功能”或者“请求要能排队、记录、撤销”，就该想到命令模式。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6313678" cy="1432845"/>
            <a:chOff x="533400" y="1533525"/>
            <a:chExt cx="6313678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命令模式在请求发送者和接收者之间插进一个命令对象，两端彻底不认识对方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四个角色：抽象命令、具体命令、调用者、接收者，聚合菱形在调用者一端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54494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具体命令类是唯一知道接收者的人，它的 execute() 通常只有一句转调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请求变成对象之后，才有了命令队列、请求日志、撤销操作和宏命令这四种扩展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本质是封装请求；解耦、动态配置、可撤销都是封装之后顺带得到的好处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02769"/>
            <a:ext cx="11131677" cy="622744"/>
            <a:chOff x="526923" y="3102769"/>
            <a:chExt cx="11131677" cy="62274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1027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102769"/>
              <a:ext cx="6355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Command、ConcreteCommand、Invoker、Receiver，客户端负责把它们装配起来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74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3476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3476149"/>
              <a:ext cx="6181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职责链（第 30 讲）、策略（第 38 讲）、备忘录（第 35 讲）、组合（第 22 讲）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840480"/>
            <a:ext cx="11125200" cy="1883092"/>
            <a:chOff x="533400" y="3840480"/>
            <a:chExt cx="11125200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840480"/>
              <a:ext cx="11125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7383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21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054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8006" y="40609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3662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01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378166"/>
              <a:ext cx="7381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15 页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ConcreteCommand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只声明了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receiver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字段却没有构造函数，运行时必定空指针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686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662964"/>
              <a:ext cx="5776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电视机遥控器类图里三个命令类都是无参构造函数，会各自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一台电视机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36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972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947761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功能键类图把接口与实现类之间画成实线，实现关系规范画法是虚线加空心三角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2475" y="52216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382" y="5257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223" y="5232559"/>
              <a:ext cx="8059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陈伟课件里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全部拼成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excute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，类名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MacroCommod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与构造函数名对不上，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Reciveiver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也拼错了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判题口诀：调用者只持抽象命令，具体命令只持一个接收者，装配全部写在客户端。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命令模式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1">
  <a:themeElements>
    <a:clrScheme name="sdp_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2026-09-19T08:58:38Z</dcterms:created>
  <dcterms:modified xsi:type="dcterms:W3CDTF">2026-09-19T08:58:38Z</dcterms:modified>
  <cp:category/>
  <cp:contentStatus/>
</cp:coreProperties>
</file>