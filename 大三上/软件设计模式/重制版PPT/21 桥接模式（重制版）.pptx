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2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2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b08f15255fcd54d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4c2f787ac120d86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68909f15b0aa4e7.png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147566" cy="3437763"/>
            <a:chOff x="666750" y="1619250"/>
            <a:chExt cx="414756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0507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0294" y="17183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第十二讲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桥接模式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把两个独立变化的维度拆成两条继承链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两个维度的识别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四个角色与标准类图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毛笔与跨平台播放器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与适配器、策略的分界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685911" cy="205359"/>
            <a:chOff x="680466" y="6192202"/>
            <a:chExt cx="5685911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685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自学复习版｜据吉林大学《软件设计模式》张欣佳、陈伟两位老师课件合并整理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76009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6139" y="40719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696110"/>
            <a:chOff x="521970" y="1515428"/>
            <a:chExt cx="6287453" cy="4696110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一个类同时沿两个方向变化时，子类个数按乘法增长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定义与结构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抽象部分与实现部分分离，在抽象层架一座桥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9387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Abstraction、RefinedAbstraction、Implementor、</a:t>
              </a:r>
              <a:br/>
              <a:r>
                <a:rPr lang="en-US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ConcreteImplementor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96049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406527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410146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419124"/>
              <a:ext cx="33791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骨架，以及沿两个方向各自扩展的写法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73202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83774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87394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课件实例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519064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模拟毛笔、跨平台视频播放器、大富翁玩家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50449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60927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645467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效果与辨析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962174"/>
              <a:ext cx="42830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优缺点、适用环境、pImpl 变体、与三个近邻模式的分界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637722"/>
            <a:chOff x="7114222" y="1524000"/>
            <a:chExt cx="4544378" cy="4637722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637722"/>
            </a:xfrm>
            <a:prstGeom prst="roundRect">
              <a:avLst>
                <a:gd name="adj" fmla="val 2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371022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在一段需求描述里指出哪两件事是独立变化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的维度，并说明判断依据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558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算清多层继承的 m×n 与桥接的 m+n，说出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扩展一个维度各要新增几个类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画出标准类图，聚合菱形在抽象类一端，空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心三角从子类指向父类或接口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Java 写全四个角色，并分别沿抽象方向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和实现方向各扩展一次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说出桥接与适配器、策略、抽象工厂的分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界，判断一段设计该用哪一个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37376" cy="3923347"/>
            <a:chOff x="667512" y="1835468"/>
            <a:chExt cx="6437376" cy="39233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3737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动机：两个维度一起变，类就会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爆炸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从毛笔和蜡笔的差别开始，看清子类为什么会按乘法增长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毛笔与蜡笔的账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形状配颜色的继承爆炸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单维度与双维度的变化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5225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4654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怎么识别两个维度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30479" cy="909257"/>
            <a:chOff x="520446" y="342900"/>
            <a:chExt cx="74304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动机：两个维度一起变，类就会爆炸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304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毛笔和蜡笔：同样的功能，一边 36 支一边 15 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688580" cy="293370"/>
            <a:chOff x="525780" y="1548765"/>
            <a:chExt cx="768858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688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要大中小三种型号的画笔，能画十二种颜色。蜡笔和毛笔都做得到，代价差了一倍多。</a:t>
              </a:r>
            </a:p>
          </p:txBody>
        </p:sp>
      </p:grpSp>
      <p:grpSp>
        <p:nvGrpSpPr>
          <p:cNvPr id="11" name="c1-image-1"/>
          <p:cNvGrpSpPr/>
          <p:nvPr/>
        </p:nvGrpSpPr>
        <p:grpSpPr>
          <a:xfrm>
            <a:off x="533400" y="1954530"/>
            <a:ext cx="4760595" cy="2495074"/>
            <a:chOff x="533400" y="1954530"/>
            <a:chExt cx="4760595" cy="2495074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0" t="19468" r="0" b="19468"/>
            <a:stretch>
              <a:fillRect/>
            </a:stretch>
          </p:blipFill>
          <p:spPr>
            <a:xfrm>
              <a:off x="533400" y="1954530"/>
              <a:ext cx="4760595" cy="2180272"/>
            </a:xfrm>
            <a:prstGeom prst="roundRect">
              <a:avLst>
                <a:gd name="adj" fmla="val 6116"/>
              </a:avLst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1083612" y="4229576"/>
              <a:ext cx="36601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蜡笔 3 × 12 = 36 支，毛笔 3 支加 12 个颜料盒共 15 件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4610100"/>
            <a:ext cx="4760595" cy="1662112"/>
            <a:chOff x="533400" y="4610100"/>
            <a:chExt cx="4760595" cy="1662112"/>
          </a:xfrm>
        </p:grpSpPr>
        <p:sp>
          <p:nvSpPr>
            <p:cNvPr id="12" name="Rectangle 12"/>
            <p:cNvSpPr/>
            <p:nvPr/>
          </p:nvSpPr>
          <p:spPr>
            <a:xfrm>
              <a:off x="533400" y="4610100"/>
              <a:ext cx="4760595" cy="1662112"/>
            </a:xfrm>
            <a:prstGeom prst="roundRect">
              <a:avLst>
                <a:gd name="adj" fmla="val 80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4743450"/>
              <a:ext cx="47625" cy="13954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75335" y="48139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7644" y="48496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再走一步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60588" y="485346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增加一种新型号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8096" y="520493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新型号同样要能画十二种颜色。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2955" y="558546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546" y="5524976"/>
              <a:ext cx="14864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蜡笔要再做 12 支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2955" y="590550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9546" y="5845016"/>
              <a:ext cx="34840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毛笔只要再做 1 支，颜料盒一个都不用动</a:t>
              </a:r>
            </a:p>
          </p:txBody>
        </p:sp>
      </p:grpSp>
      <p:grpSp>
        <p:nvGrpSpPr>
          <p:cNvPr id="28" name="c2-bullets-1"/>
          <p:cNvGrpSpPr/>
          <p:nvPr/>
        </p:nvGrpSpPr>
        <p:grpSpPr>
          <a:xfrm>
            <a:off x="5591556" y="1977866"/>
            <a:ext cx="5920740" cy="946405"/>
            <a:chOff x="5591556" y="1977866"/>
            <a:chExt cx="5920740" cy="946405"/>
          </a:xfrm>
        </p:grpSpPr>
        <p:sp>
          <p:nvSpPr>
            <p:cNvPr id="23" name="TextBox 23"/>
            <p:cNvSpPr txBox="1"/>
            <p:nvPr/>
          </p:nvSpPr>
          <p:spPr>
            <a:xfrm>
              <a:off x="5591556" y="197786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为什么差这么多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606415" y="237648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763006" y="2316956"/>
              <a:ext cx="57492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蜡笔把颜色和型号两个变化原因焊在一根笔里，改一个必牵动另一个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606415" y="270605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763006" y="2645569"/>
              <a:ext cx="53669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毛笔让型号和颜色各自独立，用的时候临时蘸一下就完成了组合</a:t>
              </a:r>
            </a:p>
          </p:txBody>
        </p:sp>
      </p:grpSp>
      <p:grpSp>
        <p:nvGrpSpPr>
          <p:cNvPr id="34" name="c2-kv-2"/>
          <p:cNvGrpSpPr/>
          <p:nvPr/>
        </p:nvGrpSpPr>
        <p:grpSpPr>
          <a:xfrm>
            <a:off x="5591556" y="3077051"/>
            <a:ext cx="6067044" cy="700660"/>
            <a:chOff x="5591556" y="3077051"/>
            <a:chExt cx="6067044" cy="700660"/>
          </a:xfrm>
        </p:grpSpPr>
        <p:sp>
          <p:nvSpPr>
            <p:cNvPr id="29" name="TextBox 29"/>
            <p:cNvSpPr txBox="1"/>
            <p:nvPr/>
          </p:nvSpPr>
          <p:spPr>
            <a:xfrm>
              <a:off x="5591556" y="307705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蜡笔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15444" y="3077051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型号和颜色强耦合，对象个数是两个维度的乘积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598795" y="338328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591556" y="349900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毛笔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15444" y="3499009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型号和颜色解耦，对象个数是两个维度的和</a:t>
              </a:r>
            </a:p>
          </p:txBody>
        </p:sp>
      </p:grpSp>
      <p:grpSp>
        <p:nvGrpSpPr>
          <p:cNvPr id="40" name="c2-card-3"/>
          <p:cNvGrpSpPr/>
          <p:nvPr/>
        </p:nvGrpSpPr>
        <p:grpSpPr>
          <a:xfrm>
            <a:off x="5598795" y="3907155"/>
            <a:ext cx="6059805" cy="2365058"/>
            <a:chOff x="5598795" y="3907155"/>
            <a:chExt cx="6059805" cy="2365058"/>
          </a:xfrm>
        </p:grpSpPr>
        <p:sp>
          <p:nvSpPr>
            <p:cNvPr id="35" name="Rectangle 35"/>
            <p:cNvSpPr/>
            <p:nvPr/>
          </p:nvSpPr>
          <p:spPr>
            <a:xfrm>
              <a:off x="5598795" y="3907155"/>
              <a:ext cx="6059805" cy="2365058"/>
            </a:xfrm>
            <a:prstGeom prst="roundRect">
              <a:avLst>
                <a:gd name="adj" fmla="val 5638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802630" y="411099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893791" y="41467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04038" y="4150519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这就是桥接模式要处理的局面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795391" y="4501991"/>
              <a:ext cx="544271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软件里同样有这种“具有多个变化维度”的类。桥接模式给出的做法，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就是把毛笔和颜料盒分开做。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24101" cy="909257"/>
            <a:chOff x="520446" y="342900"/>
            <a:chExt cx="71241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动机：两个维度一起变，类就会爆炸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241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方案一：每种形状配一套颜色，具体类是 4 × 3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954819" cy="278702"/>
            <a:chOff x="526161" y="1547336"/>
            <a:chExt cx="995481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9548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要画矩形、圆形、椭圆、正方形四种形状，每种还要白、灰、黑三种填充色。第一种做法是把颜色也做成形状的子类。</a:t>
              </a:r>
            </a:p>
          </p:txBody>
        </p:sp>
      </p:grpSp>
      <p:grpSp>
        <p:nvGrpSpPr>
          <p:cNvPr id="37" name="c1-cells-1"/>
          <p:cNvGrpSpPr/>
          <p:nvPr/>
        </p:nvGrpSpPr>
        <p:grpSpPr>
          <a:xfrm>
            <a:off x="527685" y="1941195"/>
            <a:ext cx="3114675" cy="1993583"/>
            <a:chOff x="527685" y="1941195"/>
            <a:chExt cx="3114675" cy="1993583"/>
          </a:xfrm>
        </p:grpSpPr>
        <p:sp>
          <p:nvSpPr>
            <p:cNvPr id="9" name="TextBox 9"/>
            <p:cNvSpPr txBox="1"/>
            <p:nvPr/>
          </p:nvSpPr>
          <p:spPr>
            <a:xfrm>
              <a:off x="527685" y="20626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矩形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93470" y="1941195"/>
              <a:ext cx="84963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11021" y="206263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白色矩形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943100" y="1941195"/>
              <a:ext cx="84963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060651" y="206263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灰色矩形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792730" y="1941195"/>
              <a:ext cx="84963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910281" y="206263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黑色矩形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7685" y="25998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圆形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93470" y="2479358"/>
              <a:ext cx="84963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11021" y="259984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白色圆形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943100" y="2479358"/>
              <a:ext cx="84963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060651" y="259984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灰色圆形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792730" y="2479358"/>
              <a:ext cx="84963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910281" y="259984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黑色圆形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7685" y="313705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椭圆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093470" y="3016568"/>
              <a:ext cx="84963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11021" y="31370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白色椭圆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943100" y="3016568"/>
              <a:ext cx="84963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060651" y="31370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灰色椭圆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792730" y="3016568"/>
              <a:ext cx="84963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910281" y="31370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黑色椭圆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7685" y="3674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正方形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093470" y="3553778"/>
              <a:ext cx="84963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35634" y="3674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白色正方形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943100" y="3553778"/>
              <a:ext cx="84963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985264" y="3674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灰色正方形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792730" y="3553778"/>
              <a:ext cx="84963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834894" y="3674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黑色正方形</a:t>
              </a:r>
            </a:p>
          </p:txBody>
        </p:sp>
      </p:grpSp>
      <p:grpSp>
        <p:nvGrpSpPr>
          <p:cNvPr id="49" name="c1-card-2"/>
          <p:cNvGrpSpPr/>
          <p:nvPr/>
        </p:nvGrpSpPr>
        <p:grpSpPr>
          <a:xfrm>
            <a:off x="533400" y="4110038"/>
            <a:ext cx="5085398" cy="2095500"/>
            <a:chOff x="533400" y="4110038"/>
            <a:chExt cx="5085398" cy="2095500"/>
          </a:xfrm>
        </p:grpSpPr>
        <p:sp>
          <p:nvSpPr>
            <p:cNvPr id="38" name="Rectangle 38"/>
            <p:cNvSpPr/>
            <p:nvPr/>
          </p:nvSpPr>
          <p:spPr>
            <a:xfrm>
              <a:off x="533400" y="4110038"/>
              <a:ext cx="5085398" cy="2095500"/>
            </a:xfrm>
            <a:prstGeom prst="roundRect">
              <a:avLst>
                <a:gd name="adj" fmla="val 63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2925" y="4243388"/>
              <a:ext cx="47625" cy="18288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63905" y="430244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55345" y="433673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47597" y="434244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类的个数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7047" y="4676775"/>
              <a:ext cx="4211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叶子类 4 × 3 = 12 个，每个格子都是一个独立的类。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72478" y="503491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28497" y="4978718"/>
              <a:ext cx="43256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再加上抽象层：一个总的图形类加四个形状类，共 5 个，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合起来 17 个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72478" y="559498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28497" y="5538788"/>
              <a:ext cx="3230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如果颜色一侧也建抽象层，总数到 21 个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8190" y="5837396"/>
              <a:ext cx="3207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张欣佳课件里“17 到 21 个”这句话就是这么来的</a:t>
              </a:r>
            </a:p>
          </p:txBody>
        </p:sp>
      </p:grpSp>
      <p:grpSp>
        <p:nvGrpSpPr>
          <p:cNvPr id="57" name="c2-bullets-1"/>
          <p:cNvGrpSpPr/>
          <p:nvPr/>
        </p:nvGrpSpPr>
        <p:grpSpPr>
          <a:xfrm>
            <a:off x="5916739" y="1964055"/>
            <a:ext cx="5444872" cy="1463230"/>
            <a:chOff x="5916739" y="1964055"/>
            <a:chExt cx="5444872" cy="1463230"/>
          </a:xfrm>
        </p:grpSpPr>
        <p:sp>
          <p:nvSpPr>
            <p:cNvPr id="50" name="TextBox 50"/>
            <p:cNvSpPr txBox="1"/>
            <p:nvPr/>
          </p:nvSpPr>
          <p:spPr>
            <a:xfrm>
              <a:off x="5916739" y="196405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两处硬伤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5923598" y="2316480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52960" y="2284095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形状和颜色两个职责压在同一个具体类里，违反单一职责原则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5923598" y="2627948"/>
              <a:ext cx="102870" cy="101918"/>
            </a:xfrm>
            <a:custGeom>
              <a:avLst/>
              <a:gdLst/>
              <a:ahLst/>
              <a:cxnLst/>
              <a:rect l="l" t="t" r="r" b="b"/>
              <a:pathLst>
                <a:path w="102870" h="101918">
                  <a:moveTo>
                    <a:pt x="0" y="0"/>
                  </a:moveTo>
                  <a:lnTo>
                    <a:pt x="102870" y="101918"/>
                  </a:lnTo>
                  <a:moveTo>
                    <a:pt x="102870" y="0"/>
                  </a:moveTo>
                  <a:lnTo>
                    <a:pt x="0" y="101918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52960" y="2594610"/>
              <a:ext cx="52086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新增一种颜色要补 4 个类，新增一种形状要补 3 个类，改动量按乘法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5923598" y="3195638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152960" y="3163252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多层继承把关系固定在编译期，运行时换不了颜色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5923598" y="3549015"/>
            <a:ext cx="5735002" cy="2656522"/>
            <a:chOff x="5923598" y="3549015"/>
            <a:chExt cx="5735002" cy="2656522"/>
          </a:xfrm>
        </p:grpSpPr>
        <p:sp>
          <p:nvSpPr>
            <p:cNvPr id="58" name="Rectangle 58"/>
            <p:cNvSpPr/>
            <p:nvPr/>
          </p:nvSpPr>
          <p:spPr>
            <a:xfrm>
              <a:off x="5923598" y="3549015"/>
              <a:ext cx="5735002" cy="2656522"/>
            </a:xfrm>
            <a:prstGeom prst="roundRect">
              <a:avLst>
                <a:gd name="adj" fmla="val 50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5933122" y="3682365"/>
              <a:ext cx="47625" cy="238982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154102" y="37414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237542" y="37757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换个说法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04494" y="378142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乘法从哪来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147244" y="4115752"/>
              <a:ext cx="49771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种形状、n 种颜色，用继承表达组合，叶子类就是 m × n 个。维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度再多一个 p，就是 m × n × p。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148388" y="4671536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类的总数是几个维度取值个数的乘积，这是继承方案躲不开的账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50977" cy="909257"/>
            <a:chOff x="520446" y="342900"/>
            <a:chExt cx="57509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动机：两个维度一起变，类就会爆炸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509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方案二：颜色抽出去，类数降到 4 + 3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698230" cy="293370"/>
            <a:chOff x="525780" y="1548765"/>
            <a:chExt cx="869823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698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把颜色做成一个独立的接口，图形只持有一个颜色对象。两条继承链之间靠一个关联关系连起来。</a:t>
              </a:r>
            </a:p>
          </p:txBody>
        </p:sp>
      </p:grpSp>
      <p:grpSp>
        <p:nvGrpSpPr>
          <p:cNvPr id="59" name="c1-uml-1"/>
          <p:cNvGrpSpPr/>
          <p:nvPr/>
        </p:nvGrpSpPr>
        <p:grpSpPr>
          <a:xfrm>
            <a:off x="705802" y="2272665"/>
            <a:ext cx="5606416" cy="2054542"/>
            <a:chOff x="705802" y="2272665"/>
            <a:chExt cx="5606416" cy="2054542"/>
          </a:xfrm>
        </p:grpSpPr>
        <p:sp>
          <p:nvSpPr>
            <p:cNvPr id="9" name="Freeform 9"/>
            <p:cNvSpPr/>
            <p:nvPr/>
          </p:nvSpPr>
          <p:spPr>
            <a:xfrm>
              <a:off x="2058352" y="2646998"/>
              <a:ext cx="1623060" cy="9525"/>
            </a:xfrm>
            <a:custGeom>
              <a:avLst/>
              <a:gdLst/>
              <a:ahLst/>
              <a:cxnLst/>
              <a:rect l="l" t="t" r="r" b="b"/>
              <a:pathLst>
                <a:path w="1623060" h="9525">
                  <a:moveTo>
                    <a:pt x="162306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48802" y="2589848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7150"/>
                  </a:moveTo>
                  <a:lnTo>
                    <a:pt x="104775" y="0"/>
                  </a:lnTo>
                  <a:lnTo>
                    <a:pt x="209550" y="57150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277302" y="3148012"/>
              <a:ext cx="9525" cy="591503"/>
            </a:xfrm>
            <a:custGeom>
              <a:avLst/>
              <a:gdLst/>
              <a:ahLst/>
              <a:cxnLst/>
              <a:rect l="l" t="t" r="r" b="b"/>
              <a:pathLst>
                <a:path w="9525" h="591503">
                  <a:moveTo>
                    <a:pt x="0" y="591503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203960" y="302228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277302" y="3148012"/>
              <a:ext cx="1487805" cy="591503"/>
            </a:xfrm>
            <a:custGeom>
              <a:avLst/>
              <a:gdLst/>
              <a:ahLst/>
              <a:cxnLst/>
              <a:rect l="l" t="t" r="r" b="b"/>
              <a:pathLst>
                <a:path w="1487805" h="591503">
                  <a:moveTo>
                    <a:pt x="1487805" y="591503"/>
                  </a:moveTo>
                  <a:lnTo>
                    <a:pt x="1487805" y="233362"/>
                  </a:lnTo>
                  <a:lnTo>
                    <a:pt x="0" y="23336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203960" y="302228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252912" y="3135630"/>
              <a:ext cx="9525" cy="603885"/>
            </a:xfrm>
            <a:custGeom>
              <a:avLst/>
              <a:gdLst/>
              <a:ahLst/>
              <a:cxnLst/>
              <a:rect l="l" t="t" r="r" b="b"/>
              <a:pathLst>
                <a:path w="9525" h="603885">
                  <a:moveTo>
                    <a:pt x="0" y="60388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4179570" y="300990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252912" y="3135630"/>
              <a:ext cx="1487805" cy="603885"/>
            </a:xfrm>
            <a:custGeom>
              <a:avLst/>
              <a:gdLst/>
              <a:ahLst/>
              <a:cxnLst/>
              <a:rect l="l" t="t" r="r" b="b"/>
              <a:pathLst>
                <a:path w="1487805" h="603885">
                  <a:moveTo>
                    <a:pt x="1487805" y="603885"/>
                  </a:moveTo>
                  <a:lnTo>
                    <a:pt x="1487805" y="239078"/>
                  </a:lnTo>
                  <a:lnTo>
                    <a:pt x="0" y="239078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4179570" y="300990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05802" y="2272665"/>
              <a:ext cx="114300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12470" y="2279332"/>
              <a:ext cx="1128712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05802" y="250317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05802" y="27603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681412" y="2285048"/>
              <a:ext cx="1143000" cy="7248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688080" y="2291715"/>
              <a:ext cx="1128712" cy="36480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681412" y="265271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681412" y="274796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05802" y="3739515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470" y="3746182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05802" y="397002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05802" y="406527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193608" y="3739515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200275" y="3746182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193608" y="397002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193608" y="406527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681412" y="3739515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3688080" y="3746182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681412" y="397002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681412" y="406527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169218" y="3739515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175885" y="3746182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169218" y="397002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169218" y="406527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40422" y="232838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图形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7240" y="2572702"/>
              <a:ext cx="7970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color : 颜色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7240" y="2829878"/>
              <a:ext cx="5365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928024" y="2337911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116032" y="247792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颜色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752850" y="2817495"/>
              <a:ext cx="421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fill()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40422" y="37952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矩形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7240" y="4134802"/>
              <a:ext cx="5365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628227" y="37952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圆形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265045" y="4134802"/>
              <a:ext cx="5365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116032" y="37952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白色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752850" y="4134802"/>
              <a:ext cx="421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fill()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603837" y="37952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黑色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240655" y="4134802"/>
              <a:ext cx="421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fill()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2550795" y="2430780"/>
              <a:ext cx="428625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583085" y="2458402"/>
              <a:ext cx="364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color</a:t>
              </a:r>
            </a:p>
          </p:txBody>
        </p:sp>
      </p:grpSp>
      <p:grpSp>
        <p:nvGrpSpPr>
          <p:cNvPr id="66" name="c1-callout-2"/>
          <p:cNvGrpSpPr/>
          <p:nvPr/>
        </p:nvGrpSpPr>
        <p:grpSpPr>
          <a:xfrm>
            <a:off x="533400" y="4912042"/>
            <a:ext cx="5951220" cy="756285"/>
            <a:chOff x="533400" y="4912042"/>
            <a:chExt cx="5951220" cy="756285"/>
          </a:xfrm>
        </p:grpSpPr>
        <p:sp>
          <p:nvSpPr>
            <p:cNvPr id="60" name="Rectangle 60"/>
            <p:cNvSpPr/>
            <p:nvPr/>
          </p:nvSpPr>
          <p:spPr>
            <a:xfrm>
              <a:off x="533400" y="4912042"/>
              <a:ext cx="595122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5190173"/>
              <a:ext cx="200026" cy="200025"/>
              <a:chOff x="738188" y="5190173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51901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77926" y="52346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12642" y="53457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511" y="5059204"/>
              <a:ext cx="48836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椭圆、正方形、灰色都按同样方式接在各自那一条链上，图里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省略。</a:t>
              </a:r>
            </a:p>
          </p:txBody>
        </p:sp>
      </p:grpSp>
      <p:grpSp>
        <p:nvGrpSpPr>
          <p:cNvPr id="87" name="c2-compare-1"/>
          <p:cNvGrpSpPr/>
          <p:nvPr/>
        </p:nvGrpSpPr>
        <p:grpSpPr>
          <a:xfrm>
            <a:off x="6789420" y="1954530"/>
            <a:ext cx="4869180" cy="2446972"/>
            <a:chOff x="6789420" y="1954530"/>
            <a:chExt cx="4869180" cy="2446972"/>
          </a:xfrm>
        </p:grpSpPr>
        <p:sp>
          <p:nvSpPr>
            <p:cNvPr id="67" name="Rectangle 67"/>
            <p:cNvSpPr/>
            <p:nvPr/>
          </p:nvSpPr>
          <p:spPr>
            <a:xfrm>
              <a:off x="6789420" y="1954530"/>
              <a:ext cx="2143125" cy="2446972"/>
            </a:xfrm>
            <a:prstGeom prst="roundRect">
              <a:avLst>
                <a:gd name="adj" fmla="val 62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798945" y="2087880"/>
              <a:ext cx="47625" cy="218027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024116" y="2181701"/>
              <a:ext cx="14128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方案一 多层继承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038975" y="2580323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195566" y="2520791"/>
              <a:ext cx="116865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叶子类 4 × 3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个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7038975" y="317182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195566" y="3112294"/>
              <a:ext cx="12768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新增一种颜色补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个类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7038975" y="376332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195566" y="370379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组合固定在编译期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515475" y="1954530"/>
              <a:ext cx="2143125" cy="2446972"/>
            </a:xfrm>
            <a:prstGeom prst="roundRect">
              <a:avLst>
                <a:gd name="adj" fmla="val 62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9525000" y="2087880"/>
              <a:ext cx="47625" cy="21802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750171" y="2181701"/>
              <a:ext cx="10304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方案二 桥接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9765030" y="2580323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921621" y="2520791"/>
              <a:ext cx="132194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叶子类 4 + 3 = 7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9765030" y="317182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921621" y="3112294"/>
              <a:ext cx="12768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新增一种颜色补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个类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9765030" y="376332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9921621" y="3703796"/>
              <a:ext cx="14571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运行时随时换颜色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8980170" y="2933700"/>
              <a:ext cx="487680" cy="4876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9055416" y="311277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12→7</a:t>
              </a:r>
            </a:p>
          </p:txBody>
        </p:sp>
      </p:grpSp>
      <p:grpSp>
        <p:nvGrpSpPr>
          <p:cNvPr id="93" name="c2-card-2"/>
          <p:cNvGrpSpPr/>
          <p:nvPr/>
        </p:nvGrpSpPr>
        <p:grpSpPr>
          <a:xfrm>
            <a:off x="6789420" y="4586288"/>
            <a:ext cx="4869180" cy="1081088"/>
            <a:chOff x="6789420" y="4586288"/>
            <a:chExt cx="4869180" cy="1081088"/>
          </a:xfrm>
        </p:grpSpPr>
        <p:sp>
          <p:nvSpPr>
            <p:cNvPr id="88" name="Rectangle 88"/>
            <p:cNvSpPr/>
            <p:nvPr/>
          </p:nvSpPr>
          <p:spPr>
            <a:xfrm>
              <a:off x="6789420" y="4586288"/>
              <a:ext cx="4869180" cy="1081088"/>
            </a:xfrm>
            <a:prstGeom prst="roundRect">
              <a:avLst>
                <a:gd name="adj" fmla="val 12335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6993255" y="479012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079513" y="482584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736586" y="483060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乘法变成了加法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986016" y="5182076"/>
              <a:ext cx="43729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关联取代继承之后，类的总数从 m × n 落到 m + n。</a:t>
              </a:r>
            </a:p>
          </p:txBody>
        </p:sp>
      </p:grpSp>
      <p:grpSp>
        <p:nvGrpSpPr>
          <p:cNvPr id="10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94" name="Rectangle 9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1040511" y="6004084"/>
              <a:ext cx="88078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更正：源课件类图里接口和实现类之间画的是实线空心三角，规范画法是虚线空心三角，本讲统一改过。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1" name="TextBox 10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动机：两个维度一起变，类就会爆炸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单个维度变化：继承和组合都够用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145979" cy="278702"/>
            <a:chOff x="526161" y="1547336"/>
            <a:chExt cx="1014597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1459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陈伟老师课件把一个类会变的方向分成三类：接口变、实现变、属性变。属性变本质上还是实现变，所以只剩两个方向。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5410200" cy="3723322"/>
            <a:chOff x="533400" y="1941195"/>
            <a:chExt cx="5410200" cy="372332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3723322"/>
            </a:xfrm>
            <a:prstGeom prst="roundRect">
              <a:avLst>
                <a:gd name="adj" fmla="val 255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19950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接口这一维变：加一个新功能 h()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54580"/>
              <a:ext cx="3417761" cy="32381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{ 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原始类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x, y;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... */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g() {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... */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NewA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{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继承法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h() {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新增功能 */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NewA2 {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组合法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a;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NewA2(A a)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.a = a;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 a.f();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g() { a.g();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h() {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新增功能 */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6248400" y="1941195"/>
            <a:ext cx="5410200" cy="2586990"/>
            <a:chOff x="6248400" y="1941195"/>
            <a:chExt cx="5410200" cy="2586990"/>
          </a:xfrm>
        </p:grpSpPr>
        <p:sp>
          <p:nvSpPr>
            <p:cNvPr id="13" name="Rectangle 13"/>
            <p:cNvSpPr/>
            <p:nvPr/>
          </p:nvSpPr>
          <p:spPr>
            <a:xfrm>
              <a:off x="6248400" y="1941195"/>
              <a:ext cx="5410200" cy="2586990"/>
            </a:xfrm>
            <a:prstGeom prst="roundRect">
              <a:avLst>
                <a:gd name="adj" fmla="val 36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76797" y="2093119"/>
              <a:ext cx="18631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实现这一维变：f() 换一种做法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76416" y="2354580"/>
              <a:ext cx="3417761" cy="2100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NewA3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{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继承法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新实现 */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NewA4 {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组合法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a;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NewA4(A a)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.a = a;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新实现 */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g() { a.g();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4" name="c2-card-2"/>
          <p:cNvGrpSpPr/>
          <p:nvPr/>
        </p:nvGrpSpPr>
        <p:grpSpPr>
          <a:xfrm>
            <a:off x="6248400" y="4703445"/>
            <a:ext cx="5410200" cy="1490662"/>
            <a:chOff x="6248400" y="4703445"/>
            <a:chExt cx="5410200" cy="1490662"/>
          </a:xfrm>
        </p:grpSpPr>
        <p:sp>
          <p:nvSpPr>
            <p:cNvPr id="17" name="Rectangle 17"/>
            <p:cNvSpPr/>
            <p:nvPr/>
          </p:nvSpPr>
          <p:spPr>
            <a:xfrm>
              <a:off x="6248400" y="4703445"/>
              <a:ext cx="5410200" cy="1490662"/>
            </a:xfrm>
            <a:prstGeom prst="roundRect">
              <a:avLst>
                <a:gd name="adj" fmla="val 89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257925" y="4836795"/>
              <a:ext cx="47625" cy="12239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478905" y="48958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70345" y="49301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62597" y="49358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继承法有个隐藏前提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72047" y="5270183"/>
              <a:ext cx="40599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子类要用到 x、y，父类就得把它们从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private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放宽成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protected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。这本身已经是对父类的一次修改。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3190" y="5825966"/>
              <a:ext cx="4904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源课件第 4 页写 private，第 5 页改成 protected，中间这一步没有说明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5" name="TextBox 2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动机：两个维度一起变，类就会爆炸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两个维度同时变：分离、连接、再让两边独立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999017" cy="278702"/>
            <a:chOff x="526161" y="1547336"/>
            <a:chExt cx="899901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9990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只用继承会撞上乘法，只用组合则没办法让两边各自派生。陈伟老师课件的做法是把两者结合，分三步走。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5735002" cy="3154680"/>
            <a:chOff x="533400" y="1941195"/>
            <a:chExt cx="5735002" cy="315468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735002" cy="3154680"/>
            </a:xfrm>
            <a:prstGeom prst="roundRect">
              <a:avLst>
                <a:gd name="adj" fmla="val 301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15442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第一步 分离，第二步 连接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54580"/>
              <a:ext cx="3097721" cy="26694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第一步：接口留在 A，数据和实现搬进 ImpA */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ImpA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x, y;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第二步：A 持有 ImpA，方法体转调过去 */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ImpA impA;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A(ImpA p)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.impA = p;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 impA.f();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g() { impA.g();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5272088"/>
            <a:ext cx="5735002" cy="916305"/>
            <a:chOff x="533400" y="5272088"/>
            <a:chExt cx="5735002" cy="916305"/>
          </a:xfrm>
        </p:grpSpPr>
        <p:sp>
          <p:nvSpPr>
            <p:cNvPr id="13" name="Rectangle 13"/>
            <p:cNvSpPr/>
            <p:nvPr/>
          </p:nvSpPr>
          <p:spPr>
            <a:xfrm>
              <a:off x="533400" y="5272088"/>
              <a:ext cx="5735002" cy="916305"/>
            </a:xfrm>
            <a:prstGeom prst="roundRect">
              <a:avLst>
                <a:gd name="adj" fmla="val 12474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5629277"/>
              <a:ext cx="200023" cy="200023"/>
              <a:chOff x="738188" y="5629277"/>
              <a:chExt cx="200023" cy="20002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562927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71538" y="5695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892" y="5511165"/>
              <a:ext cx="482288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两边只认对方的抽象：A 只知道 ImpA 这个类型，ImpA 完全不知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道 A 的存在。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6573202" y="1941195"/>
            <a:ext cx="5085398" cy="2586990"/>
            <a:chOff x="6573202" y="1941195"/>
            <a:chExt cx="5085398" cy="2586990"/>
          </a:xfrm>
        </p:grpSpPr>
        <p:sp>
          <p:nvSpPr>
            <p:cNvPr id="19" name="Rectangle 19"/>
            <p:cNvSpPr/>
            <p:nvPr/>
          </p:nvSpPr>
          <p:spPr>
            <a:xfrm>
              <a:off x="6573202" y="1941195"/>
              <a:ext cx="5085398" cy="2586990"/>
            </a:xfrm>
            <a:prstGeom prst="roundRect">
              <a:avLst>
                <a:gd name="adj" fmla="val 36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01600" y="2093119"/>
              <a:ext cx="12388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第三步 两边各自派生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01219" y="2354580"/>
              <a:ext cx="3684461" cy="2100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NewA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{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接口这一维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NewA(ImpA p)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(p);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h() {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新增功能 */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ImpA1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ImpA {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实现这一维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新实现 */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g() {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... */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6573202" y="4703445"/>
            <a:ext cx="5085398" cy="1483995"/>
            <a:chOff x="6573202" y="4703445"/>
            <a:chExt cx="5085398" cy="1483995"/>
          </a:xfrm>
        </p:grpSpPr>
        <p:sp>
          <p:nvSpPr>
            <p:cNvPr id="23" name="Rectangle 23"/>
            <p:cNvSpPr/>
            <p:nvPr/>
          </p:nvSpPr>
          <p:spPr>
            <a:xfrm>
              <a:off x="6573202" y="4703445"/>
              <a:ext cx="5085398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582728" y="4836795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03708" y="48958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95148" y="49301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87399" y="493585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原课件把构造函数写成了析构函数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96849" y="5270183"/>
              <a:ext cx="435140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陈伟课件第 10、11 页写 </a:t>
              </a:r>
              <a:r>
                <a:rPr lang="zh-CN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virutal ~A（ImpA *</a:t>
              </a:r>
              <a:br/>
              <a:r>
                <a:rPr lang="zh-CN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p）:impA(p) {}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：带参数和初始化列表的是构造函数，不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该有波浪号，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virtual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也拼错了，括号和冒号用了全角。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动机：两个维度一起变，类就会爆炸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怎么找出那两个独立变化的维度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304020" cy="293370"/>
            <a:chOff x="525780" y="1548765"/>
            <a:chExt cx="930402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304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桥接模式最难的一步不是写代码，而是判断这个类到底沿哪两个方向变。下面四条是可以照着做的检查。</a:t>
              </a:r>
            </a:p>
          </p:txBody>
        </p:sp>
      </p:grpSp>
      <p:grpSp>
        <p:nvGrpSpPr>
          <p:cNvPr id="22" name="c1-bullets-1"/>
          <p:cNvGrpSpPr/>
          <p:nvPr/>
        </p:nvGrpSpPr>
        <p:grpSpPr>
          <a:xfrm>
            <a:off x="526161" y="1977866"/>
            <a:ext cx="5199824" cy="2680907"/>
            <a:chOff x="526161" y="1977866"/>
            <a:chExt cx="5199824" cy="2680907"/>
          </a:xfrm>
        </p:grpSpPr>
        <p:sp>
          <p:nvSpPr>
            <p:cNvPr id="9" name="TextBox 9"/>
            <p:cNvSpPr txBox="1"/>
            <p:nvPr/>
          </p:nvSpPr>
          <p:spPr>
            <a:xfrm>
              <a:off x="526161" y="197786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四条检查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0124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1745" y="234157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4293" y="2314099"/>
              <a:ext cx="490169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把这个类“将来为什么会改”的原因一条条列出来，每条原因就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是一个候选维度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89941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1745" y="293974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4293" y="2912269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两两检验：改其中一条时另一条要不要跟着改，都不用跟着改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才算独立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49758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1745" y="35379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4293" y="3510439"/>
              <a:ext cx="436067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看类名里有没有两组形容词叠在一起，“大号红色毛笔”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“Windows 版 AVI 播放器”都是信号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09575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1745" y="413608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4293" y="4108609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看现有子类是不是两组特征的全组合，是的话这两组特征就是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两个维度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4782502"/>
            <a:ext cx="5410200" cy="1540192"/>
            <a:chOff x="533400" y="4782502"/>
            <a:chExt cx="5410200" cy="1540192"/>
          </a:xfrm>
        </p:grpSpPr>
        <p:sp>
          <p:nvSpPr>
            <p:cNvPr id="23" name="Rectangle 23"/>
            <p:cNvSpPr/>
            <p:nvPr/>
          </p:nvSpPr>
          <p:spPr>
            <a:xfrm>
              <a:off x="533400" y="4782502"/>
              <a:ext cx="5410200" cy="1540192"/>
            </a:xfrm>
            <a:prstGeom prst="roundRect">
              <a:avLst>
                <a:gd name="adj" fmla="val 86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915852"/>
              <a:ext cx="47625" cy="12734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9620" y="498062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1060" y="50149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52931" y="5015389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看起来像两维，其实是一维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381" y="5359241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会员等级和折扣算法常被当成两个维度，但折扣算法是跟着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等级定的，改等级就得改算法。这种情况用策略模式或一张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映射表更省事。</a:t>
              </a:r>
            </a:p>
          </p:txBody>
        </p:sp>
      </p:grpSp>
      <p:grpSp>
        <p:nvGrpSpPr>
          <p:cNvPr id="41" name="c2-kv-1"/>
          <p:cNvGrpSpPr/>
          <p:nvPr/>
        </p:nvGrpSpPr>
        <p:grpSpPr>
          <a:xfrm>
            <a:off x="6241161" y="1977866"/>
            <a:ext cx="5417439" cy="1527430"/>
            <a:chOff x="6241161" y="1977866"/>
            <a:chExt cx="5417439" cy="1527430"/>
          </a:xfrm>
        </p:grpSpPr>
        <p:sp>
          <p:nvSpPr>
            <p:cNvPr id="30" name="TextBox 30"/>
            <p:cNvSpPr txBox="1"/>
            <p:nvPr/>
          </p:nvSpPr>
          <p:spPr>
            <a:xfrm>
              <a:off x="6241161" y="197786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模拟毛笔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27976" y="1977866"/>
              <a:ext cx="32355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型号（大中小）× 颜色（红绿蓝白黑）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48400" y="22812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41161" y="239410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视频播放器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27976" y="2394109"/>
              <a:ext cx="25282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操作系统平台 × 视频文件格式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26974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41161" y="281035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报表模块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27976" y="2810351"/>
              <a:ext cx="29105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报表的显示方式 × 数据的采集方式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31137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41161" y="322659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日志组件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27976" y="3226594"/>
              <a:ext cx="27193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日志级别的处理逻辑 × 落盘介质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248400" y="3629978"/>
            <a:ext cx="5410200" cy="2693670"/>
            <a:chOff x="6248400" y="3629978"/>
            <a:chExt cx="5410200" cy="2693670"/>
          </a:xfrm>
        </p:grpSpPr>
        <p:sp>
          <p:nvSpPr>
            <p:cNvPr id="42" name="Rectangle 42"/>
            <p:cNvSpPr/>
            <p:nvPr/>
          </p:nvSpPr>
          <p:spPr>
            <a:xfrm>
              <a:off x="6248400" y="3629978"/>
              <a:ext cx="5410200" cy="2693670"/>
            </a:xfrm>
            <a:prstGeom prst="roundRect">
              <a:avLst>
                <a:gd name="adj" fmla="val 495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46520" y="382809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37960" y="38623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29831" y="386286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哪一维当抽象部分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39281" y="4206716"/>
              <a:ext cx="472135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与这个类关系最固有、还带着普通业务方法的那一维，做成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抽象类层次；另一维通过“设置进来”的关系加入，做成实现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类层次。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40424" y="5063490"/>
              <a:ext cx="47365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毛笔的型号是它自己的属性，颜色是蘸上去的，所以型号是抽象部分、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颜色是实现部分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882896" cy="2997517"/>
            <a:chOff x="667512" y="1835468"/>
            <a:chExt cx="488289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定义、结构与四个角色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把上一节的做法写成一条定义和一张标准类图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定义与两个别名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标准类图与两条关键连线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四个角色各管什么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定义、结构与四个角色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定义：分离抽象部分与它的实现部分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792562" cy="308039"/>
            <a:chOff x="525399" y="1550194"/>
            <a:chExt cx="879256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79256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桥接模式（Bridge Pattern）：将抽象部分与它的实现部分分离，使它们都可以独立地变化。</a:t>
              </a:r>
            </a:p>
          </p:txBody>
        </p:sp>
      </p:grpSp>
      <p:grpSp>
        <p:nvGrpSpPr>
          <p:cNvPr id="20" name="c1-card-1"/>
          <p:cNvGrpSpPr/>
          <p:nvPr/>
        </p:nvGrpSpPr>
        <p:grpSpPr>
          <a:xfrm>
            <a:off x="533400" y="1967865"/>
            <a:ext cx="5842635" cy="2537460"/>
            <a:chOff x="533400" y="1967865"/>
            <a:chExt cx="5842635" cy="253746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842635" cy="2537460"/>
            </a:xfrm>
            <a:prstGeom prst="roundRect">
              <a:avLst>
                <a:gd name="adj" fmla="val 52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227076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24270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桥接模式 Bridge Pattern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将抽象部分与它的实现部分分离，使它们都可以独立地变化。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297180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2908935"/>
              <a:ext cx="19537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属于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对象结构型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模式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30708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244215"/>
              <a:ext cx="4491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别名：柄体模式（Handle and Body），也叫接口模式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（Interface）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4573" y="3860959"/>
              <a:ext cx="50523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如果一个类存在两个独立变化的维度，桥接模式把它们分成两条继承等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级结构，在抽象层建立一个关联，这条关联就是那座“桥”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4694872"/>
            <a:ext cx="5842635" cy="782955"/>
            <a:chOff x="533400" y="4694872"/>
            <a:chExt cx="5842635" cy="782955"/>
          </a:xfrm>
        </p:grpSpPr>
        <p:sp>
          <p:nvSpPr>
            <p:cNvPr id="21" name="Rectangle 21"/>
            <p:cNvSpPr/>
            <p:nvPr/>
          </p:nvSpPr>
          <p:spPr>
            <a:xfrm>
              <a:off x="533400" y="4694872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4986340"/>
              <a:ext cx="200023" cy="200023"/>
              <a:chOff x="738188" y="4986340"/>
              <a:chExt cx="200023" cy="20002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498634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71538" y="50530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130" y="4843462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桥接用抽象关联取代了多重继承和多层继承，把类之间的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静态继承关系换成了对象之间的动态组合关系。</a:t>
              </a:r>
            </a:p>
          </p:txBody>
        </p:sp>
      </p:grpSp>
      <p:grpSp>
        <p:nvGrpSpPr>
          <p:cNvPr id="32" name="c2-bullets-1"/>
          <p:cNvGrpSpPr/>
          <p:nvPr/>
        </p:nvGrpSpPr>
        <p:grpSpPr>
          <a:xfrm>
            <a:off x="6673215" y="1992630"/>
            <a:ext cx="4907280" cy="992505"/>
            <a:chOff x="6673215" y="1992630"/>
            <a:chExt cx="4907280" cy="992505"/>
          </a:xfrm>
        </p:grpSpPr>
        <p:sp>
          <p:nvSpPr>
            <p:cNvPr id="27" name="TextBox 27"/>
            <p:cNvSpPr txBox="1"/>
            <p:nvPr/>
          </p:nvSpPr>
          <p:spPr>
            <a:xfrm>
              <a:off x="6673215" y="199263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读定义时最容易错的一处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680835" y="238315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20865" y="2346960"/>
              <a:ext cx="3892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“实现部分”不是指“实现抽象类的那些子类”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680835" y="272796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20865" y="269176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它指的是另一条完全独立的继承链，专门放基本操作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6680835" y="3116580"/>
            <a:ext cx="4977765" cy="2362200"/>
            <a:chOff x="6680835" y="3116580"/>
            <a:chExt cx="4977765" cy="2362200"/>
          </a:xfrm>
        </p:grpSpPr>
        <p:sp>
          <p:nvSpPr>
            <p:cNvPr id="33" name="Rectangle 33"/>
            <p:cNvSpPr/>
            <p:nvPr/>
          </p:nvSpPr>
          <p:spPr>
            <a:xfrm>
              <a:off x="6680835" y="3116580"/>
              <a:ext cx="4977765" cy="2362200"/>
            </a:xfrm>
            <a:prstGeom prst="roundRect">
              <a:avLst>
                <a:gd name="adj" fmla="val 56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90360" y="3249930"/>
              <a:ext cx="47625" cy="20955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928485" y="332613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19646" y="33618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29512" y="336137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分离抽象和实现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20865" y="3722370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只有把抽象和实现分开，两者才谈得上独立变化；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只有能独立变化，系统才有更好的可扩展性和可维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护性。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22008" y="4624864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动态切换实现、减少子类个数这些好处，都是分离之后顺带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来的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定义、结构与四个角色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结构：两条继承链，一条关联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311286" cy="308039"/>
            <a:chOff x="525399" y="1550194"/>
            <a:chExt cx="831128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3112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左边一条是抽象部分的继承链，右边一条是实现部分的继承链，中间那条聚合线就是桥。</a:t>
              </a:r>
            </a:p>
          </p:txBody>
        </p:sp>
      </p:grpSp>
      <p:grpSp>
        <p:nvGrpSpPr>
          <p:cNvPr id="51" name="c1-uml-1"/>
          <p:cNvGrpSpPr/>
          <p:nvPr/>
        </p:nvGrpSpPr>
        <p:grpSpPr>
          <a:xfrm>
            <a:off x="905828" y="2354580"/>
            <a:ext cx="5844540" cy="2192654"/>
            <a:chOff x="905828" y="2354580"/>
            <a:chExt cx="5844540" cy="2192654"/>
          </a:xfrm>
        </p:grpSpPr>
        <p:sp>
          <p:nvSpPr>
            <p:cNvPr id="9" name="Freeform 9"/>
            <p:cNvSpPr/>
            <p:nvPr/>
          </p:nvSpPr>
          <p:spPr>
            <a:xfrm>
              <a:off x="2464118" y="2729865"/>
              <a:ext cx="2907982" cy="9525"/>
            </a:xfrm>
            <a:custGeom>
              <a:avLst/>
              <a:gdLst/>
              <a:ahLst/>
              <a:cxnLst/>
              <a:rect l="l" t="t" r="r" b="b"/>
              <a:pathLst>
                <a:path w="2907982" h="9525">
                  <a:moveTo>
                    <a:pt x="2907982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254568" y="2671762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615440" y="3230880"/>
              <a:ext cx="9525" cy="728662"/>
            </a:xfrm>
            <a:custGeom>
              <a:avLst/>
              <a:gdLst/>
              <a:ahLst/>
              <a:cxnLst/>
              <a:rect l="l" t="t" r="r" b="b"/>
              <a:pathLst>
                <a:path w="9525" h="728662">
                  <a:moveTo>
                    <a:pt x="0" y="72866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542098" y="310515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779520" y="3217545"/>
              <a:ext cx="2164080" cy="741997"/>
            </a:xfrm>
            <a:custGeom>
              <a:avLst/>
              <a:gdLst/>
              <a:ahLst/>
              <a:cxnLst/>
              <a:rect l="l" t="t" r="r" b="b"/>
              <a:pathLst>
                <a:path w="2164080" h="741997">
                  <a:moveTo>
                    <a:pt x="0" y="741997"/>
                  </a:moveTo>
                  <a:lnTo>
                    <a:pt x="0" y="308610"/>
                  </a:lnTo>
                  <a:lnTo>
                    <a:pt x="2164080" y="308610"/>
                  </a:lnTo>
                  <a:lnTo>
                    <a:pt x="216408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5870258" y="309181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943600" y="3217545"/>
              <a:ext cx="9525" cy="741997"/>
            </a:xfrm>
            <a:custGeom>
              <a:avLst/>
              <a:gdLst/>
              <a:ahLst/>
              <a:cxnLst/>
              <a:rect l="l" t="t" r="r" b="b"/>
              <a:pathLst>
                <a:path w="9525" h="741997">
                  <a:moveTo>
                    <a:pt x="0" y="741997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5870258" y="309181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976312" y="2354580"/>
              <a:ext cx="1278255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83932" y="2361248"/>
              <a:ext cx="1263968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976312" y="2585085"/>
              <a:ext cx="127825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976312" y="2842260"/>
              <a:ext cx="127825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72100" y="2366962"/>
              <a:ext cx="1143000" cy="7248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79720" y="2373630"/>
              <a:ext cx="1128712" cy="36480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72100" y="273462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72100" y="282987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05828" y="3959542"/>
              <a:ext cx="1419225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13448" y="3966210"/>
              <a:ext cx="140493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05828" y="4190048"/>
              <a:ext cx="141922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05828" y="4285298"/>
              <a:ext cx="141922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971800" y="3959542"/>
              <a:ext cx="1614488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979420" y="3966210"/>
              <a:ext cx="1600200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971800" y="4190048"/>
              <a:ext cx="161448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2971800" y="4285298"/>
              <a:ext cx="161448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135880" y="3959542"/>
              <a:ext cx="1614488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143500" y="3966210"/>
              <a:ext cx="1600200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135880" y="4190048"/>
              <a:ext cx="161448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135880" y="4285298"/>
              <a:ext cx="161448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206700" y="2410301"/>
              <a:ext cx="8174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Abstraction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7750" y="2654618"/>
              <a:ext cx="12074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impl : Implementor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7750" y="2911792"/>
              <a:ext cx="8152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18711" y="2419826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24418" y="2559844"/>
              <a:ext cx="8383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Implementor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443538" y="2899410"/>
              <a:ext cx="10499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operationImpl()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5330" y="4015264"/>
              <a:ext cx="13202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RefinedAbstraction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7265" y="4354830"/>
              <a:ext cx="8152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013201" y="4015264"/>
              <a:ext cx="15326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ConcreteImplementorA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043238" y="4354830"/>
              <a:ext cx="10499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operationImpl()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177281" y="4015264"/>
              <a:ext cx="15326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ConcreteImplementorB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207318" y="4354830"/>
              <a:ext cx="10499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operationImpl()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639502" y="2513648"/>
              <a:ext cx="348615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674193" y="2540318"/>
              <a:ext cx="2792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impl</a:t>
              </a:r>
            </a:p>
          </p:txBody>
        </p:sp>
      </p:grpSp>
      <p:grpSp>
        <p:nvGrpSpPr>
          <p:cNvPr id="58" name="c1-callout-2"/>
          <p:cNvGrpSpPr/>
          <p:nvPr/>
        </p:nvGrpSpPr>
        <p:grpSpPr>
          <a:xfrm>
            <a:off x="533400" y="5206365"/>
            <a:ext cx="6492240" cy="782955"/>
            <a:chOff x="533400" y="5206365"/>
            <a:chExt cx="6492240" cy="782955"/>
          </a:xfrm>
        </p:grpSpPr>
        <p:sp>
          <p:nvSpPr>
            <p:cNvPr id="52" name="Rectangle 52"/>
            <p:cNvSpPr/>
            <p:nvPr/>
          </p:nvSpPr>
          <p:spPr>
            <a:xfrm>
              <a:off x="533400" y="5206365"/>
              <a:ext cx="649224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5497830"/>
              <a:ext cx="200026" cy="200025"/>
              <a:chOff x="738188" y="5497830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4978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77926" y="55422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12642" y="56534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130" y="5354955"/>
              <a:ext cx="52349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客户端只和 Abstraction 打交道，由它把具体实现对象设置进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去，再调用业务方法。</a:t>
              </a:r>
            </a:p>
          </p:txBody>
        </p:sp>
      </p:grpSp>
      <p:grpSp>
        <p:nvGrpSpPr>
          <p:cNvPr id="66" name="c2-bullets-1"/>
          <p:cNvGrpSpPr/>
          <p:nvPr/>
        </p:nvGrpSpPr>
        <p:grpSpPr>
          <a:xfrm>
            <a:off x="7322820" y="1992630"/>
            <a:ext cx="4159568" cy="2194560"/>
            <a:chOff x="7322820" y="1992630"/>
            <a:chExt cx="4159568" cy="2194560"/>
          </a:xfrm>
        </p:grpSpPr>
        <p:sp>
          <p:nvSpPr>
            <p:cNvPr id="59" name="TextBox 59"/>
            <p:cNvSpPr txBox="1"/>
            <p:nvPr/>
          </p:nvSpPr>
          <p:spPr>
            <a:xfrm>
              <a:off x="7322820" y="19926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读图要点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7330440" y="2378392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580948" y="2346960"/>
              <a:ext cx="3901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空心菱形在 Abstraction 一端，实现对象由外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部设置进来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7330440" y="3008948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580948" y="297751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空心三角从子类指向父类或接口，实现关系用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虚线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7330440" y="3639502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580948" y="360807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两条链之间只有这一条连线，没有任何交叉继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承</a:t>
              </a:r>
            </a:p>
          </p:txBody>
        </p:sp>
      </p:grpSp>
      <p:grpSp>
        <p:nvGrpSpPr>
          <p:cNvPr id="73" name="c2-card-2"/>
          <p:cNvGrpSpPr/>
          <p:nvPr/>
        </p:nvGrpSpPr>
        <p:grpSpPr>
          <a:xfrm>
            <a:off x="7330440" y="4318635"/>
            <a:ext cx="4328160" cy="1670685"/>
            <a:chOff x="7330440" y="4318635"/>
            <a:chExt cx="4328160" cy="1670685"/>
          </a:xfrm>
        </p:grpSpPr>
        <p:sp>
          <p:nvSpPr>
            <p:cNvPr id="67" name="Rectangle 67"/>
            <p:cNvSpPr/>
            <p:nvPr/>
          </p:nvSpPr>
          <p:spPr>
            <a:xfrm>
              <a:off x="7330440" y="4318635"/>
              <a:ext cx="4328160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7339965" y="4451985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7578090" y="45281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668298" y="45639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变体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179118" y="4563428"/>
              <a:ext cx="27607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Implementor 也可以是抽象类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570470" y="4924425"/>
              <a:ext cx="3634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课件里 Implementor 画成接口。如果实现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部分需要共享字段或默认实现，把它写成抽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象类同样成立，关系就从实现变成继承。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定义、结构与四个角色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四个角色分别管什么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6923" y="1545431"/>
            <a:ext cx="6066282" cy="2809684"/>
            <a:chOff x="526923" y="1545431"/>
            <a:chExt cx="6066282" cy="2809684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16392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Abstraction 抽象类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05253" y="1545431"/>
              <a:ext cx="3914394" cy="729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定义抽象部分的接口，持有一个 Implementor 类型的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对象并维护它，既可以有抽象业务方法，也可以有具体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业务方法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29647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923" y="2397919"/>
              <a:ext cx="1617421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en-US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RefinedAbstraction</a:t>
              </a:r>
              <a:br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扩充抽象类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05253" y="2397919"/>
              <a:ext cx="3841242" cy="729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扩充 Abstraction 的接口，通常是具体类，实现其中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声明的抽象业务方法，也可以调用 Implementor 里的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14991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923" y="3251359"/>
              <a:ext cx="15674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Implementor 实现类</a:t>
              </a:r>
              <a:br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接口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05253" y="3251359"/>
              <a:ext cx="37518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声明实现部分的基本操作，只给基本操作不给业务逻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辑，具体实现交给子类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7633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923" y="3865721"/>
              <a:ext cx="1591818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en-US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ConcreteImplement</a:t>
              </a:r>
              <a:br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or 具体实现类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05253" y="3865721"/>
              <a:ext cx="3841242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 Implementor 接口，不同的具体实现类给出基本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操作的不同做法，运行时替换父类对象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4469130"/>
            <a:ext cx="6059805" cy="1202055"/>
            <a:chOff x="533400" y="4469130"/>
            <a:chExt cx="6059805" cy="1202055"/>
          </a:xfrm>
        </p:grpSpPr>
        <p:sp>
          <p:nvSpPr>
            <p:cNvPr id="19" name="Rectangle 19"/>
            <p:cNvSpPr/>
            <p:nvPr/>
          </p:nvSpPr>
          <p:spPr>
            <a:xfrm>
              <a:off x="533400" y="4469130"/>
              <a:ext cx="6059805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602480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2475" y="465010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044" y="468296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落到代码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68006" y="468963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桥在代码里是哪两行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62000" y="505872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7448" y="5006816"/>
              <a:ext cx="40766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抽象类里的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protected Implementor impl;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是桥本身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62000" y="534352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17448" y="5291614"/>
              <a:ext cx="43786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扩充抽象类里的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impl.operationImpl();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是过桥的那一步</a:t>
              </a:r>
            </a:p>
          </p:txBody>
        </p:sp>
      </p:grpSp>
      <p:grpSp>
        <p:nvGrpSpPr>
          <p:cNvPr id="34" name="c2-bullets-1"/>
          <p:cNvGrpSpPr/>
          <p:nvPr/>
        </p:nvGrpSpPr>
        <p:grpSpPr>
          <a:xfrm>
            <a:off x="6891528" y="1545431"/>
            <a:ext cx="4453586" cy="1086612"/>
            <a:chOff x="6891528" y="1545431"/>
            <a:chExt cx="4453586" cy="1086612"/>
          </a:xfrm>
        </p:grpSpPr>
        <p:sp>
          <p:nvSpPr>
            <p:cNvPr id="29" name="TextBox 29"/>
            <p:cNvSpPr txBox="1"/>
            <p:nvPr/>
          </p:nvSpPr>
          <p:spPr>
            <a:xfrm>
              <a:off x="6891528" y="154543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两个容易写错的地方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898005" y="1877378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0" y="0"/>
                  </a:moveTo>
                  <a:lnTo>
                    <a:pt x="97155" y="97155"/>
                  </a:lnTo>
                  <a:moveTo>
                    <a:pt x="97155" y="0"/>
                  </a:moveTo>
                  <a:lnTo>
                    <a:pt x="0" y="9715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22033" y="1846421"/>
              <a:ext cx="42230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 Abstraction 直接持有某个具体实现类，桥就短路了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6898005" y="2169795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0" y="0"/>
                  </a:moveTo>
                  <a:lnTo>
                    <a:pt x="97155" y="97155"/>
                  </a:lnTo>
                  <a:moveTo>
                    <a:pt x="97155" y="0"/>
                  </a:moveTo>
                  <a:lnTo>
                    <a:pt x="0" y="9715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22033" y="2139791"/>
              <a:ext cx="42070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把业务逻辑塞进 Implementor，实现部分就不再是“基本操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作”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6898005" y="2746058"/>
            <a:ext cx="4760595" cy="2925128"/>
            <a:chOff x="6898005" y="2746058"/>
            <a:chExt cx="4760595" cy="2925128"/>
          </a:xfrm>
        </p:grpSpPr>
        <p:sp>
          <p:nvSpPr>
            <p:cNvPr id="35" name="Rectangle 35"/>
            <p:cNvSpPr/>
            <p:nvPr/>
          </p:nvSpPr>
          <p:spPr>
            <a:xfrm>
              <a:off x="6898005" y="2746058"/>
              <a:ext cx="4760595" cy="2925128"/>
            </a:xfrm>
            <a:prstGeom prst="roundRect">
              <a:avLst>
                <a:gd name="adj" fmla="val 4559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078980" y="292703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170699" y="295989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44956" y="296656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两个接口不必长得一样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72503" y="3283744"/>
              <a:ext cx="409321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Implementor 的接口和 Abstraction 的接口可以完全不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同。Abstraction 除了自己的方法，还能通过关联调用到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Implementor 的方法，这正是用关联替代继承的地方。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1" name="Rectangle 4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1273" y="6039326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四个角色里只有抽象类同时认识两条链，其余三个角色都只待在自己那一条链上。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913376" cy="2997517"/>
            <a:chOff x="667512" y="1835468"/>
            <a:chExt cx="491337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26526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代码实现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先写出四个角色的骨架，再沿两个方向各扩展一次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实现部分的骨架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抽象部分与客户端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两个方向各自扩展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745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793" y="407194"/>
              <a:ext cx="17237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Java 代码实现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代码骨架（一）：实现部分这一条链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247788" cy="308039"/>
            <a:chOff x="525399" y="1550194"/>
            <a:chExt cx="72477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2477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实现类接口只声明基本操作，不写业务逻辑；每个具体实现类给出一种做法。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5842635" cy="3950970"/>
            <a:chOff x="533400" y="1967865"/>
            <a:chExt cx="5842635" cy="395097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842635" cy="3950970"/>
            </a:xfrm>
            <a:prstGeom prst="roundRect">
              <a:avLst>
                <a:gd name="adj" fmla="val 24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9355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Implementor 与两个具体实现类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4548886" cy="3466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Implementor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operationImpl();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只声明基本操作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ConcreteImplementorA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Implementor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operationImpl()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"实现方式 A"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ConcreteImplementorB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Implementor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operationImpl()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"实现方式 B"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2-bullets-1"/>
          <p:cNvGrpSpPr/>
          <p:nvPr/>
        </p:nvGrpSpPr>
        <p:grpSpPr>
          <a:xfrm>
            <a:off x="6673215" y="1992630"/>
            <a:ext cx="4751070" cy="2194560"/>
            <a:chOff x="6673215" y="1992630"/>
            <a:chExt cx="4751070" cy="2194560"/>
          </a:xfrm>
        </p:grpSpPr>
        <p:sp>
          <p:nvSpPr>
            <p:cNvPr id="13" name="TextBox 13"/>
            <p:cNvSpPr txBox="1"/>
            <p:nvPr/>
          </p:nvSpPr>
          <p:spPr>
            <a:xfrm>
              <a:off x="6673215" y="199263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这一段的三个约定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6680835" y="2378392"/>
              <a:ext cx="144780" cy="116205"/>
            </a:xfrm>
            <a:custGeom>
              <a:avLst/>
              <a:gdLst/>
              <a:ahLst/>
              <a:cxnLst/>
              <a:rect l="l" t="t" r="r" b="b"/>
              <a:pathLst>
                <a:path w="144780" h="116205">
                  <a:moveTo>
                    <a:pt x="0" y="61912"/>
                  </a:moveTo>
                  <a:lnTo>
                    <a:pt x="55245" y="116205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32295" y="2346960"/>
              <a:ext cx="4491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方法名带 Impl 后缀，提醒它是基本操作而不是业务方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680835" y="3008948"/>
              <a:ext cx="144780" cy="116205"/>
            </a:xfrm>
            <a:custGeom>
              <a:avLst/>
              <a:gdLst/>
              <a:ahLst/>
              <a:cxnLst/>
              <a:rect l="l" t="t" r="r" b="b"/>
              <a:pathLst>
                <a:path w="144780" h="116205">
                  <a:moveTo>
                    <a:pt x="0" y="61912"/>
                  </a:moveTo>
                  <a:lnTo>
                    <a:pt x="55245" y="116205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32295" y="2977515"/>
              <a:ext cx="4472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接口里不出现 Abstraction 的任何类型，实现部分不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认识抽象部分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680835" y="3639502"/>
              <a:ext cx="144780" cy="116205"/>
            </a:xfrm>
            <a:custGeom>
              <a:avLst/>
              <a:gdLst/>
              <a:ahLst/>
              <a:cxnLst/>
              <a:rect l="l" t="t" r="r" b="b"/>
              <a:pathLst>
                <a:path w="144780" h="116205">
                  <a:moveTo>
                    <a:pt x="0" y="61912"/>
                  </a:moveTo>
                  <a:lnTo>
                    <a:pt x="55245" y="116205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32295" y="360807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新增一种实现就是再写一个类，这一条链上的其他类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一行都不改</a:t>
              </a:r>
            </a:p>
          </p:txBody>
        </p:sp>
      </p:grpSp>
      <p:grpSp>
        <p:nvGrpSpPr>
          <p:cNvPr id="27" name="c2-card-2"/>
          <p:cNvGrpSpPr/>
          <p:nvPr/>
        </p:nvGrpSpPr>
        <p:grpSpPr>
          <a:xfrm>
            <a:off x="6680835" y="4318635"/>
            <a:ext cx="4977765" cy="1621155"/>
            <a:chOff x="6680835" y="4318635"/>
            <a:chExt cx="4977765" cy="1621155"/>
          </a:xfrm>
        </p:grpSpPr>
        <p:sp>
          <p:nvSpPr>
            <p:cNvPr id="21" name="Rectangle 21"/>
            <p:cNvSpPr/>
            <p:nvPr/>
          </p:nvSpPr>
          <p:spPr>
            <a:xfrm>
              <a:off x="6680835" y="4318635"/>
              <a:ext cx="497776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90360" y="445198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928485" y="45281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19646" y="45639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29512" y="456342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源课件的写法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20865" y="4924425"/>
              <a:ext cx="42919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张欣佳课件写成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public interface Implementor {</a:t>
              </a:r>
              <a:br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public void operationImpl(); }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。接口方法默认就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是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public abstract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，那个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public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可以省掉。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8" name="TextBox 2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745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793" y="407194"/>
              <a:ext cx="17237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Java 代码实现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代码骨架（二）：抽象部分与客户端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885887" cy="308039"/>
            <a:chOff x="525399" y="1550194"/>
            <a:chExt cx="788588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88588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抽象类持有实现对象，扩充抽象类在自己的业务代码中间调用实现对象的基本操作。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5951220" cy="3950970"/>
            <a:chOff x="533400" y="1967865"/>
            <a:chExt cx="5951220" cy="395097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951220" cy="3950970"/>
            </a:xfrm>
            <a:prstGeom prst="roundRect">
              <a:avLst>
                <a:gd name="adj" fmla="val 24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23433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Abstraction 与 RefinedAbstraction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4356862" cy="3466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Abstraction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Implementor impl;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桥：持有实现部分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setImpl(Implementor impl)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.impl = impl;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RefinedAbstraction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Abstraction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operation()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抽象部分自己的业务代码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impl.operationImpl();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委托给实现部分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剩下的业务代码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6789420" y="1967865"/>
            <a:ext cx="4869180" cy="1313498"/>
            <a:chOff x="6789420" y="1967865"/>
            <a:chExt cx="4869180" cy="1313498"/>
          </a:xfrm>
        </p:grpSpPr>
        <p:sp>
          <p:nvSpPr>
            <p:cNvPr id="13" name="Rectangle 13"/>
            <p:cNvSpPr/>
            <p:nvPr/>
          </p:nvSpPr>
          <p:spPr>
            <a:xfrm>
              <a:off x="6789420" y="1967865"/>
              <a:ext cx="4869180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17817" y="211978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17055" y="2381726"/>
              <a:ext cx="4371086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Implementor impl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ConcreteImplementorA();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Abstraction abs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RefinedAbstraction();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abs.setImpl(impl);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abs.operation();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输出：实现方式 A */</a:t>
              </a:r>
            </a:p>
          </p:txBody>
        </p:sp>
      </p:grpSp>
      <p:grpSp>
        <p:nvGrpSpPr>
          <p:cNvPr id="23" name="c2-card-2"/>
          <p:cNvGrpSpPr/>
          <p:nvPr/>
        </p:nvGrpSpPr>
        <p:grpSpPr>
          <a:xfrm>
            <a:off x="6789420" y="3471862"/>
            <a:ext cx="4869180" cy="2446972"/>
            <a:chOff x="6789420" y="3471862"/>
            <a:chExt cx="4869180" cy="2446972"/>
          </a:xfrm>
        </p:grpSpPr>
        <p:sp>
          <p:nvSpPr>
            <p:cNvPr id="17" name="Rectangle 17"/>
            <p:cNvSpPr/>
            <p:nvPr/>
          </p:nvSpPr>
          <p:spPr>
            <a:xfrm>
              <a:off x="6789420" y="3471862"/>
              <a:ext cx="4869180" cy="2446972"/>
            </a:xfrm>
            <a:prstGeom prst="roundRect">
              <a:avLst>
                <a:gd name="adj" fmla="val 545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998970" y="368141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89178" y="37171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99998" y="37166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客户端换的是对象，不是类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91350" y="4077652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把 </a:t>
              </a: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new ConcreteImplementorA()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换成 </a:t>
              </a: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new</a:t>
              </a:r>
              <a:br/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ConcreteImplementorB()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，抽象部分一行不改，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输出就变了。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92493" y="4980146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也可以把实现类的类名写进配置文件，用反射创建后注入，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客户端连 </a:t>
              </a:r>
              <a:r>
                <a:rPr lang="en-US" sz="128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new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都不用写，做法见第 10 讲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4" name="TextBox 2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745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793" y="407194"/>
              <a:ext cx="17237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Java 代码实现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两个方向各扩展一次，互不牵连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294370" cy="293370"/>
            <a:chOff x="525780" y="1548765"/>
            <a:chExt cx="829437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294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下面两段代码分别沿实现方向和抽象方向加一个类。加之前已有的四个类，一个字都不用动。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6167438" cy="1640205"/>
            <a:chOff x="533400" y="1954530"/>
            <a:chExt cx="6167438" cy="164020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167438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14884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实现方向 · 再加一种做法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67915"/>
              <a:ext cx="4264533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ConcreteImplementorC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Implementor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operationImpl()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"实现方式 C"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3774758"/>
            <a:ext cx="6167438" cy="2397442"/>
            <a:chOff x="533400" y="3774758"/>
            <a:chExt cx="6167438" cy="2397442"/>
          </a:xfrm>
        </p:grpSpPr>
        <p:sp>
          <p:nvSpPr>
            <p:cNvPr id="13" name="Rectangle 13"/>
            <p:cNvSpPr/>
            <p:nvPr/>
          </p:nvSpPr>
          <p:spPr>
            <a:xfrm>
              <a:off x="533400" y="3774758"/>
              <a:ext cx="6167438" cy="2397442"/>
            </a:xfrm>
            <a:prstGeom prst="roundRect">
              <a:avLst>
                <a:gd name="adj" fmla="val 397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926681"/>
              <a:ext cx="14884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抽象方向 · 再加一种业务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416" y="4188143"/>
              <a:ext cx="4084511" cy="19112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RefinedAbstraction2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Abstraction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operation()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impl.operationImpl();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同样借用实现部分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extraOperation();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extraOperation()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只属于这个扩充抽象类的新功能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2-image-1"/>
          <p:cNvGrpSpPr/>
          <p:nvPr/>
        </p:nvGrpSpPr>
        <p:grpSpPr>
          <a:xfrm>
            <a:off x="7005638" y="1954530"/>
            <a:ext cx="4652962" cy="2215134"/>
            <a:chOff x="7005638" y="1954530"/>
            <a:chExt cx="4652962" cy="2215134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rcRect l="0" t="22542" r="0" b="22542"/>
            <a:stretch>
              <a:fillRect/>
            </a:stretch>
          </p:blipFill>
          <p:spPr>
            <a:xfrm>
              <a:off x="7005638" y="1954530"/>
              <a:ext cx="4652962" cy="1916430"/>
            </a:xfrm>
            <a:prstGeom prst="roundRect">
              <a:avLst>
                <a:gd name="adj" fmla="val 6958"/>
              </a:avLst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8267129" y="3964305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两架梯子各自加高，谁也不用等谁</a:t>
              </a:r>
            </a:p>
          </p:txBody>
        </p:sp>
      </p:grpSp>
      <p:grpSp>
        <p:nvGrpSpPr>
          <p:cNvPr id="24" name="c2-card-2"/>
          <p:cNvGrpSpPr/>
          <p:nvPr/>
        </p:nvGrpSpPr>
        <p:grpSpPr>
          <a:xfrm>
            <a:off x="7005638" y="4327208"/>
            <a:ext cx="4652962" cy="1844992"/>
            <a:chOff x="7005638" y="4327208"/>
            <a:chExt cx="4652962" cy="1844992"/>
          </a:xfrm>
        </p:grpSpPr>
        <p:sp>
          <p:nvSpPr>
            <p:cNvPr id="20" name="Rectangle 20"/>
            <p:cNvSpPr/>
            <p:nvPr/>
          </p:nvSpPr>
          <p:spPr>
            <a:xfrm>
              <a:off x="7005638" y="4327208"/>
              <a:ext cx="4652962" cy="1844992"/>
            </a:xfrm>
            <a:prstGeom prst="roundRect">
              <a:avLst>
                <a:gd name="adj" fmla="val 72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7015162" y="4460558"/>
              <a:ext cx="47625" cy="15782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34618" y="454866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这就是开闭原则的样子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34618" y="4884896"/>
              <a:ext cx="4036060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扩展前是 1 个扩充抽象类配 2 个具体实现类，扩展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后变成 2 配 3，已有的五个类一行没改。这 6 种组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合若用继承表达，要写 2 × 3 = 6 个叶子类并各自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维护。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5" name="TextBox 2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690360" cy="2997517"/>
            <a:chOff x="667512" y="1835468"/>
            <a:chExt cx="669036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课件中的三个实例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毛笔、跨平台播放器、大富翁玩家，三个例子分别落在不同的维度上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893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 模拟毛笔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 跨平台视频播放器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实例三 大富翁玩家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39294" cy="909257"/>
            <a:chOff x="520446" y="342900"/>
            <a:chExt cx="62392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课件中的三个实例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392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实例一：模拟毛笔，3 种型号配 5 种颜色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789860" cy="308039"/>
            <a:chOff x="525399" y="1550194"/>
            <a:chExt cx="878986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78986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用蜡笔要 3 × 5 = 15 个具体类；用毛笔只要 3 个型号类加 5 个颜色类，8 个类完成同样的事。</a:t>
              </a:r>
            </a:p>
          </p:txBody>
        </p:sp>
      </p:grpSp>
      <p:grpSp>
        <p:nvGrpSpPr>
          <p:cNvPr id="67" name="c1-uml-1"/>
          <p:cNvGrpSpPr/>
          <p:nvPr/>
        </p:nvGrpSpPr>
        <p:grpSpPr>
          <a:xfrm>
            <a:off x="992505" y="2311718"/>
            <a:ext cx="10125075" cy="2349816"/>
            <a:chOff x="992505" y="2311718"/>
            <a:chExt cx="10125075" cy="2349816"/>
          </a:xfrm>
        </p:grpSpPr>
        <p:sp>
          <p:nvSpPr>
            <p:cNvPr id="9" name="Freeform 9"/>
            <p:cNvSpPr/>
            <p:nvPr/>
          </p:nvSpPr>
          <p:spPr>
            <a:xfrm>
              <a:off x="4733925" y="2767965"/>
              <a:ext cx="2787968" cy="9525"/>
            </a:xfrm>
            <a:custGeom>
              <a:avLst/>
              <a:gdLst/>
              <a:ahLst/>
              <a:cxnLst/>
              <a:rect l="l" t="t" r="r" b="b"/>
              <a:pathLst>
                <a:path w="2787968" h="9525">
                  <a:moveTo>
                    <a:pt x="2787968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524375" y="2709862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645920" y="3349942"/>
              <a:ext cx="2225040" cy="723900"/>
            </a:xfrm>
            <a:custGeom>
              <a:avLst/>
              <a:gdLst/>
              <a:ahLst/>
              <a:cxnLst/>
              <a:rect l="l" t="t" r="r" b="b"/>
              <a:pathLst>
                <a:path w="2225040" h="723900">
                  <a:moveTo>
                    <a:pt x="0" y="723900"/>
                  </a:moveTo>
                  <a:lnTo>
                    <a:pt x="0" y="299085"/>
                  </a:lnTo>
                  <a:lnTo>
                    <a:pt x="2225040" y="299085"/>
                  </a:lnTo>
                  <a:lnTo>
                    <a:pt x="222504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797618" y="322421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870960" y="3349942"/>
              <a:ext cx="9525" cy="723900"/>
            </a:xfrm>
            <a:custGeom>
              <a:avLst/>
              <a:gdLst/>
              <a:ahLst/>
              <a:cxnLst/>
              <a:rect l="l" t="t" r="r" b="b"/>
              <a:pathLst>
                <a:path w="9525" h="723900">
                  <a:moveTo>
                    <a:pt x="0" y="72390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797618" y="322421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70960" y="3349942"/>
              <a:ext cx="2225040" cy="723900"/>
            </a:xfrm>
            <a:custGeom>
              <a:avLst/>
              <a:gdLst/>
              <a:ahLst/>
              <a:cxnLst/>
              <a:rect l="l" t="t" r="r" b="b"/>
              <a:pathLst>
                <a:path w="2225040" h="723900">
                  <a:moveTo>
                    <a:pt x="2225040" y="723900"/>
                  </a:moveTo>
                  <a:lnTo>
                    <a:pt x="2225040" y="299085"/>
                  </a:lnTo>
                  <a:lnTo>
                    <a:pt x="0" y="29908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797618" y="322421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8321040" y="3255645"/>
              <a:ext cx="9525" cy="818197"/>
            </a:xfrm>
            <a:custGeom>
              <a:avLst/>
              <a:gdLst/>
              <a:ahLst/>
              <a:cxnLst/>
              <a:rect l="l" t="t" r="r" b="b"/>
              <a:pathLst>
                <a:path w="9525" h="818197">
                  <a:moveTo>
                    <a:pt x="0" y="818197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8247698" y="312991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321040" y="3255645"/>
              <a:ext cx="2225040" cy="818197"/>
            </a:xfrm>
            <a:custGeom>
              <a:avLst/>
              <a:gdLst/>
              <a:ahLst/>
              <a:cxnLst/>
              <a:rect l="l" t="t" r="r" b="b"/>
              <a:pathLst>
                <a:path w="2225040" h="818197">
                  <a:moveTo>
                    <a:pt x="2225040" y="818197"/>
                  </a:moveTo>
                  <a:lnTo>
                    <a:pt x="2225040" y="346710"/>
                  </a:lnTo>
                  <a:lnTo>
                    <a:pt x="0" y="34671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8247698" y="312991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217545" y="2311718"/>
              <a:ext cx="1306830" cy="91249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225165" y="2318385"/>
              <a:ext cx="1292542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217545" y="2542222"/>
              <a:ext cx="130683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217545" y="2799398"/>
              <a:ext cx="130683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521892" y="2405062"/>
              <a:ext cx="1598295" cy="7248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528560" y="2411730"/>
              <a:ext cx="1584008" cy="36480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521892" y="2772728"/>
              <a:ext cx="15982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521892" y="2867978"/>
              <a:ext cx="15982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92505" y="4073842"/>
              <a:ext cx="130683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000125" y="4080510"/>
              <a:ext cx="129254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92505" y="4304348"/>
              <a:ext cx="130683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92505" y="4399598"/>
              <a:ext cx="130683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217545" y="4073842"/>
              <a:ext cx="130683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3225165" y="4080510"/>
              <a:ext cx="129254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217545" y="4304348"/>
              <a:ext cx="130683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217545" y="4399598"/>
              <a:ext cx="130683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42585" y="4073842"/>
              <a:ext cx="130683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450205" y="4080510"/>
              <a:ext cx="129254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42585" y="4304348"/>
              <a:ext cx="130683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442585" y="4399598"/>
              <a:ext cx="130683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749540" y="4073842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756208" y="408051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749540" y="430434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749540" y="43995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974580" y="4073842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982200" y="408051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974580" y="430434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974580" y="43995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749568" y="2367439"/>
              <a:ext cx="2427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Pen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288982" y="2611755"/>
              <a:ext cx="8624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color : Color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288982" y="2868930"/>
              <a:ext cx="116395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setColor(Color c)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draw(String name)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96151" y="2457926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40972" y="2597944"/>
              <a:ext cx="3601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Color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93330" y="2937510"/>
              <a:ext cx="15469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bepaint(penType, name)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352974" y="4129564"/>
              <a:ext cx="5858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SmallPen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63942" y="4469130"/>
              <a:ext cx="12381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draw(String name)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539888" y="4129564"/>
              <a:ext cx="6621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MiddlePen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288982" y="4469130"/>
              <a:ext cx="12381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draw(String name)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875812" y="4129564"/>
              <a:ext cx="4403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BigPen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514022" y="4469130"/>
              <a:ext cx="12381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draw(String name)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199648" y="4129564"/>
              <a:ext cx="2427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Red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820978" y="4469130"/>
              <a:ext cx="8818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bepaint(...)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404155" y="4129564"/>
              <a:ext cx="2838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Blue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046018" y="4469130"/>
              <a:ext cx="8818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bepaint(...)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808345" y="2551748"/>
              <a:ext cx="428625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840635" y="2578418"/>
              <a:ext cx="364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color</a:t>
              </a:r>
            </a:p>
          </p:txBody>
        </p:sp>
      </p:grpSp>
      <p:grpSp>
        <p:nvGrpSpPr>
          <p:cNvPr id="73" name="c1-kv-2"/>
          <p:cNvGrpSpPr/>
          <p:nvPr/>
        </p:nvGrpSpPr>
        <p:grpSpPr>
          <a:xfrm>
            <a:off x="525780" y="5383530"/>
            <a:ext cx="11132820" cy="733425"/>
            <a:chOff x="525780" y="5383530"/>
            <a:chExt cx="11132820" cy="733425"/>
          </a:xfrm>
        </p:grpSpPr>
        <p:sp>
          <p:nvSpPr>
            <p:cNvPr id="68" name="TextBox 68"/>
            <p:cNvSpPr txBox="1"/>
            <p:nvPr/>
          </p:nvSpPr>
          <p:spPr>
            <a:xfrm>
              <a:off x="525780" y="53835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抽象部分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566862" y="5383530"/>
              <a:ext cx="7100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Pen 及其三个型号子类。型号是毛笔固有的维度，业务方法 draw() 放在这一边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33400" y="570357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25780" y="58235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实现部分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566862" y="5823585"/>
              <a:ext cx="89283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Color 接口及 Red、Green、Blue、White、Black 五个颜色类，图中只画了两个，其余三个接法相同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课件中的三个实例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毛笔实例（一）：颜色这一维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502716" cy="308039"/>
            <a:chOff x="525399" y="1550194"/>
            <a:chExt cx="850271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50271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颜色是实现部分，接口只声明一个基本操作 bepaint，参数是笔的型号描述和要画的东西。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5626418" cy="3950970"/>
            <a:chOff x="533400" y="1967865"/>
            <a:chExt cx="5626418" cy="395097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626418" cy="3950970"/>
            </a:xfrm>
            <a:prstGeom prst="roundRect">
              <a:avLst>
                <a:gd name="adj" fmla="val 24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5895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Color 接口与两个具体颜色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4726686" cy="3466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Color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bepaint(String penType, String name);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Red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Color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bepaint(String penType, String name)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System.out.println(penType +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"红色的"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name +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"。"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Blue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Color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bepaint(String penType, String name)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System.out.println(penType +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"蓝色的"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name +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"。"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2-bullets-1"/>
          <p:cNvGrpSpPr/>
          <p:nvPr/>
        </p:nvGrpSpPr>
        <p:grpSpPr>
          <a:xfrm>
            <a:off x="6456998" y="1992630"/>
            <a:ext cx="4831080" cy="1337310"/>
            <a:chOff x="6456998" y="1992630"/>
            <a:chExt cx="4831080" cy="1337310"/>
          </a:xfrm>
        </p:grpSpPr>
        <p:sp>
          <p:nvSpPr>
            <p:cNvPr id="13" name="TextBox 13"/>
            <p:cNvSpPr txBox="1"/>
            <p:nvPr/>
          </p:nvSpPr>
          <p:spPr>
            <a:xfrm>
              <a:off x="6456998" y="199263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两个参数的来历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470333" y="24098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28448" y="2346960"/>
              <a:ext cx="4110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penType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由笔的子类填，比如“小号毛笔绘制”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470333" y="275463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28448" y="2691765"/>
              <a:ext cx="2801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name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由客户端传，比如“鲜花”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470333" y="30994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28448" y="303657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颜色类不知道有哪些型号，只按拿到的字符串拼输出</a:t>
              </a:r>
            </a:p>
          </p:txBody>
        </p:sp>
      </p:grpSp>
      <p:grpSp>
        <p:nvGrpSpPr>
          <p:cNvPr id="28" name="c2-card-2"/>
          <p:cNvGrpSpPr/>
          <p:nvPr/>
        </p:nvGrpSpPr>
        <p:grpSpPr>
          <a:xfrm>
            <a:off x="6464618" y="3461385"/>
            <a:ext cx="5193982" cy="2457450"/>
            <a:chOff x="6464618" y="3461385"/>
            <a:chExt cx="5193982" cy="2457450"/>
          </a:xfrm>
        </p:grpSpPr>
        <p:sp>
          <p:nvSpPr>
            <p:cNvPr id="21" name="Rectangle 21"/>
            <p:cNvSpPr/>
            <p:nvPr/>
          </p:nvSpPr>
          <p:spPr>
            <a:xfrm>
              <a:off x="6464618" y="3461385"/>
              <a:ext cx="5193982" cy="2457450"/>
            </a:xfrm>
            <a:prstGeom prst="roundRect">
              <a:avLst>
                <a:gd name="adj" fmla="val 54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74142" y="3594735"/>
              <a:ext cx="47625" cy="21907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712268" y="36709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98526" y="37066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读代码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55218" y="3706178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实现部分为什么能这么迟钝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04648" y="4067175"/>
              <a:ext cx="45396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Color 完全不认识 Pen。型号的信息是以普通参数的形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式传进来的，所以再加多少种型号，颜色类都不用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05791" y="4969669"/>
              <a:ext cx="34764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这正是“实现接口不必与抽象接口一致”的用处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课件中的三个实例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毛笔实例（二）：型号这一维与客户端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234375" cy="278702"/>
            <a:chOff x="526161" y="1547336"/>
            <a:chExt cx="8234375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2343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型号是抽象部分。抽象类持有颜色对象，子类在 draw 里填好自己的型号描述，再把活交给颜色。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5842635" cy="2966085"/>
            <a:chOff x="533400" y="1941195"/>
            <a:chExt cx="5842635" cy="296608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842635" cy="2966085"/>
            </a:xfrm>
            <a:prstGeom prst="roundRect">
              <a:avLst>
                <a:gd name="adj" fmla="val 32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13405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Pen 抽象类与小号毛笔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54580"/>
              <a:ext cx="3897821" cy="2479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Pen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Color color;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桥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setColor(Color c)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.color = c;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draw(String name);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SmallPen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Pen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draw(String name)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penType =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"小号毛笔绘制"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.color.bepaint(penType, name);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5082540"/>
            <a:ext cx="5842635" cy="1226820"/>
            <a:chOff x="533400" y="5082540"/>
            <a:chExt cx="5842635" cy="1226820"/>
          </a:xfrm>
        </p:grpSpPr>
        <p:sp>
          <p:nvSpPr>
            <p:cNvPr id="13" name="Rectangle 13"/>
            <p:cNvSpPr/>
            <p:nvPr/>
          </p:nvSpPr>
          <p:spPr>
            <a:xfrm>
              <a:off x="533400" y="5082540"/>
              <a:ext cx="584263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521589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" y="527494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1344" y="530923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读代码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80947" y="531495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型号信息是在哪一步填进去的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047" y="5648325"/>
              <a:ext cx="51829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penType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由型号子类自己写死，颜色类拿到这个字符串只管拼输出。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抽象部分和实现部分各自只认识自己那一半。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6680835" y="1941195"/>
            <a:ext cx="4977765" cy="1261110"/>
            <a:chOff x="6680835" y="1941195"/>
            <a:chExt cx="4977765" cy="1261110"/>
          </a:xfrm>
        </p:grpSpPr>
        <p:sp>
          <p:nvSpPr>
            <p:cNvPr id="20" name="Rectangle 20"/>
            <p:cNvSpPr/>
            <p:nvPr/>
          </p:nvSpPr>
          <p:spPr>
            <a:xfrm>
              <a:off x="6680835" y="1941195"/>
              <a:ext cx="4977765" cy="1261110"/>
            </a:xfrm>
            <a:prstGeom prst="roundRect">
              <a:avLst>
                <a:gd name="adj" fmla="val 75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09232" y="209311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08851" y="2354580"/>
              <a:ext cx="1844231" cy="774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Pen pen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SmallPen();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Color color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Red();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pen.setColor(color);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pen.draw(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"鲜花"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6680835" y="3378518"/>
            <a:ext cx="4977765" cy="2930842"/>
            <a:chOff x="6680835" y="3378518"/>
            <a:chExt cx="4977765" cy="2930842"/>
          </a:xfrm>
        </p:grpSpPr>
        <p:sp>
          <p:nvSpPr>
            <p:cNvPr id="24" name="Rectangle 24"/>
            <p:cNvSpPr/>
            <p:nvPr/>
          </p:nvSpPr>
          <p:spPr>
            <a:xfrm>
              <a:off x="6680835" y="3378518"/>
              <a:ext cx="4977765" cy="2930842"/>
            </a:xfrm>
            <a:prstGeom prst="roundRect">
              <a:avLst>
                <a:gd name="adj" fmla="val 45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90360" y="3511868"/>
              <a:ext cx="47625" cy="26641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04482" y="359283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运行结果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04482" y="391287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输出：小号毛笔绘制红色的鲜花。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919912" y="427101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75932" y="4214812"/>
              <a:ext cx="42056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MiddlePen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BigPen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照同一个模子写，只换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penType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个字符串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919912" y="483108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75932" y="4774882"/>
              <a:ext cx="42097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把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 Red()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换成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 Blue()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，只有颜色那一段变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05625" y="5073491"/>
              <a:ext cx="427151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源课件的 sample01 把这两个类名写在配置文件里，用反射创建，客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户端一行代码都不用改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76197" cy="909257"/>
            <a:chOff x="520446" y="342900"/>
            <a:chExt cx="62761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课件中的三个实例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761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实例二：跨平台视频播放器，平台 × 格式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331051" cy="308039"/>
            <a:chOff x="525399" y="1550194"/>
            <a:chExt cx="1033105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33105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要在 Windows、Linux、Unix 上播放 MPEG、RMVB、AVI、WMV 四种格式。平台一维，格式一维，互不相干。</a:t>
              </a:r>
            </a:p>
          </p:txBody>
        </p:sp>
      </p:grpSp>
      <p:grpSp>
        <p:nvGrpSpPr>
          <p:cNvPr id="67" name="c1-uml-1"/>
          <p:cNvGrpSpPr/>
          <p:nvPr/>
        </p:nvGrpSpPr>
        <p:grpSpPr>
          <a:xfrm>
            <a:off x="1054418" y="2354580"/>
            <a:ext cx="10063162" cy="2192654"/>
            <a:chOff x="1054418" y="2354580"/>
            <a:chExt cx="10063162" cy="2192654"/>
          </a:xfrm>
        </p:grpSpPr>
        <p:sp>
          <p:nvSpPr>
            <p:cNvPr id="9" name="Freeform 9"/>
            <p:cNvSpPr/>
            <p:nvPr/>
          </p:nvSpPr>
          <p:spPr>
            <a:xfrm>
              <a:off x="4959668" y="2729865"/>
              <a:ext cx="2513648" cy="9525"/>
            </a:xfrm>
            <a:custGeom>
              <a:avLst/>
              <a:gdLst/>
              <a:ahLst/>
              <a:cxnLst/>
              <a:rect l="l" t="t" r="r" b="b"/>
              <a:pathLst>
                <a:path w="2513648" h="9525">
                  <a:moveTo>
                    <a:pt x="2513648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750118" y="2671762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645920" y="3230880"/>
              <a:ext cx="2225040" cy="728662"/>
            </a:xfrm>
            <a:custGeom>
              <a:avLst/>
              <a:gdLst/>
              <a:ahLst/>
              <a:cxnLst/>
              <a:rect l="l" t="t" r="r" b="b"/>
              <a:pathLst>
                <a:path w="2225040" h="728662">
                  <a:moveTo>
                    <a:pt x="0" y="728662"/>
                  </a:moveTo>
                  <a:lnTo>
                    <a:pt x="0" y="300990"/>
                  </a:lnTo>
                  <a:lnTo>
                    <a:pt x="2225040" y="300990"/>
                  </a:lnTo>
                  <a:lnTo>
                    <a:pt x="222504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797618" y="310515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870960" y="3230880"/>
              <a:ext cx="9525" cy="728662"/>
            </a:xfrm>
            <a:custGeom>
              <a:avLst/>
              <a:gdLst/>
              <a:ahLst/>
              <a:cxnLst/>
              <a:rect l="l" t="t" r="r" b="b"/>
              <a:pathLst>
                <a:path w="9525" h="728662">
                  <a:moveTo>
                    <a:pt x="0" y="72866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797618" y="310515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70960" y="3230880"/>
              <a:ext cx="2225040" cy="728662"/>
            </a:xfrm>
            <a:custGeom>
              <a:avLst/>
              <a:gdLst/>
              <a:ahLst/>
              <a:cxnLst/>
              <a:rect l="l" t="t" r="r" b="b"/>
              <a:pathLst>
                <a:path w="2225040" h="728662">
                  <a:moveTo>
                    <a:pt x="2225040" y="728662"/>
                  </a:moveTo>
                  <a:lnTo>
                    <a:pt x="2225040" y="300990"/>
                  </a:lnTo>
                  <a:lnTo>
                    <a:pt x="0" y="30099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797618" y="310515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8321040" y="3217545"/>
              <a:ext cx="9525" cy="741997"/>
            </a:xfrm>
            <a:custGeom>
              <a:avLst/>
              <a:gdLst/>
              <a:ahLst/>
              <a:cxnLst/>
              <a:rect l="l" t="t" r="r" b="b"/>
              <a:pathLst>
                <a:path w="9525" h="741997">
                  <a:moveTo>
                    <a:pt x="0" y="741997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8247698" y="309181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321040" y="3217545"/>
              <a:ext cx="2225040" cy="741997"/>
            </a:xfrm>
            <a:custGeom>
              <a:avLst/>
              <a:gdLst/>
              <a:ahLst/>
              <a:cxnLst/>
              <a:rect l="l" t="t" r="r" b="b"/>
              <a:pathLst>
                <a:path w="2225040" h="741997">
                  <a:moveTo>
                    <a:pt x="2225040" y="741997"/>
                  </a:moveTo>
                  <a:lnTo>
                    <a:pt x="2225040" y="308610"/>
                  </a:lnTo>
                  <a:lnTo>
                    <a:pt x="0" y="30861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8247698" y="309181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991802" y="2354580"/>
              <a:ext cx="1758315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998470" y="2361248"/>
              <a:ext cx="1744028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991802" y="2585085"/>
              <a:ext cx="175831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991802" y="2842260"/>
              <a:ext cx="175831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473315" y="2366962"/>
              <a:ext cx="1695450" cy="7248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479982" y="2373630"/>
              <a:ext cx="1681162" cy="36480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473315" y="2734628"/>
              <a:ext cx="169545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473315" y="2829878"/>
              <a:ext cx="169545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054418" y="3959542"/>
              <a:ext cx="1183958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061085" y="3966210"/>
              <a:ext cx="1169670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054418" y="4190048"/>
              <a:ext cx="11839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054418" y="4285298"/>
              <a:ext cx="11839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299460" y="3959542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3307080" y="396621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299460" y="419004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299460" y="42852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524500" y="3959542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532120" y="396621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524500" y="419004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524500" y="42852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749540" y="3959542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756208" y="396621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749540" y="419004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749540" y="42852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974580" y="3959542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982200" y="396621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974580" y="419004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974580" y="42852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028448" y="2410301"/>
              <a:ext cx="16850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OperatingSystemVersion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063240" y="2654618"/>
              <a:ext cx="9030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vf : VideoFile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063240" y="2911792"/>
              <a:ext cx="13933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play(String fileName)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96151" y="2419826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21528" y="2559844"/>
              <a:ext cx="5990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VideoFile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44752" y="2899410"/>
              <a:ext cx="16544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decode(osType, fileName)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10319" y="4015264"/>
              <a:ext cx="10712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WindowsVersion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5855" y="4354830"/>
              <a:ext cx="6819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play(...)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439523" y="4015264"/>
              <a:ext cx="8628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LinuxVersion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370898" y="4354830"/>
              <a:ext cx="6819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play(...)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702687" y="4015264"/>
              <a:ext cx="7866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UnixVersion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595938" y="4354830"/>
              <a:ext cx="6819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play(...)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94430" y="4015264"/>
              <a:ext cx="4532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AVIFile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820978" y="4354830"/>
              <a:ext cx="8455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decode(...)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247107" y="4015264"/>
              <a:ext cx="5979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MPEGFile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046018" y="4354830"/>
              <a:ext cx="8455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decode(...)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991225" y="2513648"/>
              <a:ext cx="241935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029115" y="254031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vf</a:t>
              </a:r>
            </a:p>
          </p:txBody>
        </p:sp>
      </p:grpSp>
      <p:grpSp>
        <p:nvGrpSpPr>
          <p:cNvPr id="73" name="c1-callout-2"/>
          <p:cNvGrpSpPr/>
          <p:nvPr/>
        </p:nvGrpSpPr>
        <p:grpSpPr>
          <a:xfrm>
            <a:off x="533400" y="5206365"/>
            <a:ext cx="11125200" cy="1156335"/>
            <a:chOff x="533400" y="5206365"/>
            <a:chExt cx="11125200" cy="1156335"/>
          </a:xfrm>
        </p:grpSpPr>
        <p:sp>
          <p:nvSpPr>
            <p:cNvPr id="68" name="Rectangle 68"/>
            <p:cNvSpPr/>
            <p:nvPr/>
          </p:nvSpPr>
          <p:spPr>
            <a:xfrm>
              <a:off x="533400" y="5206365"/>
              <a:ext cx="11125200" cy="1156335"/>
            </a:xfrm>
            <a:prstGeom prst="roundRect">
              <a:avLst>
                <a:gd name="adj" fmla="val 9885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5684522"/>
              <a:ext cx="200023" cy="200023"/>
              <a:chOff x="738188" y="5684522"/>
              <a:chExt cx="200023" cy="20002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568452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71538" y="57511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130" y="5541645"/>
              <a:ext cx="98069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 个平台配 4 种格式：继承方案要 3 × 4 = 12 个具体播放类，桥接方案 3 + 4 = 7 个。RMVBFile 与 WMVFile 的接法和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图中两个格式相同。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课件中的三个实例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播放器实例：解码在一边，平台在另一边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496300" cy="293370"/>
            <a:chOff x="525780" y="1548765"/>
            <a:chExt cx="849630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496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解码是基本操作，放在实现部分；播放是业务方法，放在抽象部分。平台名由抽象部分填进去。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5410200" cy="2397442"/>
            <a:chOff x="533400" y="1954530"/>
            <a:chExt cx="5410200" cy="239744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2397442"/>
            </a:xfrm>
            <a:prstGeom prst="roundRect">
              <a:avLst>
                <a:gd name="adj" fmla="val 397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9607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实现部分 · 格式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67915"/>
              <a:ext cx="4931283" cy="19112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VideoFile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decode(String osType, String fileName);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AVIFile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VideoFile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decode(String osType, String fileName)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System.out.println(osType +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 上播放 avi 文件 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fileName);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4531995"/>
            <a:ext cx="5410200" cy="1640205"/>
            <a:chOff x="533400" y="4531995"/>
            <a:chExt cx="5410200" cy="1640205"/>
          </a:xfrm>
        </p:grpSpPr>
        <p:sp>
          <p:nvSpPr>
            <p:cNvPr id="13" name="Rectangle 13"/>
            <p:cNvSpPr/>
            <p:nvPr/>
          </p:nvSpPr>
          <p:spPr>
            <a:xfrm>
              <a:off x="533400" y="4531995"/>
              <a:ext cx="5410200" cy="1640205"/>
            </a:xfrm>
            <a:prstGeom prst="roundRect">
              <a:avLst>
                <a:gd name="adj" fmla="val 8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665345"/>
              <a:ext cx="47625" cy="13735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9620" y="473011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3059" y="476440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其余三种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19631" y="4765834"/>
              <a:ext cx="28689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MPEG、RMVB、WMV 同一个模子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381" y="5108734"/>
              <a:ext cx="464921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三个类的结构和 AVIFile 完全一样，只换输出里的格式名。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实现部分从头到尾不出现任何平台类型。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6248400" y="1954530"/>
            <a:ext cx="5410200" cy="2776538"/>
            <a:chOff x="6248400" y="1954530"/>
            <a:chExt cx="5410200" cy="2776538"/>
          </a:xfrm>
        </p:grpSpPr>
        <p:sp>
          <p:nvSpPr>
            <p:cNvPr id="20" name="Rectangle 20"/>
            <p:cNvSpPr/>
            <p:nvPr/>
          </p:nvSpPr>
          <p:spPr>
            <a:xfrm>
              <a:off x="6248400" y="1954530"/>
              <a:ext cx="5410200" cy="2776538"/>
            </a:xfrm>
            <a:prstGeom prst="roundRect">
              <a:avLst>
                <a:gd name="adj" fmla="val 343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797" y="2106454"/>
              <a:ext cx="9607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抽象部分 · 平台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76416" y="2367915"/>
              <a:ext cx="4411218" cy="2290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OperatingSystemVersion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VideoFile vf;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桥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setVideoFile(VideoFile vf)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.vf = vf;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play(String fileName);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WindowsVersion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OperatingSystemVersion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play(String fileName)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vf.decode(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"Windows"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fileName);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c2-code-2"/>
          <p:cNvGrpSpPr/>
          <p:nvPr/>
        </p:nvGrpSpPr>
        <p:grpSpPr>
          <a:xfrm>
            <a:off x="6248400" y="4911090"/>
            <a:ext cx="5410200" cy="1261110"/>
            <a:chOff x="6248400" y="4911090"/>
            <a:chExt cx="5410200" cy="1261110"/>
          </a:xfrm>
        </p:grpSpPr>
        <p:sp>
          <p:nvSpPr>
            <p:cNvPr id="24" name="Rectangle 24"/>
            <p:cNvSpPr/>
            <p:nvPr/>
          </p:nvSpPr>
          <p:spPr>
            <a:xfrm>
              <a:off x="6248400" y="4911090"/>
              <a:ext cx="5410200" cy="1261110"/>
            </a:xfrm>
            <a:prstGeom prst="roundRect">
              <a:avLst>
                <a:gd name="adj" fmla="val 75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6797" y="506301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客户端与输出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76416" y="5324475"/>
              <a:ext cx="3604451" cy="774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OperatingSystemVersion os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WindowsVersion();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os.setVideoFile(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AVIFile());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os.play(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"大话西游"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输出：Windows 上播放 avi 文件 大话西游 */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8" name="TextBox 2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课件中的三个实例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实例三：大富翁玩家，行为和数据都在变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569585" cy="264033"/>
            <a:chOff x="526542" y="1545907"/>
            <a:chExt cx="856958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569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陈伟老师课件里的 Richer 例。Player 是抽象部分，PlayerImp 是实现部分，两边通过一对引用双向关联。</a:t>
              </a:r>
            </a:p>
          </p:txBody>
        </p:sp>
      </p:grpSp>
      <p:grpSp>
        <p:nvGrpSpPr>
          <p:cNvPr id="50" name="c1-uml-1"/>
          <p:cNvGrpSpPr/>
          <p:nvPr/>
        </p:nvGrpSpPr>
        <p:grpSpPr>
          <a:xfrm>
            <a:off x="900112" y="2130742"/>
            <a:ext cx="4893946" cy="1962150"/>
            <a:chOff x="900112" y="2130742"/>
            <a:chExt cx="4893946" cy="1962150"/>
          </a:xfrm>
        </p:grpSpPr>
        <p:sp>
          <p:nvSpPr>
            <p:cNvPr id="9" name="Freeform 9"/>
            <p:cNvSpPr/>
            <p:nvPr/>
          </p:nvSpPr>
          <p:spPr>
            <a:xfrm>
              <a:off x="2252662" y="2557462"/>
              <a:ext cx="2398395" cy="9525"/>
            </a:xfrm>
            <a:custGeom>
              <a:avLst/>
              <a:gdLst/>
              <a:ahLst/>
              <a:cxnLst/>
              <a:rect l="l" t="t" r="r" b="b"/>
              <a:pathLst>
                <a:path w="2398395" h="9525">
                  <a:moveTo>
                    <a:pt x="239839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043112" y="2499360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471612" y="3109912"/>
              <a:ext cx="9525" cy="426720"/>
            </a:xfrm>
            <a:custGeom>
              <a:avLst/>
              <a:gdLst/>
              <a:ahLst/>
              <a:cxnLst/>
              <a:rect l="l" t="t" r="r" b="b"/>
              <a:pathLst>
                <a:path w="9525" h="426720">
                  <a:moveTo>
                    <a:pt x="0" y="42672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398270" y="298418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347085" y="3035618"/>
              <a:ext cx="1875472" cy="501015"/>
            </a:xfrm>
            <a:custGeom>
              <a:avLst/>
              <a:gdLst/>
              <a:ahLst/>
              <a:cxnLst/>
              <a:rect l="l" t="t" r="r" b="b"/>
              <a:pathLst>
                <a:path w="1875472" h="501015">
                  <a:moveTo>
                    <a:pt x="0" y="501015"/>
                  </a:moveTo>
                  <a:lnTo>
                    <a:pt x="0" y="187642"/>
                  </a:lnTo>
                  <a:lnTo>
                    <a:pt x="1875472" y="187642"/>
                  </a:lnTo>
                  <a:lnTo>
                    <a:pt x="187547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149215" y="290988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222558" y="3035618"/>
              <a:ext cx="9525" cy="501015"/>
            </a:xfrm>
            <a:custGeom>
              <a:avLst/>
              <a:gdLst/>
              <a:ahLst/>
              <a:cxnLst/>
              <a:rect l="l" t="t" r="r" b="b"/>
              <a:pathLst>
                <a:path w="9525" h="501015">
                  <a:moveTo>
                    <a:pt x="0" y="50101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149215" y="290988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900112" y="2130742"/>
              <a:ext cx="1143000" cy="8543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06780" y="2137410"/>
              <a:ext cx="1128712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900112" y="234315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900112" y="25869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651058" y="2205038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657725" y="2211705"/>
              <a:ext cx="1128712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651058" y="24174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651058" y="25126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00112" y="3536632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06780" y="354330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00112" y="37490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00112" y="38442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775585" y="3536632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782252" y="354330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775585" y="37490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2775585" y="38442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651058" y="3536632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657725" y="354330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651058" y="37490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651058" y="38442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271016" y="2182178"/>
              <a:ext cx="4011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Player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1550" y="2411254"/>
              <a:ext cx="9288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imp : PlayerImp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1550" y="2655094"/>
              <a:ext cx="702056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advance()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flagChar(d)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18298" y="2256472"/>
              <a:ext cx="6085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PlayerImp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22495" y="2580799"/>
              <a:ext cx="957199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advance(forced)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decideSteps()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64132" y="3588068"/>
              <a:ext cx="6149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ExtPlayer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71550" y="3912394"/>
              <a:ext cx="6549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useCard()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900917" y="3588068"/>
              <a:ext cx="8923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UserPlayerImp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847022" y="3912394"/>
              <a:ext cx="8694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decideSteps()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76389" y="3588068"/>
              <a:ext cx="8923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AutoPlayerImp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722495" y="3912394"/>
              <a:ext cx="8694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decideSteps()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208020" y="2361248"/>
              <a:ext cx="27813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245396" y="2384108"/>
              <a:ext cx="2033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imp</a:t>
              </a:r>
            </a:p>
          </p:txBody>
        </p:sp>
      </p:grpSp>
      <p:grpSp>
        <p:nvGrpSpPr>
          <p:cNvPr id="62" name="c1-card-2"/>
          <p:cNvGrpSpPr/>
          <p:nvPr/>
        </p:nvGrpSpPr>
        <p:grpSpPr>
          <a:xfrm>
            <a:off x="533400" y="4612958"/>
            <a:ext cx="5626418" cy="1545908"/>
            <a:chOff x="533400" y="4612958"/>
            <a:chExt cx="5626418" cy="1545908"/>
          </a:xfrm>
        </p:grpSpPr>
        <p:sp>
          <p:nvSpPr>
            <p:cNvPr id="51" name="Rectangle 51"/>
            <p:cNvSpPr/>
            <p:nvPr/>
          </p:nvSpPr>
          <p:spPr>
            <a:xfrm>
              <a:off x="533400" y="4612958"/>
              <a:ext cx="5626418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542925" y="4746308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58190" y="479964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50862" y="48325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323784" y="483489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三处各自的位置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66762" y="521684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22782" y="5160645"/>
              <a:ext cx="4929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左边 Player 到 ExtPlayer 是抽象部分，接口的变化落在这里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66762" y="551688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22782" y="5460683"/>
              <a:ext cx="5159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右边 PlayerImp 到两种玩家实现是实现部分，走棋规则落在这里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66762" y="581787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22782" y="5761673"/>
              <a:ext cx="4626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中间那条聚合线是桥，Player 的每个方法都从这里转出去</a:t>
              </a:r>
            </a:p>
          </p:txBody>
        </p:sp>
      </p:grpSp>
      <p:grpSp>
        <p:nvGrpSpPr>
          <p:cNvPr id="66" name="c2-code-1"/>
          <p:cNvGrpSpPr/>
          <p:nvPr/>
        </p:nvGrpSpPr>
        <p:grpSpPr>
          <a:xfrm>
            <a:off x="6464618" y="1928812"/>
            <a:ext cx="5193982" cy="2440305"/>
            <a:chOff x="6464618" y="1928812"/>
            <a:chExt cx="5193982" cy="2440305"/>
          </a:xfrm>
        </p:grpSpPr>
        <p:sp>
          <p:nvSpPr>
            <p:cNvPr id="63" name="Rectangle 63"/>
            <p:cNvSpPr/>
            <p:nvPr/>
          </p:nvSpPr>
          <p:spPr>
            <a:xfrm>
              <a:off x="6464618" y="1928812"/>
              <a:ext cx="5193982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93015" y="2080736"/>
              <a:ext cx="16237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Player：接口部分只做转发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593015" y="2340769"/>
              <a:ext cx="4048633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Player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PlayerImp imp;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setImp(PlayerImp imp)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.imp = imp;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imp.setPlayer(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让两边互相认识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advance()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imp.advance(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forceAdvance()  { imp.advance(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getMoney()      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imp.getMoney();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73" name="c2-card-2"/>
          <p:cNvGrpSpPr/>
          <p:nvPr/>
        </p:nvGrpSpPr>
        <p:grpSpPr>
          <a:xfrm>
            <a:off x="6464618" y="4538662"/>
            <a:ext cx="5193982" cy="1620202"/>
            <a:chOff x="6464618" y="4538662"/>
            <a:chExt cx="5193982" cy="1620202"/>
          </a:xfrm>
        </p:grpSpPr>
        <p:sp>
          <p:nvSpPr>
            <p:cNvPr id="67" name="Rectangle 67"/>
            <p:cNvSpPr/>
            <p:nvPr/>
          </p:nvSpPr>
          <p:spPr>
            <a:xfrm>
              <a:off x="6464618" y="4538662"/>
              <a:ext cx="5193982" cy="1620202"/>
            </a:xfrm>
            <a:prstGeom prst="roundRect">
              <a:avLst>
                <a:gd name="adj" fmla="val 82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74142" y="4672012"/>
              <a:ext cx="47625" cy="135350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689408" y="472535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782079" y="475821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255954" y="476059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为什么要双向关联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82549" y="5086350"/>
              <a:ext cx="457428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实现部分在走棋时要读回玩家的位置和方向，所以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PlayerImp 里也存了一个 Player 引用。类图上这是一条回指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的关联线，为避免与聚合线重叠，图中没有画出。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课件中的三个实例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大富翁例：两个方向各走各的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464933" cy="264033"/>
            <a:chOff x="526542" y="1545907"/>
            <a:chExt cx="746493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玩家每轮走几步属于实现的变化，能不能用道具卡属于接口的变化。两类变化落在两条链上。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410200" cy="2440305"/>
            <a:chOff x="533400" y="1928812"/>
            <a:chExt cx="5410200" cy="24403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3565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实现方向 · 改每轮步数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3774821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UserPlayerImp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PlayerImp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decideSteps()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3;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flagChar(Direction d)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 == Direction.LEFT ?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'('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: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')'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只想把玩家步数改成 2，再派生一层就够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Step2UserPlayerImp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UserPlayerImp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decideSteps()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2;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538662"/>
            <a:ext cx="5410200" cy="1635442"/>
            <a:chOff x="533400" y="4538662"/>
            <a:chExt cx="5410200" cy="1635442"/>
          </a:xfrm>
        </p:grpSpPr>
        <p:sp>
          <p:nvSpPr>
            <p:cNvPr id="13" name="Rectangle 13"/>
            <p:cNvSpPr/>
            <p:nvPr/>
          </p:nvSpPr>
          <p:spPr>
            <a:xfrm>
              <a:off x="533400" y="4538662"/>
              <a:ext cx="5410200" cy="1635442"/>
            </a:xfrm>
            <a:prstGeom prst="roundRect">
              <a:avLst>
                <a:gd name="adj" fmla="val 698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5256848"/>
              <a:ext cx="200026" cy="200025"/>
              <a:chOff x="738188" y="5256848"/>
              <a:chExt cx="200026" cy="2000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52568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7926" y="53012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12642" y="54124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892" y="5137785"/>
              <a:ext cx="383705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电脑玩家那条支线同理，AutoPlayerImp 走 4 步，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Step3AutoPlayerImp 改成 3 步。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6248400" y="1928812"/>
            <a:ext cx="5410200" cy="2616518"/>
            <a:chOff x="6248400" y="1928812"/>
            <a:chExt cx="5410200" cy="2616518"/>
          </a:xfrm>
        </p:grpSpPr>
        <p:sp>
          <p:nvSpPr>
            <p:cNvPr id="20" name="Rectangle 20"/>
            <p:cNvSpPr/>
            <p:nvPr/>
          </p:nvSpPr>
          <p:spPr>
            <a:xfrm>
              <a:off x="6248400" y="1928812"/>
              <a:ext cx="5410200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797" y="2080736"/>
              <a:ext cx="14884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接口方向 · 加道具与载具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76797" y="2340769"/>
              <a:ext cx="3980180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ExtPlayer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Player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List&lt;Card&gt; cards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Vehicle vehicle;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useCard(Card c) {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新接口 */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useVehicle()    {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新接口 */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getMoney() {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细化已有接口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imp.getMoney() * (vehicle !=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? 3 : 2);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6248400" y="4714875"/>
            <a:ext cx="5410200" cy="1459230"/>
            <a:chOff x="6248400" y="4714875"/>
            <a:chExt cx="5410200" cy="1459230"/>
          </a:xfrm>
        </p:grpSpPr>
        <p:sp>
          <p:nvSpPr>
            <p:cNvPr id="24" name="Rectangle 24"/>
            <p:cNvSpPr/>
            <p:nvPr/>
          </p:nvSpPr>
          <p:spPr>
            <a:xfrm>
              <a:off x="6248400" y="4714875"/>
              <a:ext cx="5410200" cy="1459230"/>
            </a:xfrm>
            <a:prstGeom prst="roundRect">
              <a:avLst>
                <a:gd name="adj" fmla="val 9138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35090" y="49015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27762" y="49344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00684" y="493680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换成继承会怎样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8232" y="5262562"/>
              <a:ext cx="463429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两种玩家各配两种步数，再乘上有无道具，继承方案要 2 × 2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× 2 = 8 个类；桥接方案两条链各自加类，一共 4 + 2 = 6 个，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而且互不影响。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357622" cy="3351847"/>
            <a:chOff x="667512" y="1835468"/>
            <a:chExt cx="535762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效果、适用环境与变体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优点和缺点都来自同一件事，就是把关联建在了抽象层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优点与缺点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四类适用场景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7884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pImpl 与实现再拆分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工程中的应用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效果、适用环境与变体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优点集中在解耦，缺点集中在设计难度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5780" y="1548765"/>
            <a:ext cx="5634038" cy="2741295"/>
            <a:chOff x="525780" y="1548765"/>
            <a:chExt cx="5634038" cy="274129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67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分离抽象与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76425" y="1548765"/>
              <a:ext cx="4015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用对象之间的关联关系解开抽象和实现的固有绑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定，两边沿各自维度变化，运行时任意组合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507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270760"/>
              <a:ext cx="967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取代多重继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76425" y="2270760"/>
              <a:ext cx="4015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多重和多层继承违反单一职责原则、复用性差、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类数多，桥接把叶子类从 m × n 降到 m + n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87274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9927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可扩展性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76425" y="2992755"/>
              <a:ext cx="4015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任意扩展一个维度都不用修改原有系统，符合开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闭原则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59473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3714750"/>
              <a:ext cx="967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对客户隐藏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76425" y="3714750"/>
              <a:ext cx="4015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客户端只看到抽象部分，实现换了也感觉不到，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所以又叫柄体模式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421505"/>
            <a:ext cx="5626418" cy="1318260"/>
            <a:chOff x="533400" y="4421505"/>
            <a:chExt cx="5626418" cy="1318260"/>
          </a:xfrm>
        </p:grpSpPr>
        <p:sp>
          <p:nvSpPr>
            <p:cNvPr id="19" name="Rectangle 19"/>
            <p:cNvSpPr/>
            <p:nvPr/>
          </p:nvSpPr>
          <p:spPr>
            <a:xfrm>
              <a:off x="533400" y="4421505"/>
              <a:ext cx="5626418" cy="1318260"/>
            </a:xfrm>
            <a:prstGeom prst="roundRect">
              <a:avLst>
                <a:gd name="adj" fmla="val 101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554855"/>
              <a:ext cx="47625" cy="10515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3430" y="465582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四条优点来自同一件事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3430" y="501015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把关联建在抽象层，解耦、类数下降、可扩展、实现隐藏这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四条就同时成立。分离没做到，四条一条也拿不到。</a:t>
              </a:r>
            </a:p>
          </p:txBody>
        </p:sp>
      </p:grpSp>
      <p:grpSp>
        <p:nvGrpSpPr>
          <p:cNvPr id="29" name="c2-bullets-1"/>
          <p:cNvGrpSpPr/>
          <p:nvPr/>
        </p:nvGrpSpPr>
        <p:grpSpPr>
          <a:xfrm>
            <a:off x="6456998" y="1548765"/>
            <a:ext cx="4834890" cy="1564005"/>
            <a:chOff x="6456998" y="1548765"/>
            <a:chExt cx="4834890" cy="1564005"/>
          </a:xfrm>
        </p:grpSpPr>
        <p:sp>
          <p:nvSpPr>
            <p:cNvPr id="24" name="TextBox 24"/>
            <p:cNvSpPr txBox="1"/>
            <p:nvPr/>
          </p:nvSpPr>
          <p:spPr>
            <a:xfrm>
              <a:off x="6456998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两条缺点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464618" y="193929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04648" y="190309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增加理解和设计的难度，关联建在抽象层，要求一开始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就针对抽象层编程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6464618" y="256984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04648" y="253365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必须正确识别出两个独立变化的维度，识别错了结构就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白搭，这一步靠经验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464618" y="3244215"/>
            <a:ext cx="5193982" cy="2495550"/>
            <a:chOff x="6464618" y="3244215"/>
            <a:chExt cx="5193982" cy="2495550"/>
          </a:xfrm>
        </p:grpSpPr>
        <p:sp>
          <p:nvSpPr>
            <p:cNvPr id="30" name="Rectangle 30"/>
            <p:cNvSpPr/>
            <p:nvPr/>
          </p:nvSpPr>
          <p:spPr>
            <a:xfrm>
              <a:off x="6464618" y="3244215"/>
              <a:ext cx="5193982" cy="2495550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74142" y="3377565"/>
              <a:ext cx="47625" cy="22288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712268" y="34537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03428" y="34894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13295" y="348900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什么时候不该上桥接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717983" y="391287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76098" y="385000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只有一个维度在变，直接继承或直接组合就够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717983" y="424815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76098" y="418528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两个维度其实互相牵动，拆开以后两边还要联动修改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717983" y="458343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76098" y="452056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维度的取值只有一两个，且能预见不会增加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05791" y="4852511"/>
              <a:ext cx="45646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为了用模式而拆出一条只有一个实现类的链，只剩下额外的间接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效果、适用环境与变体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四类场景该用桥接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396990" cy="308039"/>
            <a:chOff x="525399" y="1550194"/>
            <a:chExt cx="639699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3969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张欣佳老师课件给的适用环境合并去重后是四条，判断时逐条对照。</a:t>
              </a:r>
            </a:p>
          </p:txBody>
        </p:sp>
      </p:grpSp>
      <p:grpSp>
        <p:nvGrpSpPr>
          <p:cNvPr id="21" name="c1-bullets-1"/>
          <p:cNvGrpSpPr/>
          <p:nvPr/>
        </p:nvGrpSpPr>
        <p:grpSpPr>
          <a:xfrm>
            <a:off x="533400" y="1979295"/>
            <a:ext cx="5970270" cy="1912620"/>
            <a:chOff x="533400" y="1979295"/>
            <a:chExt cx="5970270" cy="1912620"/>
          </a:xfrm>
        </p:grpSpPr>
        <p:sp>
          <p:nvSpPr>
            <p:cNvPr id="9" name="Ellipse 9"/>
            <p:cNvSpPr/>
            <p:nvPr/>
          </p:nvSpPr>
          <p:spPr>
            <a:xfrm>
              <a:off x="533400" y="197929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5249" y="20215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4390" y="1992630"/>
              <a:ext cx="534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需要在抽象化和具体化之间增加灵活性，不希望两个层次之间建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立静态的继承关系，改成在抽象层建立关联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0985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5249" y="26521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4390" y="2623185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抽象部分和实现部分都要能以继承方式独立扩展而互不影响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295465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95249" y="29969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4390" y="2967990"/>
              <a:ext cx="534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运行时需要把一个抽象化子类的对象和一个实现化子类的对象动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态组合起来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58521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5249" y="362750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4390" y="3598545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不希望使用继承，或者多重、多层继承已经让类的个数急剧增加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4023360"/>
            <a:ext cx="5951220" cy="1720215"/>
            <a:chOff x="533400" y="4023360"/>
            <a:chExt cx="5951220" cy="1720215"/>
          </a:xfrm>
        </p:grpSpPr>
        <p:sp>
          <p:nvSpPr>
            <p:cNvPr id="22" name="Rectangle 22"/>
            <p:cNvSpPr/>
            <p:nvPr/>
          </p:nvSpPr>
          <p:spPr>
            <a:xfrm>
              <a:off x="533400" y="4023360"/>
              <a:ext cx="5951220" cy="1720215"/>
            </a:xfrm>
            <a:prstGeom prst="roundRect">
              <a:avLst>
                <a:gd name="adj" fmla="val 7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156710"/>
              <a:ext cx="47625" cy="14535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81050" y="423291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1258" y="42686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82078" y="426815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这四条各说了一件事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86765" y="469201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4880" y="4629150"/>
              <a:ext cx="43971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1、2 条讲设计目标，说的是两条链要能各自长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86765" y="50272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4880" y="4964430"/>
              <a:ext cx="4084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条讲运行期能力，说的是组合要能临时换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86765" y="536257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4880" y="5299710"/>
              <a:ext cx="4891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条讲补救，类已经因为继承涨起来了才回头改结构</a:t>
              </a:r>
            </a:p>
          </p:txBody>
        </p:sp>
      </p:grpSp>
      <p:grpSp>
        <p:nvGrpSpPr>
          <p:cNvPr id="39" name="c2-kv-1"/>
          <p:cNvGrpSpPr/>
          <p:nvPr/>
        </p:nvGrpSpPr>
        <p:grpSpPr>
          <a:xfrm>
            <a:off x="6781800" y="1992630"/>
            <a:ext cx="4876800" cy="1015365"/>
            <a:chOff x="6781800" y="1992630"/>
            <a:chExt cx="4876800" cy="1015365"/>
          </a:xfrm>
        </p:grpSpPr>
        <p:sp>
          <p:nvSpPr>
            <p:cNvPr id="34" name="TextBox 34"/>
            <p:cNvSpPr txBox="1"/>
            <p:nvPr/>
          </p:nvSpPr>
          <p:spPr>
            <a:xfrm>
              <a:off x="6781800" y="19926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静态耦合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22883" y="1992630"/>
              <a:ext cx="3444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编译期定死哪个抽象配哪个实现，换组合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要改类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789420" y="259461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81800" y="27146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动态耦合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22883" y="2714625"/>
              <a:ext cx="3498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运行期一次 set 完成组合，换对象即可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789420" y="3139440"/>
            <a:ext cx="4869180" cy="2604135"/>
            <a:chOff x="6789420" y="3139440"/>
            <a:chExt cx="4869180" cy="2604135"/>
          </a:xfrm>
        </p:grpSpPr>
        <p:sp>
          <p:nvSpPr>
            <p:cNvPr id="40" name="Rectangle 40"/>
            <p:cNvSpPr/>
            <p:nvPr/>
          </p:nvSpPr>
          <p:spPr>
            <a:xfrm>
              <a:off x="6789420" y="3139440"/>
              <a:ext cx="4869180" cy="2604135"/>
            </a:xfrm>
            <a:prstGeom prst="roundRect">
              <a:avLst>
                <a:gd name="adj" fmla="val 5121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98970" y="334899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81279" y="33847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检查口诀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83842" y="338423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先数维度，再数类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91350" y="3745230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先问这个类有几个会变的方向；确认有两个且互相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独立，再数一下按继承要写多少个叶子类。数目落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在乘法上，就该架桥。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68211" cy="909257"/>
            <a:chOff x="520446" y="342900"/>
            <a:chExt cx="60682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效果、适用环境与变体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682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变体一：pImpl，只为隐藏实现的半个桥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1100574" cy="308039"/>
            <a:chOff x="525399" y="1550194"/>
            <a:chExt cx="1110057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110057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陈伟老师课件称它为“特例：隐藏实现”，全称 Pointer to Implementation。结构照抄桥接，但实现一端只有一个类。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5735002" cy="3139440"/>
            <a:chOff x="533400" y="1967865"/>
            <a:chExt cx="5735002" cy="313944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735002" cy="3139440"/>
            </a:xfrm>
            <a:prstGeom prst="roundRect">
              <a:avLst>
                <a:gd name="adj" fmla="val 30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对外一个壳，对内一个实现类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4641342" cy="2654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Text {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对外暴露的柄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TextImpl impl;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唯一的体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Text()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.impl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TextImpl();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append(String s) { impl.append(s);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length()         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impl.length();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TextImpl {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包级私有，外界看不到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StringBuilder buf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StringBuilder();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append(String s) { buf.append(s);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length()         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buf.length();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5297805"/>
            <a:ext cx="5735002" cy="1059180"/>
            <a:chOff x="533400" y="5297805"/>
            <a:chExt cx="5735002" cy="1059180"/>
          </a:xfrm>
        </p:grpSpPr>
        <p:sp>
          <p:nvSpPr>
            <p:cNvPr id="13" name="Rectangle 13"/>
            <p:cNvSpPr/>
            <p:nvPr/>
          </p:nvSpPr>
          <p:spPr>
            <a:xfrm>
              <a:off x="533400" y="5297805"/>
              <a:ext cx="5735002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5727383"/>
              <a:ext cx="200026" cy="200025"/>
              <a:chOff x="738188" y="5727383"/>
              <a:chExt cx="200026" cy="2000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57273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7926" y="57718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12642" y="58829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130" y="5446395"/>
              <a:ext cx="4777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 TextImpl 写成抽象类再派生几个子类，pImpl 就长回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成完整的桥接；反过来把实现链砍到只剩一个类，桥接就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退化成 pImpl。</a:t>
              </a:r>
            </a:p>
          </p:txBody>
        </p:sp>
      </p:grpSp>
      <p:grpSp>
        <p:nvGrpSpPr>
          <p:cNvPr id="27" name="c2-bullets-1"/>
          <p:cNvGrpSpPr/>
          <p:nvPr/>
        </p:nvGrpSpPr>
        <p:grpSpPr>
          <a:xfrm>
            <a:off x="6565583" y="1992630"/>
            <a:ext cx="5033010" cy="1623060"/>
            <a:chOff x="6565583" y="1992630"/>
            <a:chExt cx="5033010" cy="1623060"/>
          </a:xfrm>
        </p:grpSpPr>
        <p:sp>
          <p:nvSpPr>
            <p:cNvPr id="20" name="TextBox 20"/>
            <p:cNvSpPr txBox="1"/>
            <p:nvPr/>
          </p:nvSpPr>
          <p:spPr>
            <a:xfrm>
              <a:off x="6565583" y="199263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它和完整桥接的差别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578918" y="24098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37033" y="234696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实现一端没有继承体系，只有一个类，谈不上两个维度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578918" y="275463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37033" y="269176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目的是让调用方看不见实现细节，不是让两边独立变化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578918" y="30994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37033" y="3036570"/>
              <a:ext cx="4577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C++ 里还多一层好处：改实现类的私有成员不触发调用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方重编译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573202" y="3747135"/>
            <a:ext cx="5085398" cy="2609850"/>
            <a:chOff x="6573202" y="3747135"/>
            <a:chExt cx="5085398" cy="2609850"/>
          </a:xfrm>
        </p:grpSpPr>
        <p:sp>
          <p:nvSpPr>
            <p:cNvPr id="28" name="Rectangle 28"/>
            <p:cNvSpPr/>
            <p:nvPr/>
          </p:nvSpPr>
          <p:spPr>
            <a:xfrm>
              <a:off x="6573202" y="3747135"/>
              <a:ext cx="5085398" cy="2609850"/>
            </a:xfrm>
            <a:prstGeom prst="roundRect">
              <a:avLst>
                <a:gd name="adj" fmla="val 51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582728" y="3880485"/>
              <a:ext cx="47625" cy="2343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820852" y="395668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02209" y="39924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课件例子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05725" y="3991928"/>
              <a:ext cx="19968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 与 StringImp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13233" y="4352925"/>
              <a:ext cx="4396740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课件用 String 类的伪代码说明：String 只留方法签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名，数据和算法全在 StringImp 里，String 的每个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方法都转调过去。Java 标准库里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java.sql.Connection 和各厂商驱动的实现类是同一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种分工。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效果、适用环境与变体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变体二：实现部分内部还在变，就再拆一层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354949" cy="293370"/>
            <a:chOff x="525780" y="1548765"/>
            <a:chExt cx="8354949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3549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如果实现类里的 f 和 g 各自有多种独立做法，把它们分别抽成两个接口，实现类只负责转发。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5735002" cy="3344228"/>
            <a:chOff x="533400" y="1954530"/>
            <a:chExt cx="5735002" cy="334422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735002" cy="3344228"/>
            </a:xfrm>
            <a:prstGeom prst="roundRect">
              <a:avLst>
                <a:gd name="adj" fmla="val 284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11504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ImpA 再挂两个接口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67915"/>
              <a:ext cx="2577656" cy="28590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ImpF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f(); }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ImpG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g();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ImpA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ImpF pf;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ImpG pg;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ImpA(ImpF pf, ImpG pg)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.pf = pf;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.pg = pg;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 pf.f();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g() { pg.g();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5478780"/>
            <a:ext cx="5735002" cy="756285"/>
            <a:chOff x="533400" y="5478780"/>
            <a:chExt cx="5735002" cy="756285"/>
          </a:xfrm>
        </p:grpSpPr>
        <p:sp>
          <p:nvSpPr>
            <p:cNvPr id="13" name="Rectangle 13"/>
            <p:cNvSpPr/>
            <p:nvPr/>
          </p:nvSpPr>
          <p:spPr>
            <a:xfrm>
              <a:off x="533400" y="5478780"/>
              <a:ext cx="5735002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5756910"/>
              <a:ext cx="200026" cy="200025"/>
              <a:chOff x="738188" y="5756910"/>
              <a:chExt cx="200026" cy="2000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57569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7926" y="58013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12642" y="59124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511" y="5626894"/>
              <a:ext cx="471233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拆完之后 ImpA 只剩数据和转发，f 的 3 种做法配 g 的 4 种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做法需要 3 + 4 = 7 个小类，而不是 12 个实现类。</a:t>
              </a:r>
            </a:p>
          </p:txBody>
        </p:sp>
      </p:grpSp>
      <p:grpSp>
        <p:nvGrpSpPr>
          <p:cNvPr id="27" name="c2-bullets-1"/>
          <p:cNvGrpSpPr/>
          <p:nvPr/>
        </p:nvGrpSpPr>
        <p:grpSpPr>
          <a:xfrm>
            <a:off x="6565964" y="1977866"/>
            <a:ext cx="4719022" cy="1268350"/>
            <a:chOff x="6565964" y="1977866"/>
            <a:chExt cx="4719022" cy="1268350"/>
          </a:xfrm>
        </p:grpSpPr>
        <p:sp>
          <p:nvSpPr>
            <p:cNvPr id="20" name="TextBox 20"/>
            <p:cNvSpPr txBox="1"/>
            <p:nvPr/>
          </p:nvSpPr>
          <p:spPr>
            <a:xfrm>
              <a:off x="6565964" y="197786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什么时候走这一步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6573202" y="2344102"/>
              <a:ext cx="136207" cy="110490"/>
            </a:xfrm>
            <a:custGeom>
              <a:avLst/>
              <a:gdLst/>
              <a:ahLst/>
              <a:cxnLst/>
              <a:rect l="l" t="t" r="r" b="b"/>
              <a:pathLst>
                <a:path w="136207" h="110490">
                  <a:moveTo>
                    <a:pt x="0" y="58102"/>
                  </a:moveTo>
                  <a:lnTo>
                    <a:pt x="52388" y="110490"/>
                  </a:lnTo>
                  <a:lnTo>
                    <a:pt x="13620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816471" y="2314099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一个实现类里有两处彼此无关的算法在各自变化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6573202" y="2670810"/>
              <a:ext cx="136207" cy="110490"/>
            </a:xfrm>
            <a:custGeom>
              <a:avLst/>
              <a:gdLst/>
              <a:ahLst/>
              <a:cxnLst/>
              <a:rect l="l" t="t" r="r" b="b"/>
              <a:pathLst>
                <a:path w="136207" h="110490">
                  <a:moveTo>
                    <a:pt x="0" y="58103"/>
                  </a:moveTo>
                  <a:lnTo>
                    <a:pt x="52388" y="110490"/>
                  </a:lnTo>
                  <a:lnTo>
                    <a:pt x="13620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16471" y="2640806"/>
              <a:ext cx="44685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不想为 f 的 3 种做法乘 g 的 4 种做法写 12 个实现类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573202" y="2997518"/>
              <a:ext cx="136207" cy="110490"/>
            </a:xfrm>
            <a:custGeom>
              <a:avLst/>
              <a:gdLst/>
              <a:ahLst/>
              <a:cxnLst/>
              <a:rect l="l" t="t" r="r" b="b"/>
              <a:pathLst>
                <a:path w="136207" h="110490">
                  <a:moveTo>
                    <a:pt x="0" y="58103"/>
                  </a:moveTo>
                  <a:lnTo>
                    <a:pt x="52388" y="110490"/>
                  </a:lnTo>
                  <a:lnTo>
                    <a:pt x="13620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16471" y="2967514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拆完以后这两处还可以换成策略模式或状态模式来管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573202" y="3369945"/>
            <a:ext cx="5085398" cy="2865120"/>
            <a:chOff x="6573202" y="3369945"/>
            <a:chExt cx="5085398" cy="2865120"/>
          </a:xfrm>
        </p:grpSpPr>
        <p:sp>
          <p:nvSpPr>
            <p:cNvPr id="28" name="Rectangle 28"/>
            <p:cNvSpPr/>
            <p:nvPr/>
          </p:nvSpPr>
          <p:spPr>
            <a:xfrm>
              <a:off x="6573202" y="3369945"/>
              <a:ext cx="5085398" cy="2865120"/>
            </a:xfrm>
            <a:prstGeom prst="roundRect">
              <a:avLst>
                <a:gd name="adj" fmla="val 46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582728" y="3503295"/>
              <a:ext cx="47625" cy="25984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809422" y="356806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00862" y="36023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92734" y="360283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源课件里两处对不上的名字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02184" y="3946684"/>
              <a:ext cx="442379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陈伟课件第 7 页把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ImpG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的方法声明成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，而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A::g()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里调用的是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pg-&gt;g()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，大小写对不上；同页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virtual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拼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成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vritual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，两个指针成员用全角分号收尾。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效果、适用环境与变体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工程里的三处桥接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396990" cy="308039"/>
            <a:chOff x="525399" y="1550194"/>
            <a:chExt cx="639699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3969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这三处都是同一个结构：上层写一次，下层按平台或厂商各写一套。</a:t>
              </a:r>
            </a:p>
          </p:txBody>
        </p:sp>
      </p:grpSp>
      <p:grpSp>
        <p:nvGrpSpPr>
          <p:cNvPr id="17" name="c1-kv-1"/>
          <p:cNvGrpSpPr/>
          <p:nvPr/>
        </p:nvGrpSpPr>
        <p:grpSpPr>
          <a:xfrm>
            <a:off x="525780" y="1992630"/>
            <a:ext cx="5634038" cy="2301240"/>
            <a:chOff x="525780" y="1992630"/>
            <a:chExt cx="5634038" cy="2301240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11585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Java 虚拟机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88820" y="1992630"/>
              <a:ext cx="3825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应用程序是抽象部分，各平台上的 JVM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是实现部分，同一份字节码因此能跨平台运行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5946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5780" y="2714625"/>
              <a:ext cx="1135856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AWT 的 Peer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架构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88820" y="2714625"/>
              <a:ext cx="3910965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java.awt.Button 是抽象部分，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java.awt.peer.ButtonPeer 是实现部分，视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感随平台变化而程序不改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5985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5780" y="3718560"/>
              <a:ext cx="508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JDBC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88820" y="3718560"/>
              <a:ext cx="37680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Connection、Statement 这套接口是抽象部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分，各数据库厂商的驱动是实现部分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425315"/>
            <a:ext cx="5626418" cy="1813560"/>
            <a:chOff x="533400" y="4425315"/>
            <a:chExt cx="5626418" cy="1813560"/>
          </a:xfrm>
        </p:grpSpPr>
        <p:sp>
          <p:nvSpPr>
            <p:cNvPr id="18" name="Rectangle 18"/>
            <p:cNvSpPr/>
            <p:nvPr/>
          </p:nvSpPr>
          <p:spPr>
            <a:xfrm>
              <a:off x="533400" y="4425315"/>
              <a:ext cx="5626418" cy="1813560"/>
            </a:xfrm>
            <a:prstGeom prst="roundRect">
              <a:avLst>
                <a:gd name="adj" fmla="val 630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232083"/>
              <a:ext cx="200026" cy="200025"/>
              <a:chOff x="738188" y="5232083"/>
              <a:chExt cx="200026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2320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7926" y="52765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12642" y="53876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5089208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三处的共同点是：抽象那一端的类数由业务决定，实现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那一端的类数由平台或厂商数量决定。</a:t>
              </a:r>
            </a:p>
          </p:txBody>
        </p:sp>
      </p:grpSp>
      <p:grpSp>
        <p:nvGrpSpPr>
          <p:cNvPr id="61" name="c2-uml-1"/>
          <p:cNvGrpSpPr/>
          <p:nvPr/>
        </p:nvGrpSpPr>
        <p:grpSpPr>
          <a:xfrm>
            <a:off x="6542722" y="2224088"/>
            <a:ext cx="5037773" cy="1813560"/>
            <a:chOff x="6542722" y="2224088"/>
            <a:chExt cx="5037773" cy="1813560"/>
          </a:xfrm>
        </p:grpSpPr>
        <p:sp>
          <p:nvSpPr>
            <p:cNvPr id="25" name="Freeform 25"/>
            <p:cNvSpPr/>
            <p:nvPr/>
          </p:nvSpPr>
          <p:spPr>
            <a:xfrm>
              <a:off x="7895272" y="2586990"/>
              <a:ext cx="1243965" cy="9525"/>
            </a:xfrm>
            <a:custGeom>
              <a:avLst/>
              <a:gdLst/>
              <a:ahLst/>
              <a:cxnLst/>
              <a:rect l="l" t="t" r="r" b="b"/>
              <a:pathLst>
                <a:path w="1243965" h="9525">
                  <a:moveTo>
                    <a:pt x="124396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685722" y="2528888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412480" y="3074670"/>
              <a:ext cx="1298257" cy="537210"/>
            </a:xfrm>
            <a:custGeom>
              <a:avLst/>
              <a:gdLst/>
              <a:ahLst/>
              <a:cxnLst/>
              <a:rect l="l" t="t" r="r" b="b"/>
              <a:pathLst>
                <a:path w="1298257" h="537210">
                  <a:moveTo>
                    <a:pt x="0" y="537210"/>
                  </a:moveTo>
                  <a:lnTo>
                    <a:pt x="0" y="205740"/>
                  </a:lnTo>
                  <a:lnTo>
                    <a:pt x="1298257" y="205740"/>
                  </a:lnTo>
                  <a:lnTo>
                    <a:pt x="1298257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8" name="Freeform 28"/>
            <p:cNvSpPr/>
            <p:nvPr/>
          </p:nvSpPr>
          <p:spPr>
            <a:xfrm>
              <a:off x="9637395" y="294894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710738" y="3074670"/>
              <a:ext cx="9525" cy="537210"/>
            </a:xfrm>
            <a:custGeom>
              <a:avLst/>
              <a:gdLst/>
              <a:ahLst/>
              <a:cxnLst/>
              <a:rect l="l" t="t" r="r" b="b"/>
              <a:pathLst>
                <a:path w="9525" h="537210">
                  <a:moveTo>
                    <a:pt x="0" y="53721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30" name="Freeform 30"/>
            <p:cNvSpPr/>
            <p:nvPr/>
          </p:nvSpPr>
          <p:spPr>
            <a:xfrm>
              <a:off x="9637395" y="294894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710738" y="3074670"/>
              <a:ext cx="1298257" cy="537210"/>
            </a:xfrm>
            <a:custGeom>
              <a:avLst/>
              <a:gdLst/>
              <a:ahLst/>
              <a:cxnLst/>
              <a:rect l="l" t="t" r="r" b="b"/>
              <a:pathLst>
                <a:path w="1298257" h="537210">
                  <a:moveTo>
                    <a:pt x="1298257" y="537210"/>
                  </a:moveTo>
                  <a:lnTo>
                    <a:pt x="1298257" y="205740"/>
                  </a:lnTo>
                  <a:lnTo>
                    <a:pt x="0" y="20574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32" name="Freeform 32"/>
            <p:cNvSpPr/>
            <p:nvPr/>
          </p:nvSpPr>
          <p:spPr>
            <a:xfrm>
              <a:off x="9637395" y="294894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542722" y="2292668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549390" y="2299335"/>
              <a:ext cx="1128712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542722" y="252317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542722" y="261842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139238" y="2224088"/>
              <a:ext cx="1143000" cy="7248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146858" y="2230755"/>
              <a:ext cx="1128712" cy="36480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9139238" y="259175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9139238" y="268700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840980" y="3611880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847648" y="361950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840980" y="384238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840980" y="393763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139238" y="3611880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146858" y="361950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139238" y="384238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139238" y="393763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437495" y="3611880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445115" y="361950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437495" y="384238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437495" y="393763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69809" y="2348389"/>
              <a:ext cx="888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 应用程序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14160" y="2687955"/>
              <a:ext cx="5062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main()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385849" y="2276951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332288" y="2416969"/>
              <a:ext cx="756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 虚拟机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10675" y="2756535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execute()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971921" y="3667601"/>
              <a:ext cx="8811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Windows JVM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374601" y="3667601"/>
              <a:ext cx="6722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Linux JVM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623967" y="3667601"/>
              <a:ext cx="7700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macOS JVM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6464618" y="4634865"/>
            <a:ext cx="5193982" cy="1604010"/>
            <a:chOff x="6464618" y="4634865"/>
            <a:chExt cx="5193982" cy="1604010"/>
          </a:xfrm>
        </p:grpSpPr>
        <p:sp>
          <p:nvSpPr>
            <p:cNvPr id="62" name="Rectangle 62"/>
            <p:cNvSpPr/>
            <p:nvPr/>
          </p:nvSpPr>
          <p:spPr>
            <a:xfrm>
              <a:off x="6464618" y="4634865"/>
              <a:ext cx="5193982" cy="1604010"/>
            </a:xfrm>
            <a:prstGeom prst="roundRect">
              <a:avLst>
                <a:gd name="adj" fmla="val 83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74142" y="4768215"/>
              <a:ext cx="47625" cy="13373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04648" y="486918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读这张图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704648" y="5223510"/>
              <a:ext cx="44824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应用程序要新增功能，只在左边加类；要支持一个新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平台，只在右边加一套 JVM 实现。两件事从不互相等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待。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57622" cy="2997517"/>
            <a:chOff x="667512" y="1835468"/>
            <a:chExt cx="535762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模式辨析、自测与小结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结构看起来像的几个模式，差别都在意图和使用时机上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与适配器的分界与联用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与策略、抽象工厂的分界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自测十二题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模式辨析、自测与小结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与适配器模式：事前分离，事后弥合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183043" cy="308039"/>
            <a:chOff x="525399" y="1550194"/>
            <a:chExt cx="1018304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1830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两者的类图都有“一个类持有另一个接口”的形状，但解决的是完全不同阶段的问题。适配器本身见第 20 讲。</a:t>
              </a:r>
            </a:p>
          </p:txBody>
        </p:sp>
      </p:grpSp>
      <p:grpSp>
        <p:nvGrpSpPr>
          <p:cNvPr id="20" name="c1-kv-1"/>
          <p:cNvGrpSpPr/>
          <p:nvPr/>
        </p:nvGrpSpPr>
        <p:grpSpPr>
          <a:xfrm>
            <a:off x="525780" y="1992630"/>
            <a:ext cx="5850255" cy="3023235"/>
            <a:chOff x="525780" y="1992630"/>
            <a:chExt cx="5850255" cy="3023235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意图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11655" y="1992630"/>
              <a:ext cx="4206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桥接是预先把两个维度分开；适配器是事后让两个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已有接口能对上话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59461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5780" y="27146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时机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11655" y="2714625"/>
              <a:ext cx="4206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桥接用在系统的初步设计；适配器用在设计完成后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发现与已有类无法协同时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31660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5780" y="3436620"/>
              <a:ext cx="967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对方是否可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11655" y="3436620"/>
              <a:ext cx="42062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桥接两端都是自己设计的，可以继续继承扩展；适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配器的被适配类往往是黑盒，改不了也控制不了扩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432054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5780" y="44405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接口来源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11655" y="4440555"/>
              <a:ext cx="4206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桥接的两个接口是同时定出来的，可以完全不同；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适配器的两个接口先已存在且不兼容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5147310"/>
            <a:ext cx="5842635" cy="1013460"/>
            <a:chOff x="533400" y="5147310"/>
            <a:chExt cx="5842635" cy="1013460"/>
          </a:xfrm>
        </p:grpSpPr>
        <p:sp>
          <p:nvSpPr>
            <p:cNvPr id="21" name="Rectangle 21"/>
            <p:cNvSpPr/>
            <p:nvPr/>
          </p:nvSpPr>
          <p:spPr>
            <a:xfrm>
              <a:off x="533400" y="5147310"/>
              <a:ext cx="5842635" cy="1013460"/>
            </a:xfrm>
            <a:prstGeom prst="roundRect">
              <a:avLst>
                <a:gd name="adj" fmla="val 1127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5554028"/>
              <a:ext cx="200026" cy="200026"/>
              <a:chOff x="738188" y="5554028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55540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56207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27088" y="56540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5411152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涉及大量第三方接口时，设计初期就要把适配器一起考虑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进去，不必等到集成阶段。</a:t>
              </a:r>
            </a:p>
          </p:txBody>
        </p:sp>
      </p:grpSp>
      <p:grpSp>
        <p:nvGrpSpPr>
          <p:cNvPr id="72" name="c2-uml-1"/>
          <p:cNvGrpSpPr/>
          <p:nvPr/>
        </p:nvGrpSpPr>
        <p:grpSpPr>
          <a:xfrm>
            <a:off x="6757035" y="2268855"/>
            <a:ext cx="4825365" cy="1697355"/>
            <a:chOff x="6757035" y="2268855"/>
            <a:chExt cx="4825365" cy="1697355"/>
          </a:xfrm>
        </p:grpSpPr>
        <p:sp>
          <p:nvSpPr>
            <p:cNvPr id="28" name="Freeform 28"/>
            <p:cNvSpPr/>
            <p:nvPr/>
          </p:nvSpPr>
          <p:spPr>
            <a:xfrm>
              <a:off x="8059102" y="2563178"/>
              <a:ext cx="1186815" cy="9525"/>
            </a:xfrm>
            <a:custGeom>
              <a:avLst/>
              <a:gdLst/>
              <a:ahLst/>
              <a:cxnLst/>
              <a:rect l="l" t="t" r="r" b="b"/>
              <a:pathLst>
                <a:path w="1186815" h="9525">
                  <a:moveTo>
                    <a:pt x="118681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849552" y="2505075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303770" y="2982278"/>
              <a:ext cx="9525" cy="558165"/>
            </a:xfrm>
            <a:custGeom>
              <a:avLst/>
              <a:gdLst/>
              <a:ahLst/>
              <a:cxnLst/>
              <a:rect l="l" t="t" r="r" b="b"/>
              <a:pathLst>
                <a:path w="9525" h="558165">
                  <a:moveTo>
                    <a:pt x="0" y="55816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230428" y="285654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547735" y="2969895"/>
              <a:ext cx="1243965" cy="570547"/>
            </a:xfrm>
            <a:custGeom>
              <a:avLst/>
              <a:gdLst/>
              <a:ahLst/>
              <a:cxnLst/>
              <a:rect l="l" t="t" r="r" b="b"/>
              <a:pathLst>
                <a:path w="1243965" h="570547">
                  <a:moveTo>
                    <a:pt x="0" y="570547"/>
                  </a:moveTo>
                  <a:lnTo>
                    <a:pt x="0" y="222885"/>
                  </a:lnTo>
                  <a:lnTo>
                    <a:pt x="1243965" y="222885"/>
                  </a:lnTo>
                  <a:lnTo>
                    <a:pt x="124396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33" name="Freeform 33"/>
            <p:cNvSpPr/>
            <p:nvPr/>
          </p:nvSpPr>
          <p:spPr>
            <a:xfrm>
              <a:off x="9718358" y="284416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791700" y="2969895"/>
              <a:ext cx="9525" cy="570547"/>
            </a:xfrm>
            <a:custGeom>
              <a:avLst/>
              <a:gdLst/>
              <a:ahLst/>
              <a:cxnLst/>
              <a:rect l="l" t="t" r="r" b="b"/>
              <a:pathLst>
                <a:path w="9525" h="570547">
                  <a:moveTo>
                    <a:pt x="0" y="570547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35" name="Freeform 35"/>
            <p:cNvSpPr/>
            <p:nvPr/>
          </p:nvSpPr>
          <p:spPr>
            <a:xfrm>
              <a:off x="9718358" y="284416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791700" y="2775585"/>
              <a:ext cx="1244918" cy="764858"/>
            </a:xfrm>
            <a:custGeom>
              <a:avLst/>
              <a:gdLst/>
              <a:ahLst/>
              <a:cxnLst/>
              <a:rect l="l" t="t" r="r" b="b"/>
              <a:pathLst>
                <a:path w="1244918" h="764858">
                  <a:moveTo>
                    <a:pt x="0" y="764858"/>
                  </a:moveTo>
                  <a:lnTo>
                    <a:pt x="0" y="382905"/>
                  </a:lnTo>
                  <a:lnTo>
                    <a:pt x="1244918" y="382905"/>
                  </a:lnTo>
                  <a:lnTo>
                    <a:pt x="124491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37" name="Freeform 37"/>
            <p:cNvSpPr/>
            <p:nvPr/>
          </p:nvSpPr>
          <p:spPr>
            <a:xfrm>
              <a:off x="10978515" y="2775585"/>
              <a:ext cx="115253" cy="104775"/>
            </a:xfrm>
            <a:custGeom>
              <a:avLst/>
              <a:gdLst/>
              <a:ahLst/>
              <a:cxnLst/>
              <a:rect l="l" t="t" r="r" b="b"/>
              <a:pathLst>
                <a:path w="115253" h="104775">
                  <a:moveTo>
                    <a:pt x="115253" y="104775"/>
                  </a:moveTo>
                  <a:lnTo>
                    <a:pt x="58103" y="0"/>
                  </a:ln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757035" y="2268855"/>
              <a:ext cx="1091565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64655" y="2275522"/>
              <a:ext cx="1077278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757035" y="2499360"/>
              <a:ext cx="10915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757035" y="2756535"/>
              <a:ext cx="10915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245918" y="2281238"/>
              <a:ext cx="1091565" cy="56292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253538" y="2288858"/>
              <a:ext cx="1077278" cy="36480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245918" y="2648902"/>
              <a:ext cx="10915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245918" y="2744152"/>
              <a:ext cx="10915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57035" y="3540442"/>
              <a:ext cx="1091565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764655" y="3548062"/>
              <a:ext cx="107727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757035" y="3770948"/>
              <a:ext cx="10915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757035" y="3866198"/>
              <a:ext cx="10915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001952" y="3540442"/>
              <a:ext cx="1091565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008620" y="3548062"/>
              <a:ext cx="107727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001952" y="3770948"/>
              <a:ext cx="10915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001952" y="3866198"/>
              <a:ext cx="10915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245918" y="3540442"/>
              <a:ext cx="1091565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253538" y="3548062"/>
              <a:ext cx="107727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245918" y="3770948"/>
              <a:ext cx="10915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245918" y="3866198"/>
              <a:ext cx="10915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490835" y="2349818"/>
              <a:ext cx="1091565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497502" y="2357438"/>
              <a:ext cx="107727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490835" y="2580322"/>
              <a:ext cx="10915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490835" y="2675572"/>
              <a:ext cx="10915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34962" y="232457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报表显示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28472" y="2568892"/>
              <a:ext cx="475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采集器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466811" y="2334101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522892" y="247411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数据采集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968998" y="359616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显示方式一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146999" y="359616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读取文本文件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392727" y="3596164"/>
              <a:ext cx="7979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Excel 适配器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732531" y="2405539"/>
              <a:ext cx="6081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Excel API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0233660" y="2942272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0267950" y="296894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</p:grpSp>
      <p:grpSp>
        <p:nvGrpSpPr>
          <p:cNvPr id="78" name="c2-card-2"/>
          <p:cNvGrpSpPr/>
          <p:nvPr/>
        </p:nvGrpSpPr>
        <p:grpSpPr>
          <a:xfrm>
            <a:off x="6680835" y="4539615"/>
            <a:ext cx="4977765" cy="1621155"/>
            <a:chOff x="6680835" y="4539615"/>
            <a:chExt cx="4977765" cy="1621155"/>
          </a:xfrm>
        </p:grpSpPr>
        <p:sp>
          <p:nvSpPr>
            <p:cNvPr id="73" name="Rectangle 73"/>
            <p:cNvSpPr/>
            <p:nvPr/>
          </p:nvSpPr>
          <p:spPr>
            <a:xfrm>
              <a:off x="6680835" y="4539615"/>
              <a:ext cx="4977765" cy="1621155"/>
            </a:xfrm>
            <a:prstGeom prst="roundRect">
              <a:avLst>
                <a:gd name="adj" fmla="val 822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890385" y="47491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981546" y="47848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联用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491412" y="4784408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报表模块里两个模式各管一段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882765" y="5145405"/>
              <a:ext cx="4358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显示方式和采集方式是两个独立维度，用桥接分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开；厂商提供的 Excel API 接口对不上，再加一个适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配器把它接到采集接口上。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 · 模式辨析、自测与小结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与策略、抽象工厂的分界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736686" cy="308039"/>
            <a:chOff x="525399" y="1550194"/>
            <a:chExt cx="873668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7366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策略的类图和桥接的抽象一侧几乎一样，抽象工厂常和桥接配合出现，都要分清各自管什么。</a:t>
              </a:r>
            </a:p>
          </p:txBody>
        </p:sp>
      </p:grpSp>
      <p:grpSp>
        <p:nvGrpSpPr>
          <p:cNvPr id="14" name="c1-kv-1"/>
          <p:cNvGrpSpPr/>
          <p:nvPr/>
        </p:nvGrpSpPr>
        <p:grpSpPr>
          <a:xfrm>
            <a:off x="525780" y="1992630"/>
            <a:ext cx="5742622" cy="2425065"/>
            <a:chOff x="525780" y="1992630"/>
            <a:chExt cx="5742622" cy="2425065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与策略模式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65935" y="1992630"/>
              <a:ext cx="4206240" cy="1139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策略只有算法一端成体系，环境类一般不派生；桥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接两端都是继承链。策略换的是一个算法且常在运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行中反复切换，桥接换的是整套实现且多在装配时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绑定。策略见第 38 讲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3158490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5780" y="327850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与抽象工厂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65935" y="3278505"/>
              <a:ext cx="4206240" cy="1139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抽象工厂管怎么造出一族对象，桥接管造好以后两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个维度怎么各自变。两者常配合：用抽象工厂创建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具体实现对象，再注入抽象部分。抽象工厂见第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讲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549140"/>
            <a:ext cx="5735002" cy="1621155"/>
            <a:chOff x="533400" y="4549140"/>
            <a:chExt cx="5735002" cy="1621155"/>
          </a:xfrm>
        </p:grpSpPr>
        <p:sp>
          <p:nvSpPr>
            <p:cNvPr id="15" name="Rectangle 15"/>
            <p:cNvSpPr/>
            <p:nvPr/>
          </p:nvSpPr>
          <p:spPr>
            <a:xfrm>
              <a:off x="533400" y="4549140"/>
              <a:ext cx="5735002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68249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475869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1258" y="47944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82078" y="479393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类图像不等于模式相同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5154930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策略、桥接、状态三者的类图都是一个类持有一个接口引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用。区分只能看意图：策略换算法，状态随状态改行为，桥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接拆两个维度。状态模式见第 37 讲。</a:t>
              </a:r>
            </a:p>
          </p:txBody>
        </p:sp>
      </p:grpSp>
      <p:grpSp>
        <p:nvGrpSpPr>
          <p:cNvPr id="29" name="c2-bullets-1"/>
          <p:cNvGrpSpPr/>
          <p:nvPr/>
        </p:nvGrpSpPr>
        <p:grpSpPr>
          <a:xfrm>
            <a:off x="6565583" y="1992630"/>
            <a:ext cx="4845367" cy="2194560"/>
            <a:chOff x="6565583" y="1992630"/>
            <a:chExt cx="4845367" cy="2194560"/>
          </a:xfrm>
        </p:grpSpPr>
        <p:sp>
          <p:nvSpPr>
            <p:cNvPr id="22" name="TextBox 22"/>
            <p:cNvSpPr txBox="1"/>
            <p:nvPr/>
          </p:nvSpPr>
          <p:spPr>
            <a:xfrm>
              <a:off x="6565583" y="199263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三句话判别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6573202" y="2378392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4292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23710" y="234696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问它解决的是创建问题还是结构问题，是创建就往工厂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那边找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573202" y="3008948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4292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23710" y="297751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问被替换的那一端有没有成体系的继承链，没有就多半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是策略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6573202" y="3639502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4292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23710" y="360807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问两个接口是不是同时设计出来的，不是就多半是适配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573202" y="4318635"/>
            <a:ext cx="5085398" cy="1851660"/>
            <a:chOff x="6573202" y="4318635"/>
            <a:chExt cx="5085398" cy="1851660"/>
          </a:xfrm>
        </p:grpSpPr>
        <p:sp>
          <p:nvSpPr>
            <p:cNvPr id="30" name="Rectangle 30"/>
            <p:cNvSpPr/>
            <p:nvPr/>
          </p:nvSpPr>
          <p:spPr>
            <a:xfrm>
              <a:off x="6573202" y="4318635"/>
              <a:ext cx="5085398" cy="1851660"/>
            </a:xfrm>
            <a:prstGeom prst="roundRect">
              <a:avLst>
                <a:gd name="adj" fmla="val 72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582728" y="4451985"/>
              <a:ext cx="47625" cy="15849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820852" y="45281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11061" y="45639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20928" y="456342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和装饰模式的差别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13233" y="4924425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装饰模式也是持有同类型的引用，但它包的是同一个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接口，目的是层层叠加职责；桥接持有的是另一条链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上的接口，目的是拆开两个维度。装饰见第 23 讲。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桥接模式的定义怎么说？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分离抽象部分与实现部分，两者可独立变化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它还有哪两个别名？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37511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柄体模式（Handle and Body）、接口模式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3159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种型号配 n 种颜色各要几个叶子类？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29033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多层继承 m×n 个，桥接 m+n 个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它按目的和范围各属哪一类？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结构型 + 对象模式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四个角色分别是什么？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抽象类、扩充抽象类、实现类接口、具体实现类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586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“实现部分”指抽象类的子类吗？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不是，指另一条独立的继承链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答不上来的题，回到对应正文页把那一张类图或那一段代码再读一遍。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抽象类和实现类接口之间是什么关系？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关联（聚合），菱形在抽象类一端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新增一种实现要改抽象部分吗？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不用，只加一个具体实现类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桥接和策略的结构差在哪？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桥接两端都成继承链，策略只有算法一端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两个接口必须长得一样吗？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不必，实现接口只提供基本操作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桥接和适配器的使用时机差在哪？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桥接用于初步设计，适配器用于事后弥合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19983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pImpl 算完整的桥接吗？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不算，实现端只有一个类，目的是隐藏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判断题眼：先数变化维度，再数按继承要写的叶子类，数目落在乘法上就该架桥。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76009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6139" y="40719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21 桥接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3525"/>
            <a:ext cx="7175246" cy="1432845"/>
            <a:chOff x="533400" y="1533525"/>
            <a:chExt cx="7175246" cy="1432845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63885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桥接模式把抽象部分和实现部分分成两条继承链，在抽象层用一条关联把它们连起来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2689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1837849"/>
              <a:ext cx="63885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四个角色：抽象类、扩充抽象类、实现类接口、具体实现类，聚合菱形在抽象类一端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2026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131219"/>
              <a:ext cx="58371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叶子类的个数从多层继承的 m × n 降到 m + n，任一维度扩展都不动另一维度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1363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2424589"/>
              <a:ext cx="69054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难点在识别两个独立变化的维度，固有的那一维做抽象部分，设置进来的那一维做实现部分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0605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307" y="27416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148" y="2717006"/>
              <a:ext cx="60439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本质是分离抽象和实现；动态切换实现、减少子类个数都是分离之后顺带的好处</a:t>
              </a:r>
            </a:p>
          </p:txBody>
        </p:sp>
      </p:grpSp>
      <p:grpSp>
        <p:nvGrpSpPr>
          <p:cNvPr id="28" name="c1-kv-2"/>
          <p:cNvGrpSpPr/>
          <p:nvPr/>
        </p:nvGrpSpPr>
        <p:grpSpPr>
          <a:xfrm>
            <a:off x="526923" y="3102769"/>
            <a:ext cx="11131677" cy="622744"/>
            <a:chOff x="526923" y="3102769"/>
            <a:chExt cx="11131677" cy="622744"/>
          </a:xfrm>
        </p:grpSpPr>
        <p:sp>
          <p:nvSpPr>
            <p:cNvPr id="23" name="TextBox 23"/>
            <p:cNvSpPr txBox="1"/>
            <p:nvPr/>
          </p:nvSpPr>
          <p:spPr>
            <a:xfrm>
              <a:off x="526923" y="31027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四个角色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51800" y="3102769"/>
              <a:ext cx="60439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抽象类、扩充抽象类、实现类接口、具体实现类，前两个一条链，后两个一条链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3747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6923" y="34761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三个近邻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51800" y="3476149"/>
              <a:ext cx="67504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适配器事后弥合（第 20 讲）、策略只换算法（第 38 讲）、抽象工厂管创建（第 12 讲）</a:t>
              </a:r>
            </a:p>
          </p:txBody>
        </p:sp>
      </p:grpSp>
      <p:grpSp>
        <p:nvGrpSpPr>
          <p:cNvPr id="46" name="c1-card-3"/>
          <p:cNvGrpSpPr/>
          <p:nvPr/>
        </p:nvGrpSpPr>
        <p:grpSpPr>
          <a:xfrm>
            <a:off x="533400" y="3840480"/>
            <a:ext cx="11125200" cy="1883092"/>
            <a:chOff x="533400" y="3840480"/>
            <a:chExt cx="11125200" cy="1883092"/>
          </a:xfrm>
        </p:grpSpPr>
        <p:sp>
          <p:nvSpPr>
            <p:cNvPr id="29" name="Rectangle 29"/>
            <p:cNvSpPr/>
            <p:nvPr/>
          </p:nvSpPr>
          <p:spPr>
            <a:xfrm>
              <a:off x="533400" y="3840480"/>
              <a:ext cx="11125200" cy="1883092"/>
            </a:xfrm>
            <a:prstGeom prst="roundRect">
              <a:avLst>
                <a:gd name="adj" fmla="val 70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3973830"/>
              <a:ext cx="47625" cy="16163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02145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7044" y="405431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68006" y="406098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本讲订正的源课件问题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52475" y="436626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4382" y="440188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2223" y="4378166"/>
              <a:ext cx="75063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陈伟第 10、11 页把构造函数写成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~A(ImpA * p):impA(p){}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，还拼错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virtual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、用了全角括号冒号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52475" y="465201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4382" y="468668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2223" y="4662964"/>
              <a:ext cx="5708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陈伟第 7 页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ImpG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声明的是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却调用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；第 11 页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pubic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少了一个字母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52475" y="493680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4382" y="497243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2223" y="4947761"/>
              <a:ext cx="65436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张欣佳第 10、19、22 页类图里接口与实现类之间画成实线空心三角，规范画法是虚线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52475" y="522160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04382" y="525722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22223" y="5232559"/>
              <a:ext cx="66211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张欣佳第 7 页“17 到 21 个”没给算法，本讲补出 12 个叶子类加 5 到 9 个抽象层类的账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7" name="Rectangle 4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1273" y="6039326"/>
              <a:ext cx="105144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看到“A 的 B 版本”这种类名成片出现，先数一数是不是两个维度在做乘法；如果两个接口是事后才发现不兼容的，那是第 20 讲的适配器。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桥接模式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21">
  <a:themeElements>
    <a:clrScheme name="sdp_2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21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2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2026-09-19T08:26:55Z</dcterms:created>
  <dcterms:modified xsi:type="dcterms:W3CDTF">2026-09-19T08:26:55Z</dcterms:modified>
  <cp:category/>
  <cp:contentStatus/>
</cp:coreProperties>
</file>