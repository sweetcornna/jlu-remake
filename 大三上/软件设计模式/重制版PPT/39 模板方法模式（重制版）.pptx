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sdp_3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sdp_3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zh-CN">
          <a:solidFill>
            <a:schemeClr val="tx1"/>
          </a:solidFill>
          <a:latin typeface="+mn-lt"/>
          <a:ea typeface="+mn-ea"/>
          <a:cs typeface="+mn-cs"/>
        </a:defRPr>
      </a:lvl9pPr>
    </p:bodyStyle>
    <p:other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e70ab583577bb7dc.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f0f6dc213bacd24.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ba8a61ed00e8a38.png"/>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cover-hero"/>
          <p:cNvPicPr>
            <a:picLocks noChangeAspect="1"/>
          </p:cNvPicPr>
          <p:nvPr/>
        </p:nvPicPr>
        <p:blipFill>
          <a:blip r:embed="rId2"/>
          <a:stretch>
            <a:fillRect/>
          </a:stretch>
        </p:blipFill>
        <p:spPr>
          <a:xfrm>
            <a:off x="0" y="0"/>
            <a:ext cx="12192000" cy="6858000"/>
          </a:xfrm>
          <a:prstGeom prst="rect">
            <a:avLst/>
          </a:prstGeom>
        </p:spPr>
      </p:pic>
      <p:sp>
        <p:nvSpPr>
          <p:cNvPr id="3" name="cover-scrim"/>
          <p:cNvSpPr/>
          <p:nvPr/>
        </p:nvSpPr>
        <p:spPr>
          <a:xfrm>
            <a:off x="0" y="0"/>
            <a:ext cx="7620000" cy="6858000"/>
          </a:xfrm>
          <a:prstGeom prst="rect">
            <a:avLst/>
          </a:prstGeom>
          <a:gradFill>
            <a:gsLst>
              <a:gs pos="0">
                <a:srgbClr val="FFFFFF">
                  <a:alpha val="97000"/>
                </a:srgbClr>
              </a:gs>
              <a:gs pos="58000">
                <a:srgbClr val="FFFFFF">
                  <a:alpha val="85000"/>
                </a:srgbClr>
              </a:gs>
              <a:gs pos="100000">
                <a:srgbClr val="FFFFFF">
                  <a:alpha val="0"/>
                </a:srgbClr>
              </a:gs>
            </a:gsLst>
            <a:lin ang="0" scaled="1"/>
          </a:gradFill>
          <a:ln>
            <a:noFill/>
          </a:ln>
        </p:spPr>
      </p:sp>
      <p:grpSp>
        <p:nvGrpSpPr>
          <p:cNvPr id="17" name="cover-title"/>
          <p:cNvGrpSpPr/>
          <p:nvPr/>
        </p:nvGrpSpPr>
        <p:grpSpPr>
          <a:xfrm>
            <a:off x="666750" y="1619250"/>
            <a:ext cx="4389882" cy="3437763"/>
            <a:chOff x="666750" y="1619250"/>
            <a:chExt cx="4389882" cy="3437763"/>
          </a:xfrm>
        </p:grpSpPr>
        <p:sp>
          <p:nvSpPr>
            <p:cNvPr id="4" name="Rectangle 4"/>
            <p:cNvSpPr/>
            <p:nvPr/>
          </p:nvSpPr>
          <p:spPr>
            <a:xfrm>
              <a:off x="685800" y="1619250"/>
              <a:ext cx="2203132" cy="342900"/>
            </a:xfrm>
            <a:prstGeom prst="roundRect">
              <a:avLst>
                <a:gd name="adj" fmla="val 50000"/>
              </a:avLst>
            </a:prstGeom>
            <a:solidFill>
              <a:srgbClr val="EEEAF7"/>
            </a:solidFill>
            <a:ln>
              <a:noFill/>
            </a:ln>
          </p:spPr>
        </p:sp>
        <p:sp>
          <p:nvSpPr>
            <p:cNvPr id="5" name="TextBox 5"/>
            <p:cNvSpPr txBox="1"/>
            <p:nvPr/>
          </p:nvSpPr>
          <p:spPr>
            <a:xfrm>
              <a:off x="795722" y="1718310"/>
              <a:ext cx="1984240" cy="234696"/>
            </a:xfrm>
            <a:prstGeom prst="rect">
              <a:avLst/>
            </a:prstGeom>
            <a:noFill/>
            <a:ln>
              <a:noFill/>
            </a:ln>
          </p:spPr>
          <p:txBody>
            <a:bodyPr wrap="none" lIns="0" tIns="0" rIns="0" bIns="0" anchor="t" anchorCtr="0">
              <a:spAutoFit/>
            </a:bodyPr>
            <a:lstStyle/>
            <a:p>
              <a:pPr algn="ctr"/>
              <a:r>
                <a:rPr lang="zh-CN" sz="1200" b="1" dirty="0">
                  <a:solidFill>
                    <a:srgbClr val="5B3FA0"/>
                  </a:solidFill>
                  <a:latin typeface="+mn-lt"/>
                  <a:ea typeface="+mn-ea"/>
                  <a:cs typeface="+mn-cs"/>
                </a:rPr>
                <a:t>软件设计模式 · 第二十七讲</a:t>
              </a:r>
            </a:p>
          </p:txBody>
        </p:sp>
        <p:sp>
          <p:nvSpPr>
            <p:cNvPr id="6" name="TextBox 6"/>
            <p:cNvSpPr txBox="1"/>
            <p:nvPr/>
          </p:nvSpPr>
          <p:spPr>
            <a:xfrm>
              <a:off x="666750" y="2407920"/>
              <a:ext cx="3430524" cy="819150"/>
            </a:xfrm>
            <a:prstGeom prst="rect">
              <a:avLst/>
            </a:prstGeom>
            <a:noFill/>
            <a:ln>
              <a:noFill/>
            </a:ln>
          </p:spPr>
          <p:txBody>
            <a:bodyPr wrap="none" lIns="0" tIns="0" rIns="0" bIns="0" anchor="t" anchorCtr="0">
              <a:spAutoFit/>
            </a:bodyPr>
            <a:lstStyle/>
            <a:p>
              <a:pPr algn="l"/>
              <a:r>
                <a:rPr lang="zh-CN" sz="4200" b="1" dirty="0">
                  <a:solidFill>
                    <a:srgbClr val="1F2937"/>
                  </a:solidFill>
                  <a:latin typeface="+mn-lt"/>
                  <a:ea typeface="+mn-ea"/>
                  <a:cs typeface="+mn-cs"/>
                </a:rPr>
                <a:t>模板方法模式</a:t>
              </a:r>
            </a:p>
          </p:txBody>
        </p:sp>
        <p:sp>
          <p:nvSpPr>
            <p:cNvPr id="7" name="Rectangle 7"/>
            <p:cNvSpPr/>
            <p:nvPr/>
          </p:nvSpPr>
          <p:spPr>
            <a:xfrm>
              <a:off x="685800" y="3147060"/>
              <a:ext cx="990600" cy="57150"/>
            </a:xfrm>
            <a:prstGeom prst="roundRect">
              <a:avLst>
                <a:gd name="adj" fmla="val 50000"/>
              </a:avLst>
            </a:prstGeom>
            <a:gradFill>
              <a:gsLst>
                <a:gs pos="0">
                  <a:srgbClr val="5B3FA0"/>
                </a:gs>
                <a:gs pos="100000">
                  <a:srgbClr val="F26B3A"/>
                </a:gs>
              </a:gsLst>
              <a:lin ang="0" scaled="1"/>
            </a:gradFill>
            <a:ln>
              <a:noFill/>
            </a:ln>
          </p:spPr>
        </p:sp>
        <p:sp>
          <p:nvSpPr>
            <p:cNvPr id="8" name="TextBox 8"/>
            <p:cNvSpPr txBox="1"/>
            <p:nvPr/>
          </p:nvSpPr>
          <p:spPr>
            <a:xfrm>
              <a:off x="676656" y="3467100"/>
              <a:ext cx="4379976" cy="352044"/>
            </a:xfrm>
            <a:prstGeom prst="rect">
              <a:avLst/>
            </a:prstGeom>
            <a:noFill/>
            <a:ln>
              <a:noFill/>
            </a:ln>
          </p:spPr>
          <p:txBody>
            <a:bodyPr wrap="none" lIns="0" tIns="0" rIns="0" bIns="0" anchor="t" anchorCtr="0">
              <a:spAutoFit/>
            </a:bodyPr>
            <a:lstStyle/>
            <a:p>
              <a:pPr algn="l"/>
              <a:r>
                <a:rPr lang="zh-CN" sz="1800" dirty="0">
                  <a:solidFill>
                    <a:srgbClr val="1F2937"/>
                  </a:solidFill>
                  <a:latin typeface="+mn-lt"/>
                  <a:ea typeface="+mn-ea"/>
                  <a:cs typeface="+mn-cs"/>
                </a:rPr>
                <a:t>父类定好步骤次序，子类只填其中一两步</a:t>
              </a:r>
            </a:p>
          </p:txBody>
        </p:sp>
        <p:sp>
          <p:nvSpPr>
            <p:cNvPr id="9" name="Ellipse 9"/>
            <p:cNvSpPr/>
            <p:nvPr/>
          </p:nvSpPr>
          <p:spPr>
            <a:xfrm>
              <a:off x="709612" y="3976688"/>
              <a:ext cx="66675" cy="66675"/>
            </a:xfrm>
            <a:prstGeom prst="ellipse">
              <a:avLst/>
            </a:prstGeom>
            <a:solidFill>
              <a:srgbClr val="F26B3A"/>
            </a:solidFill>
            <a:ln>
              <a:noFill/>
            </a:ln>
          </p:spPr>
        </p:sp>
        <p:sp>
          <p:nvSpPr>
            <p:cNvPr id="10" name="TextBox 10"/>
            <p:cNvSpPr txBox="1"/>
            <p:nvPr/>
          </p:nvSpPr>
          <p:spPr>
            <a:xfrm>
              <a:off x="869442" y="3921442"/>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请客吃饭的三个步骤</a:t>
              </a:r>
            </a:p>
          </p:txBody>
        </p:sp>
        <p:sp>
          <p:nvSpPr>
            <p:cNvPr id="11" name="Ellipse 11"/>
            <p:cNvSpPr/>
            <p:nvPr/>
          </p:nvSpPr>
          <p:spPr>
            <a:xfrm>
              <a:off x="709612" y="4267200"/>
              <a:ext cx="66675" cy="66675"/>
            </a:xfrm>
            <a:prstGeom prst="ellipse">
              <a:avLst/>
            </a:prstGeom>
            <a:solidFill>
              <a:srgbClr val="F26B3A"/>
            </a:solidFill>
            <a:ln>
              <a:noFill/>
            </a:ln>
          </p:spPr>
        </p:sp>
        <p:sp>
          <p:nvSpPr>
            <p:cNvPr id="12" name="TextBox 12"/>
            <p:cNvSpPr txBox="1"/>
            <p:nvPr/>
          </p:nvSpPr>
          <p:spPr>
            <a:xfrm>
              <a:off x="869442" y="4211955"/>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模板方法与基本方法</a:t>
              </a:r>
            </a:p>
          </p:txBody>
        </p:sp>
        <p:sp>
          <p:nvSpPr>
            <p:cNvPr id="13" name="Ellipse 13"/>
            <p:cNvSpPr/>
            <p:nvPr/>
          </p:nvSpPr>
          <p:spPr>
            <a:xfrm>
              <a:off x="709612" y="4557712"/>
              <a:ext cx="66675" cy="66675"/>
            </a:xfrm>
            <a:prstGeom prst="ellipse">
              <a:avLst/>
            </a:prstGeom>
            <a:solidFill>
              <a:srgbClr val="F26B3A"/>
            </a:solidFill>
            <a:ln>
              <a:noFill/>
            </a:ln>
          </p:spPr>
        </p:sp>
        <p:sp>
          <p:nvSpPr>
            <p:cNvPr id="14" name="TextBox 14"/>
            <p:cNvSpPr txBox="1"/>
            <p:nvPr/>
          </p:nvSpPr>
          <p:spPr>
            <a:xfrm>
              <a:off x="869442" y="4502468"/>
              <a:ext cx="1649349"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钩子方法与反向控制</a:t>
              </a:r>
            </a:p>
          </p:txBody>
        </p:sp>
        <p:sp>
          <p:nvSpPr>
            <p:cNvPr id="15" name="Ellipse 15"/>
            <p:cNvSpPr/>
            <p:nvPr/>
          </p:nvSpPr>
          <p:spPr>
            <a:xfrm>
              <a:off x="709612" y="4848225"/>
              <a:ext cx="66675" cy="66675"/>
            </a:xfrm>
            <a:prstGeom prst="ellipse">
              <a:avLst/>
            </a:prstGeom>
            <a:solidFill>
              <a:srgbClr val="F26B3A"/>
            </a:solidFill>
            <a:ln>
              <a:noFill/>
            </a:ln>
          </p:spPr>
        </p:sp>
        <p:sp>
          <p:nvSpPr>
            <p:cNvPr id="16" name="TextBox 16"/>
            <p:cNvSpPr txBox="1"/>
            <p:nvPr/>
          </p:nvSpPr>
          <p:spPr>
            <a:xfrm>
              <a:off x="869442" y="4792980"/>
              <a:ext cx="1831086"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银行与数据库两个实例</a:t>
              </a:r>
            </a:p>
          </p:txBody>
        </p:sp>
      </p:grpSp>
      <p:grpSp>
        <p:nvGrpSpPr>
          <p:cNvPr id="19" name="cover-credit"/>
          <p:cNvGrpSpPr/>
          <p:nvPr/>
        </p:nvGrpSpPr>
        <p:grpSpPr>
          <a:xfrm>
            <a:off x="680466" y="6192202"/>
            <a:ext cx="5685911" cy="205359"/>
            <a:chOff x="680466" y="6192202"/>
            <a:chExt cx="5685911" cy="205359"/>
          </a:xfrm>
        </p:grpSpPr>
        <p:sp>
          <p:nvSpPr>
            <p:cNvPr id="18" name="TextBox 18"/>
            <p:cNvSpPr txBox="1"/>
            <p:nvPr/>
          </p:nvSpPr>
          <p:spPr>
            <a:xfrm>
              <a:off x="680466" y="6192202"/>
              <a:ext cx="5685911"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重制讲义 · 自学复习版｜据吉林大学《软件设计模式》张欣佳、陈伟两位老师课件合并整理</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2085594" cy="909257"/>
            <a:chOff x="520446" y="342900"/>
            <a:chExt cx="2085594" cy="909257"/>
          </a:xfrm>
        </p:grpSpPr>
        <p:sp>
          <p:nvSpPr>
            <p:cNvPr id="2" name="Rectangle 2"/>
            <p:cNvSpPr/>
            <p:nvPr/>
          </p:nvSpPr>
          <p:spPr>
            <a:xfrm>
              <a:off x="533400" y="342900"/>
              <a:ext cx="1044892" cy="266700"/>
            </a:xfrm>
            <a:prstGeom prst="roundRect">
              <a:avLst>
                <a:gd name="adj" fmla="val 50000"/>
              </a:avLst>
            </a:prstGeom>
            <a:solidFill>
              <a:srgbClr val="EEEAF7"/>
            </a:solidFill>
            <a:ln>
              <a:noFill/>
            </a:ln>
          </p:spPr>
        </p:sp>
        <p:sp>
          <p:nvSpPr>
            <p:cNvPr id="3" name="TextBox 3"/>
            <p:cNvSpPr txBox="1"/>
            <p:nvPr/>
          </p:nvSpPr>
          <p:spPr>
            <a:xfrm>
              <a:off x="637287" y="407194"/>
              <a:ext cx="836166"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a:t>
              </a:r>
            </a:p>
          </p:txBody>
        </p:sp>
        <p:sp>
          <p:nvSpPr>
            <p:cNvPr id="4" name="TextBox 4"/>
            <p:cNvSpPr txBox="1"/>
            <p:nvPr/>
          </p:nvSpPr>
          <p:spPr>
            <a:xfrm>
              <a:off x="520446" y="753428"/>
              <a:ext cx="208559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本讲学习路线</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30" name="c1-agenda-1"/>
          <p:cNvGrpSpPr/>
          <p:nvPr/>
        </p:nvGrpSpPr>
        <p:grpSpPr>
          <a:xfrm>
            <a:off x="521970" y="1515428"/>
            <a:ext cx="6287453" cy="4461795"/>
            <a:chOff x="521970" y="1515428"/>
            <a:chExt cx="6287453" cy="4461795"/>
          </a:xfrm>
        </p:grpSpPr>
        <p:sp>
          <p:nvSpPr>
            <p:cNvPr id="7" name="TextBox 7"/>
            <p:cNvSpPr txBox="1"/>
            <p:nvPr/>
          </p:nvSpPr>
          <p:spPr>
            <a:xfrm>
              <a:off x="521970" y="1515428"/>
              <a:ext cx="372704" cy="440055"/>
            </a:xfrm>
            <a:prstGeom prst="rect">
              <a:avLst/>
            </a:prstGeom>
            <a:noFill/>
            <a:ln>
              <a:noFill/>
            </a:ln>
          </p:spPr>
          <p:txBody>
            <a:bodyPr wrap="none" lIns="0" tIns="0" rIns="0" bIns="0" anchor="t" anchorCtr="0">
              <a:spAutoFit/>
            </a:bodyPr>
            <a:lstStyle/>
            <a:p>
              <a:pPr algn="l"/>
              <a:r>
                <a:rPr lang="zh-CN" sz="2250" b="1" dirty="0">
                  <a:solidFill>
                    <a:srgbClr val="5B3FA0"/>
                  </a:solidFill>
                  <a:latin typeface="+mn-lt"/>
                  <a:ea typeface="+mn-ea"/>
                  <a:cs typeface="+mn-cs"/>
                </a:rPr>
                <a:t>01</a:t>
              </a:r>
            </a:p>
          </p:txBody>
        </p:sp>
        <p:sp>
          <p:nvSpPr>
            <p:cNvPr id="8" name="TextBox 8"/>
            <p:cNvSpPr txBox="1"/>
            <p:nvPr/>
          </p:nvSpPr>
          <p:spPr>
            <a:xfrm>
              <a:off x="1065086" y="1551622"/>
              <a:ext cx="461010"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动机</a:t>
              </a:r>
            </a:p>
          </p:txBody>
        </p:sp>
        <p:sp>
          <p:nvSpPr>
            <p:cNvPr id="9" name="TextBox 9"/>
            <p:cNvSpPr txBox="1"/>
            <p:nvPr/>
          </p:nvSpPr>
          <p:spPr>
            <a:xfrm>
              <a:off x="1066990" y="1868329"/>
              <a:ext cx="363154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请客吃饭的三个步骤里，只有吃什么这一步会变</a:t>
              </a:r>
            </a:p>
          </p:txBody>
        </p:sp>
        <p:sp>
          <p:nvSpPr>
            <p:cNvPr id="10" name="Rectangle 10"/>
            <p:cNvSpPr/>
            <p:nvPr/>
          </p:nvSpPr>
          <p:spPr>
            <a:xfrm>
              <a:off x="1073468" y="2181225"/>
              <a:ext cx="5735955" cy="9525"/>
            </a:xfrm>
            <a:prstGeom prst="rect">
              <a:avLst/>
            </a:prstGeom>
            <a:solidFill>
              <a:srgbClr val="D9DFEA"/>
            </a:solidFill>
            <a:ln>
              <a:noFill/>
            </a:ln>
          </p:spPr>
        </p:sp>
        <p:sp>
          <p:nvSpPr>
            <p:cNvPr id="11" name="TextBox 11"/>
            <p:cNvSpPr txBox="1"/>
            <p:nvPr/>
          </p:nvSpPr>
          <p:spPr>
            <a:xfrm>
              <a:off x="521970" y="2286952"/>
              <a:ext cx="372704" cy="440055"/>
            </a:xfrm>
            <a:prstGeom prst="rect">
              <a:avLst/>
            </a:prstGeom>
            <a:noFill/>
            <a:ln>
              <a:noFill/>
            </a:ln>
          </p:spPr>
          <p:txBody>
            <a:bodyPr wrap="none" lIns="0" tIns="0" rIns="0" bIns="0" anchor="t" anchorCtr="0">
              <a:spAutoFit/>
            </a:bodyPr>
            <a:lstStyle/>
            <a:p>
              <a:pPr algn="l"/>
              <a:r>
                <a:rPr lang="zh-CN" sz="2250" b="1" dirty="0">
                  <a:solidFill>
                    <a:srgbClr val="5B3FA0"/>
                  </a:solidFill>
                  <a:latin typeface="+mn-lt"/>
                  <a:ea typeface="+mn-ea"/>
                  <a:cs typeface="+mn-cs"/>
                </a:rPr>
                <a:t>02</a:t>
              </a:r>
            </a:p>
          </p:txBody>
        </p:sp>
        <p:sp>
          <p:nvSpPr>
            <p:cNvPr id="12" name="TextBox 12"/>
            <p:cNvSpPr txBox="1"/>
            <p:nvPr/>
          </p:nvSpPr>
          <p:spPr>
            <a:xfrm>
              <a:off x="1065086" y="2323148"/>
              <a:ext cx="461010"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定义</a:t>
              </a:r>
            </a:p>
          </p:txBody>
        </p:sp>
        <p:sp>
          <p:nvSpPr>
            <p:cNvPr id="13" name="TextBox 13"/>
            <p:cNvSpPr txBox="1"/>
            <p:nvPr/>
          </p:nvSpPr>
          <p:spPr>
            <a:xfrm>
              <a:off x="1066990" y="2639854"/>
              <a:ext cx="414848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定义一个操作中算法的框架，而把一些步骤延迟到子类</a:t>
              </a:r>
            </a:p>
          </p:txBody>
        </p:sp>
        <p:sp>
          <p:nvSpPr>
            <p:cNvPr id="14" name="Rectangle 14"/>
            <p:cNvSpPr/>
            <p:nvPr/>
          </p:nvSpPr>
          <p:spPr>
            <a:xfrm>
              <a:off x="1073468" y="2953702"/>
              <a:ext cx="5735955" cy="9525"/>
            </a:xfrm>
            <a:prstGeom prst="rect">
              <a:avLst/>
            </a:prstGeom>
            <a:solidFill>
              <a:srgbClr val="D9DFEA"/>
            </a:solidFill>
            <a:ln>
              <a:noFill/>
            </a:ln>
          </p:spPr>
        </p:sp>
        <p:sp>
          <p:nvSpPr>
            <p:cNvPr id="15" name="TextBox 15"/>
            <p:cNvSpPr txBox="1"/>
            <p:nvPr/>
          </p:nvSpPr>
          <p:spPr>
            <a:xfrm>
              <a:off x="521970" y="3058478"/>
              <a:ext cx="372704" cy="440055"/>
            </a:xfrm>
            <a:prstGeom prst="rect">
              <a:avLst/>
            </a:prstGeom>
            <a:noFill/>
            <a:ln>
              <a:noFill/>
            </a:ln>
          </p:spPr>
          <p:txBody>
            <a:bodyPr wrap="none" lIns="0" tIns="0" rIns="0" bIns="0" anchor="t" anchorCtr="0">
              <a:spAutoFit/>
            </a:bodyPr>
            <a:lstStyle/>
            <a:p>
              <a:pPr algn="l"/>
              <a:r>
                <a:rPr lang="zh-CN" sz="2250" b="1" dirty="0">
                  <a:solidFill>
                    <a:srgbClr val="5B3FA0"/>
                  </a:solidFill>
                  <a:latin typeface="+mn-lt"/>
                  <a:ea typeface="+mn-ea"/>
                  <a:cs typeface="+mn-cs"/>
                </a:rPr>
                <a:t>03</a:t>
              </a:r>
            </a:p>
          </p:txBody>
        </p:sp>
        <p:sp>
          <p:nvSpPr>
            <p:cNvPr id="16" name="TextBox 16"/>
            <p:cNvSpPr txBox="1"/>
            <p:nvPr/>
          </p:nvSpPr>
          <p:spPr>
            <a:xfrm>
              <a:off x="1065086" y="3094673"/>
              <a:ext cx="1127379"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结构与角色</a:t>
              </a:r>
            </a:p>
          </p:txBody>
        </p:sp>
        <p:sp>
          <p:nvSpPr>
            <p:cNvPr id="17" name="TextBox 17"/>
            <p:cNvSpPr txBox="1"/>
            <p:nvPr/>
          </p:nvSpPr>
          <p:spPr>
            <a:xfrm>
              <a:off x="1066990" y="3412331"/>
              <a:ext cx="4343302"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全模式只有 AbstractClass 和 ConcreteClass 两个角色</a:t>
              </a:r>
            </a:p>
          </p:txBody>
        </p:sp>
        <p:sp>
          <p:nvSpPr>
            <p:cNvPr id="18" name="Rectangle 18"/>
            <p:cNvSpPr/>
            <p:nvPr/>
          </p:nvSpPr>
          <p:spPr>
            <a:xfrm>
              <a:off x="1073468" y="3725228"/>
              <a:ext cx="5735955" cy="9525"/>
            </a:xfrm>
            <a:prstGeom prst="rect">
              <a:avLst/>
            </a:prstGeom>
            <a:solidFill>
              <a:srgbClr val="D9DFEA"/>
            </a:solidFill>
            <a:ln>
              <a:noFill/>
            </a:ln>
          </p:spPr>
        </p:sp>
        <p:sp>
          <p:nvSpPr>
            <p:cNvPr id="19" name="TextBox 19"/>
            <p:cNvSpPr txBox="1"/>
            <p:nvPr/>
          </p:nvSpPr>
          <p:spPr>
            <a:xfrm>
              <a:off x="521970" y="3830955"/>
              <a:ext cx="372704" cy="440055"/>
            </a:xfrm>
            <a:prstGeom prst="rect">
              <a:avLst/>
            </a:prstGeom>
            <a:noFill/>
            <a:ln>
              <a:noFill/>
            </a:ln>
          </p:spPr>
          <p:txBody>
            <a:bodyPr wrap="none" lIns="0" tIns="0" rIns="0" bIns="0" anchor="t" anchorCtr="0">
              <a:spAutoFit/>
            </a:bodyPr>
            <a:lstStyle/>
            <a:p>
              <a:pPr algn="l"/>
              <a:r>
                <a:rPr lang="zh-CN" sz="2250" b="1" dirty="0">
                  <a:solidFill>
                    <a:srgbClr val="5B3FA0"/>
                  </a:solidFill>
                  <a:latin typeface="+mn-lt"/>
                  <a:ea typeface="+mn-ea"/>
                  <a:cs typeface="+mn-cs"/>
                </a:rPr>
                <a:t>04</a:t>
              </a:r>
            </a:p>
          </p:txBody>
        </p:sp>
        <p:sp>
          <p:nvSpPr>
            <p:cNvPr id="20" name="TextBox 20"/>
            <p:cNvSpPr txBox="1"/>
            <p:nvPr/>
          </p:nvSpPr>
          <p:spPr>
            <a:xfrm>
              <a:off x="1065086" y="3867150"/>
              <a:ext cx="1349502"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三种基本方法</a:t>
              </a:r>
            </a:p>
          </p:txBody>
        </p:sp>
        <p:sp>
          <p:nvSpPr>
            <p:cNvPr id="21" name="TextBox 21"/>
            <p:cNvSpPr txBox="1"/>
            <p:nvPr/>
          </p:nvSpPr>
          <p:spPr>
            <a:xfrm>
              <a:off x="1066990" y="4183856"/>
              <a:ext cx="4665421"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抽象方法、具体方法、钩子方法，以及子类对父类的反向控制</a:t>
              </a:r>
            </a:p>
          </p:txBody>
        </p:sp>
        <p:sp>
          <p:nvSpPr>
            <p:cNvPr id="22" name="Rectangle 22"/>
            <p:cNvSpPr/>
            <p:nvPr/>
          </p:nvSpPr>
          <p:spPr>
            <a:xfrm>
              <a:off x="1073468" y="4497705"/>
              <a:ext cx="5735955" cy="9525"/>
            </a:xfrm>
            <a:prstGeom prst="rect">
              <a:avLst/>
            </a:prstGeom>
            <a:solidFill>
              <a:srgbClr val="D9DFEA"/>
            </a:solidFill>
            <a:ln>
              <a:noFill/>
            </a:ln>
          </p:spPr>
        </p:sp>
        <p:sp>
          <p:nvSpPr>
            <p:cNvPr id="23" name="TextBox 23"/>
            <p:cNvSpPr txBox="1"/>
            <p:nvPr/>
          </p:nvSpPr>
          <p:spPr>
            <a:xfrm>
              <a:off x="521970" y="4602480"/>
              <a:ext cx="372704" cy="440055"/>
            </a:xfrm>
            <a:prstGeom prst="rect">
              <a:avLst/>
            </a:prstGeom>
            <a:noFill/>
            <a:ln>
              <a:noFill/>
            </a:ln>
          </p:spPr>
          <p:txBody>
            <a:bodyPr wrap="none" lIns="0" tIns="0" rIns="0" bIns="0" anchor="t" anchorCtr="0">
              <a:spAutoFit/>
            </a:bodyPr>
            <a:lstStyle/>
            <a:p>
              <a:pPr algn="l"/>
              <a:r>
                <a:rPr lang="zh-CN" sz="2250" b="1" dirty="0">
                  <a:solidFill>
                    <a:srgbClr val="5B3FA0"/>
                  </a:solidFill>
                  <a:latin typeface="+mn-lt"/>
                  <a:ea typeface="+mn-ea"/>
                  <a:cs typeface="+mn-cs"/>
                </a:rPr>
                <a:t>05</a:t>
              </a:r>
            </a:p>
          </p:txBody>
        </p:sp>
        <p:sp>
          <p:nvSpPr>
            <p:cNvPr id="24" name="TextBox 24"/>
            <p:cNvSpPr txBox="1"/>
            <p:nvPr/>
          </p:nvSpPr>
          <p:spPr>
            <a:xfrm>
              <a:off x="1065086" y="4638675"/>
              <a:ext cx="1127379"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代码与实例</a:t>
              </a:r>
            </a:p>
          </p:txBody>
        </p:sp>
        <p:sp>
          <p:nvSpPr>
            <p:cNvPr id="25" name="TextBox 25"/>
            <p:cNvSpPr txBox="1"/>
            <p:nvPr/>
          </p:nvSpPr>
          <p:spPr>
            <a:xfrm>
              <a:off x="1066990" y="4955381"/>
              <a:ext cx="4413047"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Java 骨架代码，再看银行业务流程和数据库操作两个实例</a:t>
              </a:r>
            </a:p>
          </p:txBody>
        </p:sp>
        <p:sp>
          <p:nvSpPr>
            <p:cNvPr id="26" name="Rectangle 26"/>
            <p:cNvSpPr/>
            <p:nvPr/>
          </p:nvSpPr>
          <p:spPr>
            <a:xfrm>
              <a:off x="1073468" y="5269230"/>
              <a:ext cx="5735955" cy="9525"/>
            </a:xfrm>
            <a:prstGeom prst="rect">
              <a:avLst/>
            </a:prstGeom>
            <a:solidFill>
              <a:srgbClr val="D9DFEA"/>
            </a:solidFill>
            <a:ln>
              <a:noFill/>
            </a:ln>
          </p:spPr>
        </p:sp>
        <p:sp>
          <p:nvSpPr>
            <p:cNvPr id="27" name="TextBox 27"/>
            <p:cNvSpPr txBox="1"/>
            <p:nvPr/>
          </p:nvSpPr>
          <p:spPr>
            <a:xfrm>
              <a:off x="521970" y="5374958"/>
              <a:ext cx="372704" cy="440055"/>
            </a:xfrm>
            <a:prstGeom prst="rect">
              <a:avLst/>
            </a:prstGeom>
            <a:noFill/>
            <a:ln>
              <a:noFill/>
            </a:ln>
          </p:spPr>
          <p:txBody>
            <a:bodyPr wrap="none" lIns="0" tIns="0" rIns="0" bIns="0" anchor="t" anchorCtr="0">
              <a:spAutoFit/>
            </a:bodyPr>
            <a:lstStyle/>
            <a:p>
              <a:pPr algn="l"/>
              <a:r>
                <a:rPr lang="zh-CN" sz="2250" b="1" dirty="0">
                  <a:solidFill>
                    <a:srgbClr val="5B3FA0"/>
                  </a:solidFill>
                  <a:latin typeface="+mn-lt"/>
                  <a:ea typeface="+mn-ea"/>
                  <a:cs typeface="+mn-cs"/>
                </a:rPr>
                <a:t>06</a:t>
              </a:r>
            </a:p>
          </p:txBody>
        </p:sp>
        <p:sp>
          <p:nvSpPr>
            <p:cNvPr id="28" name="TextBox 28"/>
            <p:cNvSpPr txBox="1"/>
            <p:nvPr/>
          </p:nvSpPr>
          <p:spPr>
            <a:xfrm>
              <a:off x="1065086" y="5411152"/>
              <a:ext cx="1127379" cy="322707"/>
            </a:xfrm>
            <a:prstGeom prst="rect">
              <a:avLst/>
            </a:prstGeom>
            <a:noFill/>
            <a:ln>
              <a:noFill/>
            </a:ln>
          </p:spPr>
          <p:txBody>
            <a:bodyPr wrap="none" lIns="0" tIns="0" rIns="0" bIns="0" anchor="t" anchorCtr="0">
              <a:spAutoFit/>
            </a:bodyPr>
            <a:lstStyle/>
            <a:p>
              <a:pPr algn="l"/>
              <a:r>
                <a:rPr lang="zh-CN" sz="1650" b="1" dirty="0">
                  <a:solidFill>
                    <a:srgbClr val="1F2937"/>
                  </a:solidFill>
                  <a:latin typeface="+mn-lt"/>
                  <a:ea typeface="+mn-ea"/>
                  <a:cs typeface="+mn-cs"/>
                </a:rPr>
                <a:t>评价与分界</a:t>
              </a:r>
            </a:p>
          </p:txBody>
        </p:sp>
        <p:sp>
          <p:nvSpPr>
            <p:cNvPr id="29" name="TextBox 29"/>
            <p:cNvSpPr txBox="1"/>
            <p:nvPr/>
          </p:nvSpPr>
          <p:spPr>
            <a:xfrm>
              <a:off x="1066990" y="5727859"/>
              <a:ext cx="414848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优缺点、适用环境，以及和策略模式最容易混的那一处</a:t>
              </a:r>
            </a:p>
          </p:txBody>
        </p:sp>
      </p:grpSp>
      <p:grpSp>
        <p:nvGrpSpPr>
          <p:cNvPr id="45" name="c2-card-1"/>
          <p:cNvGrpSpPr/>
          <p:nvPr/>
        </p:nvGrpSpPr>
        <p:grpSpPr>
          <a:xfrm>
            <a:off x="7114222" y="1524000"/>
            <a:ext cx="4544378" cy="4402455"/>
            <a:chOff x="7114222" y="1524000"/>
            <a:chExt cx="4544378" cy="4402455"/>
          </a:xfrm>
        </p:grpSpPr>
        <p:sp>
          <p:nvSpPr>
            <p:cNvPr id="31" name="Rectangle 31"/>
            <p:cNvSpPr/>
            <p:nvPr/>
          </p:nvSpPr>
          <p:spPr>
            <a:xfrm>
              <a:off x="7114222" y="1524000"/>
              <a:ext cx="4544378" cy="4402455"/>
            </a:xfrm>
            <a:prstGeom prst="roundRect">
              <a:avLst>
                <a:gd name="adj" fmla="val 3029"/>
              </a:avLst>
            </a:prstGeom>
            <a:solidFill>
              <a:srgbClr val="FFFFFF"/>
            </a:solidFill>
            <a:ln w="14288">
              <a:solidFill>
                <a:srgbClr val="D9DFEA"/>
              </a:solidFill>
            </a:ln>
          </p:spPr>
        </p:sp>
        <p:sp>
          <p:nvSpPr>
            <p:cNvPr id="32" name="Rectangle 32"/>
            <p:cNvSpPr/>
            <p:nvPr/>
          </p:nvSpPr>
          <p:spPr>
            <a:xfrm>
              <a:off x="7123748" y="1657350"/>
              <a:ext cx="47625" cy="4135755"/>
            </a:xfrm>
            <a:prstGeom prst="roundRect">
              <a:avLst>
                <a:gd name="adj" fmla="val 50000"/>
              </a:avLst>
            </a:prstGeom>
            <a:solidFill>
              <a:srgbClr val="5B3FA0"/>
            </a:solidFill>
            <a:ln>
              <a:noFill/>
            </a:ln>
          </p:spPr>
        </p:sp>
        <p:sp>
          <p:nvSpPr>
            <p:cNvPr id="33" name="Rectangle 33"/>
            <p:cNvSpPr/>
            <p:nvPr/>
          </p:nvSpPr>
          <p:spPr>
            <a:xfrm>
              <a:off x="7361872" y="1733550"/>
              <a:ext cx="778192" cy="257175"/>
            </a:xfrm>
            <a:prstGeom prst="roundRect">
              <a:avLst>
                <a:gd name="adj" fmla="val 50000"/>
              </a:avLst>
            </a:prstGeom>
            <a:solidFill>
              <a:srgbClr val="EEEAF7"/>
            </a:solidFill>
            <a:ln>
              <a:noFill/>
            </a:ln>
          </p:spPr>
        </p:sp>
        <p:sp>
          <p:nvSpPr>
            <p:cNvPr id="34" name="TextBox 34"/>
            <p:cNvSpPr txBox="1"/>
            <p:nvPr/>
          </p:nvSpPr>
          <p:spPr>
            <a:xfrm>
              <a:off x="7443229" y="1769269"/>
              <a:ext cx="61452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学习目标</a:t>
              </a:r>
            </a:p>
          </p:txBody>
        </p:sp>
        <p:sp>
          <p:nvSpPr>
            <p:cNvPr id="35" name="Ellipse 35"/>
            <p:cNvSpPr/>
            <p:nvPr/>
          </p:nvSpPr>
          <p:spPr>
            <a:xfrm>
              <a:off x="7367588" y="2173605"/>
              <a:ext cx="64770" cy="64770"/>
            </a:xfrm>
            <a:prstGeom prst="ellipse">
              <a:avLst/>
            </a:prstGeom>
            <a:solidFill>
              <a:srgbClr val="5B3FA0"/>
            </a:solidFill>
            <a:ln>
              <a:noFill/>
            </a:ln>
          </p:spPr>
        </p:sp>
        <p:sp>
          <p:nvSpPr>
            <p:cNvPr id="36" name="TextBox 36"/>
            <p:cNvSpPr txBox="1"/>
            <p:nvPr/>
          </p:nvSpPr>
          <p:spPr>
            <a:xfrm>
              <a:off x="7525702" y="211074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在一段代码里指出哪个是模板方法、哪些是</a:t>
              </a:r>
              <a:br/>
              <a:r>
                <a:rPr lang="zh-CN" sz="1500" dirty="0">
                  <a:solidFill>
                    <a:srgbClr val="1F2937"/>
                  </a:solidFill>
                  <a:latin typeface="+mn-lt"/>
                  <a:ea typeface="+mn-ea"/>
                  <a:cs typeface="+mn-cs"/>
                </a:rPr>
                <a:t>基本方法</a:t>
              </a:r>
            </a:p>
          </p:txBody>
        </p:sp>
        <p:sp>
          <p:nvSpPr>
            <p:cNvPr id="37" name="Ellipse 37"/>
            <p:cNvSpPr/>
            <p:nvPr/>
          </p:nvSpPr>
          <p:spPr>
            <a:xfrm>
              <a:off x="7367588" y="2794635"/>
              <a:ext cx="64770" cy="64770"/>
            </a:xfrm>
            <a:prstGeom prst="ellipse">
              <a:avLst/>
            </a:prstGeom>
            <a:solidFill>
              <a:srgbClr val="5B3FA0"/>
            </a:solidFill>
            <a:ln>
              <a:noFill/>
            </a:ln>
          </p:spPr>
        </p:sp>
        <p:sp>
          <p:nvSpPr>
            <p:cNvPr id="38" name="TextBox 38"/>
            <p:cNvSpPr txBox="1"/>
            <p:nvPr/>
          </p:nvSpPr>
          <p:spPr>
            <a:xfrm>
              <a:off x="7525702" y="273177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默画出模式类图，标清哪些方法是抽象的、</a:t>
              </a:r>
              <a:br/>
              <a:r>
                <a:rPr lang="zh-CN" sz="1500" dirty="0">
                  <a:solidFill>
                    <a:srgbClr val="1F2937"/>
                  </a:solidFill>
                  <a:latin typeface="+mn-lt"/>
                  <a:ea typeface="+mn-ea"/>
                  <a:cs typeface="+mn-cs"/>
                </a:rPr>
                <a:t>哪些是钩子方法</a:t>
              </a:r>
            </a:p>
          </p:txBody>
        </p:sp>
        <p:sp>
          <p:nvSpPr>
            <p:cNvPr id="39" name="Ellipse 39"/>
            <p:cNvSpPr/>
            <p:nvPr/>
          </p:nvSpPr>
          <p:spPr>
            <a:xfrm>
              <a:off x="7367588" y="3415665"/>
              <a:ext cx="64770" cy="64770"/>
            </a:xfrm>
            <a:prstGeom prst="ellipse">
              <a:avLst/>
            </a:prstGeom>
            <a:solidFill>
              <a:srgbClr val="5B3FA0"/>
            </a:solidFill>
            <a:ln>
              <a:noFill/>
            </a:ln>
          </p:spPr>
        </p:sp>
        <p:sp>
          <p:nvSpPr>
            <p:cNvPr id="40" name="TextBox 40"/>
            <p:cNvSpPr txBox="1"/>
            <p:nvPr/>
          </p:nvSpPr>
          <p:spPr>
            <a:xfrm>
              <a:off x="7525702" y="335280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说清抽象方法、具体方法、钩子方法在子类</a:t>
              </a:r>
              <a:br/>
              <a:r>
                <a:rPr lang="zh-CN" sz="1500" dirty="0">
                  <a:solidFill>
                    <a:srgbClr val="1F2937"/>
                  </a:solidFill>
                  <a:latin typeface="+mn-lt"/>
                  <a:ea typeface="+mn-ea"/>
                  <a:cs typeface="+mn-cs"/>
                </a:rPr>
                <a:t>不覆盖时各会怎样</a:t>
              </a:r>
            </a:p>
          </p:txBody>
        </p:sp>
        <p:sp>
          <p:nvSpPr>
            <p:cNvPr id="41" name="Ellipse 41"/>
            <p:cNvSpPr/>
            <p:nvPr/>
          </p:nvSpPr>
          <p:spPr>
            <a:xfrm>
              <a:off x="7367588" y="4036695"/>
              <a:ext cx="64770" cy="64770"/>
            </a:xfrm>
            <a:prstGeom prst="ellipse">
              <a:avLst/>
            </a:prstGeom>
            <a:solidFill>
              <a:srgbClr val="5B3FA0"/>
            </a:solidFill>
            <a:ln>
              <a:noFill/>
            </a:ln>
          </p:spPr>
        </p:sp>
        <p:sp>
          <p:nvSpPr>
            <p:cNvPr id="42" name="TextBox 42"/>
            <p:cNvSpPr txBox="1"/>
            <p:nvPr/>
          </p:nvSpPr>
          <p:spPr>
            <a:xfrm>
              <a:off x="7525702" y="3973830"/>
              <a:ext cx="35966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用 Java 写全银行业务流程的四个类，并写</a:t>
              </a:r>
              <a:br/>
              <a:r>
                <a:rPr lang="zh-CN" sz="1500" dirty="0">
                  <a:solidFill>
                    <a:srgbClr val="1F2937"/>
                  </a:solidFill>
                  <a:latin typeface="+mn-lt"/>
                  <a:ea typeface="+mn-ea"/>
                  <a:cs typeface="+mn-cs"/>
                </a:rPr>
                <a:t>出运行时的输出次序</a:t>
              </a:r>
            </a:p>
          </p:txBody>
        </p:sp>
        <p:sp>
          <p:nvSpPr>
            <p:cNvPr id="43" name="Ellipse 43"/>
            <p:cNvSpPr/>
            <p:nvPr/>
          </p:nvSpPr>
          <p:spPr>
            <a:xfrm>
              <a:off x="7367588" y="4657725"/>
              <a:ext cx="64770" cy="64770"/>
            </a:xfrm>
            <a:prstGeom prst="ellipse">
              <a:avLst/>
            </a:prstGeom>
            <a:solidFill>
              <a:srgbClr val="5B3FA0"/>
            </a:solidFill>
            <a:ln>
              <a:noFill/>
            </a:ln>
          </p:spPr>
        </p:sp>
        <p:sp>
          <p:nvSpPr>
            <p:cNvPr id="44" name="TextBox 44"/>
            <p:cNvSpPr txBox="1"/>
            <p:nvPr/>
          </p:nvSpPr>
          <p:spPr>
            <a:xfrm>
              <a:off x="7525702" y="4594860"/>
              <a:ext cx="36347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说出模板方法与策略模式的两处区别，判断</a:t>
              </a:r>
              <a:br/>
              <a:r>
                <a:rPr lang="zh-CN" sz="1500" dirty="0">
                  <a:solidFill>
                    <a:srgbClr val="1F2937"/>
                  </a:solidFill>
                  <a:latin typeface="+mn-lt"/>
                  <a:ea typeface="+mn-ea"/>
                  <a:cs typeface="+mn-cs"/>
                </a:rPr>
                <a:t>一段需求该用哪一个</a:t>
              </a:r>
            </a:p>
          </p:txBody>
        </p:sp>
      </p:grpSp>
      <p:grpSp>
        <p:nvGrpSpPr>
          <p:cNvPr id="48" name="footer"/>
          <p:cNvGrpSpPr/>
          <p:nvPr/>
        </p:nvGrpSpPr>
        <p:grpSpPr>
          <a:xfrm>
            <a:off x="528447" y="6581299"/>
            <a:ext cx="11135106" cy="190690"/>
            <a:chOff x="528447" y="6581299"/>
            <a:chExt cx="11135106" cy="190690"/>
          </a:xfrm>
        </p:grpSpPr>
        <p:sp>
          <p:nvSpPr>
            <p:cNvPr id="46" name="TextBox 46"/>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47" name="TextBox 47"/>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5B3FA0"/>
          </a:solidFill>
          <a:ln>
            <a:noFill/>
          </a:ln>
        </p:spPr>
      </p:sp>
      <p:sp>
        <p:nvSpPr>
          <p:cNvPr id="3" name="section-ring"/>
          <p:cNvSpPr/>
          <p:nvPr/>
        </p:nvSpPr>
        <p:spPr>
          <a:xfrm>
            <a:off x="7334250" y="190500"/>
            <a:ext cx="6477000" cy="6477000"/>
          </a:xfrm>
          <a:prstGeom prst="ellipse">
            <a:avLst/>
          </a:prstGeom>
          <a:noFill/>
          <a:ln w="133350">
            <a:solidFill>
              <a:srgbClr val="EEEAF7"/>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01</a:t>
              </a:r>
            </a:p>
          </p:txBody>
        </p:sp>
      </p:grpSp>
      <p:grpSp>
        <p:nvGrpSpPr>
          <p:cNvPr id="18" name="section-title"/>
          <p:cNvGrpSpPr/>
          <p:nvPr/>
        </p:nvGrpSpPr>
        <p:grpSpPr>
          <a:xfrm>
            <a:off x="667512" y="1835468"/>
            <a:ext cx="6437376" cy="3923347"/>
            <a:chOff x="667512" y="1835468"/>
            <a:chExt cx="6437376" cy="39233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第一部分</a:t>
              </a:r>
            </a:p>
          </p:txBody>
        </p:sp>
        <p:sp>
          <p:nvSpPr>
            <p:cNvPr id="7" name="TextBox 7"/>
            <p:cNvSpPr txBox="1"/>
            <p:nvPr/>
          </p:nvSpPr>
          <p:spPr>
            <a:xfrm>
              <a:off x="667512" y="2240280"/>
              <a:ext cx="6437376" cy="1275588"/>
            </a:xfrm>
            <a:prstGeom prst="rect">
              <a:avLst/>
            </a:prstGeom>
            <a:noFill/>
            <a:ln>
              <a:noFill/>
            </a:ln>
          </p:spPr>
          <p:txBody>
            <a:bodyPr wrap="none" lIns="0" tIns="0" rIns="0" bIns="0" anchor="t" anchorCtr="0">
              <a:spAutoFit/>
            </a:bodyPr>
            <a:lstStyle/>
            <a:p>
              <a:pPr algn="l">
                <a:lnSpc>
                  <a:spcPts val="4500"/>
                </a:lnSpc>
              </a:pPr>
              <a:r>
                <a:rPr lang="zh-CN" sz="3600" b="1" dirty="0">
                  <a:solidFill>
                    <a:srgbClr val="1F2937"/>
                  </a:solidFill>
                  <a:latin typeface="+mn-lt"/>
                  <a:ea typeface="+mn-ea"/>
                  <a:cs typeface="+mn-cs"/>
                </a:rPr>
                <a:t>动机：步骤次序固定，中间一步</a:t>
              </a:r>
              <a:br/>
              <a:r>
                <a:rPr lang="zh-CN" sz="3600" b="1" dirty="0">
                  <a:solidFill>
                    <a:srgbClr val="1F2937"/>
                  </a:solidFill>
                  <a:latin typeface="+mn-lt"/>
                  <a:ea typeface="+mn-ea"/>
                  <a:cs typeface="+mn-cs"/>
                </a:rPr>
                <a:t>要换着来</a:t>
              </a:r>
            </a:p>
          </p:txBody>
        </p:sp>
        <p:sp>
          <p:nvSpPr>
            <p:cNvPr id="8" name="Rectangle 8"/>
            <p:cNvSpPr/>
            <p:nvPr/>
          </p:nvSpPr>
          <p:spPr>
            <a:xfrm>
              <a:off x="685800" y="3612832"/>
              <a:ext cx="762000" cy="47625"/>
            </a:xfrm>
            <a:prstGeom prst="roundRect">
              <a:avLst>
                <a:gd name="adj" fmla="val 50000"/>
              </a:avLst>
            </a:prstGeom>
            <a:solidFill>
              <a:srgbClr val="F26B3A"/>
            </a:solidFill>
            <a:ln>
              <a:noFill/>
            </a:ln>
          </p:spPr>
        </p:sp>
        <p:sp>
          <p:nvSpPr>
            <p:cNvPr id="9" name="TextBox 9"/>
            <p:cNvSpPr txBox="1"/>
            <p:nvPr/>
          </p:nvSpPr>
          <p:spPr>
            <a:xfrm>
              <a:off x="677418" y="3949065"/>
              <a:ext cx="3570732"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从请客吃饭讲到基本方法与模板方法</a:t>
              </a:r>
            </a:p>
          </p:txBody>
        </p:sp>
        <p:sp>
          <p:nvSpPr>
            <p:cNvPr id="10" name="Ellipse 10"/>
            <p:cNvSpPr/>
            <p:nvPr/>
          </p:nvSpPr>
          <p:spPr>
            <a:xfrm>
              <a:off x="723900" y="4459605"/>
              <a:ext cx="76200" cy="76200"/>
            </a:xfrm>
            <a:prstGeom prst="ellipse">
              <a:avLst/>
            </a:prstGeom>
            <a:solidFill>
              <a:srgbClr val="5B3FA0"/>
            </a:solidFill>
            <a:ln>
              <a:noFill/>
            </a:ln>
          </p:spPr>
        </p:sp>
        <p:sp>
          <p:nvSpPr>
            <p:cNvPr id="11" name="TextBox 11"/>
            <p:cNvSpPr txBox="1"/>
            <p:nvPr/>
          </p:nvSpPr>
          <p:spPr>
            <a:xfrm>
              <a:off x="906780" y="440245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请客的三个步骤</a:t>
              </a:r>
            </a:p>
          </p:txBody>
        </p:sp>
        <p:sp>
          <p:nvSpPr>
            <p:cNvPr id="12" name="Ellipse 12"/>
            <p:cNvSpPr/>
            <p:nvPr/>
          </p:nvSpPr>
          <p:spPr>
            <a:xfrm>
              <a:off x="723900" y="4813935"/>
              <a:ext cx="76200" cy="76200"/>
            </a:xfrm>
            <a:prstGeom prst="ellipse">
              <a:avLst/>
            </a:prstGeom>
            <a:solidFill>
              <a:srgbClr val="5B3FA0"/>
            </a:solidFill>
            <a:ln>
              <a:noFill/>
            </a:ln>
          </p:spPr>
        </p:sp>
        <p:sp>
          <p:nvSpPr>
            <p:cNvPr id="13" name="TextBox 13"/>
            <p:cNvSpPr txBox="1"/>
            <p:nvPr/>
          </p:nvSpPr>
          <p:spPr>
            <a:xfrm>
              <a:off x="906780" y="475678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哪些固定哪些可变</a:t>
              </a:r>
            </a:p>
          </p:txBody>
        </p:sp>
        <p:sp>
          <p:nvSpPr>
            <p:cNvPr id="14" name="Ellipse 14"/>
            <p:cNvSpPr/>
            <p:nvPr/>
          </p:nvSpPr>
          <p:spPr>
            <a:xfrm>
              <a:off x="723900" y="5168265"/>
              <a:ext cx="76200" cy="76200"/>
            </a:xfrm>
            <a:prstGeom prst="ellipse">
              <a:avLst/>
            </a:prstGeom>
            <a:solidFill>
              <a:srgbClr val="5B3FA0"/>
            </a:solidFill>
            <a:ln>
              <a:noFill/>
            </a:ln>
          </p:spPr>
        </p:sp>
        <p:sp>
          <p:nvSpPr>
            <p:cNvPr id="15" name="TextBox 15"/>
            <p:cNvSpPr txBox="1"/>
            <p:nvPr/>
          </p:nvSpPr>
          <p:spPr>
            <a:xfrm>
              <a:off x="906780" y="511111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两个术语</a:t>
              </a:r>
            </a:p>
          </p:txBody>
        </p:sp>
        <p:sp>
          <p:nvSpPr>
            <p:cNvPr id="16" name="Ellipse 16"/>
            <p:cNvSpPr/>
            <p:nvPr/>
          </p:nvSpPr>
          <p:spPr>
            <a:xfrm>
              <a:off x="723900" y="5522595"/>
              <a:ext cx="76200" cy="76200"/>
            </a:xfrm>
            <a:prstGeom prst="ellipse">
              <a:avLst/>
            </a:prstGeom>
            <a:solidFill>
              <a:srgbClr val="5B3FA0"/>
            </a:solidFill>
            <a:ln>
              <a:noFill/>
            </a:ln>
          </p:spPr>
        </p:sp>
        <p:sp>
          <p:nvSpPr>
            <p:cNvPr id="17" name="TextBox 17"/>
            <p:cNvSpPr txBox="1"/>
            <p:nvPr/>
          </p:nvSpPr>
          <p:spPr>
            <a:xfrm>
              <a:off x="906780" y="546544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模式定义</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3776662" cy="266700"/>
            </a:xfrm>
            <a:prstGeom prst="roundRect">
              <a:avLst>
                <a:gd name="adj" fmla="val 50000"/>
              </a:avLst>
            </a:prstGeom>
            <a:solidFill>
              <a:srgbClr val="EEEAF7"/>
            </a:solidFill>
            <a:ln>
              <a:noFill/>
            </a:ln>
          </p:spPr>
        </p:sp>
        <p:sp>
          <p:nvSpPr>
            <p:cNvPr id="3" name="TextBox 3"/>
            <p:cNvSpPr txBox="1"/>
            <p:nvPr/>
          </p:nvSpPr>
          <p:spPr>
            <a:xfrm>
              <a:off x="556125" y="407194"/>
              <a:ext cx="3732165"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动机：步骤次序固定，中间一步要换着来</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请客吃饭：三步的次序不变，只有中间会变</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5399" y="1550194"/>
            <a:ext cx="9374784" cy="308039"/>
            <a:chOff x="525399" y="1550194"/>
            <a:chExt cx="9374784" cy="308039"/>
          </a:xfrm>
        </p:grpSpPr>
        <p:sp>
          <p:nvSpPr>
            <p:cNvPr id="7" name="TextBox 7"/>
            <p:cNvSpPr txBox="1"/>
            <p:nvPr/>
          </p:nvSpPr>
          <p:spPr>
            <a:xfrm>
              <a:off x="525399" y="1550194"/>
              <a:ext cx="9374784"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张欣佳老师的课件从请客吃饭讲起。无论吃什么，一般都是点单、吃东西、买单三步，次序也固定。</a:t>
              </a:r>
            </a:p>
          </p:txBody>
        </p:sp>
      </p:grpSp>
      <p:grpSp>
        <p:nvGrpSpPr>
          <p:cNvPr id="31" name="c1-flow-1"/>
          <p:cNvGrpSpPr/>
          <p:nvPr/>
        </p:nvGrpSpPr>
        <p:grpSpPr>
          <a:xfrm>
            <a:off x="825818" y="2567940"/>
            <a:ext cx="4939664" cy="2076450"/>
            <a:chOff x="825818" y="2567940"/>
            <a:chExt cx="4939664" cy="2076450"/>
          </a:xfrm>
        </p:grpSpPr>
        <p:sp>
          <p:nvSpPr>
            <p:cNvPr id="9" name="Freeform 9"/>
            <p:cNvSpPr/>
            <p:nvPr/>
          </p:nvSpPr>
          <p:spPr>
            <a:xfrm>
              <a:off x="1997392" y="2787015"/>
              <a:ext cx="574358" cy="9525"/>
            </a:xfrm>
            <a:custGeom>
              <a:avLst/>
              <a:gdLst/>
              <a:ahLst/>
              <a:cxnLst/>
              <a:rect l="l" t="t" r="r" b="b"/>
              <a:pathLst>
                <a:path w="574358" h="9525">
                  <a:moveTo>
                    <a:pt x="0" y="0"/>
                  </a:moveTo>
                  <a:lnTo>
                    <a:pt x="574358" y="0"/>
                  </a:lnTo>
                </a:path>
              </a:pathLst>
            </a:custGeom>
            <a:noFill/>
            <a:ln w="15240">
              <a:solidFill>
                <a:srgbClr val="5B6475"/>
              </a:solidFill>
            </a:ln>
          </p:spPr>
        </p:sp>
        <p:sp>
          <p:nvSpPr>
            <p:cNvPr id="10" name="Freeform 10"/>
            <p:cNvSpPr/>
            <p:nvPr/>
          </p:nvSpPr>
          <p:spPr>
            <a:xfrm>
              <a:off x="2571750" y="273462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1" name="Freeform 11"/>
            <p:cNvSpPr/>
            <p:nvPr/>
          </p:nvSpPr>
          <p:spPr>
            <a:xfrm>
              <a:off x="3800475" y="2787015"/>
              <a:ext cx="574358" cy="9525"/>
            </a:xfrm>
            <a:custGeom>
              <a:avLst/>
              <a:gdLst/>
              <a:ahLst/>
              <a:cxnLst/>
              <a:rect l="l" t="t" r="r" b="b"/>
              <a:pathLst>
                <a:path w="574358" h="9525">
                  <a:moveTo>
                    <a:pt x="0" y="0"/>
                  </a:moveTo>
                  <a:lnTo>
                    <a:pt x="574358" y="0"/>
                  </a:lnTo>
                </a:path>
              </a:pathLst>
            </a:custGeom>
            <a:noFill/>
            <a:ln w="15240">
              <a:solidFill>
                <a:srgbClr val="5B6475"/>
              </a:solidFill>
            </a:ln>
          </p:spPr>
        </p:sp>
        <p:sp>
          <p:nvSpPr>
            <p:cNvPr id="12" name="Freeform 12"/>
            <p:cNvSpPr/>
            <p:nvPr/>
          </p:nvSpPr>
          <p:spPr>
            <a:xfrm>
              <a:off x="4374832" y="2734628"/>
              <a:ext cx="104775" cy="104775"/>
            </a:xfrm>
            <a:custGeom>
              <a:avLst/>
              <a:gdLst/>
              <a:ahLst/>
              <a:cxnLst/>
              <a:rect l="l" t="t" r="r" b="b"/>
              <a:pathLst>
                <a:path w="104775" h="104775">
                  <a:moveTo>
                    <a:pt x="104775" y="52388"/>
                  </a:moveTo>
                  <a:lnTo>
                    <a:pt x="0" y="104775"/>
                  </a:lnTo>
                  <a:lnTo>
                    <a:pt x="0" y="0"/>
                  </a:lnTo>
                  <a:close/>
                </a:path>
              </a:pathLst>
            </a:custGeom>
            <a:solidFill>
              <a:srgbClr val="5B6475"/>
            </a:solidFill>
            <a:ln>
              <a:noFill/>
            </a:ln>
          </p:spPr>
        </p:sp>
        <p:sp>
          <p:nvSpPr>
            <p:cNvPr id="13" name="Freeform 13"/>
            <p:cNvSpPr/>
            <p:nvPr/>
          </p:nvSpPr>
          <p:spPr>
            <a:xfrm>
              <a:off x="1435418" y="3006090"/>
              <a:ext cx="1803082" cy="1095375"/>
            </a:xfrm>
            <a:custGeom>
              <a:avLst/>
              <a:gdLst/>
              <a:ahLst/>
              <a:cxnLst/>
              <a:rect l="l" t="t" r="r" b="b"/>
              <a:pathLst>
                <a:path w="1803082" h="1095375">
                  <a:moveTo>
                    <a:pt x="1803082" y="0"/>
                  </a:moveTo>
                  <a:lnTo>
                    <a:pt x="1803082" y="600075"/>
                  </a:lnTo>
                  <a:lnTo>
                    <a:pt x="0" y="600075"/>
                  </a:lnTo>
                  <a:lnTo>
                    <a:pt x="0" y="1095375"/>
                  </a:lnTo>
                </a:path>
              </a:pathLst>
            </a:custGeom>
            <a:noFill/>
            <a:ln w="15240">
              <a:solidFill>
                <a:srgbClr val="5B6475"/>
              </a:solidFill>
              <a:custDash>
                <a:ds d="375000" sp="250000"/>
              </a:custDash>
            </a:ln>
          </p:spPr>
        </p:sp>
        <p:sp>
          <p:nvSpPr>
            <p:cNvPr id="14" name="Freeform 14"/>
            <p:cNvSpPr/>
            <p:nvPr/>
          </p:nvSpPr>
          <p:spPr>
            <a:xfrm>
              <a:off x="1383030" y="410146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5" name="Freeform 15"/>
            <p:cNvSpPr/>
            <p:nvPr/>
          </p:nvSpPr>
          <p:spPr>
            <a:xfrm>
              <a:off x="3238500" y="3006090"/>
              <a:ext cx="1803082" cy="1095375"/>
            </a:xfrm>
            <a:custGeom>
              <a:avLst/>
              <a:gdLst/>
              <a:ahLst/>
              <a:cxnLst/>
              <a:rect l="l" t="t" r="r" b="b"/>
              <a:pathLst>
                <a:path w="1803082" h="1095375">
                  <a:moveTo>
                    <a:pt x="0" y="0"/>
                  </a:moveTo>
                  <a:lnTo>
                    <a:pt x="0" y="600075"/>
                  </a:lnTo>
                  <a:lnTo>
                    <a:pt x="1803082" y="600075"/>
                  </a:lnTo>
                  <a:lnTo>
                    <a:pt x="1803082" y="1095375"/>
                  </a:lnTo>
                </a:path>
              </a:pathLst>
            </a:custGeom>
            <a:noFill/>
            <a:ln w="15240">
              <a:solidFill>
                <a:srgbClr val="5B6475"/>
              </a:solidFill>
              <a:custDash>
                <a:ds d="375000" sp="250000"/>
              </a:custDash>
            </a:ln>
          </p:spPr>
        </p:sp>
        <p:sp>
          <p:nvSpPr>
            <p:cNvPr id="16" name="Freeform 16"/>
            <p:cNvSpPr/>
            <p:nvPr/>
          </p:nvSpPr>
          <p:spPr>
            <a:xfrm>
              <a:off x="4989195" y="410146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7" name="Rectangle 17"/>
            <p:cNvSpPr/>
            <p:nvPr/>
          </p:nvSpPr>
          <p:spPr>
            <a:xfrm>
              <a:off x="873442" y="2567940"/>
              <a:ext cx="1123950" cy="438150"/>
            </a:xfrm>
            <a:prstGeom prst="roundRect">
              <a:avLst>
                <a:gd name="adj" fmla="val 21739"/>
              </a:avLst>
            </a:prstGeom>
            <a:solidFill>
              <a:srgbClr val="FFFFFF"/>
            </a:solidFill>
            <a:ln w="15240">
              <a:solidFill>
                <a:srgbClr val="5B3FA0"/>
              </a:solidFill>
            </a:ln>
          </p:spPr>
        </p:sp>
        <p:sp>
          <p:nvSpPr>
            <p:cNvPr id="18" name="Rectangle 18"/>
            <p:cNvSpPr/>
            <p:nvPr/>
          </p:nvSpPr>
          <p:spPr>
            <a:xfrm>
              <a:off x="2676525" y="2567940"/>
              <a:ext cx="1123950" cy="438150"/>
            </a:xfrm>
            <a:prstGeom prst="roundRect">
              <a:avLst>
                <a:gd name="adj" fmla="val 21739"/>
              </a:avLst>
            </a:prstGeom>
            <a:solidFill>
              <a:srgbClr val="EEEAF7"/>
            </a:solidFill>
            <a:ln w="19050">
              <a:solidFill>
                <a:srgbClr val="5B3FA0"/>
              </a:solidFill>
            </a:ln>
          </p:spPr>
        </p:sp>
        <p:sp>
          <p:nvSpPr>
            <p:cNvPr id="19" name="Rectangle 19"/>
            <p:cNvSpPr/>
            <p:nvPr/>
          </p:nvSpPr>
          <p:spPr>
            <a:xfrm>
              <a:off x="4479608" y="2567940"/>
              <a:ext cx="1123950" cy="438150"/>
            </a:xfrm>
            <a:prstGeom prst="roundRect">
              <a:avLst>
                <a:gd name="adj" fmla="val 21739"/>
              </a:avLst>
            </a:prstGeom>
            <a:solidFill>
              <a:srgbClr val="FFFFFF"/>
            </a:solidFill>
            <a:ln w="15240">
              <a:solidFill>
                <a:srgbClr val="5B3FA0"/>
              </a:solidFill>
            </a:ln>
          </p:spPr>
        </p:sp>
        <p:sp>
          <p:nvSpPr>
            <p:cNvPr id="20" name="Rectangle 20"/>
            <p:cNvSpPr/>
            <p:nvPr/>
          </p:nvSpPr>
          <p:spPr>
            <a:xfrm>
              <a:off x="825818" y="4206240"/>
              <a:ext cx="1219200" cy="438150"/>
            </a:xfrm>
            <a:prstGeom prst="roundRect">
              <a:avLst>
                <a:gd name="adj" fmla="val 21739"/>
              </a:avLst>
            </a:prstGeom>
            <a:solidFill>
              <a:srgbClr val="F4F6FB"/>
            </a:solidFill>
            <a:ln w="13335">
              <a:solidFill>
                <a:srgbClr val="D9DFEA"/>
              </a:solidFill>
            </a:ln>
          </p:spPr>
        </p:sp>
        <p:sp>
          <p:nvSpPr>
            <p:cNvPr id="21" name="Rectangle 21"/>
            <p:cNvSpPr/>
            <p:nvPr/>
          </p:nvSpPr>
          <p:spPr>
            <a:xfrm>
              <a:off x="4317682" y="4206240"/>
              <a:ext cx="1447800" cy="438150"/>
            </a:xfrm>
            <a:prstGeom prst="roundRect">
              <a:avLst>
                <a:gd name="adj" fmla="val 21739"/>
              </a:avLst>
            </a:prstGeom>
            <a:solidFill>
              <a:srgbClr val="F4F6FB"/>
            </a:solidFill>
            <a:ln w="13335">
              <a:solidFill>
                <a:srgbClr val="D9DFEA"/>
              </a:solidFill>
            </a:ln>
          </p:spPr>
        </p:sp>
        <p:sp>
          <p:nvSpPr>
            <p:cNvPr id="22" name="TextBox 22"/>
            <p:cNvSpPr txBox="1"/>
            <p:nvPr/>
          </p:nvSpPr>
          <p:spPr>
            <a:xfrm>
              <a:off x="1256627" y="2697956"/>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点单</a:t>
              </a:r>
            </a:p>
          </p:txBody>
        </p:sp>
        <p:sp>
          <p:nvSpPr>
            <p:cNvPr id="23" name="TextBox 23"/>
            <p:cNvSpPr txBox="1"/>
            <p:nvPr/>
          </p:nvSpPr>
          <p:spPr>
            <a:xfrm>
              <a:off x="2973553" y="2697956"/>
              <a:ext cx="529895"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吃东西</a:t>
              </a:r>
            </a:p>
          </p:txBody>
        </p:sp>
        <p:sp>
          <p:nvSpPr>
            <p:cNvPr id="24" name="TextBox 24"/>
            <p:cNvSpPr txBox="1"/>
            <p:nvPr/>
          </p:nvSpPr>
          <p:spPr>
            <a:xfrm>
              <a:off x="4862792" y="2697956"/>
              <a:ext cx="357581"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买单</a:t>
              </a:r>
            </a:p>
          </p:txBody>
        </p:sp>
        <p:sp>
          <p:nvSpPr>
            <p:cNvPr id="25" name="TextBox 25"/>
            <p:cNvSpPr txBox="1"/>
            <p:nvPr/>
          </p:nvSpPr>
          <p:spPr>
            <a:xfrm>
              <a:off x="1170470" y="4336256"/>
              <a:ext cx="529895"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吃面条</a:t>
              </a:r>
            </a:p>
          </p:txBody>
        </p:sp>
        <p:sp>
          <p:nvSpPr>
            <p:cNvPr id="26" name="TextBox 26"/>
            <p:cNvSpPr txBox="1"/>
            <p:nvPr/>
          </p:nvSpPr>
          <p:spPr>
            <a:xfrm>
              <a:off x="4604321" y="4336256"/>
              <a:ext cx="874522" cy="249364"/>
            </a:xfrm>
            <a:prstGeom prst="rect">
              <a:avLst/>
            </a:prstGeom>
            <a:noFill/>
            <a:ln>
              <a:noFill/>
            </a:ln>
          </p:spPr>
          <p:txBody>
            <a:bodyPr wrap="none" lIns="0" tIns="0" rIns="0" bIns="0" anchor="t" anchorCtr="0">
              <a:spAutoFit/>
            </a:bodyPr>
            <a:lstStyle/>
            <a:p>
              <a:pPr algn="ctr"/>
              <a:r>
                <a:rPr lang="zh-CN" sz="1280" dirty="0">
                  <a:solidFill>
                    <a:srgbClr val="1F2937"/>
                  </a:solidFill>
                  <a:latin typeface="+mn-lt"/>
                  <a:ea typeface="+mn-ea"/>
                  <a:cs typeface="+mn-cs"/>
                </a:rPr>
                <a:t>吃满汉全席</a:t>
              </a:r>
            </a:p>
          </p:txBody>
        </p:sp>
        <p:sp>
          <p:nvSpPr>
            <p:cNvPr id="27" name="Rectangle 27"/>
            <p:cNvSpPr/>
            <p:nvPr/>
          </p:nvSpPr>
          <p:spPr>
            <a:xfrm>
              <a:off x="2022158" y="3389948"/>
              <a:ext cx="628650" cy="193358"/>
            </a:xfrm>
            <a:prstGeom prst="roundRect">
              <a:avLst>
                <a:gd name="adj" fmla="val 19704"/>
              </a:avLst>
            </a:prstGeom>
            <a:solidFill>
              <a:srgbClr val="FFFFFF"/>
            </a:solidFill>
            <a:ln>
              <a:noFill/>
            </a:ln>
          </p:spPr>
        </p:sp>
        <p:sp>
          <p:nvSpPr>
            <p:cNvPr id="28" name="TextBox 28"/>
            <p:cNvSpPr txBox="1"/>
            <p:nvPr/>
          </p:nvSpPr>
          <p:spPr>
            <a:xfrm>
              <a:off x="2048446" y="3416618"/>
              <a:ext cx="576072"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一种吃法</a:t>
              </a:r>
            </a:p>
          </p:txBody>
        </p:sp>
        <p:sp>
          <p:nvSpPr>
            <p:cNvPr id="29" name="Rectangle 29"/>
            <p:cNvSpPr/>
            <p:nvPr/>
          </p:nvSpPr>
          <p:spPr>
            <a:xfrm>
              <a:off x="3759518" y="3389948"/>
              <a:ext cx="762000" cy="193358"/>
            </a:xfrm>
            <a:prstGeom prst="roundRect">
              <a:avLst>
                <a:gd name="adj" fmla="val 19704"/>
              </a:avLst>
            </a:prstGeom>
            <a:solidFill>
              <a:srgbClr val="FFFFFF"/>
            </a:solidFill>
            <a:ln>
              <a:noFill/>
            </a:ln>
          </p:spPr>
        </p:sp>
        <p:sp>
          <p:nvSpPr>
            <p:cNvPr id="30" name="TextBox 30"/>
            <p:cNvSpPr txBox="1"/>
            <p:nvPr/>
          </p:nvSpPr>
          <p:spPr>
            <a:xfrm>
              <a:off x="3781806" y="3416618"/>
              <a:ext cx="717423" cy="205359"/>
            </a:xfrm>
            <a:prstGeom prst="rect">
              <a:avLst/>
            </a:prstGeom>
            <a:noFill/>
            <a:ln>
              <a:noFill/>
            </a:ln>
          </p:spPr>
          <p:txBody>
            <a:bodyPr wrap="none" lIns="0" tIns="0" rIns="0" bIns="0" anchor="t" anchorCtr="0">
              <a:spAutoFit/>
            </a:bodyPr>
            <a:lstStyle/>
            <a:p>
              <a:pPr algn="ctr"/>
              <a:r>
                <a:rPr lang="zh-CN" sz="1050" dirty="0">
                  <a:solidFill>
                    <a:srgbClr val="5B6475"/>
                  </a:solidFill>
                  <a:latin typeface="+mn-lt"/>
                  <a:ea typeface="+mn-ea"/>
                  <a:cs typeface="+mn-cs"/>
                </a:rPr>
                <a:t>另一种吃法</a:t>
              </a:r>
            </a:p>
          </p:txBody>
        </p:sp>
      </p:grpSp>
      <p:grpSp>
        <p:nvGrpSpPr>
          <p:cNvPr id="33" name="c1-text-2"/>
          <p:cNvGrpSpPr/>
          <p:nvPr/>
        </p:nvGrpSpPr>
        <p:grpSpPr>
          <a:xfrm>
            <a:off x="733476" y="5455444"/>
            <a:ext cx="5010048" cy="249364"/>
            <a:chOff x="733476" y="5455444"/>
            <a:chExt cx="5010048" cy="249364"/>
          </a:xfrm>
        </p:grpSpPr>
        <p:sp>
          <p:nvSpPr>
            <p:cNvPr id="32" name="TextBox 32"/>
            <p:cNvSpPr txBox="1"/>
            <p:nvPr/>
          </p:nvSpPr>
          <p:spPr>
            <a:xfrm>
              <a:off x="733476" y="5455444"/>
              <a:ext cx="5010048" cy="249364"/>
            </a:xfrm>
            <a:prstGeom prst="rect">
              <a:avLst/>
            </a:prstGeom>
            <a:noFill/>
            <a:ln>
              <a:noFill/>
            </a:ln>
          </p:spPr>
          <p:txBody>
            <a:bodyPr wrap="none" lIns="0" tIns="0" rIns="0" bIns="0" anchor="t" anchorCtr="0">
              <a:spAutoFit/>
            </a:bodyPr>
            <a:lstStyle/>
            <a:p>
              <a:pPr algn="ctr"/>
              <a:r>
                <a:rPr lang="zh-CN" sz="1280" dirty="0">
                  <a:solidFill>
                    <a:srgbClr val="5B6475"/>
                  </a:solidFill>
                  <a:latin typeface="+mn-lt"/>
                  <a:ea typeface="+mn-ea"/>
                  <a:cs typeface="+mn-cs"/>
                </a:rPr>
                <a:t>上面一行是所有请客都要走的流程，下面一行是这一次具体怎么吃</a:t>
              </a:r>
            </a:p>
          </p:txBody>
        </p:sp>
      </p:grpSp>
      <p:grpSp>
        <p:nvGrpSpPr>
          <p:cNvPr id="54" name="c2-table-1"/>
          <p:cNvGrpSpPr/>
          <p:nvPr/>
        </p:nvGrpSpPr>
        <p:grpSpPr>
          <a:xfrm>
            <a:off x="6248400" y="1967865"/>
            <a:ext cx="5410200" cy="1795462"/>
            <a:chOff x="6248400" y="1967865"/>
            <a:chExt cx="5410200" cy="1795462"/>
          </a:xfrm>
        </p:grpSpPr>
        <p:sp>
          <p:nvSpPr>
            <p:cNvPr id="34" name="Rectangle 34"/>
            <p:cNvSpPr/>
            <p:nvPr/>
          </p:nvSpPr>
          <p:spPr>
            <a:xfrm>
              <a:off x="6248400" y="1967865"/>
              <a:ext cx="5410200" cy="448628"/>
            </a:xfrm>
            <a:prstGeom prst="rect">
              <a:avLst/>
            </a:prstGeom>
            <a:solidFill>
              <a:srgbClr val="5B3FA0"/>
            </a:solidFill>
            <a:ln>
              <a:noFill/>
            </a:ln>
          </p:spPr>
        </p:sp>
        <p:sp>
          <p:nvSpPr>
            <p:cNvPr id="35" name="TextBox 35"/>
            <p:cNvSpPr txBox="1"/>
            <p:nvPr/>
          </p:nvSpPr>
          <p:spPr>
            <a:xfrm>
              <a:off x="6556337" y="2102644"/>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步骤</a:t>
              </a:r>
            </a:p>
          </p:txBody>
        </p:sp>
        <p:sp>
          <p:nvSpPr>
            <p:cNvPr id="36" name="TextBox 36"/>
            <p:cNvSpPr txBox="1"/>
            <p:nvPr/>
          </p:nvSpPr>
          <p:spPr>
            <a:xfrm>
              <a:off x="7411771" y="2102644"/>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会不会变</a:t>
              </a:r>
            </a:p>
          </p:txBody>
        </p:sp>
        <p:sp>
          <p:nvSpPr>
            <p:cNvPr id="37" name="TextBox 37"/>
            <p:cNvSpPr txBox="1"/>
            <p:nvPr/>
          </p:nvSpPr>
          <p:spPr>
            <a:xfrm>
              <a:off x="9716300" y="2102644"/>
              <a:ext cx="529895"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为什么</a:t>
              </a:r>
            </a:p>
          </p:txBody>
        </p:sp>
        <p:sp>
          <p:nvSpPr>
            <p:cNvPr id="38" name="TextBox 38"/>
            <p:cNvSpPr txBox="1"/>
            <p:nvPr/>
          </p:nvSpPr>
          <p:spPr>
            <a:xfrm>
              <a:off x="6356223" y="2551271"/>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点单</a:t>
              </a:r>
            </a:p>
          </p:txBody>
        </p:sp>
        <p:sp>
          <p:nvSpPr>
            <p:cNvPr id="39" name="TextBox 39"/>
            <p:cNvSpPr txBox="1"/>
            <p:nvPr/>
          </p:nvSpPr>
          <p:spPr>
            <a:xfrm>
              <a:off x="7329678" y="2551271"/>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固定</a:t>
              </a:r>
            </a:p>
          </p:txBody>
        </p:sp>
        <p:sp>
          <p:nvSpPr>
            <p:cNvPr id="40" name="TextBox 40"/>
            <p:cNvSpPr txBox="1"/>
            <p:nvPr/>
          </p:nvSpPr>
          <p:spPr>
            <a:xfrm>
              <a:off x="8411718" y="2551271"/>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无论吃什么都要点，做法大同小异</a:t>
              </a:r>
            </a:p>
          </p:txBody>
        </p:sp>
        <p:sp>
          <p:nvSpPr>
            <p:cNvPr id="41" name="Rectangle 41"/>
            <p:cNvSpPr/>
            <p:nvPr/>
          </p:nvSpPr>
          <p:spPr>
            <a:xfrm>
              <a:off x="6248400" y="2860358"/>
              <a:ext cx="5410200" cy="9525"/>
            </a:xfrm>
            <a:prstGeom prst="rect">
              <a:avLst/>
            </a:prstGeom>
            <a:solidFill>
              <a:srgbClr val="D9DFEA"/>
            </a:solidFill>
            <a:ln>
              <a:noFill/>
            </a:ln>
          </p:spPr>
        </p:sp>
        <p:sp>
          <p:nvSpPr>
            <p:cNvPr id="42" name="Rectangle 42"/>
            <p:cNvSpPr/>
            <p:nvPr/>
          </p:nvSpPr>
          <p:spPr>
            <a:xfrm>
              <a:off x="6248400" y="2865120"/>
              <a:ext cx="5410200" cy="448628"/>
            </a:xfrm>
            <a:prstGeom prst="rect">
              <a:avLst/>
            </a:prstGeom>
            <a:solidFill>
              <a:srgbClr val="F4F6FB"/>
            </a:solidFill>
            <a:ln>
              <a:noFill/>
            </a:ln>
          </p:spPr>
        </p:sp>
        <p:sp>
          <p:nvSpPr>
            <p:cNvPr id="43" name="TextBox 43"/>
            <p:cNvSpPr txBox="1"/>
            <p:nvPr/>
          </p:nvSpPr>
          <p:spPr>
            <a:xfrm>
              <a:off x="6356223" y="3000851"/>
              <a:ext cx="52989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吃东西</a:t>
              </a:r>
            </a:p>
          </p:txBody>
        </p:sp>
        <p:sp>
          <p:nvSpPr>
            <p:cNvPr id="44" name="Rectangle 44"/>
            <p:cNvSpPr/>
            <p:nvPr/>
          </p:nvSpPr>
          <p:spPr>
            <a:xfrm>
              <a:off x="7231380" y="2874645"/>
              <a:ext cx="1062990" cy="429578"/>
            </a:xfrm>
            <a:prstGeom prst="rect">
              <a:avLst/>
            </a:prstGeom>
            <a:solidFill>
              <a:srgbClr val="FDEEE7"/>
            </a:solidFill>
            <a:ln>
              <a:noFill/>
            </a:ln>
          </p:spPr>
        </p:sp>
        <p:sp>
          <p:nvSpPr>
            <p:cNvPr id="45" name="TextBox 45"/>
            <p:cNvSpPr txBox="1"/>
            <p:nvPr/>
          </p:nvSpPr>
          <p:spPr>
            <a:xfrm>
              <a:off x="7329678" y="3000851"/>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可变</a:t>
              </a:r>
            </a:p>
          </p:txBody>
        </p:sp>
        <p:sp>
          <p:nvSpPr>
            <p:cNvPr id="46" name="TextBox 46"/>
            <p:cNvSpPr txBox="1"/>
            <p:nvPr/>
          </p:nvSpPr>
          <p:spPr>
            <a:xfrm>
              <a:off x="8411718" y="3000851"/>
              <a:ext cx="27699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吃面条和吃满汉全席完全不是一回事</a:t>
              </a:r>
            </a:p>
          </p:txBody>
        </p:sp>
        <p:sp>
          <p:nvSpPr>
            <p:cNvPr id="47" name="Rectangle 47"/>
            <p:cNvSpPr/>
            <p:nvPr/>
          </p:nvSpPr>
          <p:spPr>
            <a:xfrm>
              <a:off x="6248400" y="3308985"/>
              <a:ext cx="5410200" cy="9525"/>
            </a:xfrm>
            <a:prstGeom prst="rect">
              <a:avLst/>
            </a:prstGeom>
            <a:solidFill>
              <a:srgbClr val="D9DFEA"/>
            </a:solidFill>
            <a:ln>
              <a:noFill/>
            </a:ln>
          </p:spPr>
        </p:sp>
        <p:sp>
          <p:nvSpPr>
            <p:cNvPr id="48" name="TextBox 48"/>
            <p:cNvSpPr txBox="1"/>
            <p:nvPr/>
          </p:nvSpPr>
          <p:spPr>
            <a:xfrm>
              <a:off x="6356223" y="3449479"/>
              <a:ext cx="35758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买单</a:t>
              </a:r>
            </a:p>
          </p:txBody>
        </p:sp>
        <p:sp>
          <p:nvSpPr>
            <p:cNvPr id="49" name="TextBox 49"/>
            <p:cNvSpPr txBox="1"/>
            <p:nvPr/>
          </p:nvSpPr>
          <p:spPr>
            <a:xfrm>
              <a:off x="7329678" y="3449479"/>
              <a:ext cx="35758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固定</a:t>
              </a:r>
            </a:p>
          </p:txBody>
        </p:sp>
        <p:sp>
          <p:nvSpPr>
            <p:cNvPr id="50" name="TextBox 50"/>
            <p:cNvSpPr txBox="1"/>
            <p:nvPr/>
          </p:nvSpPr>
          <p:spPr>
            <a:xfrm>
              <a:off x="8411718" y="3449479"/>
              <a:ext cx="276997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无论吃什么都要结账，做法大同小异</a:t>
              </a:r>
            </a:p>
          </p:txBody>
        </p:sp>
        <p:sp>
          <p:nvSpPr>
            <p:cNvPr id="51" name="Rectangle 51"/>
            <p:cNvSpPr/>
            <p:nvPr/>
          </p:nvSpPr>
          <p:spPr>
            <a:xfrm>
              <a:off x="6248400" y="1967865"/>
              <a:ext cx="5410200" cy="1795462"/>
            </a:xfrm>
            <a:prstGeom prst="rect">
              <a:avLst/>
            </a:prstGeom>
            <a:noFill/>
            <a:ln w="14288">
              <a:solidFill>
                <a:srgbClr val="D9DFEA"/>
              </a:solidFill>
            </a:ln>
          </p:spPr>
        </p:sp>
        <p:sp>
          <p:nvSpPr>
            <p:cNvPr id="52" name="Rectangle 52"/>
            <p:cNvSpPr/>
            <p:nvPr/>
          </p:nvSpPr>
          <p:spPr>
            <a:xfrm>
              <a:off x="7217092" y="1967865"/>
              <a:ext cx="9525" cy="1795462"/>
            </a:xfrm>
            <a:prstGeom prst="rect">
              <a:avLst/>
            </a:prstGeom>
            <a:solidFill>
              <a:srgbClr val="D9DFEA"/>
            </a:solidFill>
            <a:ln>
              <a:noFill/>
            </a:ln>
          </p:spPr>
        </p:sp>
        <p:sp>
          <p:nvSpPr>
            <p:cNvPr id="53" name="Rectangle 53"/>
            <p:cNvSpPr/>
            <p:nvPr/>
          </p:nvSpPr>
          <p:spPr>
            <a:xfrm>
              <a:off x="8299132" y="1967865"/>
              <a:ext cx="9525" cy="1795462"/>
            </a:xfrm>
            <a:prstGeom prst="rect">
              <a:avLst/>
            </a:prstGeom>
            <a:solidFill>
              <a:srgbClr val="D9DFEA"/>
            </a:solidFill>
            <a:ln>
              <a:noFill/>
            </a:ln>
          </p:spPr>
        </p:sp>
      </p:grpSp>
      <p:grpSp>
        <p:nvGrpSpPr>
          <p:cNvPr id="61" name="c2-card-2"/>
          <p:cNvGrpSpPr/>
          <p:nvPr/>
        </p:nvGrpSpPr>
        <p:grpSpPr>
          <a:xfrm>
            <a:off x="6248400" y="3952875"/>
            <a:ext cx="5410200" cy="1701165"/>
            <a:chOff x="6248400" y="3952875"/>
            <a:chExt cx="5410200" cy="1701165"/>
          </a:xfrm>
        </p:grpSpPr>
        <p:sp>
          <p:nvSpPr>
            <p:cNvPr id="55" name="Rectangle 55"/>
            <p:cNvSpPr/>
            <p:nvPr/>
          </p:nvSpPr>
          <p:spPr>
            <a:xfrm>
              <a:off x="6248400" y="3952875"/>
              <a:ext cx="5410200" cy="1701165"/>
            </a:xfrm>
            <a:prstGeom prst="roundRect">
              <a:avLst>
                <a:gd name="adj" fmla="val 7839"/>
              </a:avLst>
            </a:prstGeom>
            <a:solidFill>
              <a:srgbClr val="FFFFFF"/>
            </a:solidFill>
            <a:ln w="14288">
              <a:solidFill>
                <a:srgbClr val="D9DFEA"/>
              </a:solidFill>
            </a:ln>
          </p:spPr>
        </p:sp>
        <p:sp>
          <p:nvSpPr>
            <p:cNvPr id="56" name="Rectangle 56"/>
            <p:cNvSpPr/>
            <p:nvPr/>
          </p:nvSpPr>
          <p:spPr>
            <a:xfrm>
              <a:off x="6257925" y="4086225"/>
              <a:ext cx="47625" cy="1434465"/>
            </a:xfrm>
            <a:prstGeom prst="roundRect">
              <a:avLst>
                <a:gd name="adj" fmla="val 50000"/>
              </a:avLst>
            </a:prstGeom>
            <a:solidFill>
              <a:srgbClr val="5B6475"/>
            </a:solidFill>
            <a:ln>
              <a:noFill/>
            </a:ln>
          </p:spPr>
        </p:sp>
        <p:sp>
          <p:nvSpPr>
            <p:cNvPr id="57" name="Rectangle 57"/>
            <p:cNvSpPr/>
            <p:nvPr/>
          </p:nvSpPr>
          <p:spPr>
            <a:xfrm>
              <a:off x="6496050" y="4162425"/>
              <a:ext cx="921068" cy="257175"/>
            </a:xfrm>
            <a:prstGeom prst="roundRect">
              <a:avLst>
                <a:gd name="adj" fmla="val 50000"/>
              </a:avLst>
            </a:prstGeom>
            <a:solidFill>
              <a:srgbClr val="F4F6FB"/>
            </a:solidFill>
            <a:ln>
              <a:noFill/>
            </a:ln>
          </p:spPr>
        </p:sp>
        <p:sp>
          <p:nvSpPr>
            <p:cNvPr id="58" name="TextBox 58"/>
            <p:cNvSpPr txBox="1"/>
            <p:nvPr/>
          </p:nvSpPr>
          <p:spPr>
            <a:xfrm>
              <a:off x="6573456" y="4198144"/>
              <a:ext cx="765302"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换到软件里</a:t>
              </a:r>
            </a:p>
          </p:txBody>
        </p:sp>
        <p:sp>
          <p:nvSpPr>
            <p:cNvPr id="59" name="TextBox 59"/>
            <p:cNvSpPr txBox="1"/>
            <p:nvPr/>
          </p:nvSpPr>
          <p:spPr>
            <a:xfrm>
              <a:off x="7523798" y="4197668"/>
              <a:ext cx="324612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一个方法要走好几步，其中几步会变</a:t>
              </a:r>
            </a:p>
          </p:txBody>
        </p:sp>
        <p:sp>
          <p:nvSpPr>
            <p:cNvPr id="60" name="TextBox 60"/>
            <p:cNvSpPr txBox="1"/>
            <p:nvPr/>
          </p:nvSpPr>
          <p:spPr>
            <a:xfrm>
              <a:off x="6488430" y="4558665"/>
              <a:ext cx="4587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某个方法的实现需要多个步骤，有些步骤是固定的，有</a:t>
              </a:r>
              <a:br/>
              <a:r>
                <a:rPr lang="zh-CN" sz="1500" dirty="0">
                  <a:solidFill>
                    <a:srgbClr val="1F2937"/>
                  </a:solidFill>
                  <a:latin typeface="+mn-lt"/>
                  <a:ea typeface="+mn-ea"/>
                  <a:cs typeface="+mn-cs"/>
                </a:rPr>
                <a:t>些存在可变性。固定的那几步每个实现都照抄一遍，是</a:t>
              </a:r>
              <a:br/>
              <a:r>
                <a:rPr lang="zh-CN" sz="1500" dirty="0">
                  <a:solidFill>
                    <a:srgbClr val="1F2937"/>
                  </a:solidFill>
                  <a:latin typeface="+mn-lt"/>
                  <a:ea typeface="+mn-ea"/>
                  <a:cs typeface="+mn-cs"/>
                </a:rPr>
                <a:t>实打实的重复代码。</a:t>
              </a:r>
            </a:p>
          </p:txBody>
        </p:sp>
      </p:grpSp>
      <p:grpSp>
        <p:nvGrpSpPr>
          <p:cNvPr id="67" name="takeaway"/>
          <p:cNvGrpSpPr/>
          <p:nvPr/>
        </p:nvGrpSpPr>
        <p:grpSpPr>
          <a:xfrm>
            <a:off x="533400" y="5829300"/>
            <a:ext cx="11125200" cy="533400"/>
            <a:chOff x="533400" y="5829300"/>
            <a:chExt cx="11125200" cy="533400"/>
          </a:xfrm>
        </p:grpSpPr>
        <p:sp>
          <p:nvSpPr>
            <p:cNvPr id="62" name="Rectangle 62"/>
            <p:cNvSpPr/>
            <p:nvPr/>
          </p:nvSpPr>
          <p:spPr>
            <a:xfrm>
              <a:off x="533400" y="5829300"/>
              <a:ext cx="11125200" cy="533400"/>
            </a:xfrm>
            <a:prstGeom prst="roundRect">
              <a:avLst>
                <a:gd name="adj" fmla="val 21429"/>
              </a:avLst>
            </a:prstGeom>
            <a:solidFill>
              <a:srgbClr val="5B3FA0"/>
            </a:solidFill>
            <a:ln>
              <a:noFill/>
            </a:ln>
          </p:spPr>
        </p:sp>
        <p:grpSp>
          <p:nvGrpSpPr>
            <p:cNvPr id="65" name="Group 65"/>
            <p:cNvGrpSpPr/>
            <p:nvPr/>
          </p:nvGrpSpPr>
          <p:grpSpPr>
            <a:xfrm>
              <a:off x="738188" y="5995990"/>
              <a:ext cx="200023" cy="200023"/>
              <a:chOff x="738188" y="5995990"/>
              <a:chExt cx="200023" cy="200023"/>
            </a:xfrm>
          </p:grpSpPr>
          <p:sp>
            <p:nvSpPr>
              <p:cNvPr id="63" name="Freeform 63"/>
              <p:cNvSpPr/>
              <p:nvPr/>
            </p:nvSpPr>
            <p:spPr>
              <a:xfrm>
                <a:off x="738188" y="599599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871538" y="606266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1040130" y="5991225"/>
              <a:ext cx="7486650" cy="293370"/>
            </a:xfrm>
            <a:prstGeom prst="rect">
              <a:avLst/>
            </a:prstGeom>
            <a:noFill/>
            <a:ln>
              <a:noFill/>
            </a:ln>
          </p:spPr>
          <p:txBody>
            <a:bodyPr wrap="none" lIns="0" tIns="0" rIns="0" bIns="0" anchor="t" anchorCtr="0">
              <a:spAutoFit/>
            </a:bodyPr>
            <a:lstStyle/>
            <a:p>
              <a:pPr algn="l"/>
              <a:r>
                <a:rPr lang="zh-CN" sz="1500" dirty="0">
                  <a:solidFill>
                    <a:srgbClr val="FFFFFF"/>
                  </a:solidFill>
                  <a:latin typeface="+mn-lt"/>
                  <a:ea typeface="+mn-ea"/>
                  <a:cs typeface="+mn-cs"/>
                </a:rPr>
                <a:t>三步的次序本身也是一种要复用的东西。把次序写进父类，子类就没机会把它写错。</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69" name="TextBox 69"/>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831842" cy="909257"/>
            <a:chOff x="520446" y="342900"/>
            <a:chExt cx="4831842" cy="909257"/>
          </a:xfrm>
        </p:grpSpPr>
        <p:sp>
          <p:nvSpPr>
            <p:cNvPr id="2" name="Rectangle 2"/>
            <p:cNvSpPr/>
            <p:nvPr/>
          </p:nvSpPr>
          <p:spPr>
            <a:xfrm>
              <a:off x="533400" y="342900"/>
              <a:ext cx="3776662" cy="266700"/>
            </a:xfrm>
            <a:prstGeom prst="roundRect">
              <a:avLst>
                <a:gd name="adj" fmla="val 50000"/>
              </a:avLst>
            </a:prstGeom>
            <a:solidFill>
              <a:srgbClr val="EEEAF7"/>
            </a:solidFill>
            <a:ln>
              <a:noFill/>
            </a:ln>
          </p:spPr>
        </p:sp>
        <p:sp>
          <p:nvSpPr>
            <p:cNvPr id="3" name="TextBox 3"/>
            <p:cNvSpPr txBox="1"/>
            <p:nvPr/>
          </p:nvSpPr>
          <p:spPr>
            <a:xfrm>
              <a:off x="556125" y="407194"/>
              <a:ext cx="3732165"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动机：步骤次序固定，中间一步要换着来</a:t>
              </a:r>
            </a:p>
          </p:txBody>
        </p:sp>
        <p:sp>
          <p:nvSpPr>
            <p:cNvPr id="4" name="TextBox 4"/>
            <p:cNvSpPr txBox="1"/>
            <p:nvPr/>
          </p:nvSpPr>
          <p:spPr>
            <a:xfrm>
              <a:off x="520446" y="753428"/>
              <a:ext cx="483184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两个术语：基本方法与模板方法</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542" y="1545907"/>
            <a:ext cx="7646670" cy="264033"/>
            <a:chOff x="526542" y="1545907"/>
            <a:chExt cx="7646670" cy="264033"/>
          </a:xfrm>
        </p:grpSpPr>
        <p:sp>
          <p:nvSpPr>
            <p:cNvPr id="7" name="TextBox 7"/>
            <p:cNvSpPr txBox="1"/>
            <p:nvPr/>
          </p:nvSpPr>
          <p:spPr>
            <a:xfrm>
              <a:off x="526542" y="1545907"/>
              <a:ext cx="764667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把上一页的例子搬进代码。陈伟老师课件里那段处理文件的代码，正好是最小的一个模板方法。</a:t>
              </a:r>
            </a:p>
          </p:txBody>
        </p:sp>
      </p:grpSp>
      <p:grpSp>
        <p:nvGrpSpPr>
          <p:cNvPr id="13" name="c1-code-1"/>
          <p:cNvGrpSpPr/>
          <p:nvPr/>
        </p:nvGrpSpPr>
        <p:grpSpPr>
          <a:xfrm>
            <a:off x="533400" y="1928812"/>
            <a:ext cx="5842635" cy="2985135"/>
            <a:chOff x="533400" y="1928812"/>
            <a:chExt cx="5842635" cy="2985135"/>
          </a:xfrm>
        </p:grpSpPr>
        <p:sp>
          <p:nvSpPr>
            <p:cNvPr id="9" name="Rectangle 9"/>
            <p:cNvSpPr/>
            <p:nvPr/>
          </p:nvSpPr>
          <p:spPr>
            <a:xfrm>
              <a:off x="533400" y="1928812"/>
              <a:ext cx="5842635" cy="2985135"/>
            </a:xfrm>
            <a:prstGeom prst="roundRect">
              <a:avLst>
                <a:gd name="adj" fmla="val 3191"/>
              </a:avLst>
            </a:prstGeom>
            <a:solidFill>
              <a:srgbClr val="F6F8FA"/>
            </a:solidFill>
            <a:ln w="11430">
              <a:solidFill>
                <a:srgbClr val="D9DFEA"/>
              </a:solidFill>
            </a:ln>
          </p:spPr>
        </p:sp>
        <p:sp>
          <p:nvSpPr>
            <p:cNvPr id="10" name="TextBox 10"/>
            <p:cNvSpPr txBox="1"/>
            <p:nvPr/>
          </p:nvSpPr>
          <p:spPr>
            <a:xfrm>
              <a:off x="661797" y="2080736"/>
              <a:ext cx="2807761"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处理文件的流程（改写自陈伟老师课件第 3 页）</a:t>
              </a:r>
            </a:p>
          </p:txBody>
        </p:sp>
        <p:sp>
          <p:nvSpPr>
            <p:cNvPr id="11" name="Rectangle 11"/>
            <p:cNvSpPr/>
            <p:nvPr/>
          </p:nvSpPr>
          <p:spPr>
            <a:xfrm>
              <a:off x="552450" y="2616518"/>
              <a:ext cx="5804535" cy="154305"/>
            </a:xfrm>
            <a:prstGeom prst="rect">
              <a:avLst/>
            </a:prstGeom>
            <a:solidFill>
              <a:srgbClr val="FDEEE7"/>
            </a:solidFill>
            <a:ln>
              <a:noFill/>
            </a:ln>
          </p:spPr>
        </p:sp>
        <p:sp>
          <p:nvSpPr>
            <p:cNvPr id="12" name="TextBox 12"/>
            <p:cNvSpPr txBox="1"/>
            <p:nvPr/>
          </p:nvSpPr>
          <p:spPr>
            <a:xfrm>
              <a:off x="661988" y="2339435"/>
              <a:ext cx="3395345" cy="2482215"/>
            </a:xfrm>
            <a:prstGeom prst="rect">
              <a:avLst/>
            </a:prstGeom>
            <a:noFill/>
            <a:ln>
              <a:noFill/>
            </a:ln>
          </p:spPr>
          <p:txBody>
            <a:bodyPr wrap="none" lIns="0" tIns="0" rIns="0" bIns="0" anchor="t" anchorCtr="0">
              <a:spAutoFit/>
            </a:bodyPr>
            <a:lstStyle/>
            <a:p>
              <a:pPr algn="l">
                <a:lnSpc>
                  <a:spcPts val="1215"/>
                </a:lnSpc>
              </a:pP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abstract</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class</a:t>
              </a:r>
              <a:r>
                <a:rPr lang="en-US" sz="860" dirty="0">
                  <a:solidFill>
                    <a:srgbClr val="1F2937"/>
                  </a:solidFill>
                  <a:latin typeface="Consolas"/>
                  <a:ea typeface="Consolas"/>
                  <a:cs typeface="Consolas"/>
                </a:rPr>
                <a:t xml:space="preserve"> ProcessFile {</a:t>
              </a:r>
              <a:br/>
              <a:r>
                <a:rPr lang="zh-CN" sz="860" dirty="0">
                  <a:solidFill>
                    <a:srgbClr val="1F2937"/>
                  </a:solidFill>
                  <a:latin typeface="Consolas"/>
                  <a:ea typeface="Consolas"/>
                  <a:cs typeface="Consolas"/>
                </a:rPr>
                <a:t xml:space="preserve">    </a:t>
              </a:r>
              <a:r>
                <a:rPr lang="zh-CN" sz="860" dirty="0">
                  <a:solidFill>
                    <a:srgbClr val="0F7A68"/>
                  </a:solidFill>
                  <a:latin typeface="Consolas"/>
                  <a:ea typeface="Microsoft YaHei"/>
                  <a:cs typeface="Consolas"/>
                </a:rPr>
                <a:t>/* 模板方法：三步的次序固定在这里，子类改不了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final</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process() {</a:t>
              </a:r>
              <a:br/>
              <a:r>
                <a:rPr lang="en-US" sz="860" dirty="0">
                  <a:solidFill>
                    <a:srgbClr val="1F2937"/>
                  </a:solidFill>
                  <a:latin typeface="Consolas"/>
                  <a:ea typeface="Consolas"/>
                  <a:cs typeface="Consolas"/>
                </a:rPr>
                <a:t xml:space="preserve">        openFile();</a:t>
              </a:r>
              <a:br/>
              <a:r>
                <a:rPr lang="en-US" sz="860" dirty="0">
                  <a:solidFill>
                    <a:srgbClr val="1F2937"/>
                  </a:solidFill>
                  <a:latin typeface="Consolas"/>
                  <a:ea typeface="Consolas"/>
                  <a:cs typeface="Consolas"/>
                </a:rPr>
                <a:t xml:space="preserve">        doFile();</a:t>
              </a:r>
              <a:br/>
              <a:r>
                <a:rPr lang="en-US" sz="860" dirty="0">
                  <a:solidFill>
                    <a:srgbClr val="1F2937"/>
                  </a:solidFill>
                  <a:latin typeface="Consolas"/>
                  <a:ea typeface="Consolas"/>
                  <a:cs typeface="Consolas"/>
                </a:rPr>
                <a:t xml:space="preserve">        closeFile();</a:t>
              </a:r>
              <a:br/>
              <a:r>
                <a:rPr lang="zh-CN" sz="860" dirty="0">
                  <a:solidFill>
                    <a:srgbClr val="1F2937"/>
                  </a:solidFill>
                  <a:latin typeface="Consolas"/>
                  <a:ea typeface="Consolas"/>
                  <a:cs typeface="Consolas"/>
                </a:rPr>
                <a:t xml:space="preserve">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protected</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openFile()  { }        </a:t>
              </a:r>
              <a:r>
                <a:rPr lang="zh-CN" sz="860" dirty="0">
                  <a:solidFill>
                    <a:srgbClr val="0F7A68"/>
                  </a:solidFill>
                  <a:latin typeface="Consolas"/>
                  <a:ea typeface="Microsoft YaHei"/>
                  <a:cs typeface="Consolas"/>
                </a:rPr>
                <a:t>/* 钩子方法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protected</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abstract</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doFile();     </a:t>
              </a:r>
              <a:r>
                <a:rPr lang="zh-CN" sz="860" dirty="0">
                  <a:solidFill>
                    <a:srgbClr val="0F7A68"/>
                  </a:solidFill>
                  <a:latin typeface="Consolas"/>
                  <a:ea typeface="Microsoft YaHei"/>
                  <a:cs typeface="Consolas"/>
                </a:rPr>
                <a:t>/* 抽象方法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protected</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closeFile() { }        </a:t>
              </a:r>
              <a:r>
                <a:rPr lang="zh-CN" sz="860" dirty="0">
                  <a:solidFill>
                    <a:srgbClr val="0F7A68"/>
                  </a:solidFill>
                  <a:latin typeface="Consolas"/>
                  <a:ea typeface="Microsoft YaHei"/>
                  <a:cs typeface="Consolas"/>
                </a:rPr>
                <a:t>/* 钩子方法 */</a:t>
              </a:r>
              <a:br/>
              <a:r>
                <a:rPr lang="zh-CN" sz="860" dirty="0">
                  <a:solidFill>
                    <a:srgbClr val="1F2937"/>
                  </a:solidFill>
                  <a:latin typeface="Consolas"/>
                  <a:ea typeface="Consolas"/>
                  <a:cs typeface="Consolas"/>
                </a:rPr>
                <a:t>}</a:t>
              </a:r>
              <a:br/>
              <a:r>
                <a:rPr lang="zh-CN" sz="860" dirty="0">
                  <a:solidFill>
                    <a:srgbClr val="1F2937"/>
                  </a:solidFill>
                  <a:latin typeface="Consolas"/>
                  <a:ea typeface="Consolas"/>
                  <a:cs typeface="Consolas"/>
                </a:rPr>
                <a:t xml:space="preserve"> </a:t>
              </a:r>
              <a:b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class</a:t>
              </a:r>
              <a:r>
                <a:rPr lang="en-US" sz="860" dirty="0">
                  <a:solidFill>
                    <a:srgbClr val="1F2937"/>
                  </a:solidFill>
                  <a:latin typeface="Consolas"/>
                  <a:ea typeface="Consolas"/>
                  <a:cs typeface="Consolas"/>
                </a:rPr>
                <a:t xml:space="preserve"> MyProcessFile </a:t>
              </a:r>
              <a:r>
                <a:rPr lang="en-US" sz="860" b="1" dirty="0">
                  <a:solidFill>
                    <a:srgbClr val="5B3FA0"/>
                  </a:solidFill>
                  <a:latin typeface="Consolas"/>
                  <a:ea typeface="Consolas"/>
                  <a:cs typeface="Consolas"/>
                </a:rPr>
                <a:t>extends</a:t>
              </a:r>
              <a:r>
                <a:rPr lang="en-US" sz="860" dirty="0">
                  <a:solidFill>
                    <a:srgbClr val="1F2937"/>
                  </a:solidFill>
                  <a:latin typeface="Consolas"/>
                  <a:ea typeface="Consolas"/>
                  <a:cs typeface="Consolas"/>
                </a:rPr>
                <a:t xml:space="preserve"> ProcessFile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protected</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openFile() { </a:t>
              </a:r>
              <a:r>
                <a:rPr lang="zh-CN" sz="860" dirty="0">
                  <a:solidFill>
                    <a:srgbClr val="0F7A68"/>
                  </a:solidFill>
                  <a:latin typeface="Consolas"/>
                  <a:ea typeface="Microsoft YaHei"/>
                  <a:cs typeface="Consolas"/>
                </a:rPr>
                <a:t>/* 打开自己格式的文件 */</a:t>
              </a:r>
              <a:r>
                <a:rPr lang="zh-CN" sz="860" dirty="0">
                  <a:solidFill>
                    <a:srgbClr val="1F2937"/>
                  </a:solidFill>
                  <a:latin typeface="Consolas"/>
                  <a:ea typeface="Consolas"/>
                  <a:cs typeface="Consolas"/>
                </a:rPr>
                <a:t xml:space="preserve">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protected</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doFile()   { </a:t>
              </a:r>
              <a:r>
                <a:rPr lang="zh-CN" sz="860" dirty="0">
                  <a:solidFill>
                    <a:srgbClr val="0F7A68"/>
                  </a:solidFill>
                  <a:latin typeface="Consolas"/>
                  <a:ea typeface="Microsoft YaHei"/>
                  <a:cs typeface="Consolas"/>
                </a:rPr>
                <a:t>/* 处理文件内容 */</a:t>
              </a:r>
              <a:r>
                <a:rPr lang="zh-CN" sz="860" dirty="0">
                  <a:solidFill>
                    <a:srgbClr val="1F2937"/>
                  </a:solidFill>
                  <a:latin typeface="Consolas"/>
                  <a:ea typeface="Consolas"/>
                  <a:cs typeface="Consolas"/>
                </a:rPr>
                <a:t xml:space="preserve"> }</a:t>
              </a:r>
              <a:br/>
              <a:r>
                <a:rPr lang="zh-CN" sz="860" dirty="0">
                  <a:solidFill>
                    <a:srgbClr val="1F2937"/>
                  </a:solidFill>
                  <a:latin typeface="Consolas"/>
                  <a:ea typeface="Consolas"/>
                  <a:cs typeface="Consolas"/>
                </a:rPr>
                <a:t>}</a:t>
              </a:r>
            </a:p>
          </p:txBody>
        </p:sp>
      </p:grpSp>
      <p:grpSp>
        <p:nvGrpSpPr>
          <p:cNvPr id="20" name="c1-card-2"/>
          <p:cNvGrpSpPr/>
          <p:nvPr/>
        </p:nvGrpSpPr>
        <p:grpSpPr>
          <a:xfrm>
            <a:off x="533400" y="5083492"/>
            <a:ext cx="5842635" cy="1202055"/>
            <a:chOff x="533400" y="5083492"/>
            <a:chExt cx="5842635" cy="1202055"/>
          </a:xfrm>
        </p:grpSpPr>
        <p:sp>
          <p:nvSpPr>
            <p:cNvPr id="14" name="Rectangle 14"/>
            <p:cNvSpPr/>
            <p:nvPr/>
          </p:nvSpPr>
          <p:spPr>
            <a:xfrm>
              <a:off x="533400" y="5083492"/>
              <a:ext cx="5842635" cy="1202055"/>
            </a:xfrm>
            <a:prstGeom prst="roundRect">
              <a:avLst>
                <a:gd name="adj" fmla="val 11094"/>
              </a:avLst>
            </a:prstGeom>
            <a:solidFill>
              <a:srgbClr val="FFFFFF"/>
            </a:solidFill>
            <a:ln w="14288">
              <a:solidFill>
                <a:srgbClr val="D9DFEA"/>
              </a:solidFill>
            </a:ln>
          </p:spPr>
        </p:sp>
        <p:sp>
          <p:nvSpPr>
            <p:cNvPr id="15" name="Rectangle 15"/>
            <p:cNvSpPr/>
            <p:nvPr/>
          </p:nvSpPr>
          <p:spPr>
            <a:xfrm>
              <a:off x="542925" y="5216842"/>
              <a:ext cx="47625" cy="935355"/>
            </a:xfrm>
            <a:prstGeom prst="roundRect">
              <a:avLst>
                <a:gd name="adj" fmla="val 50000"/>
              </a:avLst>
            </a:prstGeom>
            <a:solidFill>
              <a:srgbClr val="D97706"/>
            </a:solidFill>
            <a:ln>
              <a:noFill/>
            </a:ln>
          </p:spPr>
        </p:sp>
        <p:sp>
          <p:nvSpPr>
            <p:cNvPr id="16" name="Rectangle 16"/>
            <p:cNvSpPr/>
            <p:nvPr/>
          </p:nvSpPr>
          <p:spPr>
            <a:xfrm>
              <a:off x="758190" y="5270182"/>
              <a:ext cx="1454468" cy="238125"/>
            </a:xfrm>
            <a:prstGeom prst="roundRect">
              <a:avLst>
                <a:gd name="adj" fmla="val 50000"/>
              </a:avLst>
            </a:prstGeom>
            <a:solidFill>
              <a:srgbClr val="FEF3C7"/>
            </a:solidFill>
            <a:ln>
              <a:noFill/>
            </a:ln>
          </p:spPr>
        </p:sp>
        <p:sp>
          <p:nvSpPr>
            <p:cNvPr id="17" name="TextBox 17"/>
            <p:cNvSpPr txBox="1"/>
            <p:nvPr/>
          </p:nvSpPr>
          <p:spPr>
            <a:xfrm>
              <a:off x="820357" y="5303044"/>
              <a:ext cx="1329182"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怎么一眼认出模板方法</a:t>
              </a:r>
            </a:p>
          </p:txBody>
        </p:sp>
        <p:sp>
          <p:nvSpPr>
            <p:cNvPr id="18" name="TextBox 18"/>
            <p:cNvSpPr txBox="1"/>
            <p:nvPr/>
          </p:nvSpPr>
          <p:spPr>
            <a:xfrm>
              <a:off x="2320100" y="5305425"/>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方法体里只有调用，没有业务</a:t>
              </a:r>
            </a:p>
          </p:txBody>
        </p:sp>
        <p:sp>
          <p:nvSpPr>
            <p:cNvPr id="19" name="TextBox 19"/>
            <p:cNvSpPr txBox="1"/>
            <p:nvPr/>
          </p:nvSpPr>
          <p:spPr>
            <a:xfrm>
              <a:off x="751332" y="5631180"/>
              <a:ext cx="5200079" cy="521208"/>
            </a:xfrm>
            <a:prstGeom prst="rect">
              <a:avLst/>
            </a:prstGeom>
            <a:noFill/>
            <a:ln>
              <a:noFill/>
            </a:ln>
          </p:spPr>
          <p:txBody>
            <a:bodyPr wrap="none" lIns="0" tIns="0" rIns="0" bIns="0" anchor="t" anchorCtr="0">
              <a:spAutoFit/>
            </a:bodyPr>
            <a:lstStyle/>
            <a:p>
              <a:pPr algn="l">
                <a:lnSpc>
                  <a:spcPts val="2025"/>
                </a:lnSpc>
              </a:pPr>
              <a:r>
                <a:rPr lang="en-US" sz="1350" dirty="0">
                  <a:solidFill>
                    <a:srgbClr val="462F80"/>
                  </a:solidFill>
                  <a:latin typeface="+mn-lt"/>
                  <a:ea typeface="+mn-ea"/>
                  <a:cs typeface="+mn-cs"/>
                </a:rPr>
                <a:t>process()</a:t>
              </a:r>
              <a:r>
                <a:rPr lang="zh-CN" sz="1350" dirty="0">
                  <a:solidFill>
                    <a:srgbClr val="1F2937"/>
                  </a:solidFill>
                  <a:latin typeface="+mn-lt"/>
                  <a:ea typeface="+mn-ea"/>
                  <a:cs typeface="+mn-cs"/>
                </a:rPr>
                <a:t xml:space="preserve"> 里三句话全是在调别的方法，自己不做任何具体的事。符</a:t>
              </a:r>
              <a:br/>
              <a:r>
                <a:rPr lang="zh-CN" sz="1350" dirty="0">
                  <a:solidFill>
                    <a:srgbClr val="1F2937"/>
                  </a:solidFill>
                  <a:latin typeface="+mn-lt"/>
                  <a:ea typeface="+mn-ea"/>
                  <a:cs typeface="+mn-cs"/>
                </a:rPr>
                <a:t>合这个特征的就是模板方法，被它调用的那几个就是基本方法。</a:t>
              </a:r>
            </a:p>
          </p:txBody>
        </p:sp>
      </p:grpSp>
      <p:grpSp>
        <p:nvGrpSpPr>
          <p:cNvPr id="29" name="c2-kv-1"/>
          <p:cNvGrpSpPr/>
          <p:nvPr/>
        </p:nvGrpSpPr>
        <p:grpSpPr>
          <a:xfrm>
            <a:off x="6673977" y="1950720"/>
            <a:ext cx="4984623" cy="1809940"/>
            <a:chOff x="6673977" y="1950720"/>
            <a:chExt cx="4984623" cy="1809940"/>
          </a:xfrm>
        </p:grpSpPr>
        <p:sp>
          <p:nvSpPr>
            <p:cNvPr id="21" name="TextBox 21"/>
            <p:cNvSpPr txBox="1"/>
            <p:nvPr/>
          </p:nvSpPr>
          <p:spPr>
            <a:xfrm>
              <a:off x="6673977" y="1950720"/>
              <a:ext cx="740664" cy="264033"/>
            </a:xfrm>
            <a:prstGeom prst="rect">
              <a:avLst/>
            </a:prstGeom>
            <a:noFill/>
            <a:ln>
              <a:noFill/>
            </a:ln>
          </p:spPr>
          <p:txBody>
            <a:bodyPr wrap="none" lIns="0" tIns="0" rIns="0" bIns="0" anchor="t" anchorCtr="0">
              <a:spAutoFit/>
            </a:bodyPr>
            <a:lstStyle/>
            <a:p>
              <a:pPr algn="l"/>
              <a:r>
                <a:rPr lang="zh-CN" sz="1350" b="1" dirty="0">
                  <a:solidFill>
                    <a:srgbClr val="5B3FA0"/>
                  </a:solidFill>
                  <a:latin typeface="+mn-lt"/>
                  <a:ea typeface="+mn-ea"/>
                  <a:cs typeface="+mn-cs"/>
                </a:rPr>
                <a:t>基本方法</a:t>
              </a:r>
            </a:p>
          </p:txBody>
        </p:sp>
        <p:sp>
          <p:nvSpPr>
            <p:cNvPr id="22" name="TextBox 22"/>
            <p:cNvSpPr txBox="1"/>
            <p:nvPr/>
          </p:nvSpPr>
          <p:spPr>
            <a:xfrm>
              <a:off x="7636002" y="1950720"/>
              <a:ext cx="3562731"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实现算法各个步骤的方法。openFile、doFile、</a:t>
              </a:r>
              <a:br/>
              <a:r>
                <a:rPr lang="zh-CN" sz="1350" dirty="0">
                  <a:solidFill>
                    <a:srgbClr val="1F2937"/>
                  </a:solidFill>
                  <a:latin typeface="+mn-lt"/>
                  <a:ea typeface="+mn-ea"/>
                  <a:cs typeface="+mn-cs"/>
                </a:rPr>
                <a:t>closeFile 各是一个基本方法</a:t>
              </a:r>
            </a:p>
          </p:txBody>
        </p:sp>
        <p:sp>
          <p:nvSpPr>
            <p:cNvPr id="23" name="Rectangle 23"/>
            <p:cNvSpPr/>
            <p:nvPr/>
          </p:nvSpPr>
          <p:spPr>
            <a:xfrm>
              <a:off x="6680835" y="2490788"/>
              <a:ext cx="4977765" cy="9525"/>
            </a:xfrm>
            <a:prstGeom prst="rect">
              <a:avLst/>
            </a:prstGeom>
            <a:solidFill>
              <a:srgbClr val="D9DFEA"/>
            </a:solidFill>
            <a:ln>
              <a:noFill/>
            </a:ln>
          </p:spPr>
        </p:sp>
        <p:sp>
          <p:nvSpPr>
            <p:cNvPr id="24" name="TextBox 24"/>
            <p:cNvSpPr txBox="1"/>
            <p:nvPr/>
          </p:nvSpPr>
          <p:spPr>
            <a:xfrm>
              <a:off x="6673977" y="2597468"/>
              <a:ext cx="740664" cy="264033"/>
            </a:xfrm>
            <a:prstGeom prst="rect">
              <a:avLst/>
            </a:prstGeom>
            <a:noFill/>
            <a:ln>
              <a:noFill/>
            </a:ln>
          </p:spPr>
          <p:txBody>
            <a:bodyPr wrap="none" lIns="0" tIns="0" rIns="0" bIns="0" anchor="t" anchorCtr="0">
              <a:spAutoFit/>
            </a:bodyPr>
            <a:lstStyle/>
            <a:p>
              <a:pPr algn="l"/>
              <a:r>
                <a:rPr lang="zh-CN" sz="1350" b="1" dirty="0">
                  <a:solidFill>
                    <a:srgbClr val="5B3FA0"/>
                  </a:solidFill>
                  <a:latin typeface="+mn-lt"/>
                  <a:ea typeface="+mn-ea"/>
                  <a:cs typeface="+mn-cs"/>
                </a:rPr>
                <a:t>模板方法</a:t>
              </a:r>
            </a:p>
          </p:txBody>
        </p:sp>
        <p:sp>
          <p:nvSpPr>
            <p:cNvPr id="25" name="TextBox 25"/>
            <p:cNvSpPr txBox="1"/>
            <p:nvPr/>
          </p:nvSpPr>
          <p:spPr>
            <a:xfrm>
              <a:off x="7636002" y="2597468"/>
              <a:ext cx="361416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调用这些基本方法、同时定义它们执行次序的方</a:t>
              </a:r>
              <a:br/>
              <a:r>
                <a:rPr lang="zh-CN" sz="1350" dirty="0">
                  <a:solidFill>
                    <a:srgbClr val="1F2937"/>
                  </a:solidFill>
                  <a:latin typeface="+mn-lt"/>
                  <a:ea typeface="+mn-ea"/>
                  <a:cs typeface="+mn-cs"/>
                </a:rPr>
                <a:t>法，这里是 process()</a:t>
              </a:r>
            </a:p>
          </p:txBody>
        </p:sp>
        <p:sp>
          <p:nvSpPr>
            <p:cNvPr id="26" name="Rectangle 26"/>
            <p:cNvSpPr/>
            <p:nvPr/>
          </p:nvSpPr>
          <p:spPr>
            <a:xfrm>
              <a:off x="6680835" y="3137535"/>
              <a:ext cx="4977765" cy="9525"/>
            </a:xfrm>
            <a:prstGeom prst="rect">
              <a:avLst/>
            </a:prstGeom>
            <a:solidFill>
              <a:srgbClr val="D9DFEA"/>
            </a:solidFill>
            <a:ln>
              <a:noFill/>
            </a:ln>
          </p:spPr>
        </p:sp>
        <p:sp>
          <p:nvSpPr>
            <p:cNvPr id="27" name="TextBox 27"/>
            <p:cNvSpPr txBox="1"/>
            <p:nvPr/>
          </p:nvSpPr>
          <p:spPr>
            <a:xfrm>
              <a:off x="6673977" y="3243262"/>
              <a:ext cx="740664" cy="264033"/>
            </a:xfrm>
            <a:prstGeom prst="rect">
              <a:avLst/>
            </a:prstGeom>
            <a:noFill/>
            <a:ln>
              <a:noFill/>
            </a:ln>
          </p:spPr>
          <p:txBody>
            <a:bodyPr wrap="none" lIns="0" tIns="0" rIns="0" bIns="0" anchor="t" anchorCtr="0">
              <a:spAutoFit/>
            </a:bodyPr>
            <a:lstStyle/>
            <a:p>
              <a:pPr algn="l"/>
              <a:r>
                <a:rPr lang="zh-CN" sz="1350" b="1" dirty="0">
                  <a:solidFill>
                    <a:srgbClr val="5B3FA0"/>
                  </a:solidFill>
                  <a:latin typeface="+mn-lt"/>
                  <a:ea typeface="+mn-ea"/>
                  <a:cs typeface="+mn-cs"/>
                </a:rPr>
                <a:t>放在哪里</a:t>
              </a:r>
            </a:p>
          </p:txBody>
        </p:sp>
        <p:sp>
          <p:nvSpPr>
            <p:cNvPr id="28" name="TextBox 28"/>
            <p:cNvSpPr txBox="1"/>
            <p:nvPr/>
          </p:nvSpPr>
          <p:spPr>
            <a:xfrm>
              <a:off x="7636002" y="3243262"/>
              <a:ext cx="378561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相同的代码放父类：模板方法和固定的步骤；会变</a:t>
              </a:r>
              <a:br/>
              <a:r>
                <a:rPr lang="zh-CN" sz="1350" dirty="0">
                  <a:solidFill>
                    <a:srgbClr val="1F2937"/>
                  </a:solidFill>
                  <a:latin typeface="+mn-lt"/>
                  <a:ea typeface="+mn-ea"/>
                  <a:cs typeface="+mn-cs"/>
                </a:rPr>
                <a:t>的那一步在父类只声明</a:t>
              </a:r>
            </a:p>
          </p:txBody>
        </p:sp>
      </p:grpSp>
      <p:grpSp>
        <p:nvGrpSpPr>
          <p:cNvPr id="41" name="c2-card-2"/>
          <p:cNvGrpSpPr/>
          <p:nvPr/>
        </p:nvGrpSpPr>
        <p:grpSpPr>
          <a:xfrm>
            <a:off x="6680835" y="3877628"/>
            <a:ext cx="4977765" cy="2407920"/>
            <a:chOff x="6680835" y="3877628"/>
            <a:chExt cx="4977765" cy="2407920"/>
          </a:xfrm>
        </p:grpSpPr>
        <p:sp>
          <p:nvSpPr>
            <p:cNvPr id="30" name="Rectangle 30"/>
            <p:cNvSpPr/>
            <p:nvPr/>
          </p:nvSpPr>
          <p:spPr>
            <a:xfrm>
              <a:off x="6680835" y="3877628"/>
              <a:ext cx="4977765" cy="2407920"/>
            </a:xfrm>
            <a:prstGeom prst="roundRect">
              <a:avLst>
                <a:gd name="adj" fmla="val 5538"/>
              </a:avLst>
            </a:prstGeom>
            <a:solidFill>
              <a:srgbClr val="FFFFFF"/>
            </a:solidFill>
            <a:ln w="14288">
              <a:solidFill>
                <a:srgbClr val="D9DFEA"/>
              </a:solidFill>
            </a:ln>
          </p:spPr>
        </p:sp>
        <p:sp>
          <p:nvSpPr>
            <p:cNvPr id="31" name="Rectangle 31"/>
            <p:cNvSpPr/>
            <p:nvPr/>
          </p:nvSpPr>
          <p:spPr>
            <a:xfrm>
              <a:off x="6690360" y="4010978"/>
              <a:ext cx="47625" cy="2141220"/>
            </a:xfrm>
            <a:prstGeom prst="roundRect">
              <a:avLst>
                <a:gd name="adj" fmla="val 50000"/>
              </a:avLst>
            </a:prstGeom>
            <a:solidFill>
              <a:srgbClr val="5B6475"/>
            </a:solidFill>
            <a:ln>
              <a:noFill/>
            </a:ln>
          </p:spPr>
        </p:sp>
        <p:sp>
          <p:nvSpPr>
            <p:cNvPr id="32" name="Rectangle 32"/>
            <p:cNvSpPr/>
            <p:nvPr/>
          </p:nvSpPr>
          <p:spPr>
            <a:xfrm>
              <a:off x="6905625" y="4064318"/>
              <a:ext cx="458152" cy="238125"/>
            </a:xfrm>
            <a:prstGeom prst="roundRect">
              <a:avLst>
                <a:gd name="adj" fmla="val 50000"/>
              </a:avLst>
            </a:prstGeom>
            <a:solidFill>
              <a:srgbClr val="F4F6FB"/>
            </a:solidFill>
            <a:ln>
              <a:noFill/>
            </a:ln>
          </p:spPr>
        </p:sp>
        <p:sp>
          <p:nvSpPr>
            <p:cNvPr id="33" name="TextBox 33"/>
            <p:cNvSpPr txBox="1"/>
            <p:nvPr/>
          </p:nvSpPr>
          <p:spPr>
            <a:xfrm>
              <a:off x="6998297" y="4097179"/>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34" name="TextBox 34"/>
            <p:cNvSpPr txBox="1"/>
            <p:nvPr/>
          </p:nvSpPr>
          <p:spPr>
            <a:xfrm>
              <a:off x="7472172" y="4099560"/>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源课件这段代码的三处问题</a:t>
              </a:r>
            </a:p>
          </p:txBody>
        </p:sp>
        <p:sp>
          <p:nvSpPr>
            <p:cNvPr id="35" name="Ellipse 35"/>
            <p:cNvSpPr/>
            <p:nvPr/>
          </p:nvSpPr>
          <p:spPr>
            <a:xfrm>
              <a:off x="6905625" y="4412932"/>
              <a:ext cx="192405" cy="192405"/>
            </a:xfrm>
            <a:prstGeom prst="ellipse">
              <a:avLst/>
            </a:prstGeom>
            <a:solidFill>
              <a:srgbClr val="5B3FA0"/>
            </a:solidFill>
            <a:ln>
              <a:noFill/>
            </a:ln>
          </p:spPr>
        </p:sp>
        <p:sp>
          <p:nvSpPr>
            <p:cNvPr id="36" name="TextBox 36"/>
            <p:cNvSpPr txBox="1"/>
            <p:nvPr/>
          </p:nvSpPr>
          <p:spPr>
            <a:xfrm>
              <a:off x="6961303" y="4452271"/>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37" name="TextBox 37"/>
            <p:cNvSpPr txBox="1"/>
            <p:nvPr/>
          </p:nvSpPr>
          <p:spPr>
            <a:xfrm>
              <a:off x="7186422" y="4425315"/>
              <a:ext cx="405993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462F80"/>
                  </a:solidFill>
                  <a:latin typeface="+mn-lt"/>
                  <a:ea typeface="+mn-ea"/>
                  <a:cs typeface="+mn-cs"/>
                </a:rPr>
                <a:t>class MyProcessFile：public ProcessFile</a:t>
              </a:r>
              <a:r>
                <a:rPr lang="zh-CN" sz="1350" dirty="0">
                  <a:solidFill>
                    <a:srgbClr val="1F2937"/>
                  </a:solidFill>
                  <a:latin typeface="+mn-lt"/>
                  <a:ea typeface="+mn-ea"/>
                  <a:cs typeface="+mn-cs"/>
                </a:rPr>
                <a:t xml:space="preserve"> 用了全角</a:t>
              </a:r>
              <a:br/>
              <a:r>
                <a:rPr lang="zh-CN" sz="1350" dirty="0">
                  <a:solidFill>
                    <a:srgbClr val="1F2937"/>
                  </a:solidFill>
                  <a:latin typeface="+mn-lt"/>
                  <a:ea typeface="+mn-ea"/>
                  <a:cs typeface="+mn-cs"/>
                </a:rPr>
                <a:t>冒号，而且类头后面缺一个左花括号；</a:t>
              </a:r>
              <a:r>
                <a:rPr lang="zh-CN" sz="1350" dirty="0">
                  <a:solidFill>
                    <a:srgbClr val="462F80"/>
                  </a:solidFill>
                  <a:latin typeface="+mn-lt"/>
                  <a:ea typeface="+mn-ea"/>
                  <a:cs typeface="+mn-cs"/>
                </a:rPr>
                <a:t>protected：</a:t>
              </a:r>
              <a:br/>
              <a:r>
                <a:rPr lang="zh-CN" sz="1350" dirty="0">
                  <a:solidFill>
                    <a:srgbClr val="1F2937"/>
                  </a:solidFill>
                  <a:latin typeface="+mn-lt"/>
                  <a:ea typeface="+mn-ea"/>
                  <a:cs typeface="+mn-cs"/>
                </a:rPr>
                <a:t xml:space="preserve">和结尾的 </a:t>
              </a:r>
              <a:r>
                <a:rPr lang="zh-CN" sz="1350" dirty="0">
                  <a:solidFill>
                    <a:srgbClr val="462F80"/>
                  </a:solidFill>
                  <a:latin typeface="+mn-lt"/>
                  <a:ea typeface="+mn-ea"/>
                  <a:cs typeface="+mn-cs"/>
                </a:rPr>
                <a:t>}；</a:t>
              </a:r>
              <a:r>
                <a:rPr lang="zh-CN" sz="1350" dirty="0">
                  <a:solidFill>
                    <a:srgbClr val="1F2937"/>
                  </a:solidFill>
                  <a:latin typeface="+mn-lt"/>
                  <a:ea typeface="+mn-ea"/>
                  <a:cs typeface="+mn-cs"/>
                </a:rPr>
                <a:t xml:space="preserve"> 同样是全角标点，整段编译不过。</a:t>
              </a:r>
            </a:p>
          </p:txBody>
        </p:sp>
        <p:sp>
          <p:nvSpPr>
            <p:cNvPr id="38" name="Ellipse 38"/>
            <p:cNvSpPr/>
            <p:nvPr/>
          </p:nvSpPr>
          <p:spPr>
            <a:xfrm>
              <a:off x="6905625" y="5228272"/>
              <a:ext cx="192405" cy="192405"/>
            </a:xfrm>
            <a:prstGeom prst="ellipse">
              <a:avLst/>
            </a:prstGeom>
            <a:solidFill>
              <a:srgbClr val="5B3FA0"/>
            </a:solidFill>
            <a:ln>
              <a:noFill/>
            </a:ln>
          </p:spPr>
        </p:sp>
        <p:sp>
          <p:nvSpPr>
            <p:cNvPr id="39" name="TextBox 39"/>
            <p:cNvSpPr txBox="1"/>
            <p:nvPr/>
          </p:nvSpPr>
          <p:spPr>
            <a:xfrm>
              <a:off x="6961303" y="526665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40" name="TextBox 40"/>
            <p:cNvSpPr txBox="1"/>
            <p:nvPr/>
          </p:nvSpPr>
          <p:spPr>
            <a:xfrm>
              <a:off x="7186422" y="5239702"/>
              <a:ext cx="39570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三个步骤在父类都是空实现的虚函数，等于三个钩</a:t>
              </a:r>
              <a:br/>
              <a:r>
                <a:rPr lang="zh-CN" sz="1350" dirty="0">
                  <a:solidFill>
                    <a:srgbClr val="1F2937"/>
                  </a:solidFill>
                  <a:latin typeface="+mn-lt"/>
                  <a:ea typeface="+mn-ea"/>
                  <a:cs typeface="+mn-cs"/>
                </a:rPr>
                <a:t>子，没有一步是子类必须写的。真正必须由子类完成</a:t>
              </a:r>
              <a:br/>
              <a:r>
                <a:rPr lang="zh-CN" sz="1350" dirty="0">
                  <a:solidFill>
                    <a:srgbClr val="1F2937"/>
                  </a:solidFill>
                  <a:latin typeface="+mn-lt"/>
                  <a:ea typeface="+mn-ea"/>
                  <a:cs typeface="+mn-cs"/>
                </a:rPr>
                <a:t>的 doFile 应当声明成抽象方法。</a:t>
              </a:r>
            </a:p>
          </p:txBody>
        </p:sp>
      </p:grpSp>
      <p:grpSp>
        <p:nvGrpSpPr>
          <p:cNvPr id="44" name="footer"/>
          <p:cNvGrpSpPr/>
          <p:nvPr/>
        </p:nvGrpSpPr>
        <p:grpSpPr>
          <a:xfrm>
            <a:off x="528447" y="6581299"/>
            <a:ext cx="11135106" cy="190690"/>
            <a:chOff x="528447" y="6581299"/>
            <a:chExt cx="11135106" cy="190690"/>
          </a:xfrm>
        </p:grpSpPr>
        <p:sp>
          <p:nvSpPr>
            <p:cNvPr id="42" name="TextBox 42"/>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43" name="TextBox 43"/>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891528" cy="909257"/>
            <a:chOff x="520446" y="342900"/>
            <a:chExt cx="6891528" cy="909257"/>
          </a:xfrm>
        </p:grpSpPr>
        <p:sp>
          <p:nvSpPr>
            <p:cNvPr id="2" name="Rectangle 2"/>
            <p:cNvSpPr/>
            <p:nvPr/>
          </p:nvSpPr>
          <p:spPr>
            <a:xfrm>
              <a:off x="533400" y="342900"/>
              <a:ext cx="3776662" cy="266700"/>
            </a:xfrm>
            <a:prstGeom prst="roundRect">
              <a:avLst>
                <a:gd name="adj" fmla="val 50000"/>
              </a:avLst>
            </a:prstGeom>
            <a:solidFill>
              <a:srgbClr val="EEEAF7"/>
            </a:solidFill>
            <a:ln>
              <a:noFill/>
            </a:ln>
          </p:spPr>
        </p:sp>
        <p:sp>
          <p:nvSpPr>
            <p:cNvPr id="3" name="TextBox 3"/>
            <p:cNvSpPr txBox="1"/>
            <p:nvPr/>
          </p:nvSpPr>
          <p:spPr>
            <a:xfrm>
              <a:off x="556125" y="407194"/>
              <a:ext cx="3732165"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动机：步骤次序固定，中间一步要换着来</a:t>
              </a:r>
            </a:p>
          </p:txBody>
        </p:sp>
        <p:sp>
          <p:nvSpPr>
            <p:cNvPr id="4" name="TextBox 4"/>
            <p:cNvSpPr txBox="1"/>
            <p:nvPr/>
          </p:nvSpPr>
          <p:spPr>
            <a:xfrm>
              <a:off x="520446" y="753428"/>
              <a:ext cx="689152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定义：定义算法框架，把某些步骤延迟到子类</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17" name="c1-card-1"/>
          <p:cNvGrpSpPr/>
          <p:nvPr/>
        </p:nvGrpSpPr>
        <p:grpSpPr>
          <a:xfrm>
            <a:off x="533400" y="1524000"/>
            <a:ext cx="5951220" cy="2088832"/>
            <a:chOff x="533400" y="1524000"/>
            <a:chExt cx="5951220" cy="2088832"/>
          </a:xfrm>
        </p:grpSpPr>
        <p:sp>
          <p:nvSpPr>
            <p:cNvPr id="7" name="Rectangle 7"/>
            <p:cNvSpPr/>
            <p:nvPr/>
          </p:nvSpPr>
          <p:spPr>
            <a:xfrm>
              <a:off x="533400" y="1524000"/>
              <a:ext cx="5951220" cy="2088832"/>
            </a:xfrm>
            <a:prstGeom prst="roundRect">
              <a:avLst>
                <a:gd name="adj" fmla="val 6384"/>
              </a:avLst>
            </a:prstGeom>
            <a:solidFill>
              <a:srgbClr val="FFFFFF"/>
            </a:solidFill>
            <a:ln w="14288">
              <a:solidFill>
                <a:srgbClr val="D9DFEA"/>
              </a:solidFill>
            </a:ln>
          </p:spPr>
        </p:sp>
        <p:sp>
          <p:nvSpPr>
            <p:cNvPr id="8" name="Rectangle 8"/>
            <p:cNvSpPr/>
            <p:nvPr/>
          </p:nvSpPr>
          <p:spPr>
            <a:xfrm>
              <a:off x="542925" y="1657350"/>
              <a:ext cx="47625" cy="1822132"/>
            </a:xfrm>
            <a:prstGeom prst="roundRect">
              <a:avLst>
                <a:gd name="adj" fmla="val 50000"/>
              </a:avLst>
            </a:prstGeom>
            <a:solidFill>
              <a:srgbClr val="5B3FA0"/>
            </a:solidFill>
            <a:ln>
              <a:noFill/>
            </a:ln>
          </p:spPr>
        </p:sp>
        <p:sp>
          <p:nvSpPr>
            <p:cNvPr id="9" name="Rectangle 9"/>
            <p:cNvSpPr/>
            <p:nvPr/>
          </p:nvSpPr>
          <p:spPr>
            <a:xfrm>
              <a:off x="763905" y="1716405"/>
              <a:ext cx="476250" cy="247650"/>
            </a:xfrm>
            <a:prstGeom prst="roundRect">
              <a:avLst>
                <a:gd name="adj" fmla="val 50000"/>
              </a:avLst>
            </a:prstGeom>
            <a:solidFill>
              <a:srgbClr val="EEEAF7"/>
            </a:solidFill>
            <a:ln>
              <a:noFill/>
            </a:ln>
          </p:spPr>
        </p:sp>
        <p:sp>
          <p:nvSpPr>
            <p:cNvPr id="10" name="TextBox 10"/>
            <p:cNvSpPr txBox="1"/>
            <p:nvPr/>
          </p:nvSpPr>
          <p:spPr>
            <a:xfrm>
              <a:off x="855345" y="1750695"/>
              <a:ext cx="293370" cy="205359"/>
            </a:xfrm>
            <a:prstGeom prst="rect">
              <a:avLst/>
            </a:prstGeom>
            <a:noFill/>
            <a:ln>
              <a:noFill/>
            </a:ln>
          </p:spPr>
          <p:txBody>
            <a:bodyPr wrap="none" lIns="0" tIns="0" rIns="0" bIns="0" anchor="t" anchorCtr="0">
              <a:spAutoFit/>
            </a:bodyPr>
            <a:lstStyle/>
            <a:p>
              <a:pPr algn="ctr"/>
              <a:r>
                <a:rPr lang="zh-CN" sz="1050" b="1" dirty="0">
                  <a:solidFill>
                    <a:srgbClr val="5B3FA0"/>
                  </a:solidFill>
                  <a:latin typeface="+mn-lt"/>
                  <a:ea typeface="+mn-ea"/>
                  <a:cs typeface="+mn-cs"/>
                </a:rPr>
                <a:t>定义</a:t>
              </a:r>
            </a:p>
          </p:txBody>
        </p:sp>
        <p:sp>
          <p:nvSpPr>
            <p:cNvPr id="11" name="TextBox 11"/>
            <p:cNvSpPr txBox="1"/>
            <p:nvPr/>
          </p:nvSpPr>
          <p:spPr>
            <a:xfrm>
              <a:off x="1347597" y="1756410"/>
              <a:ext cx="383372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模板方法模式（Template Method Pattern）</a:t>
              </a:r>
            </a:p>
          </p:txBody>
        </p:sp>
        <p:sp>
          <p:nvSpPr>
            <p:cNvPr id="12" name="TextBox 12"/>
            <p:cNvSpPr txBox="1"/>
            <p:nvPr/>
          </p:nvSpPr>
          <p:spPr>
            <a:xfrm>
              <a:off x="757047" y="2090738"/>
              <a:ext cx="53286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定义一个操作中算法的框架，而将一些步骤延迟到子类中。模板方法模</a:t>
              </a:r>
              <a:br/>
              <a:r>
                <a:rPr lang="zh-CN" sz="1350" dirty="0">
                  <a:solidFill>
                    <a:srgbClr val="1F2937"/>
                  </a:solidFill>
                  <a:latin typeface="+mn-lt"/>
                  <a:ea typeface="+mn-ea"/>
                  <a:cs typeface="+mn-cs"/>
                </a:rPr>
                <a:t>式使得子类可以不改变一个算法的结构即可重定义该算法的某些特定步</a:t>
              </a:r>
              <a:br/>
              <a:r>
                <a:rPr lang="zh-CN" sz="1350" dirty="0">
                  <a:solidFill>
                    <a:srgbClr val="1F2937"/>
                  </a:solidFill>
                  <a:latin typeface="+mn-lt"/>
                  <a:ea typeface="+mn-ea"/>
                  <a:cs typeface="+mn-cs"/>
                </a:rPr>
                <a:t>骤。</a:t>
              </a:r>
            </a:p>
          </p:txBody>
        </p:sp>
        <p:sp>
          <p:nvSpPr>
            <p:cNvPr id="13" name="Ellipse 13"/>
            <p:cNvSpPr/>
            <p:nvPr/>
          </p:nvSpPr>
          <p:spPr>
            <a:xfrm>
              <a:off x="772478" y="2963227"/>
              <a:ext cx="59055" cy="59055"/>
            </a:xfrm>
            <a:prstGeom prst="ellipse">
              <a:avLst/>
            </a:prstGeom>
            <a:solidFill>
              <a:srgbClr val="5B3FA0"/>
            </a:solidFill>
            <a:ln>
              <a:noFill/>
            </a:ln>
          </p:spPr>
        </p:sp>
        <p:sp>
          <p:nvSpPr>
            <p:cNvPr id="14" name="TextBox 14"/>
            <p:cNvSpPr txBox="1"/>
            <p:nvPr/>
          </p:nvSpPr>
          <p:spPr>
            <a:xfrm>
              <a:off x="928497" y="2907030"/>
              <a:ext cx="157665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属于 </a:t>
              </a:r>
              <a:r>
                <a:rPr lang="zh-CN" sz="1350" b="1" dirty="0">
                  <a:solidFill>
                    <a:srgbClr val="C2410C"/>
                  </a:solidFill>
                  <a:latin typeface="+mn-lt"/>
                  <a:ea typeface="+mn-ea"/>
                  <a:cs typeface="+mn-cs"/>
                </a:rPr>
                <a:t>类行为型</a:t>
              </a:r>
              <a:r>
                <a:rPr lang="zh-CN" sz="1350" dirty="0">
                  <a:solidFill>
                    <a:srgbClr val="1F2937"/>
                  </a:solidFill>
                  <a:latin typeface="+mn-lt"/>
                  <a:ea typeface="+mn-ea"/>
                  <a:cs typeface="+mn-cs"/>
                </a:rPr>
                <a:t xml:space="preserve"> 模式</a:t>
              </a:r>
            </a:p>
          </p:txBody>
        </p:sp>
        <p:sp>
          <p:nvSpPr>
            <p:cNvPr id="15" name="Ellipse 15"/>
            <p:cNvSpPr/>
            <p:nvPr/>
          </p:nvSpPr>
          <p:spPr>
            <a:xfrm>
              <a:off x="772478" y="3266122"/>
              <a:ext cx="59055" cy="59055"/>
            </a:xfrm>
            <a:prstGeom prst="ellipse">
              <a:avLst/>
            </a:prstGeom>
            <a:solidFill>
              <a:srgbClr val="5B3FA0"/>
            </a:solidFill>
            <a:ln>
              <a:noFill/>
            </a:ln>
          </p:spPr>
        </p:sp>
        <p:sp>
          <p:nvSpPr>
            <p:cNvPr id="16" name="TextBox 16"/>
            <p:cNvSpPr txBox="1"/>
            <p:nvPr/>
          </p:nvSpPr>
          <p:spPr>
            <a:xfrm>
              <a:off x="928497" y="3209925"/>
              <a:ext cx="266707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 xml:space="preserve">是一种基于 </a:t>
              </a:r>
              <a:r>
                <a:rPr lang="zh-CN" sz="1350" b="1" dirty="0">
                  <a:solidFill>
                    <a:srgbClr val="1F2937"/>
                  </a:solidFill>
                  <a:latin typeface="+mn-lt"/>
                  <a:ea typeface="+mn-ea"/>
                  <a:cs typeface="+mn-cs"/>
                </a:rPr>
                <a:t>继承</a:t>
              </a:r>
              <a:r>
                <a:rPr lang="zh-CN" sz="1350" dirty="0">
                  <a:solidFill>
                    <a:srgbClr val="1F2937"/>
                  </a:solidFill>
                  <a:latin typeface="+mn-lt"/>
                  <a:ea typeface="+mn-ea"/>
                  <a:cs typeface="+mn-cs"/>
                </a:rPr>
                <a:t xml:space="preserve"> 的代码复用技术</a:t>
              </a:r>
            </a:p>
          </p:txBody>
        </p:sp>
      </p:grpSp>
      <p:grpSp>
        <p:nvGrpSpPr>
          <p:cNvPr id="26" name="c1-kv-2"/>
          <p:cNvGrpSpPr/>
          <p:nvPr/>
        </p:nvGrpSpPr>
        <p:grpSpPr>
          <a:xfrm>
            <a:off x="526542" y="3810000"/>
            <a:ext cx="5958078" cy="1567053"/>
            <a:chOff x="526542" y="3810000"/>
            <a:chExt cx="5958078" cy="1567053"/>
          </a:xfrm>
        </p:grpSpPr>
        <p:sp>
          <p:nvSpPr>
            <p:cNvPr id="18" name="TextBox 18"/>
            <p:cNvSpPr txBox="1"/>
            <p:nvPr/>
          </p:nvSpPr>
          <p:spPr>
            <a:xfrm>
              <a:off x="526542" y="3810000"/>
              <a:ext cx="1649349" cy="264033"/>
            </a:xfrm>
            <a:prstGeom prst="rect">
              <a:avLst/>
            </a:prstGeom>
            <a:noFill/>
            <a:ln>
              <a:noFill/>
            </a:ln>
          </p:spPr>
          <p:txBody>
            <a:bodyPr wrap="none" lIns="0" tIns="0" rIns="0" bIns="0" anchor="t" anchorCtr="0">
              <a:spAutoFit/>
            </a:bodyPr>
            <a:lstStyle/>
            <a:p>
              <a:pPr algn="l"/>
              <a:r>
                <a:rPr lang="zh-CN" sz="1350" b="1" dirty="0">
                  <a:solidFill>
                    <a:srgbClr val="5B3FA0"/>
                  </a:solidFill>
                  <a:latin typeface="+mn-lt"/>
                  <a:ea typeface="+mn-ea"/>
                  <a:cs typeface="+mn-cs"/>
                </a:rPr>
                <a:t>定义一个算法的框架</a:t>
              </a:r>
            </a:p>
          </p:txBody>
        </p:sp>
        <p:sp>
          <p:nvSpPr>
            <p:cNvPr id="19" name="TextBox 19"/>
            <p:cNvSpPr txBox="1"/>
            <p:nvPr/>
          </p:nvSpPr>
          <p:spPr>
            <a:xfrm>
              <a:off x="2549652" y="3810000"/>
              <a:ext cx="3614166" cy="517398"/>
            </a:xfrm>
            <a:prstGeom prst="rect">
              <a:avLst/>
            </a:prstGeom>
            <a:noFill/>
            <a:ln>
              <a:noFill/>
            </a:ln>
          </p:spPr>
          <p:txBody>
            <a:bodyPr wrap="none" lIns="0" tIns="0" rIns="0" bIns="0" anchor="t" anchorCtr="0">
              <a:spAutoFit/>
            </a:bodyPr>
            <a:lstStyle/>
            <a:p>
              <a:pPr algn="l">
                <a:lnSpc>
                  <a:spcPts val="1995"/>
                </a:lnSpc>
              </a:pPr>
              <a:r>
                <a:rPr lang="zh-CN" sz="1350" dirty="0">
                  <a:solidFill>
                    <a:srgbClr val="1F2937"/>
                  </a:solidFill>
                  <a:latin typeface="+mn-lt"/>
                  <a:ea typeface="+mn-ea"/>
                  <a:cs typeface="+mn-cs"/>
                </a:rPr>
                <a:t>框架就是那个模板方法，它写的是步骤的调用次</a:t>
              </a:r>
              <a:br/>
              <a:r>
                <a:rPr lang="zh-CN" sz="1350" dirty="0">
                  <a:solidFill>
                    <a:srgbClr val="1F2937"/>
                  </a:solidFill>
                  <a:latin typeface="+mn-lt"/>
                  <a:ea typeface="+mn-ea"/>
                  <a:cs typeface="+mn-cs"/>
                </a:rPr>
                <a:t>序</a:t>
              </a:r>
            </a:p>
          </p:txBody>
        </p:sp>
        <p:sp>
          <p:nvSpPr>
            <p:cNvPr id="20" name="Rectangle 20"/>
            <p:cNvSpPr/>
            <p:nvPr/>
          </p:nvSpPr>
          <p:spPr>
            <a:xfrm>
              <a:off x="533400" y="4352925"/>
              <a:ext cx="5951220" cy="9525"/>
            </a:xfrm>
            <a:prstGeom prst="rect">
              <a:avLst/>
            </a:prstGeom>
            <a:solidFill>
              <a:srgbClr val="D9DFEA"/>
            </a:solidFill>
            <a:ln>
              <a:noFill/>
            </a:ln>
          </p:spPr>
        </p:sp>
        <p:sp>
          <p:nvSpPr>
            <p:cNvPr id="21" name="TextBox 21"/>
            <p:cNvSpPr txBox="1"/>
            <p:nvPr/>
          </p:nvSpPr>
          <p:spPr>
            <a:xfrm>
              <a:off x="526542" y="4462462"/>
              <a:ext cx="1831086" cy="264033"/>
            </a:xfrm>
            <a:prstGeom prst="rect">
              <a:avLst/>
            </a:prstGeom>
            <a:noFill/>
            <a:ln>
              <a:noFill/>
            </a:ln>
          </p:spPr>
          <p:txBody>
            <a:bodyPr wrap="none" lIns="0" tIns="0" rIns="0" bIns="0" anchor="t" anchorCtr="0">
              <a:spAutoFit/>
            </a:bodyPr>
            <a:lstStyle/>
            <a:p>
              <a:pPr algn="l"/>
              <a:r>
                <a:rPr lang="zh-CN" sz="1350" b="1" dirty="0">
                  <a:solidFill>
                    <a:srgbClr val="5B3FA0"/>
                  </a:solidFill>
                  <a:latin typeface="+mn-lt"/>
                  <a:ea typeface="+mn-ea"/>
                  <a:cs typeface="+mn-cs"/>
                </a:rPr>
                <a:t>将一些步骤延迟到子类</a:t>
              </a:r>
            </a:p>
          </p:txBody>
        </p:sp>
        <p:sp>
          <p:nvSpPr>
            <p:cNvPr id="22" name="TextBox 22"/>
            <p:cNvSpPr txBox="1"/>
            <p:nvPr/>
          </p:nvSpPr>
          <p:spPr>
            <a:xfrm>
              <a:off x="2549652" y="4462462"/>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会变的步骤在父类只声明，实现交给具体子类</a:t>
              </a:r>
            </a:p>
          </p:txBody>
        </p:sp>
        <p:sp>
          <p:nvSpPr>
            <p:cNvPr id="23" name="Rectangle 23"/>
            <p:cNvSpPr/>
            <p:nvPr/>
          </p:nvSpPr>
          <p:spPr>
            <a:xfrm>
              <a:off x="533400" y="4751070"/>
              <a:ext cx="5951220" cy="9525"/>
            </a:xfrm>
            <a:prstGeom prst="rect">
              <a:avLst/>
            </a:prstGeom>
            <a:solidFill>
              <a:srgbClr val="D9DFEA"/>
            </a:solidFill>
            <a:ln>
              <a:noFill/>
            </a:ln>
          </p:spPr>
        </p:sp>
        <p:sp>
          <p:nvSpPr>
            <p:cNvPr id="24" name="TextBox 24"/>
            <p:cNvSpPr txBox="1"/>
            <p:nvPr/>
          </p:nvSpPr>
          <p:spPr>
            <a:xfrm>
              <a:off x="526542" y="4859655"/>
              <a:ext cx="1728216" cy="517398"/>
            </a:xfrm>
            <a:prstGeom prst="rect">
              <a:avLst/>
            </a:prstGeom>
            <a:noFill/>
            <a:ln>
              <a:noFill/>
            </a:ln>
          </p:spPr>
          <p:txBody>
            <a:bodyPr wrap="none" lIns="0" tIns="0" rIns="0" bIns="0" anchor="t" anchorCtr="0">
              <a:spAutoFit/>
            </a:bodyPr>
            <a:lstStyle/>
            <a:p>
              <a:pPr algn="l">
                <a:lnSpc>
                  <a:spcPts val="1995"/>
                </a:lnSpc>
              </a:pPr>
              <a:r>
                <a:rPr lang="zh-CN" sz="1350" b="1" dirty="0">
                  <a:solidFill>
                    <a:srgbClr val="5B3FA0"/>
                  </a:solidFill>
                  <a:latin typeface="+mn-lt"/>
                  <a:ea typeface="+mn-ea"/>
                  <a:cs typeface="+mn-cs"/>
                </a:rPr>
                <a:t>不改变算法结构即可重</a:t>
              </a:r>
              <a:br/>
              <a:r>
                <a:rPr lang="zh-CN" sz="1350" b="1" dirty="0">
                  <a:solidFill>
                    <a:srgbClr val="5B3FA0"/>
                  </a:solidFill>
                  <a:latin typeface="+mn-lt"/>
                  <a:ea typeface="+mn-ea"/>
                  <a:cs typeface="+mn-cs"/>
                </a:rPr>
                <a:t>定义</a:t>
              </a:r>
            </a:p>
          </p:txBody>
        </p:sp>
        <p:sp>
          <p:nvSpPr>
            <p:cNvPr id="25" name="TextBox 25"/>
            <p:cNvSpPr txBox="1"/>
            <p:nvPr/>
          </p:nvSpPr>
          <p:spPr>
            <a:xfrm>
              <a:off x="2549652" y="4859655"/>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子类覆盖的只是单个步骤，次序仍由父类说了算</a:t>
              </a:r>
            </a:p>
          </p:txBody>
        </p:sp>
      </p:grpSp>
      <p:grpSp>
        <p:nvGrpSpPr>
          <p:cNvPr id="34" name="c2-card-1"/>
          <p:cNvGrpSpPr/>
          <p:nvPr/>
        </p:nvGrpSpPr>
        <p:grpSpPr>
          <a:xfrm>
            <a:off x="6789420" y="1524000"/>
            <a:ext cx="4869180" cy="1490662"/>
            <a:chOff x="6789420" y="1524000"/>
            <a:chExt cx="4869180" cy="1490662"/>
          </a:xfrm>
        </p:grpSpPr>
        <p:sp>
          <p:nvSpPr>
            <p:cNvPr id="27" name="Rectangle 27"/>
            <p:cNvSpPr/>
            <p:nvPr/>
          </p:nvSpPr>
          <p:spPr>
            <a:xfrm>
              <a:off x="6789420" y="1524000"/>
              <a:ext cx="4869180" cy="1490662"/>
            </a:xfrm>
            <a:prstGeom prst="roundRect">
              <a:avLst>
                <a:gd name="adj" fmla="val 8946"/>
              </a:avLst>
            </a:prstGeom>
            <a:solidFill>
              <a:srgbClr val="FFFFFF"/>
            </a:solidFill>
            <a:ln w="14288">
              <a:solidFill>
                <a:srgbClr val="D9DFEA"/>
              </a:solidFill>
            </a:ln>
          </p:spPr>
        </p:sp>
        <p:sp>
          <p:nvSpPr>
            <p:cNvPr id="28" name="Rectangle 28"/>
            <p:cNvSpPr/>
            <p:nvPr/>
          </p:nvSpPr>
          <p:spPr>
            <a:xfrm>
              <a:off x="6798945" y="1657350"/>
              <a:ext cx="47625" cy="1223962"/>
            </a:xfrm>
            <a:prstGeom prst="roundRect">
              <a:avLst>
                <a:gd name="adj" fmla="val 50000"/>
              </a:avLst>
            </a:prstGeom>
            <a:solidFill>
              <a:srgbClr val="5B6475"/>
            </a:solidFill>
            <a:ln>
              <a:noFill/>
            </a:ln>
          </p:spPr>
        </p:sp>
        <p:sp>
          <p:nvSpPr>
            <p:cNvPr id="29" name="Rectangle 29"/>
            <p:cNvSpPr/>
            <p:nvPr/>
          </p:nvSpPr>
          <p:spPr>
            <a:xfrm>
              <a:off x="7019925" y="1716405"/>
              <a:ext cx="1409700" cy="247650"/>
            </a:xfrm>
            <a:prstGeom prst="roundRect">
              <a:avLst>
                <a:gd name="adj" fmla="val 50000"/>
              </a:avLst>
            </a:prstGeom>
            <a:solidFill>
              <a:srgbClr val="F4F6FB"/>
            </a:solidFill>
            <a:ln>
              <a:noFill/>
            </a:ln>
          </p:spPr>
        </p:sp>
        <p:sp>
          <p:nvSpPr>
            <p:cNvPr id="30" name="TextBox 30"/>
            <p:cNvSpPr txBox="1"/>
            <p:nvPr/>
          </p:nvSpPr>
          <p:spPr>
            <a:xfrm>
              <a:off x="7083362" y="1750695"/>
              <a:ext cx="1282827"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陈伟老师课件的表述</a:t>
              </a:r>
            </a:p>
          </p:txBody>
        </p:sp>
        <p:sp>
          <p:nvSpPr>
            <p:cNvPr id="31" name="TextBox 31"/>
            <p:cNvSpPr txBox="1"/>
            <p:nvPr/>
          </p:nvSpPr>
          <p:spPr>
            <a:xfrm>
              <a:off x="8537067" y="1756410"/>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同一个定义的另一种说法</a:t>
              </a:r>
            </a:p>
          </p:txBody>
        </p:sp>
        <p:sp>
          <p:nvSpPr>
            <p:cNvPr id="32" name="TextBox 32"/>
            <p:cNvSpPr txBox="1"/>
            <p:nvPr/>
          </p:nvSpPr>
          <p:spPr>
            <a:xfrm>
              <a:off x="7013067" y="2090738"/>
              <a:ext cx="41285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不改变操作的主体结构或过程，将其中的特定步骤或过</a:t>
              </a:r>
              <a:br/>
              <a:r>
                <a:rPr lang="zh-CN" sz="1350" dirty="0">
                  <a:solidFill>
                    <a:srgbClr val="1F2937"/>
                  </a:solidFill>
                  <a:latin typeface="+mn-lt"/>
                  <a:ea typeface="+mn-ea"/>
                  <a:cs typeface="+mn-cs"/>
                </a:rPr>
                <a:t>程延迟到子类中实现。</a:t>
              </a:r>
            </a:p>
          </p:txBody>
        </p:sp>
        <p:sp>
          <p:nvSpPr>
            <p:cNvPr id="33" name="TextBox 33"/>
            <p:cNvSpPr txBox="1"/>
            <p:nvPr/>
          </p:nvSpPr>
          <p:spPr>
            <a:xfrm>
              <a:off x="7014210" y="2646521"/>
              <a:ext cx="3780790"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主体结构就是算法框架，特定步骤就是可变的基本方法。</a:t>
              </a:r>
            </a:p>
          </p:txBody>
        </p:sp>
      </p:grpSp>
      <p:grpSp>
        <p:nvGrpSpPr>
          <p:cNvPr id="40" name="c2-card-2"/>
          <p:cNvGrpSpPr/>
          <p:nvPr/>
        </p:nvGrpSpPr>
        <p:grpSpPr>
          <a:xfrm>
            <a:off x="6789420" y="3189922"/>
            <a:ext cx="4869180" cy="1483995"/>
            <a:chOff x="6789420" y="3189922"/>
            <a:chExt cx="4869180" cy="1483995"/>
          </a:xfrm>
        </p:grpSpPr>
        <p:sp>
          <p:nvSpPr>
            <p:cNvPr id="35" name="Rectangle 35"/>
            <p:cNvSpPr/>
            <p:nvPr/>
          </p:nvSpPr>
          <p:spPr>
            <a:xfrm>
              <a:off x="6789420" y="3189922"/>
              <a:ext cx="4869180" cy="1483995"/>
            </a:xfrm>
            <a:prstGeom prst="roundRect">
              <a:avLst>
                <a:gd name="adj" fmla="val 8986"/>
              </a:avLst>
            </a:prstGeom>
            <a:solidFill>
              <a:srgbClr val="5B3FA0"/>
            </a:solidFill>
            <a:ln>
              <a:noFill/>
            </a:ln>
          </p:spPr>
        </p:sp>
        <p:sp>
          <p:nvSpPr>
            <p:cNvPr id="36" name="Rectangle 36"/>
            <p:cNvSpPr/>
            <p:nvPr/>
          </p:nvSpPr>
          <p:spPr>
            <a:xfrm>
              <a:off x="6981825" y="3382328"/>
              <a:ext cx="1276350" cy="247650"/>
            </a:xfrm>
            <a:prstGeom prst="roundRect">
              <a:avLst>
                <a:gd name="adj" fmla="val 50000"/>
              </a:avLst>
            </a:prstGeom>
            <a:solidFill>
              <a:srgbClr val="462F80"/>
            </a:solidFill>
            <a:ln>
              <a:noFill/>
            </a:ln>
          </p:spPr>
        </p:sp>
        <p:sp>
          <p:nvSpPr>
            <p:cNvPr id="37" name="TextBox 37"/>
            <p:cNvSpPr txBox="1"/>
            <p:nvPr/>
          </p:nvSpPr>
          <p:spPr>
            <a:xfrm>
              <a:off x="7049262" y="3416618"/>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为什么是类行为型</a:t>
              </a:r>
            </a:p>
          </p:txBody>
        </p:sp>
        <p:sp>
          <p:nvSpPr>
            <p:cNvPr id="38" name="TextBox 38"/>
            <p:cNvSpPr txBox="1"/>
            <p:nvPr/>
          </p:nvSpPr>
          <p:spPr>
            <a:xfrm>
              <a:off x="8365617" y="3421380"/>
              <a:ext cx="201282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它靠继承，不靠对象组合</a:t>
              </a:r>
            </a:p>
          </p:txBody>
        </p:sp>
        <p:sp>
          <p:nvSpPr>
            <p:cNvPr id="39" name="TextBox 39"/>
            <p:cNvSpPr txBox="1"/>
            <p:nvPr/>
          </p:nvSpPr>
          <p:spPr>
            <a:xfrm>
              <a:off x="6974967" y="3755708"/>
              <a:ext cx="429996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对象行为型模式在运行时把另一个对象装进来；模板方法</a:t>
              </a:r>
              <a:br/>
              <a:r>
                <a:rPr lang="zh-CN" sz="1350" dirty="0">
                  <a:solidFill>
                    <a:srgbClr val="FFFFFF"/>
                  </a:solidFill>
                  <a:latin typeface="+mn-lt"/>
                  <a:ea typeface="+mn-ea"/>
                  <a:cs typeface="+mn-cs"/>
                </a:rPr>
                <a:t>模式在编译期就由继承关系定好了谁实现哪一步，运行时</a:t>
              </a:r>
              <a:br/>
              <a:r>
                <a:rPr lang="zh-CN" sz="1350" dirty="0">
                  <a:solidFill>
                    <a:srgbClr val="FFFFFF"/>
                  </a:solidFill>
                  <a:latin typeface="+mn-lt"/>
                  <a:ea typeface="+mn-ea"/>
                  <a:cs typeface="+mn-cs"/>
                </a:rPr>
                <a:t>靠多态选中子类的版本。</a:t>
              </a:r>
            </a:p>
          </p:txBody>
        </p:sp>
      </p:grpSp>
      <p:grpSp>
        <p:nvGrpSpPr>
          <p:cNvPr id="47" name="c2-callout-3"/>
          <p:cNvGrpSpPr/>
          <p:nvPr/>
        </p:nvGrpSpPr>
        <p:grpSpPr>
          <a:xfrm>
            <a:off x="6789420" y="4848225"/>
            <a:ext cx="4869180" cy="729615"/>
            <a:chOff x="6789420" y="4848225"/>
            <a:chExt cx="4869180" cy="729615"/>
          </a:xfrm>
        </p:grpSpPr>
        <p:sp>
          <p:nvSpPr>
            <p:cNvPr id="41" name="Rectangle 41"/>
            <p:cNvSpPr/>
            <p:nvPr/>
          </p:nvSpPr>
          <p:spPr>
            <a:xfrm>
              <a:off x="6789420" y="4848225"/>
              <a:ext cx="4869180" cy="729615"/>
            </a:xfrm>
            <a:prstGeom prst="roundRect">
              <a:avLst>
                <a:gd name="adj" fmla="val 15666"/>
              </a:avLst>
            </a:prstGeom>
            <a:solidFill>
              <a:srgbClr val="FDEEE7"/>
            </a:solidFill>
            <a:ln>
              <a:noFill/>
            </a:ln>
          </p:spPr>
        </p:sp>
        <p:grpSp>
          <p:nvGrpSpPr>
            <p:cNvPr id="45" name="Group 45"/>
            <p:cNvGrpSpPr/>
            <p:nvPr/>
          </p:nvGrpSpPr>
          <p:grpSpPr>
            <a:xfrm>
              <a:off x="6994208" y="5113020"/>
              <a:ext cx="200026" cy="200025"/>
              <a:chOff x="6994208" y="5113020"/>
              <a:chExt cx="200026" cy="200025"/>
            </a:xfrm>
          </p:grpSpPr>
          <p:sp>
            <p:nvSpPr>
              <p:cNvPr id="42" name="Freeform 42"/>
              <p:cNvSpPr/>
              <p:nvPr/>
            </p:nvSpPr>
            <p:spPr>
              <a:xfrm>
                <a:off x="6994208" y="5113020"/>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3" name="Freeform 43"/>
              <p:cNvSpPr/>
              <p:nvPr/>
            </p:nvSpPr>
            <p:spPr>
              <a:xfrm>
                <a:off x="7033946" y="5157470"/>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4" name="Freeform 44"/>
              <p:cNvSpPr/>
              <p:nvPr/>
            </p:nvSpPr>
            <p:spPr>
              <a:xfrm>
                <a:off x="7068662" y="5268596"/>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6" name="TextBox 46"/>
            <p:cNvSpPr txBox="1"/>
            <p:nvPr/>
          </p:nvSpPr>
          <p:spPr>
            <a:xfrm>
              <a:off x="7296912" y="4994910"/>
              <a:ext cx="39570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C2410C"/>
                  </a:solidFill>
                  <a:latin typeface="+mn-lt"/>
                  <a:ea typeface="+mn-ea"/>
                  <a:cs typeface="+mn-cs"/>
                </a:rPr>
                <a:t>它是结构最简单的行为型模式，整个结构里只有父类</a:t>
              </a:r>
              <a:br/>
              <a:r>
                <a:rPr lang="zh-CN" sz="1350" dirty="0">
                  <a:solidFill>
                    <a:srgbClr val="C2410C"/>
                  </a:solidFill>
                  <a:latin typeface="+mn-lt"/>
                  <a:ea typeface="+mn-ea"/>
                  <a:cs typeface="+mn-cs"/>
                </a:rPr>
                <a:t>与子类之间的一条继承关系。</a:t>
              </a:r>
            </a:p>
          </p:txBody>
        </p:sp>
      </p:grpSp>
      <p:grpSp>
        <p:nvGrpSpPr>
          <p:cNvPr id="53" name="takeaway"/>
          <p:cNvGrpSpPr/>
          <p:nvPr/>
        </p:nvGrpSpPr>
        <p:grpSpPr>
          <a:xfrm>
            <a:off x="533400" y="5874068"/>
            <a:ext cx="11125200" cy="488632"/>
            <a:chOff x="533400" y="5874068"/>
            <a:chExt cx="11125200" cy="488632"/>
          </a:xfrm>
        </p:grpSpPr>
        <p:sp>
          <p:nvSpPr>
            <p:cNvPr id="48" name="Rectangle 48"/>
            <p:cNvSpPr/>
            <p:nvPr/>
          </p:nvSpPr>
          <p:spPr>
            <a:xfrm>
              <a:off x="533400" y="5874068"/>
              <a:ext cx="11125200" cy="488632"/>
            </a:xfrm>
            <a:prstGeom prst="roundRect">
              <a:avLst>
                <a:gd name="adj" fmla="val 23392"/>
              </a:avLst>
            </a:prstGeom>
            <a:solidFill>
              <a:srgbClr val="5B3FA0"/>
            </a:solidFill>
            <a:ln>
              <a:noFill/>
            </a:ln>
          </p:spPr>
        </p:sp>
        <p:grpSp>
          <p:nvGrpSpPr>
            <p:cNvPr id="51" name="Group 51"/>
            <p:cNvGrpSpPr/>
            <p:nvPr/>
          </p:nvGrpSpPr>
          <p:grpSpPr>
            <a:xfrm>
              <a:off x="738188" y="6017897"/>
              <a:ext cx="200023" cy="200023"/>
              <a:chOff x="738188" y="6017897"/>
              <a:chExt cx="200023" cy="200023"/>
            </a:xfrm>
          </p:grpSpPr>
          <p:sp>
            <p:nvSpPr>
              <p:cNvPr id="49" name="Freeform 49"/>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0" name="Freeform 50"/>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2" name="TextBox 52"/>
            <p:cNvSpPr txBox="1"/>
            <p:nvPr/>
          </p:nvSpPr>
          <p:spPr>
            <a:xfrm>
              <a:off x="1040892" y="6023610"/>
              <a:ext cx="564756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判定题眼：一组类的处理流程完全一样，只有当中一两步的做法不同。</a:t>
              </a:r>
            </a:p>
          </p:txBody>
        </p:sp>
      </p:grpSp>
      <p:grpSp>
        <p:nvGrpSpPr>
          <p:cNvPr id="56" name="footer"/>
          <p:cNvGrpSpPr/>
          <p:nvPr/>
        </p:nvGrpSpPr>
        <p:grpSpPr>
          <a:xfrm>
            <a:off x="528447" y="6581299"/>
            <a:ext cx="11135106" cy="190690"/>
            <a:chOff x="528447" y="6581299"/>
            <a:chExt cx="11135106" cy="190690"/>
          </a:xfrm>
        </p:grpSpPr>
        <p:sp>
          <p:nvSpPr>
            <p:cNvPr id="54" name="TextBox 54"/>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5" name="TextBox 55"/>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5B3FA0"/>
          </a:solidFill>
          <a:ln>
            <a:noFill/>
          </a:ln>
        </p:spPr>
      </p:sp>
      <p:sp>
        <p:nvSpPr>
          <p:cNvPr id="3" name="section-ring"/>
          <p:cNvSpPr/>
          <p:nvPr/>
        </p:nvSpPr>
        <p:spPr>
          <a:xfrm>
            <a:off x="7334250" y="190500"/>
            <a:ext cx="6477000" cy="6477000"/>
          </a:xfrm>
          <a:prstGeom prst="ellipse">
            <a:avLst/>
          </a:prstGeom>
          <a:noFill/>
          <a:ln w="133350">
            <a:solidFill>
              <a:srgbClr val="EEEAF7"/>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02</a:t>
              </a:r>
            </a:p>
          </p:txBody>
        </p:sp>
      </p:grpSp>
      <p:grpSp>
        <p:nvGrpSpPr>
          <p:cNvPr id="18" name="section-title"/>
          <p:cNvGrpSpPr/>
          <p:nvPr/>
        </p:nvGrpSpPr>
        <p:grpSpPr>
          <a:xfrm>
            <a:off x="667512" y="1835468"/>
            <a:ext cx="6821424" cy="3351847"/>
            <a:chOff x="667512" y="1835468"/>
            <a:chExt cx="682142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第二部分</a:t>
              </a:r>
            </a:p>
          </p:txBody>
        </p:sp>
        <p:sp>
          <p:nvSpPr>
            <p:cNvPr id="7" name="TextBox 7"/>
            <p:cNvSpPr txBox="1"/>
            <p:nvPr/>
          </p:nvSpPr>
          <p:spPr>
            <a:xfrm>
              <a:off x="667512" y="2240280"/>
              <a:ext cx="682142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结构、两个角色与三种基本方法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3348609"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从类图读到每个方法该写成什么样</a:t>
              </a:r>
            </a:p>
          </p:txBody>
        </p:sp>
        <p:sp>
          <p:nvSpPr>
            <p:cNvPr id="10" name="Ellipse 10"/>
            <p:cNvSpPr/>
            <p:nvPr/>
          </p:nvSpPr>
          <p:spPr>
            <a:xfrm>
              <a:off x="723900" y="3888105"/>
              <a:ext cx="76200" cy="76200"/>
            </a:xfrm>
            <a:prstGeom prst="ellipse">
              <a:avLst/>
            </a:prstGeom>
            <a:solidFill>
              <a:srgbClr val="5B3FA0"/>
            </a:solidFill>
            <a:ln>
              <a:noFill/>
            </a:ln>
          </p:spPr>
        </p:sp>
        <p:sp>
          <p:nvSpPr>
            <p:cNvPr id="11" name="TextBox 11"/>
            <p:cNvSpPr txBox="1"/>
            <p:nvPr/>
          </p:nvSpPr>
          <p:spPr>
            <a:xfrm>
              <a:off x="906780" y="383095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标准类图</a:t>
              </a:r>
            </a:p>
          </p:txBody>
        </p:sp>
        <p:sp>
          <p:nvSpPr>
            <p:cNvPr id="12" name="Ellipse 12"/>
            <p:cNvSpPr/>
            <p:nvPr/>
          </p:nvSpPr>
          <p:spPr>
            <a:xfrm>
              <a:off x="723900" y="4242435"/>
              <a:ext cx="76200" cy="76200"/>
            </a:xfrm>
            <a:prstGeom prst="ellipse">
              <a:avLst/>
            </a:prstGeom>
            <a:solidFill>
              <a:srgbClr val="5B3FA0"/>
            </a:solidFill>
            <a:ln>
              <a:noFill/>
            </a:ln>
          </p:spPr>
        </p:sp>
        <p:sp>
          <p:nvSpPr>
            <p:cNvPr id="13" name="TextBox 13"/>
            <p:cNvSpPr txBox="1"/>
            <p:nvPr/>
          </p:nvSpPr>
          <p:spPr>
            <a:xfrm>
              <a:off x="906780" y="4185285"/>
              <a:ext cx="315028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AbstractClass 与 ConcreteClass</a:t>
              </a:r>
            </a:p>
          </p:txBody>
        </p:sp>
        <p:sp>
          <p:nvSpPr>
            <p:cNvPr id="14" name="Ellipse 14"/>
            <p:cNvSpPr/>
            <p:nvPr/>
          </p:nvSpPr>
          <p:spPr>
            <a:xfrm>
              <a:off x="723900" y="4596765"/>
              <a:ext cx="76200" cy="76200"/>
            </a:xfrm>
            <a:prstGeom prst="ellipse">
              <a:avLst/>
            </a:prstGeom>
            <a:solidFill>
              <a:srgbClr val="5B3FA0"/>
            </a:solidFill>
            <a:ln>
              <a:noFill/>
            </a:ln>
          </p:spPr>
        </p:sp>
        <p:sp>
          <p:nvSpPr>
            <p:cNvPr id="15" name="TextBox 15"/>
            <p:cNvSpPr txBox="1"/>
            <p:nvPr/>
          </p:nvSpPr>
          <p:spPr>
            <a:xfrm>
              <a:off x="906780" y="453961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抽象方法与具体方法</a:t>
              </a:r>
            </a:p>
          </p:txBody>
        </p:sp>
        <p:sp>
          <p:nvSpPr>
            <p:cNvPr id="16" name="Ellipse 16"/>
            <p:cNvSpPr/>
            <p:nvPr/>
          </p:nvSpPr>
          <p:spPr>
            <a:xfrm>
              <a:off x="723900" y="4951095"/>
              <a:ext cx="76200" cy="76200"/>
            </a:xfrm>
            <a:prstGeom prst="ellipse">
              <a:avLst/>
            </a:prstGeom>
            <a:solidFill>
              <a:srgbClr val="5B3FA0"/>
            </a:solidFill>
            <a:ln>
              <a:noFill/>
            </a:ln>
          </p:spPr>
        </p:sp>
        <p:sp>
          <p:nvSpPr>
            <p:cNvPr id="17" name="TextBox 17"/>
            <p:cNvSpPr txBox="1"/>
            <p:nvPr/>
          </p:nvSpPr>
          <p:spPr>
            <a:xfrm>
              <a:off x="906780" y="489394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钩子方法与反向控制</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20" name="TextBox 2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结构、两个角色与三种基本方法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结构：一个抽象父类，若干具体子类</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161" y="1547336"/>
            <a:ext cx="8616696" cy="278702"/>
            <a:chOff x="526161" y="1547336"/>
            <a:chExt cx="8616696" cy="278702"/>
          </a:xfrm>
        </p:grpSpPr>
        <p:sp>
          <p:nvSpPr>
            <p:cNvPr id="7" name="TextBox 7"/>
            <p:cNvSpPr txBox="1"/>
            <p:nvPr/>
          </p:nvSpPr>
          <p:spPr>
            <a:xfrm>
              <a:off x="526161" y="1547336"/>
              <a:ext cx="8616696"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父类里既有模板方法，也有三种基本方法。子类只出现它真正要覆盖的那几个方法，模板方法不重写。</a:t>
              </a:r>
            </a:p>
          </p:txBody>
        </p:sp>
      </p:grpSp>
      <p:grpSp>
        <p:nvGrpSpPr>
          <p:cNvPr id="31" name="c1-uml-1"/>
          <p:cNvGrpSpPr/>
          <p:nvPr/>
        </p:nvGrpSpPr>
        <p:grpSpPr>
          <a:xfrm>
            <a:off x="1577340" y="2307908"/>
            <a:ext cx="9058959" cy="2851785"/>
            <a:chOff x="1577340" y="2307908"/>
            <a:chExt cx="9058959" cy="2851785"/>
          </a:xfrm>
        </p:grpSpPr>
        <p:sp>
          <p:nvSpPr>
            <p:cNvPr id="9" name="Freeform 9"/>
            <p:cNvSpPr/>
            <p:nvPr/>
          </p:nvSpPr>
          <p:spPr>
            <a:xfrm>
              <a:off x="2387918" y="3581400"/>
              <a:ext cx="3612832" cy="782955"/>
            </a:xfrm>
            <a:custGeom>
              <a:avLst/>
              <a:gdLst/>
              <a:ahLst/>
              <a:cxnLst/>
              <a:rect l="l" t="t" r="r" b="b"/>
              <a:pathLst>
                <a:path w="3612832" h="782955">
                  <a:moveTo>
                    <a:pt x="0" y="782955"/>
                  </a:moveTo>
                  <a:lnTo>
                    <a:pt x="0" y="328612"/>
                  </a:lnTo>
                  <a:lnTo>
                    <a:pt x="3612832" y="328612"/>
                  </a:lnTo>
                  <a:lnTo>
                    <a:pt x="3612832" y="0"/>
                  </a:lnTo>
                </a:path>
              </a:pathLst>
            </a:custGeom>
            <a:noFill/>
            <a:ln w="15240">
              <a:solidFill>
                <a:srgbClr val="1F2937"/>
              </a:solidFill>
            </a:ln>
          </p:spPr>
        </p:sp>
        <p:sp>
          <p:nvSpPr>
            <p:cNvPr id="10" name="Freeform 10"/>
            <p:cNvSpPr/>
            <p:nvPr/>
          </p:nvSpPr>
          <p:spPr>
            <a:xfrm>
              <a:off x="5927408" y="345567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6191250" y="3581400"/>
              <a:ext cx="3612832" cy="870585"/>
            </a:xfrm>
            <a:custGeom>
              <a:avLst/>
              <a:gdLst/>
              <a:ahLst/>
              <a:cxnLst/>
              <a:rect l="l" t="t" r="r" b="b"/>
              <a:pathLst>
                <a:path w="3612832" h="870585">
                  <a:moveTo>
                    <a:pt x="3612832" y="870585"/>
                  </a:moveTo>
                  <a:lnTo>
                    <a:pt x="3612832" y="372428"/>
                  </a:lnTo>
                  <a:lnTo>
                    <a:pt x="0" y="372428"/>
                  </a:lnTo>
                  <a:lnTo>
                    <a:pt x="0" y="0"/>
                  </a:lnTo>
                </a:path>
              </a:pathLst>
            </a:custGeom>
            <a:noFill/>
            <a:ln w="15240">
              <a:solidFill>
                <a:srgbClr val="1F2937"/>
              </a:solidFill>
            </a:ln>
          </p:spPr>
        </p:sp>
        <p:sp>
          <p:nvSpPr>
            <p:cNvPr id="12" name="Freeform 12"/>
            <p:cNvSpPr/>
            <p:nvPr/>
          </p:nvSpPr>
          <p:spPr>
            <a:xfrm>
              <a:off x="6117908" y="3455670"/>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13" name="Rectangle 13"/>
            <p:cNvSpPr/>
            <p:nvPr/>
          </p:nvSpPr>
          <p:spPr>
            <a:xfrm>
              <a:off x="4906328" y="2307908"/>
              <a:ext cx="2380298" cy="1146810"/>
            </a:xfrm>
            <a:prstGeom prst="rect">
              <a:avLst/>
            </a:prstGeom>
            <a:solidFill>
              <a:srgbClr val="FFFFFF"/>
            </a:solidFill>
            <a:ln w="14288">
              <a:solidFill>
                <a:srgbClr val="5B3FA0"/>
              </a:solidFill>
            </a:ln>
          </p:spPr>
        </p:sp>
        <p:sp>
          <p:nvSpPr>
            <p:cNvPr id="14" name="Rectangle 14"/>
            <p:cNvSpPr/>
            <p:nvPr/>
          </p:nvSpPr>
          <p:spPr>
            <a:xfrm>
              <a:off x="4912995" y="2315528"/>
              <a:ext cx="2366010" cy="245745"/>
            </a:xfrm>
            <a:prstGeom prst="rect">
              <a:avLst/>
            </a:prstGeom>
            <a:solidFill>
              <a:srgbClr val="EEEAF7"/>
            </a:solidFill>
            <a:ln>
              <a:noFill/>
            </a:ln>
          </p:spPr>
        </p:sp>
        <p:sp>
          <p:nvSpPr>
            <p:cNvPr id="15" name="Rectangle 15"/>
            <p:cNvSpPr/>
            <p:nvPr/>
          </p:nvSpPr>
          <p:spPr>
            <a:xfrm>
              <a:off x="4906328" y="2556510"/>
              <a:ext cx="2380298" cy="9525"/>
            </a:xfrm>
            <a:prstGeom prst="rect">
              <a:avLst/>
            </a:prstGeom>
            <a:solidFill>
              <a:srgbClr val="5B3FA0"/>
            </a:solidFill>
            <a:ln>
              <a:noFill/>
            </a:ln>
          </p:spPr>
        </p:sp>
        <p:sp>
          <p:nvSpPr>
            <p:cNvPr id="16" name="Rectangle 16"/>
            <p:cNvSpPr/>
            <p:nvPr/>
          </p:nvSpPr>
          <p:spPr>
            <a:xfrm>
              <a:off x="4906328" y="2651760"/>
              <a:ext cx="2380298" cy="9525"/>
            </a:xfrm>
            <a:prstGeom prst="rect">
              <a:avLst/>
            </a:prstGeom>
            <a:solidFill>
              <a:srgbClr val="5B3FA0"/>
            </a:solidFill>
            <a:ln>
              <a:noFill/>
            </a:ln>
          </p:spPr>
        </p:sp>
        <p:sp>
          <p:nvSpPr>
            <p:cNvPr id="17" name="Rectangle 17"/>
            <p:cNvSpPr/>
            <p:nvPr/>
          </p:nvSpPr>
          <p:spPr>
            <a:xfrm>
              <a:off x="1577340" y="4364355"/>
              <a:ext cx="1621155" cy="795338"/>
            </a:xfrm>
            <a:prstGeom prst="rect">
              <a:avLst/>
            </a:prstGeom>
            <a:solidFill>
              <a:srgbClr val="FFFFFF"/>
            </a:solidFill>
            <a:ln w="14288">
              <a:solidFill>
                <a:srgbClr val="5B3FA0"/>
              </a:solidFill>
            </a:ln>
          </p:spPr>
        </p:sp>
        <p:sp>
          <p:nvSpPr>
            <p:cNvPr id="18" name="Rectangle 18"/>
            <p:cNvSpPr/>
            <p:nvPr/>
          </p:nvSpPr>
          <p:spPr>
            <a:xfrm>
              <a:off x="1584008" y="4371975"/>
              <a:ext cx="1606868" cy="245745"/>
            </a:xfrm>
            <a:prstGeom prst="rect">
              <a:avLst/>
            </a:prstGeom>
            <a:solidFill>
              <a:srgbClr val="EEEAF7"/>
            </a:solidFill>
            <a:ln>
              <a:noFill/>
            </a:ln>
          </p:spPr>
        </p:sp>
        <p:sp>
          <p:nvSpPr>
            <p:cNvPr id="19" name="Rectangle 19"/>
            <p:cNvSpPr/>
            <p:nvPr/>
          </p:nvSpPr>
          <p:spPr>
            <a:xfrm>
              <a:off x="1577340" y="4612958"/>
              <a:ext cx="1621155" cy="9525"/>
            </a:xfrm>
            <a:prstGeom prst="rect">
              <a:avLst/>
            </a:prstGeom>
            <a:solidFill>
              <a:srgbClr val="5B3FA0"/>
            </a:solidFill>
            <a:ln>
              <a:noFill/>
            </a:ln>
          </p:spPr>
        </p:sp>
        <p:sp>
          <p:nvSpPr>
            <p:cNvPr id="20" name="Rectangle 20"/>
            <p:cNvSpPr/>
            <p:nvPr/>
          </p:nvSpPr>
          <p:spPr>
            <a:xfrm>
              <a:off x="1577340" y="4708208"/>
              <a:ext cx="1621155" cy="9525"/>
            </a:xfrm>
            <a:prstGeom prst="rect">
              <a:avLst/>
            </a:prstGeom>
            <a:solidFill>
              <a:srgbClr val="5B3FA0"/>
            </a:solidFill>
            <a:ln>
              <a:noFill/>
            </a:ln>
          </p:spPr>
        </p:sp>
        <p:sp>
          <p:nvSpPr>
            <p:cNvPr id="21" name="Rectangle 21"/>
            <p:cNvSpPr/>
            <p:nvPr/>
          </p:nvSpPr>
          <p:spPr>
            <a:xfrm>
              <a:off x="8993505" y="4451985"/>
              <a:ext cx="1621155" cy="620078"/>
            </a:xfrm>
            <a:prstGeom prst="rect">
              <a:avLst/>
            </a:prstGeom>
            <a:solidFill>
              <a:srgbClr val="FFFFFF"/>
            </a:solidFill>
            <a:ln w="14288">
              <a:solidFill>
                <a:srgbClr val="5B3FA0"/>
              </a:solidFill>
            </a:ln>
          </p:spPr>
        </p:sp>
        <p:sp>
          <p:nvSpPr>
            <p:cNvPr id="22" name="Rectangle 22"/>
            <p:cNvSpPr/>
            <p:nvPr/>
          </p:nvSpPr>
          <p:spPr>
            <a:xfrm>
              <a:off x="9001125" y="4459605"/>
              <a:ext cx="1606868" cy="245745"/>
            </a:xfrm>
            <a:prstGeom prst="rect">
              <a:avLst/>
            </a:prstGeom>
            <a:solidFill>
              <a:srgbClr val="EEEAF7"/>
            </a:solidFill>
            <a:ln>
              <a:noFill/>
            </a:ln>
          </p:spPr>
        </p:sp>
        <p:sp>
          <p:nvSpPr>
            <p:cNvPr id="23" name="Rectangle 23"/>
            <p:cNvSpPr/>
            <p:nvPr/>
          </p:nvSpPr>
          <p:spPr>
            <a:xfrm>
              <a:off x="8993505" y="4700588"/>
              <a:ext cx="1621155" cy="9525"/>
            </a:xfrm>
            <a:prstGeom prst="rect">
              <a:avLst/>
            </a:prstGeom>
            <a:solidFill>
              <a:srgbClr val="5B3FA0"/>
            </a:solidFill>
            <a:ln>
              <a:noFill/>
            </a:ln>
          </p:spPr>
        </p:sp>
        <p:sp>
          <p:nvSpPr>
            <p:cNvPr id="24" name="Rectangle 24"/>
            <p:cNvSpPr/>
            <p:nvPr/>
          </p:nvSpPr>
          <p:spPr>
            <a:xfrm>
              <a:off x="8993505" y="4795838"/>
              <a:ext cx="1621155" cy="9525"/>
            </a:xfrm>
            <a:prstGeom prst="rect">
              <a:avLst/>
            </a:prstGeom>
            <a:solidFill>
              <a:srgbClr val="5B3FA0"/>
            </a:solidFill>
            <a:ln>
              <a:noFill/>
            </a:ln>
          </p:spPr>
        </p:sp>
        <p:sp>
          <p:nvSpPr>
            <p:cNvPr id="25" name="TextBox 25"/>
            <p:cNvSpPr txBox="1"/>
            <p:nvPr/>
          </p:nvSpPr>
          <p:spPr>
            <a:xfrm>
              <a:off x="5574163" y="2367915"/>
              <a:ext cx="1043674" cy="205359"/>
            </a:xfrm>
            <a:prstGeom prst="rect">
              <a:avLst/>
            </a:prstGeom>
            <a:noFill/>
            <a:ln>
              <a:noFill/>
            </a:ln>
          </p:spPr>
          <p:txBody>
            <a:bodyPr wrap="none" lIns="0" tIns="0" rIns="0" bIns="0" anchor="t" anchorCtr="0">
              <a:spAutoFit/>
            </a:bodyPr>
            <a:lstStyle/>
            <a:p>
              <a:pPr algn="ctr"/>
              <a:r>
                <a:rPr lang="en-US" sz="1050" b="1" i="1" dirty="0">
                  <a:solidFill>
                    <a:srgbClr val="462F80"/>
                  </a:solidFill>
                  <a:latin typeface="+mn-lt"/>
                  <a:ea typeface="+mn-ea"/>
                  <a:cs typeface="+mn-cs"/>
                </a:rPr>
                <a:t>AbstractClass</a:t>
              </a:r>
            </a:p>
          </p:txBody>
        </p:sp>
        <p:sp>
          <p:nvSpPr>
            <p:cNvPr id="26" name="TextBox 26"/>
            <p:cNvSpPr txBox="1"/>
            <p:nvPr/>
          </p:nvSpPr>
          <p:spPr>
            <a:xfrm>
              <a:off x="4977574" y="2722721"/>
              <a:ext cx="2200402" cy="719328"/>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 templateMethod()</a:t>
              </a:r>
              <a:br/>
              <a:r>
                <a:rPr lang="en-US" sz="980" dirty="0">
                  <a:solidFill>
                    <a:srgbClr val="1F2937"/>
                  </a:solidFill>
                  <a:latin typeface="+mn-lt"/>
                  <a:ea typeface="+mn-ea"/>
                  <a:cs typeface="+mn-cs"/>
                </a:rPr>
                <a:t>+ primitiveOperation1()</a:t>
              </a:r>
              <a:br/>
              <a:r>
                <a:rPr lang="en-US" sz="980" dirty="0">
                  <a:solidFill>
                    <a:srgbClr val="1F2937"/>
                  </a:solidFill>
                  <a:latin typeface="+mn-lt"/>
                  <a:ea typeface="+mn-ea"/>
                  <a:cs typeface="+mn-cs"/>
                </a:rPr>
                <a:t># primitiveOperation2() {abstract}</a:t>
              </a:r>
              <a:br/>
              <a:r>
                <a:rPr lang="en-US" sz="980" dirty="0">
                  <a:solidFill>
                    <a:srgbClr val="1F2937"/>
                  </a:solidFill>
                  <a:latin typeface="+mn-lt"/>
                  <a:ea typeface="+mn-ea"/>
                  <a:cs typeface="+mn-cs"/>
                </a:rPr>
                <a:t># primitiveOperation3() {hook}</a:t>
              </a:r>
            </a:p>
          </p:txBody>
        </p:sp>
        <p:sp>
          <p:nvSpPr>
            <p:cNvPr id="27" name="TextBox 27"/>
            <p:cNvSpPr txBox="1"/>
            <p:nvPr/>
          </p:nvSpPr>
          <p:spPr>
            <a:xfrm>
              <a:off x="1823019" y="4424362"/>
              <a:ext cx="1129798" cy="205359"/>
            </a:xfrm>
            <a:prstGeom prst="rect">
              <a:avLst/>
            </a:prstGeom>
            <a:noFill/>
            <a:ln>
              <a:noFill/>
            </a:ln>
          </p:spPr>
          <p:txBody>
            <a:bodyPr wrap="none" lIns="0" tIns="0" rIns="0" bIns="0" anchor="t" anchorCtr="0">
              <a:spAutoFit/>
            </a:bodyPr>
            <a:lstStyle/>
            <a:p>
              <a:pPr algn="ctr"/>
              <a:r>
                <a:rPr lang="en-US" sz="1050" b="1" dirty="0">
                  <a:solidFill>
                    <a:srgbClr val="462F80"/>
                  </a:solidFill>
                  <a:latin typeface="+mn-lt"/>
                  <a:ea typeface="+mn-ea"/>
                  <a:cs typeface="+mn-cs"/>
                </a:rPr>
                <a:t>ConcreteClassA</a:t>
              </a:r>
            </a:p>
          </p:txBody>
        </p:sp>
        <p:sp>
          <p:nvSpPr>
            <p:cNvPr id="28" name="TextBox 28"/>
            <p:cNvSpPr txBox="1"/>
            <p:nvPr/>
          </p:nvSpPr>
          <p:spPr>
            <a:xfrm>
              <a:off x="1648587" y="4779169"/>
              <a:ext cx="1478534" cy="366903"/>
            </a:xfrm>
            <a:prstGeom prst="rect">
              <a:avLst/>
            </a:prstGeom>
            <a:noFill/>
            <a:ln>
              <a:noFill/>
            </a:ln>
          </p:spPr>
          <p:txBody>
            <a:bodyPr wrap="none" lIns="0" tIns="0" rIns="0" bIns="0" anchor="t" anchorCtr="0">
              <a:spAutoFit/>
            </a:bodyPr>
            <a:lstStyle/>
            <a:p>
              <a:pPr algn="l">
                <a:lnSpc>
                  <a:spcPts val="1388"/>
                </a:lnSpc>
              </a:pPr>
              <a:r>
                <a:rPr lang="en-US" sz="980" dirty="0">
                  <a:solidFill>
                    <a:srgbClr val="1F2937"/>
                  </a:solidFill>
                  <a:latin typeface="+mn-lt"/>
                  <a:ea typeface="+mn-ea"/>
                  <a:cs typeface="+mn-cs"/>
                </a:rPr>
                <a:t># primitiveOperation2()</a:t>
              </a:r>
              <a:br/>
              <a:r>
                <a:rPr lang="en-US" sz="980" dirty="0">
                  <a:solidFill>
                    <a:srgbClr val="1F2937"/>
                  </a:solidFill>
                  <a:latin typeface="+mn-lt"/>
                  <a:ea typeface="+mn-ea"/>
                  <a:cs typeface="+mn-cs"/>
                </a:rPr>
                <a:t># primitiveOperation3()</a:t>
              </a:r>
            </a:p>
          </p:txBody>
        </p:sp>
        <p:sp>
          <p:nvSpPr>
            <p:cNvPr id="29" name="TextBox 29"/>
            <p:cNvSpPr txBox="1"/>
            <p:nvPr/>
          </p:nvSpPr>
          <p:spPr>
            <a:xfrm>
              <a:off x="9239184" y="4511992"/>
              <a:ext cx="1129798" cy="205359"/>
            </a:xfrm>
            <a:prstGeom prst="rect">
              <a:avLst/>
            </a:prstGeom>
            <a:noFill/>
            <a:ln>
              <a:noFill/>
            </a:ln>
          </p:spPr>
          <p:txBody>
            <a:bodyPr wrap="none" lIns="0" tIns="0" rIns="0" bIns="0" anchor="t" anchorCtr="0">
              <a:spAutoFit/>
            </a:bodyPr>
            <a:lstStyle/>
            <a:p>
              <a:pPr algn="ctr"/>
              <a:r>
                <a:rPr lang="en-US" sz="1050" b="1" dirty="0">
                  <a:solidFill>
                    <a:srgbClr val="462F80"/>
                  </a:solidFill>
                  <a:latin typeface="+mn-lt"/>
                  <a:ea typeface="+mn-ea"/>
                  <a:cs typeface="+mn-cs"/>
                </a:rPr>
                <a:t>ConcreteClassB</a:t>
              </a:r>
            </a:p>
          </p:txBody>
        </p:sp>
        <p:sp>
          <p:nvSpPr>
            <p:cNvPr id="30" name="TextBox 30"/>
            <p:cNvSpPr txBox="1"/>
            <p:nvPr/>
          </p:nvSpPr>
          <p:spPr>
            <a:xfrm>
              <a:off x="9064752" y="4866799"/>
              <a:ext cx="1571547" cy="190690"/>
            </a:xfrm>
            <a:prstGeom prst="rect">
              <a:avLst/>
            </a:prstGeom>
            <a:noFill/>
            <a:ln>
              <a:noFill/>
            </a:ln>
          </p:spPr>
          <p:txBody>
            <a:bodyPr wrap="none" lIns="0" tIns="0" rIns="0" bIns="0" anchor="t" anchorCtr="0">
              <a:spAutoFit/>
            </a:bodyPr>
            <a:lstStyle/>
            <a:p>
              <a:pPr algn="l"/>
              <a:r>
                <a:rPr lang="en-US" sz="980" dirty="0">
                  <a:solidFill>
                    <a:srgbClr val="1F2937"/>
                  </a:solidFill>
                  <a:latin typeface="+mn-lt"/>
                  <a:ea typeface="+mn-ea"/>
                  <a:cs typeface="+mn-cs"/>
                </a:rPr>
                <a:t># primitiveOperation2()</a:t>
              </a:r>
            </a:p>
          </p:txBody>
        </p:sp>
      </p:grpSp>
      <p:grpSp>
        <p:nvGrpSpPr>
          <p:cNvPr id="38" name="takeaway"/>
          <p:cNvGrpSpPr/>
          <p:nvPr/>
        </p:nvGrpSpPr>
        <p:grpSpPr>
          <a:xfrm>
            <a:off x="533400" y="5874068"/>
            <a:ext cx="11125200" cy="488632"/>
            <a:chOff x="533400" y="5874068"/>
            <a:chExt cx="11125200" cy="488632"/>
          </a:xfrm>
        </p:grpSpPr>
        <p:sp>
          <p:nvSpPr>
            <p:cNvPr id="32" name="Rectangle 32"/>
            <p:cNvSpPr/>
            <p:nvPr/>
          </p:nvSpPr>
          <p:spPr>
            <a:xfrm>
              <a:off x="533400" y="5874068"/>
              <a:ext cx="11125200" cy="488632"/>
            </a:xfrm>
            <a:prstGeom prst="roundRect">
              <a:avLst>
                <a:gd name="adj" fmla="val 23392"/>
              </a:avLst>
            </a:prstGeom>
            <a:solidFill>
              <a:srgbClr val="F4F6FB"/>
            </a:solidFill>
            <a:ln>
              <a:noFill/>
            </a:ln>
          </p:spPr>
        </p:sp>
        <p:grpSp>
          <p:nvGrpSpPr>
            <p:cNvPr id="36" name="Group 36"/>
            <p:cNvGrpSpPr/>
            <p:nvPr/>
          </p:nvGrpSpPr>
          <p:grpSpPr>
            <a:xfrm>
              <a:off x="738188" y="6017895"/>
              <a:ext cx="200026" cy="200026"/>
              <a:chOff x="738188" y="6017895"/>
              <a:chExt cx="200026" cy="200026"/>
            </a:xfrm>
          </p:grpSpPr>
          <p:sp>
            <p:nvSpPr>
              <p:cNvPr id="33" name="Freeform 33"/>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4" name="Freeform 34"/>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5" name="Freeform 35"/>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7" name="TextBox 37"/>
            <p:cNvSpPr txBox="1"/>
            <p:nvPr/>
          </p:nvSpPr>
          <p:spPr>
            <a:xfrm>
              <a:off x="1040892" y="6023610"/>
              <a:ext cx="821539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ConcreteClassB 没有覆盖钩子方法 primitiveOperation3()，它执行的就是父类给的那个默认实现。</a:t>
              </a:r>
            </a:p>
          </p:txBody>
        </p:sp>
      </p:grpSp>
      <p:grpSp>
        <p:nvGrpSpPr>
          <p:cNvPr id="41" name="footer"/>
          <p:cNvGrpSpPr/>
          <p:nvPr/>
        </p:nvGrpSpPr>
        <p:grpSpPr>
          <a:xfrm>
            <a:off x="528447" y="6581299"/>
            <a:ext cx="11135106" cy="190690"/>
            <a:chOff x="528447" y="6581299"/>
            <a:chExt cx="11135106" cy="190690"/>
          </a:xfrm>
        </p:grpSpPr>
        <p:sp>
          <p:nvSpPr>
            <p:cNvPr id="39" name="TextBox 3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40" name="TextBox 40"/>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结构、两个角色与三种基本方法</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两个角色，以及模板方法的四条性质</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22" name="c1-table-1"/>
          <p:cNvGrpSpPr/>
          <p:nvPr/>
        </p:nvGrpSpPr>
        <p:grpSpPr>
          <a:xfrm>
            <a:off x="533400" y="1524000"/>
            <a:ext cx="5842635" cy="1330642"/>
            <a:chOff x="533400" y="1524000"/>
            <a:chExt cx="5842635" cy="1330642"/>
          </a:xfrm>
        </p:grpSpPr>
        <p:sp>
          <p:nvSpPr>
            <p:cNvPr id="7" name="Rectangle 7"/>
            <p:cNvSpPr/>
            <p:nvPr/>
          </p:nvSpPr>
          <p:spPr>
            <a:xfrm>
              <a:off x="533400" y="1524000"/>
              <a:ext cx="5842635" cy="381000"/>
            </a:xfrm>
            <a:prstGeom prst="rect">
              <a:avLst/>
            </a:prstGeom>
            <a:solidFill>
              <a:srgbClr val="5B3FA0"/>
            </a:solidFill>
            <a:ln>
              <a:noFill/>
            </a:ln>
          </p:spPr>
        </p:sp>
        <p:sp>
          <p:nvSpPr>
            <p:cNvPr id="8" name="TextBox 8"/>
            <p:cNvSpPr txBox="1"/>
            <p:nvPr/>
          </p:nvSpPr>
          <p:spPr>
            <a:xfrm>
              <a:off x="1145857" y="1641157"/>
              <a:ext cx="293370"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角色</a:t>
              </a:r>
            </a:p>
          </p:txBody>
        </p:sp>
        <p:sp>
          <p:nvSpPr>
            <p:cNvPr id="9" name="TextBox 9"/>
            <p:cNvSpPr txBox="1"/>
            <p:nvPr/>
          </p:nvSpPr>
          <p:spPr>
            <a:xfrm>
              <a:off x="2758059" y="1641157"/>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它是什么</a:t>
              </a:r>
            </a:p>
          </p:txBody>
        </p:sp>
        <p:sp>
          <p:nvSpPr>
            <p:cNvPr id="10" name="TextBox 10"/>
            <p:cNvSpPr txBox="1"/>
            <p:nvPr/>
          </p:nvSpPr>
          <p:spPr>
            <a:xfrm>
              <a:off x="4849558" y="1641157"/>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里面有什么</a:t>
              </a:r>
            </a:p>
          </p:txBody>
        </p:sp>
        <p:sp>
          <p:nvSpPr>
            <p:cNvPr id="11" name="TextBox 11"/>
            <p:cNvSpPr txBox="1"/>
            <p:nvPr/>
          </p:nvSpPr>
          <p:spPr>
            <a:xfrm>
              <a:off x="628078" y="2023110"/>
              <a:ext cx="104367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AbstractClass</a:t>
              </a:r>
            </a:p>
          </p:txBody>
        </p:sp>
        <p:sp>
          <p:nvSpPr>
            <p:cNvPr id="12" name="TextBox 12"/>
            <p:cNvSpPr txBox="1"/>
            <p:nvPr/>
          </p:nvSpPr>
          <p:spPr>
            <a:xfrm>
              <a:off x="2147316" y="2023110"/>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抽象类，定义算法的框架</a:t>
              </a:r>
            </a:p>
          </p:txBody>
        </p:sp>
        <p:sp>
          <p:nvSpPr>
            <p:cNvPr id="13" name="TextBox 13"/>
            <p:cNvSpPr txBox="1"/>
            <p:nvPr/>
          </p:nvSpPr>
          <p:spPr>
            <a:xfrm>
              <a:off x="4134231" y="2023110"/>
              <a:ext cx="213093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一个模板方法，加上一组基本方法</a:t>
              </a:r>
            </a:p>
          </p:txBody>
        </p:sp>
        <p:sp>
          <p:nvSpPr>
            <p:cNvPr id="14" name="Rectangle 14"/>
            <p:cNvSpPr/>
            <p:nvPr/>
          </p:nvSpPr>
          <p:spPr>
            <a:xfrm>
              <a:off x="533400" y="2282190"/>
              <a:ext cx="5842635" cy="9525"/>
            </a:xfrm>
            <a:prstGeom prst="rect">
              <a:avLst/>
            </a:prstGeom>
            <a:solidFill>
              <a:srgbClr val="D9DFEA"/>
            </a:solidFill>
            <a:ln>
              <a:noFill/>
            </a:ln>
          </p:spPr>
        </p:sp>
        <p:sp>
          <p:nvSpPr>
            <p:cNvPr id="15" name="Rectangle 15"/>
            <p:cNvSpPr/>
            <p:nvPr/>
          </p:nvSpPr>
          <p:spPr>
            <a:xfrm>
              <a:off x="533400" y="2286952"/>
              <a:ext cx="5842635" cy="567690"/>
            </a:xfrm>
            <a:prstGeom prst="rect">
              <a:avLst/>
            </a:prstGeom>
            <a:solidFill>
              <a:srgbClr val="F4F6FB"/>
            </a:solidFill>
            <a:ln>
              <a:noFill/>
            </a:ln>
          </p:spPr>
        </p:sp>
        <p:sp>
          <p:nvSpPr>
            <p:cNvPr id="16" name="TextBox 16"/>
            <p:cNvSpPr txBox="1"/>
            <p:nvPr/>
          </p:nvSpPr>
          <p:spPr>
            <a:xfrm>
              <a:off x="628078" y="2497455"/>
              <a:ext cx="104367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ConcreteClass</a:t>
              </a:r>
            </a:p>
          </p:txBody>
        </p:sp>
        <p:sp>
          <p:nvSpPr>
            <p:cNvPr id="17" name="TextBox 17"/>
            <p:cNvSpPr txBox="1"/>
            <p:nvPr/>
          </p:nvSpPr>
          <p:spPr>
            <a:xfrm>
              <a:off x="2147316" y="2404110"/>
              <a:ext cx="161086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具体子类，实现算法中可变</a:t>
              </a:r>
              <a:br/>
              <a:r>
                <a:rPr lang="zh-CN" sz="1050" dirty="0">
                  <a:solidFill>
                    <a:srgbClr val="1F2937"/>
                  </a:solidFill>
                  <a:latin typeface="+mn-lt"/>
                  <a:ea typeface="+mn-ea"/>
                  <a:cs typeface="+mn-cs"/>
                </a:rPr>
                <a:t>的步骤</a:t>
              </a:r>
            </a:p>
          </p:txBody>
        </p:sp>
        <p:sp>
          <p:nvSpPr>
            <p:cNvPr id="18" name="TextBox 18"/>
            <p:cNvSpPr txBox="1"/>
            <p:nvPr/>
          </p:nvSpPr>
          <p:spPr>
            <a:xfrm>
              <a:off x="4134231" y="2404110"/>
              <a:ext cx="2010918" cy="392049"/>
            </a:xfrm>
            <a:prstGeom prst="rect">
              <a:avLst/>
            </a:prstGeom>
            <a:noFill/>
            <a:ln>
              <a:noFill/>
            </a:ln>
          </p:spPr>
          <p:txBody>
            <a:bodyPr wrap="none" lIns="0" tIns="0" rIns="0" bIns="0" anchor="t" anchorCtr="0">
              <a:spAutoFit/>
            </a:bodyPr>
            <a:lstStyle/>
            <a:p>
              <a:pPr algn="l">
                <a:lnSpc>
                  <a:spcPts val="1470"/>
                </a:lnSpc>
              </a:pPr>
              <a:r>
                <a:rPr lang="zh-CN" sz="1050" dirty="0">
                  <a:solidFill>
                    <a:srgbClr val="1F2937"/>
                  </a:solidFill>
                  <a:latin typeface="+mn-lt"/>
                  <a:ea typeface="+mn-ea"/>
                  <a:cs typeface="+mn-cs"/>
                </a:rPr>
                <a:t>实现抽象基本方法，也可覆盖已有</a:t>
              </a:r>
              <a:br/>
              <a:r>
                <a:rPr lang="zh-CN" sz="1050" dirty="0">
                  <a:solidFill>
                    <a:srgbClr val="1F2937"/>
                  </a:solidFill>
                  <a:latin typeface="+mn-lt"/>
                  <a:ea typeface="+mn-ea"/>
                  <a:cs typeface="+mn-cs"/>
                </a:rPr>
                <a:t>的具体方法</a:t>
              </a:r>
            </a:p>
          </p:txBody>
        </p:sp>
        <p:sp>
          <p:nvSpPr>
            <p:cNvPr id="19" name="Rectangle 19"/>
            <p:cNvSpPr/>
            <p:nvPr/>
          </p:nvSpPr>
          <p:spPr>
            <a:xfrm>
              <a:off x="533400" y="1524000"/>
              <a:ext cx="5842635" cy="1330642"/>
            </a:xfrm>
            <a:prstGeom prst="rect">
              <a:avLst/>
            </a:prstGeom>
            <a:noFill/>
            <a:ln w="14288">
              <a:solidFill>
                <a:srgbClr val="D9DFEA"/>
              </a:solidFill>
            </a:ln>
          </p:spPr>
        </p:sp>
        <p:sp>
          <p:nvSpPr>
            <p:cNvPr id="20" name="Rectangle 20"/>
            <p:cNvSpPr/>
            <p:nvPr/>
          </p:nvSpPr>
          <p:spPr>
            <a:xfrm>
              <a:off x="2047875" y="1524000"/>
              <a:ext cx="9525" cy="1330642"/>
            </a:xfrm>
            <a:prstGeom prst="rect">
              <a:avLst/>
            </a:prstGeom>
            <a:solidFill>
              <a:srgbClr val="D9DFEA"/>
            </a:solidFill>
            <a:ln>
              <a:noFill/>
            </a:ln>
          </p:spPr>
        </p:sp>
        <p:sp>
          <p:nvSpPr>
            <p:cNvPr id="21" name="Rectangle 21"/>
            <p:cNvSpPr/>
            <p:nvPr/>
          </p:nvSpPr>
          <p:spPr>
            <a:xfrm>
              <a:off x="4034790" y="1524000"/>
              <a:ext cx="9525" cy="1330642"/>
            </a:xfrm>
            <a:prstGeom prst="rect">
              <a:avLst/>
            </a:prstGeom>
            <a:solidFill>
              <a:srgbClr val="D9DFEA"/>
            </a:solidFill>
            <a:ln>
              <a:noFill/>
            </a:ln>
          </p:spPr>
        </p:sp>
      </p:grpSp>
      <p:grpSp>
        <p:nvGrpSpPr>
          <p:cNvPr id="30" name="c1-card-2"/>
          <p:cNvGrpSpPr/>
          <p:nvPr/>
        </p:nvGrpSpPr>
        <p:grpSpPr>
          <a:xfrm>
            <a:off x="533400" y="3019425"/>
            <a:ext cx="5842635" cy="2173605"/>
            <a:chOff x="533400" y="3019425"/>
            <a:chExt cx="5842635" cy="2173605"/>
          </a:xfrm>
        </p:grpSpPr>
        <p:sp>
          <p:nvSpPr>
            <p:cNvPr id="23" name="Rectangle 23"/>
            <p:cNvSpPr/>
            <p:nvPr/>
          </p:nvSpPr>
          <p:spPr>
            <a:xfrm>
              <a:off x="533400" y="3019425"/>
              <a:ext cx="5842635" cy="2173605"/>
            </a:xfrm>
            <a:prstGeom prst="roundRect">
              <a:avLst>
                <a:gd name="adj" fmla="val 6135"/>
              </a:avLst>
            </a:prstGeom>
            <a:solidFill>
              <a:srgbClr val="FFFFFF"/>
            </a:solidFill>
            <a:ln w="14288">
              <a:solidFill>
                <a:srgbClr val="D9DFEA"/>
              </a:solidFill>
            </a:ln>
          </p:spPr>
        </p:sp>
        <p:sp>
          <p:nvSpPr>
            <p:cNvPr id="24" name="Rectangle 24"/>
            <p:cNvSpPr/>
            <p:nvPr/>
          </p:nvSpPr>
          <p:spPr>
            <a:xfrm>
              <a:off x="542925" y="3152775"/>
              <a:ext cx="47625" cy="1906905"/>
            </a:xfrm>
            <a:prstGeom prst="roundRect">
              <a:avLst>
                <a:gd name="adj" fmla="val 50000"/>
              </a:avLst>
            </a:prstGeom>
            <a:solidFill>
              <a:srgbClr val="5B6475"/>
            </a:solidFill>
            <a:ln>
              <a:noFill/>
            </a:ln>
          </p:spPr>
        </p:sp>
        <p:sp>
          <p:nvSpPr>
            <p:cNvPr id="25" name="Rectangle 25"/>
            <p:cNvSpPr/>
            <p:nvPr/>
          </p:nvSpPr>
          <p:spPr>
            <a:xfrm>
              <a:off x="752475" y="3200400"/>
              <a:ext cx="458152" cy="238125"/>
            </a:xfrm>
            <a:prstGeom prst="roundRect">
              <a:avLst>
                <a:gd name="adj" fmla="val 50000"/>
              </a:avLst>
            </a:prstGeom>
            <a:solidFill>
              <a:srgbClr val="F4F6FB"/>
            </a:solidFill>
            <a:ln>
              <a:noFill/>
            </a:ln>
          </p:spPr>
        </p:sp>
        <p:sp>
          <p:nvSpPr>
            <p:cNvPr id="26" name="TextBox 26"/>
            <p:cNvSpPr txBox="1"/>
            <p:nvPr/>
          </p:nvSpPr>
          <p:spPr>
            <a:xfrm>
              <a:off x="845147" y="3233261"/>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27" name="TextBox 27"/>
            <p:cNvSpPr txBox="1"/>
            <p:nvPr/>
          </p:nvSpPr>
          <p:spPr>
            <a:xfrm>
              <a:off x="1318450" y="3239929"/>
              <a:ext cx="242534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源课件结构图里子类列错了方法</a:t>
              </a:r>
            </a:p>
          </p:txBody>
        </p:sp>
        <p:sp>
          <p:nvSpPr>
            <p:cNvPr id="28" name="TextBox 28"/>
            <p:cNvSpPr txBox="1"/>
            <p:nvPr/>
          </p:nvSpPr>
          <p:spPr>
            <a:xfrm>
              <a:off x="745998" y="3557111"/>
              <a:ext cx="5101082"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张欣佳老师第 8 页的结构图给 ConcreteClass 列的是</a:t>
              </a:r>
              <a:br/>
              <a:r>
                <a:rPr lang="en-US" sz="1280" dirty="0">
                  <a:solidFill>
                    <a:srgbClr val="462F80"/>
                  </a:solidFill>
                  <a:latin typeface="+mn-lt"/>
                  <a:ea typeface="+mn-ea"/>
                  <a:cs typeface="+mn-cs"/>
                </a:rPr>
                <a:t>primitiveOperation1()</a:t>
              </a:r>
              <a:r>
                <a:rPr lang="zh-CN" sz="1280" dirty="0">
                  <a:solidFill>
                    <a:srgbClr val="1F2937"/>
                  </a:solidFill>
                  <a:latin typeface="+mn-lt"/>
                  <a:ea typeface="+mn-ea"/>
                  <a:cs typeface="+mn-cs"/>
                </a:rPr>
                <a:t xml:space="preserve"> 和 </a:t>
              </a:r>
              <a:r>
                <a:rPr lang="en-US" sz="1280" dirty="0">
                  <a:solidFill>
                    <a:srgbClr val="462F80"/>
                  </a:solidFill>
                  <a:latin typeface="+mn-lt"/>
                  <a:ea typeface="+mn-ea"/>
                  <a:cs typeface="+mn-cs"/>
                </a:rPr>
                <a:t>primitiveOperation2()</a:t>
              </a:r>
              <a:r>
                <a:rPr lang="zh-CN" sz="1280" dirty="0">
                  <a:solidFill>
                    <a:srgbClr val="1F2937"/>
                  </a:solidFill>
                  <a:latin typeface="+mn-lt"/>
                  <a:ea typeface="+mn-ea"/>
                  <a:cs typeface="+mn-cs"/>
                </a:rPr>
                <a:t>，与第 15、16 页</a:t>
              </a:r>
              <a:br/>
              <a:r>
                <a:rPr lang="zh-CN" sz="1280" dirty="0">
                  <a:solidFill>
                    <a:srgbClr val="1F2937"/>
                  </a:solidFill>
                  <a:latin typeface="+mn-lt"/>
                  <a:ea typeface="+mn-ea"/>
                  <a:cs typeface="+mn-cs"/>
                </a:rPr>
                <a:t>的典型代码对不上。</a:t>
              </a:r>
            </a:p>
          </p:txBody>
        </p:sp>
        <p:sp>
          <p:nvSpPr>
            <p:cNvPr id="29" name="TextBox 29"/>
            <p:cNvSpPr txBox="1"/>
            <p:nvPr/>
          </p:nvSpPr>
          <p:spPr>
            <a:xfrm>
              <a:off x="745998" y="4327684"/>
              <a:ext cx="5141722"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代码里 </a:t>
              </a:r>
              <a:r>
                <a:rPr lang="en-US" sz="1280" dirty="0">
                  <a:solidFill>
                    <a:srgbClr val="462F80"/>
                  </a:solidFill>
                  <a:latin typeface="+mn-lt"/>
                  <a:ea typeface="+mn-ea"/>
                  <a:cs typeface="+mn-cs"/>
                </a:rPr>
                <a:t>primitiveOperation1()</a:t>
              </a:r>
              <a:r>
                <a:rPr lang="zh-CN" sz="1280" dirty="0">
                  <a:solidFill>
                    <a:srgbClr val="1F2937"/>
                  </a:solidFill>
                  <a:latin typeface="+mn-lt"/>
                  <a:ea typeface="+mn-ea"/>
                  <a:cs typeface="+mn-cs"/>
                </a:rPr>
                <a:t xml:space="preserve"> 是父类已实现的具体方法，子类要覆盖</a:t>
              </a:r>
              <a:br/>
              <a:r>
                <a:rPr lang="zh-CN" sz="1280" dirty="0">
                  <a:solidFill>
                    <a:srgbClr val="1F2937"/>
                  </a:solidFill>
                  <a:latin typeface="+mn-lt"/>
                  <a:ea typeface="+mn-ea"/>
                  <a:cs typeface="+mn-cs"/>
                </a:rPr>
                <a:t xml:space="preserve">的是抽象方法 </a:t>
              </a:r>
              <a:r>
                <a:rPr lang="en-US" sz="1280" dirty="0">
                  <a:solidFill>
                    <a:srgbClr val="462F80"/>
                  </a:solidFill>
                  <a:latin typeface="+mn-lt"/>
                  <a:ea typeface="+mn-ea"/>
                  <a:cs typeface="+mn-cs"/>
                </a:rPr>
                <a:t>primitiveOperation2()</a:t>
              </a:r>
              <a:r>
                <a:rPr lang="zh-CN" sz="1280" dirty="0">
                  <a:solidFill>
                    <a:srgbClr val="1F2937"/>
                  </a:solidFill>
                  <a:latin typeface="+mn-lt"/>
                  <a:ea typeface="+mn-ea"/>
                  <a:cs typeface="+mn-cs"/>
                </a:rPr>
                <a:t xml:space="preserve"> 和钩子方法</a:t>
              </a:r>
              <a:br/>
              <a:r>
                <a:rPr lang="en-US" sz="1280" dirty="0">
                  <a:solidFill>
                    <a:srgbClr val="462F80"/>
                  </a:solidFill>
                  <a:latin typeface="+mn-lt"/>
                  <a:ea typeface="+mn-ea"/>
                  <a:cs typeface="+mn-cs"/>
                </a:rPr>
                <a:t>primitiveOperation3()</a:t>
              </a:r>
              <a:r>
                <a:rPr lang="zh-CN" sz="1280" dirty="0">
                  <a:solidFill>
                    <a:srgbClr val="1F2937"/>
                  </a:solidFill>
                  <a:latin typeface="+mn-lt"/>
                  <a:ea typeface="+mn-ea"/>
                  <a:cs typeface="+mn-cs"/>
                </a:rPr>
                <a:t>。上一页的类图按代码画。</a:t>
              </a:r>
            </a:p>
          </p:txBody>
        </p:sp>
      </p:grpSp>
      <p:grpSp>
        <p:nvGrpSpPr>
          <p:cNvPr id="37" name="c1-callout-3"/>
          <p:cNvGrpSpPr/>
          <p:nvPr/>
        </p:nvGrpSpPr>
        <p:grpSpPr>
          <a:xfrm>
            <a:off x="533400" y="5358765"/>
            <a:ext cx="5842635" cy="702945"/>
            <a:chOff x="533400" y="5358765"/>
            <a:chExt cx="5842635" cy="702945"/>
          </a:xfrm>
        </p:grpSpPr>
        <p:sp>
          <p:nvSpPr>
            <p:cNvPr id="31" name="Rectangle 31"/>
            <p:cNvSpPr/>
            <p:nvPr/>
          </p:nvSpPr>
          <p:spPr>
            <a:xfrm>
              <a:off x="533400" y="5358765"/>
              <a:ext cx="5842635" cy="702945"/>
            </a:xfrm>
            <a:prstGeom prst="roundRect">
              <a:avLst>
                <a:gd name="adj" fmla="val 16260"/>
              </a:avLst>
            </a:prstGeom>
            <a:solidFill>
              <a:srgbClr val="FDEEE7"/>
            </a:solidFill>
            <a:ln>
              <a:noFill/>
            </a:ln>
          </p:spPr>
        </p:sp>
        <p:grpSp>
          <p:nvGrpSpPr>
            <p:cNvPr id="35" name="Group 35"/>
            <p:cNvGrpSpPr/>
            <p:nvPr/>
          </p:nvGrpSpPr>
          <p:grpSpPr>
            <a:xfrm>
              <a:off x="738188" y="5609273"/>
              <a:ext cx="200026" cy="200025"/>
              <a:chOff x="738188" y="5609273"/>
              <a:chExt cx="200026" cy="200025"/>
            </a:xfrm>
          </p:grpSpPr>
          <p:sp>
            <p:nvSpPr>
              <p:cNvPr id="32" name="Freeform 32"/>
              <p:cNvSpPr/>
              <p:nvPr/>
            </p:nvSpPr>
            <p:spPr>
              <a:xfrm>
                <a:off x="738188" y="560927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3" name="Freeform 33"/>
              <p:cNvSpPr/>
              <p:nvPr/>
            </p:nvSpPr>
            <p:spPr>
              <a:xfrm>
                <a:off x="777926" y="565372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4" name="Freeform 34"/>
              <p:cNvSpPr/>
              <p:nvPr/>
            </p:nvSpPr>
            <p:spPr>
              <a:xfrm>
                <a:off x="812642" y="576484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36" name="TextBox 36"/>
            <p:cNvSpPr txBox="1"/>
            <p:nvPr/>
          </p:nvSpPr>
          <p:spPr>
            <a:xfrm>
              <a:off x="1041273" y="5503069"/>
              <a:ext cx="488975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两个角色是最少配置。实际工程里具体子类往往有好几个，抽象父类</a:t>
              </a:r>
              <a:br/>
              <a:r>
                <a:rPr lang="zh-CN" sz="1280" dirty="0">
                  <a:solidFill>
                    <a:srgbClr val="C2410C"/>
                  </a:solidFill>
                  <a:latin typeface="+mn-lt"/>
                  <a:ea typeface="+mn-ea"/>
                  <a:cs typeface="+mn-cs"/>
                </a:rPr>
                <a:t>始终只有一个。</a:t>
              </a:r>
            </a:p>
          </p:txBody>
        </p:sp>
      </p:grpSp>
      <p:grpSp>
        <p:nvGrpSpPr>
          <p:cNvPr id="59" name="c2-bullets-1"/>
          <p:cNvGrpSpPr/>
          <p:nvPr/>
        </p:nvGrpSpPr>
        <p:grpSpPr>
          <a:xfrm>
            <a:off x="6674358" y="1545431"/>
            <a:ext cx="4578668" cy="2275618"/>
            <a:chOff x="6674358" y="1545431"/>
            <a:chExt cx="4578668" cy="2275618"/>
          </a:xfrm>
        </p:grpSpPr>
        <p:sp>
          <p:nvSpPr>
            <p:cNvPr id="38" name="TextBox 38"/>
            <p:cNvSpPr txBox="1"/>
            <p:nvPr/>
          </p:nvSpPr>
          <p:spPr>
            <a:xfrm>
              <a:off x="6674358" y="1545431"/>
              <a:ext cx="1563776" cy="249364"/>
            </a:xfrm>
            <a:prstGeom prst="rect">
              <a:avLst/>
            </a:prstGeom>
            <a:noFill/>
            <a:ln>
              <a:noFill/>
            </a:ln>
          </p:spPr>
          <p:txBody>
            <a:bodyPr wrap="none" lIns="0" tIns="0" rIns="0" bIns="0" anchor="t" anchorCtr="0">
              <a:spAutoFit/>
            </a:bodyPr>
            <a:lstStyle/>
            <a:p>
              <a:pPr algn="l"/>
              <a:r>
                <a:rPr lang="zh-CN" sz="1280" b="1" dirty="0">
                  <a:solidFill>
                    <a:srgbClr val="5B3FA0"/>
                  </a:solidFill>
                  <a:latin typeface="+mn-lt"/>
                  <a:ea typeface="+mn-ea"/>
                  <a:cs typeface="+mn-cs"/>
                </a:rPr>
                <a:t>模板方法的四条性质</a:t>
              </a:r>
            </a:p>
          </p:txBody>
        </p:sp>
        <p:sp>
          <p:nvSpPr>
            <p:cNvPr id="39" name="Ellipse 39"/>
            <p:cNvSpPr/>
            <p:nvPr/>
          </p:nvSpPr>
          <p:spPr>
            <a:xfrm>
              <a:off x="6681788" y="1835468"/>
              <a:ext cx="180975" cy="180975"/>
            </a:xfrm>
            <a:prstGeom prst="ellipse">
              <a:avLst/>
            </a:prstGeom>
            <a:solidFill>
              <a:srgbClr val="5B3FA0"/>
            </a:solidFill>
            <a:ln>
              <a:noFill/>
            </a:ln>
          </p:spPr>
        </p:sp>
        <p:sp>
          <p:nvSpPr>
            <p:cNvPr id="40" name="TextBox 40"/>
            <p:cNvSpPr txBox="1"/>
            <p:nvPr/>
          </p:nvSpPr>
          <p:spPr>
            <a:xfrm>
              <a:off x="6733694" y="187013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41" name="TextBox 41"/>
            <p:cNvSpPr txBox="1"/>
            <p:nvPr/>
          </p:nvSpPr>
          <p:spPr>
            <a:xfrm>
              <a:off x="6951536" y="1846421"/>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定义在抽象类中</a:t>
              </a:r>
            </a:p>
          </p:txBody>
        </p:sp>
        <p:sp>
          <p:nvSpPr>
            <p:cNvPr id="42" name="Rectangle 42"/>
            <p:cNvSpPr/>
            <p:nvPr/>
          </p:nvSpPr>
          <p:spPr>
            <a:xfrm>
              <a:off x="6958012" y="2153602"/>
              <a:ext cx="60008" cy="19050"/>
            </a:xfrm>
            <a:prstGeom prst="rect">
              <a:avLst/>
            </a:prstGeom>
            <a:solidFill>
              <a:srgbClr val="5B6475"/>
            </a:solidFill>
            <a:ln>
              <a:noFill/>
            </a:ln>
          </p:spPr>
        </p:sp>
        <p:sp>
          <p:nvSpPr>
            <p:cNvPr id="43" name="TextBox 43"/>
            <p:cNvSpPr txBox="1"/>
            <p:nvPr/>
          </p:nvSpPr>
          <p:spPr>
            <a:xfrm>
              <a:off x="7143179" y="2095500"/>
              <a:ext cx="3544443"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把基本操作方法组合起来，形成一个总算法或一个总行为</a:t>
              </a:r>
            </a:p>
          </p:txBody>
        </p:sp>
        <p:sp>
          <p:nvSpPr>
            <p:cNvPr id="44" name="Ellipse 44"/>
            <p:cNvSpPr/>
            <p:nvPr/>
          </p:nvSpPr>
          <p:spPr>
            <a:xfrm>
              <a:off x="6681788" y="2342198"/>
              <a:ext cx="180975" cy="180975"/>
            </a:xfrm>
            <a:prstGeom prst="ellipse">
              <a:avLst/>
            </a:prstGeom>
            <a:solidFill>
              <a:srgbClr val="5B3FA0"/>
            </a:solidFill>
            <a:ln>
              <a:noFill/>
            </a:ln>
          </p:spPr>
        </p:sp>
        <p:sp>
          <p:nvSpPr>
            <p:cNvPr id="45" name="TextBox 45"/>
            <p:cNvSpPr txBox="1"/>
            <p:nvPr/>
          </p:nvSpPr>
          <p:spPr>
            <a:xfrm>
              <a:off x="6733694" y="237686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46" name="TextBox 46"/>
            <p:cNvSpPr txBox="1"/>
            <p:nvPr/>
          </p:nvSpPr>
          <p:spPr>
            <a:xfrm>
              <a:off x="6951536" y="2353151"/>
              <a:ext cx="1219149"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由子类完全继承</a:t>
              </a:r>
            </a:p>
          </p:txBody>
        </p:sp>
        <p:sp>
          <p:nvSpPr>
            <p:cNvPr id="47" name="Rectangle 47"/>
            <p:cNvSpPr/>
            <p:nvPr/>
          </p:nvSpPr>
          <p:spPr>
            <a:xfrm>
              <a:off x="6958012" y="2660332"/>
              <a:ext cx="60008" cy="19050"/>
            </a:xfrm>
            <a:prstGeom prst="rect">
              <a:avLst/>
            </a:prstGeom>
            <a:solidFill>
              <a:srgbClr val="5B6475"/>
            </a:solidFill>
            <a:ln>
              <a:noFill/>
            </a:ln>
          </p:spPr>
        </p:sp>
        <p:sp>
          <p:nvSpPr>
            <p:cNvPr id="48" name="TextBox 48"/>
            <p:cNvSpPr txBox="1"/>
            <p:nvPr/>
          </p:nvSpPr>
          <p:spPr>
            <a:xfrm>
              <a:off x="7143179" y="2602230"/>
              <a:ext cx="2413635"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子类不加修改地继承下来，不去重写它</a:t>
              </a:r>
            </a:p>
          </p:txBody>
        </p:sp>
        <p:sp>
          <p:nvSpPr>
            <p:cNvPr id="49" name="Ellipse 49"/>
            <p:cNvSpPr/>
            <p:nvPr/>
          </p:nvSpPr>
          <p:spPr>
            <a:xfrm>
              <a:off x="6681788" y="2848928"/>
              <a:ext cx="180975" cy="180975"/>
            </a:xfrm>
            <a:prstGeom prst="ellipse">
              <a:avLst/>
            </a:prstGeom>
            <a:solidFill>
              <a:srgbClr val="5B3FA0"/>
            </a:solidFill>
            <a:ln>
              <a:noFill/>
            </a:ln>
          </p:spPr>
        </p:sp>
        <p:sp>
          <p:nvSpPr>
            <p:cNvPr id="50" name="TextBox 50"/>
            <p:cNvSpPr txBox="1"/>
            <p:nvPr/>
          </p:nvSpPr>
          <p:spPr>
            <a:xfrm>
              <a:off x="6733694" y="288455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51" name="TextBox 51"/>
            <p:cNvSpPr txBox="1"/>
            <p:nvPr/>
          </p:nvSpPr>
          <p:spPr>
            <a:xfrm>
              <a:off x="6951536" y="2859881"/>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它本身是具体方法</a:t>
              </a:r>
            </a:p>
          </p:txBody>
        </p:sp>
        <p:sp>
          <p:nvSpPr>
            <p:cNvPr id="52" name="Rectangle 52"/>
            <p:cNvSpPr/>
            <p:nvPr/>
          </p:nvSpPr>
          <p:spPr>
            <a:xfrm>
              <a:off x="6958012" y="3167062"/>
              <a:ext cx="60008" cy="19050"/>
            </a:xfrm>
            <a:prstGeom prst="rect">
              <a:avLst/>
            </a:prstGeom>
            <a:solidFill>
              <a:srgbClr val="5B6475"/>
            </a:solidFill>
            <a:ln>
              <a:noFill/>
            </a:ln>
          </p:spPr>
        </p:sp>
        <p:sp>
          <p:nvSpPr>
            <p:cNvPr id="53" name="TextBox 53"/>
            <p:cNvSpPr txBox="1"/>
            <p:nvPr/>
          </p:nvSpPr>
          <p:spPr>
            <a:xfrm>
              <a:off x="7143179" y="3108960"/>
              <a:ext cx="4109847"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给出顶层逻辑框架；组成步骤可以是具体方法，也可以是抽象方法</a:t>
              </a:r>
            </a:p>
          </p:txBody>
        </p:sp>
        <p:sp>
          <p:nvSpPr>
            <p:cNvPr id="54" name="Ellipse 54"/>
            <p:cNvSpPr/>
            <p:nvPr/>
          </p:nvSpPr>
          <p:spPr>
            <a:xfrm>
              <a:off x="6681788" y="3355658"/>
              <a:ext cx="180975" cy="180975"/>
            </a:xfrm>
            <a:prstGeom prst="ellipse">
              <a:avLst/>
            </a:prstGeom>
            <a:solidFill>
              <a:srgbClr val="5B3FA0"/>
            </a:solidFill>
            <a:ln>
              <a:noFill/>
            </a:ln>
          </p:spPr>
        </p:sp>
        <p:sp>
          <p:nvSpPr>
            <p:cNvPr id="55" name="TextBox 55"/>
            <p:cNvSpPr txBox="1"/>
            <p:nvPr/>
          </p:nvSpPr>
          <p:spPr>
            <a:xfrm>
              <a:off x="6733694" y="339128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56" name="TextBox 56"/>
            <p:cNvSpPr txBox="1"/>
            <p:nvPr/>
          </p:nvSpPr>
          <p:spPr>
            <a:xfrm>
              <a:off x="6951536" y="3366611"/>
              <a:ext cx="156377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所以抽象层是抽象类</a:t>
              </a:r>
            </a:p>
          </p:txBody>
        </p:sp>
        <p:sp>
          <p:nvSpPr>
            <p:cNvPr id="57" name="Rectangle 57"/>
            <p:cNvSpPr/>
            <p:nvPr/>
          </p:nvSpPr>
          <p:spPr>
            <a:xfrm>
              <a:off x="6958012" y="3673792"/>
              <a:ext cx="60008" cy="19050"/>
            </a:xfrm>
            <a:prstGeom prst="rect">
              <a:avLst/>
            </a:prstGeom>
            <a:solidFill>
              <a:srgbClr val="5B6475"/>
            </a:solidFill>
            <a:ln>
              <a:noFill/>
            </a:ln>
          </p:spPr>
        </p:sp>
        <p:sp>
          <p:nvSpPr>
            <p:cNvPr id="58" name="TextBox 58"/>
            <p:cNvSpPr txBox="1"/>
            <p:nvPr/>
          </p:nvSpPr>
          <p:spPr>
            <a:xfrm>
              <a:off x="7143179" y="3615690"/>
              <a:ext cx="3120390" cy="205359"/>
            </a:xfrm>
            <a:prstGeom prst="rect">
              <a:avLst/>
            </a:prstGeom>
            <a:noFill/>
            <a:ln>
              <a:noFill/>
            </a:ln>
          </p:spPr>
          <p:txBody>
            <a:bodyPr wrap="none" lIns="0" tIns="0" rIns="0" bIns="0" anchor="t" anchorCtr="0">
              <a:spAutoFit/>
            </a:bodyPr>
            <a:lstStyle/>
            <a:p>
              <a:pPr algn="l"/>
              <a:r>
                <a:rPr lang="zh-CN" sz="1050" dirty="0">
                  <a:solidFill>
                    <a:srgbClr val="5B6475"/>
                  </a:solidFill>
                  <a:latin typeface="+mn-lt"/>
                  <a:ea typeface="+mn-ea"/>
                  <a:cs typeface="+mn-cs"/>
                </a:rPr>
                <a:t>模板方法要有方法体，接口装不下，只能用抽象类</a:t>
              </a:r>
            </a:p>
          </p:txBody>
        </p:sp>
      </p:grpSp>
      <p:grpSp>
        <p:nvGrpSpPr>
          <p:cNvPr id="67" name="c2-card-2"/>
          <p:cNvGrpSpPr/>
          <p:nvPr/>
        </p:nvGrpSpPr>
        <p:grpSpPr>
          <a:xfrm>
            <a:off x="6680835" y="3944302"/>
            <a:ext cx="4977765" cy="2116455"/>
            <a:chOff x="6680835" y="3944302"/>
            <a:chExt cx="4977765" cy="2116455"/>
          </a:xfrm>
        </p:grpSpPr>
        <p:sp>
          <p:nvSpPr>
            <p:cNvPr id="60" name="Rectangle 60"/>
            <p:cNvSpPr/>
            <p:nvPr/>
          </p:nvSpPr>
          <p:spPr>
            <a:xfrm>
              <a:off x="6680835" y="3944302"/>
              <a:ext cx="4977765" cy="2116455"/>
            </a:xfrm>
            <a:prstGeom prst="roundRect">
              <a:avLst>
                <a:gd name="adj" fmla="val 6301"/>
              </a:avLst>
            </a:prstGeom>
            <a:solidFill>
              <a:srgbClr val="FFFFFF"/>
            </a:solidFill>
            <a:ln w="14288">
              <a:solidFill>
                <a:srgbClr val="D9DFEA"/>
              </a:solidFill>
            </a:ln>
          </p:spPr>
        </p:sp>
        <p:sp>
          <p:nvSpPr>
            <p:cNvPr id="61" name="Rectangle 61"/>
            <p:cNvSpPr/>
            <p:nvPr/>
          </p:nvSpPr>
          <p:spPr>
            <a:xfrm>
              <a:off x="6690360" y="4077652"/>
              <a:ext cx="47625" cy="1849755"/>
            </a:xfrm>
            <a:prstGeom prst="roundRect">
              <a:avLst>
                <a:gd name="adj" fmla="val 50000"/>
              </a:avLst>
            </a:prstGeom>
            <a:solidFill>
              <a:srgbClr val="5B6475"/>
            </a:solidFill>
            <a:ln>
              <a:noFill/>
            </a:ln>
          </p:spPr>
        </p:sp>
        <p:sp>
          <p:nvSpPr>
            <p:cNvPr id="62" name="Rectangle 62"/>
            <p:cNvSpPr/>
            <p:nvPr/>
          </p:nvSpPr>
          <p:spPr>
            <a:xfrm>
              <a:off x="6899910" y="4125278"/>
              <a:ext cx="458152" cy="238125"/>
            </a:xfrm>
            <a:prstGeom prst="roundRect">
              <a:avLst>
                <a:gd name="adj" fmla="val 50000"/>
              </a:avLst>
            </a:prstGeom>
            <a:solidFill>
              <a:srgbClr val="F4F6FB"/>
            </a:solidFill>
            <a:ln>
              <a:noFill/>
            </a:ln>
          </p:spPr>
        </p:sp>
        <p:sp>
          <p:nvSpPr>
            <p:cNvPr id="63" name="TextBox 63"/>
            <p:cNvSpPr txBox="1"/>
            <p:nvPr/>
          </p:nvSpPr>
          <p:spPr>
            <a:xfrm>
              <a:off x="6992582" y="4158139"/>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补充</a:t>
              </a:r>
            </a:p>
          </p:txBody>
        </p:sp>
        <p:sp>
          <p:nvSpPr>
            <p:cNvPr id="64" name="TextBox 64"/>
            <p:cNvSpPr txBox="1"/>
            <p:nvPr/>
          </p:nvSpPr>
          <p:spPr>
            <a:xfrm>
              <a:off x="7466838" y="4164806"/>
              <a:ext cx="240582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第四条在 Java 8 之后要加一句</a:t>
              </a:r>
            </a:p>
          </p:txBody>
        </p:sp>
        <p:sp>
          <p:nvSpPr>
            <p:cNvPr id="65" name="TextBox 65"/>
            <p:cNvSpPr txBox="1"/>
            <p:nvPr/>
          </p:nvSpPr>
          <p:spPr>
            <a:xfrm>
              <a:off x="6893433" y="4481989"/>
              <a:ext cx="419074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源课件的结论对 C# 和 Java 7 成立。Java 8 起接口可以写</a:t>
              </a:r>
              <a:br/>
              <a:r>
                <a:rPr lang="en-US" sz="1280" dirty="0">
                  <a:solidFill>
                    <a:srgbClr val="462F80"/>
                  </a:solidFill>
                  <a:latin typeface="+mn-lt"/>
                  <a:ea typeface="+mn-ea"/>
                  <a:cs typeface="+mn-cs"/>
                </a:rPr>
                <a:t>default</a:t>
              </a:r>
              <a:r>
                <a:rPr lang="zh-CN" sz="1280" dirty="0">
                  <a:solidFill>
                    <a:srgbClr val="1F2937"/>
                  </a:solidFill>
                  <a:latin typeface="+mn-lt"/>
                  <a:ea typeface="+mn-ea"/>
                  <a:cs typeface="+mn-cs"/>
                </a:rPr>
                <a:t xml:space="preserve"> 方法，模板方法确实能放进接口。</a:t>
              </a:r>
            </a:p>
          </p:txBody>
        </p:sp>
        <p:sp>
          <p:nvSpPr>
            <p:cNvPr id="66" name="TextBox 66"/>
            <p:cNvSpPr txBox="1"/>
            <p:nvPr/>
          </p:nvSpPr>
          <p:spPr>
            <a:xfrm>
              <a:off x="6893433" y="5009674"/>
              <a:ext cx="42801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但接口没有实例字段，也不能把步骤声明成 </a:t>
              </a:r>
              <a:r>
                <a:rPr lang="en-US" sz="1280" dirty="0">
                  <a:solidFill>
                    <a:srgbClr val="462F80"/>
                  </a:solidFill>
                  <a:latin typeface="+mn-lt"/>
                  <a:ea typeface="+mn-ea"/>
                  <a:cs typeface="+mn-cs"/>
                </a:rPr>
                <a:t>protected</a:t>
              </a:r>
              <a:r>
                <a:rPr lang="zh-CN" sz="1280" dirty="0">
                  <a:solidFill>
                    <a:srgbClr val="1F2937"/>
                  </a:solidFill>
                  <a:latin typeface="+mn-lt"/>
                  <a:ea typeface="+mn-ea"/>
                  <a:cs typeface="+mn-cs"/>
                </a:rPr>
                <a:t>，步</a:t>
              </a:r>
              <a:br/>
              <a:r>
                <a:rPr lang="zh-CN" sz="1280" dirty="0">
                  <a:solidFill>
                    <a:srgbClr val="1F2937"/>
                  </a:solidFill>
                  <a:latin typeface="+mn-lt"/>
                  <a:ea typeface="+mn-ea"/>
                  <a:cs typeface="+mn-cs"/>
                </a:rPr>
                <a:t>骤只好全部公开。所以抽象类仍然是首选写法。</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69" name="TextBox 69"/>
            <p:cNvSpPr txBox="1"/>
            <p:nvPr/>
          </p:nvSpPr>
          <p:spPr>
            <a:xfrm>
              <a:off x="11581087" y="6581299"/>
              <a:ext cx="8246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结构、两个角色与三种基本方法</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基本方法分三种，差别在父类给不给实现</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542" y="1545907"/>
            <a:ext cx="9282303" cy="264033"/>
            <a:chOff x="526542" y="1545907"/>
            <a:chExt cx="9282303" cy="264033"/>
          </a:xfrm>
        </p:grpSpPr>
        <p:sp>
          <p:nvSpPr>
            <p:cNvPr id="7" name="TextBox 7"/>
            <p:cNvSpPr txBox="1"/>
            <p:nvPr/>
          </p:nvSpPr>
          <p:spPr>
            <a:xfrm>
              <a:off x="526542" y="1545907"/>
              <a:ext cx="928230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这三种方法构成了模板方法的全部零件。判断一个方法属于哪一种，只要看父类里有没有方法体、子类不写会怎样。</a:t>
              </a:r>
            </a:p>
          </p:txBody>
        </p:sp>
      </p:grpSp>
      <p:grpSp>
        <p:nvGrpSpPr>
          <p:cNvPr id="35" name="c1-table-1"/>
          <p:cNvGrpSpPr/>
          <p:nvPr/>
        </p:nvGrpSpPr>
        <p:grpSpPr>
          <a:xfrm>
            <a:off x="533400" y="1928812"/>
            <a:ext cx="6059805" cy="1525905"/>
            <a:chOff x="533400" y="1928812"/>
            <a:chExt cx="6059805" cy="1525905"/>
          </a:xfrm>
        </p:grpSpPr>
        <p:sp>
          <p:nvSpPr>
            <p:cNvPr id="9" name="Rectangle 9"/>
            <p:cNvSpPr/>
            <p:nvPr/>
          </p:nvSpPr>
          <p:spPr>
            <a:xfrm>
              <a:off x="533400" y="1928812"/>
              <a:ext cx="6059805" cy="381000"/>
            </a:xfrm>
            <a:prstGeom prst="rect">
              <a:avLst/>
            </a:prstGeom>
            <a:solidFill>
              <a:srgbClr val="5B3FA0"/>
            </a:solidFill>
            <a:ln>
              <a:noFill/>
            </a:ln>
          </p:spPr>
        </p:sp>
        <p:sp>
          <p:nvSpPr>
            <p:cNvPr id="10" name="TextBox 10"/>
            <p:cNvSpPr txBox="1"/>
            <p:nvPr/>
          </p:nvSpPr>
          <p:spPr>
            <a:xfrm>
              <a:off x="791146" y="2045970"/>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基本方法</a:t>
              </a:r>
            </a:p>
          </p:txBody>
        </p:sp>
        <p:sp>
          <p:nvSpPr>
            <p:cNvPr id="11" name="TextBox 11"/>
            <p:cNvSpPr txBox="1"/>
            <p:nvPr/>
          </p:nvSpPr>
          <p:spPr>
            <a:xfrm>
              <a:off x="1932051" y="2045970"/>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在哪里声明</a:t>
              </a:r>
            </a:p>
          </p:txBody>
        </p:sp>
        <p:sp>
          <p:nvSpPr>
            <p:cNvPr id="12" name="TextBox 12"/>
            <p:cNvSpPr txBox="1"/>
            <p:nvPr/>
          </p:nvSpPr>
          <p:spPr>
            <a:xfrm>
              <a:off x="3193923" y="2045970"/>
              <a:ext cx="858774"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父类给实现吗</a:t>
              </a:r>
            </a:p>
          </p:txBody>
        </p:sp>
        <p:sp>
          <p:nvSpPr>
            <p:cNvPr id="13" name="TextBox 13"/>
            <p:cNvSpPr txBox="1"/>
            <p:nvPr/>
          </p:nvSpPr>
          <p:spPr>
            <a:xfrm>
              <a:off x="4870894" y="2045970"/>
              <a:ext cx="1141476"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子类不覆盖会怎样</a:t>
              </a:r>
            </a:p>
          </p:txBody>
        </p:sp>
        <p:sp>
          <p:nvSpPr>
            <p:cNvPr id="14" name="TextBox 14"/>
            <p:cNvSpPr txBox="1"/>
            <p:nvPr/>
          </p:nvSpPr>
          <p:spPr>
            <a:xfrm>
              <a:off x="628078" y="2426970"/>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抽象方法</a:t>
              </a:r>
            </a:p>
          </p:txBody>
        </p:sp>
        <p:sp>
          <p:nvSpPr>
            <p:cNvPr id="15" name="TextBox 15"/>
            <p:cNvSpPr txBox="1"/>
            <p:nvPr/>
          </p:nvSpPr>
          <p:spPr>
            <a:xfrm>
              <a:off x="1718691" y="2426970"/>
              <a:ext cx="858774"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抽象类中声明</a:t>
              </a:r>
            </a:p>
          </p:txBody>
        </p:sp>
        <p:sp>
          <p:nvSpPr>
            <p:cNvPr id="16" name="TextBox 16"/>
            <p:cNvSpPr txBox="1"/>
            <p:nvPr/>
          </p:nvSpPr>
          <p:spPr>
            <a:xfrm>
              <a:off x="3052191" y="2426970"/>
              <a:ext cx="29337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不给</a:t>
              </a:r>
            </a:p>
          </p:txBody>
        </p:sp>
        <p:sp>
          <p:nvSpPr>
            <p:cNvPr id="17" name="Rectangle 17"/>
            <p:cNvSpPr/>
            <p:nvPr/>
          </p:nvSpPr>
          <p:spPr>
            <a:xfrm>
              <a:off x="4299585" y="2319338"/>
              <a:ext cx="2283142" cy="361950"/>
            </a:xfrm>
            <a:prstGeom prst="rect">
              <a:avLst/>
            </a:prstGeom>
            <a:solidFill>
              <a:srgbClr val="FDECEA"/>
            </a:solidFill>
            <a:ln>
              <a:noFill/>
            </a:ln>
          </p:spPr>
        </p:sp>
        <p:sp>
          <p:nvSpPr>
            <p:cNvPr id="18" name="TextBox 18"/>
            <p:cNvSpPr txBox="1"/>
            <p:nvPr/>
          </p:nvSpPr>
          <p:spPr>
            <a:xfrm>
              <a:off x="4384738" y="2426970"/>
              <a:ext cx="156552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编译报错，子类必须实现</a:t>
              </a:r>
            </a:p>
          </p:txBody>
        </p:sp>
        <p:sp>
          <p:nvSpPr>
            <p:cNvPr id="19" name="Rectangle 19"/>
            <p:cNvSpPr/>
            <p:nvPr/>
          </p:nvSpPr>
          <p:spPr>
            <a:xfrm>
              <a:off x="533400" y="2687002"/>
              <a:ext cx="6059805" cy="9525"/>
            </a:xfrm>
            <a:prstGeom prst="rect">
              <a:avLst/>
            </a:prstGeom>
            <a:solidFill>
              <a:srgbClr val="D9DFEA"/>
            </a:solidFill>
            <a:ln>
              <a:noFill/>
            </a:ln>
          </p:spPr>
        </p:sp>
        <p:sp>
          <p:nvSpPr>
            <p:cNvPr id="20" name="Rectangle 20"/>
            <p:cNvSpPr/>
            <p:nvPr/>
          </p:nvSpPr>
          <p:spPr>
            <a:xfrm>
              <a:off x="533400" y="2691765"/>
              <a:ext cx="6059805" cy="381000"/>
            </a:xfrm>
            <a:prstGeom prst="rect">
              <a:avLst/>
            </a:prstGeom>
            <a:solidFill>
              <a:srgbClr val="F4F6FB"/>
            </a:solidFill>
            <a:ln>
              <a:noFill/>
            </a:ln>
          </p:spPr>
        </p:sp>
        <p:sp>
          <p:nvSpPr>
            <p:cNvPr id="21" name="TextBox 21"/>
            <p:cNvSpPr txBox="1"/>
            <p:nvPr/>
          </p:nvSpPr>
          <p:spPr>
            <a:xfrm>
              <a:off x="628078" y="2808923"/>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具体方法</a:t>
              </a:r>
            </a:p>
          </p:txBody>
        </p:sp>
        <p:sp>
          <p:nvSpPr>
            <p:cNvPr id="22" name="TextBox 22"/>
            <p:cNvSpPr txBox="1"/>
            <p:nvPr/>
          </p:nvSpPr>
          <p:spPr>
            <a:xfrm>
              <a:off x="1718691" y="2808923"/>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抽象类或具体类中</a:t>
              </a:r>
            </a:p>
          </p:txBody>
        </p:sp>
        <p:sp>
          <p:nvSpPr>
            <p:cNvPr id="23" name="TextBox 23"/>
            <p:cNvSpPr txBox="1"/>
            <p:nvPr/>
          </p:nvSpPr>
          <p:spPr>
            <a:xfrm>
              <a:off x="3052191" y="2808923"/>
              <a:ext cx="152019"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给</a:t>
              </a:r>
            </a:p>
          </p:txBody>
        </p:sp>
        <p:sp>
          <p:nvSpPr>
            <p:cNvPr id="24" name="TextBox 24"/>
            <p:cNvSpPr txBox="1"/>
            <p:nvPr/>
          </p:nvSpPr>
          <p:spPr>
            <a:xfrm>
              <a:off x="4384738" y="2808923"/>
              <a:ext cx="128282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直接继承父类的实现</a:t>
              </a:r>
            </a:p>
          </p:txBody>
        </p:sp>
        <p:sp>
          <p:nvSpPr>
            <p:cNvPr id="25" name="Rectangle 25"/>
            <p:cNvSpPr/>
            <p:nvPr/>
          </p:nvSpPr>
          <p:spPr>
            <a:xfrm>
              <a:off x="533400" y="3068002"/>
              <a:ext cx="6059805" cy="9525"/>
            </a:xfrm>
            <a:prstGeom prst="rect">
              <a:avLst/>
            </a:prstGeom>
            <a:solidFill>
              <a:srgbClr val="D9DFEA"/>
            </a:solidFill>
            <a:ln>
              <a:noFill/>
            </a:ln>
          </p:spPr>
        </p:sp>
        <p:sp>
          <p:nvSpPr>
            <p:cNvPr id="26" name="TextBox 26"/>
            <p:cNvSpPr txBox="1"/>
            <p:nvPr/>
          </p:nvSpPr>
          <p:spPr>
            <a:xfrm>
              <a:off x="628078" y="3189923"/>
              <a:ext cx="576072" cy="205359"/>
            </a:xfrm>
            <a:prstGeom prst="rect">
              <a:avLst/>
            </a:prstGeom>
            <a:noFill/>
            <a:ln>
              <a:noFill/>
            </a:ln>
          </p:spPr>
          <p:txBody>
            <a:bodyPr wrap="none" lIns="0" tIns="0" rIns="0" bIns="0" anchor="t" anchorCtr="0">
              <a:spAutoFit/>
            </a:bodyPr>
            <a:lstStyle/>
            <a:p>
              <a:pPr algn="l"/>
              <a:r>
                <a:rPr lang="zh-CN" sz="1050" b="1" dirty="0">
                  <a:solidFill>
                    <a:srgbClr val="1F2937"/>
                  </a:solidFill>
                  <a:latin typeface="+mn-lt"/>
                  <a:ea typeface="+mn-ea"/>
                  <a:cs typeface="+mn-cs"/>
                </a:rPr>
                <a:t>钩子方法</a:t>
              </a:r>
            </a:p>
          </p:txBody>
        </p:sp>
        <p:sp>
          <p:nvSpPr>
            <p:cNvPr id="27" name="TextBox 27"/>
            <p:cNvSpPr txBox="1"/>
            <p:nvPr/>
          </p:nvSpPr>
          <p:spPr>
            <a:xfrm>
              <a:off x="1718691" y="3189923"/>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抽象类或具体类中</a:t>
              </a:r>
            </a:p>
          </p:txBody>
        </p:sp>
        <p:sp>
          <p:nvSpPr>
            <p:cNvPr id="28" name="TextBox 28"/>
            <p:cNvSpPr txBox="1"/>
            <p:nvPr/>
          </p:nvSpPr>
          <p:spPr>
            <a:xfrm>
              <a:off x="3052191" y="3189923"/>
              <a:ext cx="1141476"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给，通常是空实现</a:t>
              </a:r>
            </a:p>
          </p:txBody>
        </p:sp>
        <p:sp>
          <p:nvSpPr>
            <p:cNvPr id="29" name="Rectangle 29"/>
            <p:cNvSpPr/>
            <p:nvPr/>
          </p:nvSpPr>
          <p:spPr>
            <a:xfrm>
              <a:off x="4299585" y="3082290"/>
              <a:ext cx="2283142" cy="361950"/>
            </a:xfrm>
            <a:prstGeom prst="rect">
              <a:avLst/>
            </a:prstGeom>
            <a:solidFill>
              <a:srgbClr val="E3F5F1"/>
            </a:solidFill>
            <a:ln>
              <a:noFill/>
            </a:ln>
          </p:spPr>
        </p:sp>
        <p:sp>
          <p:nvSpPr>
            <p:cNvPr id="30" name="TextBox 30"/>
            <p:cNvSpPr txBox="1"/>
            <p:nvPr/>
          </p:nvSpPr>
          <p:spPr>
            <a:xfrm>
              <a:off x="4384738" y="3189923"/>
              <a:ext cx="198958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编译通过，执行父类的默认行为</a:t>
              </a:r>
            </a:p>
          </p:txBody>
        </p:sp>
        <p:sp>
          <p:nvSpPr>
            <p:cNvPr id="31" name="Rectangle 31"/>
            <p:cNvSpPr/>
            <p:nvPr/>
          </p:nvSpPr>
          <p:spPr>
            <a:xfrm>
              <a:off x="533400" y="1928812"/>
              <a:ext cx="6059805" cy="1525905"/>
            </a:xfrm>
            <a:prstGeom prst="rect">
              <a:avLst/>
            </a:prstGeom>
            <a:noFill/>
            <a:ln w="14288">
              <a:solidFill>
                <a:srgbClr val="D9DFEA"/>
              </a:solidFill>
            </a:ln>
          </p:spPr>
        </p:sp>
        <p:sp>
          <p:nvSpPr>
            <p:cNvPr id="32" name="Rectangle 32"/>
            <p:cNvSpPr/>
            <p:nvPr/>
          </p:nvSpPr>
          <p:spPr>
            <a:xfrm>
              <a:off x="1619250" y="1928812"/>
              <a:ext cx="9525" cy="1525905"/>
            </a:xfrm>
            <a:prstGeom prst="rect">
              <a:avLst/>
            </a:prstGeom>
            <a:solidFill>
              <a:srgbClr val="D9DFEA"/>
            </a:solidFill>
            <a:ln>
              <a:noFill/>
            </a:ln>
          </p:spPr>
        </p:sp>
        <p:sp>
          <p:nvSpPr>
            <p:cNvPr id="33" name="Rectangle 33"/>
            <p:cNvSpPr/>
            <p:nvPr/>
          </p:nvSpPr>
          <p:spPr>
            <a:xfrm>
              <a:off x="2952750" y="1928812"/>
              <a:ext cx="9525" cy="1525905"/>
            </a:xfrm>
            <a:prstGeom prst="rect">
              <a:avLst/>
            </a:prstGeom>
            <a:solidFill>
              <a:srgbClr val="D9DFEA"/>
            </a:solidFill>
            <a:ln>
              <a:noFill/>
            </a:ln>
          </p:spPr>
        </p:sp>
        <p:sp>
          <p:nvSpPr>
            <p:cNvPr id="34" name="Rectangle 34"/>
            <p:cNvSpPr/>
            <p:nvPr/>
          </p:nvSpPr>
          <p:spPr>
            <a:xfrm>
              <a:off x="4285298" y="1928812"/>
              <a:ext cx="9525" cy="1525905"/>
            </a:xfrm>
            <a:prstGeom prst="rect">
              <a:avLst/>
            </a:prstGeom>
            <a:solidFill>
              <a:srgbClr val="D9DFEA"/>
            </a:solidFill>
            <a:ln>
              <a:noFill/>
            </a:ln>
          </p:spPr>
        </p:sp>
      </p:grpSp>
      <p:grpSp>
        <p:nvGrpSpPr>
          <p:cNvPr id="42" name="c1-card-2"/>
          <p:cNvGrpSpPr/>
          <p:nvPr/>
        </p:nvGrpSpPr>
        <p:grpSpPr>
          <a:xfrm>
            <a:off x="533400" y="3618548"/>
            <a:ext cx="6059805" cy="1444942"/>
            <a:chOff x="533400" y="3618548"/>
            <a:chExt cx="6059805" cy="1444942"/>
          </a:xfrm>
        </p:grpSpPr>
        <p:sp>
          <p:nvSpPr>
            <p:cNvPr id="36" name="Rectangle 36"/>
            <p:cNvSpPr/>
            <p:nvPr/>
          </p:nvSpPr>
          <p:spPr>
            <a:xfrm>
              <a:off x="533400" y="3618548"/>
              <a:ext cx="6059805" cy="1444942"/>
            </a:xfrm>
            <a:prstGeom prst="roundRect">
              <a:avLst>
                <a:gd name="adj" fmla="val 9229"/>
              </a:avLst>
            </a:prstGeom>
            <a:solidFill>
              <a:srgbClr val="5B3FA0"/>
            </a:solidFill>
            <a:ln>
              <a:noFill/>
            </a:ln>
          </p:spPr>
        </p:sp>
        <p:sp>
          <p:nvSpPr>
            <p:cNvPr id="37" name="Rectangle 37"/>
            <p:cNvSpPr/>
            <p:nvPr/>
          </p:nvSpPr>
          <p:spPr>
            <a:xfrm>
              <a:off x="714375" y="3799522"/>
              <a:ext cx="1454468" cy="238125"/>
            </a:xfrm>
            <a:prstGeom prst="roundRect">
              <a:avLst>
                <a:gd name="adj" fmla="val 50000"/>
              </a:avLst>
            </a:prstGeom>
            <a:solidFill>
              <a:srgbClr val="462F80"/>
            </a:solidFill>
            <a:ln>
              <a:noFill/>
            </a:ln>
          </p:spPr>
        </p:sp>
        <p:sp>
          <p:nvSpPr>
            <p:cNvPr id="38" name="TextBox 38"/>
            <p:cNvSpPr txBox="1"/>
            <p:nvPr/>
          </p:nvSpPr>
          <p:spPr>
            <a:xfrm>
              <a:off x="776542" y="3832384"/>
              <a:ext cx="1329182"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钩子与抽象方法的差别</a:t>
              </a:r>
            </a:p>
          </p:txBody>
        </p:sp>
        <p:sp>
          <p:nvSpPr>
            <p:cNvPr id="39" name="TextBox 39"/>
            <p:cNvSpPr txBox="1"/>
            <p:nvPr/>
          </p:nvSpPr>
          <p:spPr>
            <a:xfrm>
              <a:off x="2276666" y="3840004"/>
              <a:ext cx="2253031"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少写一个方法，后果完全不同</a:t>
              </a:r>
            </a:p>
          </p:txBody>
        </p:sp>
        <p:sp>
          <p:nvSpPr>
            <p:cNvPr id="40" name="TextBox 40"/>
            <p:cNvSpPr txBox="1"/>
            <p:nvPr/>
          </p:nvSpPr>
          <p:spPr>
            <a:xfrm>
              <a:off x="707898" y="4156234"/>
              <a:ext cx="537743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子类如果没有覆盖父类中定义的钩子方法，编译可以正常通过；如果没有覆</a:t>
              </a:r>
              <a:br/>
              <a:r>
                <a:rPr lang="zh-CN" sz="1280" dirty="0">
                  <a:solidFill>
                    <a:srgbClr val="FFFFFF"/>
                  </a:solidFill>
                  <a:latin typeface="+mn-lt"/>
                  <a:ea typeface="+mn-ea"/>
                  <a:cs typeface="+mn-cs"/>
                </a:rPr>
                <a:t>盖父类中声明的抽象方法，编译将报错。</a:t>
              </a:r>
            </a:p>
          </p:txBody>
        </p:sp>
        <p:sp>
          <p:nvSpPr>
            <p:cNvPr id="41" name="TextBox 41"/>
            <p:cNvSpPr txBox="1"/>
            <p:nvPr/>
          </p:nvSpPr>
          <p:spPr>
            <a:xfrm>
              <a:off x="707898" y="4683919"/>
              <a:ext cx="5630377"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 xml:space="preserve">所以必须由子类决定的步骤写成 </a:t>
              </a:r>
              <a:r>
                <a:rPr lang="zh-CN" sz="1280" b="1" dirty="0">
                  <a:solidFill>
                    <a:srgbClr val="FFD58A"/>
                  </a:solidFill>
                  <a:latin typeface="+mn-lt"/>
                  <a:ea typeface="+mn-ea"/>
                  <a:cs typeface="+mn-cs"/>
                </a:rPr>
                <a:t>抽象方法</a:t>
              </a:r>
              <a:r>
                <a:rPr lang="zh-CN" sz="1280" dirty="0">
                  <a:solidFill>
                    <a:srgbClr val="FFFFFF"/>
                  </a:solidFill>
                  <a:latin typeface="+mn-lt"/>
                  <a:ea typeface="+mn-ea"/>
                  <a:cs typeface="+mn-cs"/>
                </a:rPr>
                <a:t xml:space="preserve">，可选的扩展点写成 </a:t>
              </a:r>
              <a:r>
                <a:rPr lang="zh-CN" sz="1280" b="1" dirty="0">
                  <a:solidFill>
                    <a:srgbClr val="FFD58A"/>
                  </a:solidFill>
                  <a:latin typeface="+mn-lt"/>
                  <a:ea typeface="+mn-ea"/>
                  <a:cs typeface="+mn-cs"/>
                </a:rPr>
                <a:t>钩子方法</a:t>
              </a:r>
              <a:r>
                <a:rPr lang="zh-CN" sz="1280" dirty="0">
                  <a:solidFill>
                    <a:srgbClr val="FFFFFF"/>
                  </a:solidFill>
                  <a:latin typeface="+mn-lt"/>
                  <a:ea typeface="+mn-ea"/>
                  <a:cs typeface="+mn-cs"/>
                </a:rPr>
                <a:t>。</a:t>
              </a:r>
            </a:p>
          </p:txBody>
        </p:sp>
      </p:grpSp>
      <p:grpSp>
        <p:nvGrpSpPr>
          <p:cNvPr id="49" name="c1-callout-3"/>
          <p:cNvGrpSpPr/>
          <p:nvPr/>
        </p:nvGrpSpPr>
        <p:grpSpPr>
          <a:xfrm>
            <a:off x="533400" y="5229225"/>
            <a:ext cx="6059805" cy="702945"/>
            <a:chOff x="533400" y="5229225"/>
            <a:chExt cx="6059805" cy="702945"/>
          </a:xfrm>
        </p:grpSpPr>
        <p:sp>
          <p:nvSpPr>
            <p:cNvPr id="43" name="Rectangle 43"/>
            <p:cNvSpPr/>
            <p:nvPr/>
          </p:nvSpPr>
          <p:spPr>
            <a:xfrm>
              <a:off x="533400" y="5229225"/>
              <a:ext cx="6059805" cy="702945"/>
            </a:xfrm>
            <a:prstGeom prst="roundRect">
              <a:avLst>
                <a:gd name="adj" fmla="val 16260"/>
              </a:avLst>
            </a:prstGeom>
            <a:solidFill>
              <a:srgbClr val="F4F6FB"/>
            </a:solidFill>
            <a:ln>
              <a:noFill/>
            </a:ln>
          </p:spPr>
        </p:sp>
        <p:grpSp>
          <p:nvGrpSpPr>
            <p:cNvPr id="47" name="Group 47"/>
            <p:cNvGrpSpPr/>
            <p:nvPr/>
          </p:nvGrpSpPr>
          <p:grpSpPr>
            <a:xfrm>
              <a:off x="738188" y="5480685"/>
              <a:ext cx="200026" cy="200026"/>
              <a:chOff x="738188" y="5480685"/>
              <a:chExt cx="200026" cy="200026"/>
            </a:xfrm>
          </p:grpSpPr>
          <p:sp>
            <p:nvSpPr>
              <p:cNvPr id="44" name="Freeform 44"/>
              <p:cNvSpPr/>
              <p:nvPr/>
            </p:nvSpPr>
            <p:spPr>
              <a:xfrm>
                <a:off x="738188" y="548068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5" name="Freeform 45"/>
              <p:cNvSpPr/>
              <p:nvPr/>
            </p:nvSpPr>
            <p:spPr>
              <a:xfrm>
                <a:off x="838200" y="554736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6" name="Freeform 46"/>
              <p:cNvSpPr/>
              <p:nvPr/>
            </p:nvSpPr>
            <p:spPr>
              <a:xfrm>
                <a:off x="827088" y="558069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8" name="TextBox 48"/>
            <p:cNvSpPr txBox="1"/>
            <p:nvPr/>
          </p:nvSpPr>
          <p:spPr>
            <a:xfrm>
              <a:off x="1041273" y="5373529"/>
              <a:ext cx="505231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对所有子类都相同的基本方法在父类给具体实现，否则声明成抽象方法</a:t>
              </a:r>
              <a:br/>
              <a:r>
                <a:rPr lang="zh-CN" sz="1280" dirty="0">
                  <a:solidFill>
                    <a:srgbClr val="1F2937"/>
                  </a:solidFill>
                  <a:latin typeface="+mn-lt"/>
                  <a:ea typeface="+mn-ea"/>
                  <a:cs typeface="+mn-cs"/>
                </a:rPr>
                <a:t>或钩子方法。</a:t>
              </a:r>
            </a:p>
          </p:txBody>
        </p:sp>
      </p:grpSp>
      <p:grpSp>
        <p:nvGrpSpPr>
          <p:cNvPr id="52" name="c2-image-1"/>
          <p:cNvGrpSpPr/>
          <p:nvPr/>
        </p:nvGrpSpPr>
        <p:grpSpPr>
          <a:xfrm>
            <a:off x="6898005" y="1928812"/>
            <a:ext cx="4760595" cy="2193322"/>
            <a:chOff x="6898005" y="1928812"/>
            <a:chExt cx="4760595" cy="2193322"/>
          </a:xfrm>
        </p:grpSpPr>
        <p:pic>
          <p:nvPicPr>
            <p:cNvPr id="50" name="Image 50"/>
            <p:cNvPicPr>
              <a:picLocks noChangeAspect="1"/>
            </p:cNvPicPr>
            <p:nvPr/>
          </p:nvPicPr>
          <p:blipFill>
            <a:blip r:embed="rId2"/>
            <a:srcRect l="0" t="23242" r="0" b="23243"/>
            <a:stretch>
              <a:fillRect/>
            </a:stretch>
          </p:blipFill>
          <p:spPr>
            <a:xfrm>
              <a:off x="6898005" y="1928812"/>
              <a:ext cx="4760595" cy="1910715"/>
            </a:xfrm>
            <a:prstGeom prst="roundRect">
              <a:avLst>
                <a:gd name="adj" fmla="val 6979"/>
              </a:avLst>
            </a:prstGeom>
          </p:spPr>
        </p:pic>
        <p:sp>
          <p:nvSpPr>
            <p:cNvPr id="51" name="TextBox 51"/>
            <p:cNvSpPr txBox="1"/>
            <p:nvPr/>
          </p:nvSpPr>
          <p:spPr>
            <a:xfrm>
              <a:off x="7162508" y="3931444"/>
              <a:ext cx="4231589"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钩子是墙上预留的挂点，挂不挂东西由使用者决定，墙本身不会因此改变</a:t>
              </a:r>
            </a:p>
          </p:txBody>
        </p:sp>
      </p:grpSp>
      <p:grpSp>
        <p:nvGrpSpPr>
          <p:cNvPr id="59" name="c2-card-2"/>
          <p:cNvGrpSpPr/>
          <p:nvPr/>
        </p:nvGrpSpPr>
        <p:grpSpPr>
          <a:xfrm>
            <a:off x="6898005" y="4268152"/>
            <a:ext cx="4760595" cy="1664018"/>
            <a:chOff x="6898005" y="4268152"/>
            <a:chExt cx="4760595" cy="1664018"/>
          </a:xfrm>
        </p:grpSpPr>
        <p:sp>
          <p:nvSpPr>
            <p:cNvPr id="53" name="Rectangle 53"/>
            <p:cNvSpPr/>
            <p:nvPr/>
          </p:nvSpPr>
          <p:spPr>
            <a:xfrm>
              <a:off x="6898005" y="4268152"/>
              <a:ext cx="4760595" cy="1664018"/>
            </a:xfrm>
            <a:prstGeom prst="roundRect">
              <a:avLst>
                <a:gd name="adj" fmla="val 8014"/>
              </a:avLst>
            </a:prstGeom>
            <a:solidFill>
              <a:srgbClr val="FFFFFF"/>
            </a:solidFill>
            <a:ln w="14288">
              <a:solidFill>
                <a:srgbClr val="D9DFEA"/>
              </a:solidFill>
            </a:ln>
          </p:spPr>
        </p:sp>
        <p:sp>
          <p:nvSpPr>
            <p:cNvPr id="54" name="Rectangle 54"/>
            <p:cNvSpPr/>
            <p:nvPr/>
          </p:nvSpPr>
          <p:spPr>
            <a:xfrm>
              <a:off x="6907530" y="4401502"/>
              <a:ext cx="47625" cy="1397318"/>
            </a:xfrm>
            <a:prstGeom prst="roundRect">
              <a:avLst>
                <a:gd name="adj" fmla="val 50000"/>
              </a:avLst>
            </a:prstGeom>
            <a:solidFill>
              <a:srgbClr val="5B6475"/>
            </a:solidFill>
            <a:ln>
              <a:noFill/>
            </a:ln>
          </p:spPr>
        </p:sp>
        <p:sp>
          <p:nvSpPr>
            <p:cNvPr id="55" name="Rectangle 55"/>
            <p:cNvSpPr/>
            <p:nvPr/>
          </p:nvSpPr>
          <p:spPr>
            <a:xfrm>
              <a:off x="7117080" y="4449128"/>
              <a:ext cx="831532" cy="238125"/>
            </a:xfrm>
            <a:prstGeom prst="roundRect">
              <a:avLst>
                <a:gd name="adj" fmla="val 50000"/>
              </a:avLst>
            </a:prstGeom>
            <a:solidFill>
              <a:srgbClr val="F4F6FB"/>
            </a:solidFill>
            <a:ln>
              <a:noFill/>
            </a:ln>
          </p:spPr>
        </p:sp>
        <p:sp>
          <p:nvSpPr>
            <p:cNvPr id="56" name="TextBox 56"/>
            <p:cNvSpPr txBox="1"/>
            <p:nvPr/>
          </p:nvSpPr>
          <p:spPr>
            <a:xfrm>
              <a:off x="7197598" y="4481989"/>
              <a:ext cx="669544"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名字的由来</a:t>
              </a:r>
            </a:p>
          </p:txBody>
        </p:sp>
        <p:sp>
          <p:nvSpPr>
            <p:cNvPr id="57" name="TextBox 57"/>
            <p:cNvSpPr txBox="1"/>
            <p:nvPr/>
          </p:nvSpPr>
          <p:spPr>
            <a:xfrm>
              <a:off x="8056436" y="4488656"/>
              <a:ext cx="1391463"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为什么叫钩子方法</a:t>
              </a:r>
            </a:p>
          </p:txBody>
        </p:sp>
        <p:sp>
          <p:nvSpPr>
            <p:cNvPr id="58" name="TextBox 58"/>
            <p:cNvSpPr txBox="1"/>
            <p:nvPr/>
          </p:nvSpPr>
          <p:spPr>
            <a:xfrm>
              <a:off x="7110603" y="4804886"/>
              <a:ext cx="407695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父类在流程里预先留好一个挂点，子类想扩展就把自己的</a:t>
              </a:r>
              <a:br/>
              <a:r>
                <a:rPr lang="zh-CN" sz="1280" dirty="0">
                  <a:solidFill>
                    <a:srgbClr val="1F2937"/>
                  </a:solidFill>
                  <a:latin typeface="+mn-lt"/>
                  <a:ea typeface="+mn-ea"/>
                  <a:cs typeface="+mn-cs"/>
                </a:rPr>
                <a:t>实现挂上去，不想扩展就空着。挂点的位置和数量由父类</a:t>
              </a:r>
              <a:br/>
              <a:r>
                <a:rPr lang="zh-CN" sz="1280" dirty="0">
                  <a:solidFill>
                    <a:srgbClr val="1F2937"/>
                  </a:solidFill>
                  <a:latin typeface="+mn-lt"/>
                  <a:ea typeface="+mn-ea"/>
                  <a:cs typeface="+mn-cs"/>
                </a:rPr>
                <a:t>定死。</a:t>
              </a:r>
            </a:p>
          </p:txBody>
        </p:sp>
      </p:grpSp>
      <p:grpSp>
        <p:nvGrpSpPr>
          <p:cNvPr id="62" name="footer"/>
          <p:cNvGrpSpPr/>
          <p:nvPr/>
        </p:nvGrpSpPr>
        <p:grpSpPr>
          <a:xfrm>
            <a:off x="528447" y="6581299"/>
            <a:ext cx="11135106" cy="190690"/>
            <a:chOff x="528447" y="6581299"/>
            <a:chExt cx="11135106" cy="190690"/>
          </a:xfrm>
        </p:grpSpPr>
        <p:sp>
          <p:nvSpPr>
            <p:cNvPr id="60" name="TextBox 60"/>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61" name="TextBox 6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220974" cy="909257"/>
            <a:chOff x="520446" y="342900"/>
            <a:chExt cx="3220974"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结构、两个角色与三种基本方法</a:t>
              </a:r>
            </a:p>
          </p:txBody>
        </p:sp>
        <p:sp>
          <p:nvSpPr>
            <p:cNvPr id="4" name="TextBox 4"/>
            <p:cNvSpPr txBox="1"/>
            <p:nvPr/>
          </p:nvSpPr>
          <p:spPr>
            <a:xfrm>
              <a:off x="520446" y="753428"/>
              <a:ext cx="311543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钩子方法的两类写法</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542" y="1545907"/>
            <a:ext cx="7464933" cy="264033"/>
            <a:chOff x="526542" y="1545907"/>
            <a:chExt cx="7464933" cy="264033"/>
          </a:xfrm>
        </p:grpSpPr>
        <p:sp>
          <p:nvSpPr>
            <p:cNvPr id="7" name="TextBox 7"/>
            <p:cNvSpPr txBox="1"/>
            <p:nvPr/>
          </p:nvSpPr>
          <p:spPr>
            <a:xfrm>
              <a:off x="526542" y="1545907"/>
              <a:ext cx="7464933"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第一类返回布尔值，用来决定某一步执不执行；第二类是空方法，用来给子类留一个插入点。</a:t>
              </a:r>
            </a:p>
          </p:txBody>
        </p:sp>
      </p:grpSp>
      <p:grpSp>
        <p:nvGrpSpPr>
          <p:cNvPr id="14" name="c1-code-1"/>
          <p:cNvGrpSpPr/>
          <p:nvPr/>
        </p:nvGrpSpPr>
        <p:grpSpPr>
          <a:xfrm>
            <a:off x="533400" y="1928812"/>
            <a:ext cx="6059805" cy="3050858"/>
            <a:chOff x="533400" y="1928812"/>
            <a:chExt cx="6059805" cy="3050858"/>
          </a:xfrm>
        </p:grpSpPr>
        <p:sp>
          <p:nvSpPr>
            <p:cNvPr id="9" name="Rectangle 9"/>
            <p:cNvSpPr/>
            <p:nvPr/>
          </p:nvSpPr>
          <p:spPr>
            <a:xfrm>
              <a:off x="533400" y="1928812"/>
              <a:ext cx="6059805" cy="3050858"/>
            </a:xfrm>
            <a:prstGeom prst="roundRect">
              <a:avLst>
                <a:gd name="adj" fmla="val 3122"/>
              </a:avLst>
            </a:prstGeom>
            <a:solidFill>
              <a:srgbClr val="F6F8FA"/>
            </a:solidFill>
            <a:ln w="11430">
              <a:solidFill>
                <a:srgbClr val="D9DFEA"/>
              </a:solidFill>
            </a:ln>
          </p:spPr>
        </p:sp>
        <p:sp>
          <p:nvSpPr>
            <p:cNvPr id="10" name="TextBox 10"/>
            <p:cNvSpPr txBox="1"/>
            <p:nvPr/>
          </p:nvSpPr>
          <p:spPr>
            <a:xfrm>
              <a:off x="661797" y="2080736"/>
              <a:ext cx="1988820"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第一类钩子：用返回值控制某一步</a:t>
              </a:r>
            </a:p>
          </p:txBody>
        </p:sp>
        <p:sp>
          <p:nvSpPr>
            <p:cNvPr id="11" name="Rectangle 11"/>
            <p:cNvSpPr/>
            <p:nvPr/>
          </p:nvSpPr>
          <p:spPr>
            <a:xfrm>
              <a:off x="552450" y="3054668"/>
              <a:ext cx="6021705" cy="149542"/>
            </a:xfrm>
            <a:prstGeom prst="rect">
              <a:avLst/>
            </a:prstGeom>
            <a:solidFill>
              <a:srgbClr val="FDEEE7"/>
            </a:solidFill>
            <a:ln>
              <a:noFill/>
            </a:ln>
          </p:spPr>
        </p:sp>
        <p:sp>
          <p:nvSpPr>
            <p:cNvPr id="12" name="Rectangle 12"/>
            <p:cNvSpPr/>
            <p:nvPr/>
          </p:nvSpPr>
          <p:spPr>
            <a:xfrm>
              <a:off x="552450" y="3802380"/>
              <a:ext cx="6021705" cy="149542"/>
            </a:xfrm>
            <a:prstGeom prst="rect">
              <a:avLst/>
            </a:prstGeom>
            <a:solidFill>
              <a:srgbClr val="FDEEE7"/>
            </a:solidFill>
            <a:ln>
              <a:noFill/>
            </a:ln>
          </p:spPr>
        </p:sp>
        <p:sp>
          <p:nvSpPr>
            <p:cNvPr id="13" name="TextBox 13"/>
            <p:cNvSpPr txBox="1"/>
            <p:nvPr/>
          </p:nvSpPr>
          <p:spPr>
            <a:xfrm>
              <a:off x="661988" y="2339816"/>
              <a:ext cx="3633597" cy="2554605"/>
            </a:xfrm>
            <a:prstGeom prst="rect">
              <a:avLst/>
            </a:prstGeom>
            <a:noFill/>
            <a:ln>
              <a:noFill/>
            </a:ln>
          </p:spPr>
          <p:txBody>
            <a:bodyPr wrap="none" lIns="0" tIns="0" rIns="0" bIns="0" anchor="t" anchorCtr="0">
              <a:spAutoFit/>
            </a:bodyPr>
            <a:lstStyle/>
            <a:p>
              <a:pPr algn="l">
                <a:lnSpc>
                  <a:spcPts val="1178"/>
                </a:lnSpc>
              </a:pP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abstract</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class</a:t>
              </a:r>
              <a:r>
                <a:rPr lang="en-US" sz="820" dirty="0">
                  <a:solidFill>
                    <a:srgbClr val="1F2937"/>
                  </a:solidFill>
                  <a:latin typeface="Consolas"/>
                  <a:ea typeface="Consolas"/>
                  <a:cs typeface="Consolas"/>
                </a:rPr>
                <a:t xml:space="preserve"> Document {</a:t>
              </a:r>
              <a:br/>
              <a:r>
                <a:rPr lang="zh-CN" sz="820" dirty="0">
                  <a:solidFill>
                    <a:srgbClr val="1F2937"/>
                  </a:solidFill>
                  <a:latin typeface="Consolas"/>
                  <a:ea typeface="Consolas"/>
                  <a:cs typeface="Consolas"/>
                </a:rPr>
                <a:t xml:space="preserve">    </a:t>
              </a:r>
              <a:r>
                <a:rPr lang="zh-CN" sz="820" dirty="0">
                  <a:solidFill>
                    <a:srgbClr val="0F7A68"/>
                  </a:solidFill>
                  <a:latin typeface="Consolas"/>
                  <a:ea typeface="Microsoft YaHei"/>
                  <a:cs typeface="Consolas"/>
                </a:rPr>
                <a:t>/* 模板方法：第三步做不做，由钩子方法说了算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final</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templateMethod() {</a:t>
              </a:r>
              <a:br/>
              <a:r>
                <a:rPr lang="en-US" sz="820" dirty="0">
                  <a:solidFill>
                    <a:srgbClr val="1F2937"/>
                  </a:solidFill>
                  <a:latin typeface="Consolas"/>
                  <a:ea typeface="Consolas"/>
                  <a:cs typeface="Consolas"/>
                </a:rPr>
                <a:t xml:space="preserve">        open();</a:t>
              </a:r>
              <a:br/>
              <a:r>
                <a:rPr lang="en-US" sz="820" dirty="0">
                  <a:solidFill>
                    <a:srgbClr val="1F2937"/>
                  </a:solidFill>
                  <a:latin typeface="Consolas"/>
                  <a:ea typeface="Consolas"/>
                  <a:cs typeface="Consolas"/>
                </a:rPr>
                <a:t xml:space="preserve">        display();</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if</a:t>
              </a:r>
              <a:r>
                <a:rPr lang="en-US" sz="820" dirty="0">
                  <a:solidFill>
                    <a:srgbClr val="1F2937"/>
                  </a:solidFill>
                  <a:latin typeface="Consolas"/>
                  <a:ea typeface="Consolas"/>
                  <a:cs typeface="Consolas"/>
                </a:rPr>
                <a:t xml:space="preserve"> (isPrint()) {      </a:t>
              </a:r>
              <a:r>
                <a:rPr lang="zh-CN" sz="820" dirty="0">
                  <a:solidFill>
                    <a:srgbClr val="0F7A68"/>
                  </a:solidFill>
                  <a:latin typeface="Consolas"/>
                  <a:ea typeface="Microsoft YaHei"/>
                  <a:cs typeface="Consolas"/>
                </a:rPr>
                <a:t>/* 钩子返回 false 就跳过 */</a:t>
              </a:r>
              <a:br/>
              <a:r>
                <a:rPr lang="en-US" sz="820" dirty="0">
                  <a:solidFill>
                    <a:srgbClr val="1F2937"/>
                  </a:solidFill>
                  <a:latin typeface="Consolas"/>
                  <a:ea typeface="Consolas"/>
                  <a:cs typeface="Consolas"/>
                </a:rPr>
                <a:t xml:space="preserve">            print();</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 xml:space="preserve">    </a:t>
              </a:r>
              <a:r>
                <a:rPr lang="zh-CN" sz="820" dirty="0">
                  <a:solidFill>
                    <a:srgbClr val="0F7A68"/>
                  </a:solidFill>
                  <a:latin typeface="Consolas"/>
                  <a:ea typeface="Microsoft YaHei"/>
                  <a:cs typeface="Consolas"/>
                </a:rPr>
                <a:t>/* 第一类钩子：返回 boolean，默认要打印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protected</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boolean</a:t>
              </a:r>
              <a:r>
                <a:rPr lang="en-US" sz="820" dirty="0">
                  <a:solidFill>
                    <a:srgbClr val="1F2937"/>
                  </a:solidFill>
                  <a:latin typeface="Consolas"/>
                  <a:ea typeface="Consolas"/>
                  <a:cs typeface="Consolas"/>
                </a:rPr>
                <a:t xml:space="preserve"> isPrint()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return</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true</a:t>
              </a: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protected</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open()    { System.out.println(</a:t>
              </a:r>
              <a:r>
                <a:rPr lang="zh-CN" sz="820" dirty="0">
                  <a:solidFill>
                    <a:srgbClr val="C2410C"/>
                  </a:solidFill>
                  <a:latin typeface="Consolas"/>
                  <a:ea typeface="Microsoft YaHei"/>
                  <a:cs typeface="Consolas"/>
                </a:rPr>
                <a:t>"打开文档"</a:t>
              </a:r>
              <a:r>
                <a:rPr lang="zh-CN" sz="820" dirty="0">
                  <a:solidFill>
                    <a:srgbClr val="1F2937"/>
                  </a:solidFill>
                  <a:latin typeface="Consolas"/>
                  <a:ea typeface="Consolas"/>
                  <a:cs typeface="Consolas"/>
                </a:rPr>
                <a:t>);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protected</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display() { System.out.println(</a:t>
              </a:r>
              <a:r>
                <a:rPr lang="zh-CN" sz="820" dirty="0">
                  <a:solidFill>
                    <a:srgbClr val="C2410C"/>
                  </a:solidFill>
                  <a:latin typeface="Consolas"/>
                  <a:ea typeface="Microsoft YaHei"/>
                  <a:cs typeface="Consolas"/>
                </a:rPr>
                <a:t>"显示文档"</a:t>
              </a:r>
              <a:r>
                <a:rPr lang="zh-CN" sz="820" dirty="0">
                  <a:solidFill>
                    <a:srgbClr val="1F2937"/>
                  </a:solidFill>
                  <a:latin typeface="Consolas"/>
                  <a:ea typeface="Consolas"/>
                  <a:cs typeface="Consolas"/>
                </a:rPr>
                <a:t>);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protected</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print()   { System.out.println(</a:t>
              </a:r>
              <a:r>
                <a:rPr lang="zh-CN" sz="820" dirty="0">
                  <a:solidFill>
                    <a:srgbClr val="C2410C"/>
                  </a:solidFill>
                  <a:latin typeface="Consolas"/>
                  <a:ea typeface="Microsoft YaHei"/>
                  <a:cs typeface="Consolas"/>
                </a:rPr>
                <a:t>"打印文档"</a:t>
              </a:r>
              <a:r>
                <a:rPr lang="zh-CN" sz="820" dirty="0">
                  <a:solidFill>
                    <a:srgbClr val="1F2937"/>
                  </a:solidFill>
                  <a:latin typeface="Consolas"/>
                  <a:ea typeface="Consolas"/>
                  <a:cs typeface="Consolas"/>
                </a:rPr>
                <a:t>); }</a:t>
              </a:r>
              <a:br/>
              <a:r>
                <a:rPr lang="zh-CN" sz="820" dirty="0">
                  <a:solidFill>
                    <a:srgbClr val="1F2937"/>
                  </a:solidFill>
                  <a:latin typeface="Consolas"/>
                  <a:ea typeface="Consolas"/>
                  <a:cs typeface="Consolas"/>
                </a:rPr>
                <a:t>}</a:t>
              </a:r>
            </a:p>
          </p:txBody>
        </p:sp>
      </p:grpSp>
      <p:grpSp>
        <p:nvGrpSpPr>
          <p:cNvPr id="20" name="c1-card-2"/>
          <p:cNvGrpSpPr/>
          <p:nvPr/>
        </p:nvGrpSpPr>
        <p:grpSpPr>
          <a:xfrm>
            <a:off x="533400" y="5144452"/>
            <a:ext cx="6059805" cy="1160145"/>
            <a:chOff x="533400" y="5144452"/>
            <a:chExt cx="6059805" cy="1160145"/>
          </a:xfrm>
        </p:grpSpPr>
        <p:sp>
          <p:nvSpPr>
            <p:cNvPr id="15" name="Rectangle 15"/>
            <p:cNvSpPr/>
            <p:nvPr/>
          </p:nvSpPr>
          <p:spPr>
            <a:xfrm>
              <a:off x="533400" y="5144452"/>
              <a:ext cx="6059805" cy="1160145"/>
            </a:xfrm>
            <a:prstGeom prst="roundRect">
              <a:avLst>
                <a:gd name="adj" fmla="val 11494"/>
              </a:avLst>
            </a:prstGeom>
            <a:solidFill>
              <a:srgbClr val="5B3FA0"/>
            </a:solidFill>
            <a:ln>
              <a:noFill/>
            </a:ln>
          </p:spPr>
        </p:sp>
        <p:sp>
          <p:nvSpPr>
            <p:cNvPr id="16" name="Rectangle 16"/>
            <p:cNvSpPr/>
            <p:nvPr/>
          </p:nvSpPr>
          <p:spPr>
            <a:xfrm>
              <a:off x="714375" y="5325428"/>
              <a:ext cx="831532" cy="238125"/>
            </a:xfrm>
            <a:prstGeom prst="roundRect">
              <a:avLst>
                <a:gd name="adj" fmla="val 50000"/>
              </a:avLst>
            </a:prstGeom>
            <a:solidFill>
              <a:srgbClr val="462F80"/>
            </a:solidFill>
            <a:ln>
              <a:noFill/>
            </a:ln>
          </p:spPr>
        </p:sp>
        <p:sp>
          <p:nvSpPr>
            <p:cNvPr id="17" name="TextBox 17"/>
            <p:cNvSpPr txBox="1"/>
            <p:nvPr/>
          </p:nvSpPr>
          <p:spPr>
            <a:xfrm>
              <a:off x="795846" y="5358289"/>
              <a:ext cx="669544"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读这段代码</a:t>
              </a:r>
            </a:p>
          </p:txBody>
        </p:sp>
        <p:sp>
          <p:nvSpPr>
            <p:cNvPr id="18" name="TextBox 18"/>
            <p:cNvSpPr txBox="1"/>
            <p:nvPr/>
          </p:nvSpPr>
          <p:spPr>
            <a:xfrm>
              <a:off x="1653730" y="5364956"/>
              <a:ext cx="2769972"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判断条件要写成方法，不能写成字段</a:t>
              </a:r>
            </a:p>
          </p:txBody>
        </p:sp>
        <p:sp>
          <p:nvSpPr>
            <p:cNvPr id="19" name="TextBox 19"/>
            <p:cNvSpPr txBox="1"/>
            <p:nvPr/>
          </p:nvSpPr>
          <p:spPr>
            <a:xfrm>
              <a:off x="707898" y="5682139"/>
              <a:ext cx="5409946" cy="492252"/>
            </a:xfrm>
            <a:prstGeom prst="rect">
              <a:avLst/>
            </a:prstGeom>
            <a:noFill/>
            <a:ln>
              <a:noFill/>
            </a:ln>
          </p:spPr>
          <p:txBody>
            <a:bodyPr wrap="none" lIns="0" tIns="0" rIns="0" bIns="0" anchor="t" anchorCtr="0">
              <a:spAutoFit/>
            </a:bodyPr>
            <a:lstStyle/>
            <a:p>
              <a:pPr algn="l">
                <a:lnSpc>
                  <a:spcPts val="1912"/>
                </a:lnSpc>
              </a:pPr>
              <a:r>
                <a:rPr lang="en-US" sz="1280" dirty="0">
                  <a:solidFill>
                    <a:srgbClr val="EEEAF7"/>
                  </a:solidFill>
                  <a:latin typeface="+mn-lt"/>
                  <a:ea typeface="+mn-ea"/>
                  <a:cs typeface="+mn-cs"/>
                </a:rPr>
                <a:t>if</a:t>
              </a:r>
              <a:r>
                <a:rPr lang="zh-CN" sz="1280" dirty="0">
                  <a:solidFill>
                    <a:srgbClr val="FFFFFF"/>
                  </a:solidFill>
                  <a:latin typeface="+mn-lt"/>
                  <a:ea typeface="+mn-ea"/>
                  <a:cs typeface="+mn-cs"/>
                </a:rPr>
                <a:t xml:space="preserve"> 的条件写成 </a:t>
              </a:r>
              <a:r>
                <a:rPr lang="en-US" sz="1280" dirty="0">
                  <a:solidFill>
                    <a:srgbClr val="EEEAF7"/>
                  </a:solidFill>
                  <a:latin typeface="+mn-lt"/>
                  <a:ea typeface="+mn-ea"/>
                  <a:cs typeface="+mn-cs"/>
                </a:rPr>
                <a:t>isPrint()</a:t>
              </a:r>
              <a:r>
                <a:rPr lang="zh-CN" sz="1280" dirty="0">
                  <a:solidFill>
                    <a:srgbClr val="FFFFFF"/>
                  </a:solidFill>
                  <a:latin typeface="+mn-lt"/>
                  <a:ea typeface="+mn-ea"/>
                  <a:cs typeface="+mn-cs"/>
                </a:rPr>
                <a:t xml:space="preserve"> 这样一个方法调用，子类才有机会覆盖它。写成布</a:t>
              </a:r>
              <a:br/>
              <a:r>
                <a:rPr lang="zh-CN" sz="1280" dirty="0">
                  <a:solidFill>
                    <a:srgbClr val="FFFFFF"/>
                  </a:solidFill>
                  <a:latin typeface="+mn-lt"/>
                  <a:ea typeface="+mn-ea"/>
                  <a:cs typeface="+mn-cs"/>
                </a:rPr>
                <a:t>尔字段，子类只能在构造时改值，控制权又回到调用者手上。</a:t>
              </a:r>
            </a:p>
          </p:txBody>
        </p:sp>
      </p:grpSp>
      <p:grpSp>
        <p:nvGrpSpPr>
          <p:cNvPr id="26" name="c2-kv-1"/>
          <p:cNvGrpSpPr/>
          <p:nvPr/>
        </p:nvGrpSpPr>
        <p:grpSpPr>
          <a:xfrm>
            <a:off x="6891528" y="1949291"/>
            <a:ext cx="4767072" cy="1103757"/>
            <a:chOff x="6891528" y="1949291"/>
            <a:chExt cx="4767072" cy="1103757"/>
          </a:xfrm>
        </p:grpSpPr>
        <p:sp>
          <p:nvSpPr>
            <p:cNvPr id="21" name="TextBox 21"/>
            <p:cNvSpPr txBox="1"/>
            <p:nvPr/>
          </p:nvSpPr>
          <p:spPr>
            <a:xfrm>
              <a:off x="6891528" y="1949291"/>
              <a:ext cx="529895" cy="249364"/>
            </a:xfrm>
            <a:prstGeom prst="rect">
              <a:avLst/>
            </a:prstGeom>
            <a:noFill/>
            <a:ln>
              <a:noFill/>
            </a:ln>
          </p:spPr>
          <p:txBody>
            <a:bodyPr wrap="none" lIns="0" tIns="0" rIns="0" bIns="0" anchor="t" anchorCtr="0">
              <a:spAutoFit/>
            </a:bodyPr>
            <a:lstStyle/>
            <a:p>
              <a:pPr algn="l"/>
              <a:r>
                <a:rPr lang="zh-CN" sz="1280" b="1" dirty="0">
                  <a:solidFill>
                    <a:srgbClr val="5B3FA0"/>
                  </a:solidFill>
                  <a:latin typeface="+mn-lt"/>
                  <a:ea typeface="+mn-ea"/>
                  <a:cs typeface="+mn-cs"/>
                </a:rPr>
                <a:t>第一类</a:t>
              </a:r>
            </a:p>
          </p:txBody>
        </p:sp>
        <p:sp>
          <p:nvSpPr>
            <p:cNvPr id="22" name="TextBox 22"/>
            <p:cNvSpPr txBox="1"/>
            <p:nvPr/>
          </p:nvSpPr>
          <p:spPr>
            <a:xfrm>
              <a:off x="7646861" y="1949291"/>
              <a:ext cx="3768090"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返回 boolean 的判断方法，名字一般写成 isXxx()，</a:t>
              </a:r>
              <a:br/>
              <a:r>
                <a:rPr lang="zh-CN" sz="1280" dirty="0">
                  <a:solidFill>
                    <a:srgbClr val="1F2937"/>
                  </a:solidFill>
                  <a:latin typeface="+mn-lt"/>
                  <a:ea typeface="+mn-ea"/>
                  <a:cs typeface="+mn-cs"/>
                </a:rPr>
                <a:t>子类改成 false 这一步就不执行</a:t>
              </a:r>
            </a:p>
          </p:txBody>
        </p:sp>
        <p:sp>
          <p:nvSpPr>
            <p:cNvPr id="23" name="Rectangle 23"/>
            <p:cNvSpPr/>
            <p:nvPr/>
          </p:nvSpPr>
          <p:spPr>
            <a:xfrm>
              <a:off x="6898005" y="2461260"/>
              <a:ext cx="4760595" cy="9525"/>
            </a:xfrm>
            <a:prstGeom prst="rect">
              <a:avLst/>
            </a:prstGeom>
            <a:solidFill>
              <a:srgbClr val="D9DFEA"/>
            </a:solidFill>
            <a:ln>
              <a:noFill/>
            </a:ln>
          </p:spPr>
        </p:sp>
        <p:sp>
          <p:nvSpPr>
            <p:cNvPr id="24" name="TextBox 24"/>
            <p:cNvSpPr txBox="1"/>
            <p:nvPr/>
          </p:nvSpPr>
          <p:spPr>
            <a:xfrm>
              <a:off x="6891528" y="2563654"/>
              <a:ext cx="529895" cy="249364"/>
            </a:xfrm>
            <a:prstGeom prst="rect">
              <a:avLst/>
            </a:prstGeom>
            <a:noFill/>
            <a:ln>
              <a:noFill/>
            </a:ln>
          </p:spPr>
          <p:txBody>
            <a:bodyPr wrap="none" lIns="0" tIns="0" rIns="0" bIns="0" anchor="t" anchorCtr="0">
              <a:spAutoFit/>
            </a:bodyPr>
            <a:lstStyle/>
            <a:p>
              <a:pPr algn="l"/>
              <a:r>
                <a:rPr lang="zh-CN" sz="1280" b="1" dirty="0">
                  <a:solidFill>
                    <a:srgbClr val="5B3FA0"/>
                  </a:solidFill>
                  <a:latin typeface="+mn-lt"/>
                  <a:ea typeface="+mn-ea"/>
                  <a:cs typeface="+mn-cs"/>
                </a:rPr>
                <a:t>第二类</a:t>
              </a:r>
            </a:p>
          </p:txBody>
        </p:sp>
        <p:sp>
          <p:nvSpPr>
            <p:cNvPr id="25" name="TextBox 25"/>
            <p:cNvSpPr txBox="1"/>
            <p:nvPr/>
          </p:nvSpPr>
          <p:spPr>
            <a:xfrm>
              <a:off x="7646861" y="2563654"/>
              <a:ext cx="3751834" cy="489394"/>
            </a:xfrm>
            <a:prstGeom prst="rect">
              <a:avLst/>
            </a:prstGeom>
            <a:noFill/>
            <a:ln>
              <a:noFill/>
            </a:ln>
          </p:spPr>
          <p:txBody>
            <a:bodyPr wrap="none" lIns="0" tIns="0" rIns="0" bIns="0" anchor="t" anchorCtr="0">
              <a:spAutoFit/>
            </a:bodyPr>
            <a:lstStyle/>
            <a:p>
              <a:pPr algn="l">
                <a:lnSpc>
                  <a:spcPts val="1890"/>
                </a:lnSpc>
              </a:pPr>
              <a:r>
                <a:rPr lang="zh-CN" sz="1280" dirty="0">
                  <a:solidFill>
                    <a:srgbClr val="1F2937"/>
                  </a:solidFill>
                  <a:latin typeface="+mn-lt"/>
                  <a:ea typeface="+mn-ea"/>
                  <a:cs typeface="+mn-cs"/>
                </a:rPr>
                <a:t>实现体为空的具体方法，子类要扩展就覆盖它，不覆</a:t>
              </a:r>
              <a:br/>
              <a:r>
                <a:rPr lang="zh-CN" sz="1280" dirty="0">
                  <a:solidFill>
                    <a:srgbClr val="1F2937"/>
                  </a:solidFill>
                  <a:latin typeface="+mn-lt"/>
                  <a:ea typeface="+mn-ea"/>
                  <a:cs typeface="+mn-cs"/>
                </a:rPr>
                <a:t>盖也不影响编译</a:t>
              </a:r>
            </a:p>
          </p:txBody>
        </p:sp>
      </p:grpSp>
      <p:grpSp>
        <p:nvGrpSpPr>
          <p:cNvPr id="30" name="c2-code-2"/>
          <p:cNvGrpSpPr/>
          <p:nvPr/>
        </p:nvGrpSpPr>
        <p:grpSpPr>
          <a:xfrm>
            <a:off x="6898005" y="3167062"/>
            <a:ext cx="4760595" cy="1063942"/>
            <a:chOff x="6898005" y="3167062"/>
            <a:chExt cx="4760595" cy="1063942"/>
          </a:xfrm>
        </p:grpSpPr>
        <p:sp>
          <p:nvSpPr>
            <p:cNvPr id="27" name="Rectangle 27"/>
            <p:cNvSpPr/>
            <p:nvPr/>
          </p:nvSpPr>
          <p:spPr>
            <a:xfrm>
              <a:off x="6898005" y="3167062"/>
              <a:ext cx="4760595" cy="1063942"/>
            </a:xfrm>
            <a:prstGeom prst="roundRect">
              <a:avLst>
                <a:gd name="adj" fmla="val 8953"/>
              </a:avLst>
            </a:prstGeom>
            <a:solidFill>
              <a:srgbClr val="F6F8FA"/>
            </a:solidFill>
            <a:ln w="11430">
              <a:solidFill>
                <a:srgbClr val="D9DFEA"/>
              </a:solidFill>
            </a:ln>
          </p:spPr>
        </p:sp>
        <p:sp>
          <p:nvSpPr>
            <p:cNvPr id="28" name="TextBox 28"/>
            <p:cNvSpPr txBox="1"/>
            <p:nvPr/>
          </p:nvSpPr>
          <p:spPr>
            <a:xfrm>
              <a:off x="7026402" y="3318986"/>
              <a:ext cx="106532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子类把这一步关掉</a:t>
              </a:r>
            </a:p>
          </p:txBody>
        </p:sp>
        <p:sp>
          <p:nvSpPr>
            <p:cNvPr id="29" name="TextBox 29"/>
            <p:cNvSpPr txBox="1"/>
            <p:nvPr/>
          </p:nvSpPr>
          <p:spPr>
            <a:xfrm>
              <a:off x="7026592" y="3576923"/>
              <a:ext cx="2610739" cy="564832"/>
            </a:xfrm>
            <a:prstGeom prst="rect">
              <a:avLst/>
            </a:prstGeom>
            <a:noFill/>
            <a:ln>
              <a:noFill/>
            </a:ln>
          </p:spPr>
          <p:txBody>
            <a:bodyPr wrap="none" lIns="0" tIns="0" rIns="0" bIns="0" anchor="t" anchorCtr="0">
              <a:spAutoFit/>
            </a:bodyPr>
            <a:lstStyle/>
            <a:p>
              <a:pPr algn="l">
                <a:lnSpc>
                  <a:spcPts val="1088"/>
                </a:lnSpc>
              </a:pPr>
              <a:r>
                <a:rPr lang="en-US" sz="760" b="1" dirty="0">
                  <a:solidFill>
                    <a:srgbClr val="5B3FA0"/>
                  </a:solidFill>
                  <a:latin typeface="Consolas"/>
                  <a:ea typeface="Consolas"/>
                  <a:cs typeface="Consolas"/>
                </a:rPr>
                <a:t>public</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class</a:t>
              </a:r>
              <a:r>
                <a:rPr lang="en-US" sz="760" dirty="0">
                  <a:solidFill>
                    <a:srgbClr val="1F2937"/>
                  </a:solidFill>
                  <a:latin typeface="Consolas"/>
                  <a:ea typeface="Consolas"/>
                  <a:cs typeface="Consolas"/>
                </a:rPr>
                <a:t xml:space="preserve"> DraftDocument </a:t>
              </a:r>
              <a:r>
                <a:rPr lang="en-US" sz="760" b="1" dirty="0">
                  <a:solidFill>
                    <a:srgbClr val="5B3FA0"/>
                  </a:solidFill>
                  <a:latin typeface="Consolas"/>
                  <a:ea typeface="Consolas"/>
                  <a:cs typeface="Consolas"/>
                </a:rPr>
                <a:t>extends</a:t>
              </a:r>
              <a:r>
                <a:rPr lang="en-US" sz="760" dirty="0">
                  <a:solidFill>
                    <a:srgbClr val="1F2937"/>
                  </a:solidFill>
                  <a:latin typeface="Consolas"/>
                  <a:ea typeface="Consolas"/>
                  <a:cs typeface="Consolas"/>
                </a:rPr>
                <a:t xml:space="preserve"> Document {</a:t>
              </a:r>
              <a:br/>
              <a:r>
                <a:rPr lang="en-US" sz="760" dirty="0">
                  <a:solidFill>
                    <a:srgbClr val="1F2937"/>
                  </a:solidFill>
                  <a:latin typeface="Consolas"/>
                  <a:ea typeface="Consolas"/>
                  <a:cs typeface="Consolas"/>
                </a:rPr>
                <a:t xml:space="preserve">    @Override</a:t>
              </a:r>
              <a:b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protected</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boolean</a:t>
              </a:r>
              <a:r>
                <a:rPr lang="en-US" sz="760" dirty="0">
                  <a:solidFill>
                    <a:srgbClr val="1F2937"/>
                  </a:solidFill>
                  <a:latin typeface="Consolas"/>
                  <a:ea typeface="Consolas"/>
                  <a:cs typeface="Consolas"/>
                </a:rPr>
                <a:t xml:space="preserve"> isPrint() { </a:t>
              </a:r>
              <a:r>
                <a:rPr lang="en-US" sz="760" b="1" dirty="0">
                  <a:solidFill>
                    <a:srgbClr val="5B3FA0"/>
                  </a:solidFill>
                  <a:latin typeface="Consolas"/>
                  <a:ea typeface="Consolas"/>
                  <a:cs typeface="Consolas"/>
                </a:rPr>
                <a:t>return</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false</a:t>
              </a:r>
              <a:r>
                <a:rPr lang="zh-CN" sz="760" dirty="0">
                  <a:solidFill>
                    <a:srgbClr val="1F2937"/>
                  </a:solidFill>
                  <a:latin typeface="Consolas"/>
                  <a:ea typeface="Consolas"/>
                  <a:cs typeface="Consolas"/>
                </a:rPr>
                <a:t>; }</a:t>
              </a:r>
              <a:br/>
              <a:r>
                <a:rPr lang="zh-CN" sz="760" dirty="0">
                  <a:solidFill>
                    <a:srgbClr val="1F2937"/>
                  </a:solidFill>
                  <a:latin typeface="Consolas"/>
                  <a:ea typeface="Consolas"/>
                  <a:cs typeface="Consolas"/>
                </a:rPr>
                <a:t>}</a:t>
              </a:r>
            </a:p>
          </p:txBody>
        </p:sp>
      </p:grpSp>
      <p:grpSp>
        <p:nvGrpSpPr>
          <p:cNvPr id="37" name="c2-card-3"/>
          <p:cNvGrpSpPr/>
          <p:nvPr/>
        </p:nvGrpSpPr>
        <p:grpSpPr>
          <a:xfrm>
            <a:off x="6898005" y="4395788"/>
            <a:ext cx="4760595" cy="1908810"/>
            <a:chOff x="6898005" y="4395788"/>
            <a:chExt cx="4760595" cy="1908810"/>
          </a:xfrm>
        </p:grpSpPr>
        <p:sp>
          <p:nvSpPr>
            <p:cNvPr id="31" name="Rectangle 31"/>
            <p:cNvSpPr/>
            <p:nvPr/>
          </p:nvSpPr>
          <p:spPr>
            <a:xfrm>
              <a:off x="6898005" y="4395788"/>
              <a:ext cx="4760595" cy="1908810"/>
            </a:xfrm>
            <a:prstGeom prst="roundRect">
              <a:avLst>
                <a:gd name="adj" fmla="val 6986"/>
              </a:avLst>
            </a:prstGeom>
            <a:solidFill>
              <a:srgbClr val="FFFFFF"/>
            </a:solidFill>
            <a:ln w="14288">
              <a:solidFill>
                <a:srgbClr val="D9DFEA"/>
              </a:solidFill>
            </a:ln>
          </p:spPr>
        </p:sp>
        <p:sp>
          <p:nvSpPr>
            <p:cNvPr id="32" name="Rectangle 32"/>
            <p:cNvSpPr/>
            <p:nvPr/>
          </p:nvSpPr>
          <p:spPr>
            <a:xfrm>
              <a:off x="6907530" y="4529138"/>
              <a:ext cx="47625" cy="1642110"/>
            </a:xfrm>
            <a:prstGeom prst="roundRect">
              <a:avLst>
                <a:gd name="adj" fmla="val 50000"/>
              </a:avLst>
            </a:prstGeom>
            <a:solidFill>
              <a:srgbClr val="5B6475"/>
            </a:solidFill>
            <a:ln>
              <a:noFill/>
            </a:ln>
          </p:spPr>
        </p:sp>
        <p:sp>
          <p:nvSpPr>
            <p:cNvPr id="33" name="Rectangle 33"/>
            <p:cNvSpPr/>
            <p:nvPr/>
          </p:nvSpPr>
          <p:spPr>
            <a:xfrm>
              <a:off x="7117080" y="4576762"/>
              <a:ext cx="458152" cy="238125"/>
            </a:xfrm>
            <a:prstGeom prst="roundRect">
              <a:avLst>
                <a:gd name="adj" fmla="val 50000"/>
              </a:avLst>
            </a:prstGeom>
            <a:solidFill>
              <a:srgbClr val="F4F6FB"/>
            </a:solidFill>
            <a:ln>
              <a:noFill/>
            </a:ln>
          </p:spPr>
        </p:sp>
        <p:sp>
          <p:nvSpPr>
            <p:cNvPr id="34" name="TextBox 34"/>
            <p:cNvSpPr txBox="1"/>
            <p:nvPr/>
          </p:nvSpPr>
          <p:spPr>
            <a:xfrm>
              <a:off x="7208799" y="4609624"/>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a:t>
              </a:r>
            </a:p>
          </p:txBody>
        </p:sp>
        <p:sp>
          <p:nvSpPr>
            <p:cNvPr id="35" name="TextBox 35"/>
            <p:cNvSpPr txBox="1"/>
            <p:nvPr/>
          </p:nvSpPr>
          <p:spPr>
            <a:xfrm>
              <a:off x="7683056" y="4616291"/>
              <a:ext cx="2578021"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源课件这段 C# 代码里钩子失效了</a:t>
              </a:r>
            </a:p>
          </p:txBody>
        </p:sp>
        <p:sp>
          <p:nvSpPr>
            <p:cNvPr id="36" name="TextBox 36"/>
            <p:cNvSpPr txBox="1"/>
            <p:nvPr/>
          </p:nvSpPr>
          <p:spPr>
            <a:xfrm>
              <a:off x="7110603" y="4932521"/>
              <a:ext cx="4117594" cy="1220914"/>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第 13 页把钩子写成 </a:t>
              </a:r>
              <a:r>
                <a:rPr lang="en-US" sz="1280" dirty="0">
                  <a:solidFill>
                    <a:srgbClr val="462F80"/>
                  </a:solidFill>
                  <a:latin typeface="+mn-lt"/>
                  <a:ea typeface="+mn-ea"/>
                  <a:cs typeface="+mn-cs"/>
                </a:rPr>
                <a:t>public bool IsPrint()</a:t>
              </a:r>
              <a:r>
                <a:rPr lang="zh-CN" sz="1280" dirty="0">
                  <a:solidFill>
                    <a:srgbClr val="1F2937"/>
                  </a:solidFill>
                  <a:latin typeface="+mn-lt"/>
                  <a:ea typeface="+mn-ea"/>
                  <a:cs typeface="+mn-cs"/>
                </a:rPr>
                <a:t>，缺了</a:t>
              </a:r>
              <a:br/>
              <a:r>
                <a:rPr lang="en-US" sz="1280" dirty="0">
                  <a:solidFill>
                    <a:srgbClr val="462F80"/>
                  </a:solidFill>
                  <a:latin typeface="+mn-lt"/>
                  <a:ea typeface="+mn-ea"/>
                  <a:cs typeface="+mn-cs"/>
                </a:rPr>
                <a:t>virtual</a:t>
              </a:r>
              <a:r>
                <a:rPr lang="zh-CN" sz="1280" dirty="0">
                  <a:solidFill>
                    <a:srgbClr val="1F2937"/>
                  </a:solidFill>
                  <a:latin typeface="+mn-lt"/>
                  <a:ea typeface="+mn-ea"/>
                  <a:cs typeface="+mn-cs"/>
                </a:rPr>
                <a:t xml:space="preserve">。C# 里非虚方法不能被 </a:t>
              </a:r>
              <a:r>
                <a:rPr lang="en-US" sz="1280" dirty="0">
                  <a:solidFill>
                    <a:srgbClr val="462F80"/>
                  </a:solidFill>
                  <a:latin typeface="+mn-lt"/>
                  <a:ea typeface="+mn-ea"/>
                  <a:cs typeface="+mn-cs"/>
                </a:rPr>
                <a:t>override</a:t>
              </a:r>
              <a:r>
                <a:rPr lang="zh-CN" sz="1280" dirty="0">
                  <a:solidFill>
                    <a:srgbClr val="1F2937"/>
                  </a:solidFill>
                  <a:latin typeface="+mn-lt"/>
                  <a:ea typeface="+mn-ea"/>
                  <a:cs typeface="+mn-cs"/>
                </a:rPr>
                <a:t>，父类的</a:t>
              </a:r>
              <a:br/>
              <a:r>
                <a:rPr lang="en-US" sz="1280" dirty="0">
                  <a:solidFill>
                    <a:srgbClr val="462F80"/>
                  </a:solidFill>
                  <a:latin typeface="+mn-lt"/>
                  <a:ea typeface="+mn-ea"/>
                  <a:cs typeface="+mn-cs"/>
                </a:rPr>
                <a:t>TemplateMethod()</a:t>
              </a:r>
              <a:r>
                <a:rPr lang="zh-CN" sz="1280" dirty="0">
                  <a:solidFill>
                    <a:srgbClr val="1F2937"/>
                  </a:solidFill>
                  <a:latin typeface="+mn-lt"/>
                  <a:ea typeface="+mn-ea"/>
                  <a:cs typeface="+mn-cs"/>
                </a:rPr>
                <a:t xml:space="preserve"> 调到的仍是父类那个版本，钩子等于</a:t>
              </a:r>
              <a:br/>
              <a:r>
                <a:rPr lang="zh-CN" sz="1280" dirty="0">
                  <a:solidFill>
                    <a:srgbClr val="1F2937"/>
                  </a:solidFill>
                  <a:latin typeface="+mn-lt"/>
                  <a:ea typeface="+mn-ea"/>
                  <a:cs typeface="+mn-cs"/>
                </a:rPr>
                <a:t>白写。改写成 Java 后方法默认可覆盖，不用额外关键</a:t>
              </a:r>
              <a:br/>
              <a:r>
                <a:rPr lang="zh-CN" sz="1280" dirty="0">
                  <a:solidFill>
                    <a:srgbClr val="1F2937"/>
                  </a:solidFill>
                  <a:latin typeface="+mn-lt"/>
                  <a:ea typeface="+mn-ea"/>
                  <a:cs typeface="+mn-cs"/>
                </a:rPr>
                <a:t>字。</a:t>
              </a:r>
            </a:p>
          </p:txBody>
        </p:sp>
      </p:grpSp>
      <p:grpSp>
        <p:nvGrpSpPr>
          <p:cNvPr id="40" name="footer"/>
          <p:cNvGrpSpPr/>
          <p:nvPr/>
        </p:nvGrpSpPr>
        <p:grpSpPr>
          <a:xfrm>
            <a:off x="528447" y="6581299"/>
            <a:ext cx="11135106" cy="190690"/>
            <a:chOff x="528447" y="6581299"/>
            <a:chExt cx="11135106" cy="190690"/>
          </a:xfrm>
        </p:grpSpPr>
        <p:sp>
          <p:nvSpPr>
            <p:cNvPr id="38" name="TextBox 38"/>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39" name="TextBox 3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结构、两个角色与三种基本方法</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反向控制：父类调子类，不是子类调父类</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21" name="c1-flow-1"/>
          <p:cNvGrpSpPr/>
          <p:nvPr/>
        </p:nvGrpSpPr>
        <p:grpSpPr>
          <a:xfrm>
            <a:off x="1891665" y="1685925"/>
            <a:ext cx="2476500" cy="1844041"/>
            <a:chOff x="1891665" y="1685925"/>
            <a:chExt cx="2476500" cy="1844041"/>
          </a:xfrm>
        </p:grpSpPr>
        <p:sp>
          <p:nvSpPr>
            <p:cNvPr id="7" name="Freeform 7"/>
            <p:cNvSpPr/>
            <p:nvPr/>
          </p:nvSpPr>
          <p:spPr>
            <a:xfrm>
              <a:off x="3129915" y="2084070"/>
              <a:ext cx="9525" cy="219075"/>
            </a:xfrm>
            <a:custGeom>
              <a:avLst/>
              <a:gdLst/>
              <a:ahLst/>
              <a:cxnLst/>
              <a:rect l="l" t="t" r="r" b="b"/>
              <a:pathLst>
                <a:path w="9525" h="219075">
                  <a:moveTo>
                    <a:pt x="0" y="0"/>
                  </a:moveTo>
                  <a:lnTo>
                    <a:pt x="0" y="219075"/>
                  </a:lnTo>
                </a:path>
              </a:pathLst>
            </a:custGeom>
            <a:noFill/>
            <a:ln w="15240">
              <a:solidFill>
                <a:srgbClr val="5B6475"/>
              </a:solidFill>
            </a:ln>
          </p:spPr>
        </p:sp>
        <p:sp>
          <p:nvSpPr>
            <p:cNvPr id="8" name="Freeform 8"/>
            <p:cNvSpPr/>
            <p:nvPr/>
          </p:nvSpPr>
          <p:spPr>
            <a:xfrm>
              <a:off x="3077528" y="2303145"/>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9" name="Freeform 9"/>
            <p:cNvSpPr/>
            <p:nvPr/>
          </p:nvSpPr>
          <p:spPr>
            <a:xfrm>
              <a:off x="3129915" y="2807018"/>
              <a:ext cx="9525" cy="219075"/>
            </a:xfrm>
            <a:custGeom>
              <a:avLst/>
              <a:gdLst/>
              <a:ahLst/>
              <a:cxnLst/>
              <a:rect l="l" t="t" r="r" b="b"/>
              <a:pathLst>
                <a:path w="9525" h="219075">
                  <a:moveTo>
                    <a:pt x="0" y="0"/>
                  </a:moveTo>
                  <a:lnTo>
                    <a:pt x="0" y="219075"/>
                  </a:lnTo>
                </a:path>
              </a:pathLst>
            </a:custGeom>
            <a:noFill/>
            <a:ln w="15240">
              <a:solidFill>
                <a:srgbClr val="5B6475"/>
              </a:solidFill>
            </a:ln>
          </p:spPr>
        </p:sp>
        <p:sp>
          <p:nvSpPr>
            <p:cNvPr id="10" name="Freeform 10"/>
            <p:cNvSpPr/>
            <p:nvPr/>
          </p:nvSpPr>
          <p:spPr>
            <a:xfrm>
              <a:off x="3077528" y="3026092"/>
              <a:ext cx="104775" cy="104775"/>
            </a:xfrm>
            <a:custGeom>
              <a:avLst/>
              <a:gdLst/>
              <a:ahLst/>
              <a:cxnLst/>
              <a:rect l="l" t="t" r="r" b="b"/>
              <a:pathLst>
                <a:path w="104775" h="104775">
                  <a:moveTo>
                    <a:pt x="52388" y="104775"/>
                  </a:moveTo>
                  <a:lnTo>
                    <a:pt x="0" y="0"/>
                  </a:lnTo>
                  <a:lnTo>
                    <a:pt x="104775" y="0"/>
                  </a:lnTo>
                  <a:close/>
                </a:path>
              </a:pathLst>
            </a:custGeom>
            <a:solidFill>
              <a:srgbClr val="5B6475"/>
            </a:solidFill>
            <a:ln>
              <a:noFill/>
            </a:ln>
          </p:spPr>
        </p:sp>
        <p:sp>
          <p:nvSpPr>
            <p:cNvPr id="11" name="Rectangle 11"/>
            <p:cNvSpPr/>
            <p:nvPr/>
          </p:nvSpPr>
          <p:spPr>
            <a:xfrm>
              <a:off x="2082165" y="1685925"/>
              <a:ext cx="2095500" cy="399098"/>
            </a:xfrm>
            <a:prstGeom prst="roundRect">
              <a:avLst>
                <a:gd name="adj" fmla="val 23866"/>
              </a:avLst>
            </a:prstGeom>
            <a:solidFill>
              <a:srgbClr val="FFFFFF"/>
            </a:solidFill>
            <a:ln w="15240">
              <a:solidFill>
                <a:srgbClr val="5B3FA0"/>
              </a:solidFill>
            </a:ln>
          </p:spPr>
        </p:sp>
        <p:sp>
          <p:nvSpPr>
            <p:cNvPr id="12" name="Rectangle 12"/>
            <p:cNvSpPr/>
            <p:nvPr/>
          </p:nvSpPr>
          <p:spPr>
            <a:xfrm>
              <a:off x="1891665" y="2407920"/>
              <a:ext cx="2476500" cy="399098"/>
            </a:xfrm>
            <a:prstGeom prst="roundRect">
              <a:avLst>
                <a:gd name="adj" fmla="val 23866"/>
              </a:avLst>
            </a:prstGeom>
            <a:solidFill>
              <a:srgbClr val="EEEAF7"/>
            </a:solidFill>
            <a:ln w="19050">
              <a:solidFill>
                <a:srgbClr val="5B3FA0"/>
              </a:solidFill>
            </a:ln>
          </p:spPr>
        </p:sp>
        <p:sp>
          <p:nvSpPr>
            <p:cNvPr id="13" name="Rectangle 13"/>
            <p:cNvSpPr/>
            <p:nvPr/>
          </p:nvSpPr>
          <p:spPr>
            <a:xfrm>
              <a:off x="1986915" y="3130868"/>
              <a:ext cx="2286000" cy="399098"/>
            </a:xfrm>
            <a:prstGeom prst="roundRect">
              <a:avLst>
                <a:gd name="adj" fmla="val 23866"/>
              </a:avLst>
            </a:prstGeom>
            <a:solidFill>
              <a:srgbClr val="FFFFFF"/>
            </a:solidFill>
            <a:ln w="15240">
              <a:solidFill>
                <a:srgbClr val="5B3FA0"/>
              </a:solidFill>
            </a:ln>
          </p:spPr>
        </p:sp>
        <p:sp>
          <p:nvSpPr>
            <p:cNvPr id="14" name="TextBox 14"/>
            <p:cNvSpPr txBox="1"/>
            <p:nvPr/>
          </p:nvSpPr>
          <p:spPr>
            <a:xfrm>
              <a:off x="2898038" y="1806416"/>
              <a:ext cx="463753"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客户端</a:t>
              </a:r>
            </a:p>
          </p:txBody>
        </p:sp>
        <p:sp>
          <p:nvSpPr>
            <p:cNvPr id="15" name="TextBox 15"/>
            <p:cNvSpPr txBox="1"/>
            <p:nvPr/>
          </p:nvSpPr>
          <p:spPr>
            <a:xfrm>
              <a:off x="2197887" y="2528411"/>
              <a:ext cx="1864055"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父类的 templateMethod()</a:t>
              </a:r>
            </a:p>
          </p:txBody>
        </p:sp>
        <p:sp>
          <p:nvSpPr>
            <p:cNvPr id="16" name="TextBox 16"/>
            <p:cNvSpPr txBox="1"/>
            <p:nvPr/>
          </p:nvSpPr>
          <p:spPr>
            <a:xfrm>
              <a:off x="2445715" y="3251359"/>
              <a:ext cx="1368400" cy="220028"/>
            </a:xfrm>
            <a:prstGeom prst="rect">
              <a:avLst/>
            </a:prstGeom>
            <a:noFill/>
            <a:ln>
              <a:noFill/>
            </a:ln>
          </p:spPr>
          <p:txBody>
            <a:bodyPr wrap="none" lIns="0" tIns="0" rIns="0" bIns="0" anchor="t" anchorCtr="0">
              <a:spAutoFit/>
            </a:bodyPr>
            <a:lstStyle/>
            <a:p>
              <a:pPr algn="ctr"/>
              <a:r>
                <a:rPr lang="zh-CN" sz="1120" dirty="0">
                  <a:solidFill>
                    <a:srgbClr val="1F2937"/>
                  </a:solidFill>
                  <a:latin typeface="+mn-lt"/>
                  <a:ea typeface="+mn-ea"/>
                  <a:cs typeface="+mn-cs"/>
                </a:rPr>
                <a:t>子类覆盖的基本方法</a:t>
              </a:r>
            </a:p>
          </p:txBody>
        </p:sp>
        <p:sp>
          <p:nvSpPr>
            <p:cNvPr id="17" name="Rectangle 17"/>
            <p:cNvSpPr/>
            <p:nvPr/>
          </p:nvSpPr>
          <p:spPr>
            <a:xfrm>
              <a:off x="3158490" y="2161222"/>
              <a:ext cx="717232" cy="179070"/>
            </a:xfrm>
            <a:prstGeom prst="roundRect">
              <a:avLst>
                <a:gd name="adj" fmla="val 21277"/>
              </a:avLst>
            </a:prstGeom>
            <a:solidFill>
              <a:srgbClr val="FFFFFF"/>
            </a:solidFill>
            <a:ln>
              <a:noFill/>
            </a:ln>
          </p:spPr>
        </p:sp>
        <p:sp>
          <p:nvSpPr>
            <p:cNvPr id="18" name="TextBox 18"/>
            <p:cNvSpPr txBox="1"/>
            <p:nvPr/>
          </p:nvSpPr>
          <p:spPr>
            <a:xfrm>
              <a:off x="3182112" y="2185511"/>
              <a:ext cx="66954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只调这一句</a:t>
              </a:r>
            </a:p>
          </p:txBody>
        </p:sp>
        <p:sp>
          <p:nvSpPr>
            <p:cNvPr id="19" name="Rectangle 19"/>
            <p:cNvSpPr/>
            <p:nvPr/>
          </p:nvSpPr>
          <p:spPr>
            <a:xfrm>
              <a:off x="3158490" y="2883218"/>
              <a:ext cx="1090612" cy="179070"/>
            </a:xfrm>
            <a:prstGeom prst="roundRect">
              <a:avLst>
                <a:gd name="adj" fmla="val 21277"/>
              </a:avLst>
            </a:prstGeom>
            <a:solidFill>
              <a:srgbClr val="FFFFFF"/>
            </a:solidFill>
            <a:ln>
              <a:noFill/>
            </a:ln>
          </p:spPr>
        </p:sp>
        <p:sp>
          <p:nvSpPr>
            <p:cNvPr id="20" name="TextBox 20"/>
            <p:cNvSpPr txBox="1"/>
            <p:nvPr/>
          </p:nvSpPr>
          <p:spPr>
            <a:xfrm>
              <a:off x="3182112" y="2907506"/>
              <a:ext cx="1065327"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父类反过来调子类</a:t>
              </a:r>
            </a:p>
          </p:txBody>
        </p:sp>
      </p:grpSp>
      <p:grpSp>
        <p:nvGrpSpPr>
          <p:cNvPr id="27" name="c1-card-2"/>
          <p:cNvGrpSpPr/>
          <p:nvPr/>
        </p:nvGrpSpPr>
        <p:grpSpPr>
          <a:xfrm>
            <a:off x="533400" y="3866198"/>
            <a:ext cx="5193982" cy="1722120"/>
            <a:chOff x="533400" y="3866198"/>
            <a:chExt cx="5193982" cy="1722120"/>
          </a:xfrm>
        </p:grpSpPr>
        <p:sp>
          <p:nvSpPr>
            <p:cNvPr id="22" name="Rectangle 22"/>
            <p:cNvSpPr/>
            <p:nvPr/>
          </p:nvSpPr>
          <p:spPr>
            <a:xfrm>
              <a:off x="533400" y="3866198"/>
              <a:ext cx="5193982" cy="1722120"/>
            </a:xfrm>
            <a:prstGeom prst="roundRect">
              <a:avLst>
                <a:gd name="adj" fmla="val 7743"/>
              </a:avLst>
            </a:prstGeom>
            <a:solidFill>
              <a:srgbClr val="5B3FA0"/>
            </a:solidFill>
            <a:ln>
              <a:noFill/>
            </a:ln>
          </p:spPr>
        </p:sp>
        <p:sp>
          <p:nvSpPr>
            <p:cNvPr id="23" name="Rectangle 23"/>
            <p:cNvSpPr/>
            <p:nvPr/>
          </p:nvSpPr>
          <p:spPr>
            <a:xfrm>
              <a:off x="725805" y="4058602"/>
              <a:ext cx="876300" cy="247650"/>
            </a:xfrm>
            <a:prstGeom prst="roundRect">
              <a:avLst>
                <a:gd name="adj" fmla="val 50000"/>
              </a:avLst>
            </a:prstGeom>
            <a:solidFill>
              <a:srgbClr val="462F80"/>
            </a:solidFill>
            <a:ln>
              <a:noFill/>
            </a:ln>
          </p:spPr>
        </p:sp>
        <p:sp>
          <p:nvSpPr>
            <p:cNvPr id="24" name="TextBox 24"/>
            <p:cNvSpPr txBox="1"/>
            <p:nvPr/>
          </p:nvSpPr>
          <p:spPr>
            <a:xfrm>
              <a:off x="805243" y="4092893"/>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好莱坞原则</a:t>
              </a:r>
            </a:p>
          </p:txBody>
        </p:sp>
        <p:sp>
          <p:nvSpPr>
            <p:cNvPr id="25" name="TextBox 25"/>
            <p:cNvSpPr txBox="1"/>
            <p:nvPr/>
          </p:nvSpPr>
          <p:spPr>
            <a:xfrm>
              <a:off x="1709547" y="4098608"/>
              <a:ext cx="2577648"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Don't call us, we'll call you</a:t>
              </a:r>
            </a:p>
          </p:txBody>
        </p:sp>
        <p:sp>
          <p:nvSpPr>
            <p:cNvPr id="26" name="TextBox 26"/>
            <p:cNvSpPr txBox="1"/>
            <p:nvPr/>
          </p:nvSpPr>
          <p:spPr>
            <a:xfrm>
              <a:off x="718947" y="4431982"/>
              <a:ext cx="447141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子类不显式调用父类的方法，而是通过覆盖父类的方法来实</a:t>
              </a:r>
              <a:br/>
              <a:r>
                <a:rPr lang="zh-CN" sz="1350" dirty="0">
                  <a:solidFill>
                    <a:srgbClr val="FFFFFF"/>
                  </a:solidFill>
                  <a:latin typeface="+mn-lt"/>
                  <a:ea typeface="+mn-ea"/>
                  <a:cs typeface="+mn-cs"/>
                </a:rPr>
                <a:t>现某些具体的业务逻辑，父类控制对子类的调用。</a:t>
              </a:r>
            </a:p>
          </p:txBody>
        </p:sp>
      </p:grpSp>
      <p:grpSp>
        <p:nvGrpSpPr>
          <p:cNvPr id="52" name="c2-compare-1"/>
          <p:cNvGrpSpPr/>
          <p:nvPr/>
        </p:nvGrpSpPr>
        <p:grpSpPr>
          <a:xfrm>
            <a:off x="6032182" y="1524000"/>
            <a:ext cx="5626418" cy="2102168"/>
            <a:chOff x="6032182" y="1524000"/>
            <a:chExt cx="5626418" cy="2102168"/>
          </a:xfrm>
        </p:grpSpPr>
        <p:sp>
          <p:nvSpPr>
            <p:cNvPr id="28" name="Rectangle 28"/>
            <p:cNvSpPr/>
            <p:nvPr/>
          </p:nvSpPr>
          <p:spPr>
            <a:xfrm>
              <a:off x="6032182" y="1524000"/>
              <a:ext cx="2604135" cy="2102168"/>
            </a:xfrm>
            <a:prstGeom prst="roundRect">
              <a:avLst>
                <a:gd name="adj" fmla="val 6343"/>
              </a:avLst>
            </a:prstGeom>
            <a:solidFill>
              <a:srgbClr val="FFFFFF"/>
            </a:solidFill>
            <a:ln w="14288">
              <a:solidFill>
                <a:srgbClr val="D9DFEA"/>
              </a:solidFill>
            </a:ln>
          </p:spPr>
        </p:sp>
        <p:sp>
          <p:nvSpPr>
            <p:cNvPr id="29" name="Rectangle 29"/>
            <p:cNvSpPr/>
            <p:nvPr/>
          </p:nvSpPr>
          <p:spPr>
            <a:xfrm>
              <a:off x="6041708" y="1657350"/>
              <a:ext cx="47625" cy="1835468"/>
            </a:xfrm>
            <a:prstGeom prst="roundRect">
              <a:avLst>
                <a:gd name="adj" fmla="val 50000"/>
              </a:avLst>
            </a:prstGeom>
            <a:solidFill>
              <a:srgbClr val="5B6475"/>
            </a:solidFill>
            <a:ln>
              <a:noFill/>
            </a:ln>
          </p:spPr>
        </p:sp>
        <p:sp>
          <p:nvSpPr>
            <p:cNvPr id="30" name="TextBox 30"/>
            <p:cNvSpPr txBox="1"/>
            <p:nvPr/>
          </p:nvSpPr>
          <p:spPr>
            <a:xfrm>
              <a:off x="6255830" y="1738312"/>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普通的继承复用</a:t>
              </a:r>
            </a:p>
          </p:txBody>
        </p:sp>
        <p:sp>
          <p:nvSpPr>
            <p:cNvPr id="31" name="Ellipse 31"/>
            <p:cNvSpPr/>
            <p:nvPr/>
          </p:nvSpPr>
          <p:spPr>
            <a:xfrm>
              <a:off x="6271260" y="2114550"/>
              <a:ext cx="59055" cy="59055"/>
            </a:xfrm>
            <a:prstGeom prst="ellipse">
              <a:avLst/>
            </a:prstGeom>
            <a:solidFill>
              <a:srgbClr val="5B3FA0"/>
            </a:solidFill>
            <a:ln>
              <a:noFill/>
            </a:ln>
          </p:spPr>
        </p:sp>
        <p:sp>
          <p:nvSpPr>
            <p:cNvPr id="32" name="TextBox 32"/>
            <p:cNvSpPr txBox="1"/>
            <p:nvPr/>
          </p:nvSpPr>
          <p:spPr>
            <a:xfrm>
              <a:off x="6427280" y="2058352"/>
              <a:ext cx="202191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子类重写方法并调 super</a:t>
              </a:r>
            </a:p>
          </p:txBody>
        </p:sp>
        <p:sp>
          <p:nvSpPr>
            <p:cNvPr id="33" name="Ellipse 33"/>
            <p:cNvSpPr/>
            <p:nvPr/>
          </p:nvSpPr>
          <p:spPr>
            <a:xfrm>
              <a:off x="6271260" y="2417445"/>
              <a:ext cx="59055" cy="59055"/>
            </a:xfrm>
            <a:prstGeom prst="ellipse">
              <a:avLst/>
            </a:prstGeom>
            <a:solidFill>
              <a:srgbClr val="5B3FA0"/>
            </a:solidFill>
            <a:ln>
              <a:noFill/>
            </a:ln>
          </p:spPr>
        </p:sp>
        <p:sp>
          <p:nvSpPr>
            <p:cNvPr id="34" name="TextBox 34"/>
            <p:cNvSpPr txBox="1"/>
            <p:nvPr/>
          </p:nvSpPr>
          <p:spPr>
            <a:xfrm>
              <a:off x="6427280" y="236124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调用次序写在子类里</a:t>
              </a:r>
            </a:p>
          </p:txBody>
        </p:sp>
        <p:sp>
          <p:nvSpPr>
            <p:cNvPr id="35" name="Ellipse 35"/>
            <p:cNvSpPr/>
            <p:nvPr/>
          </p:nvSpPr>
          <p:spPr>
            <a:xfrm>
              <a:off x="6271260" y="2719388"/>
              <a:ext cx="59055" cy="59055"/>
            </a:xfrm>
            <a:prstGeom prst="ellipse">
              <a:avLst/>
            </a:prstGeom>
            <a:solidFill>
              <a:srgbClr val="5B3FA0"/>
            </a:solidFill>
            <a:ln>
              <a:noFill/>
            </a:ln>
          </p:spPr>
        </p:sp>
        <p:sp>
          <p:nvSpPr>
            <p:cNvPr id="36" name="TextBox 36"/>
            <p:cNvSpPr txBox="1"/>
            <p:nvPr/>
          </p:nvSpPr>
          <p:spPr>
            <a:xfrm>
              <a:off x="6427280" y="2663190"/>
              <a:ext cx="1899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每个子类都可能把次序写</a:t>
              </a:r>
              <a:br/>
              <a:r>
                <a:rPr lang="zh-CN" sz="1350" dirty="0">
                  <a:solidFill>
                    <a:srgbClr val="1F2937"/>
                  </a:solidFill>
                  <a:latin typeface="+mn-lt"/>
                  <a:ea typeface="+mn-ea"/>
                  <a:cs typeface="+mn-cs"/>
                </a:rPr>
                <a:t>错</a:t>
              </a:r>
            </a:p>
          </p:txBody>
        </p:sp>
        <p:sp>
          <p:nvSpPr>
            <p:cNvPr id="37" name="Ellipse 37"/>
            <p:cNvSpPr/>
            <p:nvPr/>
          </p:nvSpPr>
          <p:spPr>
            <a:xfrm>
              <a:off x="6271260" y="3279457"/>
              <a:ext cx="59055" cy="59055"/>
            </a:xfrm>
            <a:prstGeom prst="ellipse">
              <a:avLst/>
            </a:prstGeom>
            <a:solidFill>
              <a:srgbClr val="5B3FA0"/>
            </a:solidFill>
            <a:ln>
              <a:noFill/>
            </a:ln>
          </p:spPr>
        </p:sp>
        <p:sp>
          <p:nvSpPr>
            <p:cNvPr id="38" name="TextBox 38"/>
            <p:cNvSpPr txBox="1"/>
            <p:nvPr/>
          </p:nvSpPr>
          <p:spPr>
            <a:xfrm>
              <a:off x="6427280" y="3223260"/>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父类被动地被使用</a:t>
              </a:r>
            </a:p>
          </p:txBody>
        </p:sp>
        <p:sp>
          <p:nvSpPr>
            <p:cNvPr id="39" name="Rectangle 39"/>
            <p:cNvSpPr/>
            <p:nvPr/>
          </p:nvSpPr>
          <p:spPr>
            <a:xfrm>
              <a:off x="9054465" y="1524000"/>
              <a:ext cx="2604135" cy="2102168"/>
            </a:xfrm>
            <a:prstGeom prst="roundRect">
              <a:avLst>
                <a:gd name="adj" fmla="val 6343"/>
              </a:avLst>
            </a:prstGeom>
            <a:solidFill>
              <a:srgbClr val="FFFFFF"/>
            </a:solidFill>
            <a:ln w="14288">
              <a:solidFill>
                <a:srgbClr val="D9DFEA"/>
              </a:solidFill>
            </a:ln>
          </p:spPr>
        </p:sp>
        <p:sp>
          <p:nvSpPr>
            <p:cNvPr id="40" name="Rectangle 40"/>
            <p:cNvSpPr/>
            <p:nvPr/>
          </p:nvSpPr>
          <p:spPr>
            <a:xfrm>
              <a:off x="9063990" y="1657350"/>
              <a:ext cx="47625" cy="1835468"/>
            </a:xfrm>
            <a:prstGeom prst="roundRect">
              <a:avLst>
                <a:gd name="adj" fmla="val 50000"/>
              </a:avLst>
            </a:prstGeom>
            <a:solidFill>
              <a:srgbClr val="14A38B"/>
            </a:solidFill>
            <a:ln>
              <a:noFill/>
            </a:ln>
          </p:spPr>
        </p:sp>
        <p:sp>
          <p:nvSpPr>
            <p:cNvPr id="41" name="TextBox 41"/>
            <p:cNvSpPr txBox="1"/>
            <p:nvPr/>
          </p:nvSpPr>
          <p:spPr>
            <a:xfrm>
              <a:off x="9278112" y="1738312"/>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模板方法模式</a:t>
              </a:r>
            </a:p>
          </p:txBody>
        </p:sp>
        <p:sp>
          <p:nvSpPr>
            <p:cNvPr id="42" name="Ellipse 42"/>
            <p:cNvSpPr/>
            <p:nvPr/>
          </p:nvSpPr>
          <p:spPr>
            <a:xfrm>
              <a:off x="9293542" y="2114550"/>
              <a:ext cx="59055" cy="59055"/>
            </a:xfrm>
            <a:prstGeom prst="ellipse">
              <a:avLst/>
            </a:prstGeom>
            <a:solidFill>
              <a:srgbClr val="5B3FA0"/>
            </a:solidFill>
            <a:ln>
              <a:noFill/>
            </a:ln>
          </p:spPr>
        </p:sp>
        <p:sp>
          <p:nvSpPr>
            <p:cNvPr id="43" name="TextBox 43"/>
            <p:cNvSpPr txBox="1"/>
            <p:nvPr/>
          </p:nvSpPr>
          <p:spPr>
            <a:xfrm>
              <a:off x="9449562" y="2058352"/>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子类只提供步骤的实现</a:t>
              </a:r>
            </a:p>
          </p:txBody>
        </p:sp>
        <p:sp>
          <p:nvSpPr>
            <p:cNvPr id="44" name="Ellipse 44"/>
            <p:cNvSpPr/>
            <p:nvPr/>
          </p:nvSpPr>
          <p:spPr>
            <a:xfrm>
              <a:off x="9293542" y="2417445"/>
              <a:ext cx="59055" cy="59055"/>
            </a:xfrm>
            <a:prstGeom prst="ellipse">
              <a:avLst/>
            </a:prstGeom>
            <a:solidFill>
              <a:srgbClr val="5B3FA0"/>
            </a:solidFill>
            <a:ln>
              <a:noFill/>
            </a:ln>
          </p:spPr>
        </p:sp>
        <p:sp>
          <p:nvSpPr>
            <p:cNvPr id="45" name="TextBox 45"/>
            <p:cNvSpPr txBox="1"/>
            <p:nvPr/>
          </p:nvSpPr>
          <p:spPr>
            <a:xfrm>
              <a:off x="9449562" y="236124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调用次序写在父类里</a:t>
              </a:r>
            </a:p>
          </p:txBody>
        </p:sp>
        <p:sp>
          <p:nvSpPr>
            <p:cNvPr id="46" name="Ellipse 46"/>
            <p:cNvSpPr/>
            <p:nvPr/>
          </p:nvSpPr>
          <p:spPr>
            <a:xfrm>
              <a:off x="9293542" y="2719388"/>
              <a:ext cx="59055" cy="59055"/>
            </a:xfrm>
            <a:prstGeom prst="ellipse">
              <a:avLst/>
            </a:prstGeom>
            <a:solidFill>
              <a:srgbClr val="5B3FA0"/>
            </a:solidFill>
            <a:ln>
              <a:noFill/>
            </a:ln>
          </p:spPr>
        </p:sp>
        <p:sp>
          <p:nvSpPr>
            <p:cNvPr id="47" name="TextBox 47"/>
            <p:cNvSpPr txBox="1"/>
            <p:nvPr/>
          </p:nvSpPr>
          <p:spPr>
            <a:xfrm>
              <a:off x="9449562" y="2663190"/>
              <a:ext cx="1899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次序只写一遍，子类改不</a:t>
              </a:r>
              <a:br/>
              <a:r>
                <a:rPr lang="zh-CN" sz="1350" dirty="0">
                  <a:solidFill>
                    <a:srgbClr val="1F2937"/>
                  </a:solidFill>
                  <a:latin typeface="+mn-lt"/>
                  <a:ea typeface="+mn-ea"/>
                  <a:cs typeface="+mn-cs"/>
                </a:rPr>
                <a:t>了</a:t>
              </a:r>
            </a:p>
          </p:txBody>
        </p:sp>
        <p:sp>
          <p:nvSpPr>
            <p:cNvPr id="48" name="Ellipse 48"/>
            <p:cNvSpPr/>
            <p:nvPr/>
          </p:nvSpPr>
          <p:spPr>
            <a:xfrm>
              <a:off x="9293542" y="3279457"/>
              <a:ext cx="59055" cy="59055"/>
            </a:xfrm>
            <a:prstGeom prst="ellipse">
              <a:avLst/>
            </a:prstGeom>
            <a:solidFill>
              <a:srgbClr val="5B3FA0"/>
            </a:solidFill>
            <a:ln>
              <a:noFill/>
            </a:ln>
          </p:spPr>
        </p:sp>
        <p:sp>
          <p:nvSpPr>
            <p:cNvPr id="49" name="TextBox 49"/>
            <p:cNvSpPr txBox="1"/>
            <p:nvPr/>
          </p:nvSpPr>
          <p:spPr>
            <a:xfrm>
              <a:off x="9449562" y="3223260"/>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父类主动调用子类</a:t>
              </a:r>
            </a:p>
          </p:txBody>
        </p:sp>
        <p:sp>
          <p:nvSpPr>
            <p:cNvPr id="50" name="Ellipse 50"/>
            <p:cNvSpPr/>
            <p:nvPr/>
          </p:nvSpPr>
          <p:spPr>
            <a:xfrm>
              <a:off x="8682990" y="2413635"/>
              <a:ext cx="323850" cy="323850"/>
            </a:xfrm>
            <a:prstGeom prst="ellipse">
              <a:avLst/>
            </a:prstGeom>
            <a:solidFill>
              <a:srgbClr val="F26B3A"/>
            </a:solidFill>
            <a:ln>
              <a:noFill/>
            </a:ln>
          </p:spPr>
        </p:sp>
        <p:sp>
          <p:nvSpPr>
            <p:cNvPr id="51" name="TextBox 51"/>
            <p:cNvSpPr txBox="1"/>
            <p:nvPr/>
          </p:nvSpPr>
          <p:spPr>
            <a:xfrm>
              <a:off x="8759461" y="2515076"/>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64" name="c2-card-2"/>
          <p:cNvGrpSpPr/>
          <p:nvPr/>
        </p:nvGrpSpPr>
        <p:grpSpPr>
          <a:xfrm>
            <a:off x="6032182" y="3801428"/>
            <a:ext cx="5626418" cy="1786890"/>
            <a:chOff x="6032182" y="3801428"/>
            <a:chExt cx="5626418" cy="1786890"/>
          </a:xfrm>
        </p:grpSpPr>
        <p:sp>
          <p:nvSpPr>
            <p:cNvPr id="53" name="Rectangle 53"/>
            <p:cNvSpPr/>
            <p:nvPr/>
          </p:nvSpPr>
          <p:spPr>
            <a:xfrm>
              <a:off x="6032182" y="3801428"/>
              <a:ext cx="5626418" cy="1786890"/>
            </a:xfrm>
            <a:prstGeom prst="roundRect">
              <a:avLst>
                <a:gd name="adj" fmla="val 7463"/>
              </a:avLst>
            </a:prstGeom>
            <a:solidFill>
              <a:srgbClr val="FFFFFF"/>
            </a:solidFill>
            <a:ln w="14288">
              <a:solidFill>
                <a:srgbClr val="D9DFEA"/>
              </a:solidFill>
            </a:ln>
          </p:spPr>
        </p:sp>
        <p:sp>
          <p:nvSpPr>
            <p:cNvPr id="54" name="Rectangle 54"/>
            <p:cNvSpPr/>
            <p:nvPr/>
          </p:nvSpPr>
          <p:spPr>
            <a:xfrm>
              <a:off x="6041708" y="3934778"/>
              <a:ext cx="47625" cy="1520190"/>
            </a:xfrm>
            <a:prstGeom prst="roundRect">
              <a:avLst>
                <a:gd name="adj" fmla="val 50000"/>
              </a:avLst>
            </a:prstGeom>
            <a:solidFill>
              <a:srgbClr val="5B6475"/>
            </a:solidFill>
            <a:ln>
              <a:noFill/>
            </a:ln>
          </p:spPr>
        </p:sp>
        <p:sp>
          <p:nvSpPr>
            <p:cNvPr id="55" name="Rectangle 55"/>
            <p:cNvSpPr/>
            <p:nvPr/>
          </p:nvSpPr>
          <p:spPr>
            <a:xfrm>
              <a:off x="6262688" y="3993832"/>
              <a:ext cx="742950" cy="247650"/>
            </a:xfrm>
            <a:prstGeom prst="roundRect">
              <a:avLst>
                <a:gd name="adj" fmla="val 50000"/>
              </a:avLst>
            </a:prstGeom>
            <a:solidFill>
              <a:srgbClr val="F4F6FB"/>
            </a:solidFill>
            <a:ln>
              <a:noFill/>
            </a:ln>
          </p:spPr>
        </p:sp>
        <p:sp>
          <p:nvSpPr>
            <p:cNvPr id="56" name="TextBox 56"/>
            <p:cNvSpPr txBox="1"/>
            <p:nvPr/>
          </p:nvSpPr>
          <p:spPr>
            <a:xfrm>
              <a:off x="6346127" y="4028123"/>
              <a:ext cx="576072"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两层含义</a:t>
              </a:r>
            </a:p>
          </p:txBody>
        </p:sp>
        <p:sp>
          <p:nvSpPr>
            <p:cNvPr id="57" name="TextBox 57"/>
            <p:cNvSpPr txBox="1"/>
            <p:nvPr/>
          </p:nvSpPr>
          <p:spPr>
            <a:xfrm>
              <a:off x="7113080" y="4033838"/>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反向控制反的是哪两件事</a:t>
              </a:r>
            </a:p>
          </p:txBody>
        </p:sp>
        <p:sp>
          <p:nvSpPr>
            <p:cNvPr id="58" name="Ellipse 58"/>
            <p:cNvSpPr/>
            <p:nvPr/>
          </p:nvSpPr>
          <p:spPr>
            <a:xfrm>
              <a:off x="6262688" y="4355782"/>
              <a:ext cx="192405" cy="192405"/>
            </a:xfrm>
            <a:prstGeom prst="ellipse">
              <a:avLst/>
            </a:prstGeom>
            <a:solidFill>
              <a:srgbClr val="5B3FA0"/>
            </a:solidFill>
            <a:ln>
              <a:noFill/>
            </a:ln>
          </p:spPr>
        </p:sp>
        <p:sp>
          <p:nvSpPr>
            <p:cNvPr id="59" name="TextBox 59"/>
            <p:cNvSpPr txBox="1"/>
            <p:nvPr/>
          </p:nvSpPr>
          <p:spPr>
            <a:xfrm>
              <a:off x="6318366" y="439416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60" name="TextBox 60"/>
            <p:cNvSpPr txBox="1"/>
            <p:nvPr/>
          </p:nvSpPr>
          <p:spPr>
            <a:xfrm>
              <a:off x="6542532" y="4368165"/>
              <a:ext cx="4171378"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调用方向反过来</a:t>
              </a:r>
              <a:r>
                <a:rPr lang="zh-CN" sz="1350" dirty="0">
                  <a:solidFill>
                    <a:srgbClr val="1F2937"/>
                  </a:solidFill>
                  <a:latin typeface="+mn-lt"/>
                  <a:ea typeface="+mn-ea"/>
                  <a:cs typeface="+mn-cs"/>
                </a:rPr>
                <a:t>：多态让父类里的那句</a:t>
              </a:r>
              <a:br/>
              <a:r>
                <a:rPr lang="en-US" sz="1350" dirty="0">
                  <a:solidFill>
                    <a:srgbClr val="462F80"/>
                  </a:solidFill>
                  <a:latin typeface="+mn-lt"/>
                  <a:ea typeface="+mn-ea"/>
                  <a:cs typeface="+mn-cs"/>
                </a:rPr>
                <a:t>primitiveOperation2()</a:t>
              </a:r>
              <a:r>
                <a:rPr lang="zh-CN" sz="1350" dirty="0">
                  <a:solidFill>
                    <a:srgbClr val="1F2937"/>
                  </a:solidFill>
                  <a:latin typeface="+mn-lt"/>
                  <a:ea typeface="+mn-ea"/>
                  <a:cs typeface="+mn-cs"/>
                </a:rPr>
                <a:t xml:space="preserve"> 在运行时落到子类的实现上。</a:t>
              </a:r>
            </a:p>
          </p:txBody>
        </p:sp>
        <p:sp>
          <p:nvSpPr>
            <p:cNvPr id="61" name="Ellipse 61"/>
            <p:cNvSpPr/>
            <p:nvPr/>
          </p:nvSpPr>
          <p:spPr>
            <a:xfrm>
              <a:off x="6262688" y="4915852"/>
              <a:ext cx="192405" cy="192405"/>
            </a:xfrm>
            <a:prstGeom prst="ellipse">
              <a:avLst/>
            </a:prstGeom>
            <a:solidFill>
              <a:srgbClr val="5B3FA0"/>
            </a:solidFill>
            <a:ln>
              <a:noFill/>
            </a:ln>
          </p:spPr>
        </p:sp>
        <p:sp>
          <p:nvSpPr>
            <p:cNvPr id="62" name="TextBox 62"/>
            <p:cNvSpPr txBox="1"/>
            <p:nvPr/>
          </p:nvSpPr>
          <p:spPr>
            <a:xfrm>
              <a:off x="6318366" y="495423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63" name="TextBox 63"/>
            <p:cNvSpPr txBox="1"/>
            <p:nvPr/>
          </p:nvSpPr>
          <p:spPr>
            <a:xfrm>
              <a:off x="6542532" y="4927283"/>
              <a:ext cx="4642866" cy="521208"/>
            </a:xfrm>
            <a:prstGeom prst="rect">
              <a:avLst/>
            </a:prstGeom>
            <a:noFill/>
            <a:ln>
              <a:noFill/>
            </a:ln>
          </p:spPr>
          <p:txBody>
            <a:bodyPr wrap="none" lIns="0" tIns="0" rIns="0" bIns="0" anchor="t" anchorCtr="0">
              <a:spAutoFit/>
            </a:bodyPr>
            <a:lstStyle/>
            <a:p>
              <a:pPr algn="l">
                <a:lnSpc>
                  <a:spcPts val="2025"/>
                </a:lnSpc>
              </a:pPr>
              <a:r>
                <a:rPr lang="zh-CN" sz="1350" b="1" dirty="0">
                  <a:solidFill>
                    <a:srgbClr val="1F2937"/>
                  </a:solidFill>
                  <a:latin typeface="+mn-lt"/>
                  <a:ea typeface="+mn-ea"/>
                  <a:cs typeface="+mn-cs"/>
                </a:rPr>
                <a:t>控制权反过来</a:t>
              </a:r>
              <a:r>
                <a:rPr lang="zh-CN" sz="1350" dirty="0">
                  <a:solidFill>
                    <a:srgbClr val="1F2937"/>
                  </a:solidFill>
                  <a:latin typeface="+mn-lt"/>
                  <a:ea typeface="+mn-ea"/>
                  <a:cs typeface="+mn-cs"/>
                </a:rPr>
                <a:t>：子类的钩子方法能决定父类流程里某一步执不</a:t>
              </a:r>
              <a:br/>
              <a:r>
                <a:rPr lang="zh-CN" sz="1350" dirty="0">
                  <a:solidFill>
                    <a:srgbClr val="1F2937"/>
                  </a:solidFill>
                  <a:latin typeface="+mn-lt"/>
                  <a:ea typeface="+mn-ea"/>
                  <a:cs typeface="+mn-cs"/>
                </a:rPr>
                <a:t>执行，实现子类对父类行为的约束。</a:t>
              </a:r>
            </a:p>
          </p:txBody>
        </p:sp>
      </p:grpSp>
      <p:grpSp>
        <p:nvGrpSpPr>
          <p:cNvPr id="71" name="takeaway"/>
          <p:cNvGrpSpPr/>
          <p:nvPr/>
        </p:nvGrpSpPr>
        <p:grpSpPr>
          <a:xfrm>
            <a:off x="533400" y="5874068"/>
            <a:ext cx="11125200" cy="488632"/>
            <a:chOff x="533400" y="5874068"/>
            <a:chExt cx="11125200" cy="488632"/>
          </a:xfrm>
        </p:grpSpPr>
        <p:sp>
          <p:nvSpPr>
            <p:cNvPr id="65" name="Rectangle 65"/>
            <p:cNvSpPr/>
            <p:nvPr/>
          </p:nvSpPr>
          <p:spPr>
            <a:xfrm>
              <a:off x="533400" y="5874068"/>
              <a:ext cx="11125200" cy="488632"/>
            </a:xfrm>
            <a:prstGeom prst="roundRect">
              <a:avLst>
                <a:gd name="adj" fmla="val 23392"/>
              </a:avLst>
            </a:prstGeom>
            <a:solidFill>
              <a:srgbClr val="FDEEE7"/>
            </a:solidFill>
            <a:ln>
              <a:noFill/>
            </a:ln>
          </p:spPr>
        </p:sp>
        <p:grpSp>
          <p:nvGrpSpPr>
            <p:cNvPr id="69" name="Group 69"/>
            <p:cNvGrpSpPr/>
            <p:nvPr/>
          </p:nvGrpSpPr>
          <p:grpSpPr>
            <a:xfrm>
              <a:off x="738188" y="6017895"/>
              <a:ext cx="200026" cy="200025"/>
              <a:chOff x="738188" y="6017895"/>
              <a:chExt cx="200026" cy="200025"/>
            </a:xfrm>
          </p:grpSpPr>
          <p:sp>
            <p:nvSpPr>
              <p:cNvPr id="66" name="Freeform 66"/>
              <p:cNvSpPr/>
              <p:nvPr/>
            </p:nvSpPr>
            <p:spPr>
              <a:xfrm>
                <a:off x="738188" y="60178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67" name="Freeform 67"/>
              <p:cNvSpPr/>
              <p:nvPr/>
            </p:nvSpPr>
            <p:spPr>
              <a:xfrm>
                <a:off x="777926" y="60623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68" name="Freeform 68"/>
              <p:cNvSpPr/>
              <p:nvPr/>
            </p:nvSpPr>
            <p:spPr>
              <a:xfrm>
                <a:off x="812642" y="61734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70" name="TextBox 70"/>
            <p:cNvSpPr txBox="1"/>
            <p:nvPr/>
          </p:nvSpPr>
          <p:spPr>
            <a:xfrm>
              <a:off x="1040892" y="6023610"/>
              <a:ext cx="7464933" cy="264033"/>
            </a:xfrm>
            <a:prstGeom prst="rect">
              <a:avLst/>
            </a:prstGeom>
            <a:noFill/>
            <a:ln>
              <a:noFill/>
            </a:ln>
          </p:spPr>
          <p:txBody>
            <a:bodyPr wrap="none" lIns="0" tIns="0" rIns="0" bIns="0" anchor="t" anchorCtr="0">
              <a:spAutoFit/>
            </a:bodyPr>
            <a:lstStyle/>
            <a:p>
              <a:pPr algn="l"/>
              <a:r>
                <a:rPr lang="zh-CN" sz="1350" dirty="0">
                  <a:solidFill>
                    <a:srgbClr val="C2410C"/>
                  </a:solidFill>
                  <a:latin typeface="+mn-lt"/>
                  <a:ea typeface="+mn-ea"/>
                  <a:cs typeface="+mn-cs"/>
                </a:rPr>
                <a:t>客户端拿到的是父类类型的引用，调用的是父类的模板方法，跑起来的却是子类填的那几步。</a:t>
              </a:r>
            </a:p>
          </p:txBody>
        </p:sp>
      </p:grpSp>
      <p:grpSp>
        <p:nvGrpSpPr>
          <p:cNvPr id="74" name="footer"/>
          <p:cNvGrpSpPr/>
          <p:nvPr/>
        </p:nvGrpSpPr>
        <p:grpSpPr>
          <a:xfrm>
            <a:off x="528447" y="6581299"/>
            <a:ext cx="11135106" cy="190690"/>
            <a:chOff x="528447" y="6581299"/>
            <a:chExt cx="11135106" cy="190690"/>
          </a:xfrm>
        </p:grpSpPr>
        <p:sp>
          <p:nvSpPr>
            <p:cNvPr id="72" name="TextBox 72"/>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73" name="TextBox 73"/>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5B3FA0"/>
          </a:solidFill>
          <a:ln>
            <a:noFill/>
          </a:ln>
        </p:spPr>
      </p:sp>
      <p:sp>
        <p:nvSpPr>
          <p:cNvPr id="3" name="section-ring"/>
          <p:cNvSpPr/>
          <p:nvPr/>
        </p:nvSpPr>
        <p:spPr>
          <a:xfrm>
            <a:off x="7334250" y="190500"/>
            <a:ext cx="6477000" cy="6477000"/>
          </a:xfrm>
          <a:prstGeom prst="ellipse">
            <a:avLst/>
          </a:prstGeom>
          <a:noFill/>
          <a:ln w="133350">
            <a:solidFill>
              <a:srgbClr val="EEEAF7"/>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03</a:t>
              </a:r>
            </a:p>
          </p:txBody>
        </p:sp>
      </p:grpSp>
      <p:grpSp>
        <p:nvGrpSpPr>
          <p:cNvPr id="18" name="section-title"/>
          <p:cNvGrpSpPr/>
          <p:nvPr/>
        </p:nvGrpSpPr>
        <p:grpSpPr>
          <a:xfrm>
            <a:off x="667512" y="1835468"/>
            <a:ext cx="6821424" cy="3351847"/>
            <a:chOff x="667512" y="1835468"/>
            <a:chExt cx="682142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第三部分</a:t>
              </a:r>
            </a:p>
          </p:txBody>
        </p:sp>
        <p:sp>
          <p:nvSpPr>
            <p:cNvPr id="7" name="TextBox 7"/>
            <p:cNvSpPr txBox="1"/>
            <p:nvPr/>
          </p:nvSpPr>
          <p:spPr>
            <a:xfrm>
              <a:off x="667512" y="2240280"/>
              <a:ext cx="682142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骨架代码与提炼模板方法的做法</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681347"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两个类写完，再看怎么从重复代码里把它提出来</a:t>
              </a:r>
            </a:p>
          </p:txBody>
        </p:sp>
        <p:sp>
          <p:nvSpPr>
            <p:cNvPr id="10" name="Ellipse 10"/>
            <p:cNvSpPr/>
            <p:nvPr/>
          </p:nvSpPr>
          <p:spPr>
            <a:xfrm>
              <a:off x="723900" y="3888105"/>
              <a:ext cx="76200" cy="76200"/>
            </a:xfrm>
            <a:prstGeom prst="ellipse">
              <a:avLst/>
            </a:prstGeom>
            <a:solidFill>
              <a:srgbClr val="5B3FA0"/>
            </a:solidFill>
            <a:ln>
              <a:noFill/>
            </a:ln>
          </p:spPr>
        </p:sp>
        <p:sp>
          <p:nvSpPr>
            <p:cNvPr id="11" name="TextBox 11"/>
            <p:cNvSpPr txBox="1"/>
            <p:nvPr/>
          </p:nvSpPr>
          <p:spPr>
            <a:xfrm>
              <a:off x="906780" y="383095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抽象类怎么写</a:t>
              </a:r>
            </a:p>
          </p:txBody>
        </p:sp>
        <p:sp>
          <p:nvSpPr>
            <p:cNvPr id="12" name="Ellipse 12"/>
            <p:cNvSpPr/>
            <p:nvPr/>
          </p:nvSpPr>
          <p:spPr>
            <a:xfrm>
              <a:off x="723900" y="4242435"/>
              <a:ext cx="76200" cy="76200"/>
            </a:xfrm>
            <a:prstGeom prst="ellipse">
              <a:avLst/>
            </a:prstGeom>
            <a:solidFill>
              <a:srgbClr val="5B3FA0"/>
            </a:solidFill>
            <a:ln>
              <a:noFill/>
            </a:ln>
          </p:spPr>
        </p:sp>
        <p:sp>
          <p:nvSpPr>
            <p:cNvPr id="13" name="TextBox 13"/>
            <p:cNvSpPr txBox="1"/>
            <p:nvPr/>
          </p:nvSpPr>
          <p:spPr>
            <a:xfrm>
              <a:off x="906780" y="418528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具体子类与客户端</a:t>
              </a:r>
            </a:p>
          </p:txBody>
        </p:sp>
        <p:sp>
          <p:nvSpPr>
            <p:cNvPr id="14" name="Ellipse 14"/>
            <p:cNvSpPr/>
            <p:nvPr/>
          </p:nvSpPr>
          <p:spPr>
            <a:xfrm>
              <a:off x="723900" y="4596765"/>
              <a:ext cx="76200" cy="76200"/>
            </a:xfrm>
            <a:prstGeom prst="ellipse">
              <a:avLst/>
            </a:prstGeom>
            <a:solidFill>
              <a:srgbClr val="5B3FA0"/>
            </a:solidFill>
            <a:ln>
              <a:noFill/>
            </a:ln>
          </p:spPr>
        </p:sp>
        <p:sp>
          <p:nvSpPr>
            <p:cNvPr id="15" name="TextBox 15"/>
            <p:cNvSpPr txBox="1"/>
            <p:nvPr/>
          </p:nvSpPr>
          <p:spPr>
            <a:xfrm>
              <a:off x="906780" y="453961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运行输出</a:t>
              </a:r>
            </a:p>
          </p:txBody>
        </p:sp>
        <p:sp>
          <p:nvSpPr>
            <p:cNvPr id="16" name="Ellipse 16"/>
            <p:cNvSpPr/>
            <p:nvPr/>
          </p:nvSpPr>
          <p:spPr>
            <a:xfrm>
              <a:off x="723900" y="4951095"/>
              <a:ext cx="76200" cy="76200"/>
            </a:xfrm>
            <a:prstGeom prst="ellipse">
              <a:avLst/>
            </a:prstGeom>
            <a:solidFill>
              <a:srgbClr val="5B3FA0"/>
            </a:solidFill>
            <a:ln>
              <a:noFill/>
            </a:ln>
          </p:spPr>
        </p:sp>
        <p:sp>
          <p:nvSpPr>
            <p:cNvPr id="17" name="TextBox 17"/>
            <p:cNvSpPr txBox="1"/>
            <p:nvPr/>
          </p:nvSpPr>
          <p:spPr>
            <a:xfrm>
              <a:off x="906780" y="489394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重构四步</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骨架代码与提炼模板方法的做法</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骨架代码（一）：抽象类里的四个方法</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542" y="1545907"/>
            <a:ext cx="5829300" cy="264033"/>
            <a:chOff x="526542" y="1545907"/>
            <a:chExt cx="5829300" cy="264033"/>
          </a:xfrm>
        </p:grpSpPr>
        <p:sp>
          <p:nvSpPr>
            <p:cNvPr id="7" name="TextBox 7"/>
            <p:cNvSpPr txBox="1"/>
            <p:nvPr/>
          </p:nvSpPr>
          <p:spPr>
            <a:xfrm>
              <a:off x="526542" y="1545907"/>
              <a:ext cx="582930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一个模板方法加三种基本方法，模板方法模式的父类就是这么四类成员。</a:t>
              </a:r>
            </a:p>
          </p:txBody>
        </p:sp>
      </p:grpSp>
      <p:grpSp>
        <p:nvGrpSpPr>
          <p:cNvPr id="13" name="c1-code-1"/>
          <p:cNvGrpSpPr/>
          <p:nvPr/>
        </p:nvGrpSpPr>
        <p:grpSpPr>
          <a:xfrm>
            <a:off x="533400" y="1928812"/>
            <a:ext cx="6059805" cy="2985135"/>
            <a:chOff x="533400" y="1928812"/>
            <a:chExt cx="6059805" cy="2985135"/>
          </a:xfrm>
        </p:grpSpPr>
        <p:sp>
          <p:nvSpPr>
            <p:cNvPr id="9" name="Rectangle 9"/>
            <p:cNvSpPr/>
            <p:nvPr/>
          </p:nvSpPr>
          <p:spPr>
            <a:xfrm>
              <a:off x="533400" y="1928812"/>
              <a:ext cx="6059805" cy="2985135"/>
            </a:xfrm>
            <a:prstGeom prst="roundRect">
              <a:avLst>
                <a:gd name="adj" fmla="val 3191"/>
              </a:avLst>
            </a:prstGeom>
            <a:solidFill>
              <a:srgbClr val="F6F8FA"/>
            </a:solidFill>
            <a:ln w="11430">
              <a:solidFill>
                <a:srgbClr val="D9DFEA"/>
              </a:solidFill>
            </a:ln>
          </p:spPr>
        </p:sp>
        <p:sp>
          <p:nvSpPr>
            <p:cNvPr id="10" name="TextBox 10"/>
            <p:cNvSpPr txBox="1"/>
            <p:nvPr/>
          </p:nvSpPr>
          <p:spPr>
            <a:xfrm>
              <a:off x="661797" y="2080736"/>
              <a:ext cx="974045"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AbstractClass</a:t>
              </a:r>
            </a:p>
          </p:txBody>
        </p:sp>
        <p:sp>
          <p:nvSpPr>
            <p:cNvPr id="11" name="Rectangle 11"/>
            <p:cNvSpPr/>
            <p:nvPr/>
          </p:nvSpPr>
          <p:spPr>
            <a:xfrm>
              <a:off x="552450" y="2616518"/>
              <a:ext cx="6021705" cy="154305"/>
            </a:xfrm>
            <a:prstGeom prst="rect">
              <a:avLst/>
            </a:prstGeom>
            <a:solidFill>
              <a:srgbClr val="FDEEE7"/>
            </a:solidFill>
            <a:ln>
              <a:noFill/>
            </a:ln>
          </p:spPr>
        </p:sp>
        <p:sp>
          <p:nvSpPr>
            <p:cNvPr id="12" name="TextBox 12"/>
            <p:cNvSpPr txBox="1"/>
            <p:nvPr/>
          </p:nvSpPr>
          <p:spPr>
            <a:xfrm>
              <a:off x="661988" y="2339435"/>
              <a:ext cx="3045841" cy="2482215"/>
            </a:xfrm>
            <a:prstGeom prst="rect">
              <a:avLst/>
            </a:prstGeom>
            <a:noFill/>
            <a:ln>
              <a:noFill/>
            </a:ln>
          </p:spPr>
          <p:txBody>
            <a:bodyPr wrap="none" lIns="0" tIns="0" rIns="0" bIns="0" anchor="t" anchorCtr="0">
              <a:spAutoFit/>
            </a:bodyPr>
            <a:lstStyle/>
            <a:p>
              <a:pPr algn="l">
                <a:lnSpc>
                  <a:spcPts val="1215"/>
                </a:lnSpc>
              </a:pP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abstract</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class</a:t>
              </a:r>
              <a:r>
                <a:rPr lang="en-US" sz="860" dirty="0">
                  <a:solidFill>
                    <a:srgbClr val="1F2937"/>
                  </a:solidFill>
                  <a:latin typeface="Consolas"/>
                  <a:ea typeface="Consolas"/>
                  <a:cs typeface="Consolas"/>
                </a:rPr>
                <a:t xml:space="preserve"> AbstractClass {</a:t>
              </a:r>
              <a:br/>
              <a:r>
                <a:rPr lang="zh-CN" sz="860" dirty="0">
                  <a:solidFill>
                    <a:srgbClr val="1F2937"/>
                  </a:solidFill>
                  <a:latin typeface="Consolas"/>
                  <a:ea typeface="Consolas"/>
                  <a:cs typeface="Consolas"/>
                </a:rPr>
                <a:t xml:space="preserve">    </a:t>
              </a:r>
              <a:r>
                <a:rPr lang="zh-CN" sz="860" dirty="0">
                  <a:solidFill>
                    <a:srgbClr val="0F7A68"/>
                  </a:solidFill>
                  <a:latin typeface="Consolas"/>
                  <a:ea typeface="Microsoft YaHei"/>
                  <a:cs typeface="Consolas"/>
                </a:rPr>
                <a:t>/* 模板方法：定死三步的次序，final 不让子类改动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final</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templateMethod() {</a:t>
              </a:r>
              <a:br/>
              <a:r>
                <a:rPr lang="en-US" sz="860" dirty="0">
                  <a:solidFill>
                    <a:srgbClr val="1F2937"/>
                  </a:solidFill>
                  <a:latin typeface="Consolas"/>
                  <a:ea typeface="Consolas"/>
                  <a:cs typeface="Consolas"/>
                </a:rPr>
                <a:t xml:space="preserve">        primitiveOperation1();</a:t>
              </a:r>
              <a:br/>
              <a:r>
                <a:rPr lang="en-US" sz="860" dirty="0">
                  <a:solidFill>
                    <a:srgbClr val="1F2937"/>
                  </a:solidFill>
                  <a:latin typeface="Consolas"/>
                  <a:ea typeface="Consolas"/>
                  <a:cs typeface="Consolas"/>
                </a:rPr>
                <a:t xml:space="preserve">        primitiveOperation2();</a:t>
              </a:r>
              <a:br/>
              <a:r>
                <a:rPr lang="en-US" sz="860" dirty="0">
                  <a:solidFill>
                    <a:srgbClr val="1F2937"/>
                  </a:solidFill>
                  <a:latin typeface="Consolas"/>
                  <a:ea typeface="Consolas"/>
                  <a:cs typeface="Consolas"/>
                </a:rPr>
                <a:t xml:space="preserve">        primitiveOperation3();</a:t>
              </a:r>
              <a:br/>
              <a:r>
                <a:rPr lang="zh-CN" sz="860" dirty="0">
                  <a:solidFill>
                    <a:srgbClr val="1F2937"/>
                  </a:solidFill>
                  <a:latin typeface="Consolas"/>
                  <a:ea typeface="Consolas"/>
                  <a:cs typeface="Consolas"/>
                </a:rPr>
                <a:t xml:space="preserve">    }</a:t>
              </a:r>
              <a:br/>
              <a:r>
                <a:rPr lang="zh-CN" sz="860" dirty="0">
                  <a:solidFill>
                    <a:srgbClr val="1F2937"/>
                  </a:solidFill>
                  <a:latin typeface="Consolas"/>
                  <a:ea typeface="Consolas"/>
                  <a:cs typeface="Consolas"/>
                </a:rPr>
                <a:t xml:space="preserve">    </a:t>
              </a:r>
              <a:r>
                <a:rPr lang="zh-CN" sz="860" dirty="0">
                  <a:solidFill>
                    <a:srgbClr val="0F7A68"/>
                  </a:solidFill>
                  <a:latin typeface="Consolas"/>
                  <a:ea typeface="Microsoft YaHei"/>
                  <a:cs typeface="Consolas"/>
                </a:rPr>
                <a:t>/* 具体方法：所有子类都一样，父类实现好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primitiveOperation1() {</a:t>
              </a:r>
              <a:br/>
              <a:r>
                <a:rPr lang="en-US" sz="860" dirty="0">
                  <a:solidFill>
                    <a:srgbClr val="1F2937"/>
                  </a:solidFill>
                  <a:latin typeface="Consolas"/>
                  <a:ea typeface="Consolas"/>
                  <a:cs typeface="Consolas"/>
                </a:rPr>
                <a:t xml:space="preserve">        System.out.println(</a:t>
              </a:r>
              <a:r>
                <a:rPr lang="zh-CN" sz="860" dirty="0">
                  <a:solidFill>
                    <a:srgbClr val="C2410C"/>
                  </a:solidFill>
                  <a:latin typeface="Consolas"/>
                  <a:ea typeface="Microsoft YaHei"/>
                  <a:cs typeface="Consolas"/>
                </a:rPr>
                <a:t>"所有子类共用的一步"</a:t>
              </a:r>
              <a:r>
                <a:rPr lang="zh-CN" sz="860" dirty="0">
                  <a:solidFill>
                    <a:srgbClr val="1F2937"/>
                  </a:solidFill>
                  <a:latin typeface="Consolas"/>
                  <a:ea typeface="Consolas"/>
                  <a:cs typeface="Consolas"/>
                </a:rPr>
                <a:t>);</a:t>
              </a:r>
              <a:br/>
              <a:r>
                <a:rPr lang="zh-CN" sz="860" dirty="0">
                  <a:solidFill>
                    <a:srgbClr val="1F2937"/>
                  </a:solidFill>
                  <a:latin typeface="Consolas"/>
                  <a:ea typeface="Consolas"/>
                  <a:cs typeface="Consolas"/>
                </a:rPr>
                <a:t xml:space="preserve">    }</a:t>
              </a:r>
              <a:br/>
              <a:r>
                <a:rPr lang="zh-CN" sz="860" dirty="0">
                  <a:solidFill>
                    <a:srgbClr val="1F2937"/>
                  </a:solidFill>
                  <a:latin typeface="Consolas"/>
                  <a:ea typeface="Consolas"/>
                  <a:cs typeface="Consolas"/>
                </a:rPr>
                <a:t xml:space="preserve">    </a:t>
              </a:r>
              <a:r>
                <a:rPr lang="zh-CN" sz="860" dirty="0">
                  <a:solidFill>
                    <a:srgbClr val="0F7A68"/>
                  </a:solidFill>
                  <a:latin typeface="Consolas"/>
                  <a:ea typeface="Microsoft YaHei"/>
                  <a:cs typeface="Consolas"/>
                </a:rPr>
                <a:t>/* 抽象方法：父类只声明，子类必须实现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abstract</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primitiveOperation2();</a:t>
              </a:r>
              <a:br/>
              <a:r>
                <a:rPr lang="zh-CN" sz="860" dirty="0">
                  <a:solidFill>
                    <a:srgbClr val="1F2937"/>
                  </a:solidFill>
                  <a:latin typeface="Consolas"/>
                  <a:ea typeface="Consolas"/>
                  <a:cs typeface="Consolas"/>
                </a:rPr>
                <a:t xml:space="preserve">    </a:t>
              </a:r>
              <a:r>
                <a:rPr lang="zh-CN" sz="860" dirty="0">
                  <a:solidFill>
                    <a:srgbClr val="0F7A68"/>
                  </a:solidFill>
                  <a:latin typeface="Consolas"/>
                  <a:ea typeface="Microsoft YaHei"/>
                  <a:cs typeface="Consolas"/>
                </a:rPr>
                <a:t>/* 钩子方法：父类给空实现，子类可改可不改 */</a:t>
              </a:r>
              <a:b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public</a:t>
              </a:r>
              <a:r>
                <a:rPr lang="zh-CN" sz="860" dirty="0">
                  <a:solidFill>
                    <a:srgbClr val="1F2937"/>
                  </a:solidFill>
                  <a:latin typeface="Consolas"/>
                  <a:ea typeface="Consolas"/>
                  <a:cs typeface="Consolas"/>
                </a:rPr>
                <a:t xml:space="preserve"> </a:t>
              </a:r>
              <a:r>
                <a:rPr lang="en-US" sz="860" b="1" dirty="0">
                  <a:solidFill>
                    <a:srgbClr val="5B3FA0"/>
                  </a:solidFill>
                  <a:latin typeface="Consolas"/>
                  <a:ea typeface="Consolas"/>
                  <a:cs typeface="Consolas"/>
                </a:rPr>
                <a:t>void</a:t>
              </a:r>
              <a:r>
                <a:rPr lang="en-US" sz="860" dirty="0">
                  <a:solidFill>
                    <a:srgbClr val="1F2937"/>
                  </a:solidFill>
                  <a:latin typeface="Consolas"/>
                  <a:ea typeface="Consolas"/>
                  <a:cs typeface="Consolas"/>
                </a:rPr>
                <a:t xml:space="preserve"> primitiveOperation3() { }</a:t>
              </a:r>
              <a:br/>
              <a:r>
                <a:rPr lang="zh-CN" sz="860" dirty="0">
                  <a:solidFill>
                    <a:srgbClr val="1F2937"/>
                  </a:solidFill>
                  <a:latin typeface="Consolas"/>
                  <a:ea typeface="Consolas"/>
                  <a:cs typeface="Consolas"/>
                </a:rPr>
                <a:t>}</a:t>
              </a:r>
            </a:p>
          </p:txBody>
        </p:sp>
      </p:grpSp>
      <p:grpSp>
        <p:nvGrpSpPr>
          <p:cNvPr id="20" name="c1-card-2"/>
          <p:cNvGrpSpPr/>
          <p:nvPr/>
        </p:nvGrpSpPr>
        <p:grpSpPr>
          <a:xfrm>
            <a:off x="533400" y="5083492"/>
            <a:ext cx="6059805" cy="1202055"/>
            <a:chOff x="533400" y="5083492"/>
            <a:chExt cx="6059805" cy="1202055"/>
          </a:xfrm>
        </p:grpSpPr>
        <p:sp>
          <p:nvSpPr>
            <p:cNvPr id="14" name="Rectangle 14"/>
            <p:cNvSpPr/>
            <p:nvPr/>
          </p:nvSpPr>
          <p:spPr>
            <a:xfrm>
              <a:off x="533400" y="5083492"/>
              <a:ext cx="6059805" cy="1202055"/>
            </a:xfrm>
            <a:prstGeom prst="roundRect">
              <a:avLst>
                <a:gd name="adj" fmla="val 11094"/>
              </a:avLst>
            </a:prstGeom>
            <a:solidFill>
              <a:srgbClr val="FFFFFF"/>
            </a:solidFill>
            <a:ln w="14288">
              <a:solidFill>
                <a:srgbClr val="D9DFEA"/>
              </a:solidFill>
            </a:ln>
          </p:spPr>
        </p:sp>
        <p:sp>
          <p:nvSpPr>
            <p:cNvPr id="15" name="Rectangle 15"/>
            <p:cNvSpPr/>
            <p:nvPr/>
          </p:nvSpPr>
          <p:spPr>
            <a:xfrm>
              <a:off x="542925" y="5216842"/>
              <a:ext cx="47625" cy="935355"/>
            </a:xfrm>
            <a:prstGeom prst="roundRect">
              <a:avLst>
                <a:gd name="adj" fmla="val 50000"/>
              </a:avLst>
            </a:prstGeom>
            <a:solidFill>
              <a:srgbClr val="D97706"/>
            </a:solidFill>
            <a:ln>
              <a:noFill/>
            </a:ln>
          </p:spPr>
        </p:sp>
        <p:sp>
          <p:nvSpPr>
            <p:cNvPr id="16" name="Rectangle 16"/>
            <p:cNvSpPr/>
            <p:nvPr/>
          </p:nvSpPr>
          <p:spPr>
            <a:xfrm>
              <a:off x="758190" y="5270182"/>
              <a:ext cx="707708" cy="238125"/>
            </a:xfrm>
            <a:prstGeom prst="roundRect">
              <a:avLst>
                <a:gd name="adj" fmla="val 50000"/>
              </a:avLst>
            </a:prstGeom>
            <a:solidFill>
              <a:srgbClr val="FEF3C7"/>
            </a:solidFill>
            <a:ln>
              <a:noFill/>
            </a:ln>
          </p:spPr>
        </p:sp>
        <p:sp>
          <p:nvSpPr>
            <p:cNvPr id="17" name="TextBox 17"/>
            <p:cNvSpPr txBox="1"/>
            <p:nvPr/>
          </p:nvSpPr>
          <p:spPr>
            <a:xfrm>
              <a:off x="842759" y="5303044"/>
              <a:ext cx="537616" cy="190690"/>
            </a:xfrm>
            <a:prstGeom prst="rect">
              <a:avLst/>
            </a:prstGeom>
            <a:noFill/>
            <a:ln>
              <a:noFill/>
            </a:ln>
          </p:spPr>
          <p:txBody>
            <a:bodyPr wrap="none" lIns="0" tIns="0" rIns="0" bIns="0" anchor="t" anchorCtr="0">
              <a:spAutoFit/>
            </a:bodyPr>
            <a:lstStyle/>
            <a:p>
              <a:pPr algn="ctr"/>
              <a:r>
                <a:rPr lang="zh-CN" sz="980" b="1" dirty="0">
                  <a:solidFill>
                    <a:srgbClr val="92400E"/>
                  </a:solidFill>
                  <a:latin typeface="+mn-lt"/>
                  <a:ea typeface="+mn-ea"/>
                  <a:cs typeface="+mn-cs"/>
                </a:rPr>
                <a:t>对照记忆</a:t>
              </a:r>
            </a:p>
          </p:txBody>
        </p:sp>
        <p:sp>
          <p:nvSpPr>
            <p:cNvPr id="18" name="TextBox 18"/>
            <p:cNvSpPr txBox="1"/>
            <p:nvPr/>
          </p:nvSpPr>
          <p:spPr>
            <a:xfrm>
              <a:off x="1573340" y="5305425"/>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父类里只有这四类成员</a:t>
              </a:r>
            </a:p>
          </p:txBody>
        </p:sp>
        <p:sp>
          <p:nvSpPr>
            <p:cNvPr id="19" name="TextBox 19"/>
            <p:cNvSpPr txBox="1"/>
            <p:nvPr/>
          </p:nvSpPr>
          <p:spPr>
            <a:xfrm>
              <a:off x="751332" y="5631180"/>
              <a:ext cx="53286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一个模板方法定次序，一个具体方法给公共实现，一个抽象方法留给子</a:t>
              </a:r>
              <a:br/>
              <a:r>
                <a:rPr lang="zh-CN" sz="1350" dirty="0">
                  <a:solidFill>
                    <a:srgbClr val="1F2937"/>
                  </a:solidFill>
                  <a:latin typeface="+mn-lt"/>
                  <a:ea typeface="+mn-ea"/>
                  <a:cs typeface="+mn-cs"/>
                </a:rPr>
                <a:t>类必填，一个钩子方法留作可选扩展。四类凑齐，父类就写完了。</a:t>
              </a:r>
            </a:p>
          </p:txBody>
        </p:sp>
      </p:grpSp>
      <p:grpSp>
        <p:nvGrpSpPr>
          <p:cNvPr id="30" name="c2-bullets-1"/>
          <p:cNvGrpSpPr/>
          <p:nvPr/>
        </p:nvGrpSpPr>
        <p:grpSpPr>
          <a:xfrm>
            <a:off x="6891147" y="1950720"/>
            <a:ext cx="4074033" cy="1507045"/>
            <a:chOff x="6891147" y="1950720"/>
            <a:chExt cx="4074033" cy="1507045"/>
          </a:xfrm>
        </p:grpSpPr>
        <p:sp>
          <p:nvSpPr>
            <p:cNvPr id="21" name="TextBox 21"/>
            <p:cNvSpPr txBox="1"/>
            <p:nvPr/>
          </p:nvSpPr>
          <p:spPr>
            <a:xfrm>
              <a:off x="6891147" y="1950720"/>
              <a:ext cx="1649349" cy="264033"/>
            </a:xfrm>
            <a:prstGeom prst="rect">
              <a:avLst/>
            </a:prstGeom>
            <a:noFill/>
            <a:ln>
              <a:noFill/>
            </a:ln>
          </p:spPr>
          <p:txBody>
            <a:bodyPr wrap="none" lIns="0" tIns="0" rIns="0" bIns="0" anchor="t" anchorCtr="0">
              <a:spAutoFit/>
            </a:bodyPr>
            <a:lstStyle/>
            <a:p>
              <a:pPr algn="l"/>
              <a:r>
                <a:rPr lang="zh-CN" sz="1350" b="1" dirty="0">
                  <a:solidFill>
                    <a:srgbClr val="5B3FA0"/>
                  </a:solidFill>
                  <a:latin typeface="+mn-lt"/>
                  <a:ea typeface="+mn-ea"/>
                  <a:cs typeface="+mn-cs"/>
                </a:rPr>
                <a:t>这段代码的四个落点</a:t>
              </a:r>
            </a:p>
          </p:txBody>
        </p:sp>
        <p:sp>
          <p:nvSpPr>
            <p:cNvPr id="22" name="Freeform 22"/>
            <p:cNvSpPr/>
            <p:nvPr/>
          </p:nvSpPr>
          <p:spPr>
            <a:xfrm>
              <a:off x="6898005" y="2296478"/>
              <a:ext cx="129540" cy="104775"/>
            </a:xfrm>
            <a:custGeom>
              <a:avLst/>
              <a:gdLst/>
              <a:ahLst/>
              <a:cxnLst/>
              <a:rect l="l" t="t" r="r" b="b"/>
              <a:pathLst>
                <a:path w="129540" h="104775">
                  <a:moveTo>
                    <a:pt x="0" y="55245"/>
                  </a:moveTo>
                  <a:lnTo>
                    <a:pt x="48577" y="104775"/>
                  </a:lnTo>
                  <a:lnTo>
                    <a:pt x="129540" y="0"/>
                  </a:lnTo>
                </a:path>
              </a:pathLst>
            </a:custGeom>
            <a:noFill/>
            <a:ln w="24765" cap="rnd">
              <a:solidFill>
                <a:srgbClr val="14A38B"/>
              </a:solidFill>
              <a:round/>
            </a:ln>
          </p:spPr>
        </p:sp>
        <p:sp>
          <p:nvSpPr>
            <p:cNvPr id="23" name="TextBox 23"/>
            <p:cNvSpPr txBox="1"/>
            <p:nvPr/>
          </p:nvSpPr>
          <p:spPr>
            <a:xfrm>
              <a:off x="7134987" y="2267902"/>
              <a:ext cx="328498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模板方法里只有调用，没有任何业务细节</a:t>
              </a:r>
            </a:p>
          </p:txBody>
        </p:sp>
        <p:sp>
          <p:nvSpPr>
            <p:cNvPr id="24" name="Freeform 24"/>
            <p:cNvSpPr/>
            <p:nvPr/>
          </p:nvSpPr>
          <p:spPr>
            <a:xfrm>
              <a:off x="6898005" y="2605088"/>
              <a:ext cx="129540" cy="104775"/>
            </a:xfrm>
            <a:custGeom>
              <a:avLst/>
              <a:gdLst/>
              <a:ahLst/>
              <a:cxnLst/>
              <a:rect l="l" t="t" r="r" b="b"/>
              <a:pathLst>
                <a:path w="129540" h="104775">
                  <a:moveTo>
                    <a:pt x="0" y="55245"/>
                  </a:moveTo>
                  <a:lnTo>
                    <a:pt x="48577" y="104775"/>
                  </a:lnTo>
                  <a:lnTo>
                    <a:pt x="129540" y="0"/>
                  </a:lnTo>
                </a:path>
              </a:pathLst>
            </a:custGeom>
            <a:noFill/>
            <a:ln w="24765" cap="rnd">
              <a:solidFill>
                <a:srgbClr val="14A38B"/>
              </a:solidFill>
              <a:round/>
            </a:ln>
          </p:spPr>
        </p:sp>
        <p:sp>
          <p:nvSpPr>
            <p:cNvPr id="25" name="TextBox 25"/>
            <p:cNvSpPr txBox="1"/>
            <p:nvPr/>
          </p:nvSpPr>
          <p:spPr>
            <a:xfrm>
              <a:off x="7134987" y="2576512"/>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三个基本方法各代表一种写法，对应上一节的表</a:t>
              </a:r>
            </a:p>
          </p:txBody>
        </p:sp>
        <p:sp>
          <p:nvSpPr>
            <p:cNvPr id="26" name="Freeform 26"/>
            <p:cNvSpPr/>
            <p:nvPr/>
          </p:nvSpPr>
          <p:spPr>
            <a:xfrm>
              <a:off x="6898005" y="2913698"/>
              <a:ext cx="129540" cy="104775"/>
            </a:xfrm>
            <a:custGeom>
              <a:avLst/>
              <a:gdLst/>
              <a:ahLst/>
              <a:cxnLst/>
              <a:rect l="l" t="t" r="r" b="b"/>
              <a:pathLst>
                <a:path w="129540" h="104775">
                  <a:moveTo>
                    <a:pt x="0" y="55245"/>
                  </a:moveTo>
                  <a:lnTo>
                    <a:pt x="48577" y="104775"/>
                  </a:lnTo>
                  <a:lnTo>
                    <a:pt x="129540" y="0"/>
                  </a:lnTo>
                </a:path>
              </a:pathLst>
            </a:custGeom>
            <a:noFill/>
            <a:ln w="24765" cap="rnd">
              <a:solidFill>
                <a:srgbClr val="14A38B"/>
              </a:solidFill>
              <a:round/>
            </a:ln>
          </p:spPr>
        </p:sp>
        <p:sp>
          <p:nvSpPr>
            <p:cNvPr id="27" name="TextBox 27"/>
            <p:cNvSpPr txBox="1"/>
            <p:nvPr/>
          </p:nvSpPr>
          <p:spPr>
            <a:xfrm>
              <a:off x="7134987" y="2885122"/>
              <a:ext cx="383019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抽象方法没有方法体，这个类因此必须是抽象类</a:t>
              </a:r>
            </a:p>
          </p:txBody>
        </p:sp>
        <p:sp>
          <p:nvSpPr>
            <p:cNvPr id="28" name="Freeform 28"/>
            <p:cNvSpPr/>
            <p:nvPr/>
          </p:nvSpPr>
          <p:spPr>
            <a:xfrm>
              <a:off x="6898005" y="3222308"/>
              <a:ext cx="129540" cy="104775"/>
            </a:xfrm>
            <a:custGeom>
              <a:avLst/>
              <a:gdLst/>
              <a:ahLst/>
              <a:cxnLst/>
              <a:rect l="l" t="t" r="r" b="b"/>
              <a:pathLst>
                <a:path w="129540" h="104775">
                  <a:moveTo>
                    <a:pt x="0" y="55245"/>
                  </a:moveTo>
                  <a:lnTo>
                    <a:pt x="48577" y="104775"/>
                  </a:lnTo>
                  <a:lnTo>
                    <a:pt x="129540" y="0"/>
                  </a:lnTo>
                </a:path>
              </a:pathLst>
            </a:custGeom>
            <a:noFill/>
            <a:ln w="24765" cap="rnd">
              <a:solidFill>
                <a:srgbClr val="14A38B"/>
              </a:solidFill>
              <a:round/>
            </a:ln>
          </p:spPr>
        </p:sp>
        <p:sp>
          <p:nvSpPr>
            <p:cNvPr id="29" name="TextBox 29"/>
            <p:cNvSpPr txBox="1"/>
            <p:nvPr/>
          </p:nvSpPr>
          <p:spPr>
            <a:xfrm>
              <a:off x="7134987" y="3193732"/>
              <a:ext cx="364845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钩子方法的方法体是一对空花括号，不是不写</a:t>
              </a:r>
            </a:p>
          </p:txBody>
        </p:sp>
      </p:grpSp>
      <p:grpSp>
        <p:nvGrpSpPr>
          <p:cNvPr id="38" name="c2-card-2"/>
          <p:cNvGrpSpPr/>
          <p:nvPr/>
        </p:nvGrpSpPr>
        <p:grpSpPr>
          <a:xfrm>
            <a:off x="6898005" y="3574732"/>
            <a:ext cx="4760595" cy="2711768"/>
            <a:chOff x="6898005" y="3574732"/>
            <a:chExt cx="4760595" cy="2711768"/>
          </a:xfrm>
        </p:grpSpPr>
        <p:sp>
          <p:nvSpPr>
            <p:cNvPr id="31" name="Rectangle 31"/>
            <p:cNvSpPr/>
            <p:nvPr/>
          </p:nvSpPr>
          <p:spPr>
            <a:xfrm>
              <a:off x="6898005" y="3574732"/>
              <a:ext cx="4760595" cy="2711768"/>
            </a:xfrm>
            <a:prstGeom prst="roundRect">
              <a:avLst>
                <a:gd name="adj" fmla="val 4917"/>
              </a:avLst>
            </a:prstGeom>
            <a:solidFill>
              <a:srgbClr val="FFFFFF"/>
            </a:solidFill>
            <a:ln w="14288">
              <a:solidFill>
                <a:srgbClr val="D9DFEA"/>
              </a:solidFill>
            </a:ln>
          </p:spPr>
        </p:sp>
        <p:sp>
          <p:nvSpPr>
            <p:cNvPr id="32" name="Rectangle 32"/>
            <p:cNvSpPr/>
            <p:nvPr/>
          </p:nvSpPr>
          <p:spPr>
            <a:xfrm>
              <a:off x="6907530" y="3708082"/>
              <a:ext cx="47625" cy="2445068"/>
            </a:xfrm>
            <a:prstGeom prst="roundRect">
              <a:avLst>
                <a:gd name="adj" fmla="val 50000"/>
              </a:avLst>
            </a:prstGeom>
            <a:solidFill>
              <a:srgbClr val="5B6475"/>
            </a:solidFill>
            <a:ln>
              <a:noFill/>
            </a:ln>
          </p:spPr>
        </p:sp>
        <p:sp>
          <p:nvSpPr>
            <p:cNvPr id="33" name="Rectangle 33"/>
            <p:cNvSpPr/>
            <p:nvPr/>
          </p:nvSpPr>
          <p:spPr>
            <a:xfrm>
              <a:off x="7122795" y="3761422"/>
              <a:ext cx="458152" cy="238125"/>
            </a:xfrm>
            <a:prstGeom prst="roundRect">
              <a:avLst>
                <a:gd name="adj" fmla="val 50000"/>
              </a:avLst>
            </a:prstGeom>
            <a:solidFill>
              <a:srgbClr val="F4F6FB"/>
            </a:solidFill>
            <a:ln>
              <a:noFill/>
            </a:ln>
          </p:spPr>
        </p:sp>
        <p:sp>
          <p:nvSpPr>
            <p:cNvPr id="34" name="TextBox 34"/>
            <p:cNvSpPr txBox="1"/>
            <p:nvPr/>
          </p:nvSpPr>
          <p:spPr>
            <a:xfrm>
              <a:off x="7214514" y="3794284"/>
              <a:ext cx="273761"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补充</a:t>
              </a:r>
            </a:p>
          </p:txBody>
        </p:sp>
        <p:sp>
          <p:nvSpPr>
            <p:cNvPr id="35" name="TextBox 35"/>
            <p:cNvSpPr txBox="1"/>
            <p:nvPr/>
          </p:nvSpPr>
          <p:spPr>
            <a:xfrm>
              <a:off x="7688389" y="3796665"/>
              <a:ext cx="159073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源课件没写的 final</a:t>
              </a:r>
            </a:p>
          </p:txBody>
        </p:sp>
        <p:sp>
          <p:nvSpPr>
            <p:cNvPr id="36" name="TextBox 36"/>
            <p:cNvSpPr txBox="1"/>
            <p:nvPr/>
          </p:nvSpPr>
          <p:spPr>
            <a:xfrm>
              <a:off x="7115937" y="4122420"/>
              <a:ext cx="409422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源课件的模板方法写作 </a:t>
              </a:r>
              <a:r>
                <a:rPr lang="en-US" sz="1350" dirty="0">
                  <a:solidFill>
                    <a:srgbClr val="462F80"/>
                  </a:solidFill>
                  <a:latin typeface="+mn-lt"/>
                  <a:ea typeface="+mn-ea"/>
                  <a:cs typeface="+mn-cs"/>
                </a:rPr>
                <a:t>public void</a:t>
              </a:r>
              <a:br/>
              <a:r>
                <a:rPr lang="en-US" sz="1350" dirty="0">
                  <a:solidFill>
                    <a:srgbClr val="462F80"/>
                  </a:solidFill>
                  <a:latin typeface="+mn-lt"/>
                  <a:ea typeface="+mn-ea"/>
                  <a:cs typeface="+mn-cs"/>
                </a:rPr>
                <a:t>TemplateMethod()</a:t>
              </a:r>
              <a:r>
                <a:rPr lang="zh-CN" sz="1350" dirty="0">
                  <a:solidFill>
                    <a:srgbClr val="1F2937"/>
                  </a:solidFill>
                  <a:latin typeface="+mn-lt"/>
                  <a:ea typeface="+mn-ea"/>
                  <a:cs typeface="+mn-cs"/>
                </a:rPr>
                <a:t xml:space="preserve">。加上 </a:t>
              </a:r>
              <a:r>
                <a:rPr lang="en-US" sz="1350" dirty="0">
                  <a:solidFill>
                    <a:srgbClr val="462F80"/>
                  </a:solidFill>
                  <a:latin typeface="+mn-lt"/>
                  <a:ea typeface="+mn-ea"/>
                  <a:cs typeface="+mn-cs"/>
                </a:rPr>
                <a:t>final</a:t>
              </a:r>
              <a:r>
                <a:rPr lang="zh-CN" sz="1350" dirty="0">
                  <a:solidFill>
                    <a:srgbClr val="1F2937"/>
                  </a:solidFill>
                  <a:latin typeface="+mn-lt"/>
                  <a:ea typeface="+mn-ea"/>
                  <a:cs typeface="+mn-cs"/>
                </a:rPr>
                <a:t xml:space="preserve"> 之后，子类连覆盖它</a:t>
              </a:r>
              <a:br/>
              <a:r>
                <a:rPr lang="zh-CN" sz="1350" dirty="0">
                  <a:solidFill>
                    <a:srgbClr val="1F2937"/>
                  </a:solidFill>
                  <a:latin typeface="+mn-lt"/>
                  <a:ea typeface="+mn-ea"/>
                  <a:cs typeface="+mn-cs"/>
                </a:rPr>
                <a:t>的机会都没有，算法框架才真正固定。</a:t>
              </a:r>
            </a:p>
          </p:txBody>
        </p:sp>
        <p:sp>
          <p:nvSpPr>
            <p:cNvPr id="37" name="TextBox 37"/>
            <p:cNvSpPr txBox="1"/>
            <p:nvPr/>
          </p:nvSpPr>
          <p:spPr>
            <a:xfrm>
              <a:off x="7117080" y="4933474"/>
              <a:ext cx="4072382" cy="427672"/>
            </a:xfrm>
            <a:prstGeom prst="rect">
              <a:avLst/>
            </a:prstGeom>
            <a:noFill/>
            <a:ln>
              <a:noFill/>
            </a:ln>
          </p:spPr>
          <p:txBody>
            <a:bodyPr wrap="none" lIns="0" tIns="0" rIns="0" bIns="0" anchor="t" anchorCtr="0">
              <a:spAutoFit/>
            </a:bodyPr>
            <a:lstStyle/>
            <a:p>
              <a:pPr algn="l">
                <a:lnSpc>
                  <a:spcPts val="1635"/>
                </a:lnSpc>
              </a:pPr>
              <a:r>
                <a:rPr lang="zh-CN" sz="1120" dirty="0">
                  <a:solidFill>
                    <a:srgbClr val="5B6475"/>
                  </a:solidFill>
                  <a:latin typeface="+mn-lt"/>
                  <a:ea typeface="+mn-ea"/>
                  <a:cs typeface="+mn-cs"/>
                </a:rPr>
                <a:t xml:space="preserve">C# 里对应的做法是不加 </a:t>
              </a:r>
              <a:r>
                <a:rPr lang="en-US" sz="1120" dirty="0">
                  <a:solidFill>
                    <a:srgbClr val="462F80"/>
                  </a:solidFill>
                  <a:latin typeface="+mn-lt"/>
                  <a:ea typeface="+mn-ea"/>
                  <a:cs typeface="+mn-cs"/>
                </a:rPr>
                <a:t>virtual</a:t>
              </a:r>
              <a:r>
                <a:rPr lang="zh-CN" sz="1120" dirty="0">
                  <a:solidFill>
                    <a:srgbClr val="5B6475"/>
                  </a:solidFill>
                  <a:latin typeface="+mn-lt"/>
                  <a:ea typeface="+mn-ea"/>
                  <a:cs typeface="+mn-cs"/>
                </a:rPr>
                <a:t>；Java 方法默认可覆盖，所以要</a:t>
              </a:r>
              <a:br/>
              <a:r>
                <a:rPr lang="zh-CN" sz="1120" dirty="0">
                  <a:solidFill>
                    <a:srgbClr val="5B6475"/>
                  </a:solidFill>
                  <a:latin typeface="+mn-lt"/>
                  <a:ea typeface="+mn-ea"/>
                  <a:cs typeface="+mn-cs"/>
                </a:rPr>
                <a:t xml:space="preserve">显式写 </a:t>
              </a:r>
              <a:r>
                <a:rPr lang="en-US" sz="1120" dirty="0">
                  <a:solidFill>
                    <a:srgbClr val="462F80"/>
                  </a:solidFill>
                  <a:latin typeface="+mn-lt"/>
                  <a:ea typeface="+mn-ea"/>
                  <a:cs typeface="+mn-cs"/>
                </a:rPr>
                <a:t>final</a:t>
              </a:r>
              <a:r>
                <a:rPr lang="zh-CN" sz="1120" dirty="0">
                  <a:solidFill>
                    <a:srgbClr val="5B6475"/>
                  </a:solidFill>
                  <a:latin typeface="+mn-lt"/>
                  <a:ea typeface="+mn-ea"/>
                  <a:cs typeface="+mn-cs"/>
                </a:rPr>
                <a:t>。</a:t>
              </a:r>
            </a:p>
          </p:txBody>
        </p:sp>
      </p:grpSp>
      <p:grpSp>
        <p:nvGrpSpPr>
          <p:cNvPr id="41" name="footer"/>
          <p:cNvGrpSpPr/>
          <p:nvPr/>
        </p:nvGrpSpPr>
        <p:grpSpPr>
          <a:xfrm>
            <a:off x="528447" y="6581299"/>
            <a:ext cx="11135106" cy="190690"/>
            <a:chOff x="528447" y="6581299"/>
            <a:chExt cx="11135106" cy="190690"/>
          </a:xfrm>
        </p:grpSpPr>
        <p:sp>
          <p:nvSpPr>
            <p:cNvPr id="39" name="TextBox 3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40" name="TextBox 4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548247" cy="909257"/>
            <a:chOff x="520446" y="342900"/>
            <a:chExt cx="6548247"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骨架代码与提炼模板方法的做法</a:t>
              </a:r>
            </a:p>
          </p:txBody>
        </p:sp>
        <p:sp>
          <p:nvSpPr>
            <p:cNvPr id="4" name="TextBox 4"/>
            <p:cNvSpPr txBox="1"/>
            <p:nvPr/>
          </p:nvSpPr>
          <p:spPr>
            <a:xfrm>
              <a:off x="520446" y="753428"/>
              <a:ext cx="6548247"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骨架代码（二）：子类、客户端与运行结果</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11" name="c1-code-1"/>
          <p:cNvGrpSpPr/>
          <p:nvPr/>
        </p:nvGrpSpPr>
        <p:grpSpPr>
          <a:xfrm>
            <a:off x="533400" y="1524000"/>
            <a:ext cx="5951220" cy="3495675"/>
            <a:chOff x="533400" y="1524000"/>
            <a:chExt cx="5951220" cy="3495675"/>
          </a:xfrm>
        </p:grpSpPr>
        <p:sp>
          <p:nvSpPr>
            <p:cNvPr id="7" name="Rectangle 7"/>
            <p:cNvSpPr/>
            <p:nvPr/>
          </p:nvSpPr>
          <p:spPr>
            <a:xfrm>
              <a:off x="533400" y="1524000"/>
              <a:ext cx="5951220" cy="3495675"/>
            </a:xfrm>
            <a:prstGeom prst="roundRect">
              <a:avLst>
                <a:gd name="adj" fmla="val 2725"/>
              </a:avLst>
            </a:prstGeom>
            <a:solidFill>
              <a:srgbClr val="F6F8FA"/>
            </a:solidFill>
            <a:ln w="11430">
              <a:solidFill>
                <a:srgbClr val="D9DFEA"/>
              </a:solidFill>
            </a:ln>
          </p:spPr>
        </p:sp>
        <p:sp>
          <p:nvSpPr>
            <p:cNvPr id="8" name="TextBox 8"/>
            <p:cNvSpPr txBox="1"/>
            <p:nvPr/>
          </p:nvSpPr>
          <p:spPr>
            <a:xfrm>
              <a:off x="661797" y="1675924"/>
              <a:ext cx="158136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ConcreteClass 与 Client</a:t>
              </a:r>
            </a:p>
          </p:txBody>
        </p:sp>
        <p:sp>
          <p:nvSpPr>
            <p:cNvPr id="9" name="Rectangle 9"/>
            <p:cNvSpPr/>
            <p:nvPr/>
          </p:nvSpPr>
          <p:spPr>
            <a:xfrm>
              <a:off x="552450" y="4360545"/>
              <a:ext cx="5913120" cy="176212"/>
            </a:xfrm>
            <a:prstGeom prst="rect">
              <a:avLst/>
            </a:prstGeom>
            <a:solidFill>
              <a:srgbClr val="FDEEE7"/>
            </a:solidFill>
            <a:ln>
              <a:noFill/>
            </a:ln>
          </p:spPr>
        </p:sp>
        <p:sp>
          <p:nvSpPr>
            <p:cNvPr id="10" name="TextBox 10"/>
            <p:cNvSpPr txBox="1"/>
            <p:nvPr/>
          </p:nvSpPr>
          <p:spPr>
            <a:xfrm>
              <a:off x="661797" y="1935956"/>
              <a:ext cx="4042410" cy="3010090"/>
            </a:xfrm>
            <a:prstGeom prst="rect">
              <a:avLst/>
            </a:prstGeom>
            <a:noFill/>
            <a:ln>
              <a:noFill/>
            </a:ln>
          </p:spPr>
          <p:txBody>
            <a:bodyPr wrap="none" lIns="0" tIns="0" rIns="0" bIns="0" anchor="t" anchorCtr="0">
              <a:spAutoFit/>
            </a:bodyPr>
            <a:lstStyle/>
            <a:p>
              <a:pPr algn="l">
                <a:lnSpc>
                  <a:spcPts val="1388"/>
                </a:lnSpc>
              </a:pPr>
              <a:r>
                <a:rPr lang="en-US" sz="980" b="1" dirty="0">
                  <a:solidFill>
                    <a:srgbClr val="5B3FA0"/>
                  </a:solidFill>
                  <a:latin typeface="Consolas"/>
                  <a:ea typeface="Consolas"/>
                  <a:cs typeface="Consolas"/>
                </a:rPr>
                <a:t>public</a:t>
              </a: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class</a:t>
              </a:r>
              <a:r>
                <a:rPr lang="en-US" sz="980" dirty="0">
                  <a:solidFill>
                    <a:srgbClr val="1F2937"/>
                  </a:solidFill>
                  <a:latin typeface="Consolas"/>
                  <a:ea typeface="Consolas"/>
                  <a:cs typeface="Consolas"/>
                </a:rPr>
                <a:t xml:space="preserve"> ConcreteClass </a:t>
              </a:r>
              <a:r>
                <a:rPr lang="en-US" sz="980" b="1" dirty="0">
                  <a:solidFill>
                    <a:srgbClr val="5B3FA0"/>
                  </a:solidFill>
                  <a:latin typeface="Consolas"/>
                  <a:ea typeface="Consolas"/>
                  <a:cs typeface="Consolas"/>
                </a:rPr>
                <a:t>extends</a:t>
              </a:r>
              <a:r>
                <a:rPr lang="en-US" sz="980" dirty="0">
                  <a:solidFill>
                    <a:srgbClr val="1F2937"/>
                  </a:solidFill>
                  <a:latin typeface="Consolas"/>
                  <a:ea typeface="Consolas"/>
                  <a:cs typeface="Consolas"/>
                </a:rPr>
                <a:t xml:space="preserve"> AbstractClass {</a:t>
              </a:r>
              <a:br/>
              <a:r>
                <a:rPr lang="en-US" sz="980" dirty="0">
                  <a:solidFill>
                    <a:srgbClr val="1F2937"/>
                  </a:solidFill>
                  <a:latin typeface="Consolas"/>
                  <a:ea typeface="Consolas"/>
                  <a:cs typeface="Consolas"/>
                </a:rPr>
                <a:t xml:space="preserve">    @Override</a:t>
              </a:r>
              <a:b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public</a:t>
              </a: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void</a:t>
              </a:r>
              <a:r>
                <a:rPr lang="en-US" sz="980" dirty="0">
                  <a:solidFill>
                    <a:srgbClr val="1F2937"/>
                  </a:solidFill>
                  <a:latin typeface="Consolas"/>
                  <a:ea typeface="Consolas"/>
                  <a:cs typeface="Consolas"/>
                </a:rPr>
                <a:t xml:space="preserve"> primitiveOperation2() {   </a:t>
              </a:r>
              <a:r>
                <a:rPr lang="zh-CN" sz="980" dirty="0">
                  <a:solidFill>
                    <a:srgbClr val="0F7A68"/>
                  </a:solidFill>
                  <a:latin typeface="Consolas"/>
                  <a:ea typeface="Microsoft YaHei"/>
                  <a:cs typeface="Consolas"/>
                </a:rPr>
                <a:t>/* 实现抽象步骤 */</a:t>
              </a:r>
              <a:br/>
              <a:r>
                <a:rPr lang="en-US" sz="980" dirty="0">
                  <a:solidFill>
                    <a:srgbClr val="1F2937"/>
                  </a:solidFill>
                  <a:latin typeface="Consolas"/>
                  <a:ea typeface="Consolas"/>
                  <a:cs typeface="Consolas"/>
                </a:rPr>
                <a:t xml:space="preserve">        System.out.println(</a:t>
              </a:r>
              <a:r>
                <a:rPr lang="zh-CN" sz="980" dirty="0">
                  <a:solidFill>
                    <a:srgbClr val="C2410C"/>
                  </a:solidFill>
                  <a:latin typeface="Consolas"/>
                  <a:ea typeface="Microsoft YaHei"/>
                  <a:cs typeface="Consolas"/>
                </a:rPr>
                <a:t>"子类实现的第二步"</a:t>
              </a:r>
              <a:r>
                <a:rPr lang="zh-CN" sz="980" dirty="0">
                  <a:solidFill>
                    <a:srgbClr val="1F2937"/>
                  </a:solidFill>
                  <a:latin typeface="Consolas"/>
                  <a:ea typeface="Consolas"/>
                  <a:cs typeface="Consolas"/>
                </a:rPr>
                <a:t>);</a:t>
              </a:r>
              <a:br/>
              <a:r>
                <a:rPr lang="zh-CN" sz="980" dirty="0">
                  <a:solidFill>
                    <a:srgbClr val="1F2937"/>
                  </a:solidFill>
                  <a:latin typeface="Consolas"/>
                  <a:ea typeface="Consolas"/>
                  <a:cs typeface="Consolas"/>
                </a:rPr>
                <a:t xml:space="preserve">    }</a:t>
              </a:r>
              <a:br/>
              <a:r>
                <a:rPr lang="en-US" sz="980" dirty="0">
                  <a:solidFill>
                    <a:srgbClr val="1F2937"/>
                  </a:solidFill>
                  <a:latin typeface="Consolas"/>
                  <a:ea typeface="Consolas"/>
                  <a:cs typeface="Consolas"/>
                </a:rPr>
                <a:t xml:space="preserve">    @Override</a:t>
              </a:r>
              <a:b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public</a:t>
              </a: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void</a:t>
              </a:r>
              <a:r>
                <a:rPr lang="en-US" sz="980" dirty="0">
                  <a:solidFill>
                    <a:srgbClr val="1F2937"/>
                  </a:solidFill>
                  <a:latin typeface="Consolas"/>
                  <a:ea typeface="Consolas"/>
                  <a:cs typeface="Consolas"/>
                </a:rPr>
                <a:t xml:space="preserve"> primitiveOperation3() {   </a:t>
              </a:r>
              <a:r>
                <a:rPr lang="zh-CN" sz="980" dirty="0">
                  <a:solidFill>
                    <a:srgbClr val="0F7A68"/>
                  </a:solidFill>
                  <a:latin typeface="Consolas"/>
                  <a:ea typeface="Microsoft YaHei"/>
                  <a:cs typeface="Consolas"/>
                </a:rPr>
                <a:t>/* 覆盖钩子方法 */</a:t>
              </a:r>
              <a:br/>
              <a:r>
                <a:rPr lang="en-US" sz="980" dirty="0">
                  <a:solidFill>
                    <a:srgbClr val="1F2937"/>
                  </a:solidFill>
                  <a:latin typeface="Consolas"/>
                  <a:ea typeface="Consolas"/>
                  <a:cs typeface="Consolas"/>
                </a:rPr>
                <a:t xml:space="preserve">        System.out.println(</a:t>
              </a:r>
              <a:r>
                <a:rPr lang="zh-CN" sz="980" dirty="0">
                  <a:solidFill>
                    <a:srgbClr val="C2410C"/>
                  </a:solidFill>
                  <a:latin typeface="Consolas"/>
                  <a:ea typeface="Microsoft YaHei"/>
                  <a:cs typeface="Consolas"/>
                </a:rPr>
                <a:t>"子类改写的第三步"</a:t>
              </a:r>
              <a:r>
                <a:rPr lang="zh-CN" sz="980" dirty="0">
                  <a:solidFill>
                    <a:srgbClr val="1F2937"/>
                  </a:solidFill>
                  <a:latin typeface="Consolas"/>
                  <a:ea typeface="Consolas"/>
                  <a:cs typeface="Consolas"/>
                </a:rPr>
                <a:t>);</a:t>
              </a:r>
              <a:br/>
              <a:r>
                <a:rPr lang="zh-CN" sz="980" dirty="0">
                  <a:solidFill>
                    <a:srgbClr val="1F2937"/>
                  </a:solidFill>
                  <a:latin typeface="Consolas"/>
                  <a:ea typeface="Consolas"/>
                  <a:cs typeface="Consolas"/>
                </a:rPr>
                <a:t xml:space="preserve">    }</a:t>
              </a:r>
              <a:br/>
              <a:r>
                <a:rPr lang="zh-CN" sz="980" dirty="0">
                  <a:solidFill>
                    <a:srgbClr val="1F2937"/>
                  </a:solidFill>
                  <a:latin typeface="Consolas"/>
                  <a:ea typeface="Consolas"/>
                  <a:cs typeface="Consolas"/>
                </a:rPr>
                <a:t>}</a:t>
              </a:r>
              <a:br/>
              <a:r>
                <a:rPr lang="zh-CN" sz="980" dirty="0">
                  <a:solidFill>
                    <a:srgbClr val="1F2937"/>
                  </a:solidFill>
                  <a:latin typeface="Consolas"/>
                  <a:ea typeface="Consolas"/>
                  <a:cs typeface="Consolas"/>
                </a:rPr>
                <a:t xml:space="preserve"> </a:t>
              </a:r>
              <a:br/>
              <a:r>
                <a:rPr lang="en-US" sz="980" b="1" dirty="0">
                  <a:solidFill>
                    <a:srgbClr val="5B3FA0"/>
                  </a:solidFill>
                  <a:latin typeface="Consolas"/>
                  <a:ea typeface="Consolas"/>
                  <a:cs typeface="Consolas"/>
                </a:rPr>
                <a:t>public</a:t>
              </a: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class</a:t>
              </a:r>
              <a:r>
                <a:rPr lang="en-US" sz="980" dirty="0">
                  <a:solidFill>
                    <a:srgbClr val="1F2937"/>
                  </a:solidFill>
                  <a:latin typeface="Consolas"/>
                  <a:ea typeface="Consolas"/>
                  <a:cs typeface="Consolas"/>
                </a:rPr>
                <a:t xml:space="preserve"> Client {</a:t>
              </a:r>
              <a:b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public</a:t>
              </a: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static</a:t>
              </a:r>
              <a:r>
                <a:rPr lang="zh-CN" sz="980" dirty="0">
                  <a:solidFill>
                    <a:srgbClr val="1F2937"/>
                  </a:solidFill>
                  <a:latin typeface="Consolas"/>
                  <a:ea typeface="Consolas"/>
                  <a:cs typeface="Consolas"/>
                </a:rPr>
                <a:t xml:space="preserve"> </a:t>
              </a:r>
              <a:r>
                <a:rPr lang="en-US" sz="980" b="1" dirty="0">
                  <a:solidFill>
                    <a:srgbClr val="5B3FA0"/>
                  </a:solidFill>
                  <a:latin typeface="Consolas"/>
                  <a:ea typeface="Consolas"/>
                  <a:cs typeface="Consolas"/>
                </a:rPr>
                <a:t>void</a:t>
              </a:r>
              <a:r>
                <a:rPr lang="en-US" sz="980" dirty="0">
                  <a:solidFill>
                    <a:srgbClr val="1F2937"/>
                  </a:solidFill>
                  <a:latin typeface="Consolas"/>
                  <a:ea typeface="Consolas"/>
                  <a:cs typeface="Consolas"/>
                </a:rPr>
                <a:t xml:space="preserve"> main(String[] args) {</a:t>
              </a:r>
              <a:br/>
              <a:r>
                <a:rPr lang="en-US" sz="980" dirty="0">
                  <a:solidFill>
                    <a:srgbClr val="1F2937"/>
                  </a:solidFill>
                  <a:latin typeface="Consolas"/>
                  <a:ea typeface="Consolas"/>
                  <a:cs typeface="Consolas"/>
                </a:rPr>
                <a:t xml:space="preserve">        AbstractClass obj = </a:t>
              </a:r>
              <a:r>
                <a:rPr lang="en-US" sz="980" b="1" dirty="0">
                  <a:solidFill>
                    <a:srgbClr val="5B3FA0"/>
                  </a:solidFill>
                  <a:latin typeface="Consolas"/>
                  <a:ea typeface="Consolas"/>
                  <a:cs typeface="Consolas"/>
                </a:rPr>
                <a:t>new</a:t>
              </a:r>
              <a:r>
                <a:rPr lang="en-US" sz="980" dirty="0">
                  <a:solidFill>
                    <a:srgbClr val="1F2937"/>
                  </a:solidFill>
                  <a:latin typeface="Consolas"/>
                  <a:ea typeface="Consolas"/>
                  <a:cs typeface="Consolas"/>
                </a:rPr>
                <a:t xml:space="preserve"> ConcreteClass();</a:t>
              </a:r>
              <a:br/>
              <a:r>
                <a:rPr lang="en-US" sz="980" dirty="0">
                  <a:solidFill>
                    <a:srgbClr val="1F2937"/>
                  </a:solidFill>
                  <a:latin typeface="Consolas"/>
                  <a:ea typeface="Consolas"/>
                  <a:cs typeface="Consolas"/>
                </a:rPr>
                <a:t xml:space="preserve">        obj.templateMethod();             </a:t>
              </a:r>
              <a:r>
                <a:rPr lang="zh-CN" sz="980" dirty="0">
                  <a:solidFill>
                    <a:srgbClr val="0F7A68"/>
                  </a:solidFill>
                  <a:latin typeface="Consolas"/>
                  <a:ea typeface="Microsoft YaHei"/>
                  <a:cs typeface="Consolas"/>
                </a:rPr>
                <a:t>/* 只调这一句 */</a:t>
              </a:r>
              <a:br/>
              <a:r>
                <a:rPr lang="zh-CN" sz="980" dirty="0">
                  <a:solidFill>
                    <a:srgbClr val="1F2937"/>
                  </a:solidFill>
                  <a:latin typeface="Consolas"/>
                  <a:ea typeface="Consolas"/>
                  <a:cs typeface="Consolas"/>
                </a:rPr>
                <a:t xml:space="preserve">    }</a:t>
              </a:r>
              <a:br/>
              <a:r>
                <a:rPr lang="zh-CN" sz="980" dirty="0">
                  <a:solidFill>
                    <a:srgbClr val="1F2937"/>
                  </a:solidFill>
                  <a:latin typeface="Consolas"/>
                  <a:ea typeface="Consolas"/>
                  <a:cs typeface="Consolas"/>
                </a:rPr>
                <a:t>}</a:t>
              </a:r>
            </a:p>
          </p:txBody>
        </p:sp>
      </p:grpSp>
      <p:grpSp>
        <p:nvGrpSpPr>
          <p:cNvPr id="15" name="c2-code-1"/>
          <p:cNvGrpSpPr/>
          <p:nvPr/>
        </p:nvGrpSpPr>
        <p:grpSpPr>
          <a:xfrm>
            <a:off x="6789420" y="1524000"/>
            <a:ext cx="4869180" cy="1033462"/>
            <a:chOff x="6789420" y="1524000"/>
            <a:chExt cx="4869180" cy="1033462"/>
          </a:xfrm>
        </p:grpSpPr>
        <p:sp>
          <p:nvSpPr>
            <p:cNvPr id="12" name="Rectangle 12"/>
            <p:cNvSpPr/>
            <p:nvPr/>
          </p:nvSpPr>
          <p:spPr>
            <a:xfrm>
              <a:off x="6789420" y="1524000"/>
              <a:ext cx="4869180" cy="1033462"/>
            </a:xfrm>
            <a:prstGeom prst="roundRect">
              <a:avLst>
                <a:gd name="adj" fmla="val 9217"/>
              </a:avLst>
            </a:prstGeom>
            <a:solidFill>
              <a:srgbClr val="F6F8FA"/>
            </a:solidFill>
            <a:ln w="11430">
              <a:solidFill>
                <a:srgbClr val="D9DFEA"/>
              </a:solidFill>
            </a:ln>
          </p:spPr>
        </p:sp>
        <p:sp>
          <p:nvSpPr>
            <p:cNvPr id="13" name="TextBox 13"/>
            <p:cNvSpPr txBox="1"/>
            <p:nvPr/>
          </p:nvSpPr>
          <p:spPr>
            <a:xfrm>
              <a:off x="6917817" y="1675924"/>
              <a:ext cx="53761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运行结果</a:t>
              </a:r>
            </a:p>
          </p:txBody>
        </p:sp>
        <p:sp>
          <p:nvSpPr>
            <p:cNvPr id="14" name="TextBox 14"/>
            <p:cNvSpPr txBox="1"/>
            <p:nvPr/>
          </p:nvSpPr>
          <p:spPr>
            <a:xfrm>
              <a:off x="6917817" y="1935956"/>
              <a:ext cx="1130046" cy="543116"/>
            </a:xfrm>
            <a:prstGeom prst="rect">
              <a:avLst/>
            </a:prstGeom>
            <a:noFill/>
            <a:ln>
              <a:noFill/>
            </a:ln>
          </p:spPr>
          <p:txBody>
            <a:bodyPr wrap="none" lIns="0" tIns="0" rIns="0" bIns="0" anchor="t" anchorCtr="0">
              <a:spAutoFit/>
            </a:bodyPr>
            <a:lstStyle/>
            <a:p>
              <a:pPr algn="l">
                <a:lnSpc>
                  <a:spcPts val="1388"/>
                </a:lnSpc>
              </a:pPr>
              <a:r>
                <a:rPr lang="zh-CN" sz="980" dirty="0">
                  <a:solidFill>
                    <a:srgbClr val="1F2937"/>
                  </a:solidFill>
                  <a:latin typeface="Consolas"/>
                  <a:ea typeface="Microsoft YaHei"/>
                  <a:cs typeface="Consolas"/>
                </a:rPr>
                <a:t>所有子类共用的一步</a:t>
              </a:r>
              <a:br/>
              <a:r>
                <a:rPr lang="zh-CN" sz="980" dirty="0">
                  <a:solidFill>
                    <a:srgbClr val="1F2937"/>
                  </a:solidFill>
                  <a:latin typeface="Consolas"/>
                  <a:ea typeface="Microsoft YaHei"/>
                  <a:cs typeface="Consolas"/>
                </a:rPr>
                <a:t>子类实现的第二步</a:t>
              </a:r>
              <a:br/>
              <a:r>
                <a:rPr lang="zh-CN" sz="980" dirty="0">
                  <a:solidFill>
                    <a:srgbClr val="1F2937"/>
                  </a:solidFill>
                  <a:latin typeface="Consolas"/>
                  <a:ea typeface="Microsoft YaHei"/>
                  <a:cs typeface="Consolas"/>
                </a:rPr>
                <a:t>子类改写的第三步</a:t>
              </a:r>
            </a:p>
          </p:txBody>
        </p:sp>
      </p:grpSp>
      <p:grpSp>
        <p:nvGrpSpPr>
          <p:cNvPr id="24" name="c2-kv-2"/>
          <p:cNvGrpSpPr/>
          <p:nvPr/>
        </p:nvGrpSpPr>
        <p:grpSpPr>
          <a:xfrm>
            <a:off x="6781800" y="2772728"/>
            <a:ext cx="4876800" cy="1455420"/>
            <a:chOff x="6781800" y="2772728"/>
            <a:chExt cx="4876800" cy="1455420"/>
          </a:xfrm>
        </p:grpSpPr>
        <p:sp>
          <p:nvSpPr>
            <p:cNvPr id="16" name="TextBox 16"/>
            <p:cNvSpPr txBox="1"/>
            <p:nvPr/>
          </p:nvSpPr>
          <p:spPr>
            <a:xfrm>
              <a:off x="6781800" y="2772728"/>
              <a:ext cx="621030" cy="293370"/>
            </a:xfrm>
            <a:prstGeom prst="rect">
              <a:avLst/>
            </a:prstGeom>
            <a:noFill/>
            <a:ln>
              <a:noFill/>
            </a:ln>
          </p:spPr>
          <p:txBody>
            <a:bodyPr wrap="none" lIns="0" tIns="0" rIns="0" bIns="0" anchor="t" anchorCtr="0">
              <a:spAutoFit/>
            </a:bodyPr>
            <a:lstStyle/>
            <a:p>
              <a:pPr algn="l"/>
              <a:r>
                <a:rPr lang="zh-CN" sz="1500" b="1" dirty="0">
                  <a:solidFill>
                    <a:srgbClr val="5B3FA0"/>
                  </a:solidFill>
                  <a:latin typeface="+mn-lt"/>
                  <a:ea typeface="+mn-ea"/>
                  <a:cs typeface="+mn-cs"/>
                </a:rPr>
                <a:t>第一行</a:t>
              </a:r>
            </a:p>
          </p:txBody>
        </p:sp>
        <p:sp>
          <p:nvSpPr>
            <p:cNvPr id="17" name="TextBox 17"/>
            <p:cNvSpPr txBox="1"/>
            <p:nvPr/>
          </p:nvSpPr>
          <p:spPr>
            <a:xfrm>
              <a:off x="7624762" y="2772728"/>
              <a:ext cx="32461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来自父类的具体方法，子类没有覆盖</a:t>
              </a:r>
            </a:p>
          </p:txBody>
        </p:sp>
        <p:sp>
          <p:nvSpPr>
            <p:cNvPr id="18" name="Rectangle 18"/>
            <p:cNvSpPr/>
            <p:nvPr/>
          </p:nvSpPr>
          <p:spPr>
            <a:xfrm>
              <a:off x="6789420" y="3092768"/>
              <a:ext cx="4869180" cy="9525"/>
            </a:xfrm>
            <a:prstGeom prst="rect">
              <a:avLst/>
            </a:prstGeom>
            <a:solidFill>
              <a:srgbClr val="D9DFEA"/>
            </a:solidFill>
            <a:ln>
              <a:noFill/>
            </a:ln>
          </p:spPr>
        </p:sp>
        <p:sp>
          <p:nvSpPr>
            <p:cNvPr id="19" name="TextBox 19"/>
            <p:cNvSpPr txBox="1"/>
            <p:nvPr/>
          </p:nvSpPr>
          <p:spPr>
            <a:xfrm>
              <a:off x="6781800" y="3212782"/>
              <a:ext cx="621030" cy="293370"/>
            </a:xfrm>
            <a:prstGeom prst="rect">
              <a:avLst/>
            </a:prstGeom>
            <a:noFill/>
            <a:ln>
              <a:noFill/>
            </a:ln>
          </p:spPr>
          <p:txBody>
            <a:bodyPr wrap="none" lIns="0" tIns="0" rIns="0" bIns="0" anchor="t" anchorCtr="0">
              <a:spAutoFit/>
            </a:bodyPr>
            <a:lstStyle/>
            <a:p>
              <a:pPr algn="l"/>
              <a:r>
                <a:rPr lang="zh-CN" sz="1500" b="1" dirty="0">
                  <a:solidFill>
                    <a:srgbClr val="5B3FA0"/>
                  </a:solidFill>
                  <a:latin typeface="+mn-lt"/>
                  <a:ea typeface="+mn-ea"/>
                  <a:cs typeface="+mn-cs"/>
                </a:rPr>
                <a:t>第二行</a:t>
              </a:r>
            </a:p>
          </p:txBody>
        </p:sp>
        <p:sp>
          <p:nvSpPr>
            <p:cNvPr id="20" name="TextBox 20"/>
            <p:cNvSpPr txBox="1"/>
            <p:nvPr/>
          </p:nvSpPr>
          <p:spPr>
            <a:xfrm>
              <a:off x="7624762" y="3212782"/>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来自子类实现的抽象方法</a:t>
              </a:r>
            </a:p>
          </p:txBody>
        </p:sp>
        <p:sp>
          <p:nvSpPr>
            <p:cNvPr id="21" name="Rectangle 21"/>
            <p:cNvSpPr/>
            <p:nvPr/>
          </p:nvSpPr>
          <p:spPr>
            <a:xfrm>
              <a:off x="6789420" y="3532822"/>
              <a:ext cx="4869180" cy="9525"/>
            </a:xfrm>
            <a:prstGeom prst="rect">
              <a:avLst/>
            </a:prstGeom>
            <a:solidFill>
              <a:srgbClr val="D9DFEA"/>
            </a:solidFill>
            <a:ln>
              <a:noFill/>
            </a:ln>
          </p:spPr>
        </p:sp>
        <p:sp>
          <p:nvSpPr>
            <p:cNvPr id="22" name="TextBox 22"/>
            <p:cNvSpPr txBox="1"/>
            <p:nvPr/>
          </p:nvSpPr>
          <p:spPr>
            <a:xfrm>
              <a:off x="6781800" y="3652838"/>
              <a:ext cx="621030" cy="293370"/>
            </a:xfrm>
            <a:prstGeom prst="rect">
              <a:avLst/>
            </a:prstGeom>
            <a:noFill/>
            <a:ln>
              <a:noFill/>
            </a:ln>
          </p:spPr>
          <p:txBody>
            <a:bodyPr wrap="none" lIns="0" tIns="0" rIns="0" bIns="0" anchor="t" anchorCtr="0">
              <a:spAutoFit/>
            </a:bodyPr>
            <a:lstStyle/>
            <a:p>
              <a:pPr algn="l"/>
              <a:r>
                <a:rPr lang="zh-CN" sz="1500" b="1" dirty="0">
                  <a:solidFill>
                    <a:srgbClr val="5B3FA0"/>
                  </a:solidFill>
                  <a:latin typeface="+mn-lt"/>
                  <a:ea typeface="+mn-ea"/>
                  <a:cs typeface="+mn-cs"/>
                </a:rPr>
                <a:t>第三行</a:t>
              </a:r>
            </a:p>
          </p:txBody>
        </p:sp>
        <p:sp>
          <p:nvSpPr>
            <p:cNvPr id="23" name="TextBox 23"/>
            <p:cNvSpPr txBox="1"/>
            <p:nvPr/>
          </p:nvSpPr>
          <p:spPr>
            <a:xfrm>
              <a:off x="7624762" y="3652838"/>
              <a:ext cx="3634740" cy="575310"/>
            </a:xfrm>
            <a:prstGeom prst="rect">
              <a:avLst/>
            </a:prstGeom>
            <a:noFill/>
            <a:ln>
              <a:noFill/>
            </a:ln>
          </p:spPr>
          <p:txBody>
            <a:bodyPr wrap="none" lIns="0" tIns="0" rIns="0" bIns="0" anchor="t" anchorCtr="0">
              <a:spAutoFit/>
            </a:bodyPr>
            <a:lstStyle/>
            <a:p>
              <a:pPr algn="l">
                <a:lnSpc>
                  <a:spcPts val="2220"/>
                </a:lnSpc>
              </a:pPr>
              <a:r>
                <a:rPr lang="zh-CN" sz="1500" dirty="0">
                  <a:solidFill>
                    <a:srgbClr val="1F2937"/>
                  </a:solidFill>
                  <a:latin typeface="+mn-lt"/>
                  <a:ea typeface="+mn-ea"/>
                  <a:cs typeface="+mn-cs"/>
                </a:rPr>
                <a:t>来自子类覆盖的钩子方法；不覆盖时这一行</a:t>
              </a:r>
              <a:br/>
              <a:r>
                <a:rPr lang="zh-CN" sz="1500" dirty="0">
                  <a:solidFill>
                    <a:srgbClr val="1F2937"/>
                  </a:solidFill>
                  <a:latin typeface="+mn-lt"/>
                  <a:ea typeface="+mn-ea"/>
                  <a:cs typeface="+mn-cs"/>
                </a:rPr>
                <a:t>不会出现</a:t>
              </a:r>
            </a:p>
          </p:txBody>
        </p:sp>
      </p:grpSp>
      <p:grpSp>
        <p:nvGrpSpPr>
          <p:cNvPr id="30" name="c2-callout-3"/>
          <p:cNvGrpSpPr/>
          <p:nvPr/>
        </p:nvGrpSpPr>
        <p:grpSpPr>
          <a:xfrm>
            <a:off x="6789420" y="4359592"/>
            <a:ext cx="4869180" cy="782955"/>
            <a:chOff x="6789420" y="4359592"/>
            <a:chExt cx="4869180" cy="782955"/>
          </a:xfrm>
        </p:grpSpPr>
        <p:sp>
          <p:nvSpPr>
            <p:cNvPr id="25" name="Rectangle 25"/>
            <p:cNvSpPr/>
            <p:nvPr/>
          </p:nvSpPr>
          <p:spPr>
            <a:xfrm>
              <a:off x="6789420" y="4359592"/>
              <a:ext cx="4869180" cy="782955"/>
            </a:xfrm>
            <a:prstGeom prst="roundRect">
              <a:avLst>
                <a:gd name="adj" fmla="val 14599"/>
              </a:avLst>
            </a:prstGeom>
            <a:solidFill>
              <a:srgbClr val="5B3FA0"/>
            </a:solidFill>
            <a:ln>
              <a:noFill/>
            </a:ln>
          </p:spPr>
        </p:sp>
        <p:grpSp>
          <p:nvGrpSpPr>
            <p:cNvPr id="28" name="Group 28"/>
            <p:cNvGrpSpPr/>
            <p:nvPr/>
          </p:nvGrpSpPr>
          <p:grpSpPr>
            <a:xfrm>
              <a:off x="6994208" y="4651060"/>
              <a:ext cx="200023" cy="200023"/>
              <a:chOff x="6994208" y="4651060"/>
              <a:chExt cx="200023" cy="200023"/>
            </a:xfrm>
          </p:grpSpPr>
          <p:sp>
            <p:nvSpPr>
              <p:cNvPr id="26" name="Freeform 26"/>
              <p:cNvSpPr/>
              <p:nvPr/>
            </p:nvSpPr>
            <p:spPr>
              <a:xfrm>
                <a:off x="6994208" y="4651060"/>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7" name="Freeform 27"/>
              <p:cNvSpPr/>
              <p:nvPr/>
            </p:nvSpPr>
            <p:spPr>
              <a:xfrm>
                <a:off x="7127558" y="4717733"/>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9" name="TextBox 29"/>
            <p:cNvSpPr txBox="1"/>
            <p:nvPr/>
          </p:nvSpPr>
          <p:spPr>
            <a:xfrm>
              <a:off x="7296150" y="4508182"/>
              <a:ext cx="392049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FFFFFF"/>
                  </a:solidFill>
                  <a:latin typeface="+mn-lt"/>
                  <a:ea typeface="+mn-ea"/>
                  <a:cs typeface="+mn-cs"/>
                </a:rPr>
                <a:t>客户端只认识 AbstractClass 这个类型，换一</a:t>
              </a:r>
              <a:br/>
              <a:r>
                <a:rPr lang="zh-CN" sz="1500" dirty="0">
                  <a:solidFill>
                    <a:srgbClr val="FFFFFF"/>
                  </a:solidFill>
                  <a:latin typeface="+mn-lt"/>
                  <a:ea typeface="+mn-ea"/>
                  <a:cs typeface="+mn-cs"/>
                </a:rPr>
                <a:t>个子类不用改客户端的任何一行。</a:t>
              </a:r>
            </a:p>
          </p:txBody>
        </p:sp>
      </p:grpSp>
      <p:grpSp>
        <p:nvGrpSpPr>
          <p:cNvPr id="37" name="takeaway"/>
          <p:cNvGrpSpPr/>
          <p:nvPr/>
        </p:nvGrpSpPr>
        <p:grpSpPr>
          <a:xfrm>
            <a:off x="533400" y="5829300"/>
            <a:ext cx="11125200" cy="533400"/>
            <a:chOff x="533400" y="5829300"/>
            <a:chExt cx="11125200" cy="533400"/>
          </a:xfrm>
        </p:grpSpPr>
        <p:sp>
          <p:nvSpPr>
            <p:cNvPr id="31" name="Rectangle 31"/>
            <p:cNvSpPr/>
            <p:nvPr/>
          </p:nvSpPr>
          <p:spPr>
            <a:xfrm>
              <a:off x="533400" y="5829300"/>
              <a:ext cx="11125200" cy="533400"/>
            </a:xfrm>
            <a:prstGeom prst="roundRect">
              <a:avLst>
                <a:gd name="adj" fmla="val 21429"/>
              </a:avLst>
            </a:prstGeom>
            <a:solidFill>
              <a:srgbClr val="F4F6FB"/>
            </a:solidFill>
            <a:ln>
              <a:noFill/>
            </a:ln>
          </p:spPr>
        </p:sp>
        <p:grpSp>
          <p:nvGrpSpPr>
            <p:cNvPr id="35" name="Group 35"/>
            <p:cNvGrpSpPr/>
            <p:nvPr/>
          </p:nvGrpSpPr>
          <p:grpSpPr>
            <a:xfrm>
              <a:off x="738188" y="5995988"/>
              <a:ext cx="200026" cy="200026"/>
              <a:chOff x="738188" y="5995988"/>
              <a:chExt cx="200026" cy="200026"/>
            </a:xfrm>
          </p:grpSpPr>
          <p:sp>
            <p:nvSpPr>
              <p:cNvPr id="32" name="Freeform 32"/>
              <p:cNvSpPr/>
              <p:nvPr/>
            </p:nvSpPr>
            <p:spPr>
              <a:xfrm>
                <a:off x="738188" y="599598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3" name="Freeform 33"/>
              <p:cNvSpPr/>
              <p:nvPr/>
            </p:nvSpPr>
            <p:spPr>
              <a:xfrm>
                <a:off x="838200" y="606266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4" name="Freeform 34"/>
              <p:cNvSpPr/>
              <p:nvPr/>
            </p:nvSpPr>
            <p:spPr>
              <a:xfrm>
                <a:off x="827088" y="609600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6" name="TextBox 36"/>
            <p:cNvSpPr txBox="1"/>
            <p:nvPr/>
          </p:nvSpPr>
          <p:spPr>
            <a:xfrm>
              <a:off x="1040130" y="5991225"/>
              <a:ext cx="7385685"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每个 public 类各放一个同名 .java 文件，讲义把它们排在一起只是为了对照着读。</a:t>
              </a:r>
            </a:p>
          </p:txBody>
        </p:sp>
      </p:grpSp>
      <p:grpSp>
        <p:nvGrpSpPr>
          <p:cNvPr id="40" name="footer"/>
          <p:cNvGrpSpPr/>
          <p:nvPr/>
        </p:nvGrpSpPr>
        <p:grpSpPr>
          <a:xfrm>
            <a:off x="528447" y="6581299"/>
            <a:ext cx="11135106" cy="190690"/>
            <a:chOff x="528447" y="6581299"/>
            <a:chExt cx="11135106" cy="190690"/>
          </a:xfrm>
        </p:grpSpPr>
        <p:sp>
          <p:nvSpPr>
            <p:cNvPr id="38" name="TextBox 38"/>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39" name="TextBox 3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6204966" cy="909257"/>
            <a:chOff x="520446" y="342900"/>
            <a:chExt cx="6204966"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骨架代码与提炼模板方法的做法</a:t>
              </a:r>
            </a:p>
          </p:txBody>
        </p:sp>
        <p:sp>
          <p:nvSpPr>
            <p:cNvPr id="4" name="TextBox 4"/>
            <p:cNvSpPr txBox="1"/>
            <p:nvPr/>
          </p:nvSpPr>
          <p:spPr>
            <a:xfrm>
              <a:off x="520446" y="753428"/>
              <a:ext cx="6204966"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怎么从一堆重复代码里把模板方法提出来</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161" y="1547336"/>
            <a:ext cx="8999017" cy="278702"/>
            <a:chOff x="526161" y="1547336"/>
            <a:chExt cx="8999017" cy="278702"/>
          </a:xfrm>
        </p:grpSpPr>
        <p:sp>
          <p:nvSpPr>
            <p:cNvPr id="7" name="TextBox 7"/>
            <p:cNvSpPr txBox="1"/>
            <p:nvPr/>
          </p:nvSpPr>
          <p:spPr>
            <a:xfrm>
              <a:off x="526161" y="1547336"/>
              <a:ext cx="8999017"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模板方法模式在实际工程里更多是重构出来的，不是一开始就设计好的。四步做完，重复的流程只剩一份。</a:t>
              </a:r>
            </a:p>
          </p:txBody>
        </p:sp>
      </p:grpSp>
      <p:grpSp>
        <p:nvGrpSpPr>
          <p:cNvPr id="26" name="c1-steps-1"/>
          <p:cNvGrpSpPr/>
          <p:nvPr/>
        </p:nvGrpSpPr>
        <p:grpSpPr>
          <a:xfrm>
            <a:off x="533400" y="1950720"/>
            <a:ext cx="4797273" cy="2280762"/>
            <a:chOff x="533400" y="1950720"/>
            <a:chExt cx="4797273" cy="2280762"/>
          </a:xfrm>
        </p:grpSpPr>
        <p:sp>
          <p:nvSpPr>
            <p:cNvPr id="9" name="Rectangle 9"/>
            <p:cNvSpPr/>
            <p:nvPr/>
          </p:nvSpPr>
          <p:spPr>
            <a:xfrm>
              <a:off x="666750" y="2093595"/>
              <a:ext cx="19050" cy="1761172"/>
            </a:xfrm>
            <a:prstGeom prst="rect">
              <a:avLst/>
            </a:prstGeom>
            <a:solidFill>
              <a:srgbClr val="D9DFEA"/>
            </a:solidFill>
            <a:ln>
              <a:noFill/>
            </a:ln>
          </p:spPr>
        </p:sp>
        <p:sp>
          <p:nvSpPr>
            <p:cNvPr id="10" name="Ellipse 10"/>
            <p:cNvSpPr/>
            <p:nvPr/>
          </p:nvSpPr>
          <p:spPr>
            <a:xfrm>
              <a:off x="533400" y="1950720"/>
              <a:ext cx="285750" cy="285750"/>
            </a:xfrm>
            <a:prstGeom prst="ellipse">
              <a:avLst/>
            </a:prstGeom>
            <a:solidFill>
              <a:srgbClr val="5B3FA0"/>
            </a:solidFill>
            <a:ln>
              <a:noFill/>
            </a:ln>
          </p:spPr>
        </p:sp>
        <p:sp>
          <p:nvSpPr>
            <p:cNvPr id="11" name="TextBox 11"/>
            <p:cNvSpPr txBox="1"/>
            <p:nvPr/>
          </p:nvSpPr>
          <p:spPr>
            <a:xfrm>
              <a:off x="627024" y="2024539"/>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1</a:t>
              </a:r>
            </a:p>
          </p:txBody>
        </p:sp>
        <p:sp>
          <p:nvSpPr>
            <p:cNvPr id="12" name="Ellipse 12"/>
            <p:cNvSpPr/>
            <p:nvPr/>
          </p:nvSpPr>
          <p:spPr>
            <a:xfrm>
              <a:off x="533400" y="2538412"/>
              <a:ext cx="285750" cy="285750"/>
            </a:xfrm>
            <a:prstGeom prst="ellipse">
              <a:avLst/>
            </a:prstGeom>
            <a:solidFill>
              <a:srgbClr val="5B3FA0"/>
            </a:solidFill>
            <a:ln>
              <a:noFill/>
            </a:ln>
          </p:spPr>
        </p:sp>
        <p:sp>
          <p:nvSpPr>
            <p:cNvPr id="13" name="TextBox 13"/>
            <p:cNvSpPr txBox="1"/>
            <p:nvPr/>
          </p:nvSpPr>
          <p:spPr>
            <a:xfrm>
              <a:off x="627024" y="261223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2</a:t>
              </a:r>
            </a:p>
          </p:txBody>
        </p:sp>
        <p:sp>
          <p:nvSpPr>
            <p:cNvPr id="14" name="Ellipse 14"/>
            <p:cNvSpPr/>
            <p:nvPr/>
          </p:nvSpPr>
          <p:spPr>
            <a:xfrm>
              <a:off x="533400" y="3125152"/>
              <a:ext cx="285750" cy="285750"/>
            </a:xfrm>
            <a:prstGeom prst="ellipse">
              <a:avLst/>
            </a:prstGeom>
            <a:solidFill>
              <a:srgbClr val="5B3FA0"/>
            </a:solidFill>
            <a:ln>
              <a:noFill/>
            </a:ln>
          </p:spPr>
        </p:sp>
        <p:sp>
          <p:nvSpPr>
            <p:cNvPr id="15" name="TextBox 15"/>
            <p:cNvSpPr txBox="1"/>
            <p:nvPr/>
          </p:nvSpPr>
          <p:spPr>
            <a:xfrm>
              <a:off x="627024" y="319897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3</a:t>
              </a:r>
            </a:p>
          </p:txBody>
        </p:sp>
        <p:sp>
          <p:nvSpPr>
            <p:cNvPr id="16" name="Ellipse 16"/>
            <p:cNvSpPr/>
            <p:nvPr/>
          </p:nvSpPr>
          <p:spPr>
            <a:xfrm>
              <a:off x="533400" y="3711892"/>
              <a:ext cx="285750" cy="285750"/>
            </a:xfrm>
            <a:prstGeom prst="ellipse">
              <a:avLst/>
            </a:prstGeom>
            <a:solidFill>
              <a:srgbClr val="5B3FA0"/>
            </a:solidFill>
            <a:ln>
              <a:noFill/>
            </a:ln>
          </p:spPr>
        </p:sp>
        <p:sp>
          <p:nvSpPr>
            <p:cNvPr id="17" name="TextBox 17"/>
            <p:cNvSpPr txBox="1"/>
            <p:nvPr/>
          </p:nvSpPr>
          <p:spPr>
            <a:xfrm>
              <a:off x="627024" y="3785711"/>
              <a:ext cx="98502"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4</a:t>
              </a:r>
            </a:p>
          </p:txBody>
        </p:sp>
        <p:sp>
          <p:nvSpPr>
            <p:cNvPr id="18" name="TextBox 18"/>
            <p:cNvSpPr txBox="1"/>
            <p:nvPr/>
          </p:nvSpPr>
          <p:spPr>
            <a:xfrm>
              <a:off x="945642" y="1983105"/>
              <a:ext cx="740664"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并排比对</a:t>
              </a:r>
            </a:p>
          </p:txBody>
        </p:sp>
        <p:sp>
          <p:nvSpPr>
            <p:cNvPr id="19" name="TextBox 19"/>
            <p:cNvSpPr txBox="1"/>
            <p:nvPr/>
          </p:nvSpPr>
          <p:spPr>
            <a:xfrm>
              <a:off x="946785" y="2250281"/>
              <a:ext cx="438388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把几个类里流程相同的方法抄到一起，逐行对照，标出哪些行一样</a:t>
              </a:r>
            </a:p>
          </p:txBody>
        </p:sp>
        <p:sp>
          <p:nvSpPr>
            <p:cNvPr id="20" name="TextBox 20"/>
            <p:cNvSpPr txBox="1"/>
            <p:nvPr/>
          </p:nvSpPr>
          <p:spPr>
            <a:xfrm>
              <a:off x="945642" y="2569845"/>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相同的行提上去</a:t>
              </a:r>
            </a:p>
          </p:txBody>
        </p:sp>
        <p:sp>
          <p:nvSpPr>
            <p:cNvPr id="21" name="TextBox 21"/>
            <p:cNvSpPr txBox="1"/>
            <p:nvPr/>
          </p:nvSpPr>
          <p:spPr>
            <a:xfrm>
              <a:off x="946785" y="2837021"/>
              <a:ext cx="2725369"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完全一样的步骤搬进父类，写成具体方法</a:t>
              </a:r>
            </a:p>
          </p:txBody>
        </p:sp>
        <p:sp>
          <p:nvSpPr>
            <p:cNvPr id="22" name="TextBox 22"/>
            <p:cNvSpPr txBox="1"/>
            <p:nvPr/>
          </p:nvSpPr>
          <p:spPr>
            <a:xfrm>
              <a:off x="945642" y="3156585"/>
              <a:ext cx="1285875"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不同的行留出口</a:t>
              </a:r>
            </a:p>
          </p:txBody>
        </p:sp>
        <p:sp>
          <p:nvSpPr>
            <p:cNvPr id="23" name="TextBox 23"/>
            <p:cNvSpPr txBox="1"/>
            <p:nvPr/>
          </p:nvSpPr>
          <p:spPr>
            <a:xfrm>
              <a:off x="946785" y="3424714"/>
              <a:ext cx="438388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做法不同的步骤在父类声明成抽象方法；个别子类才改的写成钩子</a:t>
              </a:r>
            </a:p>
          </p:txBody>
        </p:sp>
        <p:sp>
          <p:nvSpPr>
            <p:cNvPr id="24" name="TextBox 24"/>
            <p:cNvSpPr txBox="1"/>
            <p:nvPr/>
          </p:nvSpPr>
          <p:spPr>
            <a:xfrm>
              <a:off x="945642" y="3743325"/>
              <a:ext cx="1104138"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次序固定下来</a:t>
              </a:r>
            </a:p>
          </p:txBody>
        </p:sp>
        <p:sp>
          <p:nvSpPr>
            <p:cNvPr id="25" name="TextBox 25"/>
            <p:cNvSpPr txBox="1"/>
            <p:nvPr/>
          </p:nvSpPr>
          <p:spPr>
            <a:xfrm>
              <a:off x="946785" y="4011454"/>
              <a:ext cx="4165265"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父类写一个模板方法，按原次序调用这些基本方法，并加 final</a:t>
              </a:r>
            </a:p>
          </p:txBody>
        </p:sp>
      </p:grpSp>
      <p:grpSp>
        <p:nvGrpSpPr>
          <p:cNvPr id="33" name="c1-callout-2"/>
          <p:cNvGrpSpPr/>
          <p:nvPr/>
        </p:nvGrpSpPr>
        <p:grpSpPr>
          <a:xfrm>
            <a:off x="533400" y="4400550"/>
            <a:ext cx="5626418" cy="1257300"/>
            <a:chOff x="533400" y="4400550"/>
            <a:chExt cx="5626418" cy="1257300"/>
          </a:xfrm>
        </p:grpSpPr>
        <p:sp>
          <p:nvSpPr>
            <p:cNvPr id="27" name="Rectangle 27"/>
            <p:cNvSpPr/>
            <p:nvPr/>
          </p:nvSpPr>
          <p:spPr>
            <a:xfrm>
              <a:off x="533400" y="4400550"/>
              <a:ext cx="5626418" cy="1257300"/>
            </a:xfrm>
            <a:prstGeom prst="roundRect">
              <a:avLst>
                <a:gd name="adj" fmla="val 9091"/>
              </a:avLst>
            </a:prstGeom>
            <a:solidFill>
              <a:srgbClr val="FDECEA"/>
            </a:solidFill>
            <a:ln>
              <a:noFill/>
            </a:ln>
          </p:spPr>
        </p:sp>
        <p:grpSp>
          <p:nvGrpSpPr>
            <p:cNvPr id="31" name="Group 31"/>
            <p:cNvGrpSpPr/>
            <p:nvPr/>
          </p:nvGrpSpPr>
          <p:grpSpPr>
            <a:xfrm>
              <a:off x="726129" y="4925496"/>
              <a:ext cx="224134" cy="192560"/>
              <a:chOff x="726129" y="4925496"/>
              <a:chExt cx="224134" cy="192560"/>
            </a:xfrm>
          </p:grpSpPr>
          <p:sp>
            <p:nvSpPr>
              <p:cNvPr id="28" name="Freeform 28"/>
              <p:cNvSpPr/>
              <p:nvPr/>
            </p:nvSpPr>
            <p:spPr>
              <a:xfrm>
                <a:off x="838200" y="49958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29" name="Freeform 29"/>
              <p:cNvSpPr/>
              <p:nvPr/>
            </p:nvSpPr>
            <p:spPr>
              <a:xfrm>
                <a:off x="726129" y="49254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30" name="Freeform 30"/>
              <p:cNvSpPr/>
              <p:nvPr/>
            </p:nvSpPr>
            <p:spPr>
              <a:xfrm>
                <a:off x="838200" y="50736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32" name="TextBox 32"/>
            <p:cNvSpPr txBox="1"/>
            <p:nvPr/>
          </p:nvSpPr>
          <p:spPr>
            <a:xfrm>
              <a:off x="1040892" y="4810125"/>
              <a:ext cx="4642866" cy="512636"/>
            </a:xfrm>
            <a:prstGeom prst="rect">
              <a:avLst/>
            </a:prstGeom>
            <a:noFill/>
            <a:ln>
              <a:noFill/>
            </a:ln>
          </p:spPr>
          <p:txBody>
            <a:bodyPr wrap="none" lIns="0" tIns="0" rIns="0" bIns="0" anchor="t" anchorCtr="0">
              <a:spAutoFit/>
            </a:bodyPr>
            <a:lstStyle/>
            <a:p>
              <a:pPr algn="l">
                <a:lnSpc>
                  <a:spcPts val="1958"/>
                </a:lnSpc>
              </a:pPr>
              <a:r>
                <a:rPr lang="zh-CN" sz="1350" dirty="0">
                  <a:solidFill>
                    <a:srgbClr val="B42318"/>
                  </a:solidFill>
                  <a:latin typeface="+mn-lt"/>
                  <a:ea typeface="+mn-ea"/>
                  <a:cs typeface="+mn-cs"/>
                </a:rPr>
                <a:t>第二步最容易出错：两段代码看着一样但语义不同时，不要硬</a:t>
              </a:r>
              <a:br/>
              <a:r>
                <a:rPr lang="zh-CN" sz="1350" dirty="0">
                  <a:solidFill>
                    <a:srgbClr val="B42318"/>
                  </a:solidFill>
                  <a:latin typeface="+mn-lt"/>
                  <a:ea typeface="+mn-ea"/>
                  <a:cs typeface="+mn-cs"/>
                </a:rPr>
                <a:t>合并到父类。</a:t>
              </a:r>
            </a:p>
          </p:txBody>
        </p:sp>
      </p:grpSp>
      <p:grpSp>
        <p:nvGrpSpPr>
          <p:cNvPr id="54" name="c2-compare-1"/>
          <p:cNvGrpSpPr/>
          <p:nvPr/>
        </p:nvGrpSpPr>
        <p:grpSpPr>
          <a:xfrm>
            <a:off x="6464618" y="1941195"/>
            <a:ext cx="5193982" cy="2057400"/>
            <a:chOff x="6464618" y="1941195"/>
            <a:chExt cx="5193982" cy="2057400"/>
          </a:xfrm>
        </p:grpSpPr>
        <p:sp>
          <p:nvSpPr>
            <p:cNvPr id="34" name="Rectangle 34"/>
            <p:cNvSpPr/>
            <p:nvPr/>
          </p:nvSpPr>
          <p:spPr>
            <a:xfrm>
              <a:off x="6464618" y="1941195"/>
              <a:ext cx="2386965" cy="2057400"/>
            </a:xfrm>
            <a:prstGeom prst="roundRect">
              <a:avLst>
                <a:gd name="adj" fmla="val 6481"/>
              </a:avLst>
            </a:prstGeom>
            <a:solidFill>
              <a:srgbClr val="FFFFFF"/>
            </a:solidFill>
            <a:ln w="14288">
              <a:solidFill>
                <a:srgbClr val="D9DFEA"/>
              </a:solidFill>
            </a:ln>
          </p:spPr>
        </p:sp>
        <p:sp>
          <p:nvSpPr>
            <p:cNvPr id="35" name="Rectangle 35"/>
            <p:cNvSpPr/>
            <p:nvPr/>
          </p:nvSpPr>
          <p:spPr>
            <a:xfrm>
              <a:off x="6474142" y="2074545"/>
              <a:ext cx="47625" cy="1790700"/>
            </a:xfrm>
            <a:prstGeom prst="roundRect">
              <a:avLst>
                <a:gd name="adj" fmla="val 50000"/>
              </a:avLst>
            </a:prstGeom>
            <a:solidFill>
              <a:srgbClr val="B42318"/>
            </a:solidFill>
            <a:ln>
              <a:noFill/>
            </a:ln>
          </p:spPr>
        </p:sp>
        <p:sp>
          <p:nvSpPr>
            <p:cNvPr id="36" name="TextBox 36"/>
            <p:cNvSpPr txBox="1"/>
            <p:nvPr/>
          </p:nvSpPr>
          <p:spPr>
            <a:xfrm>
              <a:off x="6688264" y="215646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重构前</a:t>
              </a:r>
            </a:p>
          </p:txBody>
        </p:sp>
        <p:sp>
          <p:nvSpPr>
            <p:cNvPr id="37" name="Ellipse 37"/>
            <p:cNvSpPr/>
            <p:nvPr/>
          </p:nvSpPr>
          <p:spPr>
            <a:xfrm>
              <a:off x="6703695" y="2532698"/>
              <a:ext cx="59055" cy="59055"/>
            </a:xfrm>
            <a:prstGeom prst="ellipse">
              <a:avLst/>
            </a:prstGeom>
            <a:solidFill>
              <a:srgbClr val="5B3FA0"/>
            </a:solidFill>
            <a:ln>
              <a:noFill/>
            </a:ln>
          </p:spPr>
        </p:sp>
        <p:sp>
          <p:nvSpPr>
            <p:cNvPr id="38" name="TextBox 38"/>
            <p:cNvSpPr txBox="1"/>
            <p:nvPr/>
          </p:nvSpPr>
          <p:spPr>
            <a:xfrm>
              <a:off x="6859714" y="2476500"/>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三个类各写一遍完整</a:t>
              </a:r>
              <a:br/>
              <a:r>
                <a:rPr lang="zh-CN" sz="1350" dirty="0">
                  <a:solidFill>
                    <a:srgbClr val="1F2937"/>
                  </a:solidFill>
                  <a:latin typeface="+mn-lt"/>
                  <a:ea typeface="+mn-ea"/>
                  <a:cs typeface="+mn-cs"/>
                </a:rPr>
                <a:t>流程</a:t>
              </a:r>
            </a:p>
          </p:txBody>
        </p:sp>
        <p:sp>
          <p:nvSpPr>
            <p:cNvPr id="39" name="Ellipse 39"/>
            <p:cNvSpPr/>
            <p:nvPr/>
          </p:nvSpPr>
          <p:spPr>
            <a:xfrm>
              <a:off x="6703695" y="3091815"/>
              <a:ext cx="59055" cy="59055"/>
            </a:xfrm>
            <a:prstGeom prst="ellipse">
              <a:avLst/>
            </a:prstGeom>
            <a:solidFill>
              <a:srgbClr val="5B3FA0"/>
            </a:solidFill>
            <a:ln>
              <a:noFill/>
            </a:ln>
          </p:spPr>
        </p:sp>
        <p:sp>
          <p:nvSpPr>
            <p:cNvPr id="40" name="TextBox 40"/>
            <p:cNvSpPr txBox="1"/>
            <p:nvPr/>
          </p:nvSpPr>
          <p:spPr>
            <a:xfrm>
              <a:off x="6859714" y="3035618"/>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固定步骤的代码抄了</a:t>
              </a:r>
              <a:br/>
              <a:r>
                <a:rPr lang="zh-CN" sz="1350" dirty="0">
                  <a:solidFill>
                    <a:srgbClr val="1F2937"/>
                  </a:solidFill>
                  <a:latin typeface="+mn-lt"/>
                  <a:ea typeface="+mn-ea"/>
                  <a:cs typeface="+mn-cs"/>
                </a:rPr>
                <a:t>三份</a:t>
              </a:r>
            </a:p>
          </p:txBody>
        </p:sp>
        <p:sp>
          <p:nvSpPr>
            <p:cNvPr id="41" name="Ellipse 41"/>
            <p:cNvSpPr/>
            <p:nvPr/>
          </p:nvSpPr>
          <p:spPr>
            <a:xfrm>
              <a:off x="6703695" y="3651885"/>
              <a:ext cx="59055" cy="59055"/>
            </a:xfrm>
            <a:prstGeom prst="ellipse">
              <a:avLst/>
            </a:prstGeom>
            <a:solidFill>
              <a:srgbClr val="5B3FA0"/>
            </a:solidFill>
            <a:ln>
              <a:noFill/>
            </a:ln>
          </p:spPr>
        </p:sp>
        <p:sp>
          <p:nvSpPr>
            <p:cNvPr id="42" name="TextBox 42"/>
            <p:cNvSpPr txBox="1"/>
            <p:nvPr/>
          </p:nvSpPr>
          <p:spPr>
            <a:xfrm>
              <a:off x="6859714" y="359568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改次序要改三个地方</a:t>
              </a:r>
            </a:p>
          </p:txBody>
        </p:sp>
        <p:sp>
          <p:nvSpPr>
            <p:cNvPr id="43" name="Rectangle 43"/>
            <p:cNvSpPr/>
            <p:nvPr/>
          </p:nvSpPr>
          <p:spPr>
            <a:xfrm>
              <a:off x="9271635" y="1941195"/>
              <a:ext cx="2386965" cy="2057400"/>
            </a:xfrm>
            <a:prstGeom prst="roundRect">
              <a:avLst>
                <a:gd name="adj" fmla="val 6481"/>
              </a:avLst>
            </a:prstGeom>
            <a:solidFill>
              <a:srgbClr val="FFFFFF"/>
            </a:solidFill>
            <a:ln w="14288">
              <a:solidFill>
                <a:srgbClr val="D9DFEA"/>
              </a:solidFill>
            </a:ln>
          </p:spPr>
        </p:sp>
        <p:sp>
          <p:nvSpPr>
            <p:cNvPr id="44" name="Rectangle 44"/>
            <p:cNvSpPr/>
            <p:nvPr/>
          </p:nvSpPr>
          <p:spPr>
            <a:xfrm>
              <a:off x="9281160" y="2074545"/>
              <a:ext cx="47625" cy="1790700"/>
            </a:xfrm>
            <a:prstGeom prst="roundRect">
              <a:avLst>
                <a:gd name="adj" fmla="val 50000"/>
              </a:avLst>
            </a:prstGeom>
            <a:solidFill>
              <a:srgbClr val="14A38B"/>
            </a:solidFill>
            <a:ln>
              <a:noFill/>
            </a:ln>
          </p:spPr>
        </p:sp>
        <p:sp>
          <p:nvSpPr>
            <p:cNvPr id="45" name="TextBox 45"/>
            <p:cNvSpPr txBox="1"/>
            <p:nvPr/>
          </p:nvSpPr>
          <p:spPr>
            <a:xfrm>
              <a:off x="9495282" y="2156460"/>
              <a:ext cx="55892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重构后</a:t>
              </a:r>
            </a:p>
          </p:txBody>
        </p:sp>
        <p:sp>
          <p:nvSpPr>
            <p:cNvPr id="46" name="Ellipse 46"/>
            <p:cNvSpPr/>
            <p:nvPr/>
          </p:nvSpPr>
          <p:spPr>
            <a:xfrm>
              <a:off x="9510712" y="2532698"/>
              <a:ext cx="59055" cy="59055"/>
            </a:xfrm>
            <a:prstGeom prst="ellipse">
              <a:avLst/>
            </a:prstGeom>
            <a:solidFill>
              <a:srgbClr val="5B3FA0"/>
            </a:solidFill>
            <a:ln>
              <a:noFill/>
            </a:ln>
          </p:spPr>
        </p:sp>
        <p:sp>
          <p:nvSpPr>
            <p:cNvPr id="47" name="TextBox 47"/>
            <p:cNvSpPr txBox="1"/>
            <p:nvPr/>
          </p:nvSpPr>
          <p:spPr>
            <a:xfrm>
              <a:off x="9666732" y="2476500"/>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流程只在父类写一遍</a:t>
              </a:r>
            </a:p>
          </p:txBody>
        </p:sp>
        <p:sp>
          <p:nvSpPr>
            <p:cNvPr id="48" name="Ellipse 48"/>
            <p:cNvSpPr/>
            <p:nvPr/>
          </p:nvSpPr>
          <p:spPr>
            <a:xfrm>
              <a:off x="9510712" y="2834640"/>
              <a:ext cx="59055" cy="59055"/>
            </a:xfrm>
            <a:prstGeom prst="ellipse">
              <a:avLst/>
            </a:prstGeom>
            <a:solidFill>
              <a:srgbClr val="5B3FA0"/>
            </a:solidFill>
            <a:ln>
              <a:noFill/>
            </a:ln>
          </p:spPr>
        </p:sp>
        <p:sp>
          <p:nvSpPr>
            <p:cNvPr id="49" name="TextBox 49"/>
            <p:cNvSpPr txBox="1"/>
            <p:nvPr/>
          </p:nvSpPr>
          <p:spPr>
            <a:xfrm>
              <a:off x="9666732" y="2778442"/>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固定步骤只有一份实</a:t>
              </a:r>
              <a:br/>
              <a:r>
                <a:rPr lang="zh-CN" sz="1350" dirty="0">
                  <a:solidFill>
                    <a:srgbClr val="1F2937"/>
                  </a:solidFill>
                  <a:latin typeface="+mn-lt"/>
                  <a:ea typeface="+mn-ea"/>
                  <a:cs typeface="+mn-cs"/>
                </a:rPr>
                <a:t>现</a:t>
              </a:r>
            </a:p>
          </p:txBody>
        </p:sp>
        <p:sp>
          <p:nvSpPr>
            <p:cNvPr id="50" name="Ellipse 50"/>
            <p:cNvSpPr/>
            <p:nvPr/>
          </p:nvSpPr>
          <p:spPr>
            <a:xfrm>
              <a:off x="9510712" y="3394710"/>
              <a:ext cx="59055" cy="59055"/>
            </a:xfrm>
            <a:prstGeom prst="ellipse">
              <a:avLst/>
            </a:prstGeom>
            <a:solidFill>
              <a:srgbClr val="5B3FA0"/>
            </a:solidFill>
            <a:ln>
              <a:noFill/>
            </a:ln>
          </p:spPr>
        </p:sp>
        <p:sp>
          <p:nvSpPr>
            <p:cNvPr id="51" name="TextBox 51"/>
            <p:cNvSpPr txBox="1"/>
            <p:nvPr/>
          </p:nvSpPr>
          <p:spPr>
            <a:xfrm>
              <a:off x="9666732" y="3338512"/>
              <a:ext cx="1556766"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新增业务只写变化的</a:t>
              </a:r>
              <a:br/>
              <a:r>
                <a:rPr lang="zh-CN" sz="1350" dirty="0">
                  <a:solidFill>
                    <a:srgbClr val="1F2937"/>
                  </a:solidFill>
                  <a:latin typeface="+mn-lt"/>
                  <a:ea typeface="+mn-ea"/>
                  <a:cs typeface="+mn-cs"/>
                </a:rPr>
                <a:t>那一步</a:t>
              </a:r>
            </a:p>
          </p:txBody>
        </p:sp>
        <p:sp>
          <p:nvSpPr>
            <p:cNvPr id="52" name="Ellipse 52"/>
            <p:cNvSpPr/>
            <p:nvPr/>
          </p:nvSpPr>
          <p:spPr>
            <a:xfrm>
              <a:off x="8900160" y="2807970"/>
              <a:ext cx="323850" cy="323850"/>
            </a:xfrm>
            <a:prstGeom prst="ellipse">
              <a:avLst/>
            </a:prstGeom>
            <a:solidFill>
              <a:srgbClr val="F26B3A"/>
            </a:solidFill>
            <a:ln>
              <a:noFill/>
            </a:ln>
          </p:spPr>
        </p:sp>
        <p:sp>
          <p:nvSpPr>
            <p:cNvPr id="53" name="TextBox 53"/>
            <p:cNvSpPr txBox="1"/>
            <p:nvPr/>
          </p:nvSpPr>
          <p:spPr>
            <a:xfrm>
              <a:off x="8976631" y="2909411"/>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61" name="c2-card-2"/>
          <p:cNvGrpSpPr/>
          <p:nvPr/>
        </p:nvGrpSpPr>
        <p:grpSpPr>
          <a:xfrm>
            <a:off x="6464618" y="4173855"/>
            <a:ext cx="5193982" cy="1483995"/>
            <a:chOff x="6464618" y="4173855"/>
            <a:chExt cx="5193982" cy="1483995"/>
          </a:xfrm>
        </p:grpSpPr>
        <p:sp>
          <p:nvSpPr>
            <p:cNvPr id="55" name="Rectangle 55"/>
            <p:cNvSpPr/>
            <p:nvPr/>
          </p:nvSpPr>
          <p:spPr>
            <a:xfrm>
              <a:off x="6464618" y="4173855"/>
              <a:ext cx="5193982" cy="1483995"/>
            </a:xfrm>
            <a:prstGeom prst="roundRect">
              <a:avLst>
                <a:gd name="adj" fmla="val 8986"/>
              </a:avLst>
            </a:prstGeom>
            <a:solidFill>
              <a:srgbClr val="FFFFFF"/>
            </a:solidFill>
            <a:ln w="14288">
              <a:solidFill>
                <a:srgbClr val="D9DFEA"/>
              </a:solidFill>
            </a:ln>
          </p:spPr>
        </p:sp>
        <p:sp>
          <p:nvSpPr>
            <p:cNvPr id="56" name="Rectangle 56"/>
            <p:cNvSpPr/>
            <p:nvPr/>
          </p:nvSpPr>
          <p:spPr>
            <a:xfrm>
              <a:off x="6474142" y="4307205"/>
              <a:ext cx="47625" cy="1217295"/>
            </a:xfrm>
            <a:prstGeom prst="roundRect">
              <a:avLst>
                <a:gd name="adj" fmla="val 50000"/>
              </a:avLst>
            </a:prstGeom>
            <a:solidFill>
              <a:srgbClr val="D97706"/>
            </a:solidFill>
            <a:ln>
              <a:noFill/>
            </a:ln>
          </p:spPr>
        </p:sp>
        <p:sp>
          <p:nvSpPr>
            <p:cNvPr id="57" name="Rectangle 57"/>
            <p:cNvSpPr/>
            <p:nvPr/>
          </p:nvSpPr>
          <p:spPr>
            <a:xfrm>
              <a:off x="6695122" y="4366260"/>
              <a:ext cx="742950" cy="247650"/>
            </a:xfrm>
            <a:prstGeom prst="roundRect">
              <a:avLst>
                <a:gd name="adj" fmla="val 50000"/>
              </a:avLst>
            </a:prstGeom>
            <a:solidFill>
              <a:srgbClr val="FEF3C7"/>
            </a:solidFill>
            <a:ln>
              <a:noFill/>
            </a:ln>
          </p:spPr>
        </p:sp>
        <p:sp>
          <p:nvSpPr>
            <p:cNvPr id="58" name="TextBox 58"/>
            <p:cNvSpPr txBox="1"/>
            <p:nvPr/>
          </p:nvSpPr>
          <p:spPr>
            <a:xfrm>
              <a:off x="6778562" y="4400550"/>
              <a:ext cx="576072" cy="205359"/>
            </a:xfrm>
            <a:prstGeom prst="rect">
              <a:avLst/>
            </a:prstGeom>
            <a:noFill/>
            <a:ln>
              <a:noFill/>
            </a:ln>
          </p:spPr>
          <p:txBody>
            <a:bodyPr wrap="none" lIns="0" tIns="0" rIns="0" bIns="0" anchor="t" anchorCtr="0">
              <a:spAutoFit/>
            </a:bodyPr>
            <a:lstStyle/>
            <a:p>
              <a:pPr algn="ctr"/>
              <a:r>
                <a:rPr lang="zh-CN" sz="1050" b="1" dirty="0">
                  <a:solidFill>
                    <a:srgbClr val="92400E"/>
                  </a:solidFill>
                  <a:latin typeface="+mn-lt"/>
                  <a:ea typeface="+mn-ea"/>
                  <a:cs typeface="+mn-cs"/>
                </a:rPr>
                <a:t>协作方式</a:t>
              </a:r>
            </a:p>
          </p:txBody>
        </p:sp>
        <p:sp>
          <p:nvSpPr>
            <p:cNvPr id="59" name="TextBox 59"/>
            <p:cNvSpPr txBox="1"/>
            <p:nvPr/>
          </p:nvSpPr>
          <p:spPr>
            <a:xfrm>
              <a:off x="7545514" y="4406265"/>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源课件提到的一个分工</a:t>
              </a:r>
            </a:p>
          </p:txBody>
        </p:sp>
        <p:sp>
          <p:nvSpPr>
            <p:cNvPr id="60" name="TextBox 60"/>
            <p:cNvSpPr txBox="1"/>
            <p:nvPr/>
          </p:nvSpPr>
          <p:spPr>
            <a:xfrm>
              <a:off x="6688264" y="4740592"/>
              <a:ext cx="4471416"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一个设计师给出算法的轮廓和框架，另一个给出各个逻辑步</a:t>
              </a:r>
              <a:br/>
              <a:r>
                <a:rPr lang="zh-CN" sz="1350" dirty="0">
                  <a:solidFill>
                    <a:srgbClr val="1F2937"/>
                  </a:solidFill>
                  <a:latin typeface="+mn-lt"/>
                  <a:ea typeface="+mn-ea"/>
                  <a:cs typeface="+mn-cs"/>
                </a:rPr>
                <a:t>骤。前者写模板方法，后者写基本方法，模式的名字由此而</a:t>
              </a:r>
              <a:br/>
              <a:r>
                <a:rPr lang="zh-CN" sz="1350" dirty="0">
                  <a:solidFill>
                    <a:srgbClr val="1F2937"/>
                  </a:solidFill>
                  <a:latin typeface="+mn-lt"/>
                  <a:ea typeface="+mn-ea"/>
                  <a:cs typeface="+mn-cs"/>
                </a:rPr>
                <a:t>来。</a:t>
              </a:r>
            </a:p>
          </p:txBody>
        </p:sp>
      </p:grpSp>
      <p:grpSp>
        <p:nvGrpSpPr>
          <p:cNvPr id="67" name="takeaway"/>
          <p:cNvGrpSpPr/>
          <p:nvPr/>
        </p:nvGrpSpPr>
        <p:grpSpPr>
          <a:xfrm>
            <a:off x="533400" y="5874068"/>
            <a:ext cx="11125200" cy="488632"/>
            <a:chOff x="533400" y="5874068"/>
            <a:chExt cx="11125200" cy="488632"/>
          </a:xfrm>
        </p:grpSpPr>
        <p:sp>
          <p:nvSpPr>
            <p:cNvPr id="62" name="Rectangle 62"/>
            <p:cNvSpPr/>
            <p:nvPr/>
          </p:nvSpPr>
          <p:spPr>
            <a:xfrm>
              <a:off x="533400" y="5874068"/>
              <a:ext cx="11125200" cy="488632"/>
            </a:xfrm>
            <a:prstGeom prst="roundRect">
              <a:avLst>
                <a:gd name="adj" fmla="val 23392"/>
              </a:avLst>
            </a:prstGeom>
            <a:solidFill>
              <a:srgbClr val="5B3FA0"/>
            </a:solidFill>
            <a:ln>
              <a:noFill/>
            </a:ln>
          </p:spPr>
        </p:sp>
        <p:grpSp>
          <p:nvGrpSpPr>
            <p:cNvPr id="65" name="Group 65"/>
            <p:cNvGrpSpPr/>
            <p:nvPr/>
          </p:nvGrpSpPr>
          <p:grpSpPr>
            <a:xfrm>
              <a:off x="738188" y="6017897"/>
              <a:ext cx="200023" cy="200023"/>
              <a:chOff x="738188" y="6017897"/>
              <a:chExt cx="200023" cy="200023"/>
            </a:xfrm>
          </p:grpSpPr>
          <p:sp>
            <p:nvSpPr>
              <p:cNvPr id="63" name="Freeform 63"/>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64" name="Freeform 64"/>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6" name="TextBox 66"/>
            <p:cNvSpPr txBox="1"/>
            <p:nvPr/>
          </p:nvSpPr>
          <p:spPr>
            <a:xfrm>
              <a:off x="1040892" y="6023610"/>
              <a:ext cx="728319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抽骨架时要尽量确保放进模板的是不会变化的部分，骨架一旦要改，所有子类都得跟着动。</a:t>
              </a:r>
            </a:p>
          </p:txBody>
        </p:sp>
      </p:grpSp>
      <p:grpSp>
        <p:nvGrpSpPr>
          <p:cNvPr id="70" name="footer"/>
          <p:cNvGrpSpPr/>
          <p:nvPr/>
        </p:nvGrpSpPr>
        <p:grpSpPr>
          <a:xfrm>
            <a:off x="528447" y="6581299"/>
            <a:ext cx="11135106" cy="190690"/>
            <a:chOff x="528447" y="6581299"/>
            <a:chExt cx="11135106" cy="190690"/>
          </a:xfrm>
        </p:grpSpPr>
        <p:sp>
          <p:nvSpPr>
            <p:cNvPr id="68" name="TextBox 68"/>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69" name="TextBox 69"/>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5B3FA0"/>
          </a:solidFill>
          <a:ln>
            <a:noFill/>
          </a:ln>
        </p:spPr>
      </p:sp>
      <p:sp>
        <p:nvSpPr>
          <p:cNvPr id="3" name="section-ring"/>
          <p:cNvSpPr/>
          <p:nvPr/>
        </p:nvSpPr>
        <p:spPr>
          <a:xfrm>
            <a:off x="7334250" y="190500"/>
            <a:ext cx="6477000" cy="6477000"/>
          </a:xfrm>
          <a:prstGeom prst="ellipse">
            <a:avLst/>
          </a:prstGeom>
          <a:noFill/>
          <a:ln w="133350">
            <a:solidFill>
              <a:srgbClr val="EEEAF7"/>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04</a:t>
              </a:r>
            </a:p>
          </p:txBody>
        </p:sp>
      </p:grpSp>
      <p:grpSp>
        <p:nvGrpSpPr>
          <p:cNvPr id="18" name="section-title"/>
          <p:cNvGrpSpPr/>
          <p:nvPr/>
        </p:nvGrpSpPr>
        <p:grpSpPr>
          <a:xfrm>
            <a:off x="667512" y="1835468"/>
            <a:ext cx="4024884" cy="3351847"/>
            <a:chOff x="667512" y="1835468"/>
            <a:chExt cx="402488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第四部分</a:t>
              </a:r>
            </a:p>
          </p:txBody>
        </p:sp>
        <p:sp>
          <p:nvSpPr>
            <p:cNvPr id="7" name="TextBox 7"/>
            <p:cNvSpPr txBox="1"/>
            <p:nvPr/>
          </p:nvSpPr>
          <p:spPr>
            <a:xfrm>
              <a:off x="667512" y="2240280"/>
              <a:ext cx="2944368"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两个完整实例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4014978"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银行业务办理流程，以及数据库操作模板</a:t>
              </a:r>
            </a:p>
          </p:txBody>
        </p:sp>
        <p:sp>
          <p:nvSpPr>
            <p:cNvPr id="10" name="Ellipse 10"/>
            <p:cNvSpPr/>
            <p:nvPr/>
          </p:nvSpPr>
          <p:spPr>
            <a:xfrm>
              <a:off x="723900" y="3888105"/>
              <a:ext cx="76200" cy="76200"/>
            </a:xfrm>
            <a:prstGeom prst="ellipse">
              <a:avLst/>
            </a:prstGeom>
            <a:solidFill>
              <a:srgbClr val="5B3FA0"/>
            </a:solidFill>
            <a:ln>
              <a:noFill/>
            </a:ln>
          </p:spPr>
        </p:sp>
        <p:sp>
          <p:nvSpPr>
            <p:cNvPr id="11" name="TextBox 11"/>
            <p:cNvSpPr txBox="1"/>
            <p:nvPr/>
          </p:nvSpPr>
          <p:spPr>
            <a:xfrm>
              <a:off x="906780" y="383095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银行业务的三个步骤</a:t>
              </a:r>
            </a:p>
          </p:txBody>
        </p:sp>
        <p:sp>
          <p:nvSpPr>
            <p:cNvPr id="12" name="Ellipse 12"/>
            <p:cNvSpPr/>
            <p:nvPr/>
          </p:nvSpPr>
          <p:spPr>
            <a:xfrm>
              <a:off x="723900" y="4242435"/>
              <a:ext cx="76200" cy="76200"/>
            </a:xfrm>
            <a:prstGeom prst="ellipse">
              <a:avLst/>
            </a:prstGeom>
            <a:solidFill>
              <a:srgbClr val="5B3FA0"/>
            </a:solidFill>
            <a:ln>
              <a:noFill/>
            </a:ln>
          </p:spPr>
        </p:sp>
        <p:sp>
          <p:nvSpPr>
            <p:cNvPr id="13" name="TextBox 13"/>
            <p:cNvSpPr txBox="1"/>
            <p:nvPr/>
          </p:nvSpPr>
          <p:spPr>
            <a:xfrm>
              <a:off x="906780" y="418528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类图与四个类</a:t>
              </a:r>
            </a:p>
          </p:txBody>
        </p:sp>
        <p:sp>
          <p:nvSpPr>
            <p:cNvPr id="14" name="Ellipse 14"/>
            <p:cNvSpPr/>
            <p:nvPr/>
          </p:nvSpPr>
          <p:spPr>
            <a:xfrm>
              <a:off x="723900" y="4596765"/>
              <a:ext cx="76200" cy="76200"/>
            </a:xfrm>
            <a:prstGeom prst="ellipse">
              <a:avLst/>
            </a:prstGeom>
            <a:solidFill>
              <a:srgbClr val="5B3FA0"/>
            </a:solidFill>
            <a:ln>
              <a:noFill/>
            </a:ln>
          </p:spPr>
        </p:sp>
        <p:sp>
          <p:nvSpPr>
            <p:cNvPr id="15" name="TextBox 15"/>
            <p:cNvSpPr txBox="1"/>
            <p:nvPr/>
          </p:nvSpPr>
          <p:spPr>
            <a:xfrm>
              <a:off x="906780" y="453961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客户端与输出</a:t>
              </a:r>
            </a:p>
          </p:txBody>
        </p:sp>
        <p:sp>
          <p:nvSpPr>
            <p:cNvPr id="16" name="Ellipse 16"/>
            <p:cNvSpPr/>
            <p:nvPr/>
          </p:nvSpPr>
          <p:spPr>
            <a:xfrm>
              <a:off x="723900" y="4951095"/>
              <a:ext cx="76200" cy="76200"/>
            </a:xfrm>
            <a:prstGeom prst="ellipse">
              <a:avLst/>
            </a:prstGeom>
            <a:solidFill>
              <a:srgbClr val="5B3FA0"/>
            </a:solidFill>
            <a:ln>
              <a:noFill/>
            </a:ln>
          </p:spPr>
        </p:sp>
        <p:sp>
          <p:nvSpPr>
            <p:cNvPr id="17" name="TextBox 17"/>
            <p:cNvSpPr txBox="1"/>
            <p:nvPr/>
          </p:nvSpPr>
          <p:spPr>
            <a:xfrm>
              <a:off x="906780" y="4893945"/>
              <a:ext cx="142875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数据库操作模板</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145280" cy="909257"/>
            <a:chOff x="520446" y="342900"/>
            <a:chExt cx="4145280" cy="909257"/>
          </a:xfrm>
        </p:grpSpPr>
        <p:sp>
          <p:nvSpPr>
            <p:cNvPr id="2" name="Rectangle 2"/>
            <p:cNvSpPr/>
            <p:nvPr/>
          </p:nvSpPr>
          <p:spPr>
            <a:xfrm>
              <a:off x="533400" y="342900"/>
              <a:ext cx="2069782" cy="266700"/>
            </a:xfrm>
            <a:prstGeom prst="roundRect">
              <a:avLst>
                <a:gd name="adj" fmla="val 50000"/>
              </a:avLst>
            </a:prstGeom>
            <a:solidFill>
              <a:srgbClr val="EEEAF7"/>
            </a:solidFill>
            <a:ln>
              <a:noFill/>
            </a:ln>
          </p:spPr>
        </p:sp>
        <p:sp>
          <p:nvSpPr>
            <p:cNvPr id="3" name="TextBox 3"/>
            <p:cNvSpPr txBox="1"/>
            <p:nvPr/>
          </p:nvSpPr>
          <p:spPr>
            <a:xfrm>
              <a:off x="607331" y="407194"/>
              <a:ext cx="1922872"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两个完整实例</a:t>
              </a:r>
            </a:p>
          </p:txBody>
        </p:sp>
        <p:sp>
          <p:nvSpPr>
            <p:cNvPr id="4" name="TextBox 4"/>
            <p:cNvSpPr txBox="1"/>
            <p:nvPr/>
          </p:nvSpPr>
          <p:spPr>
            <a:xfrm>
              <a:off x="520446" y="753428"/>
              <a:ext cx="4145280"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实例一：银行业务办理流程</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542" y="1545907"/>
            <a:ext cx="9464040" cy="264033"/>
            <a:chOff x="526542" y="1545907"/>
            <a:chExt cx="9464040" cy="264033"/>
          </a:xfrm>
        </p:grpSpPr>
        <p:sp>
          <p:nvSpPr>
            <p:cNvPr id="7" name="TextBox 7"/>
            <p:cNvSpPr txBox="1"/>
            <p:nvPr/>
          </p:nvSpPr>
          <p:spPr>
            <a:xfrm>
              <a:off x="526542" y="1545907"/>
              <a:ext cx="9464040" cy="264033"/>
            </a:xfrm>
            <a:prstGeom prst="rect">
              <a:avLst/>
            </a:prstGeom>
            <a:noFill/>
            <a:ln>
              <a:noFill/>
            </a:ln>
          </p:spPr>
          <p:txBody>
            <a:bodyPr wrap="none" lIns="0" tIns="0" rIns="0" bIns="0" anchor="t" anchorCtr="0">
              <a:spAutoFit/>
            </a:bodyPr>
            <a:lstStyle/>
            <a:p>
              <a:pPr algn="l"/>
              <a:r>
                <a:rPr lang="zh-CN" sz="1350" dirty="0">
                  <a:solidFill>
                    <a:srgbClr val="5B6475"/>
                  </a:solidFill>
                  <a:latin typeface="+mn-lt"/>
                  <a:ea typeface="+mn-ea"/>
                  <a:cs typeface="+mn-cs"/>
                </a:rPr>
                <a:t>在银行办理业务，一般都是取号排队、办理具体业务、给工作人员评分三步。无论存款、取款还是转账，流程都一样。</a:t>
              </a:r>
            </a:p>
          </p:txBody>
        </p:sp>
      </p:grpSp>
      <p:grpSp>
        <p:nvGrpSpPr>
          <p:cNvPr id="20" name="c1-card-1"/>
          <p:cNvGrpSpPr/>
          <p:nvPr/>
        </p:nvGrpSpPr>
        <p:grpSpPr>
          <a:xfrm>
            <a:off x="533400" y="1928812"/>
            <a:ext cx="4328160" cy="1487805"/>
            <a:chOff x="533400" y="1928812"/>
            <a:chExt cx="4328160" cy="1487805"/>
          </a:xfrm>
        </p:grpSpPr>
        <p:sp>
          <p:nvSpPr>
            <p:cNvPr id="9" name="Rectangle 9"/>
            <p:cNvSpPr/>
            <p:nvPr/>
          </p:nvSpPr>
          <p:spPr>
            <a:xfrm>
              <a:off x="533400" y="1928812"/>
              <a:ext cx="4328160" cy="1487805"/>
            </a:xfrm>
            <a:prstGeom prst="roundRect">
              <a:avLst>
                <a:gd name="adj" fmla="val 8963"/>
              </a:avLst>
            </a:prstGeom>
            <a:solidFill>
              <a:srgbClr val="FFFFFF"/>
            </a:solidFill>
            <a:ln w="14288">
              <a:solidFill>
                <a:srgbClr val="D9DFEA"/>
              </a:solidFill>
            </a:ln>
          </p:spPr>
        </p:sp>
        <p:sp>
          <p:nvSpPr>
            <p:cNvPr id="10" name="Rectangle 10"/>
            <p:cNvSpPr/>
            <p:nvPr/>
          </p:nvSpPr>
          <p:spPr>
            <a:xfrm>
              <a:off x="542925" y="2062162"/>
              <a:ext cx="47625" cy="1221105"/>
            </a:xfrm>
            <a:prstGeom prst="roundRect">
              <a:avLst>
                <a:gd name="adj" fmla="val 50000"/>
              </a:avLst>
            </a:prstGeom>
            <a:solidFill>
              <a:srgbClr val="14A38B"/>
            </a:solidFill>
            <a:ln>
              <a:noFill/>
            </a:ln>
          </p:spPr>
        </p:sp>
        <p:sp>
          <p:nvSpPr>
            <p:cNvPr id="11" name="Rectangle 11"/>
            <p:cNvSpPr/>
            <p:nvPr/>
          </p:nvSpPr>
          <p:spPr>
            <a:xfrm>
              <a:off x="752475" y="2109788"/>
              <a:ext cx="458152" cy="238125"/>
            </a:xfrm>
            <a:prstGeom prst="roundRect">
              <a:avLst>
                <a:gd name="adj" fmla="val 50000"/>
              </a:avLst>
            </a:prstGeom>
            <a:solidFill>
              <a:srgbClr val="E3F5F1"/>
            </a:solidFill>
            <a:ln>
              <a:noFill/>
            </a:ln>
          </p:spPr>
        </p:sp>
        <p:sp>
          <p:nvSpPr>
            <p:cNvPr id="12" name="TextBox 12"/>
            <p:cNvSpPr txBox="1"/>
            <p:nvPr/>
          </p:nvSpPr>
          <p:spPr>
            <a:xfrm>
              <a:off x="845147" y="2142649"/>
              <a:ext cx="273761"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题目</a:t>
              </a:r>
            </a:p>
          </p:txBody>
        </p:sp>
        <p:sp>
          <p:nvSpPr>
            <p:cNvPr id="13" name="TextBox 13"/>
            <p:cNvSpPr txBox="1"/>
            <p:nvPr/>
          </p:nvSpPr>
          <p:spPr>
            <a:xfrm>
              <a:off x="1318450" y="2149316"/>
              <a:ext cx="259765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用模板方法模式模拟银行业务办理</a:t>
              </a:r>
            </a:p>
          </p:txBody>
        </p:sp>
        <p:sp>
          <p:nvSpPr>
            <p:cNvPr id="14" name="Ellipse 14"/>
            <p:cNvSpPr/>
            <p:nvPr/>
          </p:nvSpPr>
          <p:spPr>
            <a:xfrm>
              <a:off x="762000" y="2518410"/>
              <a:ext cx="57150" cy="57150"/>
            </a:xfrm>
            <a:prstGeom prst="ellipse">
              <a:avLst/>
            </a:prstGeom>
            <a:solidFill>
              <a:srgbClr val="5B3FA0"/>
            </a:solidFill>
            <a:ln>
              <a:noFill/>
            </a:ln>
          </p:spPr>
        </p:sp>
        <p:sp>
          <p:nvSpPr>
            <p:cNvPr id="15" name="TextBox 15"/>
            <p:cNvSpPr txBox="1"/>
            <p:nvPr/>
          </p:nvSpPr>
          <p:spPr>
            <a:xfrm>
              <a:off x="917448" y="2465546"/>
              <a:ext cx="208071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取号排队：所有业务都一样</a:t>
              </a:r>
            </a:p>
          </p:txBody>
        </p:sp>
        <p:sp>
          <p:nvSpPr>
            <p:cNvPr id="16" name="Ellipse 16"/>
            <p:cNvSpPr/>
            <p:nvPr/>
          </p:nvSpPr>
          <p:spPr>
            <a:xfrm>
              <a:off x="762000" y="2803208"/>
              <a:ext cx="57150" cy="57150"/>
            </a:xfrm>
            <a:prstGeom prst="ellipse">
              <a:avLst/>
            </a:prstGeom>
            <a:solidFill>
              <a:srgbClr val="5B3FA0"/>
            </a:solidFill>
            <a:ln>
              <a:noFill/>
            </a:ln>
          </p:spPr>
        </p:sp>
        <p:sp>
          <p:nvSpPr>
            <p:cNvPr id="17" name="TextBox 17"/>
            <p:cNvSpPr txBox="1"/>
            <p:nvPr/>
          </p:nvSpPr>
          <p:spPr>
            <a:xfrm>
              <a:off x="917448" y="2751296"/>
              <a:ext cx="3286912"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办理具体业务：存款、取款、转账各不相同</a:t>
              </a:r>
            </a:p>
          </p:txBody>
        </p:sp>
        <p:sp>
          <p:nvSpPr>
            <p:cNvPr id="18" name="Ellipse 18"/>
            <p:cNvSpPr/>
            <p:nvPr/>
          </p:nvSpPr>
          <p:spPr>
            <a:xfrm>
              <a:off x="762000" y="3088005"/>
              <a:ext cx="57150" cy="57150"/>
            </a:xfrm>
            <a:prstGeom prst="ellipse">
              <a:avLst/>
            </a:prstGeom>
            <a:solidFill>
              <a:srgbClr val="5B3FA0"/>
            </a:solidFill>
            <a:ln>
              <a:noFill/>
            </a:ln>
          </p:spPr>
        </p:sp>
        <p:sp>
          <p:nvSpPr>
            <p:cNvPr id="19" name="TextBox 19"/>
            <p:cNvSpPr txBox="1"/>
            <p:nvPr/>
          </p:nvSpPr>
          <p:spPr>
            <a:xfrm>
              <a:off x="917448" y="3036094"/>
              <a:ext cx="259765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对工作人员评分：所有业务都一样</a:t>
              </a:r>
            </a:p>
          </p:txBody>
        </p:sp>
      </p:grpSp>
      <p:grpSp>
        <p:nvGrpSpPr>
          <p:cNvPr id="39" name="c1-table-2"/>
          <p:cNvGrpSpPr/>
          <p:nvPr/>
        </p:nvGrpSpPr>
        <p:grpSpPr>
          <a:xfrm>
            <a:off x="533400" y="3580448"/>
            <a:ext cx="4328160" cy="1906905"/>
            <a:chOff x="533400" y="3580448"/>
            <a:chExt cx="4328160" cy="1906905"/>
          </a:xfrm>
        </p:grpSpPr>
        <p:sp>
          <p:nvSpPr>
            <p:cNvPr id="21" name="Rectangle 21"/>
            <p:cNvSpPr/>
            <p:nvPr/>
          </p:nvSpPr>
          <p:spPr>
            <a:xfrm>
              <a:off x="533400" y="3580448"/>
              <a:ext cx="4328160" cy="381000"/>
            </a:xfrm>
            <a:prstGeom prst="rect">
              <a:avLst/>
            </a:prstGeom>
            <a:solidFill>
              <a:srgbClr val="5B3FA0"/>
            </a:solidFill>
            <a:ln>
              <a:noFill/>
            </a:ln>
          </p:spPr>
        </p:sp>
        <p:sp>
          <p:nvSpPr>
            <p:cNvPr id="22" name="TextBox 22"/>
            <p:cNvSpPr txBox="1"/>
            <p:nvPr/>
          </p:nvSpPr>
          <p:spPr>
            <a:xfrm>
              <a:off x="1154049" y="3698558"/>
              <a:ext cx="576072"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模式角色</a:t>
              </a:r>
            </a:p>
          </p:txBody>
        </p:sp>
        <p:sp>
          <p:nvSpPr>
            <p:cNvPr id="23" name="TextBox 23"/>
            <p:cNvSpPr txBox="1"/>
            <p:nvPr/>
          </p:nvSpPr>
          <p:spPr>
            <a:xfrm>
              <a:off x="3247454" y="3698558"/>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本例中的类</a:t>
              </a:r>
            </a:p>
          </p:txBody>
        </p:sp>
        <p:sp>
          <p:nvSpPr>
            <p:cNvPr id="24" name="TextBox 24"/>
            <p:cNvSpPr txBox="1"/>
            <p:nvPr/>
          </p:nvSpPr>
          <p:spPr>
            <a:xfrm>
              <a:off x="628078" y="4079558"/>
              <a:ext cx="104367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AbstractClass</a:t>
              </a:r>
            </a:p>
          </p:txBody>
        </p:sp>
        <p:sp>
          <p:nvSpPr>
            <p:cNvPr id="25" name="TextBox 25"/>
            <p:cNvSpPr txBox="1"/>
            <p:nvPr/>
          </p:nvSpPr>
          <p:spPr>
            <a:xfrm>
              <a:off x="2445448" y="4079558"/>
              <a:ext cx="2151402"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BankTemplateMethod（抽象类）</a:t>
              </a:r>
            </a:p>
          </p:txBody>
        </p:sp>
        <p:sp>
          <p:nvSpPr>
            <p:cNvPr id="26" name="Rectangle 26"/>
            <p:cNvSpPr/>
            <p:nvPr/>
          </p:nvSpPr>
          <p:spPr>
            <a:xfrm>
              <a:off x="533400" y="4338638"/>
              <a:ext cx="4328160" cy="9525"/>
            </a:xfrm>
            <a:prstGeom prst="rect">
              <a:avLst/>
            </a:prstGeom>
            <a:solidFill>
              <a:srgbClr val="D9DFEA"/>
            </a:solidFill>
            <a:ln>
              <a:noFill/>
            </a:ln>
          </p:spPr>
        </p:sp>
        <p:sp>
          <p:nvSpPr>
            <p:cNvPr id="27" name="Rectangle 27"/>
            <p:cNvSpPr/>
            <p:nvPr/>
          </p:nvSpPr>
          <p:spPr>
            <a:xfrm>
              <a:off x="533400" y="4343400"/>
              <a:ext cx="4328160" cy="381000"/>
            </a:xfrm>
            <a:prstGeom prst="rect">
              <a:avLst/>
            </a:prstGeom>
            <a:solidFill>
              <a:srgbClr val="F4F6FB"/>
            </a:solidFill>
            <a:ln>
              <a:noFill/>
            </a:ln>
          </p:spPr>
        </p:sp>
        <p:sp>
          <p:nvSpPr>
            <p:cNvPr id="28" name="TextBox 28"/>
            <p:cNvSpPr txBox="1"/>
            <p:nvPr/>
          </p:nvSpPr>
          <p:spPr>
            <a:xfrm>
              <a:off x="628078" y="4460558"/>
              <a:ext cx="104367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ConcreteClass</a:t>
              </a:r>
            </a:p>
          </p:txBody>
        </p:sp>
        <p:sp>
          <p:nvSpPr>
            <p:cNvPr id="29" name="TextBox 29"/>
            <p:cNvSpPr txBox="1"/>
            <p:nvPr/>
          </p:nvSpPr>
          <p:spPr>
            <a:xfrm>
              <a:off x="2445448" y="4460558"/>
              <a:ext cx="849097"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Deposit 存款</a:t>
              </a:r>
            </a:p>
          </p:txBody>
        </p:sp>
        <p:sp>
          <p:nvSpPr>
            <p:cNvPr id="30" name="Rectangle 30"/>
            <p:cNvSpPr/>
            <p:nvPr/>
          </p:nvSpPr>
          <p:spPr>
            <a:xfrm>
              <a:off x="533400" y="4720590"/>
              <a:ext cx="4328160" cy="9525"/>
            </a:xfrm>
            <a:prstGeom prst="rect">
              <a:avLst/>
            </a:prstGeom>
            <a:solidFill>
              <a:srgbClr val="D9DFEA"/>
            </a:solidFill>
            <a:ln>
              <a:noFill/>
            </a:ln>
          </p:spPr>
        </p:sp>
        <p:sp>
          <p:nvSpPr>
            <p:cNvPr id="31" name="TextBox 31"/>
            <p:cNvSpPr txBox="1"/>
            <p:nvPr/>
          </p:nvSpPr>
          <p:spPr>
            <a:xfrm>
              <a:off x="628078" y="4842510"/>
              <a:ext cx="104367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ConcreteClass</a:t>
              </a:r>
            </a:p>
          </p:txBody>
        </p:sp>
        <p:sp>
          <p:nvSpPr>
            <p:cNvPr id="32" name="TextBox 32"/>
            <p:cNvSpPr txBox="1"/>
            <p:nvPr/>
          </p:nvSpPr>
          <p:spPr>
            <a:xfrm>
              <a:off x="2445448" y="4842510"/>
              <a:ext cx="983773"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Withdraw 取款</a:t>
              </a:r>
            </a:p>
          </p:txBody>
        </p:sp>
        <p:sp>
          <p:nvSpPr>
            <p:cNvPr id="33" name="Rectangle 33"/>
            <p:cNvSpPr/>
            <p:nvPr/>
          </p:nvSpPr>
          <p:spPr>
            <a:xfrm>
              <a:off x="533400" y="5101590"/>
              <a:ext cx="4328160" cy="9525"/>
            </a:xfrm>
            <a:prstGeom prst="rect">
              <a:avLst/>
            </a:prstGeom>
            <a:solidFill>
              <a:srgbClr val="D9DFEA"/>
            </a:solidFill>
            <a:ln>
              <a:noFill/>
            </a:ln>
          </p:spPr>
        </p:sp>
        <p:sp>
          <p:nvSpPr>
            <p:cNvPr id="34" name="Rectangle 34"/>
            <p:cNvSpPr/>
            <p:nvPr/>
          </p:nvSpPr>
          <p:spPr>
            <a:xfrm>
              <a:off x="533400" y="5106352"/>
              <a:ext cx="4328160" cy="381000"/>
            </a:xfrm>
            <a:prstGeom prst="rect">
              <a:avLst/>
            </a:prstGeom>
            <a:solidFill>
              <a:srgbClr val="F4F6FB"/>
            </a:solidFill>
            <a:ln>
              <a:noFill/>
            </a:ln>
          </p:spPr>
        </p:sp>
        <p:sp>
          <p:nvSpPr>
            <p:cNvPr id="35" name="TextBox 35"/>
            <p:cNvSpPr txBox="1"/>
            <p:nvPr/>
          </p:nvSpPr>
          <p:spPr>
            <a:xfrm>
              <a:off x="628078" y="5223510"/>
              <a:ext cx="1043674" cy="205359"/>
            </a:xfrm>
            <a:prstGeom prst="rect">
              <a:avLst/>
            </a:prstGeom>
            <a:noFill/>
            <a:ln>
              <a:noFill/>
            </a:ln>
          </p:spPr>
          <p:txBody>
            <a:bodyPr wrap="none" lIns="0" tIns="0" rIns="0" bIns="0" anchor="t" anchorCtr="0">
              <a:spAutoFit/>
            </a:bodyPr>
            <a:lstStyle/>
            <a:p>
              <a:pPr algn="l"/>
              <a:r>
                <a:rPr lang="en-US" sz="1050" b="1" dirty="0">
                  <a:solidFill>
                    <a:srgbClr val="1F2937"/>
                  </a:solidFill>
                  <a:latin typeface="+mn-lt"/>
                  <a:ea typeface="+mn-ea"/>
                  <a:cs typeface="+mn-cs"/>
                </a:rPr>
                <a:t>ConcreteClass</a:t>
              </a:r>
            </a:p>
          </p:txBody>
        </p:sp>
        <p:sp>
          <p:nvSpPr>
            <p:cNvPr id="36" name="TextBox 36"/>
            <p:cNvSpPr txBox="1"/>
            <p:nvPr/>
          </p:nvSpPr>
          <p:spPr>
            <a:xfrm>
              <a:off x="2445448" y="5223510"/>
              <a:ext cx="962420" cy="205359"/>
            </a:xfrm>
            <a:prstGeom prst="rect">
              <a:avLst/>
            </a:prstGeom>
            <a:noFill/>
            <a:ln>
              <a:noFill/>
            </a:ln>
          </p:spPr>
          <p:txBody>
            <a:bodyPr wrap="none" lIns="0" tIns="0" rIns="0" bIns="0" anchor="t" anchorCtr="0">
              <a:spAutoFit/>
            </a:bodyPr>
            <a:lstStyle/>
            <a:p>
              <a:pPr algn="l"/>
              <a:r>
                <a:rPr lang="zh-CN" sz="1050" dirty="0">
                  <a:solidFill>
                    <a:srgbClr val="1F2937"/>
                  </a:solidFill>
                  <a:latin typeface="+mn-lt"/>
                  <a:ea typeface="+mn-ea"/>
                  <a:cs typeface="+mn-cs"/>
                </a:rPr>
                <a:t>Transfer 转账</a:t>
              </a:r>
            </a:p>
          </p:txBody>
        </p:sp>
        <p:sp>
          <p:nvSpPr>
            <p:cNvPr id="37" name="Rectangle 37"/>
            <p:cNvSpPr/>
            <p:nvPr/>
          </p:nvSpPr>
          <p:spPr>
            <a:xfrm>
              <a:off x="533400" y="3580448"/>
              <a:ext cx="4328160" cy="1906905"/>
            </a:xfrm>
            <a:prstGeom prst="rect">
              <a:avLst/>
            </a:prstGeom>
            <a:noFill/>
            <a:ln w="14288">
              <a:solidFill>
                <a:srgbClr val="D9DFEA"/>
              </a:solidFill>
            </a:ln>
          </p:spPr>
        </p:sp>
        <p:sp>
          <p:nvSpPr>
            <p:cNvPr id="38" name="Rectangle 38"/>
            <p:cNvSpPr/>
            <p:nvPr/>
          </p:nvSpPr>
          <p:spPr>
            <a:xfrm>
              <a:off x="2346008" y="3580448"/>
              <a:ext cx="9525" cy="1906905"/>
            </a:xfrm>
            <a:prstGeom prst="rect">
              <a:avLst/>
            </a:prstGeom>
            <a:solidFill>
              <a:srgbClr val="D9DFEA"/>
            </a:solidFill>
            <a:ln>
              <a:noFill/>
            </a:ln>
          </p:spPr>
        </p:sp>
      </p:grpSp>
      <p:grpSp>
        <p:nvGrpSpPr>
          <p:cNvPr id="46" name="c1-callout-3"/>
          <p:cNvGrpSpPr/>
          <p:nvPr/>
        </p:nvGrpSpPr>
        <p:grpSpPr>
          <a:xfrm>
            <a:off x="533400" y="5652135"/>
            <a:ext cx="4328160" cy="702945"/>
            <a:chOff x="533400" y="5652135"/>
            <a:chExt cx="4328160" cy="702945"/>
          </a:xfrm>
        </p:grpSpPr>
        <p:sp>
          <p:nvSpPr>
            <p:cNvPr id="40" name="Rectangle 40"/>
            <p:cNvSpPr/>
            <p:nvPr/>
          </p:nvSpPr>
          <p:spPr>
            <a:xfrm>
              <a:off x="533400" y="5652135"/>
              <a:ext cx="4328160" cy="702945"/>
            </a:xfrm>
            <a:prstGeom prst="roundRect">
              <a:avLst>
                <a:gd name="adj" fmla="val 16260"/>
              </a:avLst>
            </a:prstGeom>
            <a:solidFill>
              <a:srgbClr val="FDEEE7"/>
            </a:solidFill>
            <a:ln>
              <a:noFill/>
            </a:ln>
          </p:spPr>
        </p:sp>
        <p:grpSp>
          <p:nvGrpSpPr>
            <p:cNvPr id="44" name="Group 44"/>
            <p:cNvGrpSpPr/>
            <p:nvPr/>
          </p:nvGrpSpPr>
          <p:grpSpPr>
            <a:xfrm>
              <a:off x="738188" y="5903595"/>
              <a:ext cx="200026" cy="200025"/>
              <a:chOff x="738188" y="5903595"/>
              <a:chExt cx="200026" cy="200025"/>
            </a:xfrm>
          </p:grpSpPr>
          <p:sp>
            <p:nvSpPr>
              <p:cNvPr id="41" name="Freeform 41"/>
              <p:cNvSpPr/>
              <p:nvPr/>
            </p:nvSpPr>
            <p:spPr>
              <a:xfrm>
                <a:off x="738188" y="590359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2" name="Freeform 42"/>
              <p:cNvSpPr/>
              <p:nvPr/>
            </p:nvSpPr>
            <p:spPr>
              <a:xfrm>
                <a:off x="777926" y="594804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3" name="Freeform 43"/>
              <p:cNvSpPr/>
              <p:nvPr/>
            </p:nvSpPr>
            <p:spPr>
              <a:xfrm>
                <a:off x="812642" y="605917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5" name="TextBox 45"/>
            <p:cNvSpPr txBox="1"/>
            <p:nvPr/>
          </p:nvSpPr>
          <p:spPr>
            <a:xfrm>
              <a:off x="1041273" y="5797391"/>
              <a:ext cx="342671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C2410C"/>
                  </a:solidFill>
                  <a:latin typeface="+mn-lt"/>
                  <a:ea typeface="+mn-ea"/>
                  <a:cs typeface="+mn-cs"/>
                </a:rPr>
                <a:t>先问一句：三个子类里该出现几个方法？只有一</a:t>
              </a:r>
              <a:br/>
              <a:r>
                <a:rPr lang="zh-CN" sz="1280" dirty="0">
                  <a:solidFill>
                    <a:srgbClr val="C2410C"/>
                  </a:solidFill>
                  <a:latin typeface="+mn-lt"/>
                  <a:ea typeface="+mn-ea"/>
                  <a:cs typeface="+mn-cs"/>
                </a:rPr>
                <a:t>个，就是 transact()。</a:t>
              </a:r>
            </a:p>
          </p:txBody>
        </p:sp>
      </p:grpSp>
      <p:grpSp>
        <p:nvGrpSpPr>
          <p:cNvPr id="77" name="c2-uml-1"/>
          <p:cNvGrpSpPr/>
          <p:nvPr/>
        </p:nvGrpSpPr>
        <p:grpSpPr>
          <a:xfrm>
            <a:off x="5676900" y="2139315"/>
            <a:ext cx="5471160" cy="2205037"/>
            <a:chOff x="5676900" y="2139315"/>
            <a:chExt cx="5471160" cy="2205037"/>
          </a:xfrm>
        </p:grpSpPr>
        <p:sp>
          <p:nvSpPr>
            <p:cNvPr id="47" name="Freeform 47"/>
            <p:cNvSpPr/>
            <p:nvPr/>
          </p:nvSpPr>
          <p:spPr>
            <a:xfrm>
              <a:off x="6248400" y="3268028"/>
              <a:ext cx="1973580" cy="520065"/>
            </a:xfrm>
            <a:custGeom>
              <a:avLst/>
              <a:gdLst/>
              <a:ahLst/>
              <a:cxnLst/>
              <a:rect l="l" t="t" r="r" b="b"/>
              <a:pathLst>
                <a:path w="1973580" h="520065">
                  <a:moveTo>
                    <a:pt x="0" y="520065"/>
                  </a:moveTo>
                  <a:lnTo>
                    <a:pt x="0" y="197167"/>
                  </a:lnTo>
                  <a:lnTo>
                    <a:pt x="1973580" y="197167"/>
                  </a:lnTo>
                  <a:lnTo>
                    <a:pt x="1973580" y="0"/>
                  </a:lnTo>
                </a:path>
              </a:pathLst>
            </a:custGeom>
            <a:noFill/>
            <a:ln w="15240">
              <a:solidFill>
                <a:srgbClr val="1F2937"/>
              </a:solidFill>
            </a:ln>
          </p:spPr>
        </p:sp>
        <p:sp>
          <p:nvSpPr>
            <p:cNvPr id="48" name="Freeform 48"/>
            <p:cNvSpPr/>
            <p:nvPr/>
          </p:nvSpPr>
          <p:spPr>
            <a:xfrm>
              <a:off x="8148638" y="314229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49" name="Freeform 49"/>
            <p:cNvSpPr/>
            <p:nvPr/>
          </p:nvSpPr>
          <p:spPr>
            <a:xfrm>
              <a:off x="8412480" y="3268028"/>
              <a:ext cx="9525" cy="520065"/>
            </a:xfrm>
            <a:custGeom>
              <a:avLst/>
              <a:gdLst/>
              <a:ahLst/>
              <a:cxnLst/>
              <a:rect l="l" t="t" r="r" b="b"/>
              <a:pathLst>
                <a:path w="9525" h="520065">
                  <a:moveTo>
                    <a:pt x="0" y="520065"/>
                  </a:moveTo>
                  <a:lnTo>
                    <a:pt x="0" y="197167"/>
                  </a:lnTo>
                  <a:lnTo>
                    <a:pt x="0" y="197167"/>
                  </a:lnTo>
                  <a:lnTo>
                    <a:pt x="0" y="0"/>
                  </a:lnTo>
                </a:path>
              </a:pathLst>
            </a:custGeom>
            <a:noFill/>
            <a:ln w="15240">
              <a:solidFill>
                <a:srgbClr val="1F2937"/>
              </a:solidFill>
            </a:ln>
          </p:spPr>
        </p:sp>
        <p:sp>
          <p:nvSpPr>
            <p:cNvPr id="50" name="Freeform 50"/>
            <p:cNvSpPr/>
            <p:nvPr/>
          </p:nvSpPr>
          <p:spPr>
            <a:xfrm>
              <a:off x="8339138" y="314229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51" name="Freeform 51"/>
            <p:cNvSpPr/>
            <p:nvPr/>
          </p:nvSpPr>
          <p:spPr>
            <a:xfrm>
              <a:off x="8602980" y="3268028"/>
              <a:ext cx="1973580" cy="520065"/>
            </a:xfrm>
            <a:custGeom>
              <a:avLst/>
              <a:gdLst/>
              <a:ahLst/>
              <a:cxnLst/>
              <a:rect l="l" t="t" r="r" b="b"/>
              <a:pathLst>
                <a:path w="1973580" h="520065">
                  <a:moveTo>
                    <a:pt x="1973580" y="520065"/>
                  </a:moveTo>
                  <a:lnTo>
                    <a:pt x="1973580" y="197167"/>
                  </a:lnTo>
                  <a:lnTo>
                    <a:pt x="0" y="197167"/>
                  </a:lnTo>
                  <a:lnTo>
                    <a:pt x="0" y="0"/>
                  </a:lnTo>
                </a:path>
              </a:pathLst>
            </a:custGeom>
            <a:noFill/>
            <a:ln w="15240">
              <a:solidFill>
                <a:srgbClr val="1F2937"/>
              </a:solidFill>
            </a:ln>
          </p:spPr>
        </p:sp>
        <p:sp>
          <p:nvSpPr>
            <p:cNvPr id="52" name="Freeform 52"/>
            <p:cNvSpPr/>
            <p:nvPr/>
          </p:nvSpPr>
          <p:spPr>
            <a:xfrm>
              <a:off x="8529638" y="3142298"/>
              <a:ext cx="146685" cy="125730"/>
            </a:xfrm>
            <a:custGeom>
              <a:avLst/>
              <a:gdLst/>
              <a:ahLst/>
              <a:cxnLst/>
              <a:rect l="l" t="t" r="r" b="b"/>
              <a:pathLst>
                <a:path w="146685" h="125730">
                  <a:moveTo>
                    <a:pt x="73343" y="0"/>
                  </a:moveTo>
                  <a:lnTo>
                    <a:pt x="146685" y="125730"/>
                  </a:lnTo>
                  <a:lnTo>
                    <a:pt x="0" y="125730"/>
                  </a:lnTo>
                  <a:close/>
                </a:path>
              </a:pathLst>
            </a:custGeom>
            <a:solidFill>
              <a:srgbClr val="FFFFFF"/>
            </a:solidFill>
            <a:ln w="15240">
              <a:solidFill>
                <a:srgbClr val="1F2937"/>
              </a:solidFill>
            </a:ln>
          </p:spPr>
        </p:sp>
        <p:sp>
          <p:nvSpPr>
            <p:cNvPr id="53" name="Rectangle 53"/>
            <p:cNvSpPr/>
            <p:nvPr/>
          </p:nvSpPr>
          <p:spPr>
            <a:xfrm>
              <a:off x="7687628" y="2139315"/>
              <a:ext cx="1448752" cy="1002982"/>
            </a:xfrm>
            <a:prstGeom prst="rect">
              <a:avLst/>
            </a:prstGeom>
            <a:solidFill>
              <a:srgbClr val="FFFFFF"/>
            </a:solidFill>
            <a:ln w="14288">
              <a:solidFill>
                <a:srgbClr val="5B3FA0"/>
              </a:solidFill>
            </a:ln>
          </p:spPr>
        </p:sp>
        <p:sp>
          <p:nvSpPr>
            <p:cNvPr id="54" name="Rectangle 54"/>
            <p:cNvSpPr/>
            <p:nvPr/>
          </p:nvSpPr>
          <p:spPr>
            <a:xfrm>
              <a:off x="7695248" y="2146935"/>
              <a:ext cx="1434465" cy="209550"/>
            </a:xfrm>
            <a:prstGeom prst="rect">
              <a:avLst/>
            </a:prstGeom>
            <a:solidFill>
              <a:srgbClr val="EEEAF7"/>
            </a:solidFill>
            <a:ln>
              <a:noFill/>
            </a:ln>
          </p:spPr>
        </p:sp>
        <p:sp>
          <p:nvSpPr>
            <p:cNvPr id="55" name="Rectangle 55"/>
            <p:cNvSpPr/>
            <p:nvPr/>
          </p:nvSpPr>
          <p:spPr>
            <a:xfrm>
              <a:off x="7687628" y="2351722"/>
              <a:ext cx="1448752" cy="9525"/>
            </a:xfrm>
            <a:prstGeom prst="rect">
              <a:avLst/>
            </a:prstGeom>
            <a:solidFill>
              <a:srgbClr val="5B3FA0"/>
            </a:solidFill>
            <a:ln>
              <a:noFill/>
            </a:ln>
          </p:spPr>
        </p:sp>
        <p:sp>
          <p:nvSpPr>
            <p:cNvPr id="56" name="Rectangle 56"/>
            <p:cNvSpPr/>
            <p:nvPr/>
          </p:nvSpPr>
          <p:spPr>
            <a:xfrm>
              <a:off x="7687628" y="2446972"/>
              <a:ext cx="1448752" cy="9525"/>
            </a:xfrm>
            <a:prstGeom prst="rect">
              <a:avLst/>
            </a:prstGeom>
            <a:solidFill>
              <a:srgbClr val="5B3FA0"/>
            </a:solidFill>
            <a:ln>
              <a:noFill/>
            </a:ln>
          </p:spPr>
        </p:sp>
        <p:sp>
          <p:nvSpPr>
            <p:cNvPr id="57" name="Rectangle 57"/>
            <p:cNvSpPr/>
            <p:nvPr/>
          </p:nvSpPr>
          <p:spPr>
            <a:xfrm>
              <a:off x="5676900" y="3788092"/>
              <a:ext cx="1143000" cy="556260"/>
            </a:xfrm>
            <a:prstGeom prst="rect">
              <a:avLst/>
            </a:prstGeom>
            <a:solidFill>
              <a:srgbClr val="FFFFFF"/>
            </a:solidFill>
            <a:ln w="14288">
              <a:solidFill>
                <a:srgbClr val="5B3FA0"/>
              </a:solidFill>
            </a:ln>
          </p:spPr>
        </p:sp>
        <p:sp>
          <p:nvSpPr>
            <p:cNvPr id="58" name="Rectangle 58"/>
            <p:cNvSpPr/>
            <p:nvPr/>
          </p:nvSpPr>
          <p:spPr>
            <a:xfrm>
              <a:off x="5684520" y="3794760"/>
              <a:ext cx="1128712" cy="209550"/>
            </a:xfrm>
            <a:prstGeom prst="rect">
              <a:avLst/>
            </a:prstGeom>
            <a:solidFill>
              <a:srgbClr val="EEEAF7"/>
            </a:solidFill>
            <a:ln>
              <a:noFill/>
            </a:ln>
          </p:spPr>
        </p:sp>
        <p:sp>
          <p:nvSpPr>
            <p:cNvPr id="59" name="Rectangle 59"/>
            <p:cNvSpPr/>
            <p:nvPr/>
          </p:nvSpPr>
          <p:spPr>
            <a:xfrm>
              <a:off x="5676900" y="4000500"/>
              <a:ext cx="1143000" cy="9525"/>
            </a:xfrm>
            <a:prstGeom prst="rect">
              <a:avLst/>
            </a:prstGeom>
            <a:solidFill>
              <a:srgbClr val="5B3FA0"/>
            </a:solidFill>
            <a:ln>
              <a:noFill/>
            </a:ln>
          </p:spPr>
        </p:sp>
        <p:sp>
          <p:nvSpPr>
            <p:cNvPr id="60" name="Rectangle 60"/>
            <p:cNvSpPr/>
            <p:nvPr/>
          </p:nvSpPr>
          <p:spPr>
            <a:xfrm>
              <a:off x="5676900" y="4095750"/>
              <a:ext cx="1143000" cy="9525"/>
            </a:xfrm>
            <a:prstGeom prst="rect">
              <a:avLst/>
            </a:prstGeom>
            <a:solidFill>
              <a:srgbClr val="5B3FA0"/>
            </a:solidFill>
            <a:ln>
              <a:noFill/>
            </a:ln>
          </p:spPr>
        </p:sp>
        <p:sp>
          <p:nvSpPr>
            <p:cNvPr id="61" name="Rectangle 61"/>
            <p:cNvSpPr/>
            <p:nvPr/>
          </p:nvSpPr>
          <p:spPr>
            <a:xfrm>
              <a:off x="7840980" y="3788092"/>
              <a:ext cx="1143000" cy="556260"/>
            </a:xfrm>
            <a:prstGeom prst="rect">
              <a:avLst/>
            </a:prstGeom>
            <a:solidFill>
              <a:srgbClr val="FFFFFF"/>
            </a:solidFill>
            <a:ln w="14288">
              <a:solidFill>
                <a:srgbClr val="5B3FA0"/>
              </a:solidFill>
            </a:ln>
          </p:spPr>
        </p:sp>
        <p:sp>
          <p:nvSpPr>
            <p:cNvPr id="62" name="Rectangle 62"/>
            <p:cNvSpPr/>
            <p:nvPr/>
          </p:nvSpPr>
          <p:spPr>
            <a:xfrm>
              <a:off x="7848600" y="3794760"/>
              <a:ext cx="1128712" cy="209550"/>
            </a:xfrm>
            <a:prstGeom prst="rect">
              <a:avLst/>
            </a:prstGeom>
            <a:solidFill>
              <a:srgbClr val="EEEAF7"/>
            </a:solidFill>
            <a:ln>
              <a:noFill/>
            </a:ln>
          </p:spPr>
        </p:sp>
        <p:sp>
          <p:nvSpPr>
            <p:cNvPr id="63" name="Rectangle 63"/>
            <p:cNvSpPr/>
            <p:nvPr/>
          </p:nvSpPr>
          <p:spPr>
            <a:xfrm>
              <a:off x="7840980" y="4000500"/>
              <a:ext cx="1143000" cy="9525"/>
            </a:xfrm>
            <a:prstGeom prst="rect">
              <a:avLst/>
            </a:prstGeom>
            <a:solidFill>
              <a:srgbClr val="5B3FA0"/>
            </a:solidFill>
            <a:ln>
              <a:noFill/>
            </a:ln>
          </p:spPr>
        </p:sp>
        <p:sp>
          <p:nvSpPr>
            <p:cNvPr id="64" name="Rectangle 64"/>
            <p:cNvSpPr/>
            <p:nvPr/>
          </p:nvSpPr>
          <p:spPr>
            <a:xfrm>
              <a:off x="7840980" y="4095750"/>
              <a:ext cx="1143000" cy="9525"/>
            </a:xfrm>
            <a:prstGeom prst="rect">
              <a:avLst/>
            </a:prstGeom>
            <a:solidFill>
              <a:srgbClr val="5B3FA0"/>
            </a:solidFill>
            <a:ln>
              <a:noFill/>
            </a:ln>
          </p:spPr>
        </p:sp>
        <p:sp>
          <p:nvSpPr>
            <p:cNvPr id="65" name="Rectangle 65"/>
            <p:cNvSpPr/>
            <p:nvPr/>
          </p:nvSpPr>
          <p:spPr>
            <a:xfrm>
              <a:off x="10005060" y="3788092"/>
              <a:ext cx="1143000" cy="556260"/>
            </a:xfrm>
            <a:prstGeom prst="rect">
              <a:avLst/>
            </a:prstGeom>
            <a:solidFill>
              <a:srgbClr val="FFFFFF"/>
            </a:solidFill>
            <a:ln w="14288">
              <a:solidFill>
                <a:srgbClr val="5B3FA0"/>
              </a:solidFill>
            </a:ln>
          </p:spPr>
        </p:sp>
        <p:sp>
          <p:nvSpPr>
            <p:cNvPr id="66" name="Rectangle 66"/>
            <p:cNvSpPr/>
            <p:nvPr/>
          </p:nvSpPr>
          <p:spPr>
            <a:xfrm>
              <a:off x="10011728" y="3794760"/>
              <a:ext cx="1128712" cy="209550"/>
            </a:xfrm>
            <a:prstGeom prst="rect">
              <a:avLst/>
            </a:prstGeom>
            <a:solidFill>
              <a:srgbClr val="EEEAF7"/>
            </a:solidFill>
            <a:ln>
              <a:noFill/>
            </a:ln>
          </p:spPr>
        </p:sp>
        <p:sp>
          <p:nvSpPr>
            <p:cNvPr id="67" name="Rectangle 67"/>
            <p:cNvSpPr/>
            <p:nvPr/>
          </p:nvSpPr>
          <p:spPr>
            <a:xfrm>
              <a:off x="10005060" y="4000500"/>
              <a:ext cx="1143000" cy="9525"/>
            </a:xfrm>
            <a:prstGeom prst="rect">
              <a:avLst/>
            </a:prstGeom>
            <a:solidFill>
              <a:srgbClr val="5B3FA0"/>
            </a:solidFill>
            <a:ln>
              <a:noFill/>
            </a:ln>
          </p:spPr>
        </p:sp>
        <p:sp>
          <p:nvSpPr>
            <p:cNvPr id="68" name="Rectangle 68"/>
            <p:cNvSpPr/>
            <p:nvPr/>
          </p:nvSpPr>
          <p:spPr>
            <a:xfrm>
              <a:off x="10005060" y="4095750"/>
              <a:ext cx="1143000" cy="9525"/>
            </a:xfrm>
            <a:prstGeom prst="rect">
              <a:avLst/>
            </a:prstGeom>
            <a:solidFill>
              <a:srgbClr val="5B3FA0"/>
            </a:solidFill>
            <a:ln>
              <a:noFill/>
            </a:ln>
          </p:spPr>
        </p:sp>
        <p:sp>
          <p:nvSpPr>
            <p:cNvPr id="69" name="TextBox 69"/>
            <p:cNvSpPr txBox="1"/>
            <p:nvPr/>
          </p:nvSpPr>
          <p:spPr>
            <a:xfrm>
              <a:off x="7762427" y="2190750"/>
              <a:ext cx="1300106" cy="176212"/>
            </a:xfrm>
            <a:prstGeom prst="rect">
              <a:avLst/>
            </a:prstGeom>
            <a:noFill/>
            <a:ln>
              <a:noFill/>
            </a:ln>
          </p:spPr>
          <p:txBody>
            <a:bodyPr wrap="none" lIns="0" tIns="0" rIns="0" bIns="0" anchor="t" anchorCtr="0">
              <a:spAutoFit/>
            </a:bodyPr>
            <a:lstStyle/>
            <a:p>
              <a:pPr algn="ctr"/>
              <a:r>
                <a:rPr lang="en-US" sz="900" b="1" i="1" dirty="0">
                  <a:solidFill>
                    <a:srgbClr val="462F80"/>
                  </a:solidFill>
                  <a:latin typeface="+mn-lt"/>
                  <a:ea typeface="+mn-ea"/>
                  <a:cs typeface="+mn-cs"/>
                </a:rPr>
                <a:t>BankTemplateMethod</a:t>
              </a:r>
            </a:p>
          </p:txBody>
        </p:sp>
        <p:sp>
          <p:nvSpPr>
            <p:cNvPr id="70" name="TextBox 70"/>
            <p:cNvSpPr txBox="1"/>
            <p:nvPr/>
          </p:nvSpPr>
          <p:spPr>
            <a:xfrm>
              <a:off x="7759065" y="2515076"/>
              <a:ext cx="1274826" cy="60769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 process()</a:t>
              </a:r>
              <a:br/>
              <a:r>
                <a:rPr lang="en-US" sz="820" dirty="0">
                  <a:solidFill>
                    <a:srgbClr val="1F2937"/>
                  </a:solidFill>
                  <a:latin typeface="+mn-lt"/>
                  <a:ea typeface="+mn-ea"/>
                  <a:cs typeface="+mn-cs"/>
                </a:rPr>
                <a:t>+ takeNumber()</a:t>
              </a:r>
              <a:br/>
              <a:r>
                <a:rPr lang="en-US" sz="820" dirty="0">
                  <a:solidFill>
                    <a:srgbClr val="1F2937"/>
                  </a:solidFill>
                  <a:latin typeface="+mn-lt"/>
                  <a:ea typeface="+mn-ea"/>
                  <a:cs typeface="+mn-cs"/>
                </a:rPr>
                <a:t>+ transact() {abstract}</a:t>
              </a:r>
              <a:br/>
              <a:r>
                <a:rPr lang="en-US" sz="820" dirty="0">
                  <a:solidFill>
                    <a:srgbClr val="1F2937"/>
                  </a:solidFill>
                  <a:latin typeface="+mn-lt"/>
                  <a:ea typeface="+mn-ea"/>
                  <a:cs typeface="+mn-cs"/>
                </a:rPr>
                <a:t>+ evaluate()</a:t>
              </a:r>
            </a:p>
          </p:txBody>
        </p:sp>
        <p:sp>
          <p:nvSpPr>
            <p:cNvPr id="71" name="TextBox 71"/>
            <p:cNvSpPr txBox="1"/>
            <p:nvPr/>
          </p:nvSpPr>
          <p:spPr>
            <a:xfrm>
              <a:off x="6012797" y="3839528"/>
              <a:ext cx="471206" cy="176212"/>
            </a:xfrm>
            <a:prstGeom prst="rect">
              <a:avLst/>
            </a:prstGeom>
            <a:noFill/>
            <a:ln>
              <a:noFill/>
            </a:ln>
          </p:spPr>
          <p:txBody>
            <a:bodyPr wrap="none" lIns="0" tIns="0" rIns="0" bIns="0" anchor="t" anchorCtr="0">
              <a:spAutoFit/>
            </a:bodyPr>
            <a:lstStyle/>
            <a:p>
              <a:pPr algn="ctr"/>
              <a:r>
                <a:rPr lang="en-US" sz="900" b="1" dirty="0">
                  <a:solidFill>
                    <a:srgbClr val="462F80"/>
                  </a:solidFill>
                  <a:latin typeface="+mn-lt"/>
                  <a:ea typeface="+mn-ea"/>
                  <a:cs typeface="+mn-cs"/>
                </a:rPr>
                <a:t>Deposit</a:t>
              </a:r>
            </a:p>
          </p:txBody>
        </p:sp>
        <p:sp>
          <p:nvSpPr>
            <p:cNvPr id="72" name="TextBox 72"/>
            <p:cNvSpPr txBox="1"/>
            <p:nvPr/>
          </p:nvSpPr>
          <p:spPr>
            <a:xfrm>
              <a:off x="5748338" y="4163854"/>
              <a:ext cx="710491"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 transact()</a:t>
              </a:r>
            </a:p>
          </p:txBody>
        </p:sp>
        <p:sp>
          <p:nvSpPr>
            <p:cNvPr id="73" name="TextBox 73"/>
            <p:cNvSpPr txBox="1"/>
            <p:nvPr/>
          </p:nvSpPr>
          <p:spPr>
            <a:xfrm>
              <a:off x="8116254" y="3839528"/>
              <a:ext cx="592453" cy="176212"/>
            </a:xfrm>
            <a:prstGeom prst="rect">
              <a:avLst/>
            </a:prstGeom>
            <a:noFill/>
            <a:ln>
              <a:noFill/>
            </a:ln>
          </p:spPr>
          <p:txBody>
            <a:bodyPr wrap="none" lIns="0" tIns="0" rIns="0" bIns="0" anchor="t" anchorCtr="0">
              <a:spAutoFit/>
            </a:bodyPr>
            <a:lstStyle/>
            <a:p>
              <a:pPr algn="ctr"/>
              <a:r>
                <a:rPr lang="en-US" sz="900" b="1" dirty="0">
                  <a:solidFill>
                    <a:srgbClr val="462F80"/>
                  </a:solidFill>
                  <a:latin typeface="+mn-lt"/>
                  <a:ea typeface="+mn-ea"/>
                  <a:cs typeface="+mn-cs"/>
                </a:rPr>
                <a:t>Withdraw</a:t>
              </a:r>
            </a:p>
          </p:txBody>
        </p:sp>
        <p:sp>
          <p:nvSpPr>
            <p:cNvPr id="74" name="TextBox 74"/>
            <p:cNvSpPr txBox="1"/>
            <p:nvPr/>
          </p:nvSpPr>
          <p:spPr>
            <a:xfrm>
              <a:off x="7912418" y="4163854"/>
              <a:ext cx="710491"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 transact()</a:t>
              </a:r>
            </a:p>
          </p:txBody>
        </p:sp>
        <p:sp>
          <p:nvSpPr>
            <p:cNvPr id="75" name="TextBox 75"/>
            <p:cNvSpPr txBox="1"/>
            <p:nvPr/>
          </p:nvSpPr>
          <p:spPr>
            <a:xfrm>
              <a:off x="10289942" y="3839528"/>
              <a:ext cx="573235" cy="176212"/>
            </a:xfrm>
            <a:prstGeom prst="rect">
              <a:avLst/>
            </a:prstGeom>
            <a:noFill/>
            <a:ln>
              <a:noFill/>
            </a:ln>
          </p:spPr>
          <p:txBody>
            <a:bodyPr wrap="none" lIns="0" tIns="0" rIns="0" bIns="0" anchor="t" anchorCtr="0">
              <a:spAutoFit/>
            </a:bodyPr>
            <a:lstStyle/>
            <a:p>
              <a:pPr algn="ctr"/>
              <a:r>
                <a:rPr lang="en-US" sz="900" b="1" dirty="0">
                  <a:solidFill>
                    <a:srgbClr val="462F80"/>
                  </a:solidFill>
                  <a:latin typeface="+mn-lt"/>
                  <a:ea typeface="+mn-ea"/>
                  <a:cs typeface="+mn-cs"/>
                </a:rPr>
                <a:t>Transfer</a:t>
              </a:r>
            </a:p>
          </p:txBody>
        </p:sp>
        <p:sp>
          <p:nvSpPr>
            <p:cNvPr id="76" name="TextBox 76"/>
            <p:cNvSpPr txBox="1"/>
            <p:nvPr/>
          </p:nvSpPr>
          <p:spPr>
            <a:xfrm>
              <a:off x="10076498" y="4163854"/>
              <a:ext cx="710491"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 transact()</a:t>
              </a:r>
            </a:p>
          </p:txBody>
        </p:sp>
      </p:grpSp>
      <p:grpSp>
        <p:nvGrpSpPr>
          <p:cNvPr id="84" name="c2-callout-2"/>
          <p:cNvGrpSpPr/>
          <p:nvPr/>
        </p:nvGrpSpPr>
        <p:grpSpPr>
          <a:xfrm>
            <a:off x="5166360" y="4943475"/>
            <a:ext cx="6492240" cy="1411605"/>
            <a:chOff x="5166360" y="4943475"/>
            <a:chExt cx="6492240" cy="1411605"/>
          </a:xfrm>
        </p:grpSpPr>
        <p:sp>
          <p:nvSpPr>
            <p:cNvPr id="78" name="Rectangle 78"/>
            <p:cNvSpPr/>
            <p:nvPr/>
          </p:nvSpPr>
          <p:spPr>
            <a:xfrm>
              <a:off x="5166360" y="4943475"/>
              <a:ext cx="6492240" cy="1411605"/>
            </a:xfrm>
            <a:prstGeom prst="roundRect">
              <a:avLst>
                <a:gd name="adj" fmla="val 8097"/>
              </a:avLst>
            </a:prstGeom>
            <a:solidFill>
              <a:srgbClr val="F4F6FB"/>
            </a:solidFill>
            <a:ln>
              <a:noFill/>
            </a:ln>
          </p:spPr>
        </p:sp>
        <p:grpSp>
          <p:nvGrpSpPr>
            <p:cNvPr id="82" name="Group 82"/>
            <p:cNvGrpSpPr/>
            <p:nvPr/>
          </p:nvGrpSpPr>
          <p:grpSpPr>
            <a:xfrm>
              <a:off x="5371148" y="5549265"/>
              <a:ext cx="200026" cy="200026"/>
              <a:chOff x="5371148" y="5549265"/>
              <a:chExt cx="200026" cy="200026"/>
            </a:xfrm>
          </p:grpSpPr>
          <p:sp>
            <p:nvSpPr>
              <p:cNvPr id="79" name="Freeform 79"/>
              <p:cNvSpPr/>
              <p:nvPr/>
            </p:nvSpPr>
            <p:spPr>
              <a:xfrm>
                <a:off x="5371148" y="554926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80" name="Freeform 80"/>
              <p:cNvSpPr/>
              <p:nvPr/>
            </p:nvSpPr>
            <p:spPr>
              <a:xfrm>
                <a:off x="5471160" y="561594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81" name="Freeform 81"/>
              <p:cNvSpPr/>
              <p:nvPr/>
            </p:nvSpPr>
            <p:spPr>
              <a:xfrm>
                <a:off x="5460048" y="564927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83" name="TextBox 83"/>
            <p:cNvSpPr txBox="1"/>
            <p:nvPr/>
          </p:nvSpPr>
          <p:spPr>
            <a:xfrm>
              <a:off x="5674233" y="5443061"/>
              <a:ext cx="5466842"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1F2937"/>
                  </a:solidFill>
                  <a:latin typeface="+mn-lt"/>
                  <a:ea typeface="+mn-ea"/>
                  <a:cs typeface="+mn-cs"/>
                </a:rPr>
                <a:t>process() 是模板方法，方法体里就三句：takeNumber()、transact()、</a:t>
              </a:r>
              <a:br/>
              <a:r>
                <a:rPr lang="zh-CN" sz="1280" dirty="0">
                  <a:solidFill>
                    <a:srgbClr val="1F2937"/>
                  </a:solidFill>
                  <a:latin typeface="+mn-lt"/>
                  <a:ea typeface="+mn-ea"/>
                  <a:cs typeface="+mn-cs"/>
                </a:rPr>
                <a:t>evaluate()。</a:t>
              </a:r>
            </a:p>
          </p:txBody>
        </p:sp>
      </p:grpSp>
      <p:grpSp>
        <p:nvGrpSpPr>
          <p:cNvPr id="87" name="footer"/>
          <p:cNvGrpSpPr/>
          <p:nvPr/>
        </p:nvGrpSpPr>
        <p:grpSpPr>
          <a:xfrm>
            <a:off x="528447" y="6581299"/>
            <a:ext cx="11135106" cy="190690"/>
            <a:chOff x="528447" y="6581299"/>
            <a:chExt cx="11135106" cy="190690"/>
          </a:xfrm>
        </p:grpSpPr>
        <p:sp>
          <p:nvSpPr>
            <p:cNvPr id="85" name="TextBox 85"/>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86" name="TextBox 8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069782" cy="266700"/>
            </a:xfrm>
            <a:prstGeom prst="roundRect">
              <a:avLst>
                <a:gd name="adj" fmla="val 50000"/>
              </a:avLst>
            </a:prstGeom>
            <a:solidFill>
              <a:srgbClr val="EEEAF7"/>
            </a:solidFill>
            <a:ln>
              <a:noFill/>
            </a:ln>
          </p:spPr>
        </p:sp>
        <p:sp>
          <p:nvSpPr>
            <p:cNvPr id="3" name="TextBox 3"/>
            <p:cNvSpPr txBox="1"/>
            <p:nvPr/>
          </p:nvSpPr>
          <p:spPr>
            <a:xfrm>
              <a:off x="607331" y="407194"/>
              <a:ext cx="1922872"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两个完整实例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实例一代码：父类写流程，子类写业务</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11" name="c1-code-1"/>
          <p:cNvGrpSpPr/>
          <p:nvPr/>
        </p:nvGrpSpPr>
        <p:grpSpPr>
          <a:xfrm>
            <a:off x="533400" y="1524000"/>
            <a:ext cx="5951220" cy="2719388"/>
            <a:chOff x="533400" y="1524000"/>
            <a:chExt cx="5951220" cy="2719388"/>
          </a:xfrm>
        </p:grpSpPr>
        <p:sp>
          <p:nvSpPr>
            <p:cNvPr id="7" name="Rectangle 7"/>
            <p:cNvSpPr/>
            <p:nvPr/>
          </p:nvSpPr>
          <p:spPr>
            <a:xfrm>
              <a:off x="533400" y="1524000"/>
              <a:ext cx="5951220" cy="2719388"/>
            </a:xfrm>
            <a:prstGeom prst="roundRect">
              <a:avLst>
                <a:gd name="adj" fmla="val 3503"/>
              </a:avLst>
            </a:prstGeom>
            <a:solidFill>
              <a:srgbClr val="F6F8FA"/>
            </a:solidFill>
            <a:ln w="11430">
              <a:solidFill>
                <a:srgbClr val="D9DFEA"/>
              </a:solidFill>
            </a:ln>
          </p:spPr>
        </p:sp>
        <p:sp>
          <p:nvSpPr>
            <p:cNvPr id="8" name="TextBox 8"/>
            <p:cNvSpPr txBox="1"/>
            <p:nvPr/>
          </p:nvSpPr>
          <p:spPr>
            <a:xfrm>
              <a:off x="661797" y="1675924"/>
              <a:ext cx="1415206"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BankTemplateMethod</a:t>
              </a:r>
            </a:p>
          </p:txBody>
        </p:sp>
        <p:sp>
          <p:nvSpPr>
            <p:cNvPr id="9" name="Rectangle 9"/>
            <p:cNvSpPr/>
            <p:nvPr/>
          </p:nvSpPr>
          <p:spPr>
            <a:xfrm>
              <a:off x="552450" y="2180272"/>
              <a:ext cx="5913120" cy="138112"/>
            </a:xfrm>
            <a:prstGeom prst="rect">
              <a:avLst/>
            </a:prstGeom>
            <a:solidFill>
              <a:srgbClr val="FDEEE7"/>
            </a:solidFill>
            <a:ln>
              <a:noFill/>
            </a:ln>
          </p:spPr>
        </p:sp>
        <p:sp>
          <p:nvSpPr>
            <p:cNvPr id="10" name="TextBox 10"/>
            <p:cNvSpPr txBox="1"/>
            <p:nvPr/>
          </p:nvSpPr>
          <p:spPr>
            <a:xfrm>
              <a:off x="661988" y="1933861"/>
              <a:ext cx="2943733" cy="2222182"/>
            </a:xfrm>
            <a:prstGeom prst="rect">
              <a:avLst/>
            </a:prstGeom>
            <a:noFill/>
            <a:ln>
              <a:noFill/>
            </a:ln>
          </p:spPr>
          <p:txBody>
            <a:bodyPr wrap="none" lIns="0" tIns="0" rIns="0" bIns="0" anchor="t" anchorCtr="0">
              <a:spAutoFit/>
            </a:bodyPr>
            <a:lstStyle/>
            <a:p>
              <a:pPr algn="l">
                <a:lnSpc>
                  <a:spcPts val="1088"/>
                </a:lnSpc>
              </a:pPr>
              <a:r>
                <a:rPr lang="en-US" sz="760" b="1" dirty="0">
                  <a:solidFill>
                    <a:srgbClr val="5B3FA0"/>
                  </a:solidFill>
                  <a:latin typeface="Consolas"/>
                  <a:ea typeface="Consolas"/>
                  <a:cs typeface="Consolas"/>
                </a:rPr>
                <a:t>public</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abstract</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class</a:t>
              </a:r>
              <a:r>
                <a:rPr lang="en-US" sz="760" dirty="0">
                  <a:solidFill>
                    <a:srgbClr val="1F2937"/>
                  </a:solidFill>
                  <a:latin typeface="Consolas"/>
                  <a:ea typeface="Consolas"/>
                  <a:cs typeface="Consolas"/>
                </a:rPr>
                <a:t xml:space="preserve"> BankTemplateMethod {</a:t>
              </a:r>
              <a:br/>
              <a:r>
                <a:rPr lang="zh-CN" sz="760" dirty="0">
                  <a:solidFill>
                    <a:srgbClr val="1F2937"/>
                  </a:solidFill>
                  <a:latin typeface="Consolas"/>
                  <a:ea typeface="Consolas"/>
                  <a:cs typeface="Consolas"/>
                </a:rPr>
                <a:t xml:space="preserve">    </a:t>
              </a:r>
              <a:r>
                <a:rPr lang="zh-CN" sz="760" dirty="0">
                  <a:solidFill>
                    <a:srgbClr val="0F7A68"/>
                  </a:solidFill>
                  <a:latin typeface="Consolas"/>
                  <a:ea typeface="Microsoft YaHei"/>
                  <a:cs typeface="Consolas"/>
                </a:rPr>
                <a:t>/* 模板方法：三步的次序固定在这里 */</a:t>
              </a:r>
              <a:b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public</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final</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void</a:t>
              </a:r>
              <a:r>
                <a:rPr lang="en-US" sz="760" dirty="0">
                  <a:solidFill>
                    <a:srgbClr val="1F2937"/>
                  </a:solidFill>
                  <a:latin typeface="Consolas"/>
                  <a:ea typeface="Consolas"/>
                  <a:cs typeface="Consolas"/>
                </a:rPr>
                <a:t xml:space="preserve"> process() {</a:t>
              </a:r>
              <a:br/>
              <a:r>
                <a:rPr lang="en-US" sz="760" dirty="0">
                  <a:solidFill>
                    <a:srgbClr val="1F2937"/>
                  </a:solidFill>
                  <a:latin typeface="Consolas"/>
                  <a:ea typeface="Consolas"/>
                  <a:cs typeface="Consolas"/>
                </a:rPr>
                <a:t xml:space="preserve">        takeNumber();</a:t>
              </a:r>
              <a:br/>
              <a:r>
                <a:rPr lang="en-US" sz="760" dirty="0">
                  <a:solidFill>
                    <a:srgbClr val="1F2937"/>
                  </a:solidFill>
                  <a:latin typeface="Consolas"/>
                  <a:ea typeface="Consolas"/>
                  <a:cs typeface="Consolas"/>
                </a:rPr>
                <a:t xml:space="preserve">        transact();</a:t>
              </a:r>
              <a:br/>
              <a:r>
                <a:rPr lang="en-US" sz="760" dirty="0">
                  <a:solidFill>
                    <a:srgbClr val="1F2937"/>
                  </a:solidFill>
                  <a:latin typeface="Consolas"/>
                  <a:ea typeface="Consolas"/>
                  <a:cs typeface="Consolas"/>
                </a:rPr>
                <a:t xml:space="preserve">        evaluate();</a:t>
              </a:r>
              <a:br/>
              <a:r>
                <a:rPr lang="zh-CN" sz="760" dirty="0">
                  <a:solidFill>
                    <a:srgbClr val="1F2937"/>
                  </a:solidFill>
                  <a:latin typeface="Consolas"/>
                  <a:ea typeface="Consolas"/>
                  <a:cs typeface="Consolas"/>
                </a:rPr>
                <a:t xml:space="preserve">    }</a:t>
              </a:r>
              <a:b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public</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void</a:t>
              </a:r>
              <a:r>
                <a:rPr lang="en-US" sz="760" dirty="0">
                  <a:solidFill>
                    <a:srgbClr val="1F2937"/>
                  </a:solidFill>
                  <a:latin typeface="Consolas"/>
                  <a:ea typeface="Consolas"/>
                  <a:cs typeface="Consolas"/>
                </a:rPr>
                <a:t xml:space="preserve"> takeNumber() {            </a:t>
              </a:r>
              <a:r>
                <a:rPr lang="zh-CN" sz="760" dirty="0">
                  <a:solidFill>
                    <a:srgbClr val="0F7A68"/>
                  </a:solidFill>
                  <a:latin typeface="Consolas"/>
                  <a:ea typeface="Microsoft YaHei"/>
                  <a:cs typeface="Consolas"/>
                </a:rPr>
                <a:t>/* 具体方法 */</a:t>
              </a:r>
              <a:br/>
              <a:r>
                <a:rPr lang="en-US" sz="760" dirty="0">
                  <a:solidFill>
                    <a:srgbClr val="1F2937"/>
                  </a:solidFill>
                  <a:latin typeface="Consolas"/>
                  <a:ea typeface="Consolas"/>
                  <a:cs typeface="Consolas"/>
                </a:rPr>
                <a:t xml:space="preserve">        System.out.println(</a:t>
              </a:r>
              <a:r>
                <a:rPr lang="zh-CN" sz="760" dirty="0">
                  <a:solidFill>
                    <a:srgbClr val="C2410C"/>
                  </a:solidFill>
                  <a:latin typeface="Consolas"/>
                  <a:ea typeface="Microsoft YaHei"/>
                  <a:cs typeface="Consolas"/>
                </a:rPr>
                <a:t>"取号排队"</a:t>
              </a:r>
              <a:r>
                <a:rPr lang="zh-CN" sz="760" dirty="0">
                  <a:solidFill>
                    <a:srgbClr val="1F2937"/>
                  </a:solidFill>
                  <a:latin typeface="Consolas"/>
                  <a:ea typeface="Consolas"/>
                  <a:cs typeface="Consolas"/>
                </a:rPr>
                <a:t>);</a:t>
              </a:r>
              <a:br/>
              <a:r>
                <a:rPr lang="zh-CN" sz="760" dirty="0">
                  <a:solidFill>
                    <a:srgbClr val="1F2937"/>
                  </a:solidFill>
                  <a:latin typeface="Consolas"/>
                  <a:ea typeface="Consolas"/>
                  <a:cs typeface="Consolas"/>
                </a:rPr>
                <a:t xml:space="preserve">    }</a:t>
              </a:r>
              <a:br/>
              <a:r>
                <a:rPr lang="zh-CN" sz="760" dirty="0">
                  <a:solidFill>
                    <a:srgbClr val="1F2937"/>
                  </a:solidFill>
                  <a:latin typeface="Consolas"/>
                  <a:ea typeface="Consolas"/>
                  <a:cs typeface="Consolas"/>
                </a:rPr>
                <a:t xml:space="preserve">    </a:t>
              </a:r>
              <a:r>
                <a:rPr lang="zh-CN" sz="760" dirty="0">
                  <a:solidFill>
                    <a:srgbClr val="0F7A68"/>
                  </a:solidFill>
                  <a:latin typeface="Consolas"/>
                  <a:ea typeface="Microsoft YaHei"/>
                  <a:cs typeface="Consolas"/>
                </a:rPr>
                <a:t>/* 抽象方法：各类业务自己实现 */</a:t>
              </a:r>
              <a:b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public</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abstract</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void</a:t>
              </a:r>
              <a:r>
                <a:rPr lang="en-US" sz="760" dirty="0">
                  <a:solidFill>
                    <a:srgbClr val="1F2937"/>
                  </a:solidFill>
                  <a:latin typeface="Consolas"/>
                  <a:ea typeface="Consolas"/>
                  <a:cs typeface="Consolas"/>
                </a:rPr>
                <a:t xml:space="preserve"> transact();</a:t>
              </a:r>
              <a:b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public</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void</a:t>
              </a:r>
              <a:r>
                <a:rPr lang="en-US" sz="760" dirty="0">
                  <a:solidFill>
                    <a:srgbClr val="1F2937"/>
                  </a:solidFill>
                  <a:latin typeface="Consolas"/>
                  <a:ea typeface="Consolas"/>
                  <a:cs typeface="Consolas"/>
                </a:rPr>
                <a:t xml:space="preserve"> evaluate() {              </a:t>
              </a:r>
              <a:r>
                <a:rPr lang="zh-CN" sz="760" dirty="0">
                  <a:solidFill>
                    <a:srgbClr val="0F7A68"/>
                  </a:solidFill>
                  <a:latin typeface="Consolas"/>
                  <a:ea typeface="Microsoft YaHei"/>
                  <a:cs typeface="Consolas"/>
                </a:rPr>
                <a:t>/* 具体方法 */</a:t>
              </a:r>
              <a:br/>
              <a:r>
                <a:rPr lang="en-US" sz="760" dirty="0">
                  <a:solidFill>
                    <a:srgbClr val="1F2937"/>
                  </a:solidFill>
                  <a:latin typeface="Consolas"/>
                  <a:ea typeface="Consolas"/>
                  <a:cs typeface="Consolas"/>
                </a:rPr>
                <a:t xml:space="preserve">        System.out.println(</a:t>
              </a:r>
              <a:r>
                <a:rPr lang="zh-CN" sz="760" dirty="0">
                  <a:solidFill>
                    <a:srgbClr val="C2410C"/>
                  </a:solidFill>
                  <a:latin typeface="Consolas"/>
                  <a:ea typeface="Microsoft YaHei"/>
                  <a:cs typeface="Consolas"/>
                </a:rPr>
                <a:t>"对工作人员进行评分"</a:t>
              </a:r>
              <a:r>
                <a:rPr lang="zh-CN" sz="760" dirty="0">
                  <a:solidFill>
                    <a:srgbClr val="1F2937"/>
                  </a:solidFill>
                  <a:latin typeface="Consolas"/>
                  <a:ea typeface="Consolas"/>
                  <a:cs typeface="Consolas"/>
                </a:rPr>
                <a:t>);</a:t>
              </a:r>
              <a:br/>
              <a:r>
                <a:rPr lang="zh-CN" sz="760" dirty="0">
                  <a:solidFill>
                    <a:srgbClr val="1F2937"/>
                  </a:solidFill>
                  <a:latin typeface="Consolas"/>
                  <a:ea typeface="Consolas"/>
                  <a:cs typeface="Consolas"/>
                </a:rPr>
                <a:t xml:space="preserve">    }</a:t>
              </a:r>
              <a:br/>
              <a:r>
                <a:rPr lang="zh-CN" sz="760" dirty="0">
                  <a:solidFill>
                    <a:srgbClr val="1F2937"/>
                  </a:solidFill>
                  <a:latin typeface="Consolas"/>
                  <a:ea typeface="Consolas"/>
                  <a:cs typeface="Consolas"/>
                </a:rPr>
                <a:t>}</a:t>
              </a:r>
            </a:p>
          </p:txBody>
        </p:sp>
      </p:grpSp>
      <p:grpSp>
        <p:nvGrpSpPr>
          <p:cNvPr id="18" name="c1-card-2"/>
          <p:cNvGrpSpPr/>
          <p:nvPr/>
        </p:nvGrpSpPr>
        <p:grpSpPr>
          <a:xfrm>
            <a:off x="533400" y="4408170"/>
            <a:ext cx="5951220" cy="917258"/>
            <a:chOff x="533400" y="4408170"/>
            <a:chExt cx="5951220" cy="917258"/>
          </a:xfrm>
        </p:grpSpPr>
        <p:sp>
          <p:nvSpPr>
            <p:cNvPr id="12" name="Rectangle 12"/>
            <p:cNvSpPr/>
            <p:nvPr/>
          </p:nvSpPr>
          <p:spPr>
            <a:xfrm>
              <a:off x="533400" y="4408170"/>
              <a:ext cx="5951220" cy="917258"/>
            </a:xfrm>
            <a:prstGeom prst="roundRect">
              <a:avLst>
                <a:gd name="adj" fmla="val 14538"/>
              </a:avLst>
            </a:prstGeom>
            <a:solidFill>
              <a:srgbClr val="FFFFFF"/>
            </a:solidFill>
            <a:ln w="14288">
              <a:solidFill>
                <a:srgbClr val="D9DFEA"/>
              </a:solidFill>
            </a:ln>
          </p:spPr>
        </p:sp>
        <p:sp>
          <p:nvSpPr>
            <p:cNvPr id="13" name="Rectangle 13"/>
            <p:cNvSpPr/>
            <p:nvPr/>
          </p:nvSpPr>
          <p:spPr>
            <a:xfrm>
              <a:off x="542925" y="4541520"/>
              <a:ext cx="47625" cy="650558"/>
            </a:xfrm>
            <a:prstGeom prst="roundRect">
              <a:avLst>
                <a:gd name="adj" fmla="val 50000"/>
              </a:avLst>
            </a:prstGeom>
            <a:solidFill>
              <a:srgbClr val="5B6475"/>
            </a:solidFill>
            <a:ln>
              <a:noFill/>
            </a:ln>
          </p:spPr>
        </p:sp>
        <p:sp>
          <p:nvSpPr>
            <p:cNvPr id="14" name="Rectangle 14"/>
            <p:cNvSpPr/>
            <p:nvPr/>
          </p:nvSpPr>
          <p:spPr>
            <a:xfrm>
              <a:off x="752475" y="4589145"/>
              <a:ext cx="831532" cy="238125"/>
            </a:xfrm>
            <a:prstGeom prst="roundRect">
              <a:avLst>
                <a:gd name="adj" fmla="val 50000"/>
              </a:avLst>
            </a:prstGeom>
            <a:solidFill>
              <a:srgbClr val="F4F6FB"/>
            </a:solidFill>
            <a:ln>
              <a:noFill/>
            </a:ln>
          </p:spPr>
        </p:sp>
        <p:sp>
          <p:nvSpPr>
            <p:cNvPr id="15" name="TextBox 15"/>
            <p:cNvSpPr txBox="1"/>
            <p:nvPr/>
          </p:nvSpPr>
          <p:spPr>
            <a:xfrm>
              <a:off x="833946" y="4622006"/>
              <a:ext cx="669544"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对照上一节</a:t>
              </a:r>
            </a:p>
          </p:txBody>
        </p:sp>
        <p:sp>
          <p:nvSpPr>
            <p:cNvPr id="16" name="TextBox 16"/>
            <p:cNvSpPr txBox="1"/>
            <p:nvPr/>
          </p:nvSpPr>
          <p:spPr>
            <a:xfrm>
              <a:off x="1691830" y="4628674"/>
              <a:ext cx="242534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三种基本方法在这里出现了两种</a:t>
              </a:r>
            </a:p>
          </p:txBody>
        </p:sp>
        <p:sp>
          <p:nvSpPr>
            <p:cNvPr id="17" name="TextBox 17"/>
            <p:cNvSpPr txBox="1"/>
            <p:nvPr/>
          </p:nvSpPr>
          <p:spPr>
            <a:xfrm>
              <a:off x="745998" y="4945856"/>
              <a:ext cx="5387155" cy="249364"/>
            </a:xfrm>
            <a:prstGeom prst="rect">
              <a:avLst/>
            </a:prstGeom>
            <a:noFill/>
            <a:ln>
              <a:noFill/>
            </a:ln>
          </p:spPr>
          <p:txBody>
            <a:bodyPr wrap="none" lIns="0" tIns="0" rIns="0" bIns="0" anchor="t" anchorCtr="0">
              <a:spAutoFit/>
            </a:bodyPr>
            <a:lstStyle/>
            <a:p>
              <a:pPr algn="l"/>
              <a:r>
                <a:rPr lang="en-US" sz="1280" dirty="0">
                  <a:solidFill>
                    <a:srgbClr val="462F80"/>
                  </a:solidFill>
                  <a:latin typeface="+mn-lt"/>
                  <a:ea typeface="+mn-ea"/>
                  <a:cs typeface="+mn-cs"/>
                </a:rPr>
                <a:t>takeNumber()</a:t>
              </a:r>
              <a:r>
                <a:rPr lang="zh-CN" sz="1280" dirty="0">
                  <a:solidFill>
                    <a:srgbClr val="1F2937"/>
                  </a:solidFill>
                  <a:latin typeface="+mn-lt"/>
                  <a:ea typeface="+mn-ea"/>
                  <a:cs typeface="+mn-cs"/>
                </a:rPr>
                <a:t>、</a:t>
              </a:r>
              <a:r>
                <a:rPr lang="en-US" sz="1280" dirty="0">
                  <a:solidFill>
                    <a:srgbClr val="462F80"/>
                  </a:solidFill>
                  <a:latin typeface="+mn-lt"/>
                  <a:ea typeface="+mn-ea"/>
                  <a:cs typeface="+mn-cs"/>
                </a:rPr>
                <a:t>evaluate()</a:t>
              </a:r>
              <a:r>
                <a:rPr lang="zh-CN" sz="1280" dirty="0">
                  <a:solidFill>
                    <a:srgbClr val="1F2937"/>
                  </a:solidFill>
                  <a:latin typeface="+mn-lt"/>
                  <a:ea typeface="+mn-ea"/>
                  <a:cs typeface="+mn-cs"/>
                </a:rPr>
                <a:t xml:space="preserve"> 是具体方法，</a:t>
              </a:r>
              <a:r>
                <a:rPr lang="en-US" sz="1280" dirty="0">
                  <a:solidFill>
                    <a:srgbClr val="462F80"/>
                  </a:solidFill>
                  <a:latin typeface="+mn-lt"/>
                  <a:ea typeface="+mn-ea"/>
                  <a:cs typeface="+mn-cs"/>
                </a:rPr>
                <a:t>transact()</a:t>
              </a:r>
              <a:r>
                <a:rPr lang="zh-CN" sz="1280" dirty="0">
                  <a:solidFill>
                    <a:srgbClr val="1F2937"/>
                  </a:solidFill>
                  <a:latin typeface="+mn-lt"/>
                  <a:ea typeface="+mn-ea"/>
                  <a:cs typeface="+mn-cs"/>
                </a:rPr>
                <a:t xml:space="preserve"> 是抽象方法。</a:t>
              </a:r>
            </a:p>
          </p:txBody>
        </p:sp>
      </p:grpSp>
      <p:grpSp>
        <p:nvGrpSpPr>
          <p:cNvPr id="24" name="c1-callout-3"/>
          <p:cNvGrpSpPr/>
          <p:nvPr/>
        </p:nvGrpSpPr>
        <p:grpSpPr>
          <a:xfrm>
            <a:off x="533400" y="5490210"/>
            <a:ext cx="5951220" cy="702945"/>
            <a:chOff x="533400" y="5490210"/>
            <a:chExt cx="5951220" cy="702945"/>
          </a:xfrm>
        </p:grpSpPr>
        <p:sp>
          <p:nvSpPr>
            <p:cNvPr id="19" name="Rectangle 19"/>
            <p:cNvSpPr/>
            <p:nvPr/>
          </p:nvSpPr>
          <p:spPr>
            <a:xfrm>
              <a:off x="533400" y="5490210"/>
              <a:ext cx="5951220" cy="702945"/>
            </a:xfrm>
            <a:prstGeom prst="roundRect">
              <a:avLst>
                <a:gd name="adj" fmla="val 16260"/>
              </a:avLst>
            </a:prstGeom>
            <a:solidFill>
              <a:srgbClr val="5B3FA0"/>
            </a:solidFill>
            <a:ln>
              <a:noFill/>
            </a:ln>
          </p:spPr>
        </p:sp>
        <p:grpSp>
          <p:nvGrpSpPr>
            <p:cNvPr id="22" name="Group 22"/>
            <p:cNvGrpSpPr/>
            <p:nvPr/>
          </p:nvGrpSpPr>
          <p:grpSpPr>
            <a:xfrm>
              <a:off x="738188" y="5741672"/>
              <a:ext cx="200023" cy="200023"/>
              <a:chOff x="738188" y="5741672"/>
              <a:chExt cx="200023" cy="200023"/>
            </a:xfrm>
          </p:grpSpPr>
          <p:sp>
            <p:nvSpPr>
              <p:cNvPr id="20" name="Freeform 20"/>
              <p:cNvSpPr/>
              <p:nvPr/>
            </p:nvSpPr>
            <p:spPr>
              <a:xfrm>
                <a:off x="738188" y="5741672"/>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21" name="Freeform 21"/>
              <p:cNvSpPr/>
              <p:nvPr/>
            </p:nvSpPr>
            <p:spPr>
              <a:xfrm>
                <a:off x="871538" y="5808345"/>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23" name="TextBox 23"/>
            <p:cNvSpPr txBox="1"/>
            <p:nvPr/>
          </p:nvSpPr>
          <p:spPr>
            <a:xfrm>
              <a:off x="1041273" y="5635466"/>
              <a:ext cx="493039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process() 里那三句就是这个业务流程的全部次序，三个子类谁也改</a:t>
              </a:r>
              <a:br/>
              <a:r>
                <a:rPr lang="zh-CN" sz="1280" dirty="0">
                  <a:solidFill>
                    <a:srgbClr val="FFFFFF"/>
                  </a:solidFill>
                  <a:latin typeface="+mn-lt"/>
                  <a:ea typeface="+mn-ea"/>
                  <a:cs typeface="+mn-cs"/>
                </a:rPr>
                <a:t>不了它。</a:t>
              </a:r>
            </a:p>
          </p:txBody>
        </p:sp>
      </p:grpSp>
      <p:grpSp>
        <p:nvGrpSpPr>
          <p:cNvPr id="28" name="c2-code-1"/>
          <p:cNvGrpSpPr/>
          <p:nvPr/>
        </p:nvGrpSpPr>
        <p:grpSpPr>
          <a:xfrm>
            <a:off x="6789420" y="1524000"/>
            <a:ext cx="4869180" cy="3050858"/>
            <a:chOff x="6789420" y="1524000"/>
            <a:chExt cx="4869180" cy="3050858"/>
          </a:xfrm>
        </p:grpSpPr>
        <p:sp>
          <p:nvSpPr>
            <p:cNvPr id="25" name="Rectangle 25"/>
            <p:cNvSpPr/>
            <p:nvPr/>
          </p:nvSpPr>
          <p:spPr>
            <a:xfrm>
              <a:off x="6789420" y="1524000"/>
              <a:ext cx="4869180" cy="3050858"/>
            </a:xfrm>
            <a:prstGeom prst="roundRect">
              <a:avLst>
                <a:gd name="adj" fmla="val 3122"/>
              </a:avLst>
            </a:prstGeom>
            <a:solidFill>
              <a:srgbClr val="F6F8FA"/>
            </a:solidFill>
            <a:ln w="11430">
              <a:solidFill>
                <a:srgbClr val="D9DFEA"/>
              </a:solidFill>
            </a:ln>
          </p:spPr>
        </p:sp>
        <p:sp>
          <p:nvSpPr>
            <p:cNvPr id="26" name="TextBox 26"/>
            <p:cNvSpPr txBox="1"/>
            <p:nvPr/>
          </p:nvSpPr>
          <p:spPr>
            <a:xfrm>
              <a:off x="6917817" y="1675924"/>
              <a:ext cx="801472"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三个具体子类</a:t>
              </a:r>
            </a:p>
          </p:txBody>
        </p:sp>
        <p:sp>
          <p:nvSpPr>
            <p:cNvPr id="27" name="TextBox 27"/>
            <p:cNvSpPr txBox="1"/>
            <p:nvPr/>
          </p:nvSpPr>
          <p:spPr>
            <a:xfrm>
              <a:off x="6918008" y="1935004"/>
              <a:ext cx="2873375" cy="2554605"/>
            </a:xfrm>
            <a:prstGeom prst="rect">
              <a:avLst/>
            </a:prstGeom>
            <a:noFill/>
            <a:ln>
              <a:noFill/>
            </a:ln>
          </p:spPr>
          <p:txBody>
            <a:bodyPr wrap="none" lIns="0" tIns="0" rIns="0" bIns="0" anchor="t" anchorCtr="0">
              <a:spAutoFit/>
            </a:bodyPr>
            <a:lstStyle/>
            <a:p>
              <a:pPr algn="l">
                <a:lnSpc>
                  <a:spcPts val="1178"/>
                </a:lnSpc>
              </a:pP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class</a:t>
              </a:r>
              <a:r>
                <a:rPr lang="en-US" sz="820" dirty="0">
                  <a:solidFill>
                    <a:srgbClr val="1F2937"/>
                  </a:solidFill>
                  <a:latin typeface="Consolas"/>
                  <a:ea typeface="Consolas"/>
                  <a:cs typeface="Consolas"/>
                </a:rPr>
                <a:t xml:space="preserve"> Deposit </a:t>
              </a:r>
              <a:r>
                <a:rPr lang="en-US" sz="820" b="1" dirty="0">
                  <a:solidFill>
                    <a:srgbClr val="5B3FA0"/>
                  </a:solidFill>
                  <a:latin typeface="Consolas"/>
                  <a:ea typeface="Consolas"/>
                  <a:cs typeface="Consolas"/>
                </a:rPr>
                <a:t>extends</a:t>
              </a:r>
              <a:r>
                <a:rPr lang="en-US" sz="820" dirty="0">
                  <a:solidFill>
                    <a:srgbClr val="1F2937"/>
                  </a:solidFill>
                  <a:latin typeface="Consolas"/>
                  <a:ea typeface="Consolas"/>
                  <a:cs typeface="Consolas"/>
                </a:rPr>
                <a:t xml:space="preserve"> BankTemplateMethod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transact() {</a:t>
              </a:r>
              <a:br/>
              <a:r>
                <a:rPr lang="en-US" sz="820" dirty="0">
                  <a:solidFill>
                    <a:srgbClr val="1F2937"/>
                  </a:solidFill>
                  <a:latin typeface="Consolas"/>
                  <a:ea typeface="Consolas"/>
                  <a:cs typeface="Consolas"/>
                </a:rPr>
                <a:t xml:space="preserve">        System.out.println(</a:t>
              </a:r>
              <a:r>
                <a:rPr lang="zh-CN" sz="820" dirty="0">
                  <a:solidFill>
                    <a:srgbClr val="C2410C"/>
                  </a:solidFill>
                  <a:latin typeface="Consolas"/>
                  <a:ea typeface="Microsoft YaHei"/>
                  <a:cs typeface="Consolas"/>
                </a:rPr>
                <a:t>"存款"</a:t>
              </a: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b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class</a:t>
              </a:r>
              <a:r>
                <a:rPr lang="en-US" sz="820" dirty="0">
                  <a:solidFill>
                    <a:srgbClr val="1F2937"/>
                  </a:solidFill>
                  <a:latin typeface="Consolas"/>
                  <a:ea typeface="Consolas"/>
                  <a:cs typeface="Consolas"/>
                </a:rPr>
                <a:t xml:space="preserve"> Withdraw </a:t>
              </a:r>
              <a:r>
                <a:rPr lang="en-US" sz="820" b="1" dirty="0">
                  <a:solidFill>
                    <a:srgbClr val="5B3FA0"/>
                  </a:solidFill>
                  <a:latin typeface="Consolas"/>
                  <a:ea typeface="Consolas"/>
                  <a:cs typeface="Consolas"/>
                </a:rPr>
                <a:t>extends</a:t>
              </a:r>
              <a:r>
                <a:rPr lang="en-US" sz="820" dirty="0">
                  <a:solidFill>
                    <a:srgbClr val="1F2937"/>
                  </a:solidFill>
                  <a:latin typeface="Consolas"/>
                  <a:ea typeface="Consolas"/>
                  <a:cs typeface="Consolas"/>
                </a:rPr>
                <a:t xml:space="preserve"> BankTemplateMethod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transact() {</a:t>
              </a:r>
              <a:br/>
              <a:r>
                <a:rPr lang="en-US" sz="820" dirty="0">
                  <a:solidFill>
                    <a:srgbClr val="1F2937"/>
                  </a:solidFill>
                  <a:latin typeface="Consolas"/>
                  <a:ea typeface="Consolas"/>
                  <a:cs typeface="Consolas"/>
                </a:rPr>
                <a:t xml:space="preserve">        System.out.println(</a:t>
              </a:r>
              <a:r>
                <a:rPr lang="zh-CN" sz="820" dirty="0">
                  <a:solidFill>
                    <a:srgbClr val="C2410C"/>
                  </a:solidFill>
                  <a:latin typeface="Consolas"/>
                  <a:ea typeface="Microsoft YaHei"/>
                  <a:cs typeface="Consolas"/>
                </a:rPr>
                <a:t>"取款"</a:t>
              </a: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b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class</a:t>
              </a:r>
              <a:r>
                <a:rPr lang="en-US" sz="820" dirty="0">
                  <a:solidFill>
                    <a:srgbClr val="1F2937"/>
                  </a:solidFill>
                  <a:latin typeface="Consolas"/>
                  <a:ea typeface="Consolas"/>
                  <a:cs typeface="Consolas"/>
                </a:rPr>
                <a:t xml:space="preserve"> Transfer </a:t>
              </a:r>
              <a:r>
                <a:rPr lang="en-US" sz="820" b="1" dirty="0">
                  <a:solidFill>
                    <a:srgbClr val="5B3FA0"/>
                  </a:solidFill>
                  <a:latin typeface="Consolas"/>
                  <a:ea typeface="Consolas"/>
                  <a:cs typeface="Consolas"/>
                </a:rPr>
                <a:t>extends</a:t>
              </a:r>
              <a:r>
                <a:rPr lang="en-US" sz="820" dirty="0">
                  <a:solidFill>
                    <a:srgbClr val="1F2937"/>
                  </a:solidFill>
                  <a:latin typeface="Consolas"/>
                  <a:ea typeface="Consolas"/>
                  <a:cs typeface="Consolas"/>
                </a:rPr>
                <a:t xml:space="preserve"> BankTemplateMethod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transact() {</a:t>
              </a:r>
              <a:br/>
              <a:r>
                <a:rPr lang="en-US" sz="820" dirty="0">
                  <a:solidFill>
                    <a:srgbClr val="1F2937"/>
                  </a:solidFill>
                  <a:latin typeface="Consolas"/>
                  <a:ea typeface="Consolas"/>
                  <a:cs typeface="Consolas"/>
                </a:rPr>
                <a:t xml:space="preserve">        System.out.println(</a:t>
              </a:r>
              <a:r>
                <a:rPr lang="zh-CN" sz="820" dirty="0">
                  <a:solidFill>
                    <a:srgbClr val="C2410C"/>
                  </a:solidFill>
                  <a:latin typeface="Consolas"/>
                  <a:ea typeface="Microsoft YaHei"/>
                  <a:cs typeface="Consolas"/>
                </a:rPr>
                <a:t>"转账"</a:t>
              </a: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a:t>
              </a:r>
            </a:p>
          </p:txBody>
        </p:sp>
      </p:grpSp>
      <p:grpSp>
        <p:nvGrpSpPr>
          <p:cNvPr id="34" name="c2-callout-2"/>
          <p:cNvGrpSpPr/>
          <p:nvPr/>
        </p:nvGrpSpPr>
        <p:grpSpPr>
          <a:xfrm>
            <a:off x="6789420" y="4739640"/>
            <a:ext cx="4869180" cy="1453515"/>
            <a:chOff x="6789420" y="4739640"/>
            <a:chExt cx="4869180" cy="1453515"/>
          </a:xfrm>
        </p:grpSpPr>
        <p:sp>
          <p:nvSpPr>
            <p:cNvPr id="29" name="Rectangle 29"/>
            <p:cNvSpPr/>
            <p:nvPr/>
          </p:nvSpPr>
          <p:spPr>
            <a:xfrm>
              <a:off x="6789420" y="4739640"/>
              <a:ext cx="4869180" cy="1453515"/>
            </a:xfrm>
            <a:prstGeom prst="roundRect">
              <a:avLst>
                <a:gd name="adj" fmla="val 7864"/>
              </a:avLst>
            </a:prstGeom>
            <a:solidFill>
              <a:srgbClr val="5B3FA0"/>
            </a:solidFill>
            <a:ln>
              <a:noFill/>
            </a:ln>
          </p:spPr>
        </p:sp>
        <p:grpSp>
          <p:nvGrpSpPr>
            <p:cNvPr id="32" name="Group 32"/>
            <p:cNvGrpSpPr/>
            <p:nvPr/>
          </p:nvGrpSpPr>
          <p:grpSpPr>
            <a:xfrm>
              <a:off x="6994208" y="5366387"/>
              <a:ext cx="200023" cy="200023"/>
              <a:chOff x="6994208" y="5366387"/>
              <a:chExt cx="200023" cy="200023"/>
            </a:xfrm>
          </p:grpSpPr>
          <p:sp>
            <p:nvSpPr>
              <p:cNvPr id="30" name="Freeform 30"/>
              <p:cNvSpPr/>
              <p:nvPr/>
            </p:nvSpPr>
            <p:spPr>
              <a:xfrm>
                <a:off x="6994208" y="536638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1" name="Freeform 31"/>
              <p:cNvSpPr/>
              <p:nvPr/>
            </p:nvSpPr>
            <p:spPr>
              <a:xfrm>
                <a:off x="7127558" y="543306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3" name="TextBox 33"/>
            <p:cNvSpPr txBox="1"/>
            <p:nvPr/>
          </p:nvSpPr>
          <p:spPr>
            <a:xfrm>
              <a:off x="7297293" y="5260181"/>
              <a:ext cx="391439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FFFFFF"/>
                  </a:solidFill>
                  <a:latin typeface="+mn-lt"/>
                  <a:ea typeface="+mn-ea"/>
                  <a:cs typeface="+mn-cs"/>
                </a:rPr>
                <a:t>三个子类各自只有一个方法。取号和评分的代码，整个</a:t>
              </a:r>
              <a:br/>
              <a:r>
                <a:rPr lang="zh-CN" sz="1280" dirty="0">
                  <a:solidFill>
                    <a:srgbClr val="FFFFFF"/>
                  </a:solidFill>
                  <a:latin typeface="+mn-lt"/>
                  <a:ea typeface="+mn-ea"/>
                  <a:cs typeface="+mn-cs"/>
                </a:rPr>
                <a:t>系统里只存在一份。</a:t>
              </a:r>
            </a:p>
          </p:txBody>
        </p:sp>
      </p:grpSp>
      <p:grpSp>
        <p:nvGrpSpPr>
          <p:cNvPr id="37" name="footer"/>
          <p:cNvGrpSpPr/>
          <p:nvPr/>
        </p:nvGrpSpPr>
        <p:grpSpPr>
          <a:xfrm>
            <a:off x="528447" y="6581299"/>
            <a:ext cx="11135106" cy="190690"/>
            <a:chOff x="528447" y="6581299"/>
            <a:chExt cx="11135106" cy="190690"/>
          </a:xfrm>
        </p:grpSpPr>
        <p:sp>
          <p:nvSpPr>
            <p:cNvPr id="35" name="TextBox 35"/>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36" name="TextBox 3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19</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2069782" cy="266700"/>
            </a:xfrm>
            <a:prstGeom prst="roundRect">
              <a:avLst>
                <a:gd name="adj" fmla="val 50000"/>
              </a:avLst>
            </a:prstGeom>
            <a:solidFill>
              <a:srgbClr val="EEEAF7"/>
            </a:solidFill>
            <a:ln>
              <a:noFill/>
            </a:ln>
          </p:spPr>
        </p:sp>
        <p:sp>
          <p:nvSpPr>
            <p:cNvPr id="3" name="TextBox 3"/>
            <p:cNvSpPr txBox="1"/>
            <p:nvPr/>
          </p:nvSpPr>
          <p:spPr>
            <a:xfrm>
              <a:off x="607331" y="407194"/>
              <a:ext cx="1922872"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两个完整实例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实例一：客户端、输出与一个钩子扩展</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10" name="c1-code-1"/>
          <p:cNvGrpSpPr/>
          <p:nvPr/>
        </p:nvGrpSpPr>
        <p:grpSpPr>
          <a:xfrm>
            <a:off x="533400" y="1524000"/>
            <a:ext cx="5626418" cy="2154555"/>
            <a:chOff x="533400" y="1524000"/>
            <a:chExt cx="5626418" cy="2154555"/>
          </a:xfrm>
        </p:grpSpPr>
        <p:sp>
          <p:nvSpPr>
            <p:cNvPr id="7" name="Rectangle 7"/>
            <p:cNvSpPr/>
            <p:nvPr/>
          </p:nvSpPr>
          <p:spPr>
            <a:xfrm>
              <a:off x="533400" y="1524000"/>
              <a:ext cx="5626418" cy="2154555"/>
            </a:xfrm>
            <a:prstGeom prst="roundRect">
              <a:avLst>
                <a:gd name="adj" fmla="val 4421"/>
              </a:avLst>
            </a:prstGeom>
            <a:solidFill>
              <a:srgbClr val="F6F8FA"/>
            </a:solidFill>
            <a:ln w="11430">
              <a:solidFill>
                <a:srgbClr val="D9DFEA"/>
              </a:solidFill>
            </a:ln>
          </p:spPr>
        </p:sp>
        <p:sp>
          <p:nvSpPr>
            <p:cNvPr id="8" name="TextBox 8"/>
            <p:cNvSpPr txBox="1"/>
            <p:nvPr/>
          </p:nvSpPr>
          <p:spPr>
            <a:xfrm>
              <a:off x="661797" y="1675924"/>
              <a:ext cx="401432"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Client</a:t>
              </a:r>
            </a:p>
          </p:txBody>
        </p:sp>
        <p:sp>
          <p:nvSpPr>
            <p:cNvPr id="9" name="TextBox 9"/>
            <p:cNvSpPr txBox="1"/>
            <p:nvPr/>
          </p:nvSpPr>
          <p:spPr>
            <a:xfrm>
              <a:off x="661988" y="1935004"/>
              <a:ext cx="3388868" cy="1657350"/>
            </a:xfrm>
            <a:prstGeom prst="rect">
              <a:avLst/>
            </a:prstGeom>
            <a:noFill/>
            <a:ln>
              <a:noFill/>
            </a:ln>
          </p:spPr>
          <p:txBody>
            <a:bodyPr wrap="none" lIns="0" tIns="0" rIns="0" bIns="0" anchor="t" anchorCtr="0">
              <a:spAutoFit/>
            </a:bodyPr>
            <a:lstStyle/>
            <a:p>
              <a:pPr algn="l">
                <a:lnSpc>
                  <a:spcPts val="1178"/>
                </a:lnSpc>
              </a:pP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class</a:t>
              </a:r>
              <a:r>
                <a:rPr lang="en-US" sz="820" dirty="0">
                  <a:solidFill>
                    <a:srgbClr val="1F2937"/>
                  </a:solidFill>
                  <a:latin typeface="Consolas"/>
                  <a:ea typeface="Consolas"/>
                  <a:cs typeface="Consolas"/>
                </a:rPr>
                <a:t xml:space="preserve"> Client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static</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main(String[] args) {</a:t>
              </a:r>
              <a:br/>
              <a:r>
                <a:rPr lang="en-US" sz="820" dirty="0">
                  <a:solidFill>
                    <a:srgbClr val="1F2937"/>
                  </a:solidFill>
                  <a:latin typeface="Consolas"/>
                  <a:ea typeface="Consolas"/>
                  <a:cs typeface="Consolas"/>
                </a:rPr>
                <a:t xml:space="preserve">        BankTemplateMethod[] list =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new</a:t>
              </a:r>
              <a:r>
                <a:rPr lang="en-US" sz="820" dirty="0">
                  <a:solidFill>
                    <a:srgbClr val="1F2937"/>
                  </a:solidFill>
                  <a:latin typeface="Consolas"/>
                  <a:ea typeface="Consolas"/>
                  <a:cs typeface="Consolas"/>
                </a:rPr>
                <a:t xml:space="preserve"> Deposit(), </a:t>
              </a:r>
              <a:r>
                <a:rPr lang="en-US" sz="820" b="1" dirty="0">
                  <a:solidFill>
                    <a:srgbClr val="5B3FA0"/>
                  </a:solidFill>
                  <a:latin typeface="Consolas"/>
                  <a:ea typeface="Consolas"/>
                  <a:cs typeface="Consolas"/>
                </a:rPr>
                <a:t>new</a:t>
              </a:r>
              <a:r>
                <a:rPr lang="en-US" sz="820" dirty="0">
                  <a:solidFill>
                    <a:srgbClr val="1F2937"/>
                  </a:solidFill>
                  <a:latin typeface="Consolas"/>
                  <a:ea typeface="Consolas"/>
                  <a:cs typeface="Consolas"/>
                </a:rPr>
                <a:t xml:space="preserve"> Withdraw(), </a:t>
              </a:r>
              <a:r>
                <a:rPr lang="en-US" sz="820" b="1" dirty="0">
                  <a:solidFill>
                    <a:srgbClr val="5B3FA0"/>
                  </a:solidFill>
                  <a:latin typeface="Consolas"/>
                  <a:ea typeface="Consolas"/>
                  <a:cs typeface="Consolas"/>
                </a:rPr>
                <a:t>new</a:t>
              </a:r>
              <a:r>
                <a:rPr lang="en-US" sz="820" dirty="0">
                  <a:solidFill>
                    <a:srgbClr val="1F2937"/>
                  </a:solidFill>
                  <a:latin typeface="Consolas"/>
                  <a:ea typeface="Consolas"/>
                  <a:cs typeface="Consolas"/>
                </a:rPr>
                <a:t xml:space="preserve"> Transfer()</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for</a:t>
              </a:r>
              <a:r>
                <a:rPr lang="en-US" sz="820" dirty="0">
                  <a:solidFill>
                    <a:srgbClr val="1F2937"/>
                  </a:solidFill>
                  <a:latin typeface="Consolas"/>
                  <a:ea typeface="Consolas"/>
                  <a:cs typeface="Consolas"/>
                </a:rPr>
                <a:t xml:space="preserve"> (BankTemplateMethod b : list) {</a:t>
              </a:r>
              <a:br/>
              <a:r>
                <a:rPr lang="en-US" sz="820" dirty="0">
                  <a:solidFill>
                    <a:srgbClr val="1F2937"/>
                  </a:solidFill>
                  <a:latin typeface="Consolas"/>
                  <a:ea typeface="Consolas"/>
                  <a:cs typeface="Consolas"/>
                </a:rPr>
                <a:t xml:space="preserve">            b.process();      </a:t>
              </a:r>
              <a:r>
                <a:rPr lang="zh-CN" sz="820" dirty="0">
                  <a:solidFill>
                    <a:srgbClr val="0F7A68"/>
                  </a:solidFill>
                  <a:latin typeface="Consolas"/>
                  <a:ea typeface="Microsoft YaHei"/>
                  <a:cs typeface="Consolas"/>
                </a:rPr>
                <a:t>/* 次序一律是 取号→办理→评分 */</a:t>
              </a:r>
              <a:br/>
              <a:r>
                <a:rPr lang="en-US" sz="820" dirty="0">
                  <a:solidFill>
                    <a:srgbClr val="1F2937"/>
                  </a:solidFill>
                  <a:latin typeface="Consolas"/>
                  <a:ea typeface="Consolas"/>
                  <a:cs typeface="Consolas"/>
                </a:rPr>
                <a:t xml:space="preserve">            System.out.println(</a:t>
              </a:r>
              <a:r>
                <a:rPr lang="zh-CN" sz="820" dirty="0">
                  <a:solidFill>
                    <a:srgbClr val="C2410C"/>
                  </a:solidFill>
                  <a:latin typeface="Consolas"/>
                  <a:ea typeface="Consolas"/>
                  <a:cs typeface="Consolas"/>
                </a:rPr>
                <a:t>"----"</a:t>
              </a: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a:t>
              </a:r>
            </a:p>
          </p:txBody>
        </p:sp>
      </p:grpSp>
      <p:grpSp>
        <p:nvGrpSpPr>
          <p:cNvPr id="14" name="c1-code-2"/>
          <p:cNvGrpSpPr/>
          <p:nvPr/>
        </p:nvGrpSpPr>
        <p:grpSpPr>
          <a:xfrm>
            <a:off x="533400" y="3843338"/>
            <a:ext cx="5626418" cy="1855470"/>
            <a:chOff x="533400" y="3843338"/>
            <a:chExt cx="5626418" cy="1855470"/>
          </a:xfrm>
        </p:grpSpPr>
        <p:sp>
          <p:nvSpPr>
            <p:cNvPr id="11" name="Rectangle 11"/>
            <p:cNvSpPr/>
            <p:nvPr/>
          </p:nvSpPr>
          <p:spPr>
            <a:xfrm>
              <a:off x="533400" y="3843338"/>
              <a:ext cx="5626418" cy="1855470"/>
            </a:xfrm>
            <a:prstGeom prst="roundRect">
              <a:avLst>
                <a:gd name="adj" fmla="val 5133"/>
              </a:avLst>
            </a:prstGeom>
            <a:solidFill>
              <a:srgbClr val="F6F8FA"/>
            </a:solidFill>
            <a:ln w="11430">
              <a:solidFill>
                <a:srgbClr val="D9DFEA"/>
              </a:solidFill>
            </a:ln>
          </p:spPr>
        </p:sp>
        <p:sp>
          <p:nvSpPr>
            <p:cNvPr id="12" name="TextBox 12"/>
            <p:cNvSpPr txBox="1"/>
            <p:nvPr/>
          </p:nvSpPr>
          <p:spPr>
            <a:xfrm>
              <a:off x="661797" y="3995261"/>
              <a:ext cx="537616"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运行结果</a:t>
              </a:r>
            </a:p>
          </p:txBody>
        </p:sp>
        <p:sp>
          <p:nvSpPr>
            <p:cNvPr id="13" name="TextBox 13"/>
            <p:cNvSpPr txBox="1"/>
            <p:nvPr/>
          </p:nvSpPr>
          <p:spPr>
            <a:xfrm>
              <a:off x="661988" y="4254341"/>
              <a:ext cx="2045462" cy="1358265"/>
            </a:xfrm>
            <a:prstGeom prst="rect">
              <a:avLst/>
            </a:prstGeom>
            <a:noFill/>
            <a:ln>
              <a:noFill/>
            </a:ln>
          </p:spPr>
          <p:txBody>
            <a:bodyPr wrap="none" lIns="0" tIns="0" rIns="0" bIns="0" anchor="t" anchorCtr="0">
              <a:spAutoFit/>
            </a:bodyPr>
            <a:lstStyle/>
            <a:p>
              <a:pPr algn="l">
                <a:lnSpc>
                  <a:spcPts val="1178"/>
                </a:lnSpc>
              </a:pPr>
              <a:r>
                <a:rPr lang="zh-CN" sz="820" dirty="0">
                  <a:solidFill>
                    <a:srgbClr val="1F2937"/>
                  </a:solidFill>
                  <a:latin typeface="Consolas"/>
                  <a:ea typeface="Microsoft YaHei"/>
                  <a:cs typeface="Consolas"/>
                </a:rPr>
                <a:t>取号排队</a:t>
              </a:r>
              <a:br/>
              <a:r>
                <a:rPr lang="zh-CN" sz="820" dirty="0">
                  <a:solidFill>
                    <a:srgbClr val="1F2937"/>
                  </a:solidFill>
                  <a:latin typeface="Consolas"/>
                  <a:ea typeface="Microsoft YaHei"/>
                  <a:cs typeface="Consolas"/>
                </a:rPr>
                <a:t>存款</a:t>
              </a:r>
              <a:br/>
              <a:r>
                <a:rPr lang="zh-CN" sz="820" dirty="0">
                  <a:solidFill>
                    <a:srgbClr val="1F2937"/>
                  </a:solidFill>
                  <a:latin typeface="Consolas"/>
                  <a:ea typeface="Microsoft YaHei"/>
                  <a:cs typeface="Consolas"/>
                </a:rPr>
                <a:t>对工作人员进行评分</a:t>
              </a:r>
              <a:br/>
              <a:r>
                <a:rPr lang="zh-CN" sz="820" dirty="0">
                  <a:solidFill>
                    <a:srgbClr val="1F2937"/>
                  </a:solidFill>
                  <a:latin typeface="Consolas"/>
                  <a:ea typeface="Consolas"/>
                  <a:cs typeface="Consolas"/>
                </a:rPr>
                <a:t>----</a:t>
              </a:r>
              <a:br/>
              <a:r>
                <a:rPr lang="zh-CN" sz="820" dirty="0">
                  <a:solidFill>
                    <a:srgbClr val="1F2937"/>
                  </a:solidFill>
                  <a:latin typeface="Consolas"/>
                  <a:ea typeface="Microsoft YaHei"/>
                  <a:cs typeface="Consolas"/>
                </a:rPr>
                <a:t>取号排队</a:t>
              </a:r>
              <a:br/>
              <a:r>
                <a:rPr lang="zh-CN" sz="820" dirty="0">
                  <a:solidFill>
                    <a:srgbClr val="1F2937"/>
                  </a:solidFill>
                  <a:latin typeface="Consolas"/>
                  <a:ea typeface="Microsoft YaHei"/>
                  <a:cs typeface="Consolas"/>
                </a:rPr>
                <a:t>取款</a:t>
              </a:r>
              <a:br/>
              <a:r>
                <a:rPr lang="zh-CN" sz="820" dirty="0">
                  <a:solidFill>
                    <a:srgbClr val="1F2937"/>
                  </a:solidFill>
                  <a:latin typeface="Consolas"/>
                  <a:ea typeface="Microsoft YaHei"/>
                  <a:cs typeface="Consolas"/>
                </a:rPr>
                <a:t>对工作人员进行评分</a:t>
              </a:r>
              <a:br/>
              <a:r>
                <a:rPr lang="zh-CN" sz="820" dirty="0">
                  <a:solidFill>
                    <a:srgbClr val="1F2937"/>
                  </a:solidFill>
                  <a:latin typeface="Consolas"/>
                  <a:ea typeface="Consolas"/>
                  <a:cs typeface="Consolas"/>
                </a:rPr>
                <a:t>----</a:t>
              </a:r>
              <a:br/>
              <a:r>
                <a:rPr lang="zh-CN" sz="820" dirty="0">
                  <a:solidFill>
                    <a:srgbClr val="1F2937"/>
                  </a:solidFill>
                  <a:latin typeface="Consolas"/>
                  <a:ea typeface="Microsoft YaHei"/>
                  <a:cs typeface="Consolas"/>
                </a:rPr>
                <a:t>（第三轮同理，只有中间那一行变成 转账）</a:t>
              </a:r>
            </a:p>
          </p:txBody>
        </p:sp>
      </p:grpSp>
      <p:grpSp>
        <p:nvGrpSpPr>
          <p:cNvPr id="22" name="c2-bullets-1"/>
          <p:cNvGrpSpPr/>
          <p:nvPr/>
        </p:nvGrpSpPr>
        <p:grpSpPr>
          <a:xfrm>
            <a:off x="6458141" y="1545431"/>
            <a:ext cx="4997366" cy="1136142"/>
            <a:chOff x="6458141" y="1545431"/>
            <a:chExt cx="4997366" cy="1136142"/>
          </a:xfrm>
        </p:grpSpPr>
        <p:sp>
          <p:nvSpPr>
            <p:cNvPr id="15" name="TextBox 15"/>
            <p:cNvSpPr txBox="1"/>
            <p:nvPr/>
          </p:nvSpPr>
          <p:spPr>
            <a:xfrm>
              <a:off x="6458141" y="1545431"/>
              <a:ext cx="1563776" cy="249364"/>
            </a:xfrm>
            <a:prstGeom prst="rect">
              <a:avLst/>
            </a:prstGeom>
            <a:noFill/>
            <a:ln>
              <a:noFill/>
            </a:ln>
          </p:spPr>
          <p:txBody>
            <a:bodyPr wrap="none" lIns="0" tIns="0" rIns="0" bIns="0" anchor="t" anchorCtr="0">
              <a:spAutoFit/>
            </a:bodyPr>
            <a:lstStyle/>
            <a:p>
              <a:pPr algn="l"/>
              <a:r>
                <a:rPr lang="zh-CN" sz="1280" b="1" dirty="0">
                  <a:solidFill>
                    <a:srgbClr val="5B3FA0"/>
                  </a:solidFill>
                  <a:latin typeface="+mn-lt"/>
                  <a:ea typeface="+mn-ea"/>
                  <a:cs typeface="+mn-cs"/>
                </a:rPr>
                <a:t>从输出能读出三件事</a:t>
              </a:r>
            </a:p>
          </p:txBody>
        </p:sp>
        <p:sp>
          <p:nvSpPr>
            <p:cNvPr id="16" name="Freeform 16"/>
            <p:cNvSpPr/>
            <p:nvPr/>
          </p:nvSpPr>
          <p:spPr>
            <a:xfrm>
              <a:off x="6464618" y="1873568"/>
              <a:ext cx="122872" cy="99060"/>
            </a:xfrm>
            <a:custGeom>
              <a:avLst/>
              <a:gdLst/>
              <a:ahLst/>
              <a:cxnLst/>
              <a:rect l="l" t="t" r="r" b="b"/>
              <a:pathLst>
                <a:path w="122872" h="99060">
                  <a:moveTo>
                    <a:pt x="0" y="52388"/>
                  </a:moveTo>
                  <a:lnTo>
                    <a:pt x="46672" y="99060"/>
                  </a:lnTo>
                  <a:lnTo>
                    <a:pt x="122872" y="0"/>
                  </a:lnTo>
                </a:path>
              </a:pathLst>
            </a:custGeom>
            <a:noFill/>
            <a:ln w="24765" cap="rnd">
              <a:solidFill>
                <a:srgbClr val="14A38B"/>
              </a:solidFill>
              <a:round/>
            </a:ln>
          </p:spPr>
        </p:sp>
        <p:sp>
          <p:nvSpPr>
            <p:cNvPr id="17" name="TextBox 17"/>
            <p:cNvSpPr txBox="1"/>
            <p:nvPr/>
          </p:nvSpPr>
          <p:spPr>
            <a:xfrm>
              <a:off x="6695313" y="1846421"/>
              <a:ext cx="4148480"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三轮的第一行和第三行完全相同，来自父类的具体方法</a:t>
              </a:r>
            </a:p>
          </p:txBody>
        </p:sp>
        <p:sp>
          <p:nvSpPr>
            <p:cNvPr id="18" name="Freeform 18"/>
            <p:cNvSpPr/>
            <p:nvPr/>
          </p:nvSpPr>
          <p:spPr>
            <a:xfrm>
              <a:off x="6464618" y="2165985"/>
              <a:ext cx="122872" cy="99060"/>
            </a:xfrm>
            <a:custGeom>
              <a:avLst/>
              <a:gdLst/>
              <a:ahLst/>
              <a:cxnLst/>
              <a:rect l="l" t="t" r="r" b="b"/>
              <a:pathLst>
                <a:path w="122872" h="99060">
                  <a:moveTo>
                    <a:pt x="0" y="52388"/>
                  </a:moveTo>
                  <a:lnTo>
                    <a:pt x="46672" y="99060"/>
                  </a:lnTo>
                  <a:lnTo>
                    <a:pt x="122872" y="0"/>
                  </a:lnTo>
                </a:path>
              </a:pathLst>
            </a:custGeom>
            <a:noFill/>
            <a:ln w="24765" cap="rnd">
              <a:solidFill>
                <a:srgbClr val="14A38B"/>
              </a:solidFill>
              <a:round/>
            </a:ln>
          </p:spPr>
        </p:sp>
        <p:sp>
          <p:nvSpPr>
            <p:cNvPr id="19" name="TextBox 19"/>
            <p:cNvSpPr txBox="1"/>
            <p:nvPr/>
          </p:nvSpPr>
          <p:spPr>
            <a:xfrm>
              <a:off x="6695313" y="2139791"/>
              <a:ext cx="411401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中间一行各不相同，来自三个子类各自的 transact()</a:t>
              </a:r>
            </a:p>
          </p:txBody>
        </p:sp>
        <p:sp>
          <p:nvSpPr>
            <p:cNvPr id="20" name="Freeform 20"/>
            <p:cNvSpPr/>
            <p:nvPr/>
          </p:nvSpPr>
          <p:spPr>
            <a:xfrm>
              <a:off x="6464618" y="2459355"/>
              <a:ext cx="122872" cy="99060"/>
            </a:xfrm>
            <a:custGeom>
              <a:avLst/>
              <a:gdLst/>
              <a:ahLst/>
              <a:cxnLst/>
              <a:rect l="l" t="t" r="r" b="b"/>
              <a:pathLst>
                <a:path w="122872" h="99060">
                  <a:moveTo>
                    <a:pt x="0" y="52388"/>
                  </a:moveTo>
                  <a:lnTo>
                    <a:pt x="46672" y="99060"/>
                  </a:lnTo>
                  <a:lnTo>
                    <a:pt x="122872" y="0"/>
                  </a:lnTo>
                </a:path>
              </a:pathLst>
            </a:custGeom>
            <a:noFill/>
            <a:ln w="24765" cap="rnd">
              <a:solidFill>
                <a:srgbClr val="14A38B"/>
              </a:solidFill>
              <a:round/>
            </a:ln>
          </p:spPr>
        </p:sp>
        <p:sp>
          <p:nvSpPr>
            <p:cNvPr id="21" name="TextBox 21"/>
            <p:cNvSpPr txBox="1"/>
            <p:nvPr/>
          </p:nvSpPr>
          <p:spPr>
            <a:xfrm>
              <a:off x="6695313" y="2432209"/>
              <a:ext cx="476019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客户端数组的元素类型是父类，循环体里只有 process() 一句</a:t>
              </a:r>
            </a:p>
          </p:txBody>
        </p:sp>
      </p:grpSp>
      <p:grpSp>
        <p:nvGrpSpPr>
          <p:cNvPr id="33" name="c2-card-2"/>
          <p:cNvGrpSpPr/>
          <p:nvPr/>
        </p:nvGrpSpPr>
        <p:grpSpPr>
          <a:xfrm>
            <a:off x="6464618" y="2796540"/>
            <a:ext cx="5193982" cy="2902268"/>
            <a:chOff x="6464618" y="2796540"/>
            <a:chExt cx="5193982" cy="2902268"/>
          </a:xfrm>
        </p:grpSpPr>
        <p:sp>
          <p:nvSpPr>
            <p:cNvPr id="23" name="Rectangle 23"/>
            <p:cNvSpPr/>
            <p:nvPr/>
          </p:nvSpPr>
          <p:spPr>
            <a:xfrm>
              <a:off x="6464618" y="2796540"/>
              <a:ext cx="5193982" cy="2902268"/>
            </a:xfrm>
            <a:prstGeom prst="roundRect">
              <a:avLst>
                <a:gd name="adj" fmla="val 4595"/>
              </a:avLst>
            </a:prstGeom>
            <a:solidFill>
              <a:srgbClr val="FFFFFF"/>
            </a:solidFill>
            <a:ln w="14288">
              <a:solidFill>
                <a:srgbClr val="D9DFEA"/>
              </a:solidFill>
            </a:ln>
          </p:spPr>
        </p:sp>
        <p:sp>
          <p:nvSpPr>
            <p:cNvPr id="24" name="Rectangle 24"/>
            <p:cNvSpPr/>
            <p:nvPr/>
          </p:nvSpPr>
          <p:spPr>
            <a:xfrm>
              <a:off x="6474142" y="2929890"/>
              <a:ext cx="47625" cy="2635568"/>
            </a:xfrm>
            <a:prstGeom prst="roundRect">
              <a:avLst>
                <a:gd name="adj" fmla="val 50000"/>
              </a:avLst>
            </a:prstGeom>
            <a:solidFill>
              <a:srgbClr val="14A38B"/>
            </a:solidFill>
            <a:ln>
              <a:noFill/>
            </a:ln>
          </p:spPr>
        </p:sp>
        <p:sp>
          <p:nvSpPr>
            <p:cNvPr id="25" name="Rectangle 25"/>
            <p:cNvSpPr/>
            <p:nvPr/>
          </p:nvSpPr>
          <p:spPr>
            <a:xfrm>
              <a:off x="6683692" y="2977515"/>
              <a:ext cx="707708" cy="238125"/>
            </a:xfrm>
            <a:prstGeom prst="roundRect">
              <a:avLst>
                <a:gd name="adj" fmla="val 50000"/>
              </a:avLst>
            </a:prstGeom>
            <a:solidFill>
              <a:srgbClr val="E3F5F1"/>
            </a:solidFill>
            <a:ln>
              <a:noFill/>
            </a:ln>
          </p:spPr>
        </p:sp>
        <p:sp>
          <p:nvSpPr>
            <p:cNvPr id="26" name="TextBox 26"/>
            <p:cNvSpPr txBox="1"/>
            <p:nvPr/>
          </p:nvSpPr>
          <p:spPr>
            <a:xfrm>
              <a:off x="6769214" y="3010376"/>
              <a:ext cx="537616" cy="190690"/>
            </a:xfrm>
            <a:prstGeom prst="rect">
              <a:avLst/>
            </a:prstGeom>
            <a:noFill/>
            <a:ln>
              <a:noFill/>
            </a:ln>
          </p:spPr>
          <p:txBody>
            <a:bodyPr wrap="none" lIns="0" tIns="0" rIns="0" bIns="0" anchor="t" anchorCtr="0">
              <a:spAutoFit/>
            </a:bodyPr>
            <a:lstStyle/>
            <a:p>
              <a:pPr algn="ctr"/>
              <a:r>
                <a:rPr lang="zh-CN" sz="980" b="1" dirty="0">
                  <a:solidFill>
                    <a:srgbClr val="0F7A68"/>
                  </a:solidFill>
                  <a:latin typeface="+mn-lt"/>
                  <a:ea typeface="+mn-ea"/>
                  <a:cs typeface="+mn-cs"/>
                </a:rPr>
                <a:t>讲义补充</a:t>
              </a:r>
            </a:p>
          </p:txBody>
        </p:sp>
        <p:sp>
          <p:nvSpPr>
            <p:cNvPr id="27" name="TextBox 27"/>
            <p:cNvSpPr txBox="1"/>
            <p:nvPr/>
          </p:nvSpPr>
          <p:spPr>
            <a:xfrm>
              <a:off x="7499223" y="3017044"/>
              <a:ext cx="2597658"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大客户转账免评分，加个钩子就够</a:t>
              </a:r>
            </a:p>
          </p:txBody>
        </p:sp>
        <p:sp>
          <p:nvSpPr>
            <p:cNvPr id="28" name="TextBox 28"/>
            <p:cNvSpPr txBox="1"/>
            <p:nvPr/>
          </p:nvSpPr>
          <p:spPr>
            <a:xfrm>
              <a:off x="6677216" y="3333274"/>
              <a:ext cx="456463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在父类加一个返回布尔值的钩子，再把模板方法里的评分那一步</a:t>
              </a:r>
              <a:br/>
              <a:r>
                <a:rPr lang="zh-CN" sz="1280" dirty="0">
                  <a:solidFill>
                    <a:srgbClr val="1F2937"/>
                  </a:solidFill>
                  <a:latin typeface="+mn-lt"/>
                  <a:ea typeface="+mn-ea"/>
                  <a:cs typeface="+mn-cs"/>
                </a:rPr>
                <a:t>套进判断。</a:t>
              </a:r>
            </a:p>
          </p:txBody>
        </p:sp>
        <p:sp>
          <p:nvSpPr>
            <p:cNvPr id="29" name="Rectangle 29"/>
            <p:cNvSpPr/>
            <p:nvPr/>
          </p:nvSpPr>
          <p:spPr>
            <a:xfrm>
              <a:off x="6683692" y="3840480"/>
              <a:ext cx="4793932" cy="1063942"/>
            </a:xfrm>
            <a:prstGeom prst="roundRect">
              <a:avLst>
                <a:gd name="adj" fmla="val 8953"/>
              </a:avLst>
            </a:prstGeom>
            <a:solidFill>
              <a:srgbClr val="F6F8FA"/>
            </a:solidFill>
            <a:ln w="11430">
              <a:solidFill>
                <a:srgbClr val="D9DFEA"/>
              </a:solidFill>
            </a:ln>
          </p:spPr>
        </p:sp>
        <p:sp>
          <p:nvSpPr>
            <p:cNvPr id="30" name="TextBox 30"/>
            <p:cNvSpPr txBox="1"/>
            <p:nvPr/>
          </p:nvSpPr>
          <p:spPr>
            <a:xfrm>
              <a:off x="6812090" y="3992404"/>
              <a:ext cx="318971" cy="190690"/>
            </a:xfrm>
            <a:prstGeom prst="rect">
              <a:avLst/>
            </a:prstGeom>
            <a:noFill/>
            <a:ln>
              <a:noFill/>
            </a:ln>
          </p:spPr>
          <p:txBody>
            <a:bodyPr wrap="none" lIns="0" tIns="0" rIns="0" bIns="0" anchor="t" anchorCtr="0">
              <a:spAutoFit/>
            </a:bodyPr>
            <a:lstStyle/>
            <a:p>
              <a:pPr algn="l"/>
              <a:r>
                <a:rPr lang="en-US" sz="980" b="1" dirty="0">
                  <a:solidFill>
                    <a:srgbClr val="5B6475"/>
                  </a:solidFill>
                  <a:latin typeface="+mn-lt"/>
                  <a:ea typeface="+mn-ea"/>
                  <a:cs typeface="+mn-cs"/>
                </a:rPr>
                <a:t>Java</a:t>
              </a:r>
            </a:p>
          </p:txBody>
        </p:sp>
        <p:sp>
          <p:nvSpPr>
            <p:cNvPr id="31" name="TextBox 31"/>
            <p:cNvSpPr txBox="1"/>
            <p:nvPr/>
          </p:nvSpPr>
          <p:spPr>
            <a:xfrm>
              <a:off x="6812280" y="4250341"/>
              <a:ext cx="2610739" cy="564832"/>
            </a:xfrm>
            <a:prstGeom prst="rect">
              <a:avLst/>
            </a:prstGeom>
            <a:noFill/>
            <a:ln>
              <a:noFill/>
            </a:ln>
          </p:spPr>
          <p:txBody>
            <a:bodyPr wrap="none" lIns="0" tIns="0" rIns="0" bIns="0" anchor="t" anchorCtr="0">
              <a:spAutoFit/>
            </a:bodyPr>
            <a:lstStyle/>
            <a:p>
              <a:pPr algn="l">
                <a:lnSpc>
                  <a:spcPts val="1088"/>
                </a:lnSpc>
              </a:pPr>
              <a:r>
                <a:rPr lang="zh-CN" sz="760" dirty="0">
                  <a:solidFill>
                    <a:srgbClr val="0F7A68"/>
                  </a:solidFill>
                  <a:latin typeface="Consolas"/>
                  <a:ea typeface="Microsoft YaHei"/>
                  <a:cs typeface="Consolas"/>
                </a:rPr>
                <a:t>/* 父类新增 */</a:t>
              </a:r>
              <a:br/>
              <a:r>
                <a:rPr lang="en-US" sz="760" b="1" dirty="0">
                  <a:solidFill>
                    <a:srgbClr val="5B3FA0"/>
                  </a:solidFill>
                  <a:latin typeface="Consolas"/>
                  <a:ea typeface="Consolas"/>
                  <a:cs typeface="Consolas"/>
                </a:rPr>
                <a:t>protected</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boolean</a:t>
              </a:r>
              <a:r>
                <a:rPr lang="en-US" sz="760" dirty="0">
                  <a:solidFill>
                    <a:srgbClr val="1F2937"/>
                  </a:solidFill>
                  <a:latin typeface="Consolas"/>
                  <a:ea typeface="Consolas"/>
                  <a:cs typeface="Consolas"/>
                </a:rPr>
                <a:t xml:space="preserve"> needEvaluate() { </a:t>
              </a:r>
              <a:r>
                <a:rPr lang="en-US" sz="760" b="1" dirty="0">
                  <a:solidFill>
                    <a:srgbClr val="5B3FA0"/>
                  </a:solidFill>
                  <a:latin typeface="Consolas"/>
                  <a:ea typeface="Consolas"/>
                  <a:cs typeface="Consolas"/>
                </a:rPr>
                <a:t>return</a:t>
              </a:r>
              <a:r>
                <a:rPr lang="zh-CN" sz="760" dirty="0">
                  <a:solidFill>
                    <a:srgbClr val="1F2937"/>
                  </a:solidFill>
                  <a:latin typeface="Consolas"/>
                  <a:ea typeface="Consolas"/>
                  <a:cs typeface="Consolas"/>
                </a:rPr>
                <a:t xml:space="preserve"> </a:t>
              </a:r>
              <a:r>
                <a:rPr lang="en-US" sz="760" b="1" dirty="0">
                  <a:solidFill>
                    <a:srgbClr val="5B3FA0"/>
                  </a:solidFill>
                  <a:latin typeface="Consolas"/>
                  <a:ea typeface="Consolas"/>
                  <a:cs typeface="Consolas"/>
                </a:rPr>
                <a:t>true</a:t>
              </a:r>
              <a:r>
                <a:rPr lang="zh-CN" sz="760" dirty="0">
                  <a:solidFill>
                    <a:srgbClr val="1F2937"/>
                  </a:solidFill>
                  <a:latin typeface="Consolas"/>
                  <a:ea typeface="Consolas"/>
                  <a:cs typeface="Consolas"/>
                </a:rPr>
                <a:t>; }</a:t>
              </a:r>
              <a:br/>
              <a:r>
                <a:rPr lang="zh-CN" sz="760" dirty="0">
                  <a:solidFill>
                    <a:srgbClr val="0F7A68"/>
                  </a:solidFill>
                  <a:latin typeface="Consolas"/>
                  <a:ea typeface="Microsoft YaHei"/>
                  <a:cs typeface="Consolas"/>
                </a:rPr>
                <a:t>/* 模板方法改成 */</a:t>
              </a:r>
              <a:br/>
              <a:r>
                <a:rPr lang="en-US" sz="760" b="1" dirty="0">
                  <a:solidFill>
                    <a:srgbClr val="5B3FA0"/>
                  </a:solidFill>
                  <a:latin typeface="Consolas"/>
                  <a:ea typeface="Consolas"/>
                  <a:cs typeface="Consolas"/>
                </a:rPr>
                <a:t>if</a:t>
              </a:r>
              <a:r>
                <a:rPr lang="en-US" sz="760" dirty="0">
                  <a:solidFill>
                    <a:srgbClr val="1F2937"/>
                  </a:solidFill>
                  <a:latin typeface="Consolas"/>
                  <a:ea typeface="Consolas"/>
                  <a:cs typeface="Consolas"/>
                </a:rPr>
                <a:t xml:space="preserve"> (needEvaluate()) { evaluate(); }</a:t>
              </a:r>
            </a:p>
          </p:txBody>
        </p:sp>
        <p:sp>
          <p:nvSpPr>
            <p:cNvPr id="32" name="TextBox 32"/>
            <p:cNvSpPr txBox="1"/>
            <p:nvPr/>
          </p:nvSpPr>
          <p:spPr>
            <a:xfrm>
              <a:off x="6677216" y="5006816"/>
              <a:ext cx="4491482"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VIP 子类把 </a:t>
              </a:r>
              <a:r>
                <a:rPr lang="en-US" sz="1280" dirty="0">
                  <a:solidFill>
                    <a:srgbClr val="462F80"/>
                  </a:solidFill>
                  <a:latin typeface="+mn-lt"/>
                  <a:ea typeface="+mn-ea"/>
                  <a:cs typeface="+mn-cs"/>
                </a:rPr>
                <a:t>needEvaluate()</a:t>
              </a:r>
              <a:r>
                <a:rPr lang="zh-CN" sz="1280" dirty="0">
                  <a:solidFill>
                    <a:srgbClr val="1F2937"/>
                  </a:solidFill>
                  <a:latin typeface="+mn-lt"/>
                  <a:ea typeface="+mn-ea"/>
                  <a:cs typeface="+mn-cs"/>
                </a:rPr>
                <a:t xml:space="preserve"> 改成返回 </a:t>
              </a:r>
              <a:r>
                <a:rPr lang="en-US" sz="1280" dirty="0">
                  <a:solidFill>
                    <a:srgbClr val="462F80"/>
                  </a:solidFill>
                  <a:latin typeface="+mn-lt"/>
                  <a:ea typeface="+mn-ea"/>
                  <a:cs typeface="+mn-cs"/>
                </a:rPr>
                <a:t>false</a:t>
              </a:r>
              <a:r>
                <a:rPr lang="zh-CN" sz="1280" dirty="0">
                  <a:solidFill>
                    <a:srgbClr val="1F2937"/>
                  </a:solidFill>
                  <a:latin typeface="+mn-lt"/>
                  <a:ea typeface="+mn-ea"/>
                  <a:cs typeface="+mn-cs"/>
                </a:rPr>
                <a:t>，其他三个子类和</a:t>
              </a:r>
              <a:br/>
              <a:r>
                <a:rPr lang="zh-CN" sz="1280" dirty="0">
                  <a:solidFill>
                    <a:srgbClr val="1F2937"/>
                  </a:solidFill>
                  <a:latin typeface="+mn-lt"/>
                  <a:ea typeface="+mn-ea"/>
                  <a:cs typeface="+mn-cs"/>
                </a:rPr>
                <a:t>客户端一行都不用动。</a:t>
              </a:r>
            </a:p>
          </p:txBody>
        </p:sp>
      </p:grpSp>
      <p:grpSp>
        <p:nvGrpSpPr>
          <p:cNvPr id="39" name="takeaway"/>
          <p:cNvGrpSpPr/>
          <p:nvPr/>
        </p:nvGrpSpPr>
        <p:grpSpPr>
          <a:xfrm>
            <a:off x="533400" y="5895022"/>
            <a:ext cx="11125200" cy="467678"/>
            <a:chOff x="533400" y="5895022"/>
            <a:chExt cx="11125200" cy="467678"/>
          </a:xfrm>
        </p:grpSpPr>
        <p:sp>
          <p:nvSpPr>
            <p:cNvPr id="34" name="Rectangle 34"/>
            <p:cNvSpPr/>
            <p:nvPr/>
          </p:nvSpPr>
          <p:spPr>
            <a:xfrm>
              <a:off x="533400" y="5895022"/>
              <a:ext cx="11125200" cy="467678"/>
            </a:xfrm>
            <a:prstGeom prst="roundRect">
              <a:avLst>
                <a:gd name="adj" fmla="val 24440"/>
              </a:avLst>
            </a:prstGeom>
            <a:solidFill>
              <a:srgbClr val="5B3FA0"/>
            </a:solidFill>
            <a:ln>
              <a:noFill/>
            </a:ln>
          </p:spPr>
        </p:sp>
        <p:grpSp>
          <p:nvGrpSpPr>
            <p:cNvPr id="37" name="Group 37"/>
            <p:cNvGrpSpPr/>
            <p:nvPr/>
          </p:nvGrpSpPr>
          <p:grpSpPr>
            <a:xfrm>
              <a:off x="738188" y="6028375"/>
              <a:ext cx="200023" cy="200023"/>
              <a:chOff x="738188" y="6028375"/>
              <a:chExt cx="200023" cy="200023"/>
            </a:xfrm>
          </p:grpSpPr>
          <p:sp>
            <p:nvSpPr>
              <p:cNvPr id="35" name="Freeform 35"/>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6" name="Freeform 36"/>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8" name="TextBox 38"/>
            <p:cNvSpPr txBox="1"/>
            <p:nvPr/>
          </p:nvSpPr>
          <p:spPr>
            <a:xfrm>
              <a:off x="1041273" y="6039326"/>
              <a:ext cx="7422439"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加一种业务只需新增一个子类，加一个可选步骤只需新增一个钩子。这两件事都不用碰已有代码。</a:t>
              </a:r>
            </a:p>
          </p:txBody>
        </p:sp>
      </p:grpSp>
      <p:grpSp>
        <p:nvGrpSpPr>
          <p:cNvPr id="42" name="footer"/>
          <p:cNvGrpSpPr/>
          <p:nvPr/>
        </p:nvGrpSpPr>
        <p:grpSpPr>
          <a:xfrm>
            <a:off x="528447" y="6581299"/>
            <a:ext cx="11135106" cy="190690"/>
            <a:chOff x="528447" y="6581299"/>
            <a:chExt cx="11135106" cy="190690"/>
          </a:xfrm>
        </p:grpSpPr>
        <p:sp>
          <p:nvSpPr>
            <p:cNvPr id="40" name="TextBox 40"/>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41" name="TextBox 4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20</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2069782" cy="266700"/>
            </a:xfrm>
            <a:prstGeom prst="roundRect">
              <a:avLst>
                <a:gd name="adj" fmla="val 50000"/>
              </a:avLst>
            </a:prstGeom>
            <a:solidFill>
              <a:srgbClr val="EEEAF7"/>
            </a:solidFill>
            <a:ln>
              <a:noFill/>
            </a:ln>
          </p:spPr>
        </p:sp>
        <p:sp>
          <p:nvSpPr>
            <p:cNvPr id="3" name="TextBox 3"/>
            <p:cNvSpPr txBox="1"/>
            <p:nvPr/>
          </p:nvSpPr>
          <p:spPr>
            <a:xfrm>
              <a:off x="607331" y="407194"/>
              <a:ext cx="1922872"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两个完整实例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实例二：数据库操作模板</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5399" y="1550194"/>
            <a:ext cx="10031712" cy="308039"/>
            <a:chOff x="525399" y="1550194"/>
            <a:chExt cx="10031712" cy="308039"/>
          </a:xfrm>
        </p:grpSpPr>
        <p:sp>
          <p:nvSpPr>
            <p:cNvPr id="7" name="TextBox 7"/>
            <p:cNvSpPr txBox="1"/>
            <p:nvPr/>
          </p:nvSpPr>
          <p:spPr>
            <a:xfrm>
              <a:off x="525399" y="1550194"/>
              <a:ext cx="10031712" cy="308039"/>
            </a:xfrm>
            <a:prstGeom prst="rect">
              <a:avLst/>
            </a:prstGeom>
            <a:noFill/>
            <a:ln>
              <a:noFill/>
            </a:ln>
          </p:spPr>
          <p:txBody>
            <a:bodyPr wrap="none" lIns="0" tIns="0" rIns="0" bIns="0" anchor="t" anchorCtr="0">
              <a:spAutoFit/>
            </a:bodyPr>
            <a:lstStyle/>
            <a:p>
              <a:pPr algn="l"/>
              <a:r>
                <a:rPr lang="zh-CN" sz="1580" dirty="0">
                  <a:solidFill>
                    <a:srgbClr val="5B6475"/>
                  </a:solidFill>
                  <a:latin typeface="+mn-lt"/>
                  <a:ea typeface="+mn-ea"/>
                  <a:cs typeface="+mn-cs"/>
                </a:rPr>
                <a:t>操作数据库一般是连接、打开、使用、关闭四步。对 SQL Server 和 Oracle 来说，只有连接方式不一样。</a:t>
              </a:r>
            </a:p>
          </p:txBody>
        </p:sp>
      </p:grpSp>
      <p:grpSp>
        <p:nvGrpSpPr>
          <p:cNvPr id="31" name="c1-uml-1"/>
          <p:cNvGrpSpPr/>
          <p:nvPr/>
        </p:nvGrpSpPr>
        <p:grpSpPr>
          <a:xfrm>
            <a:off x="977265" y="2153602"/>
            <a:ext cx="3759517" cy="2378393"/>
            <a:chOff x="977265" y="2153602"/>
            <a:chExt cx="3759517" cy="2378393"/>
          </a:xfrm>
        </p:grpSpPr>
        <p:sp>
          <p:nvSpPr>
            <p:cNvPr id="9" name="Freeform 9"/>
            <p:cNvSpPr/>
            <p:nvPr/>
          </p:nvSpPr>
          <p:spPr>
            <a:xfrm>
              <a:off x="1628775" y="3430905"/>
              <a:ext cx="95250" cy="544830"/>
            </a:xfrm>
            <a:custGeom>
              <a:avLst/>
              <a:gdLst/>
              <a:ahLst/>
              <a:cxnLst/>
              <a:rect l="l" t="t" r="r" b="b"/>
              <a:pathLst>
                <a:path w="95250" h="544830">
                  <a:moveTo>
                    <a:pt x="95250" y="544830"/>
                  </a:moveTo>
                  <a:lnTo>
                    <a:pt x="95250" y="209550"/>
                  </a:lnTo>
                  <a:lnTo>
                    <a:pt x="0" y="209550"/>
                  </a:lnTo>
                  <a:lnTo>
                    <a:pt x="0" y="0"/>
                  </a:lnTo>
                </a:path>
              </a:pathLst>
            </a:custGeom>
            <a:noFill/>
            <a:ln w="15240">
              <a:solidFill>
                <a:srgbClr val="1F2937"/>
              </a:solidFill>
            </a:ln>
          </p:spPr>
        </p:sp>
        <p:sp>
          <p:nvSpPr>
            <p:cNvPr id="10" name="Freeform 10"/>
            <p:cNvSpPr/>
            <p:nvPr/>
          </p:nvSpPr>
          <p:spPr>
            <a:xfrm>
              <a:off x="1555432" y="330517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1" name="Freeform 11"/>
            <p:cNvSpPr/>
            <p:nvPr/>
          </p:nvSpPr>
          <p:spPr>
            <a:xfrm>
              <a:off x="1819275" y="3430905"/>
              <a:ext cx="2285048" cy="544830"/>
            </a:xfrm>
            <a:custGeom>
              <a:avLst/>
              <a:gdLst/>
              <a:ahLst/>
              <a:cxnLst/>
              <a:rect l="l" t="t" r="r" b="b"/>
              <a:pathLst>
                <a:path w="2285048" h="544830">
                  <a:moveTo>
                    <a:pt x="2285048" y="544830"/>
                  </a:moveTo>
                  <a:lnTo>
                    <a:pt x="2285048" y="209550"/>
                  </a:lnTo>
                  <a:lnTo>
                    <a:pt x="0" y="209550"/>
                  </a:lnTo>
                  <a:lnTo>
                    <a:pt x="0" y="0"/>
                  </a:lnTo>
                </a:path>
              </a:pathLst>
            </a:custGeom>
            <a:noFill/>
            <a:ln w="15240">
              <a:solidFill>
                <a:srgbClr val="1F2937"/>
              </a:solidFill>
            </a:ln>
          </p:spPr>
        </p:sp>
        <p:sp>
          <p:nvSpPr>
            <p:cNvPr id="12" name="Freeform 12"/>
            <p:cNvSpPr/>
            <p:nvPr/>
          </p:nvSpPr>
          <p:spPr>
            <a:xfrm>
              <a:off x="1745932" y="3305175"/>
              <a:ext cx="146685" cy="125730"/>
            </a:xfrm>
            <a:custGeom>
              <a:avLst/>
              <a:gdLst/>
              <a:ahLst/>
              <a:cxnLst/>
              <a:rect l="l" t="t" r="r" b="b"/>
              <a:pathLst>
                <a:path w="146685" h="125730">
                  <a:moveTo>
                    <a:pt x="73342" y="0"/>
                  </a:moveTo>
                  <a:lnTo>
                    <a:pt x="146685" y="125730"/>
                  </a:lnTo>
                  <a:lnTo>
                    <a:pt x="0" y="125730"/>
                  </a:lnTo>
                  <a:close/>
                </a:path>
              </a:pathLst>
            </a:custGeom>
            <a:solidFill>
              <a:srgbClr val="FFFFFF"/>
            </a:solidFill>
            <a:ln w="15240">
              <a:solidFill>
                <a:srgbClr val="1F2937"/>
              </a:solidFill>
            </a:ln>
          </p:spPr>
        </p:sp>
        <p:sp>
          <p:nvSpPr>
            <p:cNvPr id="13" name="Rectangle 13"/>
            <p:cNvSpPr/>
            <p:nvPr/>
          </p:nvSpPr>
          <p:spPr>
            <a:xfrm>
              <a:off x="1056322" y="2153602"/>
              <a:ext cx="1334452" cy="1151572"/>
            </a:xfrm>
            <a:prstGeom prst="rect">
              <a:avLst/>
            </a:prstGeom>
            <a:solidFill>
              <a:srgbClr val="FFFFFF"/>
            </a:solidFill>
            <a:ln w="14288">
              <a:solidFill>
                <a:srgbClr val="5B3FA0"/>
              </a:solidFill>
            </a:ln>
          </p:spPr>
        </p:sp>
        <p:sp>
          <p:nvSpPr>
            <p:cNvPr id="14" name="Rectangle 14"/>
            <p:cNvSpPr/>
            <p:nvPr/>
          </p:nvSpPr>
          <p:spPr>
            <a:xfrm>
              <a:off x="1063942" y="2161222"/>
              <a:ext cx="1320165" cy="209550"/>
            </a:xfrm>
            <a:prstGeom prst="rect">
              <a:avLst/>
            </a:prstGeom>
            <a:solidFill>
              <a:srgbClr val="EEEAF7"/>
            </a:solidFill>
            <a:ln>
              <a:noFill/>
            </a:ln>
          </p:spPr>
        </p:sp>
        <p:sp>
          <p:nvSpPr>
            <p:cNvPr id="15" name="Rectangle 15"/>
            <p:cNvSpPr/>
            <p:nvPr/>
          </p:nvSpPr>
          <p:spPr>
            <a:xfrm>
              <a:off x="1056322" y="2366010"/>
              <a:ext cx="1334452" cy="9525"/>
            </a:xfrm>
            <a:prstGeom prst="rect">
              <a:avLst/>
            </a:prstGeom>
            <a:solidFill>
              <a:srgbClr val="5B3FA0"/>
            </a:solidFill>
            <a:ln>
              <a:noFill/>
            </a:ln>
          </p:spPr>
        </p:sp>
        <p:sp>
          <p:nvSpPr>
            <p:cNvPr id="16" name="Rectangle 16"/>
            <p:cNvSpPr/>
            <p:nvPr/>
          </p:nvSpPr>
          <p:spPr>
            <a:xfrm>
              <a:off x="1056322" y="2461260"/>
              <a:ext cx="1334452" cy="9525"/>
            </a:xfrm>
            <a:prstGeom prst="rect">
              <a:avLst/>
            </a:prstGeom>
            <a:solidFill>
              <a:srgbClr val="5B3FA0"/>
            </a:solidFill>
            <a:ln>
              <a:noFill/>
            </a:ln>
          </p:spPr>
        </p:sp>
        <p:sp>
          <p:nvSpPr>
            <p:cNvPr id="17" name="Rectangle 17"/>
            <p:cNvSpPr/>
            <p:nvPr/>
          </p:nvSpPr>
          <p:spPr>
            <a:xfrm>
              <a:off x="977265" y="3975735"/>
              <a:ext cx="1492568" cy="556260"/>
            </a:xfrm>
            <a:prstGeom prst="rect">
              <a:avLst/>
            </a:prstGeom>
            <a:solidFill>
              <a:srgbClr val="FFFFFF"/>
            </a:solidFill>
            <a:ln w="14288">
              <a:solidFill>
                <a:srgbClr val="5B3FA0"/>
              </a:solidFill>
            </a:ln>
          </p:spPr>
        </p:sp>
        <p:sp>
          <p:nvSpPr>
            <p:cNvPr id="18" name="Rectangle 18"/>
            <p:cNvSpPr/>
            <p:nvPr/>
          </p:nvSpPr>
          <p:spPr>
            <a:xfrm>
              <a:off x="984885" y="3982402"/>
              <a:ext cx="1478280" cy="209550"/>
            </a:xfrm>
            <a:prstGeom prst="rect">
              <a:avLst/>
            </a:prstGeom>
            <a:solidFill>
              <a:srgbClr val="EEEAF7"/>
            </a:solidFill>
            <a:ln>
              <a:noFill/>
            </a:ln>
          </p:spPr>
        </p:sp>
        <p:sp>
          <p:nvSpPr>
            <p:cNvPr id="19" name="Rectangle 19"/>
            <p:cNvSpPr/>
            <p:nvPr/>
          </p:nvSpPr>
          <p:spPr>
            <a:xfrm>
              <a:off x="977265" y="4188142"/>
              <a:ext cx="1492568" cy="9525"/>
            </a:xfrm>
            <a:prstGeom prst="rect">
              <a:avLst/>
            </a:prstGeom>
            <a:solidFill>
              <a:srgbClr val="5B3FA0"/>
            </a:solidFill>
            <a:ln>
              <a:noFill/>
            </a:ln>
          </p:spPr>
        </p:sp>
        <p:sp>
          <p:nvSpPr>
            <p:cNvPr id="20" name="Rectangle 20"/>
            <p:cNvSpPr/>
            <p:nvPr/>
          </p:nvSpPr>
          <p:spPr>
            <a:xfrm>
              <a:off x="977265" y="4283392"/>
              <a:ext cx="1492568" cy="9525"/>
            </a:xfrm>
            <a:prstGeom prst="rect">
              <a:avLst/>
            </a:prstGeom>
            <a:solidFill>
              <a:srgbClr val="5B3FA0"/>
            </a:solidFill>
            <a:ln>
              <a:noFill/>
            </a:ln>
          </p:spPr>
        </p:sp>
        <p:sp>
          <p:nvSpPr>
            <p:cNvPr id="21" name="Rectangle 21"/>
            <p:cNvSpPr/>
            <p:nvPr/>
          </p:nvSpPr>
          <p:spPr>
            <a:xfrm>
              <a:off x="3471862" y="3975735"/>
              <a:ext cx="1264920" cy="556260"/>
            </a:xfrm>
            <a:prstGeom prst="rect">
              <a:avLst/>
            </a:prstGeom>
            <a:solidFill>
              <a:srgbClr val="FFFFFF"/>
            </a:solidFill>
            <a:ln w="14288">
              <a:solidFill>
                <a:srgbClr val="5B3FA0"/>
              </a:solidFill>
            </a:ln>
          </p:spPr>
        </p:sp>
        <p:sp>
          <p:nvSpPr>
            <p:cNvPr id="22" name="Rectangle 22"/>
            <p:cNvSpPr/>
            <p:nvPr/>
          </p:nvSpPr>
          <p:spPr>
            <a:xfrm>
              <a:off x="3478530" y="3982402"/>
              <a:ext cx="1250632" cy="209550"/>
            </a:xfrm>
            <a:prstGeom prst="rect">
              <a:avLst/>
            </a:prstGeom>
            <a:solidFill>
              <a:srgbClr val="EEEAF7"/>
            </a:solidFill>
            <a:ln>
              <a:noFill/>
            </a:ln>
          </p:spPr>
        </p:sp>
        <p:sp>
          <p:nvSpPr>
            <p:cNvPr id="23" name="Rectangle 23"/>
            <p:cNvSpPr/>
            <p:nvPr/>
          </p:nvSpPr>
          <p:spPr>
            <a:xfrm>
              <a:off x="3471862" y="4188142"/>
              <a:ext cx="1264920" cy="9525"/>
            </a:xfrm>
            <a:prstGeom prst="rect">
              <a:avLst/>
            </a:prstGeom>
            <a:solidFill>
              <a:srgbClr val="5B3FA0"/>
            </a:solidFill>
            <a:ln>
              <a:noFill/>
            </a:ln>
          </p:spPr>
        </p:sp>
        <p:sp>
          <p:nvSpPr>
            <p:cNvPr id="24" name="Rectangle 24"/>
            <p:cNvSpPr/>
            <p:nvPr/>
          </p:nvSpPr>
          <p:spPr>
            <a:xfrm>
              <a:off x="3471862" y="4283392"/>
              <a:ext cx="1264920" cy="9525"/>
            </a:xfrm>
            <a:prstGeom prst="rect">
              <a:avLst/>
            </a:prstGeom>
            <a:solidFill>
              <a:srgbClr val="5B3FA0"/>
            </a:solidFill>
            <a:ln>
              <a:noFill/>
            </a:ln>
          </p:spPr>
        </p:sp>
        <p:sp>
          <p:nvSpPr>
            <p:cNvPr id="25" name="TextBox 25"/>
            <p:cNvSpPr txBox="1"/>
            <p:nvPr/>
          </p:nvSpPr>
          <p:spPr>
            <a:xfrm>
              <a:off x="1350540" y="2205038"/>
              <a:ext cx="746969" cy="176212"/>
            </a:xfrm>
            <a:prstGeom prst="rect">
              <a:avLst/>
            </a:prstGeom>
            <a:noFill/>
            <a:ln>
              <a:noFill/>
            </a:ln>
          </p:spPr>
          <p:txBody>
            <a:bodyPr wrap="none" lIns="0" tIns="0" rIns="0" bIns="0" anchor="t" anchorCtr="0">
              <a:spAutoFit/>
            </a:bodyPr>
            <a:lstStyle/>
            <a:p>
              <a:pPr algn="ctr"/>
              <a:r>
                <a:rPr lang="en-US" sz="900" b="1" i="1" dirty="0">
                  <a:solidFill>
                    <a:srgbClr val="462F80"/>
                  </a:solidFill>
                  <a:latin typeface="+mn-lt"/>
                  <a:ea typeface="+mn-ea"/>
                  <a:cs typeface="+mn-cs"/>
                </a:rPr>
                <a:t>DBOperator</a:t>
              </a:r>
            </a:p>
          </p:txBody>
        </p:sp>
        <p:sp>
          <p:nvSpPr>
            <p:cNvPr id="26" name="TextBox 26"/>
            <p:cNvSpPr txBox="1"/>
            <p:nvPr/>
          </p:nvSpPr>
          <p:spPr>
            <a:xfrm>
              <a:off x="1127760" y="2529364"/>
              <a:ext cx="1160272" cy="756285"/>
            </a:xfrm>
            <a:prstGeom prst="rect">
              <a:avLst/>
            </a:prstGeom>
            <a:noFill/>
            <a:ln>
              <a:noFill/>
            </a:ln>
          </p:spPr>
          <p:txBody>
            <a:bodyPr wrap="none" lIns="0" tIns="0" rIns="0" bIns="0" anchor="t" anchorCtr="0">
              <a:spAutoFit/>
            </a:bodyPr>
            <a:lstStyle/>
            <a:p>
              <a:pPr algn="l">
                <a:lnSpc>
                  <a:spcPts val="1170"/>
                </a:lnSpc>
              </a:pPr>
              <a:r>
                <a:rPr lang="en-US" sz="820" dirty="0">
                  <a:solidFill>
                    <a:srgbClr val="1F2937"/>
                  </a:solidFill>
                  <a:latin typeface="+mn-lt"/>
                  <a:ea typeface="+mn-ea"/>
                  <a:cs typeface="+mn-cs"/>
                </a:rPr>
                <a:t>+ process()</a:t>
              </a:r>
              <a:br/>
              <a:r>
                <a:rPr lang="en-US" sz="820" dirty="0">
                  <a:solidFill>
                    <a:srgbClr val="1F2937"/>
                  </a:solidFill>
                  <a:latin typeface="+mn-lt"/>
                  <a:ea typeface="+mn-ea"/>
                  <a:cs typeface="+mn-cs"/>
                </a:rPr>
                <a:t>+ connDB() {abstract}</a:t>
              </a:r>
              <a:br/>
              <a:r>
                <a:rPr lang="en-US" sz="820" dirty="0">
                  <a:solidFill>
                    <a:srgbClr val="1F2937"/>
                  </a:solidFill>
                  <a:latin typeface="+mn-lt"/>
                  <a:ea typeface="+mn-ea"/>
                  <a:cs typeface="+mn-cs"/>
                </a:rPr>
                <a:t>+ openDB()</a:t>
              </a:r>
              <a:br/>
              <a:r>
                <a:rPr lang="en-US" sz="820" dirty="0">
                  <a:solidFill>
                    <a:srgbClr val="1F2937"/>
                  </a:solidFill>
                  <a:latin typeface="+mn-lt"/>
                  <a:ea typeface="+mn-ea"/>
                  <a:cs typeface="+mn-cs"/>
                </a:rPr>
                <a:t>+ useDB()</a:t>
              </a:r>
              <a:br/>
              <a:r>
                <a:rPr lang="en-US" sz="820" dirty="0">
                  <a:solidFill>
                    <a:srgbClr val="1F2937"/>
                  </a:solidFill>
                  <a:latin typeface="+mn-lt"/>
                  <a:ea typeface="+mn-ea"/>
                  <a:cs typeface="+mn-cs"/>
                </a:rPr>
                <a:t>+ closeDB()</a:t>
              </a:r>
            </a:p>
          </p:txBody>
        </p:sp>
        <p:sp>
          <p:nvSpPr>
            <p:cNvPr id="27" name="TextBox 27"/>
            <p:cNvSpPr txBox="1"/>
            <p:nvPr/>
          </p:nvSpPr>
          <p:spPr>
            <a:xfrm>
              <a:off x="1014724" y="4027170"/>
              <a:ext cx="1418602" cy="176212"/>
            </a:xfrm>
            <a:prstGeom prst="rect">
              <a:avLst/>
            </a:prstGeom>
            <a:noFill/>
            <a:ln>
              <a:noFill/>
            </a:ln>
          </p:spPr>
          <p:txBody>
            <a:bodyPr wrap="none" lIns="0" tIns="0" rIns="0" bIns="0" anchor="t" anchorCtr="0">
              <a:spAutoFit/>
            </a:bodyPr>
            <a:lstStyle/>
            <a:p>
              <a:pPr algn="ctr"/>
              <a:r>
                <a:rPr lang="en-US" sz="900" b="1" dirty="0">
                  <a:solidFill>
                    <a:srgbClr val="462F80"/>
                  </a:solidFill>
                  <a:latin typeface="+mn-lt"/>
                  <a:ea typeface="+mn-ea"/>
                  <a:cs typeface="+mn-cs"/>
                </a:rPr>
                <a:t>SQLServerDBOperator</a:t>
              </a:r>
            </a:p>
          </p:txBody>
        </p:sp>
        <p:sp>
          <p:nvSpPr>
            <p:cNvPr id="28" name="TextBox 28"/>
            <p:cNvSpPr txBox="1"/>
            <p:nvPr/>
          </p:nvSpPr>
          <p:spPr>
            <a:xfrm>
              <a:off x="1048702" y="4351496"/>
              <a:ext cx="599999"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 connDB()</a:t>
              </a:r>
            </a:p>
          </p:txBody>
        </p:sp>
        <p:sp>
          <p:nvSpPr>
            <p:cNvPr id="29" name="TextBox 29"/>
            <p:cNvSpPr txBox="1"/>
            <p:nvPr/>
          </p:nvSpPr>
          <p:spPr>
            <a:xfrm>
              <a:off x="3522213" y="4027170"/>
              <a:ext cx="1164219" cy="176212"/>
            </a:xfrm>
            <a:prstGeom prst="rect">
              <a:avLst/>
            </a:prstGeom>
            <a:noFill/>
            <a:ln>
              <a:noFill/>
            </a:ln>
          </p:spPr>
          <p:txBody>
            <a:bodyPr wrap="none" lIns="0" tIns="0" rIns="0" bIns="0" anchor="t" anchorCtr="0">
              <a:spAutoFit/>
            </a:bodyPr>
            <a:lstStyle/>
            <a:p>
              <a:pPr algn="ctr"/>
              <a:r>
                <a:rPr lang="en-US" sz="900" b="1" dirty="0">
                  <a:solidFill>
                    <a:srgbClr val="462F80"/>
                  </a:solidFill>
                  <a:latin typeface="+mn-lt"/>
                  <a:ea typeface="+mn-ea"/>
                  <a:cs typeface="+mn-cs"/>
                </a:rPr>
                <a:t>OracleDBOperator</a:t>
              </a:r>
            </a:p>
          </p:txBody>
        </p:sp>
        <p:sp>
          <p:nvSpPr>
            <p:cNvPr id="30" name="TextBox 30"/>
            <p:cNvSpPr txBox="1"/>
            <p:nvPr/>
          </p:nvSpPr>
          <p:spPr>
            <a:xfrm>
              <a:off x="3543300" y="4351496"/>
              <a:ext cx="599999" cy="161925"/>
            </a:xfrm>
            <a:prstGeom prst="rect">
              <a:avLst/>
            </a:prstGeom>
            <a:noFill/>
            <a:ln>
              <a:noFill/>
            </a:ln>
          </p:spPr>
          <p:txBody>
            <a:bodyPr wrap="none" lIns="0" tIns="0" rIns="0" bIns="0" anchor="t" anchorCtr="0">
              <a:spAutoFit/>
            </a:bodyPr>
            <a:lstStyle/>
            <a:p>
              <a:pPr algn="l"/>
              <a:r>
                <a:rPr lang="en-US" sz="820" dirty="0">
                  <a:solidFill>
                    <a:srgbClr val="1F2937"/>
                  </a:solidFill>
                  <a:latin typeface="+mn-lt"/>
                  <a:ea typeface="+mn-ea"/>
                  <a:cs typeface="+mn-cs"/>
                </a:rPr>
                <a:t>+ connDB()</a:t>
              </a:r>
            </a:p>
          </p:txBody>
        </p:sp>
      </p:grpSp>
      <p:grpSp>
        <p:nvGrpSpPr>
          <p:cNvPr id="38" name="c1-callout-2"/>
          <p:cNvGrpSpPr/>
          <p:nvPr/>
        </p:nvGrpSpPr>
        <p:grpSpPr>
          <a:xfrm>
            <a:off x="533400" y="5206365"/>
            <a:ext cx="4760595" cy="1002030"/>
            <a:chOff x="533400" y="5206365"/>
            <a:chExt cx="4760595" cy="1002030"/>
          </a:xfrm>
        </p:grpSpPr>
        <p:sp>
          <p:nvSpPr>
            <p:cNvPr id="32" name="Rectangle 32"/>
            <p:cNvSpPr/>
            <p:nvPr/>
          </p:nvSpPr>
          <p:spPr>
            <a:xfrm>
              <a:off x="533400" y="5206365"/>
              <a:ext cx="4760595" cy="1002030"/>
            </a:xfrm>
            <a:prstGeom prst="roundRect">
              <a:avLst>
                <a:gd name="adj" fmla="val 11407"/>
              </a:avLst>
            </a:prstGeom>
            <a:solidFill>
              <a:srgbClr val="F4F6FB"/>
            </a:solidFill>
            <a:ln>
              <a:noFill/>
            </a:ln>
          </p:spPr>
        </p:sp>
        <p:grpSp>
          <p:nvGrpSpPr>
            <p:cNvPr id="36" name="Group 36"/>
            <p:cNvGrpSpPr/>
            <p:nvPr/>
          </p:nvGrpSpPr>
          <p:grpSpPr>
            <a:xfrm>
              <a:off x="738188" y="5607368"/>
              <a:ext cx="200026" cy="200026"/>
              <a:chOff x="738188" y="5607368"/>
              <a:chExt cx="200026" cy="200026"/>
            </a:xfrm>
          </p:grpSpPr>
          <p:sp>
            <p:nvSpPr>
              <p:cNvPr id="33" name="Freeform 33"/>
              <p:cNvSpPr/>
              <p:nvPr/>
            </p:nvSpPr>
            <p:spPr>
              <a:xfrm>
                <a:off x="738188" y="560736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34" name="Freeform 34"/>
              <p:cNvSpPr/>
              <p:nvPr/>
            </p:nvSpPr>
            <p:spPr>
              <a:xfrm>
                <a:off x="838200" y="567404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35" name="Freeform 35"/>
              <p:cNvSpPr/>
              <p:nvPr/>
            </p:nvSpPr>
            <p:spPr>
              <a:xfrm>
                <a:off x="827088" y="570738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37" name="TextBox 37"/>
            <p:cNvSpPr txBox="1"/>
            <p:nvPr/>
          </p:nvSpPr>
          <p:spPr>
            <a:xfrm>
              <a:off x="1040130" y="5464492"/>
              <a:ext cx="382524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1F2937"/>
                  </a:solidFill>
                  <a:latin typeface="+mn-lt"/>
                  <a:ea typeface="+mn-ea"/>
                  <a:cs typeface="+mn-cs"/>
                </a:rPr>
                <a:t>四个步骤里三个放在父类，只有 connDB() 留</a:t>
              </a:r>
              <a:br/>
              <a:r>
                <a:rPr lang="zh-CN" sz="1500" dirty="0">
                  <a:solidFill>
                    <a:srgbClr val="1F2937"/>
                  </a:solidFill>
                  <a:latin typeface="+mn-lt"/>
                  <a:ea typeface="+mn-ea"/>
                  <a:cs typeface="+mn-cs"/>
                </a:rPr>
                <a:t>给子类。</a:t>
              </a:r>
            </a:p>
          </p:txBody>
        </p:sp>
      </p:grpSp>
      <p:grpSp>
        <p:nvGrpSpPr>
          <p:cNvPr id="43" name="c2-code-1"/>
          <p:cNvGrpSpPr/>
          <p:nvPr/>
        </p:nvGrpSpPr>
        <p:grpSpPr>
          <a:xfrm>
            <a:off x="5598795" y="1967865"/>
            <a:ext cx="6059805" cy="3267075"/>
            <a:chOff x="5598795" y="1967865"/>
            <a:chExt cx="6059805" cy="3267075"/>
          </a:xfrm>
        </p:grpSpPr>
        <p:sp>
          <p:nvSpPr>
            <p:cNvPr id="39" name="Rectangle 39"/>
            <p:cNvSpPr/>
            <p:nvPr/>
          </p:nvSpPr>
          <p:spPr>
            <a:xfrm>
              <a:off x="5598795" y="1967865"/>
              <a:ext cx="6059805" cy="3267075"/>
            </a:xfrm>
            <a:prstGeom prst="roundRect">
              <a:avLst>
                <a:gd name="adj" fmla="val 2915"/>
              </a:avLst>
            </a:prstGeom>
            <a:solidFill>
              <a:srgbClr val="F6F8FA"/>
            </a:solidFill>
            <a:ln w="11430">
              <a:solidFill>
                <a:srgbClr val="D9DFEA"/>
              </a:solidFill>
            </a:ln>
          </p:spPr>
        </p:sp>
        <p:sp>
          <p:nvSpPr>
            <p:cNvPr id="40" name="TextBox 40"/>
            <p:cNvSpPr txBox="1"/>
            <p:nvPr/>
          </p:nvSpPr>
          <p:spPr>
            <a:xfrm>
              <a:off x="5727192" y="2119789"/>
              <a:ext cx="1778657"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DBOperator 与一个具体子类</a:t>
              </a:r>
            </a:p>
          </p:txBody>
        </p:sp>
        <p:sp>
          <p:nvSpPr>
            <p:cNvPr id="41" name="Rectangle 41"/>
            <p:cNvSpPr/>
            <p:nvPr/>
          </p:nvSpPr>
          <p:spPr>
            <a:xfrm>
              <a:off x="5617845" y="2506980"/>
              <a:ext cx="6021705" cy="161925"/>
            </a:xfrm>
            <a:prstGeom prst="rect">
              <a:avLst/>
            </a:prstGeom>
            <a:solidFill>
              <a:srgbClr val="FDEEE7"/>
            </a:solidFill>
            <a:ln>
              <a:noFill/>
            </a:ln>
          </p:spPr>
        </p:sp>
        <p:sp>
          <p:nvSpPr>
            <p:cNvPr id="42" name="TextBox 42"/>
            <p:cNvSpPr txBox="1"/>
            <p:nvPr/>
          </p:nvSpPr>
          <p:spPr>
            <a:xfrm>
              <a:off x="5727382" y="2379345"/>
              <a:ext cx="4387215" cy="2767012"/>
            </a:xfrm>
            <a:prstGeom prst="rect">
              <a:avLst/>
            </a:prstGeom>
            <a:noFill/>
            <a:ln>
              <a:noFill/>
            </a:ln>
          </p:spPr>
          <p:txBody>
            <a:bodyPr wrap="none" lIns="0" tIns="0" rIns="0" bIns="0" anchor="t" anchorCtr="0">
              <a:spAutoFit/>
            </a:bodyPr>
            <a:lstStyle/>
            <a:p>
              <a:pPr algn="l">
                <a:lnSpc>
                  <a:spcPts val="1275"/>
                </a:lnSpc>
              </a:pPr>
              <a:r>
                <a:rPr lang="en-US" sz="900" b="1" dirty="0">
                  <a:solidFill>
                    <a:srgbClr val="5B3FA0"/>
                  </a:solidFill>
                  <a:latin typeface="Consolas"/>
                  <a:ea typeface="Consolas"/>
                  <a:cs typeface="Consolas"/>
                </a:rPr>
                <a:t>public</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abstract</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class</a:t>
              </a:r>
              <a:r>
                <a:rPr lang="en-US" sz="900" dirty="0">
                  <a:solidFill>
                    <a:srgbClr val="1F2937"/>
                  </a:solidFill>
                  <a:latin typeface="Consolas"/>
                  <a:ea typeface="Consolas"/>
                  <a:cs typeface="Consolas"/>
                </a:rPr>
                <a:t xml:space="preserve"> DBOperator {</a:t>
              </a:r>
              <a:b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public</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final</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void</a:t>
              </a:r>
              <a:r>
                <a:rPr lang="en-US" sz="900" dirty="0">
                  <a:solidFill>
                    <a:srgbClr val="1F2937"/>
                  </a:solidFill>
                  <a:latin typeface="Consolas"/>
                  <a:ea typeface="Consolas"/>
                  <a:cs typeface="Consolas"/>
                </a:rPr>
                <a:t xml:space="preserve"> process() {       </a:t>
              </a:r>
              <a:r>
                <a:rPr lang="zh-CN" sz="900" dirty="0">
                  <a:solidFill>
                    <a:srgbClr val="0F7A68"/>
                  </a:solidFill>
                  <a:latin typeface="Consolas"/>
                  <a:ea typeface="Microsoft YaHei"/>
                  <a:cs typeface="Consolas"/>
                </a:rPr>
                <a:t>/* 模板方法 */</a:t>
              </a:r>
              <a:br/>
              <a:r>
                <a:rPr lang="en-US" sz="900" dirty="0">
                  <a:solidFill>
                    <a:srgbClr val="1F2937"/>
                  </a:solidFill>
                  <a:latin typeface="Consolas"/>
                  <a:ea typeface="Consolas"/>
                  <a:cs typeface="Consolas"/>
                </a:rPr>
                <a:t xml:space="preserve">        connDB();</a:t>
              </a:r>
              <a:br/>
              <a:r>
                <a:rPr lang="en-US" sz="900" dirty="0">
                  <a:solidFill>
                    <a:srgbClr val="1F2937"/>
                  </a:solidFill>
                  <a:latin typeface="Consolas"/>
                  <a:ea typeface="Consolas"/>
                  <a:cs typeface="Consolas"/>
                </a:rPr>
                <a:t xml:space="preserve">        openDB();</a:t>
              </a:r>
              <a:br/>
              <a:r>
                <a:rPr lang="en-US" sz="900" dirty="0">
                  <a:solidFill>
                    <a:srgbClr val="1F2937"/>
                  </a:solidFill>
                  <a:latin typeface="Consolas"/>
                  <a:ea typeface="Consolas"/>
                  <a:cs typeface="Consolas"/>
                </a:rPr>
                <a:t xml:space="preserve">        useDB();</a:t>
              </a:r>
              <a:br/>
              <a:r>
                <a:rPr lang="en-US" sz="900" dirty="0">
                  <a:solidFill>
                    <a:srgbClr val="1F2937"/>
                  </a:solidFill>
                  <a:latin typeface="Consolas"/>
                  <a:ea typeface="Consolas"/>
                  <a:cs typeface="Consolas"/>
                </a:rPr>
                <a:t xml:space="preserve">        closeDB();</a:t>
              </a:r>
              <a:br/>
              <a:r>
                <a:rPr lang="zh-CN" sz="900" dirty="0">
                  <a:solidFill>
                    <a:srgbClr val="1F2937"/>
                  </a:solidFill>
                  <a:latin typeface="Consolas"/>
                  <a:ea typeface="Consolas"/>
                  <a:cs typeface="Consolas"/>
                </a:rPr>
                <a:t xml:space="preserve">    }</a:t>
              </a:r>
              <a:br/>
              <a:r>
                <a:rPr lang="zh-CN" sz="900" dirty="0">
                  <a:solidFill>
                    <a:srgbClr val="1F2937"/>
                  </a:solidFill>
                  <a:latin typeface="Consolas"/>
                  <a:ea typeface="Consolas"/>
                  <a:cs typeface="Consolas"/>
                </a:rPr>
                <a:t xml:space="preserve">    </a:t>
              </a:r>
              <a:r>
                <a:rPr lang="zh-CN" sz="900" dirty="0">
                  <a:solidFill>
                    <a:srgbClr val="0F7A68"/>
                  </a:solidFill>
                  <a:latin typeface="Consolas"/>
                  <a:ea typeface="Microsoft YaHei"/>
                  <a:cs typeface="Consolas"/>
                </a:rPr>
                <a:t>/* 只有连接方式因数据库而异 */</a:t>
              </a:r>
              <a:b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protected</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abstract</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void</a:t>
              </a:r>
              <a:r>
                <a:rPr lang="en-US" sz="900" dirty="0">
                  <a:solidFill>
                    <a:srgbClr val="1F2937"/>
                  </a:solidFill>
                  <a:latin typeface="Consolas"/>
                  <a:ea typeface="Consolas"/>
                  <a:cs typeface="Consolas"/>
                </a:rPr>
                <a:t xml:space="preserve"> connDB();</a:t>
              </a:r>
              <a:b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protected</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void</a:t>
              </a:r>
              <a:r>
                <a:rPr lang="en-US" sz="900" dirty="0">
                  <a:solidFill>
                    <a:srgbClr val="1F2937"/>
                  </a:solidFill>
                  <a:latin typeface="Consolas"/>
                  <a:ea typeface="Consolas"/>
                  <a:cs typeface="Consolas"/>
                </a:rPr>
                <a:t xml:space="preserve"> openDB()  { System.out.println(</a:t>
              </a:r>
              <a:r>
                <a:rPr lang="zh-CN" sz="900" dirty="0">
                  <a:solidFill>
                    <a:srgbClr val="C2410C"/>
                  </a:solidFill>
                  <a:latin typeface="Consolas"/>
                  <a:ea typeface="Microsoft YaHei"/>
                  <a:cs typeface="Consolas"/>
                </a:rPr>
                <a:t>"打开数据库"</a:t>
              </a:r>
              <a:r>
                <a:rPr lang="zh-CN" sz="900" dirty="0">
                  <a:solidFill>
                    <a:srgbClr val="1F2937"/>
                  </a:solidFill>
                  <a:latin typeface="Consolas"/>
                  <a:ea typeface="Consolas"/>
                  <a:cs typeface="Consolas"/>
                </a:rPr>
                <a:t>); }</a:t>
              </a:r>
              <a:b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protected</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void</a:t>
              </a:r>
              <a:r>
                <a:rPr lang="en-US" sz="900" dirty="0">
                  <a:solidFill>
                    <a:srgbClr val="1F2937"/>
                  </a:solidFill>
                  <a:latin typeface="Consolas"/>
                  <a:ea typeface="Consolas"/>
                  <a:cs typeface="Consolas"/>
                </a:rPr>
                <a:t xml:space="preserve"> useDB()   { System.out.println(</a:t>
              </a:r>
              <a:r>
                <a:rPr lang="zh-CN" sz="900" dirty="0">
                  <a:solidFill>
                    <a:srgbClr val="C2410C"/>
                  </a:solidFill>
                  <a:latin typeface="Consolas"/>
                  <a:ea typeface="Microsoft YaHei"/>
                  <a:cs typeface="Consolas"/>
                </a:rPr>
                <a:t>"使用数据库"</a:t>
              </a:r>
              <a:r>
                <a:rPr lang="zh-CN" sz="900" dirty="0">
                  <a:solidFill>
                    <a:srgbClr val="1F2937"/>
                  </a:solidFill>
                  <a:latin typeface="Consolas"/>
                  <a:ea typeface="Consolas"/>
                  <a:cs typeface="Consolas"/>
                </a:rPr>
                <a:t>); }</a:t>
              </a:r>
              <a:b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protected</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void</a:t>
              </a:r>
              <a:r>
                <a:rPr lang="en-US" sz="900" dirty="0">
                  <a:solidFill>
                    <a:srgbClr val="1F2937"/>
                  </a:solidFill>
                  <a:latin typeface="Consolas"/>
                  <a:ea typeface="Consolas"/>
                  <a:cs typeface="Consolas"/>
                </a:rPr>
                <a:t xml:space="preserve"> closeDB() { System.out.println(</a:t>
              </a:r>
              <a:r>
                <a:rPr lang="zh-CN" sz="900" dirty="0">
                  <a:solidFill>
                    <a:srgbClr val="C2410C"/>
                  </a:solidFill>
                  <a:latin typeface="Consolas"/>
                  <a:ea typeface="Microsoft YaHei"/>
                  <a:cs typeface="Consolas"/>
                </a:rPr>
                <a:t>"关闭数据库"</a:t>
              </a:r>
              <a:r>
                <a:rPr lang="zh-CN" sz="900" dirty="0">
                  <a:solidFill>
                    <a:srgbClr val="1F2937"/>
                  </a:solidFill>
                  <a:latin typeface="Consolas"/>
                  <a:ea typeface="Consolas"/>
                  <a:cs typeface="Consolas"/>
                </a:rPr>
                <a:t>); }</a:t>
              </a:r>
              <a:br/>
              <a:r>
                <a:rPr lang="zh-CN" sz="900" dirty="0">
                  <a:solidFill>
                    <a:srgbClr val="1F2937"/>
                  </a:solidFill>
                  <a:latin typeface="Consolas"/>
                  <a:ea typeface="Consolas"/>
                  <a:cs typeface="Consolas"/>
                </a:rPr>
                <a:t>}</a:t>
              </a:r>
              <a:br/>
              <a:r>
                <a:rPr lang="zh-CN" sz="900" dirty="0">
                  <a:solidFill>
                    <a:srgbClr val="1F2937"/>
                  </a:solidFill>
                  <a:latin typeface="Consolas"/>
                  <a:ea typeface="Consolas"/>
                  <a:cs typeface="Consolas"/>
                </a:rPr>
                <a:t xml:space="preserve"> </a:t>
              </a:r>
              <a:br/>
              <a:r>
                <a:rPr lang="en-US" sz="900" b="1" dirty="0">
                  <a:solidFill>
                    <a:srgbClr val="5B3FA0"/>
                  </a:solidFill>
                  <a:latin typeface="Consolas"/>
                  <a:ea typeface="Consolas"/>
                  <a:cs typeface="Consolas"/>
                </a:rPr>
                <a:t>public</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class</a:t>
              </a:r>
              <a:r>
                <a:rPr lang="en-US" sz="900" dirty="0">
                  <a:solidFill>
                    <a:srgbClr val="1F2937"/>
                  </a:solidFill>
                  <a:latin typeface="Consolas"/>
                  <a:ea typeface="Consolas"/>
                  <a:cs typeface="Consolas"/>
                </a:rPr>
                <a:t xml:space="preserve"> SQLServerDBOperator </a:t>
              </a:r>
              <a:r>
                <a:rPr lang="en-US" sz="900" b="1" dirty="0">
                  <a:solidFill>
                    <a:srgbClr val="5B3FA0"/>
                  </a:solidFill>
                  <a:latin typeface="Consolas"/>
                  <a:ea typeface="Consolas"/>
                  <a:cs typeface="Consolas"/>
                </a:rPr>
                <a:t>extends</a:t>
              </a:r>
              <a:r>
                <a:rPr lang="en-US" sz="900" dirty="0">
                  <a:solidFill>
                    <a:srgbClr val="1F2937"/>
                  </a:solidFill>
                  <a:latin typeface="Consolas"/>
                  <a:ea typeface="Consolas"/>
                  <a:cs typeface="Consolas"/>
                </a:rPr>
                <a:t xml:space="preserve"> DBOperator {</a:t>
              </a:r>
              <a:b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protected</a:t>
              </a:r>
              <a:r>
                <a:rPr lang="zh-CN" sz="900" dirty="0">
                  <a:solidFill>
                    <a:srgbClr val="1F2937"/>
                  </a:solidFill>
                  <a:latin typeface="Consolas"/>
                  <a:ea typeface="Consolas"/>
                  <a:cs typeface="Consolas"/>
                </a:rPr>
                <a:t xml:space="preserve"> </a:t>
              </a:r>
              <a:r>
                <a:rPr lang="en-US" sz="900" b="1" dirty="0">
                  <a:solidFill>
                    <a:srgbClr val="5B3FA0"/>
                  </a:solidFill>
                  <a:latin typeface="Consolas"/>
                  <a:ea typeface="Consolas"/>
                  <a:cs typeface="Consolas"/>
                </a:rPr>
                <a:t>void</a:t>
              </a:r>
              <a:r>
                <a:rPr lang="en-US" sz="900" dirty="0">
                  <a:solidFill>
                    <a:srgbClr val="1F2937"/>
                  </a:solidFill>
                  <a:latin typeface="Consolas"/>
                  <a:ea typeface="Consolas"/>
                  <a:cs typeface="Consolas"/>
                </a:rPr>
                <a:t xml:space="preserve"> connDB() { System.out.println(</a:t>
              </a:r>
              <a:r>
                <a:rPr lang="zh-CN" sz="900" dirty="0">
                  <a:solidFill>
                    <a:srgbClr val="C2410C"/>
                  </a:solidFill>
                  <a:latin typeface="Consolas"/>
                  <a:ea typeface="Microsoft YaHei"/>
                  <a:cs typeface="Consolas"/>
                </a:rPr>
                <a:t>"连接 SQL Server"</a:t>
              </a:r>
              <a:r>
                <a:rPr lang="zh-CN" sz="900" dirty="0">
                  <a:solidFill>
                    <a:srgbClr val="1F2937"/>
                  </a:solidFill>
                  <a:latin typeface="Consolas"/>
                  <a:ea typeface="Consolas"/>
                  <a:cs typeface="Consolas"/>
                </a:rPr>
                <a:t>); }</a:t>
              </a:r>
              <a:br/>
              <a:r>
                <a:rPr lang="zh-CN" sz="900" dirty="0">
                  <a:solidFill>
                    <a:srgbClr val="1F2937"/>
                  </a:solidFill>
                  <a:latin typeface="Consolas"/>
                  <a:ea typeface="Consolas"/>
                  <a:cs typeface="Consolas"/>
                </a:rPr>
                <a:t>}</a:t>
              </a:r>
            </a:p>
          </p:txBody>
        </p:sp>
      </p:grpSp>
      <p:grpSp>
        <p:nvGrpSpPr>
          <p:cNvPr id="50" name="c2-callout-2"/>
          <p:cNvGrpSpPr/>
          <p:nvPr/>
        </p:nvGrpSpPr>
        <p:grpSpPr>
          <a:xfrm>
            <a:off x="5598795" y="5425440"/>
            <a:ext cx="6059805" cy="782955"/>
            <a:chOff x="5598795" y="5425440"/>
            <a:chExt cx="6059805" cy="782955"/>
          </a:xfrm>
        </p:grpSpPr>
        <p:sp>
          <p:nvSpPr>
            <p:cNvPr id="44" name="Rectangle 44"/>
            <p:cNvSpPr/>
            <p:nvPr/>
          </p:nvSpPr>
          <p:spPr>
            <a:xfrm>
              <a:off x="5598795" y="5425440"/>
              <a:ext cx="6059805" cy="782955"/>
            </a:xfrm>
            <a:prstGeom prst="roundRect">
              <a:avLst>
                <a:gd name="adj" fmla="val 14599"/>
              </a:avLst>
            </a:prstGeom>
            <a:solidFill>
              <a:srgbClr val="FDEEE7"/>
            </a:solidFill>
            <a:ln>
              <a:noFill/>
            </a:ln>
          </p:spPr>
        </p:sp>
        <p:grpSp>
          <p:nvGrpSpPr>
            <p:cNvPr id="48" name="Group 48"/>
            <p:cNvGrpSpPr/>
            <p:nvPr/>
          </p:nvGrpSpPr>
          <p:grpSpPr>
            <a:xfrm>
              <a:off x="5803583" y="5716905"/>
              <a:ext cx="200026" cy="200025"/>
              <a:chOff x="5803583" y="5716905"/>
              <a:chExt cx="200026" cy="200025"/>
            </a:xfrm>
          </p:grpSpPr>
          <p:sp>
            <p:nvSpPr>
              <p:cNvPr id="45" name="Freeform 45"/>
              <p:cNvSpPr/>
              <p:nvPr/>
            </p:nvSpPr>
            <p:spPr>
              <a:xfrm>
                <a:off x="5803583" y="571690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6" name="Freeform 46"/>
              <p:cNvSpPr/>
              <p:nvPr/>
            </p:nvSpPr>
            <p:spPr>
              <a:xfrm>
                <a:off x="5843321" y="576135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7" name="Freeform 47"/>
              <p:cNvSpPr/>
              <p:nvPr/>
            </p:nvSpPr>
            <p:spPr>
              <a:xfrm>
                <a:off x="5878037" y="587248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9" name="TextBox 49"/>
            <p:cNvSpPr txBox="1"/>
            <p:nvPr/>
          </p:nvSpPr>
          <p:spPr>
            <a:xfrm>
              <a:off x="6105525" y="5574030"/>
              <a:ext cx="5101590"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再支持一种数据库，只写一个子类和一个 connDB()，前面四</a:t>
              </a:r>
              <a:br/>
              <a:r>
                <a:rPr lang="zh-CN" sz="1500" dirty="0">
                  <a:solidFill>
                    <a:srgbClr val="C2410C"/>
                  </a:solidFill>
                  <a:latin typeface="+mn-lt"/>
                  <a:ea typeface="+mn-ea"/>
                  <a:cs typeface="+mn-cs"/>
                </a:rPr>
                <a:t>个类一行都不改。</a:t>
              </a:r>
            </a:p>
          </p:txBody>
        </p:sp>
      </p:grpSp>
      <p:grpSp>
        <p:nvGrpSpPr>
          <p:cNvPr id="53" name="footer"/>
          <p:cNvGrpSpPr/>
          <p:nvPr/>
        </p:nvGrpSpPr>
        <p:grpSpPr>
          <a:xfrm>
            <a:off x="528447" y="6581299"/>
            <a:ext cx="11135106" cy="190690"/>
            <a:chOff x="528447" y="6581299"/>
            <a:chExt cx="11135106" cy="190690"/>
          </a:xfrm>
        </p:grpSpPr>
        <p:sp>
          <p:nvSpPr>
            <p:cNvPr id="51" name="TextBox 51"/>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2" name="TextBox 52"/>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21</a:t>
              </a:r>
            </a:p>
          </p:txBody>
        </p:sp>
      </p:gr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5B3FA0"/>
          </a:solidFill>
          <a:ln>
            <a:noFill/>
          </a:ln>
        </p:spPr>
      </p:sp>
      <p:sp>
        <p:nvSpPr>
          <p:cNvPr id="3" name="section-ring"/>
          <p:cNvSpPr/>
          <p:nvPr/>
        </p:nvSpPr>
        <p:spPr>
          <a:xfrm>
            <a:off x="7334250" y="190500"/>
            <a:ext cx="6477000" cy="6477000"/>
          </a:xfrm>
          <a:prstGeom prst="ellipse">
            <a:avLst/>
          </a:prstGeom>
          <a:noFill/>
          <a:ln w="133350">
            <a:solidFill>
              <a:srgbClr val="EEEAF7"/>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05</a:t>
              </a:r>
            </a:p>
          </p:txBody>
        </p:sp>
      </p:grpSp>
      <p:grpSp>
        <p:nvGrpSpPr>
          <p:cNvPr id="18" name="section-title"/>
          <p:cNvGrpSpPr/>
          <p:nvPr/>
        </p:nvGrpSpPr>
        <p:grpSpPr>
          <a:xfrm>
            <a:off x="667512" y="1835468"/>
            <a:ext cx="6437376" cy="3923347"/>
            <a:chOff x="667512" y="1835468"/>
            <a:chExt cx="6437376" cy="39233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第五部分</a:t>
              </a:r>
            </a:p>
          </p:txBody>
        </p:sp>
        <p:sp>
          <p:nvSpPr>
            <p:cNvPr id="7" name="TextBox 7"/>
            <p:cNvSpPr txBox="1"/>
            <p:nvPr/>
          </p:nvSpPr>
          <p:spPr>
            <a:xfrm>
              <a:off x="667512" y="2240280"/>
              <a:ext cx="6437376" cy="1275588"/>
            </a:xfrm>
            <a:prstGeom prst="rect">
              <a:avLst/>
            </a:prstGeom>
            <a:noFill/>
            <a:ln>
              <a:noFill/>
            </a:ln>
          </p:spPr>
          <p:txBody>
            <a:bodyPr wrap="none" lIns="0" tIns="0" rIns="0" bIns="0" anchor="t" anchorCtr="0">
              <a:spAutoFit/>
            </a:bodyPr>
            <a:lstStyle/>
            <a:p>
              <a:pPr algn="l">
                <a:lnSpc>
                  <a:spcPts val="4500"/>
                </a:lnSpc>
              </a:pPr>
              <a:r>
                <a:rPr lang="zh-CN" sz="3600" b="1" dirty="0">
                  <a:solidFill>
                    <a:srgbClr val="1F2937"/>
                  </a:solidFill>
                  <a:latin typeface="+mn-lt"/>
                  <a:ea typeface="+mn-ea"/>
                  <a:cs typeface="+mn-cs"/>
                </a:rPr>
                <a:t>优缺点、适用环境与工程中的应</a:t>
              </a:r>
              <a:br/>
              <a:r>
                <a:rPr lang="zh-CN" sz="3600" b="1" dirty="0">
                  <a:solidFill>
                    <a:srgbClr val="1F2937"/>
                  </a:solidFill>
                  <a:latin typeface="+mn-lt"/>
                  <a:ea typeface="+mn-ea"/>
                  <a:cs typeface="+mn-cs"/>
                </a:rPr>
                <a:t>用</a:t>
              </a:r>
            </a:p>
          </p:txBody>
        </p:sp>
        <p:sp>
          <p:nvSpPr>
            <p:cNvPr id="8" name="Rectangle 8"/>
            <p:cNvSpPr/>
            <p:nvPr/>
          </p:nvSpPr>
          <p:spPr>
            <a:xfrm>
              <a:off x="685800" y="3612832"/>
              <a:ext cx="762000" cy="47625"/>
            </a:xfrm>
            <a:prstGeom prst="roundRect">
              <a:avLst>
                <a:gd name="adj" fmla="val 50000"/>
              </a:avLst>
            </a:prstGeom>
            <a:solidFill>
              <a:srgbClr val="F26B3A"/>
            </a:solidFill>
            <a:ln>
              <a:noFill/>
            </a:ln>
          </p:spPr>
        </p:sp>
        <p:sp>
          <p:nvSpPr>
            <p:cNvPr id="9" name="TextBox 9"/>
            <p:cNvSpPr txBox="1"/>
            <p:nvPr/>
          </p:nvSpPr>
          <p:spPr>
            <a:xfrm>
              <a:off x="677418" y="3949065"/>
              <a:ext cx="2904363"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它换来了什么，又要付出什么</a:t>
              </a:r>
            </a:p>
          </p:txBody>
        </p:sp>
        <p:sp>
          <p:nvSpPr>
            <p:cNvPr id="10" name="Ellipse 10"/>
            <p:cNvSpPr/>
            <p:nvPr/>
          </p:nvSpPr>
          <p:spPr>
            <a:xfrm>
              <a:off x="723900" y="4459605"/>
              <a:ext cx="76200" cy="76200"/>
            </a:xfrm>
            <a:prstGeom prst="ellipse">
              <a:avLst/>
            </a:prstGeom>
            <a:solidFill>
              <a:srgbClr val="5B3FA0"/>
            </a:solidFill>
            <a:ln>
              <a:noFill/>
            </a:ln>
          </p:spPr>
        </p:sp>
        <p:sp>
          <p:nvSpPr>
            <p:cNvPr id="11" name="TextBox 11"/>
            <p:cNvSpPr txBox="1"/>
            <p:nvPr/>
          </p:nvSpPr>
          <p:spPr>
            <a:xfrm>
              <a:off x="906780" y="440245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四条优点</a:t>
              </a:r>
            </a:p>
          </p:txBody>
        </p:sp>
        <p:sp>
          <p:nvSpPr>
            <p:cNvPr id="12" name="Ellipse 12"/>
            <p:cNvSpPr/>
            <p:nvPr/>
          </p:nvSpPr>
          <p:spPr>
            <a:xfrm>
              <a:off x="723900" y="4813935"/>
              <a:ext cx="76200" cy="76200"/>
            </a:xfrm>
            <a:prstGeom prst="ellipse">
              <a:avLst/>
            </a:prstGeom>
            <a:solidFill>
              <a:srgbClr val="5B3FA0"/>
            </a:solidFill>
            <a:ln>
              <a:noFill/>
            </a:ln>
          </p:spPr>
        </p:sp>
        <p:sp>
          <p:nvSpPr>
            <p:cNvPr id="13" name="TextBox 13"/>
            <p:cNvSpPr txBox="1"/>
            <p:nvPr/>
          </p:nvSpPr>
          <p:spPr>
            <a:xfrm>
              <a:off x="906780" y="475678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两条缺点</a:t>
              </a:r>
            </a:p>
          </p:txBody>
        </p:sp>
        <p:sp>
          <p:nvSpPr>
            <p:cNvPr id="14" name="Ellipse 14"/>
            <p:cNvSpPr/>
            <p:nvPr/>
          </p:nvSpPr>
          <p:spPr>
            <a:xfrm>
              <a:off x="723900" y="5168265"/>
              <a:ext cx="76200" cy="76200"/>
            </a:xfrm>
            <a:prstGeom prst="ellipse">
              <a:avLst/>
            </a:prstGeom>
            <a:solidFill>
              <a:srgbClr val="5B3FA0"/>
            </a:solidFill>
            <a:ln>
              <a:noFill/>
            </a:ln>
          </p:spPr>
        </p:sp>
        <p:sp>
          <p:nvSpPr>
            <p:cNvPr id="15" name="TextBox 15"/>
            <p:cNvSpPr txBox="1"/>
            <p:nvPr/>
          </p:nvSpPr>
          <p:spPr>
            <a:xfrm>
              <a:off x="906780" y="5111115"/>
              <a:ext cx="122682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三种适用场合</a:t>
              </a:r>
            </a:p>
          </p:txBody>
        </p:sp>
        <p:sp>
          <p:nvSpPr>
            <p:cNvPr id="16" name="Ellipse 16"/>
            <p:cNvSpPr/>
            <p:nvPr/>
          </p:nvSpPr>
          <p:spPr>
            <a:xfrm>
              <a:off x="723900" y="5522595"/>
              <a:ext cx="76200" cy="76200"/>
            </a:xfrm>
            <a:prstGeom prst="ellipse">
              <a:avLst/>
            </a:prstGeom>
            <a:solidFill>
              <a:srgbClr val="5B3FA0"/>
            </a:solidFill>
            <a:ln>
              <a:noFill/>
            </a:ln>
          </p:spPr>
        </p:sp>
        <p:sp>
          <p:nvSpPr>
            <p:cNvPr id="17" name="TextBox 17"/>
            <p:cNvSpPr txBox="1"/>
            <p:nvPr/>
          </p:nvSpPr>
          <p:spPr>
            <a:xfrm>
              <a:off x="906780" y="5465445"/>
              <a:ext cx="1079754"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框架与 MFC</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22</a:t>
              </a:r>
            </a:p>
          </p:txBody>
        </p:sp>
      </p:gr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4488561" cy="909257"/>
            <a:chOff x="520446" y="342900"/>
            <a:chExt cx="4488561" cy="909257"/>
          </a:xfrm>
        </p:grpSpPr>
        <p:sp>
          <p:nvSpPr>
            <p:cNvPr id="2" name="Rectangle 2"/>
            <p:cNvSpPr/>
            <p:nvPr/>
          </p:nvSpPr>
          <p:spPr>
            <a:xfrm>
              <a:off x="533400" y="342900"/>
              <a:ext cx="3349942" cy="266700"/>
            </a:xfrm>
            <a:prstGeom prst="roundRect">
              <a:avLst>
                <a:gd name="adj" fmla="val 50000"/>
              </a:avLst>
            </a:prstGeom>
            <a:solidFill>
              <a:srgbClr val="EEEAF7"/>
            </a:solidFill>
            <a:ln>
              <a:noFill/>
            </a:ln>
          </p:spPr>
        </p:sp>
        <p:sp>
          <p:nvSpPr>
            <p:cNvPr id="3" name="TextBox 3"/>
            <p:cNvSpPr txBox="1"/>
            <p:nvPr/>
          </p:nvSpPr>
          <p:spPr>
            <a:xfrm>
              <a:off x="568926" y="407194"/>
              <a:ext cx="3279842"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优缺点、适用环境与工程中的应用</a:t>
              </a:r>
            </a:p>
          </p:txBody>
        </p:sp>
        <p:sp>
          <p:nvSpPr>
            <p:cNvPr id="4" name="TextBox 4"/>
            <p:cNvSpPr txBox="1"/>
            <p:nvPr/>
          </p:nvSpPr>
          <p:spPr>
            <a:xfrm>
              <a:off x="520446" y="753428"/>
              <a:ext cx="4488561"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优点：固定的那部分只写一遍</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28" name="c1-bullets-1"/>
          <p:cNvGrpSpPr/>
          <p:nvPr/>
        </p:nvGrpSpPr>
        <p:grpSpPr>
          <a:xfrm>
            <a:off x="526161" y="1547336"/>
            <a:ext cx="5531167" cy="2794540"/>
            <a:chOff x="526161" y="1547336"/>
            <a:chExt cx="5531167" cy="2794540"/>
          </a:xfrm>
        </p:grpSpPr>
        <p:sp>
          <p:nvSpPr>
            <p:cNvPr id="7" name="TextBox 7"/>
            <p:cNvSpPr txBox="1"/>
            <p:nvPr/>
          </p:nvSpPr>
          <p:spPr>
            <a:xfrm>
              <a:off x="526161" y="1547336"/>
              <a:ext cx="1543761" cy="278702"/>
            </a:xfrm>
            <a:prstGeom prst="rect">
              <a:avLst/>
            </a:prstGeom>
            <a:noFill/>
            <a:ln>
              <a:noFill/>
            </a:ln>
          </p:spPr>
          <p:txBody>
            <a:bodyPr wrap="none" lIns="0" tIns="0" rIns="0" bIns="0" anchor="t" anchorCtr="0">
              <a:spAutoFit/>
            </a:bodyPr>
            <a:lstStyle/>
            <a:p>
              <a:pPr algn="l"/>
              <a:r>
                <a:rPr lang="zh-CN" sz="1420" b="1" dirty="0">
                  <a:solidFill>
                    <a:srgbClr val="5B3FA0"/>
                  </a:solidFill>
                  <a:latin typeface="+mn-lt"/>
                  <a:ea typeface="+mn-ea"/>
                  <a:cs typeface="+mn-cs"/>
                </a:rPr>
                <a:t>源课件给出的四条</a:t>
              </a:r>
            </a:p>
          </p:txBody>
        </p:sp>
        <p:sp>
          <p:nvSpPr>
            <p:cNvPr id="8" name="Ellipse 8"/>
            <p:cNvSpPr/>
            <p:nvPr/>
          </p:nvSpPr>
          <p:spPr>
            <a:xfrm>
              <a:off x="533400" y="1873568"/>
              <a:ext cx="201930" cy="201930"/>
            </a:xfrm>
            <a:prstGeom prst="ellipse">
              <a:avLst/>
            </a:prstGeom>
            <a:solidFill>
              <a:srgbClr val="5B3FA0"/>
            </a:solidFill>
            <a:ln>
              <a:noFill/>
            </a:ln>
          </p:spPr>
        </p:sp>
        <p:sp>
          <p:nvSpPr>
            <p:cNvPr id="9" name="TextBox 9"/>
            <p:cNvSpPr txBox="1"/>
            <p:nvPr/>
          </p:nvSpPr>
          <p:spPr>
            <a:xfrm>
              <a:off x="591745" y="191390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1</a:t>
              </a:r>
            </a:p>
          </p:txBody>
        </p:sp>
        <p:sp>
          <p:nvSpPr>
            <p:cNvPr id="10" name="TextBox 10"/>
            <p:cNvSpPr txBox="1"/>
            <p:nvPr/>
          </p:nvSpPr>
          <p:spPr>
            <a:xfrm>
              <a:off x="824293" y="1886426"/>
              <a:ext cx="1352601"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算法框架形式化</a:t>
              </a:r>
            </a:p>
          </p:txBody>
        </p:sp>
        <p:sp>
          <p:nvSpPr>
            <p:cNvPr id="11" name="Rectangle 11"/>
            <p:cNvSpPr/>
            <p:nvPr/>
          </p:nvSpPr>
          <p:spPr>
            <a:xfrm>
              <a:off x="831532" y="2233612"/>
              <a:ext cx="68580" cy="19050"/>
            </a:xfrm>
            <a:prstGeom prst="rect">
              <a:avLst/>
            </a:prstGeom>
            <a:solidFill>
              <a:srgbClr val="5B6475"/>
            </a:solidFill>
            <a:ln>
              <a:noFill/>
            </a:ln>
          </p:spPr>
        </p:sp>
        <p:sp>
          <p:nvSpPr>
            <p:cNvPr id="12" name="TextBox 12"/>
            <p:cNvSpPr txBox="1"/>
            <p:nvPr/>
          </p:nvSpPr>
          <p:spPr>
            <a:xfrm>
              <a:off x="1015936" y="2165032"/>
              <a:ext cx="4858512"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父类形式化地定义一个算法，子类实现细节时改不了步骤的执行次序</a:t>
              </a:r>
            </a:p>
          </p:txBody>
        </p:sp>
        <p:sp>
          <p:nvSpPr>
            <p:cNvPr id="13" name="Ellipse 13"/>
            <p:cNvSpPr/>
            <p:nvPr/>
          </p:nvSpPr>
          <p:spPr>
            <a:xfrm>
              <a:off x="533400" y="2446972"/>
              <a:ext cx="201930" cy="201930"/>
            </a:xfrm>
            <a:prstGeom prst="ellipse">
              <a:avLst/>
            </a:prstGeom>
            <a:solidFill>
              <a:srgbClr val="5B3FA0"/>
            </a:solidFill>
            <a:ln>
              <a:noFill/>
            </a:ln>
          </p:spPr>
        </p:sp>
        <p:sp>
          <p:nvSpPr>
            <p:cNvPr id="14" name="TextBox 14"/>
            <p:cNvSpPr txBox="1"/>
            <p:nvPr/>
          </p:nvSpPr>
          <p:spPr>
            <a:xfrm>
              <a:off x="591745" y="248731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2</a:t>
              </a:r>
            </a:p>
          </p:txBody>
        </p:sp>
        <p:sp>
          <p:nvSpPr>
            <p:cNvPr id="15" name="TextBox 15"/>
            <p:cNvSpPr txBox="1"/>
            <p:nvPr/>
          </p:nvSpPr>
          <p:spPr>
            <a:xfrm>
              <a:off x="824293" y="2459831"/>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提取公共行为</a:t>
              </a:r>
            </a:p>
          </p:txBody>
        </p:sp>
        <p:sp>
          <p:nvSpPr>
            <p:cNvPr id="16" name="Rectangle 16"/>
            <p:cNvSpPr/>
            <p:nvPr/>
          </p:nvSpPr>
          <p:spPr>
            <a:xfrm>
              <a:off x="831532" y="2807018"/>
              <a:ext cx="68580" cy="19050"/>
            </a:xfrm>
            <a:prstGeom prst="rect">
              <a:avLst/>
            </a:prstGeom>
            <a:solidFill>
              <a:srgbClr val="5B6475"/>
            </a:solidFill>
            <a:ln>
              <a:noFill/>
            </a:ln>
          </p:spPr>
        </p:sp>
        <p:sp>
          <p:nvSpPr>
            <p:cNvPr id="17" name="TextBox 17"/>
            <p:cNvSpPr txBox="1"/>
            <p:nvPr/>
          </p:nvSpPr>
          <p:spPr>
            <a:xfrm>
              <a:off x="1015936" y="2739390"/>
              <a:ext cx="50413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把类库中的公共行为放在父类，通过子类实现不同的行为，在类库设计中尤</a:t>
              </a:r>
              <a:br/>
              <a:r>
                <a:rPr lang="zh-CN" sz="1200" dirty="0">
                  <a:solidFill>
                    <a:srgbClr val="5B6475"/>
                  </a:solidFill>
                  <a:latin typeface="+mn-lt"/>
                  <a:ea typeface="+mn-ea"/>
                  <a:cs typeface="+mn-cs"/>
                </a:rPr>
                <a:t>其有用</a:t>
              </a:r>
            </a:p>
          </p:txBody>
        </p:sp>
        <p:sp>
          <p:nvSpPr>
            <p:cNvPr id="18" name="Ellipse 18"/>
            <p:cNvSpPr/>
            <p:nvPr/>
          </p:nvSpPr>
          <p:spPr>
            <a:xfrm>
              <a:off x="533400" y="3241357"/>
              <a:ext cx="201930" cy="201930"/>
            </a:xfrm>
            <a:prstGeom prst="ellipse">
              <a:avLst/>
            </a:prstGeom>
            <a:solidFill>
              <a:srgbClr val="5B3FA0"/>
            </a:solidFill>
            <a:ln>
              <a:noFill/>
            </a:ln>
          </p:spPr>
        </p:sp>
        <p:sp>
          <p:nvSpPr>
            <p:cNvPr id="19" name="TextBox 19"/>
            <p:cNvSpPr txBox="1"/>
            <p:nvPr/>
          </p:nvSpPr>
          <p:spPr>
            <a:xfrm>
              <a:off x="591745" y="3281696"/>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3</a:t>
              </a:r>
            </a:p>
          </p:txBody>
        </p:sp>
        <p:sp>
          <p:nvSpPr>
            <p:cNvPr id="20" name="TextBox 20"/>
            <p:cNvSpPr txBox="1"/>
            <p:nvPr/>
          </p:nvSpPr>
          <p:spPr>
            <a:xfrm>
              <a:off x="824293" y="3254216"/>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支持反向控制</a:t>
              </a:r>
            </a:p>
          </p:txBody>
        </p:sp>
        <p:sp>
          <p:nvSpPr>
            <p:cNvPr id="21" name="Rectangle 21"/>
            <p:cNvSpPr/>
            <p:nvPr/>
          </p:nvSpPr>
          <p:spPr>
            <a:xfrm>
              <a:off x="831532" y="3601402"/>
              <a:ext cx="68580" cy="19050"/>
            </a:xfrm>
            <a:prstGeom prst="rect">
              <a:avLst/>
            </a:prstGeom>
            <a:solidFill>
              <a:srgbClr val="5B6475"/>
            </a:solidFill>
            <a:ln>
              <a:noFill/>
            </a:ln>
          </p:spPr>
        </p:sp>
        <p:sp>
          <p:nvSpPr>
            <p:cNvPr id="22" name="TextBox 22"/>
            <p:cNvSpPr txBox="1"/>
            <p:nvPr/>
          </p:nvSpPr>
          <p:spPr>
            <a:xfrm>
              <a:off x="1015936" y="3533775"/>
              <a:ext cx="4050792"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子类覆盖钩子方法，就能决定某一特定步骤需不需要执行</a:t>
              </a:r>
            </a:p>
          </p:txBody>
        </p:sp>
        <p:sp>
          <p:nvSpPr>
            <p:cNvPr id="23" name="Ellipse 23"/>
            <p:cNvSpPr/>
            <p:nvPr/>
          </p:nvSpPr>
          <p:spPr>
            <a:xfrm>
              <a:off x="533400" y="3815715"/>
              <a:ext cx="201930" cy="201930"/>
            </a:xfrm>
            <a:prstGeom prst="ellipse">
              <a:avLst/>
            </a:prstGeom>
            <a:solidFill>
              <a:srgbClr val="5B3FA0"/>
            </a:solidFill>
            <a:ln>
              <a:noFill/>
            </a:ln>
          </p:spPr>
        </p:sp>
        <p:sp>
          <p:nvSpPr>
            <p:cNvPr id="24" name="TextBox 24"/>
            <p:cNvSpPr txBox="1"/>
            <p:nvPr/>
          </p:nvSpPr>
          <p:spPr>
            <a:xfrm>
              <a:off x="591745" y="3855101"/>
              <a:ext cx="85241" cy="189224"/>
            </a:xfrm>
            <a:prstGeom prst="rect">
              <a:avLst/>
            </a:prstGeom>
            <a:noFill/>
            <a:ln>
              <a:noFill/>
            </a:ln>
          </p:spPr>
          <p:txBody>
            <a:bodyPr wrap="none" lIns="0" tIns="0" rIns="0" bIns="0" anchor="t" anchorCtr="0">
              <a:spAutoFit/>
            </a:bodyPr>
            <a:lstStyle/>
            <a:p>
              <a:pPr algn="ctr"/>
              <a:r>
                <a:rPr lang="zh-CN" sz="970" b="1" dirty="0">
                  <a:solidFill>
                    <a:srgbClr val="FFFFFF"/>
                  </a:solidFill>
                  <a:latin typeface="+mn-lt"/>
                  <a:ea typeface="+mn-ea"/>
                  <a:cs typeface="+mn-cs"/>
                </a:rPr>
                <a:t>4</a:t>
              </a:r>
            </a:p>
          </p:txBody>
        </p:sp>
        <p:sp>
          <p:nvSpPr>
            <p:cNvPr id="25" name="TextBox 25"/>
            <p:cNvSpPr txBox="1"/>
            <p:nvPr/>
          </p:nvSpPr>
          <p:spPr>
            <a:xfrm>
              <a:off x="824293" y="3827621"/>
              <a:ext cx="1161440"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符合开闭原则</a:t>
              </a:r>
            </a:p>
          </p:txBody>
        </p:sp>
        <p:sp>
          <p:nvSpPr>
            <p:cNvPr id="26" name="Rectangle 26"/>
            <p:cNvSpPr/>
            <p:nvPr/>
          </p:nvSpPr>
          <p:spPr>
            <a:xfrm>
              <a:off x="831532" y="4174808"/>
              <a:ext cx="68580" cy="19050"/>
            </a:xfrm>
            <a:prstGeom prst="rect">
              <a:avLst/>
            </a:prstGeom>
            <a:solidFill>
              <a:srgbClr val="5B6475"/>
            </a:solidFill>
            <a:ln>
              <a:noFill/>
            </a:ln>
          </p:spPr>
        </p:sp>
        <p:sp>
          <p:nvSpPr>
            <p:cNvPr id="27" name="TextBox 27"/>
            <p:cNvSpPr txBox="1"/>
            <p:nvPr/>
          </p:nvSpPr>
          <p:spPr>
            <a:xfrm>
              <a:off x="1015936" y="4107180"/>
              <a:ext cx="3889248" cy="234696"/>
            </a:xfrm>
            <a:prstGeom prst="rect">
              <a:avLst/>
            </a:prstGeom>
            <a:noFill/>
            <a:ln>
              <a:noFill/>
            </a:ln>
          </p:spPr>
          <p:txBody>
            <a:bodyPr wrap="none" lIns="0" tIns="0" rIns="0" bIns="0" anchor="t" anchorCtr="0">
              <a:spAutoFit/>
            </a:bodyPr>
            <a:lstStyle/>
            <a:p>
              <a:pPr algn="l"/>
              <a:r>
                <a:rPr lang="zh-CN" sz="1200" dirty="0">
                  <a:solidFill>
                    <a:srgbClr val="5B6475"/>
                  </a:solidFill>
                  <a:latin typeface="+mn-lt"/>
                  <a:ea typeface="+mn-ea"/>
                  <a:cs typeface="+mn-cs"/>
                </a:rPr>
                <a:t>换一种做法就是换一个子类，更换和增加子类都很方便</a:t>
              </a:r>
            </a:p>
          </p:txBody>
        </p:sp>
      </p:grpSp>
      <p:grpSp>
        <p:nvGrpSpPr>
          <p:cNvPr id="34" name="c1-callout-2"/>
          <p:cNvGrpSpPr/>
          <p:nvPr/>
        </p:nvGrpSpPr>
        <p:grpSpPr>
          <a:xfrm>
            <a:off x="533400" y="4479608"/>
            <a:ext cx="5842635" cy="1132522"/>
            <a:chOff x="533400" y="4479608"/>
            <a:chExt cx="5842635" cy="1132522"/>
          </a:xfrm>
        </p:grpSpPr>
        <p:sp>
          <p:nvSpPr>
            <p:cNvPr id="29" name="Rectangle 29"/>
            <p:cNvSpPr/>
            <p:nvPr/>
          </p:nvSpPr>
          <p:spPr>
            <a:xfrm>
              <a:off x="533400" y="4479608"/>
              <a:ext cx="5842635" cy="1132522"/>
            </a:xfrm>
            <a:prstGeom prst="roundRect">
              <a:avLst>
                <a:gd name="adj" fmla="val 10093"/>
              </a:avLst>
            </a:prstGeom>
            <a:solidFill>
              <a:srgbClr val="5B3FA0"/>
            </a:solidFill>
            <a:ln>
              <a:noFill/>
            </a:ln>
          </p:spPr>
        </p:sp>
        <p:grpSp>
          <p:nvGrpSpPr>
            <p:cNvPr id="32" name="Group 32"/>
            <p:cNvGrpSpPr/>
            <p:nvPr/>
          </p:nvGrpSpPr>
          <p:grpSpPr>
            <a:xfrm>
              <a:off x="738188" y="4946335"/>
              <a:ext cx="200023" cy="200023"/>
              <a:chOff x="738188" y="4946335"/>
              <a:chExt cx="200023" cy="200023"/>
            </a:xfrm>
          </p:grpSpPr>
          <p:sp>
            <p:nvSpPr>
              <p:cNvPr id="30" name="Freeform 30"/>
              <p:cNvSpPr/>
              <p:nvPr/>
            </p:nvSpPr>
            <p:spPr>
              <a:xfrm>
                <a:off x="738188" y="494633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31" name="Freeform 31"/>
              <p:cNvSpPr/>
              <p:nvPr/>
            </p:nvSpPr>
            <p:spPr>
              <a:xfrm>
                <a:off x="871538" y="501300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33" name="TextBox 33"/>
            <p:cNvSpPr txBox="1"/>
            <p:nvPr/>
          </p:nvSpPr>
          <p:spPr>
            <a:xfrm>
              <a:off x="1040511" y="4815364"/>
              <a:ext cx="4883658" cy="541592"/>
            </a:xfrm>
            <a:prstGeom prst="rect">
              <a:avLst/>
            </a:prstGeom>
            <a:noFill/>
            <a:ln>
              <a:noFill/>
            </a:ln>
          </p:spPr>
          <p:txBody>
            <a:bodyPr wrap="none" lIns="0" tIns="0" rIns="0" bIns="0" anchor="t" anchorCtr="0">
              <a:spAutoFit/>
            </a:bodyPr>
            <a:lstStyle/>
            <a:p>
              <a:pPr algn="l">
                <a:lnSpc>
                  <a:spcPts val="2070"/>
                </a:lnSpc>
              </a:pPr>
              <a:r>
                <a:rPr lang="zh-CN" sz="1420" dirty="0">
                  <a:solidFill>
                    <a:srgbClr val="FFFFFF"/>
                  </a:solidFill>
                  <a:latin typeface="+mn-lt"/>
                  <a:ea typeface="+mn-ea"/>
                  <a:cs typeface="+mn-cs"/>
                </a:rPr>
                <a:t>四条其实是一条：把变与不变分开，不变的那部分集中到父类</a:t>
              </a:r>
              <a:br/>
              <a:r>
                <a:rPr lang="zh-CN" sz="1420" dirty="0">
                  <a:solidFill>
                    <a:srgbClr val="FFFFFF"/>
                  </a:solidFill>
                  <a:latin typeface="+mn-lt"/>
                  <a:ea typeface="+mn-ea"/>
                  <a:cs typeface="+mn-cs"/>
                </a:rPr>
                <a:t>只写一遍。</a:t>
              </a:r>
            </a:p>
          </p:txBody>
        </p:sp>
      </p:grpSp>
      <p:grpSp>
        <p:nvGrpSpPr>
          <p:cNvPr id="42" name="c2-card-1"/>
          <p:cNvGrpSpPr/>
          <p:nvPr/>
        </p:nvGrpSpPr>
        <p:grpSpPr>
          <a:xfrm>
            <a:off x="6680835" y="1524000"/>
            <a:ext cx="4977765" cy="2338388"/>
            <a:chOff x="6680835" y="1524000"/>
            <a:chExt cx="4977765" cy="2338388"/>
          </a:xfrm>
        </p:grpSpPr>
        <p:sp>
          <p:nvSpPr>
            <p:cNvPr id="35" name="Rectangle 35"/>
            <p:cNvSpPr/>
            <p:nvPr/>
          </p:nvSpPr>
          <p:spPr>
            <a:xfrm>
              <a:off x="6680835" y="1524000"/>
              <a:ext cx="4977765" cy="2338388"/>
            </a:xfrm>
            <a:prstGeom prst="roundRect">
              <a:avLst>
                <a:gd name="adj" fmla="val 5703"/>
              </a:avLst>
            </a:prstGeom>
            <a:solidFill>
              <a:srgbClr val="FFFFFF"/>
            </a:solidFill>
            <a:ln w="14288">
              <a:solidFill>
                <a:srgbClr val="D9DFEA"/>
              </a:solidFill>
            </a:ln>
          </p:spPr>
        </p:sp>
        <p:sp>
          <p:nvSpPr>
            <p:cNvPr id="36" name="Rectangle 36"/>
            <p:cNvSpPr/>
            <p:nvPr/>
          </p:nvSpPr>
          <p:spPr>
            <a:xfrm>
              <a:off x="6690360" y="1657350"/>
              <a:ext cx="47625" cy="2071688"/>
            </a:xfrm>
            <a:prstGeom prst="roundRect">
              <a:avLst>
                <a:gd name="adj" fmla="val 50000"/>
              </a:avLst>
            </a:prstGeom>
            <a:solidFill>
              <a:srgbClr val="5B6475"/>
            </a:solidFill>
            <a:ln>
              <a:noFill/>
            </a:ln>
          </p:spPr>
        </p:sp>
        <p:sp>
          <p:nvSpPr>
            <p:cNvPr id="37" name="Rectangle 37"/>
            <p:cNvSpPr/>
            <p:nvPr/>
          </p:nvSpPr>
          <p:spPr>
            <a:xfrm>
              <a:off x="6922770" y="1727835"/>
              <a:ext cx="1489710" cy="257175"/>
            </a:xfrm>
            <a:prstGeom prst="roundRect">
              <a:avLst>
                <a:gd name="adj" fmla="val 50000"/>
              </a:avLst>
            </a:prstGeom>
            <a:solidFill>
              <a:srgbClr val="F4F6FB"/>
            </a:solidFill>
            <a:ln>
              <a:noFill/>
            </a:ln>
          </p:spPr>
        </p:sp>
        <p:sp>
          <p:nvSpPr>
            <p:cNvPr id="38" name="TextBox 38"/>
            <p:cNvSpPr txBox="1"/>
            <p:nvPr/>
          </p:nvSpPr>
          <p:spPr>
            <a:xfrm>
              <a:off x="6983425" y="1763554"/>
              <a:ext cx="1368400"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它鼓励的是继承复用</a:t>
              </a:r>
            </a:p>
          </p:txBody>
        </p:sp>
        <p:sp>
          <p:nvSpPr>
            <p:cNvPr id="39" name="TextBox 39"/>
            <p:cNvSpPr txBox="1"/>
            <p:nvPr/>
          </p:nvSpPr>
          <p:spPr>
            <a:xfrm>
              <a:off x="8519541" y="1767364"/>
              <a:ext cx="2267303" cy="278702"/>
            </a:xfrm>
            <a:prstGeom prst="rect">
              <a:avLst/>
            </a:prstGeom>
            <a:noFill/>
            <a:ln>
              <a:noFill/>
            </a:ln>
          </p:spPr>
          <p:txBody>
            <a:bodyPr wrap="none" lIns="0" tIns="0" rIns="0" bIns="0" anchor="t" anchorCtr="0">
              <a:spAutoFit/>
            </a:bodyPr>
            <a:lstStyle/>
            <a:p>
              <a:pPr algn="l"/>
              <a:r>
                <a:rPr lang="zh-CN" sz="1420" b="1" dirty="0">
                  <a:solidFill>
                    <a:srgbClr val="1F2937"/>
                  </a:solidFill>
                  <a:latin typeface="+mn-lt"/>
                  <a:ea typeface="+mn-ea"/>
                  <a:cs typeface="+mn-cs"/>
                </a:rPr>
                <a:t>和第 00 讲的结论并不矛盾</a:t>
              </a:r>
            </a:p>
          </p:txBody>
        </p:sp>
        <p:sp>
          <p:nvSpPr>
            <p:cNvPr id="40" name="TextBox 40"/>
            <p:cNvSpPr txBox="1"/>
            <p:nvPr/>
          </p:nvSpPr>
          <p:spPr>
            <a:xfrm>
              <a:off x="6915531" y="2119789"/>
              <a:ext cx="4342638" cy="1093089"/>
            </a:xfrm>
            <a:prstGeom prst="rect">
              <a:avLst/>
            </a:prstGeom>
            <a:noFill/>
            <a:ln>
              <a:noFill/>
            </a:ln>
          </p:spPr>
          <p:txBody>
            <a:bodyPr wrap="none" lIns="0" tIns="0" rIns="0" bIns="0" anchor="t" anchorCtr="0">
              <a:spAutoFit/>
            </a:bodyPr>
            <a:lstStyle/>
            <a:p>
              <a:pPr algn="l">
                <a:lnSpc>
                  <a:spcPts val="2138"/>
                </a:lnSpc>
              </a:pPr>
              <a:r>
                <a:rPr lang="zh-CN" sz="1420" dirty="0">
                  <a:solidFill>
                    <a:srgbClr val="1F2937"/>
                  </a:solidFill>
                  <a:latin typeface="+mn-lt"/>
                  <a:ea typeface="+mn-ea"/>
                  <a:cs typeface="+mn-cs"/>
                </a:rPr>
                <a:t>课程一开始讲过组合复用优先于继承复用。模板方法模</a:t>
              </a:r>
              <a:br/>
              <a:r>
                <a:rPr lang="zh-CN" sz="1420" dirty="0">
                  <a:solidFill>
                    <a:srgbClr val="1F2937"/>
                  </a:solidFill>
                  <a:latin typeface="+mn-lt"/>
                  <a:ea typeface="+mn-ea"/>
                  <a:cs typeface="+mn-cs"/>
                </a:rPr>
                <a:t>式是继承复用少数站得住脚的场合：父类固定的是流</a:t>
              </a:r>
              <a:br/>
              <a:r>
                <a:rPr lang="zh-CN" sz="1420" dirty="0">
                  <a:solidFill>
                    <a:srgbClr val="1F2937"/>
                  </a:solidFill>
                  <a:latin typeface="+mn-lt"/>
                  <a:ea typeface="+mn-ea"/>
                  <a:cs typeface="+mn-cs"/>
                </a:rPr>
                <a:t>程，子类填的是步骤，两者职责清楚，子类也不会看到</a:t>
              </a:r>
              <a:br/>
              <a:r>
                <a:rPr lang="zh-CN" sz="1420" dirty="0">
                  <a:solidFill>
                    <a:srgbClr val="1F2937"/>
                  </a:solidFill>
                  <a:latin typeface="+mn-lt"/>
                  <a:ea typeface="+mn-ea"/>
                  <a:cs typeface="+mn-cs"/>
                </a:rPr>
                <a:t>父类的实现细节。</a:t>
              </a:r>
            </a:p>
          </p:txBody>
        </p:sp>
        <p:sp>
          <p:nvSpPr>
            <p:cNvPr id="41" name="TextBox 41"/>
            <p:cNvSpPr txBox="1"/>
            <p:nvPr/>
          </p:nvSpPr>
          <p:spPr>
            <a:xfrm>
              <a:off x="6916674" y="3249930"/>
              <a:ext cx="4279392" cy="455676"/>
            </a:xfrm>
            <a:prstGeom prst="rect">
              <a:avLst/>
            </a:prstGeom>
            <a:noFill/>
            <a:ln>
              <a:noFill/>
            </a:ln>
          </p:spPr>
          <p:txBody>
            <a:bodyPr wrap="none" lIns="0" tIns="0" rIns="0" bIns="0" anchor="t" anchorCtr="0">
              <a:spAutoFit/>
            </a:bodyPr>
            <a:lstStyle/>
            <a:p>
              <a:pPr algn="l">
                <a:lnSpc>
                  <a:spcPts val="1740"/>
                </a:lnSpc>
              </a:pPr>
              <a:r>
                <a:rPr lang="zh-CN" sz="1200" dirty="0">
                  <a:solidFill>
                    <a:srgbClr val="5B6475"/>
                  </a:solidFill>
                  <a:latin typeface="+mn-lt"/>
                  <a:ea typeface="+mn-ea"/>
                  <a:cs typeface="+mn-cs"/>
                </a:rPr>
                <a:t>源课件的说法：虽然继承复用存在一些问题，但模板方法模式是</a:t>
              </a:r>
              <a:br/>
              <a:r>
                <a:rPr lang="zh-CN" sz="1200" dirty="0">
                  <a:solidFill>
                    <a:srgbClr val="5B6475"/>
                  </a:solidFill>
                  <a:latin typeface="+mn-lt"/>
                  <a:ea typeface="+mn-ea"/>
                  <a:cs typeface="+mn-cs"/>
                </a:rPr>
                <a:t>体现继承优势的模式之一。</a:t>
              </a:r>
            </a:p>
          </p:txBody>
        </p:sp>
      </p:grpSp>
      <p:grpSp>
        <p:nvGrpSpPr>
          <p:cNvPr id="48" name="c2-card-2"/>
          <p:cNvGrpSpPr/>
          <p:nvPr/>
        </p:nvGrpSpPr>
        <p:grpSpPr>
          <a:xfrm>
            <a:off x="6680835" y="4048125"/>
            <a:ext cx="4977765" cy="1564958"/>
            <a:chOff x="6680835" y="4048125"/>
            <a:chExt cx="4977765" cy="1564958"/>
          </a:xfrm>
        </p:grpSpPr>
        <p:sp>
          <p:nvSpPr>
            <p:cNvPr id="43" name="Rectangle 43"/>
            <p:cNvSpPr/>
            <p:nvPr/>
          </p:nvSpPr>
          <p:spPr>
            <a:xfrm>
              <a:off x="6680835" y="4048125"/>
              <a:ext cx="4977765" cy="1564958"/>
            </a:xfrm>
            <a:prstGeom prst="roundRect">
              <a:avLst>
                <a:gd name="adj" fmla="val 8521"/>
              </a:avLst>
            </a:prstGeom>
            <a:solidFill>
              <a:srgbClr val="5B3FA0"/>
            </a:solidFill>
            <a:ln>
              <a:noFill/>
            </a:ln>
          </p:spPr>
        </p:sp>
        <p:sp>
          <p:nvSpPr>
            <p:cNvPr id="44" name="Rectangle 44"/>
            <p:cNvSpPr/>
            <p:nvPr/>
          </p:nvSpPr>
          <p:spPr>
            <a:xfrm>
              <a:off x="6884670" y="4251960"/>
              <a:ext cx="1204912" cy="257175"/>
            </a:xfrm>
            <a:prstGeom prst="roundRect">
              <a:avLst>
                <a:gd name="adj" fmla="val 50000"/>
              </a:avLst>
            </a:prstGeom>
            <a:solidFill>
              <a:srgbClr val="462F80"/>
            </a:solidFill>
            <a:ln>
              <a:noFill/>
            </a:ln>
          </p:spPr>
        </p:sp>
        <p:sp>
          <p:nvSpPr>
            <p:cNvPr id="45" name="TextBox 45"/>
            <p:cNvSpPr txBox="1"/>
            <p:nvPr/>
          </p:nvSpPr>
          <p:spPr>
            <a:xfrm>
              <a:off x="6954177" y="4287679"/>
              <a:ext cx="1066851"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落到两条原则上</a:t>
              </a:r>
            </a:p>
          </p:txBody>
        </p:sp>
        <p:sp>
          <p:nvSpPr>
            <p:cNvPr id="46" name="TextBox 46"/>
            <p:cNvSpPr txBox="1"/>
            <p:nvPr/>
          </p:nvSpPr>
          <p:spPr>
            <a:xfrm>
              <a:off x="8197596" y="4291489"/>
              <a:ext cx="2117242" cy="278702"/>
            </a:xfrm>
            <a:prstGeom prst="rect">
              <a:avLst/>
            </a:prstGeom>
            <a:noFill/>
            <a:ln>
              <a:noFill/>
            </a:ln>
          </p:spPr>
          <p:txBody>
            <a:bodyPr wrap="none" lIns="0" tIns="0" rIns="0" bIns="0" anchor="t" anchorCtr="0">
              <a:spAutoFit/>
            </a:bodyPr>
            <a:lstStyle/>
            <a:p>
              <a:pPr algn="l"/>
              <a:r>
                <a:rPr lang="zh-CN" sz="1420" b="1" dirty="0">
                  <a:solidFill>
                    <a:srgbClr val="FFFFFF"/>
                  </a:solidFill>
                  <a:latin typeface="+mn-lt"/>
                  <a:ea typeface="+mn-ea"/>
                  <a:cs typeface="+mn-cs"/>
                </a:rPr>
                <a:t>开闭原则与里氏代换原则</a:t>
              </a:r>
            </a:p>
          </p:txBody>
        </p:sp>
        <p:sp>
          <p:nvSpPr>
            <p:cNvPr id="47" name="TextBox 47"/>
            <p:cNvSpPr txBox="1"/>
            <p:nvPr/>
          </p:nvSpPr>
          <p:spPr>
            <a:xfrm>
              <a:off x="6877431" y="4642961"/>
              <a:ext cx="4342638" cy="821626"/>
            </a:xfrm>
            <a:prstGeom prst="rect">
              <a:avLst/>
            </a:prstGeom>
            <a:noFill/>
            <a:ln>
              <a:noFill/>
            </a:ln>
          </p:spPr>
          <p:txBody>
            <a:bodyPr wrap="none" lIns="0" tIns="0" rIns="0" bIns="0" anchor="t" anchorCtr="0">
              <a:spAutoFit/>
            </a:bodyPr>
            <a:lstStyle/>
            <a:p>
              <a:pPr algn="l">
                <a:lnSpc>
                  <a:spcPts val="2138"/>
                </a:lnSpc>
              </a:pPr>
              <a:r>
                <a:rPr lang="zh-CN" sz="1420" dirty="0">
                  <a:solidFill>
                    <a:srgbClr val="FFFFFF"/>
                  </a:solidFill>
                  <a:latin typeface="+mn-lt"/>
                  <a:ea typeface="+mn-ea"/>
                  <a:cs typeface="+mn-cs"/>
                </a:rPr>
                <a:t>新增业务靠新增子类，不改父类，这是开闭原则；客户</a:t>
              </a:r>
              <a:br/>
              <a:r>
                <a:rPr lang="zh-CN" sz="1420" dirty="0">
                  <a:solidFill>
                    <a:srgbClr val="FFFFFF"/>
                  </a:solidFill>
                  <a:latin typeface="+mn-lt"/>
                  <a:ea typeface="+mn-ea"/>
                  <a:cs typeface="+mn-cs"/>
                </a:rPr>
                <a:t>端拿父类引用调模板方法，换成任一子类行为都正确，</a:t>
              </a:r>
              <a:br/>
              <a:r>
                <a:rPr lang="zh-CN" sz="1420" dirty="0">
                  <a:solidFill>
                    <a:srgbClr val="FFFFFF"/>
                  </a:solidFill>
                  <a:latin typeface="+mn-lt"/>
                  <a:ea typeface="+mn-ea"/>
                  <a:cs typeface="+mn-cs"/>
                </a:rPr>
                <a:t>这是里氏代换原则（第 02 讲）。</a:t>
              </a:r>
            </a:p>
          </p:txBody>
        </p:sp>
      </p:grpSp>
      <p:grpSp>
        <p:nvGrpSpPr>
          <p:cNvPr id="55" name="takeaway"/>
          <p:cNvGrpSpPr/>
          <p:nvPr/>
        </p:nvGrpSpPr>
        <p:grpSpPr>
          <a:xfrm>
            <a:off x="533400" y="5844540"/>
            <a:ext cx="11125200" cy="518160"/>
            <a:chOff x="533400" y="5844540"/>
            <a:chExt cx="11125200" cy="518160"/>
          </a:xfrm>
        </p:grpSpPr>
        <p:sp>
          <p:nvSpPr>
            <p:cNvPr id="49" name="Rectangle 49"/>
            <p:cNvSpPr/>
            <p:nvPr/>
          </p:nvSpPr>
          <p:spPr>
            <a:xfrm>
              <a:off x="533400" y="5844540"/>
              <a:ext cx="11125200" cy="518160"/>
            </a:xfrm>
            <a:prstGeom prst="roundRect">
              <a:avLst>
                <a:gd name="adj" fmla="val 22059"/>
              </a:avLst>
            </a:prstGeom>
            <a:solidFill>
              <a:srgbClr val="F4F6FB"/>
            </a:solidFill>
            <a:ln>
              <a:noFill/>
            </a:ln>
          </p:spPr>
        </p:sp>
        <p:grpSp>
          <p:nvGrpSpPr>
            <p:cNvPr id="53" name="Group 53"/>
            <p:cNvGrpSpPr/>
            <p:nvPr/>
          </p:nvGrpSpPr>
          <p:grpSpPr>
            <a:xfrm>
              <a:off x="738188" y="6003608"/>
              <a:ext cx="200026" cy="200026"/>
              <a:chOff x="738188" y="6003608"/>
              <a:chExt cx="200026" cy="200026"/>
            </a:xfrm>
          </p:grpSpPr>
          <p:sp>
            <p:nvSpPr>
              <p:cNvPr id="50" name="Freeform 50"/>
              <p:cNvSpPr/>
              <p:nvPr/>
            </p:nvSpPr>
            <p:spPr>
              <a:xfrm>
                <a:off x="738188" y="6003608"/>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51" name="Freeform 51"/>
              <p:cNvSpPr/>
              <p:nvPr/>
            </p:nvSpPr>
            <p:spPr>
              <a:xfrm>
                <a:off x="838200" y="6070283"/>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52" name="Freeform 52"/>
              <p:cNvSpPr/>
              <p:nvPr/>
            </p:nvSpPr>
            <p:spPr>
              <a:xfrm>
                <a:off x="827088" y="6103620"/>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54" name="TextBox 54"/>
            <p:cNvSpPr txBox="1"/>
            <p:nvPr/>
          </p:nvSpPr>
          <p:spPr>
            <a:xfrm>
              <a:off x="1040511" y="6004084"/>
              <a:ext cx="7878384" cy="278702"/>
            </a:xfrm>
            <a:prstGeom prst="rect">
              <a:avLst/>
            </a:prstGeom>
            <a:noFill/>
            <a:ln>
              <a:noFill/>
            </a:ln>
          </p:spPr>
          <p:txBody>
            <a:bodyPr wrap="none" lIns="0" tIns="0" rIns="0" bIns="0" anchor="t" anchorCtr="0">
              <a:spAutoFit/>
            </a:bodyPr>
            <a:lstStyle/>
            <a:p>
              <a:pPr algn="l"/>
              <a:r>
                <a:rPr lang="zh-CN" sz="1420" dirty="0">
                  <a:solidFill>
                    <a:srgbClr val="1F2937"/>
                  </a:solidFill>
                  <a:latin typeface="+mn-lt"/>
                  <a:ea typeface="+mn-ea"/>
                  <a:cs typeface="+mn-cs"/>
                </a:rPr>
                <a:t>源课件写作“里式替换原则”，通行译名是里氏代换原则（Liskov Substitution Principle）。</a:t>
              </a:r>
            </a:p>
          </p:txBody>
        </p:sp>
      </p:grpSp>
      <p:grpSp>
        <p:nvGrpSpPr>
          <p:cNvPr id="58" name="footer"/>
          <p:cNvGrpSpPr/>
          <p:nvPr/>
        </p:nvGrpSpPr>
        <p:grpSpPr>
          <a:xfrm>
            <a:off x="528447" y="6581299"/>
            <a:ext cx="11135106" cy="190690"/>
            <a:chOff x="528447" y="6581299"/>
            <a:chExt cx="11135106" cy="190690"/>
          </a:xfrm>
        </p:grpSpPr>
        <p:sp>
          <p:nvSpPr>
            <p:cNvPr id="56" name="TextBox 56"/>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7" name="TextBox 57"/>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23</a:t>
              </a:r>
            </a:p>
          </p:txBody>
        </p:sp>
      </p:gr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362896" cy="909257"/>
            <a:chOff x="520446" y="342900"/>
            <a:chExt cx="3362896" cy="909257"/>
          </a:xfrm>
        </p:grpSpPr>
        <p:sp>
          <p:nvSpPr>
            <p:cNvPr id="2" name="Rectangle 2"/>
            <p:cNvSpPr/>
            <p:nvPr/>
          </p:nvSpPr>
          <p:spPr>
            <a:xfrm>
              <a:off x="533400" y="342900"/>
              <a:ext cx="3349942" cy="266700"/>
            </a:xfrm>
            <a:prstGeom prst="roundRect">
              <a:avLst>
                <a:gd name="adj" fmla="val 50000"/>
              </a:avLst>
            </a:prstGeom>
            <a:solidFill>
              <a:srgbClr val="EEEAF7"/>
            </a:solidFill>
            <a:ln>
              <a:noFill/>
            </a:ln>
          </p:spPr>
        </p:sp>
        <p:sp>
          <p:nvSpPr>
            <p:cNvPr id="3" name="TextBox 3"/>
            <p:cNvSpPr txBox="1"/>
            <p:nvPr/>
          </p:nvSpPr>
          <p:spPr>
            <a:xfrm>
              <a:off x="568926" y="407194"/>
              <a:ext cx="3279842"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优缺点、适用环境与工程中的应用</a:t>
              </a:r>
            </a:p>
          </p:txBody>
        </p:sp>
        <p:sp>
          <p:nvSpPr>
            <p:cNvPr id="4" name="TextBox 4"/>
            <p:cNvSpPr txBox="1"/>
            <p:nvPr/>
          </p:nvSpPr>
          <p:spPr>
            <a:xfrm>
              <a:off x="520446" y="753428"/>
              <a:ext cx="242887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缺点与适用环境</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14" name="c1-card-1"/>
          <p:cNvGrpSpPr/>
          <p:nvPr/>
        </p:nvGrpSpPr>
        <p:grpSpPr>
          <a:xfrm>
            <a:off x="533400" y="1524000"/>
            <a:ext cx="4977765" cy="2152650"/>
            <a:chOff x="533400" y="1524000"/>
            <a:chExt cx="4977765" cy="2152650"/>
          </a:xfrm>
        </p:grpSpPr>
        <p:sp>
          <p:nvSpPr>
            <p:cNvPr id="7" name="Rectangle 7"/>
            <p:cNvSpPr/>
            <p:nvPr/>
          </p:nvSpPr>
          <p:spPr>
            <a:xfrm>
              <a:off x="533400" y="1524000"/>
              <a:ext cx="4977765" cy="2152650"/>
            </a:xfrm>
            <a:prstGeom prst="roundRect">
              <a:avLst>
                <a:gd name="adj" fmla="val 6195"/>
              </a:avLst>
            </a:prstGeom>
            <a:solidFill>
              <a:srgbClr val="FFFFFF"/>
            </a:solidFill>
            <a:ln w="14288">
              <a:solidFill>
                <a:srgbClr val="D9DFEA"/>
              </a:solidFill>
            </a:ln>
          </p:spPr>
        </p:sp>
        <p:sp>
          <p:nvSpPr>
            <p:cNvPr id="8" name="Rectangle 8"/>
            <p:cNvSpPr/>
            <p:nvPr/>
          </p:nvSpPr>
          <p:spPr>
            <a:xfrm>
              <a:off x="542925" y="1657350"/>
              <a:ext cx="47625" cy="1885950"/>
            </a:xfrm>
            <a:prstGeom prst="roundRect">
              <a:avLst>
                <a:gd name="adj" fmla="val 50000"/>
              </a:avLst>
            </a:prstGeom>
            <a:solidFill>
              <a:srgbClr val="B42318"/>
            </a:solidFill>
            <a:ln>
              <a:noFill/>
            </a:ln>
          </p:spPr>
        </p:sp>
        <p:sp>
          <p:nvSpPr>
            <p:cNvPr id="9" name="Rectangle 9"/>
            <p:cNvSpPr/>
            <p:nvPr/>
          </p:nvSpPr>
          <p:spPr>
            <a:xfrm>
              <a:off x="781050" y="1733550"/>
              <a:ext cx="636270" cy="257175"/>
            </a:xfrm>
            <a:prstGeom prst="roundRect">
              <a:avLst>
                <a:gd name="adj" fmla="val 50000"/>
              </a:avLst>
            </a:prstGeom>
            <a:solidFill>
              <a:srgbClr val="FDECEA"/>
            </a:solidFill>
            <a:ln>
              <a:noFill/>
            </a:ln>
          </p:spPr>
        </p:sp>
        <p:sp>
          <p:nvSpPr>
            <p:cNvPr id="10" name="TextBox 10"/>
            <p:cNvSpPr txBox="1"/>
            <p:nvPr/>
          </p:nvSpPr>
          <p:spPr>
            <a:xfrm>
              <a:off x="867308" y="1769269"/>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缺点一</a:t>
              </a:r>
            </a:p>
          </p:txBody>
        </p:sp>
        <p:sp>
          <p:nvSpPr>
            <p:cNvPr id="11" name="TextBox 11"/>
            <p:cNvSpPr txBox="1"/>
            <p:nvPr/>
          </p:nvSpPr>
          <p:spPr>
            <a:xfrm>
              <a:off x="1524000" y="1768792"/>
              <a:ext cx="163068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类的个数容易膨胀</a:t>
              </a:r>
            </a:p>
          </p:txBody>
        </p:sp>
        <p:sp>
          <p:nvSpPr>
            <p:cNvPr id="12" name="TextBox 12"/>
            <p:cNvSpPr txBox="1"/>
            <p:nvPr/>
          </p:nvSpPr>
          <p:spPr>
            <a:xfrm>
              <a:off x="773430" y="2129790"/>
              <a:ext cx="4206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每一个基本方法的不同实现都要配一个子类。父类</a:t>
              </a:r>
              <a:br/>
              <a:r>
                <a:rPr lang="zh-CN" sz="1500" dirty="0">
                  <a:solidFill>
                    <a:srgbClr val="1F2937"/>
                  </a:solidFill>
                  <a:latin typeface="+mn-lt"/>
                  <a:ea typeface="+mn-ea"/>
                  <a:cs typeface="+mn-cs"/>
                </a:rPr>
                <a:t>中可变的基本方法太多时，子类数量按组合数涨，</a:t>
              </a:r>
              <a:br/>
              <a:r>
                <a:rPr lang="zh-CN" sz="1500" dirty="0">
                  <a:solidFill>
                    <a:srgbClr val="1F2937"/>
                  </a:solidFill>
                  <a:latin typeface="+mn-lt"/>
                  <a:ea typeface="+mn-ea"/>
                  <a:cs typeface="+mn-cs"/>
                </a:rPr>
                <a:t>系统更庞大、设计也更抽象。</a:t>
              </a:r>
            </a:p>
          </p:txBody>
        </p:sp>
        <p:sp>
          <p:nvSpPr>
            <p:cNvPr id="13" name="TextBox 13"/>
            <p:cNvSpPr txBox="1"/>
            <p:nvPr/>
          </p:nvSpPr>
          <p:spPr>
            <a:xfrm>
              <a:off x="774573" y="3033236"/>
              <a:ext cx="4353306"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这种情况可以结合桥接模式（第 21 讲）来设计，把两个变化</a:t>
              </a:r>
              <a:br/>
              <a:r>
                <a:rPr lang="zh-CN" sz="1280" dirty="0">
                  <a:solidFill>
                    <a:srgbClr val="5B6475"/>
                  </a:solidFill>
                  <a:latin typeface="+mn-lt"/>
                  <a:ea typeface="+mn-ea"/>
                  <a:cs typeface="+mn-cs"/>
                </a:rPr>
                <a:t>维度分到两个继承体系里。</a:t>
              </a:r>
            </a:p>
          </p:txBody>
        </p:sp>
      </p:grpSp>
      <p:grpSp>
        <p:nvGrpSpPr>
          <p:cNvPr id="21" name="c1-card-2"/>
          <p:cNvGrpSpPr/>
          <p:nvPr/>
        </p:nvGrpSpPr>
        <p:grpSpPr>
          <a:xfrm>
            <a:off x="533400" y="3867150"/>
            <a:ext cx="4977765" cy="1781175"/>
            <a:chOff x="533400" y="3867150"/>
            <a:chExt cx="4977765" cy="1781175"/>
          </a:xfrm>
        </p:grpSpPr>
        <p:sp>
          <p:nvSpPr>
            <p:cNvPr id="15" name="Rectangle 15"/>
            <p:cNvSpPr/>
            <p:nvPr/>
          </p:nvSpPr>
          <p:spPr>
            <a:xfrm>
              <a:off x="533400" y="3867150"/>
              <a:ext cx="4977765" cy="1781175"/>
            </a:xfrm>
            <a:prstGeom prst="roundRect">
              <a:avLst>
                <a:gd name="adj" fmla="val 7487"/>
              </a:avLst>
            </a:prstGeom>
            <a:solidFill>
              <a:srgbClr val="FFFFFF"/>
            </a:solidFill>
            <a:ln w="14288">
              <a:solidFill>
                <a:srgbClr val="D9DFEA"/>
              </a:solidFill>
            </a:ln>
          </p:spPr>
        </p:sp>
        <p:sp>
          <p:nvSpPr>
            <p:cNvPr id="16" name="Rectangle 16"/>
            <p:cNvSpPr/>
            <p:nvPr/>
          </p:nvSpPr>
          <p:spPr>
            <a:xfrm>
              <a:off x="542925" y="4000500"/>
              <a:ext cx="47625" cy="1514475"/>
            </a:xfrm>
            <a:prstGeom prst="roundRect">
              <a:avLst>
                <a:gd name="adj" fmla="val 50000"/>
              </a:avLst>
            </a:prstGeom>
            <a:solidFill>
              <a:srgbClr val="B42318"/>
            </a:solidFill>
            <a:ln>
              <a:noFill/>
            </a:ln>
          </p:spPr>
        </p:sp>
        <p:sp>
          <p:nvSpPr>
            <p:cNvPr id="17" name="Rectangle 17"/>
            <p:cNvSpPr/>
            <p:nvPr/>
          </p:nvSpPr>
          <p:spPr>
            <a:xfrm>
              <a:off x="781050" y="4076700"/>
              <a:ext cx="636270" cy="257175"/>
            </a:xfrm>
            <a:prstGeom prst="roundRect">
              <a:avLst>
                <a:gd name="adj" fmla="val 50000"/>
              </a:avLst>
            </a:prstGeom>
            <a:solidFill>
              <a:srgbClr val="FDECEA"/>
            </a:solidFill>
            <a:ln>
              <a:noFill/>
            </a:ln>
          </p:spPr>
        </p:sp>
        <p:sp>
          <p:nvSpPr>
            <p:cNvPr id="18" name="TextBox 18"/>
            <p:cNvSpPr txBox="1"/>
            <p:nvPr/>
          </p:nvSpPr>
          <p:spPr>
            <a:xfrm>
              <a:off x="867308" y="4112419"/>
              <a:ext cx="463753" cy="220028"/>
            </a:xfrm>
            <a:prstGeom prst="rect">
              <a:avLst/>
            </a:prstGeom>
            <a:noFill/>
            <a:ln>
              <a:noFill/>
            </a:ln>
          </p:spPr>
          <p:txBody>
            <a:bodyPr wrap="none" lIns="0" tIns="0" rIns="0" bIns="0" anchor="t" anchorCtr="0">
              <a:spAutoFit/>
            </a:bodyPr>
            <a:lstStyle/>
            <a:p>
              <a:pPr algn="ctr"/>
              <a:r>
                <a:rPr lang="zh-CN" sz="1120" b="1" dirty="0">
                  <a:solidFill>
                    <a:srgbClr val="B42318"/>
                  </a:solidFill>
                  <a:latin typeface="+mn-lt"/>
                  <a:ea typeface="+mn-ea"/>
                  <a:cs typeface="+mn-cs"/>
                </a:rPr>
                <a:t>缺点二</a:t>
              </a:r>
            </a:p>
          </p:txBody>
        </p:sp>
        <p:sp>
          <p:nvSpPr>
            <p:cNvPr id="19" name="TextBox 19"/>
            <p:cNvSpPr txBox="1"/>
            <p:nvPr/>
          </p:nvSpPr>
          <p:spPr>
            <a:xfrm>
              <a:off x="1524000" y="4111942"/>
              <a:ext cx="183261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算法骨架不容易升级</a:t>
              </a:r>
            </a:p>
          </p:txBody>
        </p:sp>
        <p:sp>
          <p:nvSpPr>
            <p:cNvPr id="20" name="TextBox 20"/>
            <p:cNvSpPr txBox="1"/>
            <p:nvPr/>
          </p:nvSpPr>
          <p:spPr>
            <a:xfrm>
              <a:off x="773430" y="4472940"/>
              <a:ext cx="4206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要改模板里的算法骨架，可能就要求所有相关子类</a:t>
              </a:r>
              <a:br/>
              <a:r>
                <a:rPr lang="zh-CN" sz="1500" dirty="0">
                  <a:solidFill>
                    <a:srgbClr val="1F2937"/>
                  </a:solidFill>
                  <a:latin typeface="+mn-lt"/>
                  <a:ea typeface="+mn-ea"/>
                  <a:cs typeface="+mn-cs"/>
                </a:rPr>
                <a:t>跟着改。所以抽取骨架时要尽量确保放进去的是不</a:t>
              </a:r>
              <a:br/>
              <a:r>
                <a:rPr lang="zh-CN" sz="1500" dirty="0">
                  <a:solidFill>
                    <a:srgbClr val="1F2937"/>
                  </a:solidFill>
                  <a:latin typeface="+mn-lt"/>
                  <a:ea typeface="+mn-ea"/>
                  <a:cs typeface="+mn-cs"/>
                </a:rPr>
                <a:t>会变化的部分。</a:t>
              </a:r>
            </a:p>
          </p:txBody>
        </p:sp>
      </p:grpSp>
      <p:grpSp>
        <p:nvGrpSpPr>
          <p:cNvPr id="35" name="c2-bullets-1"/>
          <p:cNvGrpSpPr/>
          <p:nvPr/>
        </p:nvGrpSpPr>
        <p:grpSpPr>
          <a:xfrm>
            <a:off x="5808345" y="1548765"/>
            <a:ext cx="5502085" cy="2337720"/>
            <a:chOff x="5808345" y="1548765"/>
            <a:chExt cx="5502085" cy="2337720"/>
          </a:xfrm>
        </p:grpSpPr>
        <p:sp>
          <p:nvSpPr>
            <p:cNvPr id="22" name="TextBox 22"/>
            <p:cNvSpPr txBox="1"/>
            <p:nvPr/>
          </p:nvSpPr>
          <p:spPr>
            <a:xfrm>
              <a:off x="5808345" y="1548765"/>
              <a:ext cx="1226820" cy="293370"/>
            </a:xfrm>
            <a:prstGeom prst="rect">
              <a:avLst/>
            </a:prstGeom>
            <a:noFill/>
            <a:ln>
              <a:noFill/>
            </a:ln>
          </p:spPr>
          <p:txBody>
            <a:bodyPr wrap="none" lIns="0" tIns="0" rIns="0" bIns="0" anchor="t" anchorCtr="0">
              <a:spAutoFit/>
            </a:bodyPr>
            <a:lstStyle/>
            <a:p>
              <a:pPr algn="l"/>
              <a:r>
                <a:rPr lang="zh-CN" sz="1500" b="1" dirty="0">
                  <a:solidFill>
                    <a:srgbClr val="5B3FA0"/>
                  </a:solidFill>
                  <a:latin typeface="+mn-lt"/>
                  <a:ea typeface="+mn-ea"/>
                  <a:cs typeface="+mn-cs"/>
                </a:rPr>
                <a:t>什么时候该用</a:t>
              </a:r>
            </a:p>
          </p:txBody>
        </p:sp>
        <p:sp>
          <p:nvSpPr>
            <p:cNvPr id="23" name="Freeform 23"/>
            <p:cNvSpPr/>
            <p:nvPr/>
          </p:nvSpPr>
          <p:spPr>
            <a:xfrm>
              <a:off x="5815965" y="1934528"/>
              <a:ext cx="143828" cy="117158"/>
            </a:xfrm>
            <a:custGeom>
              <a:avLst/>
              <a:gdLst/>
              <a:ahLst/>
              <a:cxnLst/>
              <a:rect l="l" t="t" r="r" b="b"/>
              <a:pathLst>
                <a:path w="143828" h="117158">
                  <a:moveTo>
                    <a:pt x="0" y="61912"/>
                  </a:moveTo>
                  <a:lnTo>
                    <a:pt x="54292" y="117158"/>
                  </a:lnTo>
                  <a:lnTo>
                    <a:pt x="143828" y="0"/>
                  </a:lnTo>
                </a:path>
              </a:pathLst>
            </a:custGeom>
            <a:noFill/>
            <a:ln w="24765" cap="rnd">
              <a:solidFill>
                <a:srgbClr val="14A38B"/>
              </a:solidFill>
              <a:round/>
            </a:ln>
          </p:spPr>
        </p:sp>
        <p:sp>
          <p:nvSpPr>
            <p:cNvPr id="24" name="TextBox 24"/>
            <p:cNvSpPr txBox="1"/>
            <p:nvPr/>
          </p:nvSpPr>
          <p:spPr>
            <a:xfrm>
              <a:off x="6066473" y="190309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一次实现算法的不变部分</a:t>
              </a:r>
            </a:p>
          </p:txBody>
        </p:sp>
        <p:sp>
          <p:nvSpPr>
            <p:cNvPr id="25" name="Rectangle 25"/>
            <p:cNvSpPr/>
            <p:nvPr/>
          </p:nvSpPr>
          <p:spPr>
            <a:xfrm>
              <a:off x="6074092" y="2269808"/>
              <a:ext cx="73342" cy="19050"/>
            </a:xfrm>
            <a:prstGeom prst="rect">
              <a:avLst/>
            </a:prstGeom>
            <a:solidFill>
              <a:srgbClr val="5B6475"/>
            </a:solidFill>
            <a:ln>
              <a:noFill/>
            </a:ln>
          </p:spPr>
        </p:sp>
        <p:sp>
          <p:nvSpPr>
            <p:cNvPr id="26" name="TextBox 26"/>
            <p:cNvSpPr txBox="1"/>
            <p:nvPr/>
          </p:nvSpPr>
          <p:spPr>
            <a:xfrm>
              <a:off x="6258116" y="2196941"/>
              <a:ext cx="5052314" cy="483680"/>
            </a:xfrm>
            <a:prstGeom prst="rect">
              <a:avLst/>
            </a:prstGeom>
            <a:noFill/>
            <a:ln>
              <a:noFill/>
            </a:ln>
          </p:spPr>
          <p:txBody>
            <a:bodyPr wrap="none" lIns="0" tIns="0" rIns="0" bIns="0" anchor="t" anchorCtr="0">
              <a:spAutoFit/>
            </a:bodyPr>
            <a:lstStyle/>
            <a:p>
              <a:pPr algn="l">
                <a:lnSpc>
                  <a:spcPts val="1845"/>
                </a:lnSpc>
              </a:pPr>
              <a:r>
                <a:rPr lang="zh-CN" sz="1280" dirty="0">
                  <a:solidFill>
                    <a:srgbClr val="5B6475"/>
                  </a:solidFill>
                  <a:latin typeface="+mn-lt"/>
                  <a:ea typeface="+mn-ea"/>
                  <a:cs typeface="+mn-cs"/>
                </a:rPr>
                <a:t>把固定不变的部分设计成模板方法和父类的具体方法，可变的细节留给</a:t>
              </a:r>
              <a:br/>
              <a:r>
                <a:rPr lang="zh-CN" sz="1280" dirty="0">
                  <a:solidFill>
                    <a:srgbClr val="5B6475"/>
                  </a:solidFill>
                  <a:latin typeface="+mn-lt"/>
                  <a:ea typeface="+mn-ea"/>
                  <a:cs typeface="+mn-cs"/>
                </a:rPr>
                <a:t>子类</a:t>
              </a:r>
            </a:p>
          </p:txBody>
        </p:sp>
        <p:sp>
          <p:nvSpPr>
            <p:cNvPr id="27" name="Freeform 27"/>
            <p:cNvSpPr/>
            <p:nvPr/>
          </p:nvSpPr>
          <p:spPr>
            <a:xfrm>
              <a:off x="5815965" y="2772728"/>
              <a:ext cx="143828" cy="116205"/>
            </a:xfrm>
            <a:custGeom>
              <a:avLst/>
              <a:gdLst/>
              <a:ahLst/>
              <a:cxnLst/>
              <a:rect l="l" t="t" r="r" b="b"/>
              <a:pathLst>
                <a:path w="143828" h="116205">
                  <a:moveTo>
                    <a:pt x="0" y="61912"/>
                  </a:moveTo>
                  <a:lnTo>
                    <a:pt x="54292" y="116205"/>
                  </a:lnTo>
                  <a:lnTo>
                    <a:pt x="143828" y="0"/>
                  </a:lnTo>
                </a:path>
              </a:pathLst>
            </a:custGeom>
            <a:noFill/>
            <a:ln w="24765" cap="rnd">
              <a:solidFill>
                <a:srgbClr val="14A38B"/>
              </a:solidFill>
              <a:round/>
            </a:ln>
          </p:spPr>
        </p:sp>
        <p:sp>
          <p:nvSpPr>
            <p:cNvPr id="28" name="TextBox 28"/>
            <p:cNvSpPr txBox="1"/>
            <p:nvPr/>
          </p:nvSpPr>
          <p:spPr>
            <a:xfrm>
              <a:off x="6066473" y="2741295"/>
              <a:ext cx="223647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各子类有公共行为要提取</a:t>
              </a:r>
            </a:p>
          </p:txBody>
        </p:sp>
        <p:sp>
          <p:nvSpPr>
            <p:cNvPr id="29" name="Rectangle 29"/>
            <p:cNvSpPr/>
            <p:nvPr/>
          </p:nvSpPr>
          <p:spPr>
            <a:xfrm>
              <a:off x="6074092" y="3107055"/>
              <a:ext cx="73342" cy="19050"/>
            </a:xfrm>
            <a:prstGeom prst="rect">
              <a:avLst/>
            </a:prstGeom>
            <a:solidFill>
              <a:srgbClr val="5B6475"/>
            </a:solidFill>
            <a:ln>
              <a:noFill/>
            </a:ln>
          </p:spPr>
        </p:sp>
        <p:sp>
          <p:nvSpPr>
            <p:cNvPr id="30" name="TextBox 30"/>
            <p:cNvSpPr txBox="1"/>
            <p:nvPr/>
          </p:nvSpPr>
          <p:spPr>
            <a:xfrm>
              <a:off x="6258116" y="3034189"/>
              <a:ext cx="363154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公共行为集中到一个公共父类中，避免代码重复</a:t>
              </a:r>
            </a:p>
          </p:txBody>
        </p:sp>
        <p:sp>
          <p:nvSpPr>
            <p:cNvPr id="31" name="Freeform 31"/>
            <p:cNvSpPr/>
            <p:nvPr/>
          </p:nvSpPr>
          <p:spPr>
            <a:xfrm>
              <a:off x="5815965" y="3375660"/>
              <a:ext cx="143828" cy="116205"/>
            </a:xfrm>
            <a:custGeom>
              <a:avLst/>
              <a:gdLst/>
              <a:ahLst/>
              <a:cxnLst/>
              <a:rect l="l" t="t" r="r" b="b"/>
              <a:pathLst>
                <a:path w="143828" h="116205">
                  <a:moveTo>
                    <a:pt x="0" y="61912"/>
                  </a:moveTo>
                  <a:lnTo>
                    <a:pt x="54292" y="116205"/>
                  </a:lnTo>
                  <a:lnTo>
                    <a:pt x="143828" y="0"/>
                  </a:lnTo>
                </a:path>
              </a:pathLst>
            </a:custGeom>
            <a:noFill/>
            <a:ln w="24765" cap="rnd">
              <a:solidFill>
                <a:srgbClr val="14A38B"/>
              </a:solidFill>
              <a:round/>
            </a:ln>
          </p:spPr>
        </p:sp>
        <p:sp>
          <p:nvSpPr>
            <p:cNvPr id="32" name="TextBox 32"/>
            <p:cNvSpPr txBox="1"/>
            <p:nvPr/>
          </p:nvSpPr>
          <p:spPr>
            <a:xfrm>
              <a:off x="6066473" y="3344228"/>
              <a:ext cx="203454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需要子类反向控制父类</a:t>
              </a:r>
            </a:p>
          </p:txBody>
        </p:sp>
        <p:sp>
          <p:nvSpPr>
            <p:cNvPr id="33" name="Rectangle 33"/>
            <p:cNvSpPr/>
            <p:nvPr/>
          </p:nvSpPr>
          <p:spPr>
            <a:xfrm>
              <a:off x="6074092" y="3710940"/>
              <a:ext cx="73342" cy="19050"/>
            </a:xfrm>
            <a:prstGeom prst="rect">
              <a:avLst/>
            </a:prstGeom>
            <a:solidFill>
              <a:srgbClr val="5B6475"/>
            </a:solidFill>
            <a:ln>
              <a:noFill/>
            </a:ln>
          </p:spPr>
        </p:sp>
        <p:sp>
          <p:nvSpPr>
            <p:cNvPr id="34" name="TextBox 34"/>
            <p:cNvSpPr txBox="1"/>
            <p:nvPr/>
          </p:nvSpPr>
          <p:spPr>
            <a:xfrm>
              <a:off x="6258116" y="3637121"/>
              <a:ext cx="3631540" cy="249364"/>
            </a:xfrm>
            <a:prstGeom prst="rect">
              <a:avLst/>
            </a:prstGeom>
            <a:noFill/>
            <a:ln>
              <a:noFill/>
            </a:ln>
          </p:spPr>
          <p:txBody>
            <a:bodyPr wrap="none" lIns="0" tIns="0" rIns="0" bIns="0" anchor="t" anchorCtr="0">
              <a:spAutoFit/>
            </a:bodyPr>
            <a:lstStyle/>
            <a:p>
              <a:pPr algn="l"/>
              <a:r>
                <a:rPr lang="zh-CN" sz="1280" dirty="0">
                  <a:solidFill>
                    <a:srgbClr val="5B6475"/>
                  </a:solidFill>
                  <a:latin typeface="+mn-lt"/>
                  <a:ea typeface="+mn-ea"/>
                  <a:cs typeface="+mn-cs"/>
                </a:rPr>
                <a:t>通过钩子方法决定父类算法中某个步骤是否执行</a:t>
              </a:r>
            </a:p>
          </p:txBody>
        </p:sp>
      </p:grpSp>
      <p:grpSp>
        <p:nvGrpSpPr>
          <p:cNvPr id="42" name="c2-card-2"/>
          <p:cNvGrpSpPr/>
          <p:nvPr/>
        </p:nvGrpSpPr>
        <p:grpSpPr>
          <a:xfrm>
            <a:off x="5815965" y="4027170"/>
            <a:ext cx="5842635" cy="1621155"/>
            <a:chOff x="5815965" y="4027170"/>
            <a:chExt cx="5842635" cy="1621155"/>
          </a:xfrm>
        </p:grpSpPr>
        <p:sp>
          <p:nvSpPr>
            <p:cNvPr id="36" name="Rectangle 36"/>
            <p:cNvSpPr/>
            <p:nvPr/>
          </p:nvSpPr>
          <p:spPr>
            <a:xfrm>
              <a:off x="5815965" y="4027170"/>
              <a:ext cx="5842635" cy="1621155"/>
            </a:xfrm>
            <a:prstGeom prst="roundRect">
              <a:avLst>
                <a:gd name="adj" fmla="val 8226"/>
              </a:avLst>
            </a:prstGeom>
            <a:solidFill>
              <a:srgbClr val="FFFFFF"/>
            </a:solidFill>
            <a:ln w="14288">
              <a:solidFill>
                <a:srgbClr val="D9DFEA"/>
              </a:solidFill>
            </a:ln>
          </p:spPr>
        </p:sp>
        <p:sp>
          <p:nvSpPr>
            <p:cNvPr id="37" name="Rectangle 37"/>
            <p:cNvSpPr/>
            <p:nvPr/>
          </p:nvSpPr>
          <p:spPr>
            <a:xfrm>
              <a:off x="5825490" y="4160520"/>
              <a:ext cx="47625" cy="1354455"/>
            </a:xfrm>
            <a:prstGeom prst="roundRect">
              <a:avLst>
                <a:gd name="adj" fmla="val 50000"/>
              </a:avLst>
            </a:prstGeom>
            <a:solidFill>
              <a:srgbClr val="5B6475"/>
            </a:solidFill>
            <a:ln>
              <a:noFill/>
            </a:ln>
          </p:spPr>
        </p:sp>
        <p:sp>
          <p:nvSpPr>
            <p:cNvPr id="38" name="Rectangle 38"/>
            <p:cNvSpPr/>
            <p:nvPr/>
          </p:nvSpPr>
          <p:spPr>
            <a:xfrm>
              <a:off x="6063615" y="4236720"/>
              <a:ext cx="778192" cy="257175"/>
            </a:xfrm>
            <a:prstGeom prst="roundRect">
              <a:avLst>
                <a:gd name="adj" fmla="val 50000"/>
              </a:avLst>
            </a:prstGeom>
            <a:solidFill>
              <a:srgbClr val="F4F6FB"/>
            </a:solidFill>
            <a:ln>
              <a:noFill/>
            </a:ln>
          </p:spPr>
        </p:sp>
        <p:sp>
          <p:nvSpPr>
            <p:cNvPr id="39" name="TextBox 39"/>
            <p:cNvSpPr txBox="1"/>
            <p:nvPr/>
          </p:nvSpPr>
          <p:spPr>
            <a:xfrm>
              <a:off x="6144971" y="4272439"/>
              <a:ext cx="614528"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反过来看</a:t>
              </a:r>
            </a:p>
          </p:txBody>
        </p:sp>
        <p:sp>
          <p:nvSpPr>
            <p:cNvPr id="40" name="TextBox 40"/>
            <p:cNvSpPr txBox="1"/>
            <p:nvPr/>
          </p:nvSpPr>
          <p:spPr>
            <a:xfrm>
              <a:off x="6948488" y="4271962"/>
              <a:ext cx="142875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什么时候不该用</a:t>
              </a:r>
            </a:p>
          </p:txBody>
        </p:sp>
        <p:sp>
          <p:nvSpPr>
            <p:cNvPr id="41" name="TextBox 41"/>
            <p:cNvSpPr txBox="1"/>
            <p:nvPr/>
          </p:nvSpPr>
          <p:spPr>
            <a:xfrm>
              <a:off x="6055995" y="4632960"/>
              <a:ext cx="51587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几个类的流程只是表面相似、语义并不相同时，硬提一个父类</a:t>
              </a:r>
              <a:br/>
              <a:r>
                <a:rPr lang="zh-CN" sz="1500" dirty="0">
                  <a:solidFill>
                    <a:srgbClr val="1F2937"/>
                  </a:solidFill>
                  <a:latin typeface="+mn-lt"/>
                  <a:ea typeface="+mn-ea"/>
                  <a:cs typeface="+mn-cs"/>
                </a:rPr>
                <a:t>出来，以后每加一种情况都要往父类里塞条件判断，比各写各</a:t>
              </a:r>
              <a:br/>
              <a:r>
                <a:rPr lang="zh-CN" sz="1500" dirty="0">
                  <a:solidFill>
                    <a:srgbClr val="1F2937"/>
                  </a:solidFill>
                  <a:latin typeface="+mn-lt"/>
                  <a:ea typeface="+mn-ea"/>
                  <a:cs typeface="+mn-cs"/>
                </a:rPr>
                <a:t>的更难维护。</a:t>
              </a:r>
            </a:p>
          </p:txBody>
        </p:sp>
      </p:grpSp>
      <p:grpSp>
        <p:nvGrpSpPr>
          <p:cNvPr id="49" name="takeaway"/>
          <p:cNvGrpSpPr/>
          <p:nvPr/>
        </p:nvGrpSpPr>
        <p:grpSpPr>
          <a:xfrm>
            <a:off x="533400" y="5829300"/>
            <a:ext cx="11125200" cy="533400"/>
            <a:chOff x="533400" y="5829300"/>
            <a:chExt cx="11125200" cy="533400"/>
          </a:xfrm>
        </p:grpSpPr>
        <p:sp>
          <p:nvSpPr>
            <p:cNvPr id="43" name="Rectangle 43"/>
            <p:cNvSpPr/>
            <p:nvPr/>
          </p:nvSpPr>
          <p:spPr>
            <a:xfrm>
              <a:off x="533400" y="5829300"/>
              <a:ext cx="11125200" cy="533400"/>
            </a:xfrm>
            <a:prstGeom prst="roundRect">
              <a:avLst>
                <a:gd name="adj" fmla="val 21429"/>
              </a:avLst>
            </a:prstGeom>
            <a:solidFill>
              <a:srgbClr val="FDECEA"/>
            </a:solidFill>
            <a:ln>
              <a:noFill/>
            </a:ln>
          </p:spPr>
        </p:sp>
        <p:grpSp>
          <p:nvGrpSpPr>
            <p:cNvPr id="47" name="Group 47"/>
            <p:cNvGrpSpPr/>
            <p:nvPr/>
          </p:nvGrpSpPr>
          <p:grpSpPr>
            <a:xfrm>
              <a:off x="726129" y="5992296"/>
              <a:ext cx="224134" cy="192560"/>
              <a:chOff x="726129" y="5992296"/>
              <a:chExt cx="224134" cy="192560"/>
            </a:xfrm>
          </p:grpSpPr>
          <p:sp>
            <p:nvSpPr>
              <p:cNvPr id="44" name="Freeform 44"/>
              <p:cNvSpPr/>
              <p:nvPr/>
            </p:nvSpPr>
            <p:spPr>
              <a:xfrm>
                <a:off x="838200" y="6062663"/>
                <a:ext cx="9525" cy="44450"/>
              </a:xfrm>
              <a:custGeom>
                <a:avLst/>
                <a:gdLst/>
                <a:ahLst/>
                <a:cxnLst/>
                <a:rect l="l" t="t" r="r" b="b"/>
                <a:pathLst>
                  <a:path w="9525" h="44450">
                    <a:moveTo>
                      <a:pt x="0" y="0"/>
                    </a:moveTo>
                    <a:lnTo>
                      <a:pt x="0" y="44450"/>
                    </a:lnTo>
                  </a:path>
                </a:pathLst>
              </a:custGeom>
              <a:noFill/>
              <a:ln w="22225">
                <a:solidFill>
                  <a:srgbClr val="B42318"/>
                </a:solidFill>
              </a:ln>
            </p:spPr>
          </p:sp>
          <p:sp>
            <p:nvSpPr>
              <p:cNvPr id="45" name="Freeform 45"/>
              <p:cNvSpPr/>
              <p:nvPr/>
            </p:nvSpPr>
            <p:spPr>
              <a:xfrm>
                <a:off x="726129" y="5992296"/>
                <a:ext cx="224134" cy="192560"/>
              </a:xfrm>
              <a:custGeom>
                <a:avLst/>
                <a:gdLst/>
                <a:ahLst/>
                <a:cxnLst/>
                <a:rect l="l" t="t" r="r" b="b"/>
                <a:pathLst>
                  <a:path w="224134" h="192560">
                    <a:moveTo>
                      <a:pt x="93880" y="10259"/>
                    </a:moveTo>
                    <a:lnTo>
                      <a:pt x="3802" y="160656"/>
                    </a:lnTo>
                    <a:cubicBezTo>
                      <a:pt x="23" y="167200"/>
                      <a:pt x="0" y="175257"/>
                      <a:pt x="3741" y="181823"/>
                    </a:cubicBezTo>
                    <a:cubicBezTo>
                      <a:pt x="7482" y="188388"/>
                      <a:pt x="14426" y="192476"/>
                      <a:pt x="21982" y="192560"/>
                    </a:cubicBezTo>
                    <a:lnTo>
                      <a:pt x="202160" y="192560"/>
                    </a:lnTo>
                    <a:cubicBezTo>
                      <a:pt x="209713" y="192473"/>
                      <a:pt x="216653" y="188387"/>
                      <a:pt x="220393" y="181826"/>
                    </a:cubicBezTo>
                    <a:cubicBezTo>
                      <a:pt x="224134" y="175264"/>
                      <a:pt x="224114" y="167211"/>
                      <a:pt x="220341" y="160667"/>
                    </a:cubicBezTo>
                    <a:lnTo>
                      <a:pt x="130262" y="10248"/>
                    </a:lnTo>
                    <a:cubicBezTo>
                      <a:pt x="126408" y="3886"/>
                      <a:pt x="119510" y="0"/>
                      <a:pt x="112071" y="0"/>
                    </a:cubicBezTo>
                    <a:cubicBezTo>
                      <a:pt x="104633" y="0"/>
                      <a:pt x="97734" y="3886"/>
                      <a:pt x="93880" y="10248"/>
                    </a:cubicBezTo>
                  </a:path>
                </a:pathLst>
              </a:custGeom>
              <a:noFill/>
              <a:ln w="22225">
                <a:solidFill>
                  <a:srgbClr val="B42318"/>
                </a:solidFill>
              </a:ln>
            </p:spPr>
          </p:sp>
          <p:sp>
            <p:nvSpPr>
              <p:cNvPr id="46" name="Freeform 46"/>
              <p:cNvSpPr/>
              <p:nvPr/>
            </p:nvSpPr>
            <p:spPr>
              <a:xfrm>
                <a:off x="838200" y="6140451"/>
                <a:ext cx="9525" cy="9525"/>
              </a:xfrm>
              <a:custGeom>
                <a:avLst/>
                <a:gdLst/>
                <a:ahLst/>
                <a:cxnLst/>
                <a:rect l="l" t="t" r="r" b="b"/>
                <a:pathLst>
                  <a:path w="9525" h="9525">
                    <a:moveTo>
                      <a:pt x="0" y="0"/>
                    </a:moveTo>
                    <a:lnTo>
                      <a:pt x="111" y="0"/>
                    </a:lnTo>
                  </a:path>
                </a:pathLst>
              </a:custGeom>
              <a:noFill/>
              <a:ln w="22225">
                <a:solidFill>
                  <a:srgbClr val="B42318"/>
                </a:solidFill>
              </a:ln>
            </p:spPr>
          </p:sp>
        </p:grpSp>
        <p:sp>
          <p:nvSpPr>
            <p:cNvPr id="48" name="TextBox 48"/>
            <p:cNvSpPr txBox="1"/>
            <p:nvPr/>
          </p:nvSpPr>
          <p:spPr>
            <a:xfrm>
              <a:off x="1040130" y="5991225"/>
              <a:ext cx="8294370" cy="293370"/>
            </a:xfrm>
            <a:prstGeom prst="rect">
              <a:avLst/>
            </a:prstGeom>
            <a:noFill/>
            <a:ln>
              <a:noFill/>
            </a:ln>
          </p:spPr>
          <p:txBody>
            <a:bodyPr wrap="none" lIns="0" tIns="0" rIns="0" bIns="0" anchor="t" anchorCtr="0">
              <a:spAutoFit/>
            </a:bodyPr>
            <a:lstStyle/>
            <a:p>
              <a:pPr algn="l"/>
              <a:r>
                <a:rPr lang="zh-CN" sz="1500" dirty="0">
                  <a:solidFill>
                    <a:srgbClr val="B42318"/>
                  </a:solidFill>
                  <a:latin typeface="+mn-lt"/>
                  <a:ea typeface="+mn-ea"/>
                  <a:cs typeface="+mn-cs"/>
                </a:rPr>
                <a:t>可变步骤超过两个就要警惕。这时先考虑把其中一个维度用组合抽出去，而不是继续加子类。</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24</a:t>
              </a:r>
            </a:p>
          </p:txBody>
        </p:sp>
      </p:gr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518404" cy="909257"/>
            <a:chOff x="520446" y="342900"/>
            <a:chExt cx="5518404" cy="909257"/>
          </a:xfrm>
        </p:grpSpPr>
        <p:sp>
          <p:nvSpPr>
            <p:cNvPr id="2" name="Rectangle 2"/>
            <p:cNvSpPr/>
            <p:nvPr/>
          </p:nvSpPr>
          <p:spPr>
            <a:xfrm>
              <a:off x="533400" y="342900"/>
              <a:ext cx="3349942" cy="266700"/>
            </a:xfrm>
            <a:prstGeom prst="roundRect">
              <a:avLst>
                <a:gd name="adj" fmla="val 50000"/>
              </a:avLst>
            </a:prstGeom>
            <a:solidFill>
              <a:srgbClr val="EEEAF7"/>
            </a:solidFill>
            <a:ln>
              <a:noFill/>
            </a:ln>
          </p:spPr>
        </p:sp>
        <p:sp>
          <p:nvSpPr>
            <p:cNvPr id="3" name="TextBox 3"/>
            <p:cNvSpPr txBox="1"/>
            <p:nvPr/>
          </p:nvSpPr>
          <p:spPr>
            <a:xfrm>
              <a:off x="568926" y="407194"/>
              <a:ext cx="3279842"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优缺点、适用环境与工程中的应用</a:t>
              </a:r>
            </a:p>
          </p:txBody>
        </p:sp>
        <p:sp>
          <p:nvSpPr>
            <p:cNvPr id="4" name="TextBox 4"/>
            <p:cNvSpPr txBox="1"/>
            <p:nvPr/>
          </p:nvSpPr>
          <p:spPr>
            <a:xfrm>
              <a:off x="520446" y="753428"/>
              <a:ext cx="5518404"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工程里的模板方法：框架的基本手法</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161" y="1547336"/>
            <a:ext cx="9190177" cy="278702"/>
            <a:chOff x="526161" y="1547336"/>
            <a:chExt cx="9190177" cy="278702"/>
          </a:xfrm>
        </p:grpSpPr>
        <p:sp>
          <p:nvSpPr>
            <p:cNvPr id="7" name="TextBox 7"/>
            <p:cNvSpPr txBox="1"/>
            <p:nvPr/>
          </p:nvSpPr>
          <p:spPr>
            <a:xfrm>
              <a:off x="526161" y="1547336"/>
              <a:ext cx="9190177"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框架定流程、使用者填步骤，这正是模板方法模式。所以它在框架代码里出现的密度比在业务代码里高得多。</a:t>
              </a:r>
            </a:p>
          </p:txBody>
        </p:sp>
      </p:grpSp>
      <p:grpSp>
        <p:nvGrpSpPr>
          <p:cNvPr id="13" name="c1-code-1"/>
          <p:cNvGrpSpPr/>
          <p:nvPr/>
        </p:nvGrpSpPr>
        <p:grpSpPr>
          <a:xfrm>
            <a:off x="533400" y="1941195"/>
            <a:ext cx="5626418" cy="2283142"/>
            <a:chOff x="533400" y="1941195"/>
            <a:chExt cx="5626418" cy="2283142"/>
          </a:xfrm>
        </p:grpSpPr>
        <p:sp>
          <p:nvSpPr>
            <p:cNvPr id="9" name="Rectangle 9"/>
            <p:cNvSpPr/>
            <p:nvPr/>
          </p:nvSpPr>
          <p:spPr>
            <a:xfrm>
              <a:off x="533400" y="1941195"/>
              <a:ext cx="5626418" cy="2283142"/>
            </a:xfrm>
            <a:prstGeom prst="roundRect">
              <a:avLst>
                <a:gd name="adj" fmla="val 4172"/>
              </a:avLst>
            </a:prstGeom>
            <a:solidFill>
              <a:srgbClr val="F6F8FA"/>
            </a:solidFill>
            <a:ln w="11430">
              <a:solidFill>
                <a:srgbClr val="D9DFEA"/>
              </a:solidFill>
            </a:ln>
          </p:spPr>
        </p:sp>
        <p:sp>
          <p:nvSpPr>
            <p:cNvPr id="10" name="TextBox 10"/>
            <p:cNvSpPr txBox="1"/>
            <p:nvPr/>
          </p:nvSpPr>
          <p:spPr>
            <a:xfrm>
              <a:off x="661797" y="2093119"/>
              <a:ext cx="3126272" cy="190690"/>
            </a:xfrm>
            <a:prstGeom prst="rect">
              <a:avLst/>
            </a:prstGeom>
            <a:noFill/>
            <a:ln>
              <a:noFill/>
            </a:ln>
          </p:spPr>
          <p:txBody>
            <a:bodyPr wrap="none" lIns="0" tIns="0" rIns="0" bIns="0" anchor="t" anchorCtr="0">
              <a:spAutoFit/>
            </a:bodyPr>
            <a:lstStyle/>
            <a:p>
              <a:pPr algn="l"/>
              <a:r>
                <a:rPr lang="zh-CN" sz="980" b="1" dirty="0">
                  <a:solidFill>
                    <a:srgbClr val="5B6475"/>
                  </a:solidFill>
                  <a:latin typeface="+mn-lt"/>
                  <a:ea typeface="+mn-ea"/>
                  <a:cs typeface="+mn-cs"/>
                </a:rPr>
                <a:t>MFC 的 CView::OnPaint（改写自源课件第 28 页）</a:t>
              </a:r>
            </a:p>
          </p:txBody>
        </p:sp>
        <p:sp>
          <p:nvSpPr>
            <p:cNvPr id="11" name="Rectangle 11"/>
            <p:cNvSpPr/>
            <p:nvPr/>
          </p:nvSpPr>
          <p:spPr>
            <a:xfrm>
              <a:off x="552450" y="2616518"/>
              <a:ext cx="5588318" cy="147638"/>
            </a:xfrm>
            <a:prstGeom prst="rect">
              <a:avLst/>
            </a:prstGeom>
            <a:solidFill>
              <a:srgbClr val="FDEEE7"/>
            </a:solidFill>
            <a:ln>
              <a:noFill/>
            </a:ln>
          </p:spPr>
        </p:sp>
        <p:sp>
          <p:nvSpPr>
            <p:cNvPr id="12" name="TextBox 12"/>
            <p:cNvSpPr txBox="1"/>
            <p:nvPr/>
          </p:nvSpPr>
          <p:spPr>
            <a:xfrm>
              <a:off x="661988" y="2352056"/>
              <a:ext cx="3904361" cy="1784509"/>
            </a:xfrm>
            <a:prstGeom prst="rect">
              <a:avLst/>
            </a:prstGeom>
            <a:noFill/>
            <a:ln>
              <a:noFill/>
            </a:ln>
          </p:spPr>
          <p:txBody>
            <a:bodyPr wrap="none" lIns="0" tIns="0" rIns="0" bIns="0" anchor="t" anchorCtr="0">
              <a:spAutoFit/>
            </a:bodyPr>
            <a:lstStyle/>
            <a:p>
              <a:pPr algn="l">
                <a:lnSpc>
                  <a:spcPts val="1162"/>
                </a:lnSpc>
              </a:pPr>
              <a:r>
                <a:rPr lang="en-US" sz="820" b="1" dirty="0">
                  <a:solidFill>
                    <a:srgbClr val="5B3FA0"/>
                  </a:solidFill>
                  <a:latin typeface="Consolas"/>
                  <a:ea typeface="Consolas"/>
                  <a:cs typeface="Consolas"/>
                </a:rPr>
                <a:t>class</a:t>
              </a:r>
              <a:r>
                <a:rPr lang="en-US" sz="820" dirty="0">
                  <a:solidFill>
                    <a:srgbClr val="1F2937"/>
                  </a:solidFill>
                  <a:latin typeface="Consolas"/>
                  <a:ea typeface="Consolas"/>
                  <a:cs typeface="Consolas"/>
                </a:rPr>
                <a:t xml:space="preserve"> CView : </a:t>
              </a:r>
              <a:r>
                <a:rPr lang="en-US" sz="820" b="1" dirty="0">
                  <a:solidFill>
                    <a:srgbClr val="5B3FA0"/>
                  </a:solidFill>
                  <a:latin typeface="Consolas"/>
                  <a:ea typeface="Consolas"/>
                  <a:cs typeface="Consolas"/>
                </a:rPr>
                <a:t>public</a:t>
              </a:r>
              <a:r>
                <a:rPr lang="en-US" sz="820" dirty="0">
                  <a:solidFill>
                    <a:srgbClr val="1F2937"/>
                  </a:solidFill>
                  <a:latin typeface="Consolas"/>
                  <a:ea typeface="Consolas"/>
                  <a:cs typeface="Consolas"/>
                </a:rPr>
                <a:t xml:space="preserve"> CWnd {</a:t>
              </a:r>
              <a:br/>
              <a:r>
                <a:rPr lang="en-US" sz="820" b="1" dirty="0">
                  <a:solidFill>
                    <a:srgbClr val="5B3FA0"/>
                  </a:solidFill>
                  <a:latin typeface="Consolas"/>
                  <a:ea typeface="Consolas"/>
                  <a:cs typeface="Consolas"/>
                </a:rPr>
                <a:t>public</a:t>
              </a:r>
              <a:r>
                <a:rPr lang="zh-CN" sz="820" dirty="0">
                  <a:solidFill>
                    <a:srgbClr val="1F2937"/>
                  </a:solidFill>
                  <a:latin typeface="Consolas"/>
                  <a:ea typeface="Consolas"/>
                  <a:cs typeface="Consolas"/>
                </a:rPr>
                <a:t>:</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OnPaint() {              </a:t>
              </a:r>
              <a:r>
                <a:rPr lang="zh-CN" sz="820" dirty="0">
                  <a:solidFill>
                    <a:srgbClr val="0F7A68"/>
                  </a:solidFill>
                  <a:latin typeface="Consolas"/>
                  <a:ea typeface="Microsoft YaHei"/>
                  <a:cs typeface="Consolas"/>
                </a:rPr>
                <a:t>/* 模板方法 */</a:t>
              </a:r>
              <a:br/>
              <a:r>
                <a:rPr lang="en-US" sz="820" dirty="0">
                  <a:solidFill>
                    <a:srgbClr val="1F2937"/>
                  </a:solidFill>
                  <a:latin typeface="Consolas"/>
                  <a:ea typeface="Consolas"/>
                  <a:cs typeface="Consolas"/>
                </a:rPr>
                <a:t xml:space="preserve">        CPaintDC dc(</a:t>
              </a:r>
              <a:r>
                <a:rPr lang="en-US" sz="820" b="1" dirty="0">
                  <a:solidFill>
                    <a:srgbClr val="5B3FA0"/>
                  </a:solidFill>
                  <a:latin typeface="Consolas"/>
                  <a:ea typeface="Consolas"/>
                  <a:cs typeface="Consolas"/>
                </a:rPr>
                <a:t>this</a:t>
              </a:r>
              <a:r>
                <a:rPr lang="zh-CN" sz="820" dirty="0">
                  <a:solidFill>
                    <a:srgbClr val="1F2937"/>
                  </a:solidFill>
                  <a:latin typeface="Consolas"/>
                  <a:ea typeface="Consolas"/>
                  <a:cs typeface="Consolas"/>
                </a:rPr>
                <a:t>);</a:t>
              </a:r>
              <a:br/>
              <a:r>
                <a:rPr lang="en-US" sz="820" dirty="0">
                  <a:solidFill>
                    <a:srgbClr val="1F2937"/>
                  </a:solidFill>
                  <a:latin typeface="Consolas"/>
                  <a:ea typeface="Consolas"/>
                  <a:cs typeface="Consolas"/>
                </a:rPr>
                <a:t xml:space="preserve">        OnPrepareDC(&amp;dc);</a:t>
              </a:r>
              <a:br/>
              <a:r>
                <a:rPr lang="en-US" sz="820" dirty="0">
                  <a:solidFill>
                    <a:srgbClr val="1F2937"/>
                  </a:solidFill>
                  <a:latin typeface="Consolas"/>
                  <a:ea typeface="Consolas"/>
                  <a:cs typeface="Consolas"/>
                </a:rPr>
                <a:t xml:space="preserve">        OnDraw(&amp;dc);</a:t>
              </a:r>
              <a:br/>
              <a:r>
                <a:rPr lang="zh-CN" sz="820" dirty="0">
                  <a:solidFill>
                    <a:srgbClr val="1F2937"/>
                  </a:solidFill>
                  <a:latin typeface="Consolas"/>
                  <a:ea typeface="Consolas"/>
                  <a:cs typeface="Consolas"/>
                </a:rPr>
                <a:t xml:space="preserve">    }</a:t>
              </a:r>
              <a:br/>
              <a:r>
                <a:rPr lang="zh-CN" sz="820" dirty="0">
                  <a:solidFill>
                    <a:srgbClr val="1F2937"/>
                  </a:solidFill>
                  <a:latin typeface="Consolas"/>
                  <a:ea typeface="Consolas"/>
                  <a:cs typeface="Consolas"/>
                </a:rPr>
                <a:t xml:space="preserve">    </a:t>
              </a:r>
              <a:r>
                <a:rPr lang="zh-CN" sz="820" dirty="0">
                  <a:solidFill>
                    <a:srgbClr val="0F7A68"/>
                  </a:solidFill>
                  <a:latin typeface="Consolas"/>
                  <a:ea typeface="Microsoft YaHei"/>
                  <a:cs typeface="Consolas"/>
                </a:rPr>
                <a:t>/* 具体方法：MFC 给了缺省实现，派生类可改可不改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virtual</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OnPrepareDC(CDC* pDC, CPrintInfo* pInfo = NULL) { }</a:t>
              </a:r>
              <a:br/>
              <a:r>
                <a:rPr lang="zh-CN" sz="820" dirty="0">
                  <a:solidFill>
                    <a:srgbClr val="1F2937"/>
                  </a:solidFill>
                  <a:latin typeface="Consolas"/>
                  <a:ea typeface="Consolas"/>
                  <a:cs typeface="Consolas"/>
                </a:rPr>
                <a:t xml:space="preserve">    </a:t>
              </a:r>
              <a:r>
                <a:rPr lang="zh-CN" sz="820" dirty="0">
                  <a:solidFill>
                    <a:srgbClr val="0F7A68"/>
                  </a:solidFill>
                  <a:latin typeface="Consolas"/>
                  <a:ea typeface="Microsoft YaHei"/>
                  <a:cs typeface="Consolas"/>
                </a:rPr>
                <a:t>/* 抽象方法：纯虚函数，派生类必须实现 */</a:t>
              </a:r>
              <a:b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virtual</a:t>
              </a:r>
              <a:r>
                <a:rPr lang="zh-CN" sz="820" dirty="0">
                  <a:solidFill>
                    <a:srgbClr val="1F2937"/>
                  </a:solidFill>
                  <a:latin typeface="Consolas"/>
                  <a:ea typeface="Consolas"/>
                  <a:cs typeface="Consolas"/>
                </a:rPr>
                <a:t xml:space="preserve"> </a:t>
              </a:r>
              <a:r>
                <a:rPr lang="en-US" sz="820" b="1" dirty="0">
                  <a:solidFill>
                    <a:srgbClr val="5B3FA0"/>
                  </a:solidFill>
                  <a:latin typeface="Consolas"/>
                  <a:ea typeface="Consolas"/>
                  <a:cs typeface="Consolas"/>
                </a:rPr>
                <a:t>void</a:t>
              </a:r>
              <a:r>
                <a:rPr lang="en-US" sz="820" dirty="0">
                  <a:solidFill>
                    <a:srgbClr val="1F2937"/>
                  </a:solidFill>
                  <a:latin typeface="Consolas"/>
                  <a:ea typeface="Consolas"/>
                  <a:cs typeface="Consolas"/>
                </a:rPr>
                <a:t xml:space="preserve"> OnDraw(CDC* pDC) = 0;</a:t>
              </a:r>
              <a:br/>
              <a:r>
                <a:rPr lang="zh-CN" sz="820" dirty="0">
                  <a:solidFill>
                    <a:srgbClr val="1F2937"/>
                  </a:solidFill>
                  <a:latin typeface="Consolas"/>
                  <a:ea typeface="Consolas"/>
                  <a:cs typeface="Consolas"/>
                </a:rPr>
                <a:t>};</a:t>
              </a:r>
            </a:p>
          </p:txBody>
        </p:sp>
      </p:grpSp>
      <p:grpSp>
        <p:nvGrpSpPr>
          <p:cNvPr id="25" name="c1-card-2"/>
          <p:cNvGrpSpPr/>
          <p:nvPr/>
        </p:nvGrpSpPr>
        <p:grpSpPr>
          <a:xfrm>
            <a:off x="533400" y="4399598"/>
            <a:ext cx="5626418" cy="1786890"/>
            <a:chOff x="533400" y="4399598"/>
            <a:chExt cx="5626418" cy="1786890"/>
          </a:xfrm>
        </p:grpSpPr>
        <p:sp>
          <p:nvSpPr>
            <p:cNvPr id="14" name="Rectangle 14"/>
            <p:cNvSpPr/>
            <p:nvPr/>
          </p:nvSpPr>
          <p:spPr>
            <a:xfrm>
              <a:off x="533400" y="4399598"/>
              <a:ext cx="5626418" cy="1786890"/>
            </a:xfrm>
            <a:prstGeom prst="roundRect">
              <a:avLst>
                <a:gd name="adj" fmla="val 7463"/>
              </a:avLst>
            </a:prstGeom>
            <a:solidFill>
              <a:srgbClr val="FFFFFF"/>
            </a:solidFill>
            <a:ln w="14288">
              <a:solidFill>
                <a:srgbClr val="D9DFEA"/>
              </a:solidFill>
            </a:ln>
          </p:spPr>
        </p:sp>
        <p:sp>
          <p:nvSpPr>
            <p:cNvPr id="15" name="Rectangle 15"/>
            <p:cNvSpPr/>
            <p:nvPr/>
          </p:nvSpPr>
          <p:spPr>
            <a:xfrm>
              <a:off x="542925" y="4532948"/>
              <a:ext cx="47625" cy="1520190"/>
            </a:xfrm>
            <a:prstGeom prst="roundRect">
              <a:avLst>
                <a:gd name="adj" fmla="val 50000"/>
              </a:avLst>
            </a:prstGeom>
            <a:solidFill>
              <a:srgbClr val="5B6475"/>
            </a:solidFill>
            <a:ln>
              <a:noFill/>
            </a:ln>
          </p:spPr>
        </p:sp>
        <p:sp>
          <p:nvSpPr>
            <p:cNvPr id="16" name="Rectangle 16"/>
            <p:cNvSpPr/>
            <p:nvPr/>
          </p:nvSpPr>
          <p:spPr>
            <a:xfrm>
              <a:off x="763905" y="4592002"/>
              <a:ext cx="476250" cy="247650"/>
            </a:xfrm>
            <a:prstGeom prst="roundRect">
              <a:avLst>
                <a:gd name="adj" fmla="val 50000"/>
              </a:avLst>
            </a:prstGeom>
            <a:solidFill>
              <a:srgbClr val="F4F6FB"/>
            </a:solidFill>
            <a:ln>
              <a:noFill/>
            </a:ln>
          </p:spPr>
        </p:sp>
        <p:sp>
          <p:nvSpPr>
            <p:cNvPr id="17" name="TextBox 17"/>
            <p:cNvSpPr txBox="1"/>
            <p:nvPr/>
          </p:nvSpPr>
          <p:spPr>
            <a:xfrm>
              <a:off x="855345" y="4626292"/>
              <a:ext cx="293370" cy="205359"/>
            </a:xfrm>
            <a:prstGeom prst="rect">
              <a:avLst/>
            </a:prstGeom>
            <a:noFill/>
            <a:ln>
              <a:noFill/>
            </a:ln>
          </p:spPr>
          <p:txBody>
            <a:bodyPr wrap="none" lIns="0" tIns="0" rIns="0" bIns="0" anchor="t" anchorCtr="0">
              <a:spAutoFit/>
            </a:bodyPr>
            <a:lstStyle/>
            <a:p>
              <a:pPr algn="ctr"/>
              <a:r>
                <a:rPr lang="zh-CN" sz="1050" b="1" dirty="0">
                  <a:solidFill>
                    <a:srgbClr val="5B6475"/>
                  </a:solidFill>
                  <a:latin typeface="+mn-lt"/>
                  <a:ea typeface="+mn-ea"/>
                  <a:cs typeface="+mn-cs"/>
                </a:rPr>
                <a:t>更正</a:t>
              </a:r>
            </a:p>
          </p:txBody>
        </p:sp>
        <p:sp>
          <p:nvSpPr>
            <p:cNvPr id="18" name="TextBox 18"/>
            <p:cNvSpPr txBox="1"/>
            <p:nvPr/>
          </p:nvSpPr>
          <p:spPr>
            <a:xfrm>
              <a:off x="1347597" y="4632008"/>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源课件这段代码的两处笔误</a:t>
              </a:r>
            </a:p>
          </p:txBody>
        </p:sp>
        <p:sp>
          <p:nvSpPr>
            <p:cNvPr id="19" name="Ellipse 19"/>
            <p:cNvSpPr/>
            <p:nvPr/>
          </p:nvSpPr>
          <p:spPr>
            <a:xfrm>
              <a:off x="763905" y="4953952"/>
              <a:ext cx="192405" cy="192405"/>
            </a:xfrm>
            <a:prstGeom prst="ellipse">
              <a:avLst/>
            </a:prstGeom>
            <a:solidFill>
              <a:srgbClr val="5B3FA0"/>
            </a:solidFill>
            <a:ln>
              <a:noFill/>
            </a:ln>
          </p:spPr>
        </p:sp>
        <p:sp>
          <p:nvSpPr>
            <p:cNvPr id="20" name="TextBox 20"/>
            <p:cNvSpPr txBox="1"/>
            <p:nvPr/>
          </p:nvSpPr>
          <p:spPr>
            <a:xfrm>
              <a:off x="819583" y="499233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1</a:t>
              </a:r>
            </a:p>
          </p:txBody>
        </p:sp>
        <p:sp>
          <p:nvSpPr>
            <p:cNvPr id="21" name="TextBox 21"/>
            <p:cNvSpPr txBox="1"/>
            <p:nvPr/>
          </p:nvSpPr>
          <p:spPr>
            <a:xfrm>
              <a:off x="1044702" y="4966335"/>
              <a:ext cx="4497134" cy="521208"/>
            </a:xfrm>
            <a:prstGeom prst="rect">
              <a:avLst/>
            </a:prstGeom>
            <a:noFill/>
            <a:ln>
              <a:noFill/>
            </a:ln>
          </p:spPr>
          <p:txBody>
            <a:bodyPr wrap="none" lIns="0" tIns="0" rIns="0" bIns="0" anchor="t" anchorCtr="0">
              <a:spAutoFit/>
            </a:bodyPr>
            <a:lstStyle/>
            <a:p>
              <a:pPr algn="l">
                <a:lnSpc>
                  <a:spcPts val="2025"/>
                </a:lnSpc>
              </a:pPr>
              <a:r>
                <a:rPr lang="en-US" sz="1350" dirty="0">
                  <a:solidFill>
                    <a:srgbClr val="462F80"/>
                  </a:solidFill>
                  <a:latin typeface="+mn-lt"/>
                  <a:ea typeface="+mn-ea"/>
                  <a:cs typeface="+mn-cs"/>
                </a:rPr>
                <a:t>CPaintDCdc(this);</a:t>
              </a:r>
              <a:r>
                <a:rPr lang="zh-CN" sz="1350" dirty="0">
                  <a:solidFill>
                    <a:srgbClr val="1F2937"/>
                  </a:solidFill>
                  <a:latin typeface="+mn-lt"/>
                  <a:ea typeface="+mn-ea"/>
                  <a:cs typeface="+mn-cs"/>
                </a:rPr>
                <a:t xml:space="preserve"> 少了一个空格，类型名和变量名粘在一</a:t>
              </a:r>
              <a:br/>
              <a:r>
                <a:rPr lang="zh-CN" sz="1350" dirty="0">
                  <a:solidFill>
                    <a:srgbClr val="1F2937"/>
                  </a:solidFill>
                  <a:latin typeface="+mn-lt"/>
                  <a:ea typeface="+mn-ea"/>
                  <a:cs typeface="+mn-cs"/>
                </a:rPr>
                <a:t xml:space="preserve">起，应为 </a:t>
              </a:r>
              <a:r>
                <a:rPr lang="en-US" sz="1350" dirty="0">
                  <a:solidFill>
                    <a:srgbClr val="462F80"/>
                  </a:solidFill>
                  <a:latin typeface="+mn-lt"/>
                  <a:ea typeface="+mn-ea"/>
                  <a:cs typeface="+mn-cs"/>
                </a:rPr>
                <a:t>CPaintDC dc(this);</a:t>
              </a:r>
              <a:r>
                <a:rPr lang="zh-CN" sz="1350" dirty="0">
                  <a:solidFill>
                    <a:srgbClr val="1F2937"/>
                  </a:solidFill>
                  <a:latin typeface="+mn-lt"/>
                  <a:ea typeface="+mn-ea"/>
                  <a:cs typeface="+mn-cs"/>
                </a:rPr>
                <a:t>。</a:t>
              </a:r>
            </a:p>
          </p:txBody>
        </p:sp>
        <p:sp>
          <p:nvSpPr>
            <p:cNvPr id="22" name="Ellipse 22"/>
            <p:cNvSpPr/>
            <p:nvPr/>
          </p:nvSpPr>
          <p:spPr>
            <a:xfrm>
              <a:off x="763905" y="5513070"/>
              <a:ext cx="192405" cy="192405"/>
            </a:xfrm>
            <a:prstGeom prst="ellipse">
              <a:avLst/>
            </a:prstGeom>
            <a:solidFill>
              <a:srgbClr val="5B3FA0"/>
            </a:solidFill>
            <a:ln>
              <a:noFill/>
            </a:ln>
          </p:spPr>
        </p:sp>
        <p:sp>
          <p:nvSpPr>
            <p:cNvPr id="23" name="TextBox 23"/>
            <p:cNvSpPr txBox="1"/>
            <p:nvPr/>
          </p:nvSpPr>
          <p:spPr>
            <a:xfrm>
              <a:off x="819583" y="5552408"/>
              <a:ext cx="81049" cy="179070"/>
            </a:xfrm>
            <a:prstGeom prst="rect">
              <a:avLst/>
            </a:prstGeom>
            <a:noFill/>
            <a:ln>
              <a:noFill/>
            </a:ln>
          </p:spPr>
          <p:txBody>
            <a:bodyPr wrap="none" lIns="0" tIns="0" rIns="0" bIns="0" anchor="t" anchorCtr="0">
              <a:spAutoFit/>
            </a:bodyPr>
            <a:lstStyle/>
            <a:p>
              <a:pPr algn="ctr"/>
              <a:r>
                <a:rPr lang="zh-CN" sz="920" b="1" dirty="0">
                  <a:solidFill>
                    <a:srgbClr val="FFFFFF"/>
                  </a:solidFill>
                  <a:latin typeface="+mn-lt"/>
                  <a:ea typeface="+mn-ea"/>
                  <a:cs typeface="+mn-cs"/>
                </a:rPr>
                <a:t>2</a:t>
              </a:r>
            </a:p>
          </p:txBody>
        </p:sp>
        <p:sp>
          <p:nvSpPr>
            <p:cNvPr id="24" name="TextBox 24"/>
            <p:cNvSpPr txBox="1"/>
            <p:nvPr/>
          </p:nvSpPr>
          <p:spPr>
            <a:xfrm>
              <a:off x="1044702" y="5525452"/>
              <a:ext cx="4685728"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1F2937"/>
                  </a:solidFill>
                  <a:latin typeface="+mn-lt"/>
                  <a:ea typeface="+mn-ea"/>
                  <a:cs typeface="+mn-cs"/>
                </a:rPr>
                <a:t xml:space="preserve">类定义体内部写成 </a:t>
              </a:r>
              <a:r>
                <a:rPr lang="en-US" sz="1350" dirty="0">
                  <a:solidFill>
                    <a:srgbClr val="462F80"/>
                  </a:solidFill>
                  <a:latin typeface="+mn-lt"/>
                  <a:ea typeface="+mn-ea"/>
                  <a:cs typeface="+mn-cs"/>
                </a:rPr>
                <a:t>void CView::OnPaint()</a:t>
              </a:r>
              <a:r>
                <a:rPr lang="zh-CN" sz="1350" dirty="0">
                  <a:solidFill>
                    <a:srgbClr val="1F2937"/>
                  </a:solidFill>
                  <a:latin typeface="+mn-lt"/>
                  <a:ea typeface="+mn-ea"/>
                  <a:cs typeface="+mn-cs"/>
                </a:rPr>
                <a:t>，类内定义不能带</a:t>
              </a:r>
              <a:br/>
              <a:r>
                <a:rPr lang="en-US" sz="1350" dirty="0">
                  <a:solidFill>
                    <a:srgbClr val="462F80"/>
                  </a:solidFill>
                  <a:latin typeface="+mn-lt"/>
                  <a:ea typeface="+mn-ea"/>
                  <a:cs typeface="+mn-cs"/>
                </a:rPr>
                <a:t>CView::</a:t>
              </a:r>
              <a:r>
                <a:rPr lang="zh-CN" sz="1350" dirty="0">
                  <a:solidFill>
                    <a:srgbClr val="1F2937"/>
                  </a:solidFill>
                  <a:latin typeface="+mn-lt"/>
                  <a:ea typeface="+mn-ea"/>
                  <a:cs typeface="+mn-cs"/>
                </a:rPr>
                <a:t xml:space="preserve"> 限定符。</a:t>
              </a:r>
            </a:p>
          </p:txBody>
        </p:sp>
      </p:grpSp>
      <p:grpSp>
        <p:nvGrpSpPr>
          <p:cNvPr id="39" name="c2-bullets-1"/>
          <p:cNvGrpSpPr/>
          <p:nvPr/>
        </p:nvGrpSpPr>
        <p:grpSpPr>
          <a:xfrm>
            <a:off x="6457760" y="1964055"/>
            <a:ext cx="5134832" cy="1884522"/>
            <a:chOff x="6457760" y="1964055"/>
            <a:chExt cx="5134832" cy="1884522"/>
          </a:xfrm>
        </p:grpSpPr>
        <p:sp>
          <p:nvSpPr>
            <p:cNvPr id="26" name="TextBox 26"/>
            <p:cNvSpPr txBox="1"/>
            <p:nvPr/>
          </p:nvSpPr>
          <p:spPr>
            <a:xfrm>
              <a:off x="6457760" y="1964055"/>
              <a:ext cx="1285875" cy="264033"/>
            </a:xfrm>
            <a:prstGeom prst="rect">
              <a:avLst/>
            </a:prstGeom>
            <a:noFill/>
            <a:ln>
              <a:noFill/>
            </a:ln>
          </p:spPr>
          <p:txBody>
            <a:bodyPr wrap="none" lIns="0" tIns="0" rIns="0" bIns="0" anchor="t" anchorCtr="0">
              <a:spAutoFit/>
            </a:bodyPr>
            <a:lstStyle/>
            <a:p>
              <a:pPr algn="l"/>
              <a:r>
                <a:rPr lang="zh-CN" sz="1350" b="1" dirty="0">
                  <a:solidFill>
                    <a:srgbClr val="5B3FA0"/>
                  </a:solidFill>
                  <a:latin typeface="+mn-lt"/>
                  <a:ea typeface="+mn-ea"/>
                  <a:cs typeface="+mn-cs"/>
                </a:rPr>
                <a:t>三处常见的落点</a:t>
              </a:r>
            </a:p>
          </p:txBody>
        </p:sp>
        <p:sp>
          <p:nvSpPr>
            <p:cNvPr id="27" name="Ellipse 27"/>
            <p:cNvSpPr/>
            <p:nvPr/>
          </p:nvSpPr>
          <p:spPr>
            <a:xfrm>
              <a:off x="6473190" y="2340292"/>
              <a:ext cx="59055" cy="59055"/>
            </a:xfrm>
            <a:prstGeom prst="ellipse">
              <a:avLst/>
            </a:prstGeom>
            <a:solidFill>
              <a:srgbClr val="5B3FA0"/>
            </a:solidFill>
            <a:ln>
              <a:noFill/>
            </a:ln>
          </p:spPr>
        </p:sp>
        <p:sp>
          <p:nvSpPr>
            <p:cNvPr id="28" name="TextBox 28"/>
            <p:cNvSpPr txBox="1"/>
            <p:nvPr/>
          </p:nvSpPr>
          <p:spPr>
            <a:xfrm>
              <a:off x="6629210" y="2284095"/>
              <a:ext cx="740664"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框架设计</a:t>
              </a:r>
            </a:p>
          </p:txBody>
        </p:sp>
        <p:sp>
          <p:nvSpPr>
            <p:cNvPr id="29" name="Rectangle 29"/>
            <p:cNvSpPr/>
            <p:nvPr/>
          </p:nvSpPr>
          <p:spPr>
            <a:xfrm>
              <a:off x="6636068" y="2610802"/>
              <a:ext cx="64770" cy="19050"/>
            </a:xfrm>
            <a:prstGeom prst="rect">
              <a:avLst/>
            </a:prstGeom>
            <a:solidFill>
              <a:srgbClr val="5B6475"/>
            </a:solidFill>
            <a:ln>
              <a:noFill/>
            </a:ln>
          </p:spPr>
        </p:sp>
        <p:sp>
          <p:nvSpPr>
            <p:cNvPr id="30" name="TextBox 30"/>
            <p:cNvSpPr txBox="1"/>
            <p:nvPr/>
          </p:nvSpPr>
          <p:spPr>
            <a:xfrm>
              <a:off x="6820852" y="2547461"/>
              <a:ext cx="4340576"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Spring、Struts 这类框架用它确保父类控制处理流程的逻辑顺序</a:t>
              </a:r>
            </a:p>
          </p:txBody>
        </p:sp>
        <p:sp>
          <p:nvSpPr>
            <p:cNvPr id="31" name="Ellipse 31"/>
            <p:cNvSpPr/>
            <p:nvPr/>
          </p:nvSpPr>
          <p:spPr>
            <a:xfrm>
              <a:off x="6473190" y="2880360"/>
              <a:ext cx="59055" cy="59055"/>
            </a:xfrm>
            <a:prstGeom prst="ellipse">
              <a:avLst/>
            </a:prstGeom>
            <a:solidFill>
              <a:srgbClr val="5B3FA0"/>
            </a:solidFill>
            <a:ln>
              <a:noFill/>
            </a:ln>
          </p:spPr>
        </p:sp>
        <p:sp>
          <p:nvSpPr>
            <p:cNvPr id="32" name="TextBox 32"/>
            <p:cNvSpPr txBox="1"/>
            <p:nvPr/>
          </p:nvSpPr>
          <p:spPr>
            <a:xfrm>
              <a:off x="6629210" y="2824162"/>
              <a:ext cx="133525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MFC 的视图绘制</a:t>
              </a:r>
            </a:p>
          </p:txBody>
        </p:sp>
        <p:sp>
          <p:nvSpPr>
            <p:cNvPr id="33" name="Rectangle 33"/>
            <p:cNvSpPr/>
            <p:nvPr/>
          </p:nvSpPr>
          <p:spPr>
            <a:xfrm>
              <a:off x="6636068" y="3150870"/>
              <a:ext cx="64770" cy="19050"/>
            </a:xfrm>
            <a:prstGeom prst="rect">
              <a:avLst/>
            </a:prstGeom>
            <a:solidFill>
              <a:srgbClr val="5B6475"/>
            </a:solidFill>
            <a:ln>
              <a:noFill/>
            </a:ln>
          </p:spPr>
        </p:sp>
        <p:sp>
          <p:nvSpPr>
            <p:cNvPr id="34" name="TextBox 34"/>
            <p:cNvSpPr txBox="1"/>
            <p:nvPr/>
          </p:nvSpPr>
          <p:spPr>
            <a:xfrm>
              <a:off x="6820852" y="3087529"/>
              <a:ext cx="4771740"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CView 是 AbstractClass，OnPaint 是模板方法，OnDraw 是抽象方法</a:t>
              </a:r>
            </a:p>
          </p:txBody>
        </p:sp>
        <p:sp>
          <p:nvSpPr>
            <p:cNvPr id="35" name="Ellipse 35"/>
            <p:cNvSpPr/>
            <p:nvPr/>
          </p:nvSpPr>
          <p:spPr>
            <a:xfrm>
              <a:off x="6473190" y="3420427"/>
              <a:ext cx="59055" cy="59055"/>
            </a:xfrm>
            <a:prstGeom prst="ellipse">
              <a:avLst/>
            </a:prstGeom>
            <a:solidFill>
              <a:srgbClr val="5B3FA0"/>
            </a:solidFill>
            <a:ln>
              <a:noFill/>
            </a:ln>
          </p:spPr>
        </p:sp>
        <p:sp>
          <p:nvSpPr>
            <p:cNvPr id="36" name="TextBox 36"/>
            <p:cNvSpPr txBox="1"/>
            <p:nvPr/>
          </p:nvSpPr>
          <p:spPr>
            <a:xfrm>
              <a:off x="6629210" y="3364230"/>
              <a:ext cx="1467612"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各种生命周期回调</a:t>
              </a:r>
            </a:p>
          </p:txBody>
        </p:sp>
        <p:sp>
          <p:nvSpPr>
            <p:cNvPr id="37" name="Rectangle 37"/>
            <p:cNvSpPr/>
            <p:nvPr/>
          </p:nvSpPr>
          <p:spPr>
            <a:xfrm>
              <a:off x="6636068" y="3691890"/>
              <a:ext cx="64770" cy="19050"/>
            </a:xfrm>
            <a:prstGeom prst="rect">
              <a:avLst/>
            </a:prstGeom>
            <a:solidFill>
              <a:srgbClr val="5B6475"/>
            </a:solidFill>
            <a:ln>
              <a:noFill/>
            </a:ln>
          </p:spPr>
        </p:sp>
        <p:sp>
          <p:nvSpPr>
            <p:cNvPr id="38" name="TextBox 38"/>
            <p:cNvSpPr txBox="1"/>
            <p:nvPr/>
          </p:nvSpPr>
          <p:spPr>
            <a:xfrm>
              <a:off x="6820852" y="3628549"/>
              <a:ext cx="3479241" cy="220028"/>
            </a:xfrm>
            <a:prstGeom prst="rect">
              <a:avLst/>
            </a:prstGeom>
            <a:noFill/>
            <a:ln>
              <a:noFill/>
            </a:ln>
          </p:spPr>
          <p:txBody>
            <a:bodyPr wrap="none" lIns="0" tIns="0" rIns="0" bIns="0" anchor="t" anchorCtr="0">
              <a:spAutoFit/>
            </a:bodyPr>
            <a:lstStyle/>
            <a:p>
              <a:pPr algn="l"/>
              <a:r>
                <a:rPr lang="zh-CN" sz="1120" dirty="0">
                  <a:solidFill>
                    <a:srgbClr val="5B6475"/>
                  </a:solidFill>
                  <a:latin typeface="+mn-lt"/>
                  <a:ea typeface="+mn-ea"/>
                  <a:cs typeface="+mn-cs"/>
                </a:rPr>
                <a:t>框架规定好调用次序，使用者只填其中几个回调方法</a:t>
              </a:r>
            </a:p>
          </p:txBody>
        </p:sp>
      </p:grpSp>
      <p:grpSp>
        <p:nvGrpSpPr>
          <p:cNvPr id="46" name="c2-card-2"/>
          <p:cNvGrpSpPr/>
          <p:nvPr/>
        </p:nvGrpSpPr>
        <p:grpSpPr>
          <a:xfrm>
            <a:off x="6464618" y="3978592"/>
            <a:ext cx="5193982" cy="2206942"/>
            <a:chOff x="6464618" y="3978592"/>
            <a:chExt cx="5193982" cy="2206942"/>
          </a:xfrm>
        </p:grpSpPr>
        <p:sp>
          <p:nvSpPr>
            <p:cNvPr id="40" name="Rectangle 40"/>
            <p:cNvSpPr/>
            <p:nvPr/>
          </p:nvSpPr>
          <p:spPr>
            <a:xfrm>
              <a:off x="6464618" y="3978592"/>
              <a:ext cx="5193982" cy="2206942"/>
            </a:xfrm>
            <a:prstGeom prst="roundRect">
              <a:avLst>
                <a:gd name="adj" fmla="val 6042"/>
              </a:avLst>
            </a:prstGeom>
            <a:solidFill>
              <a:srgbClr val="5B3FA0"/>
            </a:solidFill>
            <a:ln>
              <a:noFill/>
            </a:ln>
          </p:spPr>
        </p:sp>
        <p:sp>
          <p:nvSpPr>
            <p:cNvPr id="41" name="Rectangle 41"/>
            <p:cNvSpPr/>
            <p:nvPr/>
          </p:nvSpPr>
          <p:spPr>
            <a:xfrm>
              <a:off x="6657022" y="4170998"/>
              <a:ext cx="876300" cy="247650"/>
            </a:xfrm>
            <a:prstGeom prst="roundRect">
              <a:avLst>
                <a:gd name="adj" fmla="val 50000"/>
              </a:avLst>
            </a:prstGeom>
            <a:solidFill>
              <a:srgbClr val="462F80"/>
            </a:solidFill>
            <a:ln>
              <a:noFill/>
            </a:ln>
          </p:spPr>
        </p:sp>
        <p:sp>
          <p:nvSpPr>
            <p:cNvPr id="42" name="TextBox 42"/>
            <p:cNvSpPr txBox="1"/>
            <p:nvPr/>
          </p:nvSpPr>
          <p:spPr>
            <a:xfrm>
              <a:off x="6736461" y="4205288"/>
              <a:ext cx="717423" cy="205359"/>
            </a:xfrm>
            <a:prstGeom prst="rect">
              <a:avLst/>
            </a:prstGeom>
            <a:noFill/>
            <a:ln>
              <a:noFill/>
            </a:ln>
          </p:spPr>
          <p:txBody>
            <a:bodyPr wrap="none" lIns="0" tIns="0" rIns="0" bIns="0" anchor="t" anchorCtr="0">
              <a:spAutoFit/>
            </a:bodyPr>
            <a:lstStyle/>
            <a:p>
              <a:pPr algn="ctr"/>
              <a:r>
                <a:rPr lang="zh-CN" sz="1050" b="1" dirty="0">
                  <a:solidFill>
                    <a:srgbClr val="FFFFFF"/>
                  </a:solidFill>
                  <a:latin typeface="+mn-lt"/>
                  <a:ea typeface="+mn-ea"/>
                  <a:cs typeface="+mn-cs"/>
                </a:rPr>
                <a:t>读这段代码</a:t>
              </a:r>
            </a:p>
          </p:txBody>
        </p:sp>
        <p:sp>
          <p:nvSpPr>
            <p:cNvPr id="43" name="TextBox 43"/>
            <p:cNvSpPr txBox="1"/>
            <p:nvPr/>
          </p:nvSpPr>
          <p:spPr>
            <a:xfrm>
              <a:off x="7640764" y="4211002"/>
              <a:ext cx="3394058"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用户为什么不用关心 OnDraw 怎么被调用</a:t>
              </a:r>
            </a:p>
          </p:txBody>
        </p:sp>
        <p:sp>
          <p:nvSpPr>
            <p:cNvPr id="44" name="TextBox 44"/>
            <p:cNvSpPr txBox="1"/>
            <p:nvPr/>
          </p:nvSpPr>
          <p:spPr>
            <a:xfrm>
              <a:off x="6650164" y="4545330"/>
              <a:ext cx="4522851" cy="778383"/>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OnDraw 被声明成纯虚函数，向导会为 CView 的派生类自动</a:t>
              </a:r>
              <a:br/>
              <a:r>
                <a:rPr lang="zh-CN" sz="1350" dirty="0">
                  <a:solidFill>
                    <a:srgbClr val="FFFFFF"/>
                  </a:solidFill>
                  <a:latin typeface="+mn-lt"/>
                  <a:ea typeface="+mn-ea"/>
                  <a:cs typeface="+mn-cs"/>
                </a:rPr>
                <a:t>生成它。用户只需在派生类的 OnDraw 里写绘制代码，调用</a:t>
              </a:r>
              <a:br/>
              <a:r>
                <a:rPr lang="zh-CN" sz="1350" dirty="0">
                  <a:solidFill>
                    <a:srgbClr val="FFFFFF"/>
                  </a:solidFill>
                  <a:latin typeface="+mn-lt"/>
                  <a:ea typeface="+mn-ea"/>
                  <a:cs typeface="+mn-cs"/>
                </a:rPr>
                <a:t>时机由 OnPaint 这个模板方法决定。</a:t>
              </a:r>
            </a:p>
          </p:txBody>
        </p:sp>
        <p:sp>
          <p:nvSpPr>
            <p:cNvPr id="45" name="TextBox 45"/>
            <p:cNvSpPr txBox="1"/>
            <p:nvPr/>
          </p:nvSpPr>
          <p:spPr>
            <a:xfrm>
              <a:off x="6650164" y="5362575"/>
              <a:ext cx="4565714" cy="521208"/>
            </a:xfrm>
            <a:prstGeom prst="rect">
              <a:avLst/>
            </a:prstGeom>
            <a:noFill/>
            <a:ln>
              <a:noFill/>
            </a:ln>
          </p:spPr>
          <p:txBody>
            <a:bodyPr wrap="none" lIns="0" tIns="0" rIns="0" bIns="0" anchor="t" anchorCtr="0">
              <a:spAutoFit/>
            </a:bodyPr>
            <a:lstStyle/>
            <a:p>
              <a:pPr algn="l">
                <a:lnSpc>
                  <a:spcPts val="2025"/>
                </a:lnSpc>
              </a:pPr>
              <a:r>
                <a:rPr lang="zh-CN" sz="1350" dirty="0">
                  <a:solidFill>
                    <a:srgbClr val="FFFFFF"/>
                  </a:solidFill>
                  <a:latin typeface="+mn-lt"/>
                  <a:ea typeface="+mn-ea"/>
                  <a:cs typeface="+mn-cs"/>
                </a:rPr>
                <a:t>OnPrepareDC 是钩子：需要在显示前改设备上下文或控制打</a:t>
              </a:r>
              <a:br/>
              <a:r>
                <a:rPr lang="zh-CN" sz="1350" dirty="0">
                  <a:solidFill>
                    <a:srgbClr val="FFFFFF"/>
                  </a:solidFill>
                  <a:latin typeface="+mn-lt"/>
                  <a:ea typeface="+mn-ea"/>
                  <a:cs typeface="+mn-cs"/>
                </a:rPr>
                <a:t>印时才覆盖它，不覆盖就走 MFC 的缺省实现。</a:t>
              </a:r>
            </a:p>
          </p:txBody>
        </p:sp>
      </p:grpSp>
      <p:grpSp>
        <p:nvGrpSpPr>
          <p:cNvPr id="49" name="footer"/>
          <p:cNvGrpSpPr/>
          <p:nvPr/>
        </p:nvGrpSpPr>
        <p:grpSpPr>
          <a:xfrm>
            <a:off x="528447" y="6581299"/>
            <a:ext cx="11135106" cy="190690"/>
            <a:chOff x="528447" y="6581299"/>
            <a:chExt cx="11135106" cy="190690"/>
          </a:xfrm>
        </p:grpSpPr>
        <p:sp>
          <p:nvSpPr>
            <p:cNvPr id="47" name="TextBox 47"/>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48" name="TextBox 4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25</a:t>
              </a:r>
            </a:p>
          </p:txBody>
        </p:sp>
      </p:grpSp>
    </p:spTree>
  </p:cSld>
  <p:clrMapOvr>
    <a:masterClrMapping/>
  </p:clrMapOvr>
  <p:transition xmlns:p14="http://schemas.microsoft.com/office/powerpoint/2010/main" p14:dur="400">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ection-disc"/>
          <p:cNvSpPr/>
          <p:nvPr/>
        </p:nvSpPr>
        <p:spPr>
          <a:xfrm>
            <a:off x="7715250" y="571500"/>
            <a:ext cx="5715000" cy="5715000"/>
          </a:xfrm>
          <a:prstGeom prst="ellipse">
            <a:avLst/>
          </a:prstGeom>
          <a:solidFill>
            <a:srgbClr val="5B3FA0"/>
          </a:solidFill>
          <a:ln>
            <a:noFill/>
          </a:ln>
        </p:spPr>
      </p:sp>
      <p:sp>
        <p:nvSpPr>
          <p:cNvPr id="3" name="section-ring"/>
          <p:cNvSpPr/>
          <p:nvPr/>
        </p:nvSpPr>
        <p:spPr>
          <a:xfrm>
            <a:off x="7334250" y="190500"/>
            <a:ext cx="6477000" cy="6477000"/>
          </a:xfrm>
          <a:prstGeom prst="ellipse">
            <a:avLst/>
          </a:prstGeom>
          <a:noFill/>
          <a:ln w="133350">
            <a:solidFill>
              <a:srgbClr val="EEEAF7"/>
            </a:solidFill>
          </a:ln>
        </p:spPr>
      </p:sp>
      <p:grpSp>
        <p:nvGrpSpPr>
          <p:cNvPr id="5" name="section-num"/>
          <p:cNvGrpSpPr/>
          <p:nvPr/>
        </p:nvGrpSpPr>
        <p:grpSpPr>
          <a:xfrm>
            <a:off x="8954033" y="2705100"/>
            <a:ext cx="1903933" cy="2305050"/>
            <a:chOff x="8954033" y="2705100"/>
            <a:chExt cx="1903933" cy="2305050"/>
          </a:xfrm>
        </p:grpSpPr>
        <p:sp>
          <p:nvSpPr>
            <p:cNvPr id="4" name="TextBox 4"/>
            <p:cNvSpPr txBox="1"/>
            <p:nvPr/>
          </p:nvSpPr>
          <p:spPr>
            <a:xfrm>
              <a:off x="8954033" y="2705100"/>
              <a:ext cx="1903933" cy="2305050"/>
            </a:xfrm>
            <a:prstGeom prst="rect">
              <a:avLst/>
            </a:prstGeom>
            <a:noFill/>
            <a:ln>
              <a:noFill/>
            </a:ln>
          </p:spPr>
          <p:txBody>
            <a:bodyPr wrap="none" lIns="0" tIns="0" rIns="0" bIns="0" anchor="t" anchorCtr="0">
              <a:spAutoFit/>
            </a:bodyPr>
            <a:lstStyle/>
            <a:p>
              <a:pPr algn="ctr"/>
              <a:r>
                <a:rPr lang="zh-CN" sz="12000" b="1" dirty="0">
                  <a:solidFill>
                    <a:srgbClr val="FFFFFF"/>
                  </a:solidFill>
                  <a:latin typeface="+mn-lt"/>
                  <a:ea typeface="+mn-ea"/>
                  <a:cs typeface="+mn-cs"/>
                </a:rPr>
                <a:t>06</a:t>
              </a:r>
            </a:p>
          </p:txBody>
        </p:sp>
      </p:grpSp>
      <p:grpSp>
        <p:nvGrpSpPr>
          <p:cNvPr id="18" name="section-title"/>
          <p:cNvGrpSpPr/>
          <p:nvPr/>
        </p:nvGrpSpPr>
        <p:grpSpPr>
          <a:xfrm>
            <a:off x="667512" y="1835468"/>
            <a:ext cx="6821424" cy="3351847"/>
            <a:chOff x="667512" y="1835468"/>
            <a:chExt cx="6821424" cy="3351847"/>
          </a:xfrm>
        </p:grpSpPr>
        <p:sp>
          <p:nvSpPr>
            <p:cNvPr id="6" name="TextBox 6"/>
            <p:cNvSpPr txBox="1"/>
            <p:nvPr/>
          </p:nvSpPr>
          <p:spPr>
            <a:xfrm>
              <a:off x="678942" y="1835468"/>
              <a:ext cx="740664" cy="264033"/>
            </a:xfrm>
            <a:prstGeom prst="rect">
              <a:avLst/>
            </a:prstGeom>
            <a:noFill/>
            <a:ln>
              <a:noFill/>
            </a:ln>
          </p:spPr>
          <p:txBody>
            <a:bodyPr wrap="none" lIns="0" tIns="0" rIns="0" bIns="0" anchor="t" anchorCtr="0">
              <a:spAutoFit/>
            </a:bodyPr>
            <a:lstStyle/>
            <a:p>
              <a:pPr algn="l"/>
              <a:r>
                <a:rPr lang="zh-CN" sz="1350" b="1" dirty="0">
                  <a:solidFill>
                    <a:srgbClr val="C2410C"/>
                  </a:solidFill>
                  <a:latin typeface="+mn-lt"/>
                  <a:ea typeface="+mn-ea"/>
                  <a:cs typeface="+mn-cs"/>
                </a:rPr>
                <a:t>第六部分</a:t>
              </a:r>
            </a:p>
          </p:txBody>
        </p:sp>
        <p:sp>
          <p:nvSpPr>
            <p:cNvPr id="7" name="TextBox 7"/>
            <p:cNvSpPr txBox="1"/>
            <p:nvPr/>
          </p:nvSpPr>
          <p:spPr>
            <a:xfrm>
              <a:off x="667512" y="2240280"/>
              <a:ext cx="6821424" cy="704088"/>
            </a:xfrm>
            <a:prstGeom prst="rect">
              <a:avLst/>
            </a:prstGeom>
            <a:noFill/>
            <a:ln>
              <a:noFill/>
            </a:ln>
          </p:spPr>
          <p:txBody>
            <a:bodyPr wrap="none" lIns="0" tIns="0" rIns="0" bIns="0" anchor="t" anchorCtr="0">
              <a:spAutoFit/>
            </a:bodyPr>
            <a:lstStyle/>
            <a:p>
              <a:pPr algn="l"/>
              <a:r>
                <a:rPr lang="zh-CN" sz="3600" b="1" dirty="0">
                  <a:solidFill>
                    <a:srgbClr val="1F2937"/>
                  </a:solidFill>
                  <a:latin typeface="+mn-lt"/>
                  <a:ea typeface="+mn-ea"/>
                  <a:cs typeface="+mn-cs"/>
                </a:rPr>
                <a:t>与相关模式的分界、本质与自测</a:t>
              </a:r>
            </a:p>
          </p:txBody>
        </p:sp>
        <p:sp>
          <p:nvSpPr>
            <p:cNvPr id="8" name="Rectangle 8"/>
            <p:cNvSpPr/>
            <p:nvPr/>
          </p:nvSpPr>
          <p:spPr>
            <a:xfrm>
              <a:off x="685800" y="3041332"/>
              <a:ext cx="762000" cy="47625"/>
            </a:xfrm>
            <a:prstGeom prst="roundRect">
              <a:avLst>
                <a:gd name="adj" fmla="val 50000"/>
              </a:avLst>
            </a:prstGeom>
            <a:solidFill>
              <a:srgbClr val="F26B3A"/>
            </a:solidFill>
            <a:ln>
              <a:noFill/>
            </a:ln>
          </p:spPr>
        </p:sp>
        <p:sp>
          <p:nvSpPr>
            <p:cNvPr id="9" name="TextBox 9"/>
            <p:cNvSpPr txBox="1"/>
            <p:nvPr/>
          </p:nvSpPr>
          <p:spPr>
            <a:xfrm>
              <a:off x="677418" y="3377565"/>
              <a:ext cx="2237994" cy="322707"/>
            </a:xfrm>
            <a:prstGeom prst="rect">
              <a:avLst/>
            </a:prstGeom>
            <a:noFill/>
            <a:ln>
              <a:noFill/>
            </a:ln>
          </p:spPr>
          <p:txBody>
            <a:bodyPr wrap="none" lIns="0" tIns="0" rIns="0" bIns="0" anchor="t" anchorCtr="0">
              <a:spAutoFit/>
            </a:bodyPr>
            <a:lstStyle/>
            <a:p>
              <a:pPr algn="l"/>
              <a:r>
                <a:rPr lang="zh-CN" sz="1650" dirty="0">
                  <a:solidFill>
                    <a:srgbClr val="5B6475"/>
                  </a:solidFill>
                  <a:latin typeface="+mn-lt"/>
                  <a:ea typeface="+mn-ea"/>
                  <a:cs typeface="+mn-cs"/>
                </a:rPr>
                <a:t>最容易混的是策略模式</a:t>
              </a:r>
            </a:p>
          </p:txBody>
        </p:sp>
        <p:sp>
          <p:nvSpPr>
            <p:cNvPr id="10" name="Ellipse 10"/>
            <p:cNvSpPr/>
            <p:nvPr/>
          </p:nvSpPr>
          <p:spPr>
            <a:xfrm>
              <a:off x="723900" y="3888105"/>
              <a:ext cx="76200" cy="76200"/>
            </a:xfrm>
            <a:prstGeom prst="ellipse">
              <a:avLst/>
            </a:prstGeom>
            <a:solidFill>
              <a:srgbClr val="5B3FA0"/>
            </a:solidFill>
            <a:ln>
              <a:noFill/>
            </a:ln>
          </p:spPr>
        </p:sp>
        <p:sp>
          <p:nvSpPr>
            <p:cNvPr id="11" name="TextBox 11"/>
            <p:cNvSpPr txBox="1"/>
            <p:nvPr/>
          </p:nvSpPr>
          <p:spPr>
            <a:xfrm>
              <a:off x="906780" y="3830955"/>
              <a:ext cx="163068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与策略模式的区别</a:t>
              </a:r>
            </a:p>
          </p:txBody>
        </p:sp>
        <p:sp>
          <p:nvSpPr>
            <p:cNvPr id="12" name="Ellipse 12"/>
            <p:cNvSpPr/>
            <p:nvPr/>
          </p:nvSpPr>
          <p:spPr>
            <a:xfrm>
              <a:off x="723900" y="4242435"/>
              <a:ext cx="76200" cy="76200"/>
            </a:xfrm>
            <a:prstGeom prst="ellipse">
              <a:avLst/>
            </a:prstGeom>
            <a:solidFill>
              <a:srgbClr val="5B3FA0"/>
            </a:solidFill>
            <a:ln>
              <a:noFill/>
            </a:ln>
          </p:spPr>
        </p:sp>
        <p:sp>
          <p:nvSpPr>
            <p:cNvPr id="13" name="TextBox 13"/>
            <p:cNvSpPr txBox="1"/>
            <p:nvPr/>
          </p:nvSpPr>
          <p:spPr>
            <a:xfrm>
              <a:off x="906780" y="4185285"/>
              <a:ext cx="183261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与工厂方法等的分界</a:t>
              </a:r>
            </a:p>
          </p:txBody>
        </p:sp>
        <p:sp>
          <p:nvSpPr>
            <p:cNvPr id="14" name="Ellipse 14"/>
            <p:cNvSpPr/>
            <p:nvPr/>
          </p:nvSpPr>
          <p:spPr>
            <a:xfrm>
              <a:off x="723900" y="4596765"/>
              <a:ext cx="76200" cy="76200"/>
            </a:xfrm>
            <a:prstGeom prst="ellipse">
              <a:avLst/>
            </a:prstGeom>
            <a:solidFill>
              <a:srgbClr val="5B3FA0"/>
            </a:solidFill>
            <a:ln>
              <a:noFill/>
            </a:ln>
          </p:spPr>
        </p:sp>
        <p:sp>
          <p:nvSpPr>
            <p:cNvPr id="15" name="TextBox 15"/>
            <p:cNvSpPr txBox="1"/>
            <p:nvPr/>
          </p:nvSpPr>
          <p:spPr>
            <a:xfrm>
              <a:off x="906780" y="4539615"/>
              <a:ext cx="82296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模式本质</a:t>
              </a:r>
            </a:p>
          </p:txBody>
        </p:sp>
        <p:sp>
          <p:nvSpPr>
            <p:cNvPr id="16" name="Ellipse 16"/>
            <p:cNvSpPr/>
            <p:nvPr/>
          </p:nvSpPr>
          <p:spPr>
            <a:xfrm>
              <a:off x="723900" y="4951095"/>
              <a:ext cx="76200" cy="76200"/>
            </a:xfrm>
            <a:prstGeom prst="ellipse">
              <a:avLst/>
            </a:prstGeom>
            <a:solidFill>
              <a:srgbClr val="5B3FA0"/>
            </a:solidFill>
            <a:ln>
              <a:noFill/>
            </a:ln>
          </p:spPr>
        </p:sp>
        <p:sp>
          <p:nvSpPr>
            <p:cNvPr id="17" name="TextBox 17"/>
            <p:cNvSpPr txBox="1"/>
            <p:nvPr/>
          </p:nvSpPr>
          <p:spPr>
            <a:xfrm>
              <a:off x="906780" y="4893945"/>
              <a:ext cx="1024890" cy="293370"/>
            </a:xfrm>
            <a:prstGeom prst="rect">
              <a:avLst/>
            </a:prstGeom>
            <a:noFill/>
            <a:ln>
              <a:noFill/>
            </a:ln>
          </p:spPr>
          <p:txBody>
            <a:bodyPr wrap="none" lIns="0" tIns="0" rIns="0" bIns="0" anchor="t" anchorCtr="0">
              <a:spAutoFit/>
            </a:bodyPr>
            <a:lstStyle/>
            <a:p>
              <a:pPr algn="l"/>
              <a:r>
                <a:rPr lang="zh-CN" sz="1500" dirty="0">
                  <a:solidFill>
                    <a:srgbClr val="1F2937"/>
                  </a:solidFill>
                  <a:latin typeface="+mn-lt"/>
                  <a:ea typeface="+mn-ea"/>
                  <a:cs typeface="+mn-cs"/>
                </a:rPr>
                <a:t>自测与小结</a:t>
              </a:r>
            </a:p>
          </p:txBody>
        </p:sp>
      </p:grpSp>
      <p:grpSp>
        <p:nvGrpSpPr>
          <p:cNvPr id="21" name="footer"/>
          <p:cNvGrpSpPr/>
          <p:nvPr/>
        </p:nvGrpSpPr>
        <p:grpSpPr>
          <a:xfrm>
            <a:off x="528447" y="6581299"/>
            <a:ext cx="11135106" cy="190690"/>
            <a:chOff x="528447" y="6581299"/>
            <a:chExt cx="11135106" cy="190690"/>
          </a:xfrm>
        </p:grpSpPr>
        <p:sp>
          <p:nvSpPr>
            <p:cNvPr id="19" name="TextBox 1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20" name="TextBox 2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26</a:t>
              </a:r>
            </a:p>
          </p:txBody>
        </p:sp>
      </p:grpSp>
    </p:spTree>
  </p:cSld>
  <p:clrMapOvr>
    <a:masterClrMapping/>
  </p:clrMapOvr>
  <p:transition xmlns:p14="http://schemas.microsoft.com/office/powerpoint/2010/main" p14:dur="400">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5861685" cy="909257"/>
            <a:chOff x="520446" y="342900"/>
            <a:chExt cx="5861685"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与相关模式的分界、本质与自测</a:t>
              </a:r>
            </a:p>
          </p:txBody>
        </p:sp>
        <p:sp>
          <p:nvSpPr>
            <p:cNvPr id="4" name="TextBox 4"/>
            <p:cNvSpPr txBox="1"/>
            <p:nvPr/>
          </p:nvSpPr>
          <p:spPr>
            <a:xfrm>
              <a:off x="520446" y="753428"/>
              <a:ext cx="5861685"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最容易混的一组：模板方法与策略模式</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8" name="lead"/>
          <p:cNvGrpSpPr/>
          <p:nvPr/>
        </p:nvGrpSpPr>
        <p:grpSpPr>
          <a:xfrm>
            <a:off x="526161" y="1547336"/>
            <a:ext cx="7278573" cy="278702"/>
            <a:chOff x="526161" y="1547336"/>
            <a:chExt cx="7278573" cy="278702"/>
          </a:xfrm>
        </p:grpSpPr>
        <p:sp>
          <p:nvSpPr>
            <p:cNvPr id="7" name="TextBox 7"/>
            <p:cNvSpPr txBox="1"/>
            <p:nvPr/>
          </p:nvSpPr>
          <p:spPr>
            <a:xfrm>
              <a:off x="526161" y="1547336"/>
              <a:ext cx="7278573" cy="278702"/>
            </a:xfrm>
            <a:prstGeom prst="rect">
              <a:avLst/>
            </a:prstGeom>
            <a:noFill/>
            <a:ln>
              <a:noFill/>
            </a:ln>
          </p:spPr>
          <p:txBody>
            <a:bodyPr wrap="none" lIns="0" tIns="0" rIns="0" bIns="0" anchor="t" anchorCtr="0">
              <a:spAutoFit/>
            </a:bodyPr>
            <a:lstStyle/>
            <a:p>
              <a:pPr algn="l"/>
              <a:r>
                <a:rPr lang="zh-CN" sz="1420" dirty="0">
                  <a:solidFill>
                    <a:srgbClr val="5B6475"/>
                  </a:solidFill>
                  <a:latin typeface="+mn-lt"/>
                  <a:ea typeface="+mn-ea"/>
                  <a:cs typeface="+mn-cs"/>
                </a:rPr>
                <a:t>两个模式都在封装算法，差别在于封装的是算法的哪一部分，以及靠继承还是靠组合。</a:t>
              </a:r>
            </a:p>
          </p:txBody>
        </p:sp>
      </p:grpSp>
      <p:grpSp>
        <p:nvGrpSpPr>
          <p:cNvPr id="35" name="c1-table-1"/>
          <p:cNvGrpSpPr/>
          <p:nvPr/>
        </p:nvGrpSpPr>
        <p:grpSpPr>
          <a:xfrm>
            <a:off x="533400" y="1941195"/>
            <a:ext cx="11125200" cy="2028825"/>
            <a:chOff x="533400" y="1941195"/>
            <a:chExt cx="11125200" cy="2028825"/>
          </a:xfrm>
        </p:grpSpPr>
        <p:sp>
          <p:nvSpPr>
            <p:cNvPr id="9" name="Rectangle 9"/>
            <p:cNvSpPr/>
            <p:nvPr/>
          </p:nvSpPr>
          <p:spPr>
            <a:xfrm>
              <a:off x="533400" y="1941195"/>
              <a:ext cx="11125200" cy="405765"/>
            </a:xfrm>
            <a:prstGeom prst="rect">
              <a:avLst/>
            </a:prstGeom>
            <a:solidFill>
              <a:srgbClr val="5B3FA0"/>
            </a:solidFill>
            <a:ln>
              <a:noFill/>
            </a:ln>
          </p:spPr>
        </p:sp>
        <p:sp>
          <p:nvSpPr>
            <p:cNvPr id="10" name="TextBox 10"/>
            <p:cNvSpPr txBox="1"/>
            <p:nvPr/>
          </p:nvSpPr>
          <p:spPr>
            <a:xfrm>
              <a:off x="1227214" y="2065496"/>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比较维度</a:t>
              </a:r>
            </a:p>
          </p:txBody>
        </p:sp>
        <p:sp>
          <p:nvSpPr>
            <p:cNvPr id="11" name="TextBox 11"/>
            <p:cNvSpPr txBox="1"/>
            <p:nvPr/>
          </p:nvSpPr>
          <p:spPr>
            <a:xfrm>
              <a:off x="4358754" y="2065496"/>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模板方法模式</a:t>
              </a:r>
            </a:p>
          </p:txBody>
        </p:sp>
        <p:sp>
          <p:nvSpPr>
            <p:cNvPr id="12" name="TextBox 12"/>
            <p:cNvSpPr txBox="1"/>
            <p:nvPr/>
          </p:nvSpPr>
          <p:spPr>
            <a:xfrm>
              <a:off x="9071051" y="2065496"/>
              <a:ext cx="614528"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策略模式</a:t>
              </a:r>
            </a:p>
          </p:txBody>
        </p:sp>
        <p:sp>
          <p:nvSpPr>
            <p:cNvPr id="13" name="TextBox 13"/>
            <p:cNvSpPr txBox="1"/>
            <p:nvPr/>
          </p:nvSpPr>
          <p:spPr>
            <a:xfrm>
              <a:off x="633412" y="2471261"/>
              <a:ext cx="614528"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封装什么</a:t>
              </a:r>
            </a:p>
          </p:txBody>
        </p:sp>
        <p:sp>
          <p:nvSpPr>
            <p:cNvPr id="14" name="TextBox 14"/>
            <p:cNvSpPr txBox="1"/>
            <p:nvPr/>
          </p:nvSpPr>
          <p:spPr>
            <a:xfrm>
              <a:off x="2635568" y="2471261"/>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算法的骨架，骨架本身不变</a:t>
              </a:r>
            </a:p>
          </p:txBody>
        </p:sp>
        <p:sp>
          <p:nvSpPr>
            <p:cNvPr id="15" name="TextBox 15"/>
            <p:cNvSpPr txBox="1"/>
            <p:nvPr/>
          </p:nvSpPr>
          <p:spPr>
            <a:xfrm>
              <a:off x="7197090" y="2471261"/>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一整个算法，整体可以换掉</a:t>
              </a:r>
            </a:p>
          </p:txBody>
        </p:sp>
        <p:sp>
          <p:nvSpPr>
            <p:cNvPr id="16" name="Rectangle 16"/>
            <p:cNvSpPr/>
            <p:nvPr/>
          </p:nvSpPr>
          <p:spPr>
            <a:xfrm>
              <a:off x="533400" y="2747962"/>
              <a:ext cx="11125200" cy="9525"/>
            </a:xfrm>
            <a:prstGeom prst="rect">
              <a:avLst/>
            </a:prstGeom>
            <a:solidFill>
              <a:srgbClr val="D9DFEA"/>
            </a:solidFill>
            <a:ln>
              <a:noFill/>
            </a:ln>
          </p:spPr>
        </p:sp>
        <p:sp>
          <p:nvSpPr>
            <p:cNvPr id="17" name="Rectangle 17"/>
            <p:cNvSpPr/>
            <p:nvPr/>
          </p:nvSpPr>
          <p:spPr>
            <a:xfrm>
              <a:off x="533400" y="2752725"/>
              <a:ext cx="11125200" cy="405765"/>
            </a:xfrm>
            <a:prstGeom prst="rect">
              <a:avLst/>
            </a:prstGeom>
            <a:solidFill>
              <a:srgbClr val="F4F6FB"/>
            </a:solidFill>
            <a:ln>
              <a:noFill/>
            </a:ln>
          </p:spPr>
        </p:sp>
        <p:sp>
          <p:nvSpPr>
            <p:cNvPr id="18" name="TextBox 18"/>
            <p:cNvSpPr txBox="1"/>
            <p:nvPr/>
          </p:nvSpPr>
          <p:spPr>
            <a:xfrm>
              <a:off x="633412" y="2877026"/>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变的是什么</a:t>
              </a:r>
            </a:p>
          </p:txBody>
        </p:sp>
        <p:sp>
          <p:nvSpPr>
            <p:cNvPr id="19" name="TextBox 19"/>
            <p:cNvSpPr txBox="1"/>
            <p:nvPr/>
          </p:nvSpPr>
          <p:spPr>
            <a:xfrm>
              <a:off x="2635568" y="2877026"/>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骨架中某些步骤的具体实现</a:t>
              </a:r>
            </a:p>
          </p:txBody>
        </p:sp>
        <p:sp>
          <p:nvSpPr>
            <p:cNvPr id="20" name="TextBox 20"/>
            <p:cNvSpPr txBox="1"/>
            <p:nvPr/>
          </p:nvSpPr>
          <p:spPr>
            <a:xfrm>
              <a:off x="7197090" y="2877026"/>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算法对象，彼此等价、可互换</a:t>
              </a:r>
            </a:p>
          </p:txBody>
        </p:sp>
        <p:sp>
          <p:nvSpPr>
            <p:cNvPr id="21" name="Rectangle 21"/>
            <p:cNvSpPr/>
            <p:nvPr/>
          </p:nvSpPr>
          <p:spPr>
            <a:xfrm>
              <a:off x="533400" y="3153728"/>
              <a:ext cx="11125200" cy="9525"/>
            </a:xfrm>
            <a:prstGeom prst="rect">
              <a:avLst/>
            </a:prstGeom>
            <a:solidFill>
              <a:srgbClr val="D9DFEA"/>
            </a:solidFill>
            <a:ln>
              <a:noFill/>
            </a:ln>
          </p:spPr>
        </p:sp>
        <p:sp>
          <p:nvSpPr>
            <p:cNvPr id="22" name="TextBox 22"/>
            <p:cNvSpPr txBox="1"/>
            <p:nvPr/>
          </p:nvSpPr>
          <p:spPr>
            <a:xfrm>
              <a:off x="633412" y="3282791"/>
              <a:ext cx="765302"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靠什么实现</a:t>
              </a:r>
            </a:p>
          </p:txBody>
        </p:sp>
        <p:sp>
          <p:nvSpPr>
            <p:cNvPr id="23" name="Rectangle 23"/>
            <p:cNvSpPr/>
            <p:nvPr/>
          </p:nvSpPr>
          <p:spPr>
            <a:xfrm>
              <a:off x="2545080" y="3168015"/>
              <a:ext cx="4542472" cy="386715"/>
            </a:xfrm>
            <a:prstGeom prst="rect">
              <a:avLst/>
            </a:prstGeom>
            <a:solidFill>
              <a:srgbClr val="FDEEE7"/>
            </a:solidFill>
            <a:ln>
              <a:noFill/>
            </a:ln>
          </p:spPr>
        </p:sp>
        <p:sp>
          <p:nvSpPr>
            <p:cNvPr id="24" name="TextBox 24"/>
            <p:cNvSpPr txBox="1"/>
            <p:nvPr/>
          </p:nvSpPr>
          <p:spPr>
            <a:xfrm>
              <a:off x="2635568" y="3282791"/>
              <a:ext cx="1971497"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继承，编译期定好，类行为型</a:t>
              </a:r>
            </a:p>
          </p:txBody>
        </p:sp>
        <p:sp>
          <p:nvSpPr>
            <p:cNvPr id="25" name="Rectangle 25"/>
            <p:cNvSpPr/>
            <p:nvPr/>
          </p:nvSpPr>
          <p:spPr>
            <a:xfrm>
              <a:off x="7106602" y="3168015"/>
              <a:ext cx="4542472" cy="386715"/>
            </a:xfrm>
            <a:prstGeom prst="rect">
              <a:avLst/>
            </a:prstGeom>
            <a:solidFill>
              <a:srgbClr val="FDEEE7"/>
            </a:solidFill>
            <a:ln>
              <a:noFill/>
            </a:ln>
          </p:spPr>
        </p:sp>
        <p:sp>
          <p:nvSpPr>
            <p:cNvPr id="26" name="TextBox 26"/>
            <p:cNvSpPr txBox="1"/>
            <p:nvPr/>
          </p:nvSpPr>
          <p:spPr>
            <a:xfrm>
              <a:off x="7197090" y="3282791"/>
              <a:ext cx="2273046"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组合，运行时装进来，对象行为型</a:t>
              </a:r>
            </a:p>
          </p:txBody>
        </p:sp>
        <p:sp>
          <p:nvSpPr>
            <p:cNvPr id="27" name="Rectangle 27"/>
            <p:cNvSpPr/>
            <p:nvPr/>
          </p:nvSpPr>
          <p:spPr>
            <a:xfrm>
              <a:off x="533400" y="3559492"/>
              <a:ext cx="11125200" cy="9525"/>
            </a:xfrm>
            <a:prstGeom prst="rect">
              <a:avLst/>
            </a:prstGeom>
            <a:solidFill>
              <a:srgbClr val="D9DFEA"/>
            </a:solidFill>
            <a:ln>
              <a:noFill/>
            </a:ln>
          </p:spPr>
        </p:sp>
        <p:sp>
          <p:nvSpPr>
            <p:cNvPr id="28" name="Rectangle 28"/>
            <p:cNvSpPr/>
            <p:nvPr/>
          </p:nvSpPr>
          <p:spPr>
            <a:xfrm>
              <a:off x="533400" y="3564255"/>
              <a:ext cx="11125200" cy="405765"/>
            </a:xfrm>
            <a:prstGeom prst="rect">
              <a:avLst/>
            </a:prstGeom>
            <a:solidFill>
              <a:srgbClr val="F4F6FB"/>
            </a:solidFill>
            <a:ln>
              <a:noFill/>
            </a:ln>
          </p:spPr>
        </p:sp>
        <p:sp>
          <p:nvSpPr>
            <p:cNvPr id="29" name="TextBox 29"/>
            <p:cNvSpPr txBox="1"/>
            <p:nvPr/>
          </p:nvSpPr>
          <p:spPr>
            <a:xfrm>
              <a:off x="633412" y="3688556"/>
              <a:ext cx="1066851" cy="220028"/>
            </a:xfrm>
            <a:prstGeom prst="rect">
              <a:avLst/>
            </a:prstGeom>
            <a:noFill/>
            <a:ln>
              <a:noFill/>
            </a:ln>
          </p:spPr>
          <p:txBody>
            <a:bodyPr wrap="none" lIns="0" tIns="0" rIns="0" bIns="0" anchor="t" anchorCtr="0">
              <a:spAutoFit/>
            </a:bodyPr>
            <a:lstStyle/>
            <a:p>
              <a:pPr algn="l"/>
              <a:r>
                <a:rPr lang="zh-CN" sz="1120" b="1" dirty="0">
                  <a:solidFill>
                    <a:srgbClr val="1F2937"/>
                  </a:solidFill>
                  <a:latin typeface="+mn-lt"/>
                  <a:ea typeface="+mn-ea"/>
                  <a:cs typeface="+mn-cs"/>
                </a:rPr>
                <a:t>能不能运行时换</a:t>
              </a:r>
            </a:p>
          </p:txBody>
        </p:sp>
        <p:sp>
          <p:nvSpPr>
            <p:cNvPr id="30" name="TextBox 30"/>
            <p:cNvSpPr txBox="1"/>
            <p:nvPr/>
          </p:nvSpPr>
          <p:spPr>
            <a:xfrm>
              <a:off x="2635568" y="3688556"/>
              <a:ext cx="1820723"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不能，子类一选定就固定了</a:t>
              </a:r>
            </a:p>
          </p:txBody>
        </p:sp>
        <p:sp>
          <p:nvSpPr>
            <p:cNvPr id="31" name="TextBox 31"/>
            <p:cNvSpPr txBox="1"/>
            <p:nvPr/>
          </p:nvSpPr>
          <p:spPr>
            <a:xfrm>
              <a:off x="7197090" y="3688556"/>
              <a:ext cx="1669948" cy="220028"/>
            </a:xfrm>
            <a:prstGeom prst="rect">
              <a:avLst/>
            </a:prstGeom>
            <a:noFill/>
            <a:ln>
              <a:noFill/>
            </a:ln>
          </p:spPr>
          <p:txBody>
            <a:bodyPr wrap="none" lIns="0" tIns="0" rIns="0" bIns="0" anchor="t" anchorCtr="0">
              <a:spAutoFit/>
            </a:bodyPr>
            <a:lstStyle/>
            <a:p>
              <a:pPr algn="l"/>
              <a:r>
                <a:rPr lang="zh-CN" sz="1120" dirty="0">
                  <a:solidFill>
                    <a:srgbClr val="1F2937"/>
                  </a:solidFill>
                  <a:latin typeface="+mn-lt"/>
                  <a:ea typeface="+mn-ea"/>
                  <a:cs typeface="+mn-cs"/>
                </a:rPr>
                <a:t>能，随时换一个策略对象</a:t>
              </a:r>
            </a:p>
          </p:txBody>
        </p:sp>
        <p:sp>
          <p:nvSpPr>
            <p:cNvPr id="32" name="Rectangle 32"/>
            <p:cNvSpPr/>
            <p:nvPr/>
          </p:nvSpPr>
          <p:spPr>
            <a:xfrm>
              <a:off x="533400" y="1941195"/>
              <a:ext cx="11125200" cy="2028825"/>
            </a:xfrm>
            <a:prstGeom prst="rect">
              <a:avLst/>
            </a:prstGeom>
            <a:noFill/>
            <a:ln w="14288">
              <a:solidFill>
                <a:srgbClr val="D9DFEA"/>
              </a:solidFill>
            </a:ln>
          </p:spPr>
        </p:sp>
        <p:sp>
          <p:nvSpPr>
            <p:cNvPr id="33" name="Rectangle 33"/>
            <p:cNvSpPr/>
            <p:nvPr/>
          </p:nvSpPr>
          <p:spPr>
            <a:xfrm>
              <a:off x="2530792" y="1941195"/>
              <a:ext cx="9525" cy="2028825"/>
            </a:xfrm>
            <a:prstGeom prst="rect">
              <a:avLst/>
            </a:prstGeom>
            <a:solidFill>
              <a:srgbClr val="D9DFEA"/>
            </a:solidFill>
            <a:ln>
              <a:noFill/>
            </a:ln>
          </p:spPr>
        </p:sp>
        <p:sp>
          <p:nvSpPr>
            <p:cNvPr id="34" name="Rectangle 34"/>
            <p:cNvSpPr/>
            <p:nvPr/>
          </p:nvSpPr>
          <p:spPr>
            <a:xfrm>
              <a:off x="7092315" y="1941195"/>
              <a:ext cx="9525" cy="2028825"/>
            </a:xfrm>
            <a:prstGeom prst="rect">
              <a:avLst/>
            </a:prstGeom>
            <a:solidFill>
              <a:srgbClr val="D9DFEA"/>
            </a:solidFill>
            <a:ln>
              <a:noFill/>
            </a:ln>
          </p:spPr>
        </p:sp>
      </p:grpSp>
      <p:grpSp>
        <p:nvGrpSpPr>
          <p:cNvPr id="56" name="c1-compare-2"/>
          <p:cNvGrpSpPr/>
          <p:nvPr/>
        </p:nvGrpSpPr>
        <p:grpSpPr>
          <a:xfrm>
            <a:off x="533400" y="4145280"/>
            <a:ext cx="11125200" cy="1557338"/>
            <a:chOff x="533400" y="4145280"/>
            <a:chExt cx="11125200" cy="1557338"/>
          </a:xfrm>
        </p:grpSpPr>
        <p:sp>
          <p:nvSpPr>
            <p:cNvPr id="36" name="Rectangle 36"/>
            <p:cNvSpPr/>
            <p:nvPr/>
          </p:nvSpPr>
          <p:spPr>
            <a:xfrm>
              <a:off x="533400" y="4145280"/>
              <a:ext cx="5353050" cy="1557338"/>
            </a:xfrm>
            <a:prstGeom prst="roundRect">
              <a:avLst>
                <a:gd name="adj" fmla="val 8563"/>
              </a:avLst>
            </a:prstGeom>
            <a:solidFill>
              <a:srgbClr val="FFFFFF"/>
            </a:solidFill>
            <a:ln w="14288">
              <a:solidFill>
                <a:srgbClr val="D9DFEA"/>
              </a:solidFill>
            </a:ln>
          </p:spPr>
        </p:sp>
        <p:sp>
          <p:nvSpPr>
            <p:cNvPr id="37" name="Rectangle 37"/>
            <p:cNvSpPr/>
            <p:nvPr/>
          </p:nvSpPr>
          <p:spPr>
            <a:xfrm>
              <a:off x="542925" y="4278630"/>
              <a:ext cx="47625" cy="1290638"/>
            </a:xfrm>
            <a:prstGeom prst="roundRect">
              <a:avLst>
                <a:gd name="adj" fmla="val 50000"/>
              </a:avLst>
            </a:prstGeom>
            <a:solidFill>
              <a:srgbClr val="14A38B"/>
            </a:solidFill>
            <a:ln>
              <a:noFill/>
            </a:ln>
          </p:spPr>
        </p:sp>
        <p:sp>
          <p:nvSpPr>
            <p:cNvPr id="38" name="TextBox 38"/>
            <p:cNvSpPr txBox="1"/>
            <p:nvPr/>
          </p:nvSpPr>
          <p:spPr>
            <a:xfrm>
              <a:off x="757047" y="4360545"/>
              <a:ext cx="2194560"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看见这种描述就是模板方法</a:t>
              </a:r>
            </a:p>
          </p:txBody>
        </p:sp>
        <p:sp>
          <p:nvSpPr>
            <p:cNvPr id="39" name="Ellipse 39"/>
            <p:cNvSpPr/>
            <p:nvPr/>
          </p:nvSpPr>
          <p:spPr>
            <a:xfrm>
              <a:off x="772478" y="4735830"/>
              <a:ext cx="59055" cy="59055"/>
            </a:xfrm>
            <a:prstGeom prst="ellipse">
              <a:avLst/>
            </a:prstGeom>
            <a:solidFill>
              <a:srgbClr val="5B3FA0"/>
            </a:solidFill>
            <a:ln>
              <a:noFill/>
            </a:ln>
          </p:spPr>
        </p:sp>
        <p:sp>
          <p:nvSpPr>
            <p:cNvPr id="40" name="TextBox 40"/>
            <p:cNvSpPr txBox="1"/>
            <p:nvPr/>
          </p:nvSpPr>
          <p:spPr>
            <a:xfrm>
              <a:off x="928497" y="4679632"/>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几个类的处理流程完全一样</a:t>
              </a:r>
            </a:p>
          </p:txBody>
        </p:sp>
        <p:sp>
          <p:nvSpPr>
            <p:cNvPr id="41" name="Ellipse 41"/>
            <p:cNvSpPr/>
            <p:nvPr/>
          </p:nvSpPr>
          <p:spPr>
            <a:xfrm>
              <a:off x="772478" y="5038725"/>
              <a:ext cx="59055" cy="59055"/>
            </a:xfrm>
            <a:prstGeom prst="ellipse">
              <a:avLst/>
            </a:prstGeom>
            <a:solidFill>
              <a:srgbClr val="5B3FA0"/>
            </a:solidFill>
            <a:ln>
              <a:noFill/>
            </a:ln>
          </p:spPr>
        </p:sp>
        <p:sp>
          <p:nvSpPr>
            <p:cNvPr id="42" name="TextBox 42"/>
            <p:cNvSpPr txBox="1"/>
            <p:nvPr/>
          </p:nvSpPr>
          <p:spPr>
            <a:xfrm>
              <a:off x="928497" y="4982528"/>
              <a:ext cx="2012823"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只有当中一两步做法不同</a:t>
              </a:r>
            </a:p>
          </p:txBody>
        </p:sp>
        <p:sp>
          <p:nvSpPr>
            <p:cNvPr id="43" name="Ellipse 43"/>
            <p:cNvSpPr/>
            <p:nvPr/>
          </p:nvSpPr>
          <p:spPr>
            <a:xfrm>
              <a:off x="772478" y="5341620"/>
              <a:ext cx="59055" cy="59055"/>
            </a:xfrm>
            <a:prstGeom prst="ellipse">
              <a:avLst/>
            </a:prstGeom>
            <a:solidFill>
              <a:srgbClr val="5B3FA0"/>
            </a:solidFill>
            <a:ln>
              <a:noFill/>
            </a:ln>
          </p:spPr>
        </p:sp>
        <p:sp>
          <p:nvSpPr>
            <p:cNvPr id="44" name="TextBox 44"/>
            <p:cNvSpPr txBox="1"/>
            <p:nvPr/>
          </p:nvSpPr>
          <p:spPr>
            <a:xfrm>
              <a:off x="928497" y="5285423"/>
              <a:ext cx="1831086"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流程次序不允许被改动</a:t>
              </a:r>
            </a:p>
          </p:txBody>
        </p:sp>
        <p:sp>
          <p:nvSpPr>
            <p:cNvPr id="45" name="Rectangle 45"/>
            <p:cNvSpPr/>
            <p:nvPr/>
          </p:nvSpPr>
          <p:spPr>
            <a:xfrm>
              <a:off x="6305550" y="4145280"/>
              <a:ext cx="5353050" cy="1557338"/>
            </a:xfrm>
            <a:prstGeom prst="roundRect">
              <a:avLst>
                <a:gd name="adj" fmla="val 8563"/>
              </a:avLst>
            </a:prstGeom>
            <a:solidFill>
              <a:srgbClr val="FFFFFF"/>
            </a:solidFill>
            <a:ln w="14288">
              <a:solidFill>
                <a:srgbClr val="D9DFEA"/>
              </a:solidFill>
            </a:ln>
          </p:spPr>
        </p:sp>
        <p:sp>
          <p:nvSpPr>
            <p:cNvPr id="46" name="Rectangle 46"/>
            <p:cNvSpPr/>
            <p:nvPr/>
          </p:nvSpPr>
          <p:spPr>
            <a:xfrm>
              <a:off x="6315075" y="4278630"/>
              <a:ext cx="47625" cy="1290638"/>
            </a:xfrm>
            <a:prstGeom prst="roundRect">
              <a:avLst>
                <a:gd name="adj" fmla="val 50000"/>
              </a:avLst>
            </a:prstGeom>
            <a:solidFill>
              <a:srgbClr val="5B6475"/>
            </a:solidFill>
            <a:ln>
              <a:noFill/>
            </a:ln>
          </p:spPr>
        </p:sp>
        <p:sp>
          <p:nvSpPr>
            <p:cNvPr id="47" name="TextBox 47"/>
            <p:cNvSpPr txBox="1"/>
            <p:nvPr/>
          </p:nvSpPr>
          <p:spPr>
            <a:xfrm>
              <a:off x="6529197" y="4360545"/>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看见这种描述就是策略</a:t>
              </a:r>
            </a:p>
          </p:txBody>
        </p:sp>
        <p:sp>
          <p:nvSpPr>
            <p:cNvPr id="48" name="Ellipse 48"/>
            <p:cNvSpPr/>
            <p:nvPr/>
          </p:nvSpPr>
          <p:spPr>
            <a:xfrm>
              <a:off x="6544628" y="4735830"/>
              <a:ext cx="59055" cy="59055"/>
            </a:xfrm>
            <a:prstGeom prst="ellipse">
              <a:avLst/>
            </a:prstGeom>
            <a:solidFill>
              <a:srgbClr val="5B3FA0"/>
            </a:solidFill>
            <a:ln>
              <a:noFill/>
            </a:ln>
          </p:spPr>
        </p:sp>
        <p:sp>
          <p:nvSpPr>
            <p:cNvPr id="49" name="TextBox 49"/>
            <p:cNvSpPr txBox="1"/>
            <p:nvPr/>
          </p:nvSpPr>
          <p:spPr>
            <a:xfrm>
              <a:off x="6700647" y="4679632"/>
              <a:ext cx="2194560"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同一件事有好几种完整算法</a:t>
              </a:r>
            </a:p>
          </p:txBody>
        </p:sp>
        <p:sp>
          <p:nvSpPr>
            <p:cNvPr id="50" name="Ellipse 50"/>
            <p:cNvSpPr/>
            <p:nvPr/>
          </p:nvSpPr>
          <p:spPr>
            <a:xfrm>
              <a:off x="6544628" y="5038725"/>
              <a:ext cx="59055" cy="59055"/>
            </a:xfrm>
            <a:prstGeom prst="ellipse">
              <a:avLst/>
            </a:prstGeom>
            <a:solidFill>
              <a:srgbClr val="5B3FA0"/>
            </a:solidFill>
            <a:ln>
              <a:noFill/>
            </a:ln>
          </p:spPr>
        </p:sp>
        <p:sp>
          <p:nvSpPr>
            <p:cNvPr id="51" name="TextBox 51"/>
            <p:cNvSpPr txBox="1"/>
            <p:nvPr/>
          </p:nvSpPr>
          <p:spPr>
            <a:xfrm>
              <a:off x="6700647" y="4982528"/>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想在运行时挑一种用</a:t>
              </a:r>
            </a:p>
          </p:txBody>
        </p:sp>
        <p:sp>
          <p:nvSpPr>
            <p:cNvPr id="52" name="Ellipse 52"/>
            <p:cNvSpPr/>
            <p:nvPr/>
          </p:nvSpPr>
          <p:spPr>
            <a:xfrm>
              <a:off x="6544628" y="5341620"/>
              <a:ext cx="59055" cy="59055"/>
            </a:xfrm>
            <a:prstGeom prst="ellipse">
              <a:avLst/>
            </a:prstGeom>
            <a:solidFill>
              <a:srgbClr val="5B3FA0"/>
            </a:solidFill>
            <a:ln>
              <a:noFill/>
            </a:ln>
          </p:spPr>
        </p:sp>
        <p:sp>
          <p:nvSpPr>
            <p:cNvPr id="53" name="TextBox 53"/>
            <p:cNvSpPr txBox="1"/>
            <p:nvPr/>
          </p:nvSpPr>
          <p:spPr>
            <a:xfrm>
              <a:off x="6700647" y="5285423"/>
              <a:ext cx="164934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以后还要再加新算法</a:t>
              </a:r>
            </a:p>
          </p:txBody>
        </p:sp>
        <p:sp>
          <p:nvSpPr>
            <p:cNvPr id="54" name="Ellipse 54"/>
            <p:cNvSpPr/>
            <p:nvPr/>
          </p:nvSpPr>
          <p:spPr>
            <a:xfrm>
              <a:off x="5934075" y="4762500"/>
              <a:ext cx="323850" cy="323850"/>
            </a:xfrm>
            <a:prstGeom prst="ellipse">
              <a:avLst/>
            </a:prstGeom>
            <a:solidFill>
              <a:srgbClr val="F26B3A"/>
            </a:solidFill>
            <a:ln>
              <a:noFill/>
            </a:ln>
          </p:spPr>
        </p:sp>
        <p:sp>
          <p:nvSpPr>
            <p:cNvPr id="55" name="TextBox 55"/>
            <p:cNvSpPr txBox="1"/>
            <p:nvPr/>
          </p:nvSpPr>
          <p:spPr>
            <a:xfrm>
              <a:off x="6010546" y="4862989"/>
              <a:ext cx="170907" cy="190690"/>
            </a:xfrm>
            <a:prstGeom prst="rect">
              <a:avLst/>
            </a:prstGeom>
            <a:noFill/>
            <a:ln>
              <a:noFill/>
            </a:ln>
          </p:spPr>
          <p:txBody>
            <a:bodyPr wrap="none" lIns="0" tIns="0" rIns="0" bIns="0" anchor="t" anchorCtr="0">
              <a:spAutoFit/>
            </a:bodyPr>
            <a:lstStyle/>
            <a:p>
              <a:pPr algn="ctr"/>
              <a:r>
                <a:rPr lang="en-US" sz="980" b="1" dirty="0">
                  <a:solidFill>
                    <a:srgbClr val="FFFFFF"/>
                  </a:solidFill>
                  <a:latin typeface="+mn-lt"/>
                  <a:ea typeface="+mn-ea"/>
                  <a:cs typeface="+mn-cs"/>
                </a:rPr>
                <a:t>VS</a:t>
              </a:r>
            </a:p>
          </p:txBody>
        </p:sp>
      </p:grpSp>
      <p:grpSp>
        <p:nvGrpSpPr>
          <p:cNvPr id="62" name="takeaway"/>
          <p:cNvGrpSpPr/>
          <p:nvPr/>
        </p:nvGrpSpPr>
        <p:grpSpPr>
          <a:xfrm>
            <a:off x="533400" y="5874068"/>
            <a:ext cx="11125200" cy="488632"/>
            <a:chOff x="533400" y="5874068"/>
            <a:chExt cx="11125200" cy="488632"/>
          </a:xfrm>
        </p:grpSpPr>
        <p:sp>
          <p:nvSpPr>
            <p:cNvPr id="57" name="Rectangle 57"/>
            <p:cNvSpPr/>
            <p:nvPr/>
          </p:nvSpPr>
          <p:spPr>
            <a:xfrm>
              <a:off x="533400" y="5874068"/>
              <a:ext cx="11125200" cy="488632"/>
            </a:xfrm>
            <a:prstGeom prst="roundRect">
              <a:avLst>
                <a:gd name="adj" fmla="val 23392"/>
              </a:avLst>
            </a:prstGeom>
            <a:solidFill>
              <a:srgbClr val="5B3FA0"/>
            </a:solidFill>
            <a:ln>
              <a:noFill/>
            </a:ln>
          </p:spPr>
        </p:sp>
        <p:grpSp>
          <p:nvGrpSpPr>
            <p:cNvPr id="60" name="Group 60"/>
            <p:cNvGrpSpPr/>
            <p:nvPr/>
          </p:nvGrpSpPr>
          <p:grpSpPr>
            <a:xfrm>
              <a:off x="738188" y="6017897"/>
              <a:ext cx="200023" cy="200023"/>
              <a:chOff x="738188" y="6017897"/>
              <a:chExt cx="200023" cy="200023"/>
            </a:xfrm>
          </p:grpSpPr>
          <p:sp>
            <p:nvSpPr>
              <p:cNvPr id="58" name="Freeform 58"/>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59" name="Freeform 59"/>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61" name="TextBox 61"/>
            <p:cNvSpPr txBox="1"/>
            <p:nvPr/>
          </p:nvSpPr>
          <p:spPr>
            <a:xfrm>
              <a:off x="1040892" y="6023610"/>
              <a:ext cx="777388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两者可以同时用：模板方法里那个会变的步骤，本身就可以交给一个策略对象去做（第 38 讲）。</a:t>
              </a:r>
            </a:p>
          </p:txBody>
        </p:sp>
      </p:grpSp>
      <p:grpSp>
        <p:nvGrpSpPr>
          <p:cNvPr id="65" name="footer"/>
          <p:cNvGrpSpPr/>
          <p:nvPr/>
        </p:nvGrpSpPr>
        <p:grpSpPr>
          <a:xfrm>
            <a:off x="528447" y="6581299"/>
            <a:ext cx="11135106" cy="190690"/>
            <a:chOff x="528447" y="6581299"/>
            <a:chExt cx="11135106" cy="190690"/>
          </a:xfrm>
        </p:grpSpPr>
        <p:sp>
          <p:nvSpPr>
            <p:cNvPr id="63" name="TextBox 63"/>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64" name="TextBox 6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27</a:t>
              </a:r>
            </a:p>
          </p:txBody>
        </p:sp>
      </p:grpSp>
    </p:spTree>
  </p:cSld>
  <p:clrMapOvr>
    <a:masterClrMapping/>
  </p:clrMapOvr>
  <p:transition xmlns:p14="http://schemas.microsoft.com/office/powerpoint/2010/main" p14:dur="400">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458718" cy="909257"/>
            <a:chOff x="520446" y="342900"/>
            <a:chExt cx="3458718"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与相关模式的分界、本质与自测</a:t>
              </a:r>
            </a:p>
          </p:txBody>
        </p:sp>
        <p:sp>
          <p:nvSpPr>
            <p:cNvPr id="4" name="TextBox 4"/>
            <p:cNvSpPr txBox="1"/>
            <p:nvPr/>
          </p:nvSpPr>
          <p:spPr>
            <a:xfrm>
              <a:off x="520446" y="753428"/>
              <a:ext cx="3458718"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与其他几个模式的分界</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35" name="c1-table-1"/>
          <p:cNvGrpSpPr/>
          <p:nvPr/>
        </p:nvGrpSpPr>
        <p:grpSpPr>
          <a:xfrm>
            <a:off x="533400" y="1524000"/>
            <a:ext cx="6276022" cy="3599498"/>
            <a:chOff x="533400" y="1524000"/>
            <a:chExt cx="6276022" cy="3599498"/>
          </a:xfrm>
        </p:grpSpPr>
        <p:sp>
          <p:nvSpPr>
            <p:cNvPr id="7" name="Rectangle 7"/>
            <p:cNvSpPr/>
            <p:nvPr/>
          </p:nvSpPr>
          <p:spPr>
            <a:xfrm>
              <a:off x="533400" y="1524000"/>
              <a:ext cx="6276022" cy="448628"/>
            </a:xfrm>
            <a:prstGeom prst="rect">
              <a:avLst/>
            </a:prstGeom>
            <a:solidFill>
              <a:srgbClr val="5B3FA0"/>
            </a:solidFill>
            <a:ln>
              <a:noFill/>
            </a:ln>
          </p:spPr>
        </p:sp>
        <p:sp>
          <p:nvSpPr>
            <p:cNvPr id="8" name="TextBox 8"/>
            <p:cNvSpPr txBox="1"/>
            <p:nvPr/>
          </p:nvSpPr>
          <p:spPr>
            <a:xfrm>
              <a:off x="1170902" y="1659731"/>
              <a:ext cx="357581"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模式</a:t>
              </a:r>
            </a:p>
          </p:txBody>
        </p:sp>
        <p:sp>
          <p:nvSpPr>
            <p:cNvPr id="9" name="TextBox 9"/>
            <p:cNvSpPr txBox="1"/>
            <p:nvPr/>
          </p:nvSpPr>
          <p:spPr>
            <a:xfrm>
              <a:off x="2754998" y="1659731"/>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它做什么</a:t>
              </a:r>
            </a:p>
          </p:txBody>
        </p:sp>
        <p:sp>
          <p:nvSpPr>
            <p:cNvPr id="10" name="TextBox 10"/>
            <p:cNvSpPr txBox="1"/>
            <p:nvPr/>
          </p:nvSpPr>
          <p:spPr>
            <a:xfrm>
              <a:off x="4732566" y="1659731"/>
              <a:ext cx="1391463"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n-lt"/>
                  <a:ea typeface="+mn-ea"/>
                  <a:cs typeface="+mn-cs"/>
                </a:rPr>
                <a:t>和模板方法的分界</a:t>
              </a:r>
            </a:p>
          </p:txBody>
        </p:sp>
        <p:sp>
          <p:nvSpPr>
            <p:cNvPr id="11" name="TextBox 11"/>
            <p:cNvSpPr txBox="1"/>
            <p:nvPr/>
          </p:nvSpPr>
          <p:spPr>
            <a:xfrm>
              <a:off x="641223" y="2221706"/>
              <a:ext cx="135441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策略（第 38 讲）</a:t>
              </a:r>
            </a:p>
          </p:txBody>
        </p:sp>
        <p:sp>
          <p:nvSpPr>
            <p:cNvPr id="12" name="TextBox 12"/>
            <p:cNvSpPr txBox="1"/>
            <p:nvPr/>
          </p:nvSpPr>
          <p:spPr>
            <a:xfrm>
              <a:off x="2272856" y="2108359"/>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封装可互换的整个算</a:t>
              </a:r>
              <a:br/>
              <a:r>
                <a:rPr lang="zh-CN" sz="1280" dirty="0">
                  <a:solidFill>
                    <a:srgbClr val="1F2937"/>
                  </a:solidFill>
                  <a:latin typeface="+mn-lt"/>
                  <a:ea typeface="+mn-ea"/>
                  <a:cs typeface="+mn-cs"/>
                </a:rPr>
                <a:t>法</a:t>
              </a:r>
            </a:p>
          </p:txBody>
        </p:sp>
        <p:sp>
          <p:nvSpPr>
            <p:cNvPr id="13" name="TextBox 13"/>
            <p:cNvSpPr txBox="1"/>
            <p:nvPr/>
          </p:nvSpPr>
          <p:spPr>
            <a:xfrm>
              <a:off x="4155948" y="2108359"/>
              <a:ext cx="22887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模板方法封的是骨架，靠继承不</a:t>
              </a:r>
              <a:br/>
              <a:r>
                <a:rPr lang="zh-CN" sz="1280" dirty="0">
                  <a:solidFill>
                    <a:srgbClr val="1F2937"/>
                  </a:solidFill>
                  <a:latin typeface="+mn-lt"/>
                  <a:ea typeface="+mn-ea"/>
                  <a:cs typeface="+mn-cs"/>
                </a:rPr>
                <a:t>靠组合</a:t>
              </a:r>
            </a:p>
          </p:txBody>
        </p:sp>
        <p:sp>
          <p:nvSpPr>
            <p:cNvPr id="14" name="Rectangle 14"/>
            <p:cNvSpPr/>
            <p:nvPr/>
          </p:nvSpPr>
          <p:spPr>
            <a:xfrm>
              <a:off x="533400" y="2643188"/>
              <a:ext cx="6276022" cy="9525"/>
            </a:xfrm>
            <a:prstGeom prst="rect">
              <a:avLst/>
            </a:prstGeom>
            <a:solidFill>
              <a:srgbClr val="D9DFEA"/>
            </a:solidFill>
            <a:ln>
              <a:noFill/>
            </a:ln>
          </p:spPr>
        </p:sp>
        <p:sp>
          <p:nvSpPr>
            <p:cNvPr id="15" name="Rectangle 15"/>
            <p:cNvSpPr/>
            <p:nvPr/>
          </p:nvSpPr>
          <p:spPr>
            <a:xfrm>
              <a:off x="533400" y="2647950"/>
              <a:ext cx="6276022" cy="675322"/>
            </a:xfrm>
            <a:prstGeom prst="rect">
              <a:avLst/>
            </a:prstGeom>
            <a:solidFill>
              <a:srgbClr val="F4F6FB"/>
            </a:solidFill>
            <a:ln>
              <a:noFill/>
            </a:ln>
          </p:spPr>
        </p:sp>
        <p:sp>
          <p:nvSpPr>
            <p:cNvPr id="16" name="TextBox 16"/>
            <p:cNvSpPr txBox="1"/>
            <p:nvPr/>
          </p:nvSpPr>
          <p:spPr>
            <a:xfrm>
              <a:off x="641223" y="2783681"/>
              <a:ext cx="1227277"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工厂方法（第 11</a:t>
              </a:r>
              <a:br/>
              <a:r>
                <a:rPr lang="zh-CN" sz="1280" b="1" dirty="0">
                  <a:solidFill>
                    <a:srgbClr val="1F2937"/>
                  </a:solidFill>
                  <a:latin typeface="+mn-lt"/>
                  <a:ea typeface="+mn-ea"/>
                  <a:cs typeface="+mn-cs"/>
                </a:rPr>
                <a:t>讲）</a:t>
              </a:r>
            </a:p>
          </p:txBody>
        </p:sp>
        <p:sp>
          <p:nvSpPr>
            <p:cNvPr id="17" name="TextBox 17"/>
            <p:cNvSpPr txBox="1"/>
            <p:nvPr/>
          </p:nvSpPr>
          <p:spPr>
            <a:xfrm>
              <a:off x="2272856" y="2783681"/>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把对象的创建延迟到</a:t>
              </a:r>
              <a:br/>
              <a:r>
                <a:rPr lang="zh-CN" sz="1280" dirty="0">
                  <a:solidFill>
                    <a:srgbClr val="1F2937"/>
                  </a:solidFill>
                  <a:latin typeface="+mn-lt"/>
                  <a:ea typeface="+mn-ea"/>
                  <a:cs typeface="+mn-cs"/>
                </a:rPr>
                <a:t>子类</a:t>
              </a:r>
            </a:p>
          </p:txBody>
        </p:sp>
        <p:sp>
          <p:nvSpPr>
            <p:cNvPr id="18" name="TextBox 18"/>
            <p:cNvSpPr txBox="1"/>
            <p:nvPr/>
          </p:nvSpPr>
          <p:spPr>
            <a:xfrm>
              <a:off x="4155948" y="2783681"/>
              <a:ext cx="212623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它可以看成只有一步的模板方</a:t>
              </a:r>
              <a:br/>
              <a:r>
                <a:rPr lang="zh-CN" sz="1280" dirty="0">
                  <a:solidFill>
                    <a:srgbClr val="1F2937"/>
                  </a:solidFill>
                  <a:latin typeface="+mn-lt"/>
                  <a:ea typeface="+mn-ea"/>
                  <a:cs typeface="+mn-cs"/>
                </a:rPr>
                <a:t>法，那一步是创建</a:t>
              </a:r>
            </a:p>
          </p:txBody>
        </p:sp>
        <p:sp>
          <p:nvSpPr>
            <p:cNvPr id="19" name="Rectangle 19"/>
            <p:cNvSpPr/>
            <p:nvPr/>
          </p:nvSpPr>
          <p:spPr>
            <a:xfrm>
              <a:off x="533400" y="3319462"/>
              <a:ext cx="6276022" cy="9525"/>
            </a:xfrm>
            <a:prstGeom prst="rect">
              <a:avLst/>
            </a:prstGeom>
            <a:solidFill>
              <a:srgbClr val="D9DFEA"/>
            </a:solidFill>
            <a:ln>
              <a:noFill/>
            </a:ln>
          </p:spPr>
        </p:sp>
        <p:sp>
          <p:nvSpPr>
            <p:cNvPr id="20" name="TextBox 20"/>
            <p:cNvSpPr txBox="1"/>
            <p:nvPr/>
          </p:nvSpPr>
          <p:spPr>
            <a:xfrm>
              <a:off x="641223" y="3459004"/>
              <a:ext cx="1064717" cy="476059"/>
            </a:xfrm>
            <a:prstGeom prst="rect">
              <a:avLst/>
            </a:prstGeom>
            <a:noFill/>
            <a:ln>
              <a:noFill/>
            </a:ln>
          </p:spPr>
          <p:txBody>
            <a:bodyPr wrap="none" lIns="0" tIns="0" rIns="0" bIns="0" anchor="t" anchorCtr="0">
              <a:spAutoFit/>
            </a:bodyPr>
            <a:lstStyle/>
            <a:p>
              <a:pPr algn="l">
                <a:lnSpc>
                  <a:spcPts val="1785"/>
                </a:lnSpc>
              </a:pPr>
              <a:r>
                <a:rPr lang="zh-CN" sz="1280" b="1" dirty="0">
                  <a:solidFill>
                    <a:srgbClr val="1F2937"/>
                  </a:solidFill>
                  <a:latin typeface="+mn-lt"/>
                  <a:ea typeface="+mn-ea"/>
                  <a:cs typeface="+mn-cs"/>
                </a:rPr>
                <a:t>建造者（第 13</a:t>
              </a:r>
              <a:br/>
              <a:r>
                <a:rPr lang="zh-CN" sz="1280" b="1" dirty="0">
                  <a:solidFill>
                    <a:srgbClr val="1F2937"/>
                  </a:solidFill>
                  <a:latin typeface="+mn-lt"/>
                  <a:ea typeface="+mn-ea"/>
                  <a:cs typeface="+mn-cs"/>
                </a:rPr>
                <a:t>讲）</a:t>
              </a:r>
            </a:p>
          </p:txBody>
        </p:sp>
        <p:sp>
          <p:nvSpPr>
            <p:cNvPr id="21" name="TextBox 21"/>
            <p:cNvSpPr txBox="1"/>
            <p:nvPr/>
          </p:nvSpPr>
          <p:spPr>
            <a:xfrm>
              <a:off x="2272856" y="3572351"/>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分步构造复杂对象</a:t>
              </a:r>
            </a:p>
          </p:txBody>
        </p:sp>
        <p:sp>
          <p:nvSpPr>
            <p:cNvPr id="22" name="TextBox 22"/>
            <p:cNvSpPr txBox="1"/>
            <p:nvPr/>
          </p:nvSpPr>
          <p:spPr>
            <a:xfrm>
              <a:off x="4155948" y="3459004"/>
              <a:ext cx="22887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次序由指挥者在外部控制，不在</a:t>
              </a:r>
              <a:br/>
              <a:r>
                <a:rPr lang="zh-CN" sz="1280" dirty="0">
                  <a:solidFill>
                    <a:srgbClr val="1F2937"/>
                  </a:solidFill>
                  <a:latin typeface="+mn-lt"/>
                  <a:ea typeface="+mn-ea"/>
                  <a:cs typeface="+mn-cs"/>
                </a:rPr>
                <a:t>父类方法里</a:t>
              </a:r>
            </a:p>
          </p:txBody>
        </p:sp>
        <p:sp>
          <p:nvSpPr>
            <p:cNvPr id="23" name="Rectangle 23"/>
            <p:cNvSpPr/>
            <p:nvPr/>
          </p:nvSpPr>
          <p:spPr>
            <a:xfrm>
              <a:off x="533400" y="3994785"/>
              <a:ext cx="6276022" cy="9525"/>
            </a:xfrm>
            <a:prstGeom prst="rect">
              <a:avLst/>
            </a:prstGeom>
            <a:solidFill>
              <a:srgbClr val="D9DFEA"/>
            </a:solidFill>
            <a:ln>
              <a:noFill/>
            </a:ln>
          </p:spPr>
        </p:sp>
        <p:sp>
          <p:nvSpPr>
            <p:cNvPr id="24" name="Rectangle 24"/>
            <p:cNvSpPr/>
            <p:nvPr/>
          </p:nvSpPr>
          <p:spPr>
            <a:xfrm>
              <a:off x="533400" y="3999548"/>
              <a:ext cx="6276022" cy="675322"/>
            </a:xfrm>
            <a:prstGeom prst="rect">
              <a:avLst/>
            </a:prstGeom>
            <a:solidFill>
              <a:srgbClr val="F4F6FB"/>
            </a:solidFill>
            <a:ln>
              <a:noFill/>
            </a:ln>
          </p:spPr>
        </p:sp>
        <p:sp>
          <p:nvSpPr>
            <p:cNvPr id="25" name="TextBox 25"/>
            <p:cNvSpPr txBox="1"/>
            <p:nvPr/>
          </p:nvSpPr>
          <p:spPr>
            <a:xfrm>
              <a:off x="641223" y="4247674"/>
              <a:ext cx="135441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桥接（第 21 讲）</a:t>
              </a:r>
            </a:p>
          </p:txBody>
        </p:sp>
        <p:sp>
          <p:nvSpPr>
            <p:cNvPr id="26" name="TextBox 26"/>
            <p:cNvSpPr txBox="1"/>
            <p:nvPr/>
          </p:nvSpPr>
          <p:spPr>
            <a:xfrm>
              <a:off x="2272856" y="4134326"/>
              <a:ext cx="14759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分离抽象与实现两个</a:t>
              </a:r>
              <a:br/>
              <a:r>
                <a:rPr lang="zh-CN" sz="1280" dirty="0">
                  <a:solidFill>
                    <a:srgbClr val="1F2937"/>
                  </a:solidFill>
                  <a:latin typeface="+mn-lt"/>
                  <a:ea typeface="+mn-ea"/>
                  <a:cs typeface="+mn-cs"/>
                </a:rPr>
                <a:t>维度</a:t>
              </a:r>
            </a:p>
          </p:txBody>
        </p:sp>
        <p:sp>
          <p:nvSpPr>
            <p:cNvPr id="27" name="TextBox 27"/>
            <p:cNvSpPr txBox="1"/>
            <p:nvPr/>
          </p:nvSpPr>
          <p:spPr>
            <a:xfrm>
              <a:off x="4155948" y="4134326"/>
              <a:ext cx="2288794" cy="476059"/>
            </a:xfrm>
            <a:prstGeom prst="rect">
              <a:avLst/>
            </a:prstGeom>
            <a:noFill/>
            <a:ln>
              <a:noFill/>
            </a:ln>
          </p:spPr>
          <p:txBody>
            <a:bodyPr wrap="none" lIns="0" tIns="0" rIns="0" bIns="0" anchor="t" anchorCtr="0">
              <a:spAutoFit/>
            </a:bodyPr>
            <a:lstStyle/>
            <a:p>
              <a:pPr algn="l">
                <a:lnSpc>
                  <a:spcPts val="1785"/>
                </a:lnSpc>
              </a:pPr>
              <a:r>
                <a:rPr lang="zh-CN" sz="1280" dirty="0">
                  <a:solidFill>
                    <a:srgbClr val="1F2937"/>
                  </a:solidFill>
                  <a:latin typeface="+mn-lt"/>
                  <a:ea typeface="+mn-ea"/>
                  <a:cs typeface="+mn-cs"/>
                </a:rPr>
                <a:t>可变步骤太多时，用它替掉爆炸</a:t>
              </a:r>
              <a:br/>
              <a:r>
                <a:rPr lang="zh-CN" sz="1280" dirty="0">
                  <a:solidFill>
                    <a:srgbClr val="1F2937"/>
                  </a:solidFill>
                  <a:latin typeface="+mn-lt"/>
                  <a:ea typeface="+mn-ea"/>
                  <a:cs typeface="+mn-cs"/>
                </a:rPr>
                <a:t>的子类</a:t>
              </a:r>
            </a:p>
          </p:txBody>
        </p:sp>
        <p:sp>
          <p:nvSpPr>
            <p:cNvPr id="28" name="Rectangle 28"/>
            <p:cNvSpPr/>
            <p:nvPr/>
          </p:nvSpPr>
          <p:spPr>
            <a:xfrm>
              <a:off x="533400" y="4670108"/>
              <a:ext cx="6276022" cy="9525"/>
            </a:xfrm>
            <a:prstGeom prst="rect">
              <a:avLst/>
            </a:prstGeom>
            <a:solidFill>
              <a:srgbClr val="D9DFEA"/>
            </a:solidFill>
            <a:ln>
              <a:noFill/>
            </a:ln>
          </p:spPr>
        </p:sp>
        <p:sp>
          <p:nvSpPr>
            <p:cNvPr id="29" name="TextBox 29"/>
            <p:cNvSpPr txBox="1"/>
            <p:nvPr/>
          </p:nvSpPr>
          <p:spPr>
            <a:xfrm>
              <a:off x="641223" y="4810601"/>
              <a:ext cx="1354415"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状态（第 37 讲）</a:t>
              </a:r>
            </a:p>
          </p:txBody>
        </p:sp>
        <p:sp>
          <p:nvSpPr>
            <p:cNvPr id="30" name="TextBox 30"/>
            <p:cNvSpPr txBox="1"/>
            <p:nvPr/>
          </p:nvSpPr>
          <p:spPr>
            <a:xfrm>
              <a:off x="2272856" y="4810601"/>
              <a:ext cx="139146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按状态换整个行为</a:t>
              </a:r>
            </a:p>
          </p:txBody>
        </p:sp>
        <p:sp>
          <p:nvSpPr>
            <p:cNvPr id="31" name="TextBox 31"/>
            <p:cNvSpPr txBox="1"/>
            <p:nvPr/>
          </p:nvSpPr>
          <p:spPr>
            <a:xfrm>
              <a:off x="4155948" y="4810601"/>
              <a:ext cx="2253031"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换的是对象而不是某一个步骤</a:t>
              </a:r>
            </a:p>
          </p:txBody>
        </p:sp>
        <p:sp>
          <p:nvSpPr>
            <p:cNvPr id="32" name="Rectangle 32"/>
            <p:cNvSpPr/>
            <p:nvPr/>
          </p:nvSpPr>
          <p:spPr>
            <a:xfrm>
              <a:off x="533400" y="1524000"/>
              <a:ext cx="6276022" cy="3599498"/>
            </a:xfrm>
            <a:prstGeom prst="rect">
              <a:avLst/>
            </a:prstGeom>
            <a:noFill/>
            <a:ln w="14288">
              <a:solidFill>
                <a:srgbClr val="D9DFEA"/>
              </a:solidFill>
            </a:ln>
          </p:spPr>
        </p:sp>
        <p:sp>
          <p:nvSpPr>
            <p:cNvPr id="33" name="Rectangle 33"/>
            <p:cNvSpPr/>
            <p:nvPr/>
          </p:nvSpPr>
          <p:spPr>
            <a:xfrm>
              <a:off x="2160270" y="1524000"/>
              <a:ext cx="9525" cy="3599498"/>
            </a:xfrm>
            <a:prstGeom prst="rect">
              <a:avLst/>
            </a:prstGeom>
            <a:solidFill>
              <a:srgbClr val="D9DFEA"/>
            </a:solidFill>
            <a:ln>
              <a:noFill/>
            </a:ln>
          </p:spPr>
        </p:sp>
        <p:sp>
          <p:nvSpPr>
            <p:cNvPr id="34" name="Rectangle 34"/>
            <p:cNvSpPr/>
            <p:nvPr/>
          </p:nvSpPr>
          <p:spPr>
            <a:xfrm>
              <a:off x="4043362" y="1524000"/>
              <a:ext cx="9525" cy="3599498"/>
            </a:xfrm>
            <a:prstGeom prst="rect">
              <a:avLst/>
            </a:prstGeom>
            <a:solidFill>
              <a:srgbClr val="D9DFEA"/>
            </a:solidFill>
            <a:ln>
              <a:noFill/>
            </a:ln>
          </p:spPr>
        </p:sp>
      </p:grpSp>
      <p:grpSp>
        <p:nvGrpSpPr>
          <p:cNvPr id="42" name="c1-callout-2"/>
          <p:cNvGrpSpPr/>
          <p:nvPr/>
        </p:nvGrpSpPr>
        <p:grpSpPr>
          <a:xfrm>
            <a:off x="533400" y="5313998"/>
            <a:ext cx="6276022" cy="782955"/>
            <a:chOff x="533400" y="5313998"/>
            <a:chExt cx="6276022" cy="782955"/>
          </a:xfrm>
        </p:grpSpPr>
        <p:sp>
          <p:nvSpPr>
            <p:cNvPr id="36" name="Rectangle 36"/>
            <p:cNvSpPr/>
            <p:nvPr/>
          </p:nvSpPr>
          <p:spPr>
            <a:xfrm>
              <a:off x="533400" y="5313998"/>
              <a:ext cx="6276022" cy="782955"/>
            </a:xfrm>
            <a:prstGeom prst="roundRect">
              <a:avLst>
                <a:gd name="adj" fmla="val 14599"/>
              </a:avLst>
            </a:prstGeom>
            <a:solidFill>
              <a:srgbClr val="FDEEE7"/>
            </a:solidFill>
            <a:ln>
              <a:noFill/>
            </a:ln>
          </p:spPr>
        </p:sp>
        <p:grpSp>
          <p:nvGrpSpPr>
            <p:cNvPr id="40" name="Group 40"/>
            <p:cNvGrpSpPr/>
            <p:nvPr/>
          </p:nvGrpSpPr>
          <p:grpSpPr>
            <a:xfrm>
              <a:off x="738188" y="5605463"/>
              <a:ext cx="200026" cy="200025"/>
              <a:chOff x="738188" y="5605463"/>
              <a:chExt cx="200026" cy="200025"/>
            </a:xfrm>
          </p:grpSpPr>
          <p:sp>
            <p:nvSpPr>
              <p:cNvPr id="37" name="Freeform 37"/>
              <p:cNvSpPr/>
              <p:nvPr/>
            </p:nvSpPr>
            <p:spPr>
              <a:xfrm>
                <a:off x="738188" y="5605463"/>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38" name="Freeform 38"/>
              <p:cNvSpPr/>
              <p:nvPr/>
            </p:nvSpPr>
            <p:spPr>
              <a:xfrm>
                <a:off x="777926" y="5649913"/>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39" name="Freeform 39"/>
              <p:cNvSpPr/>
              <p:nvPr/>
            </p:nvSpPr>
            <p:spPr>
              <a:xfrm>
                <a:off x="812642" y="5761038"/>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1" name="TextBox 41"/>
            <p:cNvSpPr txBox="1"/>
            <p:nvPr/>
          </p:nvSpPr>
          <p:spPr>
            <a:xfrm>
              <a:off x="1040130" y="5462588"/>
              <a:ext cx="5206365" cy="569595"/>
            </a:xfrm>
            <a:prstGeom prst="rect">
              <a:avLst/>
            </a:prstGeom>
            <a:noFill/>
            <a:ln>
              <a:noFill/>
            </a:ln>
          </p:spPr>
          <p:txBody>
            <a:bodyPr wrap="none" lIns="0" tIns="0" rIns="0" bIns="0" anchor="t" anchorCtr="0">
              <a:spAutoFit/>
            </a:bodyPr>
            <a:lstStyle/>
            <a:p>
              <a:pPr algn="l">
                <a:lnSpc>
                  <a:spcPts val="2175"/>
                </a:lnSpc>
              </a:pPr>
              <a:r>
                <a:rPr lang="zh-CN" sz="1500" dirty="0">
                  <a:solidFill>
                    <a:srgbClr val="C2410C"/>
                  </a:solidFill>
                  <a:latin typeface="+mn-lt"/>
                  <a:ea typeface="+mn-ea"/>
                  <a:cs typeface="+mn-cs"/>
                </a:rPr>
                <a:t>工厂方法是模板方法的一个特例，这条结论在 GoF 原书里就写</a:t>
              </a:r>
              <a:br/>
              <a:r>
                <a:rPr lang="zh-CN" sz="1500" dirty="0">
                  <a:solidFill>
                    <a:srgbClr val="C2410C"/>
                  </a:solidFill>
                  <a:latin typeface="+mn-lt"/>
                  <a:ea typeface="+mn-ea"/>
                  <a:cs typeface="+mn-cs"/>
                </a:rPr>
                <a:t>着，做选择题时很好用。</a:t>
              </a:r>
            </a:p>
          </p:txBody>
        </p:sp>
      </p:grpSp>
      <p:grpSp>
        <p:nvGrpSpPr>
          <p:cNvPr id="49" name="c2-card-1"/>
          <p:cNvGrpSpPr/>
          <p:nvPr/>
        </p:nvGrpSpPr>
        <p:grpSpPr>
          <a:xfrm>
            <a:off x="7114222" y="1524000"/>
            <a:ext cx="4544378" cy="2242185"/>
            <a:chOff x="7114222" y="1524000"/>
            <a:chExt cx="4544378" cy="2242185"/>
          </a:xfrm>
        </p:grpSpPr>
        <p:sp>
          <p:nvSpPr>
            <p:cNvPr id="43" name="Rectangle 43"/>
            <p:cNvSpPr/>
            <p:nvPr/>
          </p:nvSpPr>
          <p:spPr>
            <a:xfrm>
              <a:off x="7114222" y="1524000"/>
              <a:ext cx="4544378" cy="2242185"/>
            </a:xfrm>
            <a:prstGeom prst="roundRect">
              <a:avLst>
                <a:gd name="adj" fmla="val 5947"/>
              </a:avLst>
            </a:prstGeom>
            <a:solidFill>
              <a:srgbClr val="5B3FA0"/>
            </a:solidFill>
            <a:ln>
              <a:noFill/>
            </a:ln>
          </p:spPr>
        </p:sp>
        <p:sp>
          <p:nvSpPr>
            <p:cNvPr id="44" name="Rectangle 44"/>
            <p:cNvSpPr/>
            <p:nvPr/>
          </p:nvSpPr>
          <p:spPr>
            <a:xfrm>
              <a:off x="7323772" y="1733550"/>
              <a:ext cx="1062990" cy="257175"/>
            </a:xfrm>
            <a:prstGeom prst="roundRect">
              <a:avLst>
                <a:gd name="adj" fmla="val 50000"/>
              </a:avLst>
            </a:prstGeom>
            <a:solidFill>
              <a:srgbClr val="462F80"/>
            </a:solidFill>
            <a:ln>
              <a:noFill/>
            </a:ln>
          </p:spPr>
        </p:sp>
        <p:sp>
          <p:nvSpPr>
            <p:cNvPr id="45" name="TextBox 45"/>
            <p:cNvSpPr txBox="1"/>
            <p:nvPr/>
          </p:nvSpPr>
          <p:spPr>
            <a:xfrm>
              <a:off x="7397229" y="1769269"/>
              <a:ext cx="916076" cy="220028"/>
            </a:xfrm>
            <a:prstGeom prst="rect">
              <a:avLst/>
            </a:prstGeom>
            <a:noFill/>
            <a:ln>
              <a:noFill/>
            </a:ln>
          </p:spPr>
          <p:txBody>
            <a:bodyPr wrap="none" lIns="0" tIns="0" rIns="0" bIns="0" anchor="t" anchorCtr="0">
              <a:spAutoFit/>
            </a:bodyPr>
            <a:lstStyle/>
            <a:p>
              <a:pPr algn="ctr"/>
              <a:r>
                <a:rPr lang="zh-CN" sz="1120" b="1" dirty="0">
                  <a:solidFill>
                    <a:srgbClr val="FFFFFF"/>
                  </a:solidFill>
                  <a:latin typeface="+mn-lt"/>
                  <a:ea typeface="+mn-ea"/>
                  <a:cs typeface="+mn-cs"/>
                </a:rPr>
                <a:t>最常考的一处</a:t>
              </a:r>
            </a:p>
          </p:txBody>
        </p:sp>
        <p:sp>
          <p:nvSpPr>
            <p:cNvPr id="46" name="TextBox 46"/>
            <p:cNvSpPr txBox="1"/>
            <p:nvPr/>
          </p:nvSpPr>
          <p:spPr>
            <a:xfrm>
              <a:off x="8493442" y="1768792"/>
              <a:ext cx="2438400" cy="293370"/>
            </a:xfrm>
            <a:prstGeom prst="rect">
              <a:avLst/>
            </a:prstGeom>
            <a:noFill/>
            <a:ln>
              <a:noFill/>
            </a:ln>
          </p:spPr>
          <p:txBody>
            <a:bodyPr wrap="none" lIns="0" tIns="0" rIns="0" bIns="0" anchor="t" anchorCtr="0">
              <a:spAutoFit/>
            </a:bodyPr>
            <a:lstStyle/>
            <a:p>
              <a:pPr algn="l"/>
              <a:r>
                <a:rPr lang="zh-CN" sz="1500" b="1" dirty="0">
                  <a:solidFill>
                    <a:srgbClr val="FFFFFF"/>
                  </a:solidFill>
                  <a:latin typeface="+mn-lt"/>
                  <a:ea typeface="+mn-ea"/>
                  <a:cs typeface="+mn-cs"/>
                </a:rPr>
                <a:t>模板方法与工厂方法的关系</a:t>
              </a:r>
            </a:p>
          </p:txBody>
        </p:sp>
        <p:sp>
          <p:nvSpPr>
            <p:cNvPr id="47" name="TextBox 47"/>
            <p:cNvSpPr txBox="1"/>
            <p:nvPr/>
          </p:nvSpPr>
          <p:spPr>
            <a:xfrm>
              <a:off x="7316152" y="2129790"/>
              <a:ext cx="3834765"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 xml:space="preserve">工厂方法里那个 </a:t>
              </a:r>
              <a:r>
                <a:rPr lang="en-US" sz="1500" dirty="0">
                  <a:solidFill>
                    <a:srgbClr val="EEEAF7"/>
                  </a:solidFill>
                  <a:latin typeface="+mn-lt"/>
                  <a:ea typeface="+mn-ea"/>
                  <a:cs typeface="+mn-cs"/>
                </a:rPr>
                <a:t>factoryMethod()</a:t>
              </a:r>
              <a:r>
                <a:rPr lang="zh-CN" sz="1500" dirty="0">
                  <a:solidFill>
                    <a:srgbClr val="FFFFFF"/>
                  </a:solidFill>
                  <a:latin typeface="+mn-lt"/>
                  <a:ea typeface="+mn-ea"/>
                  <a:cs typeface="+mn-cs"/>
                </a:rPr>
                <a:t xml:space="preserve"> 就是父类</a:t>
              </a:r>
              <a:br/>
              <a:r>
                <a:rPr lang="zh-CN" sz="1500" dirty="0">
                  <a:solidFill>
                    <a:srgbClr val="FFFFFF"/>
                  </a:solidFill>
                  <a:latin typeface="+mn-lt"/>
                  <a:ea typeface="+mn-ea"/>
                  <a:cs typeface="+mn-cs"/>
                </a:rPr>
                <a:t>声明、子类实现的抽象基本方法，父类的其他</a:t>
              </a:r>
              <a:br/>
              <a:r>
                <a:rPr lang="zh-CN" sz="1500" dirty="0">
                  <a:solidFill>
                    <a:srgbClr val="FFFFFF"/>
                  </a:solidFill>
                  <a:latin typeface="+mn-lt"/>
                  <a:ea typeface="+mn-ea"/>
                  <a:cs typeface="+mn-cs"/>
                </a:rPr>
                <a:t>方法调用它来拿对象。</a:t>
              </a:r>
            </a:p>
          </p:txBody>
        </p:sp>
        <p:sp>
          <p:nvSpPr>
            <p:cNvPr id="48" name="TextBox 48"/>
            <p:cNvSpPr txBox="1"/>
            <p:nvPr/>
          </p:nvSpPr>
          <p:spPr>
            <a:xfrm>
              <a:off x="7316152" y="3036570"/>
              <a:ext cx="3825240" cy="579120"/>
            </a:xfrm>
            <a:prstGeom prst="rect">
              <a:avLst/>
            </a:prstGeom>
            <a:noFill/>
            <a:ln>
              <a:noFill/>
            </a:ln>
          </p:spPr>
          <p:txBody>
            <a:bodyPr wrap="none" lIns="0" tIns="0" rIns="0" bIns="0" anchor="t" anchorCtr="0">
              <a:spAutoFit/>
            </a:bodyPr>
            <a:lstStyle/>
            <a:p>
              <a:pPr algn="l">
                <a:lnSpc>
                  <a:spcPts val="2250"/>
                </a:lnSpc>
              </a:pPr>
              <a:r>
                <a:rPr lang="zh-CN" sz="1500" dirty="0">
                  <a:solidFill>
                    <a:srgbClr val="FFFFFF"/>
                  </a:solidFill>
                  <a:latin typeface="+mn-lt"/>
                  <a:ea typeface="+mn-ea"/>
                  <a:cs typeface="+mn-cs"/>
                </a:rPr>
                <a:t>把模板方法的骨架缩到只剩创建对象这一步，</a:t>
              </a:r>
              <a:br/>
              <a:r>
                <a:rPr lang="zh-CN" sz="1500" dirty="0">
                  <a:solidFill>
                    <a:srgbClr val="FFFFFF"/>
                  </a:solidFill>
                  <a:latin typeface="+mn-lt"/>
                  <a:ea typeface="+mn-ea"/>
                  <a:cs typeface="+mn-cs"/>
                </a:rPr>
                <a:t>得到的就是工厂方法模式。</a:t>
              </a:r>
            </a:p>
          </p:txBody>
        </p:sp>
      </p:grpSp>
      <p:grpSp>
        <p:nvGrpSpPr>
          <p:cNvPr id="56" name="c2-card-2"/>
          <p:cNvGrpSpPr/>
          <p:nvPr/>
        </p:nvGrpSpPr>
        <p:grpSpPr>
          <a:xfrm>
            <a:off x="7114222" y="3956685"/>
            <a:ext cx="4544378" cy="2140268"/>
            <a:chOff x="7114222" y="3956685"/>
            <a:chExt cx="4544378" cy="2140268"/>
          </a:xfrm>
        </p:grpSpPr>
        <p:sp>
          <p:nvSpPr>
            <p:cNvPr id="50" name="Rectangle 50"/>
            <p:cNvSpPr/>
            <p:nvPr/>
          </p:nvSpPr>
          <p:spPr>
            <a:xfrm>
              <a:off x="7114222" y="3956685"/>
              <a:ext cx="4544378" cy="2140268"/>
            </a:xfrm>
            <a:prstGeom prst="roundRect">
              <a:avLst>
                <a:gd name="adj" fmla="val 6231"/>
              </a:avLst>
            </a:prstGeom>
            <a:solidFill>
              <a:srgbClr val="FFFFFF"/>
            </a:solidFill>
            <a:ln w="14288">
              <a:solidFill>
                <a:srgbClr val="D9DFEA"/>
              </a:solidFill>
            </a:ln>
          </p:spPr>
        </p:sp>
        <p:sp>
          <p:nvSpPr>
            <p:cNvPr id="51" name="Rectangle 51"/>
            <p:cNvSpPr/>
            <p:nvPr/>
          </p:nvSpPr>
          <p:spPr>
            <a:xfrm>
              <a:off x="7123748" y="4090035"/>
              <a:ext cx="47625" cy="1873568"/>
            </a:xfrm>
            <a:prstGeom prst="roundRect">
              <a:avLst>
                <a:gd name="adj" fmla="val 50000"/>
              </a:avLst>
            </a:prstGeom>
            <a:solidFill>
              <a:srgbClr val="5B6475"/>
            </a:solidFill>
            <a:ln>
              <a:noFill/>
            </a:ln>
          </p:spPr>
        </p:sp>
        <p:sp>
          <p:nvSpPr>
            <p:cNvPr id="52" name="Rectangle 52"/>
            <p:cNvSpPr/>
            <p:nvPr/>
          </p:nvSpPr>
          <p:spPr>
            <a:xfrm>
              <a:off x="7361872" y="4166235"/>
              <a:ext cx="778192" cy="257175"/>
            </a:xfrm>
            <a:prstGeom prst="roundRect">
              <a:avLst>
                <a:gd name="adj" fmla="val 50000"/>
              </a:avLst>
            </a:prstGeom>
            <a:solidFill>
              <a:srgbClr val="F4F6FB"/>
            </a:solidFill>
            <a:ln>
              <a:noFill/>
            </a:ln>
          </p:spPr>
        </p:sp>
        <p:sp>
          <p:nvSpPr>
            <p:cNvPr id="53" name="TextBox 53"/>
            <p:cNvSpPr txBox="1"/>
            <p:nvPr/>
          </p:nvSpPr>
          <p:spPr>
            <a:xfrm>
              <a:off x="7443229" y="4201954"/>
              <a:ext cx="614528" cy="220028"/>
            </a:xfrm>
            <a:prstGeom prst="rect">
              <a:avLst/>
            </a:prstGeom>
            <a:noFill/>
            <a:ln>
              <a:noFill/>
            </a:ln>
          </p:spPr>
          <p:txBody>
            <a:bodyPr wrap="none" lIns="0" tIns="0" rIns="0" bIns="0" anchor="t" anchorCtr="0">
              <a:spAutoFit/>
            </a:bodyPr>
            <a:lstStyle/>
            <a:p>
              <a:pPr algn="ctr"/>
              <a:r>
                <a:rPr lang="zh-CN" sz="1120" b="1" dirty="0">
                  <a:solidFill>
                    <a:srgbClr val="5B6475"/>
                  </a:solidFill>
                  <a:latin typeface="+mn-lt"/>
                  <a:ea typeface="+mn-ea"/>
                  <a:cs typeface="+mn-cs"/>
                </a:rPr>
                <a:t>组合使用</a:t>
              </a:r>
            </a:p>
          </p:txBody>
        </p:sp>
        <p:sp>
          <p:nvSpPr>
            <p:cNvPr id="54" name="TextBox 54"/>
            <p:cNvSpPr txBox="1"/>
            <p:nvPr/>
          </p:nvSpPr>
          <p:spPr>
            <a:xfrm>
              <a:off x="8246745" y="4201478"/>
              <a:ext cx="2236470" cy="293370"/>
            </a:xfrm>
            <a:prstGeom prst="rect">
              <a:avLst/>
            </a:prstGeom>
            <a:noFill/>
            <a:ln>
              <a:noFill/>
            </a:ln>
          </p:spPr>
          <p:txBody>
            <a:bodyPr wrap="none" lIns="0" tIns="0" rIns="0" bIns="0" anchor="t" anchorCtr="0">
              <a:spAutoFit/>
            </a:bodyPr>
            <a:lstStyle/>
            <a:p>
              <a:pPr algn="l"/>
              <a:r>
                <a:rPr lang="zh-CN" sz="1500" b="1" dirty="0">
                  <a:solidFill>
                    <a:srgbClr val="1F2937"/>
                  </a:solidFill>
                  <a:latin typeface="+mn-lt"/>
                  <a:ea typeface="+mn-ea"/>
                  <a:cs typeface="+mn-cs"/>
                </a:rPr>
                <a:t>一份代码里常常同时出现</a:t>
              </a:r>
            </a:p>
          </p:txBody>
        </p:sp>
        <p:sp>
          <p:nvSpPr>
            <p:cNvPr id="55" name="TextBox 55"/>
            <p:cNvSpPr txBox="1"/>
            <p:nvPr/>
          </p:nvSpPr>
          <p:spPr>
            <a:xfrm>
              <a:off x="7354252" y="4562475"/>
              <a:ext cx="3825240" cy="864870"/>
            </a:xfrm>
            <a:prstGeom prst="rect">
              <a:avLst/>
            </a:prstGeom>
            <a:noFill/>
            <a:ln>
              <a:noFill/>
            </a:ln>
          </p:spPr>
          <p:txBody>
            <a:bodyPr wrap="none" lIns="0" tIns="0" rIns="0" bIns="0" anchor="t" anchorCtr="0">
              <a:spAutoFit/>
            </a:bodyPr>
            <a:lstStyle/>
            <a:p>
              <a:pPr algn="l">
                <a:lnSpc>
                  <a:spcPts val="2250"/>
                </a:lnSpc>
              </a:pPr>
              <a:r>
                <a:rPr lang="zh-CN" sz="1500" dirty="0">
                  <a:solidFill>
                    <a:srgbClr val="1F2937"/>
                  </a:solidFill>
                  <a:latin typeface="+mn-lt"/>
                  <a:ea typeface="+mn-ea"/>
                  <a:cs typeface="+mn-cs"/>
                </a:rPr>
                <a:t>父类用模板方法定流程，其中取数据那一步用</a:t>
              </a:r>
              <a:br/>
              <a:r>
                <a:rPr lang="zh-CN" sz="1500" dirty="0">
                  <a:solidFill>
                    <a:srgbClr val="1F2937"/>
                  </a:solidFill>
                  <a:latin typeface="+mn-lt"/>
                  <a:ea typeface="+mn-ea"/>
                  <a:cs typeface="+mn-cs"/>
                </a:rPr>
                <a:t>工厂方法造对象，算法那一步交给策略对象。</a:t>
              </a:r>
              <a:br/>
              <a:r>
                <a:rPr lang="zh-CN" sz="1500" dirty="0">
                  <a:solidFill>
                    <a:srgbClr val="1F2937"/>
                  </a:solidFill>
                  <a:latin typeface="+mn-lt"/>
                  <a:ea typeface="+mn-ea"/>
                  <a:cs typeface="+mn-cs"/>
                </a:rPr>
                <a:t>三个模式在同一个类里并不冲突。</a:t>
              </a:r>
            </a:p>
          </p:txBody>
        </p:sp>
      </p:grpSp>
      <p:grpSp>
        <p:nvGrpSpPr>
          <p:cNvPr id="59" name="footer"/>
          <p:cNvGrpSpPr/>
          <p:nvPr/>
        </p:nvGrpSpPr>
        <p:grpSpPr>
          <a:xfrm>
            <a:off x="528447" y="6581299"/>
            <a:ext cx="11135106" cy="190690"/>
            <a:chOff x="528447" y="6581299"/>
            <a:chExt cx="11135106" cy="190690"/>
          </a:xfrm>
        </p:grpSpPr>
        <p:sp>
          <p:nvSpPr>
            <p:cNvPr id="57" name="TextBox 57"/>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8" name="TextBox 58"/>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28</a:t>
              </a:r>
            </a:p>
          </p:txBody>
        </p:sp>
      </p:grpSp>
    </p:spTree>
  </p:cSld>
  <p:clrMapOvr>
    <a:masterClrMapping/>
  </p:clrMapOvr>
  <p:transition xmlns:p14="http://schemas.microsoft.com/office/powerpoint/2010/main" p14:dur="400">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3801999" cy="909257"/>
            <a:chOff x="520446" y="342900"/>
            <a:chExt cx="3801999" cy="909257"/>
          </a:xfrm>
        </p:grpSpPr>
        <p:sp>
          <p:nvSpPr>
            <p:cNvPr id="2" name="Rectangle 2"/>
            <p:cNvSpPr/>
            <p:nvPr/>
          </p:nvSpPr>
          <p:spPr>
            <a:xfrm>
              <a:off x="533400" y="342900"/>
              <a:ext cx="3208020" cy="266700"/>
            </a:xfrm>
            <a:prstGeom prst="roundRect">
              <a:avLst>
                <a:gd name="adj" fmla="val 50000"/>
              </a:avLst>
            </a:prstGeom>
            <a:solidFill>
              <a:srgbClr val="EEEAF7"/>
            </a:solidFill>
            <a:ln>
              <a:noFill/>
            </a:ln>
          </p:spPr>
        </p:sp>
        <p:sp>
          <p:nvSpPr>
            <p:cNvPr id="3" name="TextBox 3"/>
            <p:cNvSpPr txBox="1"/>
            <p:nvPr/>
          </p:nvSpPr>
          <p:spPr>
            <a:xfrm>
              <a:off x="572876" y="407194"/>
              <a:ext cx="3129068"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 · 与相关模式的分界、本质与自测</a:t>
              </a:r>
            </a:p>
          </p:txBody>
        </p:sp>
        <p:sp>
          <p:nvSpPr>
            <p:cNvPr id="4" name="TextBox 4"/>
            <p:cNvSpPr txBox="1"/>
            <p:nvPr/>
          </p:nvSpPr>
          <p:spPr>
            <a:xfrm>
              <a:off x="520446" y="753428"/>
              <a:ext cx="3801999"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模式本质：固定算法骨架</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9" name="c1-image-1"/>
          <p:cNvGrpSpPr/>
          <p:nvPr/>
        </p:nvGrpSpPr>
        <p:grpSpPr>
          <a:xfrm>
            <a:off x="533400" y="1524000"/>
            <a:ext cx="4760595" cy="2258091"/>
            <a:chOff x="533400" y="1524000"/>
            <a:chExt cx="4760595" cy="2258091"/>
          </a:xfrm>
        </p:grpSpPr>
        <p:pic>
          <p:nvPicPr>
            <p:cNvPr id="7" name="Image 7"/>
            <p:cNvPicPr>
              <a:picLocks noChangeAspect="1"/>
            </p:cNvPicPr>
            <p:nvPr/>
          </p:nvPicPr>
          <p:blipFill>
            <a:blip r:embed="rId2"/>
            <a:srcRect l="0" t="22336" r="0" b="22335"/>
            <a:stretch>
              <a:fillRect/>
            </a:stretch>
          </p:blipFill>
          <p:spPr>
            <a:xfrm>
              <a:off x="533400" y="1524000"/>
              <a:ext cx="4760595" cy="1975485"/>
            </a:xfrm>
            <a:prstGeom prst="roundRect">
              <a:avLst>
                <a:gd name="adj" fmla="val 6750"/>
              </a:avLst>
            </a:prstGeom>
          </p:spPr>
        </p:pic>
        <p:sp>
          <p:nvSpPr>
            <p:cNvPr id="8" name="TextBox 8"/>
            <p:cNvSpPr txBox="1"/>
            <p:nvPr/>
          </p:nvSpPr>
          <p:spPr>
            <a:xfrm>
              <a:off x="1127722" y="3591401"/>
              <a:ext cx="3571951" cy="190690"/>
            </a:xfrm>
            <a:prstGeom prst="rect">
              <a:avLst/>
            </a:prstGeom>
            <a:noFill/>
            <a:ln>
              <a:noFill/>
            </a:ln>
          </p:spPr>
          <p:txBody>
            <a:bodyPr wrap="none" lIns="0" tIns="0" rIns="0" bIns="0" anchor="t" anchorCtr="0">
              <a:spAutoFit/>
            </a:bodyPr>
            <a:lstStyle/>
            <a:p>
              <a:pPr algn="ctr"/>
              <a:r>
                <a:rPr lang="zh-CN" sz="980" dirty="0">
                  <a:solidFill>
                    <a:srgbClr val="5B6475"/>
                  </a:solidFill>
                  <a:latin typeface="+mn-lt"/>
                  <a:ea typeface="+mn-ea"/>
                  <a:cs typeface="+mn-cs"/>
                </a:rPr>
                <a:t>钢架完全一样，中间一层填砖、填玻璃还是填木板由各自决定</a:t>
              </a:r>
            </a:p>
          </p:txBody>
        </p:sp>
      </p:grpSp>
      <p:grpSp>
        <p:nvGrpSpPr>
          <p:cNvPr id="16" name="c1-card-2"/>
          <p:cNvGrpSpPr/>
          <p:nvPr/>
        </p:nvGrpSpPr>
        <p:grpSpPr>
          <a:xfrm>
            <a:off x="533400" y="3928110"/>
            <a:ext cx="4760595" cy="2039302"/>
            <a:chOff x="533400" y="3928110"/>
            <a:chExt cx="4760595" cy="2039302"/>
          </a:xfrm>
        </p:grpSpPr>
        <p:sp>
          <p:nvSpPr>
            <p:cNvPr id="10" name="Rectangle 10"/>
            <p:cNvSpPr/>
            <p:nvPr/>
          </p:nvSpPr>
          <p:spPr>
            <a:xfrm>
              <a:off x="533400" y="3928110"/>
              <a:ext cx="4760595" cy="2039302"/>
            </a:xfrm>
            <a:prstGeom prst="roundRect">
              <a:avLst>
                <a:gd name="adj" fmla="val 6539"/>
              </a:avLst>
            </a:prstGeom>
            <a:solidFill>
              <a:srgbClr val="5B3FA0"/>
            </a:solidFill>
            <a:ln>
              <a:noFill/>
            </a:ln>
          </p:spPr>
        </p:sp>
        <p:sp>
          <p:nvSpPr>
            <p:cNvPr id="11" name="Rectangle 11"/>
            <p:cNvSpPr/>
            <p:nvPr/>
          </p:nvSpPr>
          <p:spPr>
            <a:xfrm>
              <a:off x="714375" y="4109085"/>
              <a:ext cx="458152" cy="238125"/>
            </a:xfrm>
            <a:prstGeom prst="roundRect">
              <a:avLst>
                <a:gd name="adj" fmla="val 50000"/>
              </a:avLst>
            </a:prstGeom>
            <a:solidFill>
              <a:srgbClr val="462F80"/>
            </a:solidFill>
            <a:ln>
              <a:noFill/>
            </a:ln>
          </p:spPr>
        </p:sp>
        <p:sp>
          <p:nvSpPr>
            <p:cNvPr id="12" name="TextBox 12"/>
            <p:cNvSpPr txBox="1"/>
            <p:nvPr/>
          </p:nvSpPr>
          <p:spPr>
            <a:xfrm>
              <a:off x="807047" y="4141946"/>
              <a:ext cx="273761" cy="190690"/>
            </a:xfrm>
            <a:prstGeom prst="rect">
              <a:avLst/>
            </a:prstGeom>
            <a:noFill/>
            <a:ln>
              <a:noFill/>
            </a:ln>
          </p:spPr>
          <p:txBody>
            <a:bodyPr wrap="none" lIns="0" tIns="0" rIns="0" bIns="0" anchor="t" anchorCtr="0">
              <a:spAutoFit/>
            </a:bodyPr>
            <a:lstStyle/>
            <a:p>
              <a:pPr algn="ctr"/>
              <a:r>
                <a:rPr lang="zh-CN" sz="980" b="1" dirty="0">
                  <a:solidFill>
                    <a:srgbClr val="FFFFFF"/>
                  </a:solidFill>
                  <a:latin typeface="+mn-lt"/>
                  <a:ea typeface="+mn-ea"/>
                  <a:cs typeface="+mn-cs"/>
                </a:rPr>
                <a:t>本质</a:t>
              </a:r>
            </a:p>
          </p:txBody>
        </p:sp>
        <p:sp>
          <p:nvSpPr>
            <p:cNvPr id="13" name="TextBox 13"/>
            <p:cNvSpPr txBox="1"/>
            <p:nvPr/>
          </p:nvSpPr>
          <p:spPr>
            <a:xfrm>
              <a:off x="1280350" y="4148614"/>
              <a:ext cx="1563776" cy="249364"/>
            </a:xfrm>
            <a:prstGeom prst="rect">
              <a:avLst/>
            </a:prstGeom>
            <a:noFill/>
            <a:ln>
              <a:noFill/>
            </a:ln>
          </p:spPr>
          <p:txBody>
            <a:bodyPr wrap="none" lIns="0" tIns="0" rIns="0" bIns="0" anchor="t" anchorCtr="0">
              <a:spAutoFit/>
            </a:bodyPr>
            <a:lstStyle/>
            <a:p>
              <a:pPr algn="l"/>
              <a:r>
                <a:rPr lang="zh-CN" sz="1280" b="1" dirty="0">
                  <a:solidFill>
                    <a:srgbClr val="FFFFFF"/>
                  </a:solidFill>
                  <a:latin typeface="+mn-lt"/>
                  <a:ea typeface="+mn-ea"/>
                  <a:cs typeface="+mn-cs"/>
                </a:rPr>
                <a:t>把算法步骤固定下来</a:t>
              </a:r>
            </a:p>
          </p:txBody>
        </p:sp>
        <p:sp>
          <p:nvSpPr>
            <p:cNvPr id="14" name="TextBox 14"/>
            <p:cNvSpPr txBox="1"/>
            <p:nvPr/>
          </p:nvSpPr>
          <p:spPr>
            <a:xfrm>
              <a:off x="707898" y="4464844"/>
              <a:ext cx="4076954" cy="735140"/>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通过制定模板把算法步骤固定下来，至于谁来实现，模板</a:t>
              </a:r>
              <a:br/>
              <a:r>
                <a:rPr lang="zh-CN" sz="1280" dirty="0">
                  <a:solidFill>
                    <a:srgbClr val="FFFFFF"/>
                  </a:solidFill>
                  <a:latin typeface="+mn-lt"/>
                  <a:ea typeface="+mn-ea"/>
                  <a:cs typeface="+mn-cs"/>
                </a:rPr>
                <a:t>可以自己提供实现，也可以由子类去实现，还可以通过回</a:t>
              </a:r>
              <a:br/>
              <a:r>
                <a:rPr lang="zh-CN" sz="1280" dirty="0">
                  <a:solidFill>
                    <a:srgbClr val="FFFFFF"/>
                  </a:solidFill>
                  <a:latin typeface="+mn-lt"/>
                  <a:ea typeface="+mn-ea"/>
                  <a:cs typeface="+mn-cs"/>
                </a:rPr>
                <a:t>调机制让其他类来实现。</a:t>
              </a:r>
            </a:p>
          </p:txBody>
        </p:sp>
        <p:sp>
          <p:nvSpPr>
            <p:cNvPr id="15" name="TextBox 15"/>
            <p:cNvSpPr txBox="1"/>
            <p:nvPr/>
          </p:nvSpPr>
          <p:spPr>
            <a:xfrm>
              <a:off x="707898" y="5236369"/>
              <a:ext cx="407695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FFFFFF"/>
                  </a:solidFill>
                  <a:latin typeface="+mn-lt"/>
                  <a:ea typeface="+mn-ea"/>
                  <a:cs typeface="+mn-cs"/>
                </a:rPr>
                <a:t>骨架约束子类的行为，扩展点让子类补上自己的部分，复</a:t>
              </a:r>
              <a:br/>
              <a:r>
                <a:rPr lang="zh-CN" sz="1280" dirty="0">
                  <a:solidFill>
                    <a:srgbClr val="FFFFFF"/>
                  </a:solidFill>
                  <a:latin typeface="+mn-lt"/>
                  <a:ea typeface="+mn-ea"/>
                  <a:cs typeface="+mn-cs"/>
                </a:rPr>
                <a:t>用性和扩展性同时拿到。</a:t>
              </a:r>
            </a:p>
          </p:txBody>
        </p:sp>
      </p:grpSp>
      <p:grpSp>
        <p:nvGrpSpPr>
          <p:cNvPr id="23" name="c2-card-1"/>
          <p:cNvGrpSpPr/>
          <p:nvPr/>
        </p:nvGrpSpPr>
        <p:grpSpPr>
          <a:xfrm>
            <a:off x="5598795" y="1524000"/>
            <a:ext cx="6059805" cy="1160145"/>
            <a:chOff x="5598795" y="1524000"/>
            <a:chExt cx="6059805" cy="1160145"/>
          </a:xfrm>
        </p:grpSpPr>
        <p:sp>
          <p:nvSpPr>
            <p:cNvPr id="17" name="Rectangle 17"/>
            <p:cNvSpPr/>
            <p:nvPr/>
          </p:nvSpPr>
          <p:spPr>
            <a:xfrm>
              <a:off x="5598795" y="1524000"/>
              <a:ext cx="6059805" cy="1160145"/>
            </a:xfrm>
            <a:prstGeom prst="roundRect">
              <a:avLst>
                <a:gd name="adj" fmla="val 11494"/>
              </a:avLst>
            </a:prstGeom>
            <a:solidFill>
              <a:srgbClr val="FFFFFF"/>
            </a:solidFill>
            <a:ln w="14288">
              <a:solidFill>
                <a:srgbClr val="D9DFEA"/>
              </a:solidFill>
            </a:ln>
          </p:spPr>
        </p:sp>
        <p:sp>
          <p:nvSpPr>
            <p:cNvPr id="18" name="Rectangle 18"/>
            <p:cNvSpPr/>
            <p:nvPr/>
          </p:nvSpPr>
          <p:spPr>
            <a:xfrm>
              <a:off x="5608320" y="1657350"/>
              <a:ext cx="47625" cy="893445"/>
            </a:xfrm>
            <a:prstGeom prst="roundRect">
              <a:avLst>
                <a:gd name="adj" fmla="val 50000"/>
              </a:avLst>
            </a:prstGeom>
            <a:solidFill>
              <a:srgbClr val="B42318"/>
            </a:solidFill>
            <a:ln>
              <a:noFill/>
            </a:ln>
          </p:spPr>
        </p:sp>
        <p:sp>
          <p:nvSpPr>
            <p:cNvPr id="19" name="Rectangle 19"/>
            <p:cNvSpPr/>
            <p:nvPr/>
          </p:nvSpPr>
          <p:spPr>
            <a:xfrm>
              <a:off x="5817870" y="1704975"/>
              <a:ext cx="582930" cy="238125"/>
            </a:xfrm>
            <a:prstGeom prst="roundRect">
              <a:avLst>
                <a:gd name="adj" fmla="val 50000"/>
              </a:avLst>
            </a:prstGeom>
            <a:solidFill>
              <a:srgbClr val="FDECEA"/>
            </a:solidFill>
            <a:ln>
              <a:noFill/>
            </a:ln>
          </p:spPr>
        </p:sp>
        <p:sp>
          <p:nvSpPr>
            <p:cNvPr id="20" name="TextBox 20"/>
            <p:cNvSpPr txBox="1"/>
            <p:nvPr/>
          </p:nvSpPr>
          <p:spPr>
            <a:xfrm>
              <a:off x="5906491" y="1737836"/>
              <a:ext cx="405689"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易错一</a:t>
              </a:r>
            </a:p>
          </p:txBody>
        </p:sp>
        <p:sp>
          <p:nvSpPr>
            <p:cNvPr id="21" name="TextBox 21"/>
            <p:cNvSpPr txBox="1"/>
            <p:nvPr/>
          </p:nvSpPr>
          <p:spPr>
            <a:xfrm>
              <a:off x="6508623" y="1744504"/>
              <a:ext cx="1908404"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模板方法自己被子类改了</a:t>
              </a:r>
            </a:p>
          </p:txBody>
        </p:sp>
        <p:sp>
          <p:nvSpPr>
            <p:cNvPr id="22" name="TextBox 22"/>
            <p:cNvSpPr txBox="1"/>
            <p:nvPr/>
          </p:nvSpPr>
          <p:spPr>
            <a:xfrm>
              <a:off x="5811393" y="2061686"/>
              <a:ext cx="5434330"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 xml:space="preserve">模板方法应当由子类不加修改地完全继承。Java 里不写 </a:t>
              </a:r>
              <a:r>
                <a:rPr lang="en-US" sz="1280" dirty="0">
                  <a:solidFill>
                    <a:srgbClr val="462F80"/>
                  </a:solidFill>
                  <a:latin typeface="+mn-lt"/>
                  <a:ea typeface="+mn-ea"/>
                  <a:cs typeface="+mn-cs"/>
                </a:rPr>
                <a:t>final</a:t>
              </a:r>
              <a:r>
                <a:rPr lang="zh-CN" sz="1280" dirty="0">
                  <a:solidFill>
                    <a:srgbClr val="1F2937"/>
                  </a:solidFill>
                  <a:latin typeface="+mn-lt"/>
                  <a:ea typeface="+mn-ea"/>
                  <a:cs typeface="+mn-cs"/>
                </a:rPr>
                <a:t xml:space="preserve"> 时子类照样能</a:t>
              </a:r>
              <a:br/>
              <a:r>
                <a:rPr lang="zh-CN" sz="1280" dirty="0">
                  <a:solidFill>
                    <a:srgbClr val="1F2937"/>
                  </a:solidFill>
                  <a:latin typeface="+mn-lt"/>
                  <a:ea typeface="+mn-ea"/>
                  <a:cs typeface="+mn-cs"/>
                </a:rPr>
                <a:t>覆盖它，算法框架就守不住了。</a:t>
              </a:r>
            </a:p>
          </p:txBody>
        </p:sp>
      </p:grpSp>
      <p:grpSp>
        <p:nvGrpSpPr>
          <p:cNvPr id="30" name="c2-card-2"/>
          <p:cNvGrpSpPr/>
          <p:nvPr/>
        </p:nvGrpSpPr>
        <p:grpSpPr>
          <a:xfrm>
            <a:off x="5598795" y="2848928"/>
            <a:ext cx="6059805" cy="1160145"/>
            <a:chOff x="5598795" y="2848928"/>
            <a:chExt cx="6059805" cy="1160145"/>
          </a:xfrm>
        </p:grpSpPr>
        <p:sp>
          <p:nvSpPr>
            <p:cNvPr id="24" name="Rectangle 24"/>
            <p:cNvSpPr/>
            <p:nvPr/>
          </p:nvSpPr>
          <p:spPr>
            <a:xfrm>
              <a:off x="5598795" y="2848928"/>
              <a:ext cx="6059805" cy="1160145"/>
            </a:xfrm>
            <a:prstGeom prst="roundRect">
              <a:avLst>
                <a:gd name="adj" fmla="val 11494"/>
              </a:avLst>
            </a:prstGeom>
            <a:solidFill>
              <a:srgbClr val="FFFFFF"/>
            </a:solidFill>
            <a:ln w="14288">
              <a:solidFill>
                <a:srgbClr val="D9DFEA"/>
              </a:solidFill>
            </a:ln>
          </p:spPr>
        </p:sp>
        <p:sp>
          <p:nvSpPr>
            <p:cNvPr id="25" name="Rectangle 25"/>
            <p:cNvSpPr/>
            <p:nvPr/>
          </p:nvSpPr>
          <p:spPr>
            <a:xfrm>
              <a:off x="5608320" y="2982278"/>
              <a:ext cx="47625" cy="893445"/>
            </a:xfrm>
            <a:prstGeom prst="roundRect">
              <a:avLst>
                <a:gd name="adj" fmla="val 50000"/>
              </a:avLst>
            </a:prstGeom>
            <a:solidFill>
              <a:srgbClr val="B42318"/>
            </a:solidFill>
            <a:ln>
              <a:noFill/>
            </a:ln>
          </p:spPr>
        </p:sp>
        <p:sp>
          <p:nvSpPr>
            <p:cNvPr id="26" name="Rectangle 26"/>
            <p:cNvSpPr/>
            <p:nvPr/>
          </p:nvSpPr>
          <p:spPr>
            <a:xfrm>
              <a:off x="5817870" y="3029902"/>
              <a:ext cx="582930" cy="238125"/>
            </a:xfrm>
            <a:prstGeom prst="roundRect">
              <a:avLst>
                <a:gd name="adj" fmla="val 50000"/>
              </a:avLst>
            </a:prstGeom>
            <a:solidFill>
              <a:srgbClr val="FDECEA"/>
            </a:solidFill>
            <a:ln>
              <a:noFill/>
            </a:ln>
          </p:spPr>
        </p:sp>
        <p:sp>
          <p:nvSpPr>
            <p:cNvPr id="27" name="TextBox 27"/>
            <p:cNvSpPr txBox="1"/>
            <p:nvPr/>
          </p:nvSpPr>
          <p:spPr>
            <a:xfrm>
              <a:off x="5906491" y="3062764"/>
              <a:ext cx="405689" cy="190690"/>
            </a:xfrm>
            <a:prstGeom prst="rect">
              <a:avLst/>
            </a:prstGeom>
            <a:noFill/>
            <a:ln>
              <a:noFill/>
            </a:ln>
          </p:spPr>
          <p:txBody>
            <a:bodyPr wrap="none" lIns="0" tIns="0" rIns="0" bIns="0" anchor="t" anchorCtr="0">
              <a:spAutoFit/>
            </a:bodyPr>
            <a:lstStyle/>
            <a:p>
              <a:pPr algn="ctr"/>
              <a:r>
                <a:rPr lang="zh-CN" sz="980" b="1" dirty="0">
                  <a:solidFill>
                    <a:srgbClr val="B42318"/>
                  </a:solidFill>
                  <a:latin typeface="+mn-lt"/>
                  <a:ea typeface="+mn-ea"/>
                  <a:cs typeface="+mn-cs"/>
                </a:rPr>
                <a:t>易错二</a:t>
              </a:r>
            </a:p>
          </p:txBody>
        </p:sp>
        <p:sp>
          <p:nvSpPr>
            <p:cNvPr id="28" name="TextBox 28"/>
            <p:cNvSpPr txBox="1"/>
            <p:nvPr/>
          </p:nvSpPr>
          <p:spPr>
            <a:xfrm>
              <a:off x="6508623" y="3069431"/>
              <a:ext cx="2080717"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把该抽象的步骤写成了钩子</a:t>
              </a:r>
            </a:p>
          </p:txBody>
        </p:sp>
        <p:sp>
          <p:nvSpPr>
            <p:cNvPr id="29" name="TextBox 29"/>
            <p:cNvSpPr txBox="1"/>
            <p:nvPr/>
          </p:nvSpPr>
          <p:spPr>
            <a:xfrm>
              <a:off x="5811393" y="3386614"/>
              <a:ext cx="5377434"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步骤写成空实现的钩子时，子类忘了写也能编译通过，运行起来少走一步还</a:t>
              </a:r>
              <a:br/>
              <a:r>
                <a:rPr lang="zh-CN" sz="1280" dirty="0">
                  <a:solidFill>
                    <a:srgbClr val="1F2937"/>
                  </a:solidFill>
                  <a:latin typeface="+mn-lt"/>
                  <a:ea typeface="+mn-ea"/>
                  <a:cs typeface="+mn-cs"/>
                </a:rPr>
                <a:t>不报错。必须由子类完成的步骤要写成抽象方法。</a:t>
              </a:r>
            </a:p>
          </p:txBody>
        </p:sp>
      </p:grpSp>
      <p:grpSp>
        <p:nvGrpSpPr>
          <p:cNvPr id="37" name="c2-card-3"/>
          <p:cNvGrpSpPr/>
          <p:nvPr/>
        </p:nvGrpSpPr>
        <p:grpSpPr>
          <a:xfrm>
            <a:off x="5598795" y="4173855"/>
            <a:ext cx="6059805" cy="1160145"/>
            <a:chOff x="5598795" y="4173855"/>
            <a:chExt cx="6059805" cy="1160145"/>
          </a:xfrm>
        </p:grpSpPr>
        <p:sp>
          <p:nvSpPr>
            <p:cNvPr id="31" name="Rectangle 31"/>
            <p:cNvSpPr/>
            <p:nvPr/>
          </p:nvSpPr>
          <p:spPr>
            <a:xfrm>
              <a:off x="5598795" y="4173855"/>
              <a:ext cx="6059805" cy="1160145"/>
            </a:xfrm>
            <a:prstGeom prst="roundRect">
              <a:avLst>
                <a:gd name="adj" fmla="val 11494"/>
              </a:avLst>
            </a:prstGeom>
            <a:solidFill>
              <a:srgbClr val="FFFFFF"/>
            </a:solidFill>
            <a:ln w="14288">
              <a:solidFill>
                <a:srgbClr val="D9DFEA"/>
              </a:solidFill>
            </a:ln>
          </p:spPr>
        </p:sp>
        <p:sp>
          <p:nvSpPr>
            <p:cNvPr id="32" name="Rectangle 32"/>
            <p:cNvSpPr/>
            <p:nvPr/>
          </p:nvSpPr>
          <p:spPr>
            <a:xfrm>
              <a:off x="5608320" y="4307205"/>
              <a:ext cx="47625" cy="893445"/>
            </a:xfrm>
            <a:prstGeom prst="roundRect">
              <a:avLst>
                <a:gd name="adj" fmla="val 50000"/>
              </a:avLst>
            </a:prstGeom>
            <a:solidFill>
              <a:srgbClr val="5B6475"/>
            </a:solidFill>
            <a:ln>
              <a:noFill/>
            </a:ln>
          </p:spPr>
        </p:sp>
        <p:sp>
          <p:nvSpPr>
            <p:cNvPr id="33" name="Rectangle 33"/>
            <p:cNvSpPr/>
            <p:nvPr/>
          </p:nvSpPr>
          <p:spPr>
            <a:xfrm>
              <a:off x="5817870" y="4354830"/>
              <a:ext cx="582930" cy="238125"/>
            </a:xfrm>
            <a:prstGeom prst="roundRect">
              <a:avLst>
                <a:gd name="adj" fmla="val 50000"/>
              </a:avLst>
            </a:prstGeom>
            <a:solidFill>
              <a:srgbClr val="F4F6FB"/>
            </a:solidFill>
            <a:ln>
              <a:noFill/>
            </a:ln>
          </p:spPr>
        </p:sp>
        <p:sp>
          <p:nvSpPr>
            <p:cNvPr id="34" name="TextBox 34"/>
            <p:cNvSpPr txBox="1"/>
            <p:nvPr/>
          </p:nvSpPr>
          <p:spPr>
            <a:xfrm>
              <a:off x="5906491" y="4387691"/>
              <a:ext cx="405689"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易错三</a:t>
              </a:r>
            </a:p>
          </p:txBody>
        </p:sp>
        <p:sp>
          <p:nvSpPr>
            <p:cNvPr id="35" name="TextBox 35"/>
            <p:cNvSpPr txBox="1"/>
            <p:nvPr/>
          </p:nvSpPr>
          <p:spPr>
            <a:xfrm>
              <a:off x="6508623" y="4395311"/>
              <a:ext cx="1563776"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把模板方法放进接口</a:t>
              </a:r>
            </a:p>
          </p:txBody>
        </p:sp>
        <p:sp>
          <p:nvSpPr>
            <p:cNvPr id="36" name="TextBox 36"/>
            <p:cNvSpPr txBox="1"/>
            <p:nvPr/>
          </p:nvSpPr>
          <p:spPr>
            <a:xfrm>
              <a:off x="5811393" y="4711541"/>
              <a:ext cx="5166106" cy="492252"/>
            </a:xfrm>
            <a:prstGeom prst="rect">
              <a:avLst/>
            </a:prstGeom>
            <a:noFill/>
            <a:ln>
              <a:noFill/>
            </a:ln>
          </p:spPr>
          <p:txBody>
            <a:bodyPr wrap="none" lIns="0" tIns="0" rIns="0" bIns="0" anchor="t" anchorCtr="0">
              <a:spAutoFit/>
            </a:bodyPr>
            <a:lstStyle/>
            <a:p>
              <a:pPr algn="l">
                <a:lnSpc>
                  <a:spcPts val="1912"/>
                </a:lnSpc>
              </a:pPr>
              <a:r>
                <a:rPr lang="zh-CN" sz="1280" dirty="0">
                  <a:solidFill>
                    <a:srgbClr val="1F2937"/>
                  </a:solidFill>
                  <a:latin typeface="+mn-lt"/>
                  <a:ea typeface="+mn-ea"/>
                  <a:cs typeface="+mn-cs"/>
                </a:rPr>
                <a:t>模板方法要有方法体。Java 8 之前接口装不下它；Java 8 之后虽然能用</a:t>
              </a:r>
              <a:br/>
              <a:r>
                <a:rPr lang="en-US" sz="1280" dirty="0">
                  <a:solidFill>
                    <a:srgbClr val="462F80"/>
                  </a:solidFill>
                  <a:latin typeface="+mn-lt"/>
                  <a:ea typeface="+mn-ea"/>
                  <a:cs typeface="+mn-cs"/>
                </a:rPr>
                <a:t>default</a:t>
              </a:r>
              <a:r>
                <a:rPr lang="zh-CN" sz="1280" dirty="0">
                  <a:solidFill>
                    <a:srgbClr val="1F2937"/>
                  </a:solidFill>
                  <a:latin typeface="+mn-lt"/>
                  <a:ea typeface="+mn-ea"/>
                  <a:cs typeface="+mn-cs"/>
                </a:rPr>
                <a:t xml:space="preserve"> 写，但没有字段、步骤也只能是 public，抽象类仍然更合适。</a:t>
              </a:r>
            </a:p>
          </p:txBody>
        </p:sp>
      </p:grpSp>
      <p:grpSp>
        <p:nvGrpSpPr>
          <p:cNvPr id="44" name="c2-callout-4"/>
          <p:cNvGrpSpPr/>
          <p:nvPr/>
        </p:nvGrpSpPr>
        <p:grpSpPr>
          <a:xfrm>
            <a:off x="5598795" y="5499735"/>
            <a:ext cx="6059805" cy="467678"/>
            <a:chOff x="5598795" y="5499735"/>
            <a:chExt cx="6059805" cy="467678"/>
          </a:xfrm>
        </p:grpSpPr>
        <p:sp>
          <p:nvSpPr>
            <p:cNvPr id="38" name="Rectangle 38"/>
            <p:cNvSpPr/>
            <p:nvPr/>
          </p:nvSpPr>
          <p:spPr>
            <a:xfrm>
              <a:off x="5598795" y="5499735"/>
              <a:ext cx="6059805" cy="467678"/>
            </a:xfrm>
            <a:prstGeom prst="roundRect">
              <a:avLst>
                <a:gd name="adj" fmla="val 24440"/>
              </a:avLst>
            </a:prstGeom>
            <a:solidFill>
              <a:srgbClr val="FDEEE7"/>
            </a:solidFill>
            <a:ln>
              <a:noFill/>
            </a:ln>
          </p:spPr>
        </p:sp>
        <p:grpSp>
          <p:nvGrpSpPr>
            <p:cNvPr id="42" name="Group 42"/>
            <p:cNvGrpSpPr/>
            <p:nvPr/>
          </p:nvGrpSpPr>
          <p:grpSpPr>
            <a:xfrm>
              <a:off x="5803583" y="5633085"/>
              <a:ext cx="200026" cy="200025"/>
              <a:chOff x="5803583" y="5633085"/>
              <a:chExt cx="200026" cy="200025"/>
            </a:xfrm>
          </p:grpSpPr>
          <p:sp>
            <p:nvSpPr>
              <p:cNvPr id="39" name="Freeform 39"/>
              <p:cNvSpPr/>
              <p:nvPr/>
            </p:nvSpPr>
            <p:spPr>
              <a:xfrm>
                <a:off x="5803583" y="5633085"/>
                <a:ext cx="200026" cy="100013"/>
              </a:xfrm>
              <a:custGeom>
                <a:avLst/>
                <a:gdLst/>
                <a:ahLst/>
                <a:cxnLst/>
                <a:rect l="l" t="t" r="r" b="b"/>
                <a:pathLst>
                  <a:path w="200026" h="100013">
                    <a:moveTo>
                      <a:pt x="0" y="100013"/>
                    </a:moveTo>
                    <a:lnTo>
                      <a:pt x="11113" y="100013"/>
                    </a:lnTo>
                    <a:moveTo>
                      <a:pt x="100013" y="0"/>
                    </a:moveTo>
                    <a:lnTo>
                      <a:pt x="100013" y="11113"/>
                    </a:lnTo>
                    <a:moveTo>
                      <a:pt x="188913" y="100013"/>
                    </a:moveTo>
                    <a:lnTo>
                      <a:pt x="200026" y="100013"/>
                    </a:lnTo>
                    <a:moveTo>
                      <a:pt x="28893" y="28893"/>
                    </a:moveTo>
                    <a:lnTo>
                      <a:pt x="36671" y="36671"/>
                    </a:lnTo>
                    <a:moveTo>
                      <a:pt x="171133" y="28893"/>
                    </a:moveTo>
                    <a:lnTo>
                      <a:pt x="163354" y="36671"/>
                    </a:lnTo>
                  </a:path>
                </a:pathLst>
              </a:custGeom>
              <a:noFill/>
              <a:ln w="22225">
                <a:solidFill>
                  <a:srgbClr val="C2410C"/>
                </a:solidFill>
              </a:ln>
            </p:spPr>
          </p:sp>
          <p:sp>
            <p:nvSpPr>
              <p:cNvPr id="40" name="Freeform 40"/>
              <p:cNvSpPr/>
              <p:nvPr/>
            </p:nvSpPr>
            <p:spPr>
              <a:xfrm>
                <a:off x="5843321" y="5677535"/>
                <a:ext cx="120548" cy="155575"/>
              </a:xfrm>
              <a:custGeom>
                <a:avLst/>
                <a:gdLst/>
                <a:ahLst/>
                <a:cxnLst/>
                <a:rect l="l" t="t" r="r" b="b"/>
                <a:pathLst>
                  <a:path w="120548" h="155575">
                    <a:moveTo>
                      <a:pt x="26937" y="100013"/>
                    </a:moveTo>
                    <a:cubicBezTo>
                      <a:pt x="7804" y="85663"/>
                      <a:pt x="0" y="60681"/>
                      <a:pt x="7563" y="37992"/>
                    </a:cubicBezTo>
                    <a:cubicBezTo>
                      <a:pt x="15126" y="15304"/>
                      <a:pt x="36358" y="0"/>
                      <a:pt x="60274" y="0"/>
                    </a:cubicBezTo>
                    <a:cubicBezTo>
                      <a:pt x="84190" y="0"/>
                      <a:pt x="105423" y="15304"/>
                      <a:pt x="112986" y="37992"/>
                    </a:cubicBezTo>
                    <a:cubicBezTo>
                      <a:pt x="120548" y="60681"/>
                      <a:pt x="112745" y="85663"/>
                      <a:pt x="93612" y="100013"/>
                    </a:cubicBezTo>
                    <a:cubicBezTo>
                      <a:pt x="84812" y="108723"/>
                      <a:pt x="80686" y="121103"/>
                      <a:pt x="82499" y="133350"/>
                    </a:cubicBezTo>
                    <a:cubicBezTo>
                      <a:pt x="82499" y="145625"/>
                      <a:pt x="72549" y="155575"/>
                      <a:pt x="60274" y="155575"/>
                    </a:cubicBezTo>
                    <a:cubicBezTo>
                      <a:pt x="48000" y="155575"/>
                      <a:pt x="38049" y="145625"/>
                      <a:pt x="38049" y="133350"/>
                    </a:cubicBezTo>
                    <a:cubicBezTo>
                      <a:pt x="39862" y="121103"/>
                      <a:pt x="35736" y="108723"/>
                      <a:pt x="26937" y="100013"/>
                    </a:cubicBezTo>
                  </a:path>
                </a:pathLst>
              </a:custGeom>
              <a:noFill/>
              <a:ln w="22225">
                <a:solidFill>
                  <a:srgbClr val="C2410C"/>
                </a:solidFill>
              </a:ln>
            </p:spPr>
          </p:sp>
          <p:sp>
            <p:nvSpPr>
              <p:cNvPr id="41" name="Freeform 41"/>
              <p:cNvSpPr/>
              <p:nvPr/>
            </p:nvSpPr>
            <p:spPr>
              <a:xfrm>
                <a:off x="5878037" y="5788661"/>
                <a:ext cx="51118" cy="9525"/>
              </a:xfrm>
              <a:custGeom>
                <a:avLst/>
                <a:gdLst/>
                <a:ahLst/>
                <a:cxnLst/>
                <a:rect l="l" t="t" r="r" b="b"/>
                <a:pathLst>
                  <a:path w="51118" h="9525">
                    <a:moveTo>
                      <a:pt x="0" y="0"/>
                    </a:moveTo>
                    <a:lnTo>
                      <a:pt x="51118" y="0"/>
                    </a:lnTo>
                  </a:path>
                </a:pathLst>
              </a:custGeom>
              <a:noFill/>
              <a:ln w="22225">
                <a:solidFill>
                  <a:srgbClr val="C2410C"/>
                </a:solidFill>
              </a:ln>
            </p:spPr>
          </p:sp>
        </p:grpSp>
        <p:sp>
          <p:nvSpPr>
            <p:cNvPr id="43" name="TextBox 43"/>
            <p:cNvSpPr txBox="1"/>
            <p:nvPr/>
          </p:nvSpPr>
          <p:spPr>
            <a:xfrm>
              <a:off x="6106668" y="5644039"/>
              <a:ext cx="5010048" cy="249364"/>
            </a:xfrm>
            <a:prstGeom prst="rect">
              <a:avLst/>
            </a:prstGeom>
            <a:noFill/>
            <a:ln>
              <a:noFill/>
            </a:ln>
          </p:spPr>
          <p:txBody>
            <a:bodyPr wrap="none" lIns="0" tIns="0" rIns="0" bIns="0" anchor="t" anchorCtr="0">
              <a:spAutoFit/>
            </a:bodyPr>
            <a:lstStyle/>
            <a:p>
              <a:pPr algn="l"/>
              <a:r>
                <a:rPr lang="zh-CN" sz="1280" dirty="0">
                  <a:solidFill>
                    <a:srgbClr val="C2410C"/>
                  </a:solidFill>
                  <a:latin typeface="+mn-lt"/>
                  <a:ea typeface="+mn-ea"/>
                  <a:cs typeface="+mn-cs"/>
                </a:rPr>
                <a:t>做判断题时先找那个只有调用没有业务的方法，它就是模板方法。</a:t>
              </a:r>
            </a:p>
          </p:txBody>
        </p:sp>
      </p:grpSp>
      <p:grpSp>
        <p:nvGrpSpPr>
          <p:cNvPr id="47" name="footer"/>
          <p:cNvGrpSpPr/>
          <p:nvPr/>
        </p:nvGrpSpPr>
        <p:grpSpPr>
          <a:xfrm>
            <a:off x="528447" y="6581299"/>
            <a:ext cx="11135106" cy="190690"/>
            <a:chOff x="528447" y="6581299"/>
            <a:chExt cx="11135106" cy="190690"/>
          </a:xfrm>
        </p:grpSpPr>
        <p:sp>
          <p:nvSpPr>
            <p:cNvPr id="45" name="TextBox 45"/>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46" name="TextBox 46"/>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29</a:t>
              </a:r>
            </a:p>
          </p:txBody>
        </p:sp>
      </p:grpSp>
    </p:spTree>
  </p:cSld>
  <p:clrMapOvr>
    <a:masterClrMapping/>
  </p:clrMapOvr>
  <p:transition xmlns:p14="http://schemas.microsoft.com/office/powerpoint/2010/main" p14:dur="400">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742313" cy="909257"/>
            <a:chOff x="520446" y="342900"/>
            <a:chExt cx="1742313" cy="909257"/>
          </a:xfrm>
        </p:grpSpPr>
        <p:sp>
          <p:nvSpPr>
            <p:cNvPr id="2" name="Rectangle 2"/>
            <p:cNvSpPr/>
            <p:nvPr/>
          </p:nvSpPr>
          <p:spPr>
            <a:xfrm>
              <a:off x="533400" y="342900"/>
              <a:ext cx="551498" cy="266700"/>
            </a:xfrm>
            <a:prstGeom prst="roundRect">
              <a:avLst>
                <a:gd name="adj" fmla="val 50000"/>
              </a:avLst>
            </a:prstGeom>
            <a:solidFill>
              <a:srgbClr val="EEEAF7"/>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自测</a:t>
              </a:r>
            </a:p>
          </p:txBody>
        </p:sp>
        <p:sp>
          <p:nvSpPr>
            <p:cNvPr id="4" name="TextBox 4"/>
            <p:cNvSpPr txBox="1"/>
            <p:nvPr/>
          </p:nvSpPr>
          <p:spPr>
            <a:xfrm>
              <a:off x="520446" y="753428"/>
              <a:ext cx="174231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自测（一）</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12" name="c1-card-1"/>
          <p:cNvGrpSpPr/>
          <p:nvPr/>
        </p:nvGrpSpPr>
        <p:grpSpPr>
          <a:xfrm>
            <a:off x="533400" y="1524000"/>
            <a:ext cx="5410200" cy="1254442"/>
            <a:chOff x="533400" y="1524000"/>
            <a:chExt cx="5410200" cy="1254442"/>
          </a:xfrm>
        </p:grpSpPr>
        <p:sp>
          <p:nvSpPr>
            <p:cNvPr id="7" name="Rectangle 7"/>
            <p:cNvSpPr/>
            <p:nvPr/>
          </p:nvSpPr>
          <p:spPr>
            <a:xfrm>
              <a:off x="533400" y="1524000"/>
              <a:ext cx="5410200" cy="1254442"/>
            </a:xfrm>
            <a:prstGeom prst="roundRect">
              <a:avLst>
                <a:gd name="adj" fmla="val 10630"/>
              </a:avLst>
            </a:prstGeom>
            <a:solidFill>
              <a:srgbClr val="F4F6FB"/>
            </a:solidFill>
            <a:ln>
              <a:noFill/>
            </a:ln>
          </p:spPr>
        </p:sp>
        <p:sp>
          <p:nvSpPr>
            <p:cNvPr id="8" name="Rectangle 8"/>
            <p:cNvSpPr/>
            <p:nvPr/>
          </p:nvSpPr>
          <p:spPr>
            <a:xfrm>
              <a:off x="725805" y="1716405"/>
              <a:ext cx="391478" cy="247650"/>
            </a:xfrm>
            <a:prstGeom prst="roundRect">
              <a:avLst>
                <a:gd name="adj" fmla="val 50000"/>
              </a:avLst>
            </a:prstGeom>
            <a:solidFill>
              <a:srgbClr val="EEEAF7"/>
            </a:solidFill>
            <a:ln>
              <a:noFill/>
            </a:ln>
          </p:spPr>
        </p:sp>
        <p:sp>
          <p:nvSpPr>
            <p:cNvPr id="9" name="TextBox 9"/>
            <p:cNvSpPr txBox="1"/>
            <p:nvPr/>
          </p:nvSpPr>
          <p:spPr>
            <a:xfrm>
              <a:off x="814753" y="1750695"/>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Q1</a:t>
              </a:r>
            </a:p>
          </p:txBody>
        </p:sp>
        <p:sp>
          <p:nvSpPr>
            <p:cNvPr id="10" name="TextBox 10"/>
            <p:cNvSpPr txBox="1"/>
            <p:nvPr/>
          </p:nvSpPr>
          <p:spPr>
            <a:xfrm>
              <a:off x="718947" y="2072640"/>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模板方法模式的定义怎么说？</a:t>
              </a:r>
            </a:p>
          </p:txBody>
        </p:sp>
        <p:sp>
          <p:nvSpPr>
            <p:cNvPr id="11" name="TextBox 11"/>
            <p:cNvSpPr txBox="1"/>
            <p:nvPr/>
          </p:nvSpPr>
          <p:spPr>
            <a:xfrm>
              <a:off x="718947" y="2375535"/>
              <a:ext cx="3648456"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定义算法的框架，把一些步骤延迟到子类</a:t>
              </a:r>
            </a:p>
          </p:txBody>
        </p:sp>
      </p:grpSp>
      <p:grpSp>
        <p:nvGrpSpPr>
          <p:cNvPr id="18" name="c1-card-2"/>
          <p:cNvGrpSpPr/>
          <p:nvPr/>
        </p:nvGrpSpPr>
        <p:grpSpPr>
          <a:xfrm>
            <a:off x="533400" y="2953702"/>
            <a:ext cx="5410200" cy="1254442"/>
            <a:chOff x="533400" y="2953702"/>
            <a:chExt cx="5410200" cy="1254442"/>
          </a:xfrm>
        </p:grpSpPr>
        <p:sp>
          <p:nvSpPr>
            <p:cNvPr id="13" name="Rectangle 13"/>
            <p:cNvSpPr/>
            <p:nvPr/>
          </p:nvSpPr>
          <p:spPr>
            <a:xfrm>
              <a:off x="533400" y="2953702"/>
              <a:ext cx="5410200" cy="1254442"/>
            </a:xfrm>
            <a:prstGeom prst="roundRect">
              <a:avLst>
                <a:gd name="adj" fmla="val 10630"/>
              </a:avLst>
            </a:prstGeom>
            <a:solidFill>
              <a:srgbClr val="F4F6FB"/>
            </a:solidFill>
            <a:ln>
              <a:noFill/>
            </a:ln>
          </p:spPr>
        </p:sp>
        <p:sp>
          <p:nvSpPr>
            <p:cNvPr id="14" name="Rectangle 14"/>
            <p:cNvSpPr/>
            <p:nvPr/>
          </p:nvSpPr>
          <p:spPr>
            <a:xfrm>
              <a:off x="725805" y="3146108"/>
              <a:ext cx="391478" cy="247650"/>
            </a:xfrm>
            <a:prstGeom prst="roundRect">
              <a:avLst>
                <a:gd name="adj" fmla="val 50000"/>
              </a:avLst>
            </a:prstGeom>
            <a:solidFill>
              <a:srgbClr val="EEEAF7"/>
            </a:solidFill>
            <a:ln>
              <a:noFill/>
            </a:ln>
          </p:spPr>
        </p:sp>
        <p:sp>
          <p:nvSpPr>
            <p:cNvPr id="15" name="TextBox 15"/>
            <p:cNvSpPr txBox="1"/>
            <p:nvPr/>
          </p:nvSpPr>
          <p:spPr>
            <a:xfrm>
              <a:off x="814753" y="3180398"/>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Q3</a:t>
              </a:r>
            </a:p>
          </p:txBody>
        </p:sp>
        <p:sp>
          <p:nvSpPr>
            <p:cNvPr id="16" name="TextBox 16"/>
            <p:cNvSpPr txBox="1"/>
            <p:nvPr/>
          </p:nvSpPr>
          <p:spPr>
            <a:xfrm>
              <a:off x="718947" y="3503295"/>
              <a:ext cx="1467612"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它有哪两个角色？</a:t>
              </a:r>
            </a:p>
          </p:txBody>
        </p:sp>
        <p:sp>
          <p:nvSpPr>
            <p:cNvPr id="17" name="TextBox 17"/>
            <p:cNvSpPr txBox="1"/>
            <p:nvPr/>
          </p:nvSpPr>
          <p:spPr>
            <a:xfrm>
              <a:off x="718947" y="3805238"/>
              <a:ext cx="3198729"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AbstractClass 与 ConcreteClass</a:t>
              </a:r>
            </a:p>
          </p:txBody>
        </p:sp>
      </p:grpSp>
      <p:grpSp>
        <p:nvGrpSpPr>
          <p:cNvPr id="24" name="c1-card-3"/>
          <p:cNvGrpSpPr/>
          <p:nvPr/>
        </p:nvGrpSpPr>
        <p:grpSpPr>
          <a:xfrm>
            <a:off x="533400" y="4383405"/>
            <a:ext cx="5410200" cy="1254442"/>
            <a:chOff x="533400" y="4383405"/>
            <a:chExt cx="5410200" cy="1254442"/>
          </a:xfrm>
        </p:grpSpPr>
        <p:sp>
          <p:nvSpPr>
            <p:cNvPr id="19" name="Rectangle 19"/>
            <p:cNvSpPr/>
            <p:nvPr/>
          </p:nvSpPr>
          <p:spPr>
            <a:xfrm>
              <a:off x="533400" y="4383405"/>
              <a:ext cx="5410200" cy="1254442"/>
            </a:xfrm>
            <a:prstGeom prst="roundRect">
              <a:avLst>
                <a:gd name="adj" fmla="val 10630"/>
              </a:avLst>
            </a:prstGeom>
            <a:solidFill>
              <a:srgbClr val="F4F6FB"/>
            </a:solidFill>
            <a:ln>
              <a:noFill/>
            </a:ln>
          </p:spPr>
        </p:sp>
        <p:sp>
          <p:nvSpPr>
            <p:cNvPr id="20" name="Rectangle 20"/>
            <p:cNvSpPr/>
            <p:nvPr/>
          </p:nvSpPr>
          <p:spPr>
            <a:xfrm>
              <a:off x="725805" y="4575810"/>
              <a:ext cx="391478" cy="247650"/>
            </a:xfrm>
            <a:prstGeom prst="roundRect">
              <a:avLst>
                <a:gd name="adj" fmla="val 50000"/>
              </a:avLst>
            </a:prstGeom>
            <a:solidFill>
              <a:srgbClr val="EEEAF7"/>
            </a:solidFill>
            <a:ln>
              <a:noFill/>
            </a:ln>
          </p:spPr>
        </p:sp>
        <p:sp>
          <p:nvSpPr>
            <p:cNvPr id="21" name="TextBox 21"/>
            <p:cNvSpPr txBox="1"/>
            <p:nvPr/>
          </p:nvSpPr>
          <p:spPr>
            <a:xfrm>
              <a:off x="814753" y="4610100"/>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Q5</a:t>
              </a:r>
            </a:p>
          </p:txBody>
        </p:sp>
        <p:sp>
          <p:nvSpPr>
            <p:cNvPr id="22" name="TextBox 22"/>
            <p:cNvSpPr txBox="1"/>
            <p:nvPr/>
          </p:nvSpPr>
          <p:spPr>
            <a:xfrm>
              <a:off x="718947" y="4932998"/>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基本方法分哪三种？</a:t>
              </a:r>
            </a:p>
          </p:txBody>
        </p:sp>
        <p:sp>
          <p:nvSpPr>
            <p:cNvPr id="23" name="TextBox 23"/>
            <p:cNvSpPr txBox="1"/>
            <p:nvPr/>
          </p:nvSpPr>
          <p:spPr>
            <a:xfrm>
              <a:off x="718947" y="5234940"/>
              <a:ext cx="2921508"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抽象方法、具体方法、钩子方法</a:t>
              </a:r>
            </a:p>
          </p:txBody>
        </p:sp>
      </p:grpSp>
      <p:grpSp>
        <p:nvGrpSpPr>
          <p:cNvPr id="30" name="c2-card-1"/>
          <p:cNvGrpSpPr/>
          <p:nvPr/>
        </p:nvGrpSpPr>
        <p:grpSpPr>
          <a:xfrm>
            <a:off x="6248400" y="1524000"/>
            <a:ext cx="5410200" cy="1254442"/>
            <a:chOff x="6248400" y="1524000"/>
            <a:chExt cx="5410200" cy="1254442"/>
          </a:xfrm>
        </p:grpSpPr>
        <p:sp>
          <p:nvSpPr>
            <p:cNvPr id="25" name="Rectangle 25"/>
            <p:cNvSpPr/>
            <p:nvPr/>
          </p:nvSpPr>
          <p:spPr>
            <a:xfrm>
              <a:off x="6248400" y="1524000"/>
              <a:ext cx="5410200" cy="1254442"/>
            </a:xfrm>
            <a:prstGeom prst="roundRect">
              <a:avLst>
                <a:gd name="adj" fmla="val 10630"/>
              </a:avLst>
            </a:prstGeom>
            <a:solidFill>
              <a:srgbClr val="F4F6FB"/>
            </a:solidFill>
            <a:ln>
              <a:noFill/>
            </a:ln>
          </p:spPr>
        </p:sp>
        <p:sp>
          <p:nvSpPr>
            <p:cNvPr id="26" name="Rectangle 26"/>
            <p:cNvSpPr/>
            <p:nvPr/>
          </p:nvSpPr>
          <p:spPr>
            <a:xfrm>
              <a:off x="6440805" y="1716405"/>
              <a:ext cx="391478" cy="247650"/>
            </a:xfrm>
            <a:prstGeom prst="roundRect">
              <a:avLst>
                <a:gd name="adj" fmla="val 50000"/>
              </a:avLst>
            </a:prstGeom>
            <a:solidFill>
              <a:srgbClr val="EEEAF7"/>
            </a:solidFill>
            <a:ln>
              <a:noFill/>
            </a:ln>
          </p:spPr>
        </p:sp>
        <p:sp>
          <p:nvSpPr>
            <p:cNvPr id="27" name="TextBox 27"/>
            <p:cNvSpPr txBox="1"/>
            <p:nvPr/>
          </p:nvSpPr>
          <p:spPr>
            <a:xfrm>
              <a:off x="6529753" y="1750695"/>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Q2</a:t>
              </a:r>
            </a:p>
          </p:txBody>
        </p:sp>
        <p:sp>
          <p:nvSpPr>
            <p:cNvPr id="28" name="TextBox 28"/>
            <p:cNvSpPr txBox="1"/>
            <p:nvPr/>
          </p:nvSpPr>
          <p:spPr>
            <a:xfrm>
              <a:off x="6433947" y="2072640"/>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它属于哪一类模式？</a:t>
              </a:r>
            </a:p>
          </p:txBody>
        </p:sp>
        <p:sp>
          <p:nvSpPr>
            <p:cNvPr id="29" name="TextBox 29"/>
            <p:cNvSpPr txBox="1"/>
            <p:nvPr/>
          </p:nvSpPr>
          <p:spPr>
            <a:xfrm>
              <a:off x="6433947" y="2375535"/>
              <a:ext cx="3284982"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类行为型模式，靠继承实现代码复用</a:t>
              </a:r>
            </a:p>
          </p:txBody>
        </p:sp>
      </p:grpSp>
      <p:grpSp>
        <p:nvGrpSpPr>
          <p:cNvPr id="36" name="c2-card-2"/>
          <p:cNvGrpSpPr/>
          <p:nvPr/>
        </p:nvGrpSpPr>
        <p:grpSpPr>
          <a:xfrm>
            <a:off x="6248400" y="2953702"/>
            <a:ext cx="5410200" cy="1254442"/>
            <a:chOff x="6248400" y="2953702"/>
            <a:chExt cx="5410200" cy="1254442"/>
          </a:xfrm>
        </p:grpSpPr>
        <p:sp>
          <p:nvSpPr>
            <p:cNvPr id="31" name="Rectangle 31"/>
            <p:cNvSpPr/>
            <p:nvPr/>
          </p:nvSpPr>
          <p:spPr>
            <a:xfrm>
              <a:off x="6248400" y="2953702"/>
              <a:ext cx="5410200" cy="1254442"/>
            </a:xfrm>
            <a:prstGeom prst="roundRect">
              <a:avLst>
                <a:gd name="adj" fmla="val 10630"/>
              </a:avLst>
            </a:prstGeom>
            <a:solidFill>
              <a:srgbClr val="F4F6FB"/>
            </a:solidFill>
            <a:ln>
              <a:noFill/>
            </a:ln>
          </p:spPr>
        </p:sp>
        <p:sp>
          <p:nvSpPr>
            <p:cNvPr id="32" name="Rectangle 32"/>
            <p:cNvSpPr/>
            <p:nvPr/>
          </p:nvSpPr>
          <p:spPr>
            <a:xfrm>
              <a:off x="6440805" y="3146108"/>
              <a:ext cx="391478" cy="247650"/>
            </a:xfrm>
            <a:prstGeom prst="roundRect">
              <a:avLst>
                <a:gd name="adj" fmla="val 50000"/>
              </a:avLst>
            </a:prstGeom>
            <a:solidFill>
              <a:srgbClr val="EEEAF7"/>
            </a:solidFill>
            <a:ln>
              <a:noFill/>
            </a:ln>
          </p:spPr>
        </p:sp>
        <p:sp>
          <p:nvSpPr>
            <p:cNvPr id="33" name="TextBox 33"/>
            <p:cNvSpPr txBox="1"/>
            <p:nvPr/>
          </p:nvSpPr>
          <p:spPr>
            <a:xfrm>
              <a:off x="6529753" y="3180398"/>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Q4</a:t>
              </a:r>
            </a:p>
          </p:txBody>
        </p:sp>
        <p:sp>
          <p:nvSpPr>
            <p:cNvPr id="34" name="TextBox 34"/>
            <p:cNvSpPr txBox="1"/>
            <p:nvPr/>
          </p:nvSpPr>
          <p:spPr>
            <a:xfrm>
              <a:off x="6433947" y="3503295"/>
              <a:ext cx="2376297"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模板方法为什么不能放接口？</a:t>
              </a:r>
            </a:p>
          </p:txBody>
        </p:sp>
        <p:sp>
          <p:nvSpPr>
            <p:cNvPr id="35" name="TextBox 35"/>
            <p:cNvSpPr txBox="1"/>
            <p:nvPr/>
          </p:nvSpPr>
          <p:spPr>
            <a:xfrm>
              <a:off x="6433947" y="3805238"/>
              <a:ext cx="3648456"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它是具体方法，要有方法体，接口装不下</a:t>
              </a:r>
            </a:p>
          </p:txBody>
        </p:sp>
      </p:grpSp>
      <p:grpSp>
        <p:nvGrpSpPr>
          <p:cNvPr id="42" name="c2-card-3"/>
          <p:cNvGrpSpPr/>
          <p:nvPr/>
        </p:nvGrpSpPr>
        <p:grpSpPr>
          <a:xfrm>
            <a:off x="6248400" y="4383405"/>
            <a:ext cx="5410200" cy="1254442"/>
            <a:chOff x="6248400" y="4383405"/>
            <a:chExt cx="5410200" cy="1254442"/>
          </a:xfrm>
        </p:grpSpPr>
        <p:sp>
          <p:nvSpPr>
            <p:cNvPr id="37" name="Rectangle 37"/>
            <p:cNvSpPr/>
            <p:nvPr/>
          </p:nvSpPr>
          <p:spPr>
            <a:xfrm>
              <a:off x="6248400" y="4383405"/>
              <a:ext cx="5410200" cy="1254442"/>
            </a:xfrm>
            <a:prstGeom prst="roundRect">
              <a:avLst>
                <a:gd name="adj" fmla="val 10630"/>
              </a:avLst>
            </a:prstGeom>
            <a:solidFill>
              <a:srgbClr val="F4F6FB"/>
            </a:solidFill>
            <a:ln>
              <a:noFill/>
            </a:ln>
          </p:spPr>
        </p:sp>
        <p:sp>
          <p:nvSpPr>
            <p:cNvPr id="38" name="Rectangle 38"/>
            <p:cNvSpPr/>
            <p:nvPr/>
          </p:nvSpPr>
          <p:spPr>
            <a:xfrm>
              <a:off x="6440805" y="4575810"/>
              <a:ext cx="391478" cy="247650"/>
            </a:xfrm>
            <a:prstGeom prst="roundRect">
              <a:avLst>
                <a:gd name="adj" fmla="val 50000"/>
              </a:avLst>
            </a:prstGeom>
            <a:solidFill>
              <a:srgbClr val="EEEAF7"/>
            </a:solidFill>
            <a:ln>
              <a:noFill/>
            </a:ln>
          </p:spPr>
        </p:sp>
        <p:sp>
          <p:nvSpPr>
            <p:cNvPr id="39" name="TextBox 39"/>
            <p:cNvSpPr txBox="1"/>
            <p:nvPr/>
          </p:nvSpPr>
          <p:spPr>
            <a:xfrm>
              <a:off x="6529753" y="4610100"/>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Q6</a:t>
              </a:r>
            </a:p>
          </p:txBody>
        </p:sp>
        <p:sp>
          <p:nvSpPr>
            <p:cNvPr id="40" name="TextBox 40"/>
            <p:cNvSpPr txBox="1"/>
            <p:nvPr/>
          </p:nvSpPr>
          <p:spPr>
            <a:xfrm>
              <a:off x="6433947" y="4932998"/>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钩子方法不覆盖会怎样？</a:t>
              </a:r>
            </a:p>
          </p:txBody>
        </p:sp>
        <p:sp>
          <p:nvSpPr>
            <p:cNvPr id="41" name="TextBox 41"/>
            <p:cNvSpPr txBox="1"/>
            <p:nvPr/>
          </p:nvSpPr>
          <p:spPr>
            <a:xfrm>
              <a:off x="6433947" y="5234940"/>
              <a:ext cx="3103245"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编译通过，执行父类给的默认实现</a:t>
              </a:r>
            </a:p>
          </p:txBody>
        </p:sp>
      </p:grpSp>
      <p:grpSp>
        <p:nvGrpSpPr>
          <p:cNvPr id="49" name="takeaway"/>
          <p:cNvGrpSpPr/>
          <p:nvPr/>
        </p:nvGrpSpPr>
        <p:grpSpPr>
          <a:xfrm>
            <a:off x="533400" y="5874068"/>
            <a:ext cx="11125200" cy="488632"/>
            <a:chOff x="533400" y="5874068"/>
            <a:chExt cx="11125200" cy="488632"/>
          </a:xfrm>
        </p:grpSpPr>
        <p:sp>
          <p:nvSpPr>
            <p:cNvPr id="43" name="Rectangle 43"/>
            <p:cNvSpPr/>
            <p:nvPr/>
          </p:nvSpPr>
          <p:spPr>
            <a:xfrm>
              <a:off x="533400" y="5874068"/>
              <a:ext cx="11125200" cy="488632"/>
            </a:xfrm>
            <a:prstGeom prst="roundRect">
              <a:avLst>
                <a:gd name="adj" fmla="val 23392"/>
              </a:avLst>
            </a:prstGeom>
            <a:solidFill>
              <a:srgbClr val="F4F6FB"/>
            </a:solidFill>
            <a:ln>
              <a:noFill/>
            </a:ln>
          </p:spPr>
        </p:sp>
        <p:grpSp>
          <p:nvGrpSpPr>
            <p:cNvPr id="47" name="Group 47"/>
            <p:cNvGrpSpPr/>
            <p:nvPr/>
          </p:nvGrpSpPr>
          <p:grpSpPr>
            <a:xfrm>
              <a:off x="738188" y="6017895"/>
              <a:ext cx="200026" cy="200026"/>
              <a:chOff x="738188" y="6017895"/>
              <a:chExt cx="200026" cy="200026"/>
            </a:xfrm>
          </p:grpSpPr>
          <p:sp>
            <p:nvSpPr>
              <p:cNvPr id="44" name="Freeform 44"/>
              <p:cNvSpPr/>
              <p:nvPr/>
            </p:nvSpPr>
            <p:spPr>
              <a:xfrm>
                <a:off x="738188" y="6017895"/>
                <a:ext cx="200026" cy="200026"/>
              </a:xfrm>
              <a:custGeom>
                <a:avLst/>
                <a:gdLst/>
                <a:ahLst/>
                <a:cxnLst/>
                <a:rect l="l" t="t" r="r" b="b"/>
                <a:pathLst>
                  <a:path w="200026" h="200026">
                    <a:moveTo>
                      <a:pt x="0" y="100013"/>
                    </a:moveTo>
                    <a:cubicBezTo>
                      <a:pt x="0" y="155248"/>
                      <a:pt x="44777" y="200026"/>
                      <a:pt x="100013" y="200026"/>
                    </a:cubicBezTo>
                    <a:cubicBezTo>
                      <a:pt x="155248" y="200026"/>
                      <a:pt x="200026" y="155248"/>
                      <a:pt x="200026" y="100013"/>
                    </a:cubicBezTo>
                    <a:cubicBezTo>
                      <a:pt x="200026" y="44777"/>
                      <a:pt x="155248" y="0"/>
                      <a:pt x="100013" y="0"/>
                    </a:cubicBezTo>
                    <a:cubicBezTo>
                      <a:pt x="44777" y="0"/>
                      <a:pt x="0" y="44777"/>
                      <a:pt x="0" y="100013"/>
                    </a:cubicBezTo>
                  </a:path>
                </a:pathLst>
              </a:custGeom>
              <a:noFill/>
              <a:ln w="22225">
                <a:solidFill>
                  <a:srgbClr val="1F2937"/>
                </a:solidFill>
              </a:ln>
            </p:spPr>
          </p:sp>
          <p:sp>
            <p:nvSpPr>
              <p:cNvPr id="45" name="Freeform 45"/>
              <p:cNvSpPr/>
              <p:nvPr/>
            </p:nvSpPr>
            <p:spPr>
              <a:xfrm>
                <a:off x="838200" y="6084570"/>
                <a:ext cx="9525" cy="9525"/>
              </a:xfrm>
              <a:custGeom>
                <a:avLst/>
                <a:gdLst/>
                <a:ahLst/>
                <a:cxnLst/>
                <a:rect l="l" t="t" r="r" b="b"/>
                <a:pathLst>
                  <a:path w="9525" h="9525">
                    <a:moveTo>
                      <a:pt x="0" y="0"/>
                    </a:moveTo>
                    <a:lnTo>
                      <a:pt x="111" y="0"/>
                    </a:lnTo>
                  </a:path>
                </a:pathLst>
              </a:custGeom>
              <a:noFill/>
              <a:ln w="22225">
                <a:solidFill>
                  <a:srgbClr val="1F2937"/>
                </a:solidFill>
              </a:ln>
            </p:spPr>
          </p:sp>
          <p:sp>
            <p:nvSpPr>
              <p:cNvPr id="46" name="Freeform 46"/>
              <p:cNvSpPr/>
              <p:nvPr/>
            </p:nvSpPr>
            <p:spPr>
              <a:xfrm>
                <a:off x="827088" y="6117908"/>
                <a:ext cx="22225" cy="44450"/>
              </a:xfrm>
              <a:custGeom>
                <a:avLst/>
                <a:gdLst/>
                <a:ahLst/>
                <a:cxnLst/>
                <a:rect l="l" t="t" r="r" b="b"/>
                <a:pathLst>
                  <a:path w="22225" h="44450">
                    <a:moveTo>
                      <a:pt x="0" y="0"/>
                    </a:moveTo>
                    <a:lnTo>
                      <a:pt x="11113" y="0"/>
                    </a:lnTo>
                    <a:lnTo>
                      <a:pt x="11113" y="44450"/>
                    </a:lnTo>
                    <a:lnTo>
                      <a:pt x="22225" y="44450"/>
                    </a:lnTo>
                  </a:path>
                </a:pathLst>
              </a:custGeom>
              <a:noFill/>
              <a:ln w="22225">
                <a:solidFill>
                  <a:srgbClr val="1F2937"/>
                </a:solidFill>
              </a:ln>
            </p:spPr>
          </p:sp>
        </p:grpSp>
        <p:sp>
          <p:nvSpPr>
            <p:cNvPr id="48" name="TextBox 48"/>
            <p:cNvSpPr txBox="1"/>
            <p:nvPr/>
          </p:nvSpPr>
          <p:spPr>
            <a:xfrm>
              <a:off x="1040892" y="6023610"/>
              <a:ext cx="5284089" cy="264033"/>
            </a:xfrm>
            <a:prstGeom prst="rect">
              <a:avLst/>
            </a:prstGeom>
            <a:noFill/>
            <a:ln>
              <a:noFill/>
            </a:ln>
          </p:spPr>
          <p:txBody>
            <a:bodyPr wrap="none" lIns="0" tIns="0" rIns="0" bIns="0" anchor="t" anchorCtr="0">
              <a:spAutoFit/>
            </a:bodyPr>
            <a:lstStyle/>
            <a:p>
              <a:pPr algn="l"/>
              <a:r>
                <a:rPr lang="zh-CN" sz="1350" dirty="0">
                  <a:solidFill>
                    <a:srgbClr val="1F2937"/>
                  </a:solidFill>
                  <a:latin typeface="+mn-lt"/>
                  <a:ea typeface="+mn-ea"/>
                  <a:cs typeface="+mn-cs"/>
                </a:rPr>
                <a:t>答不上来的题，回到对应正文页把那张类图或那段代码再读一遍。</a:t>
              </a:r>
            </a:p>
          </p:txBody>
        </p:sp>
      </p:grpSp>
      <p:grpSp>
        <p:nvGrpSpPr>
          <p:cNvPr id="52" name="footer"/>
          <p:cNvGrpSpPr/>
          <p:nvPr/>
        </p:nvGrpSpPr>
        <p:grpSpPr>
          <a:xfrm>
            <a:off x="528447" y="6581299"/>
            <a:ext cx="11135106" cy="190690"/>
            <a:chOff x="528447" y="6581299"/>
            <a:chExt cx="11135106" cy="190690"/>
          </a:xfrm>
        </p:grpSpPr>
        <p:sp>
          <p:nvSpPr>
            <p:cNvPr id="50" name="TextBox 50"/>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1" name="TextBox 51"/>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30</a:t>
              </a:r>
            </a:p>
          </p:txBody>
        </p:sp>
      </p:grpSp>
    </p:spTree>
  </p:cSld>
  <p:clrMapOvr>
    <a:masterClrMapping/>
  </p:clrMapOvr>
  <p:transition xmlns:p14="http://schemas.microsoft.com/office/powerpoint/2010/main" p14:dur="400">
    <p:fade/>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742313" cy="909257"/>
            <a:chOff x="520446" y="342900"/>
            <a:chExt cx="1742313" cy="909257"/>
          </a:xfrm>
        </p:grpSpPr>
        <p:sp>
          <p:nvSpPr>
            <p:cNvPr id="2" name="Rectangle 2"/>
            <p:cNvSpPr/>
            <p:nvPr/>
          </p:nvSpPr>
          <p:spPr>
            <a:xfrm>
              <a:off x="533400" y="342900"/>
              <a:ext cx="551498" cy="266700"/>
            </a:xfrm>
            <a:prstGeom prst="roundRect">
              <a:avLst>
                <a:gd name="adj" fmla="val 50000"/>
              </a:avLst>
            </a:prstGeom>
            <a:solidFill>
              <a:srgbClr val="EEEAF7"/>
            </a:solidFill>
            <a:ln>
              <a:noFill/>
            </a:ln>
          </p:spPr>
        </p:sp>
        <p:sp>
          <p:nvSpPr>
            <p:cNvPr id="3" name="TextBox 3"/>
            <p:cNvSpPr txBox="1"/>
            <p:nvPr/>
          </p:nvSpPr>
          <p:spPr>
            <a:xfrm>
              <a:off x="652183" y="407194"/>
              <a:ext cx="312979"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自测</a:t>
              </a:r>
            </a:p>
          </p:txBody>
        </p:sp>
        <p:sp>
          <p:nvSpPr>
            <p:cNvPr id="4" name="TextBox 4"/>
            <p:cNvSpPr txBox="1"/>
            <p:nvPr/>
          </p:nvSpPr>
          <p:spPr>
            <a:xfrm>
              <a:off x="520446" y="753428"/>
              <a:ext cx="1742313"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自测（二）</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12" name="c1-card-1"/>
          <p:cNvGrpSpPr/>
          <p:nvPr/>
        </p:nvGrpSpPr>
        <p:grpSpPr>
          <a:xfrm>
            <a:off x="533400" y="1524000"/>
            <a:ext cx="5410200" cy="1254442"/>
            <a:chOff x="533400" y="1524000"/>
            <a:chExt cx="5410200" cy="1254442"/>
          </a:xfrm>
        </p:grpSpPr>
        <p:sp>
          <p:nvSpPr>
            <p:cNvPr id="7" name="Rectangle 7"/>
            <p:cNvSpPr/>
            <p:nvPr/>
          </p:nvSpPr>
          <p:spPr>
            <a:xfrm>
              <a:off x="533400" y="1524000"/>
              <a:ext cx="5410200" cy="1254442"/>
            </a:xfrm>
            <a:prstGeom prst="roundRect">
              <a:avLst>
                <a:gd name="adj" fmla="val 10630"/>
              </a:avLst>
            </a:prstGeom>
            <a:solidFill>
              <a:srgbClr val="F4F6FB"/>
            </a:solidFill>
            <a:ln>
              <a:noFill/>
            </a:ln>
          </p:spPr>
        </p:sp>
        <p:sp>
          <p:nvSpPr>
            <p:cNvPr id="8" name="Rectangle 8"/>
            <p:cNvSpPr/>
            <p:nvPr/>
          </p:nvSpPr>
          <p:spPr>
            <a:xfrm>
              <a:off x="725805" y="1716405"/>
              <a:ext cx="391478" cy="247650"/>
            </a:xfrm>
            <a:prstGeom prst="roundRect">
              <a:avLst>
                <a:gd name="adj" fmla="val 50000"/>
              </a:avLst>
            </a:prstGeom>
            <a:solidFill>
              <a:srgbClr val="EEEAF7"/>
            </a:solidFill>
            <a:ln>
              <a:noFill/>
            </a:ln>
          </p:spPr>
        </p:sp>
        <p:sp>
          <p:nvSpPr>
            <p:cNvPr id="9" name="TextBox 9"/>
            <p:cNvSpPr txBox="1"/>
            <p:nvPr/>
          </p:nvSpPr>
          <p:spPr>
            <a:xfrm>
              <a:off x="814753" y="1750695"/>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Q1</a:t>
              </a:r>
            </a:p>
          </p:txBody>
        </p:sp>
        <p:sp>
          <p:nvSpPr>
            <p:cNvPr id="10" name="TextBox 10"/>
            <p:cNvSpPr txBox="1"/>
            <p:nvPr/>
          </p:nvSpPr>
          <p:spPr>
            <a:xfrm>
              <a:off x="718947" y="2072640"/>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抽象方法不覆盖会怎样？</a:t>
              </a:r>
            </a:p>
          </p:txBody>
        </p:sp>
        <p:sp>
          <p:nvSpPr>
            <p:cNvPr id="11" name="TextBox 11"/>
            <p:cNvSpPr txBox="1"/>
            <p:nvPr/>
          </p:nvSpPr>
          <p:spPr>
            <a:xfrm>
              <a:off x="718947" y="2375535"/>
              <a:ext cx="2376297"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子类编译报错，必须实现</a:t>
              </a:r>
            </a:p>
          </p:txBody>
        </p:sp>
      </p:grpSp>
      <p:grpSp>
        <p:nvGrpSpPr>
          <p:cNvPr id="18" name="c1-card-2"/>
          <p:cNvGrpSpPr/>
          <p:nvPr/>
        </p:nvGrpSpPr>
        <p:grpSpPr>
          <a:xfrm>
            <a:off x="533400" y="2953702"/>
            <a:ext cx="5410200" cy="1254442"/>
            <a:chOff x="533400" y="2953702"/>
            <a:chExt cx="5410200" cy="1254442"/>
          </a:xfrm>
        </p:grpSpPr>
        <p:sp>
          <p:nvSpPr>
            <p:cNvPr id="13" name="Rectangle 13"/>
            <p:cNvSpPr/>
            <p:nvPr/>
          </p:nvSpPr>
          <p:spPr>
            <a:xfrm>
              <a:off x="533400" y="2953702"/>
              <a:ext cx="5410200" cy="1254442"/>
            </a:xfrm>
            <a:prstGeom prst="roundRect">
              <a:avLst>
                <a:gd name="adj" fmla="val 10630"/>
              </a:avLst>
            </a:prstGeom>
            <a:solidFill>
              <a:srgbClr val="F4F6FB"/>
            </a:solidFill>
            <a:ln>
              <a:noFill/>
            </a:ln>
          </p:spPr>
        </p:sp>
        <p:sp>
          <p:nvSpPr>
            <p:cNvPr id="14" name="Rectangle 14"/>
            <p:cNvSpPr/>
            <p:nvPr/>
          </p:nvSpPr>
          <p:spPr>
            <a:xfrm>
              <a:off x="725805" y="3146108"/>
              <a:ext cx="391478" cy="247650"/>
            </a:xfrm>
            <a:prstGeom prst="roundRect">
              <a:avLst>
                <a:gd name="adj" fmla="val 50000"/>
              </a:avLst>
            </a:prstGeom>
            <a:solidFill>
              <a:srgbClr val="EEEAF7"/>
            </a:solidFill>
            <a:ln>
              <a:noFill/>
            </a:ln>
          </p:spPr>
        </p:sp>
        <p:sp>
          <p:nvSpPr>
            <p:cNvPr id="15" name="TextBox 15"/>
            <p:cNvSpPr txBox="1"/>
            <p:nvPr/>
          </p:nvSpPr>
          <p:spPr>
            <a:xfrm>
              <a:off x="814753" y="3180398"/>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Q3</a:t>
              </a:r>
            </a:p>
          </p:txBody>
        </p:sp>
        <p:sp>
          <p:nvSpPr>
            <p:cNvPr id="16" name="TextBox 16"/>
            <p:cNvSpPr txBox="1"/>
            <p:nvPr/>
          </p:nvSpPr>
          <p:spPr>
            <a:xfrm>
              <a:off x="718947" y="3503295"/>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反向控制指的是什么？</a:t>
              </a:r>
            </a:p>
          </p:txBody>
        </p:sp>
        <p:sp>
          <p:nvSpPr>
            <p:cNvPr id="17" name="TextBox 17"/>
            <p:cNvSpPr txBox="1"/>
            <p:nvPr/>
          </p:nvSpPr>
          <p:spPr>
            <a:xfrm>
              <a:off x="718947" y="3805238"/>
              <a:ext cx="3830193"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父类调子类，子类的钩子还能约束父类流程</a:t>
              </a:r>
            </a:p>
          </p:txBody>
        </p:sp>
      </p:grpSp>
      <p:grpSp>
        <p:nvGrpSpPr>
          <p:cNvPr id="24" name="c1-card-3"/>
          <p:cNvGrpSpPr/>
          <p:nvPr/>
        </p:nvGrpSpPr>
        <p:grpSpPr>
          <a:xfrm>
            <a:off x="533400" y="4383405"/>
            <a:ext cx="5410200" cy="1254442"/>
            <a:chOff x="533400" y="4383405"/>
            <a:chExt cx="5410200" cy="1254442"/>
          </a:xfrm>
        </p:grpSpPr>
        <p:sp>
          <p:nvSpPr>
            <p:cNvPr id="19" name="Rectangle 19"/>
            <p:cNvSpPr/>
            <p:nvPr/>
          </p:nvSpPr>
          <p:spPr>
            <a:xfrm>
              <a:off x="533400" y="4383405"/>
              <a:ext cx="5410200" cy="1254442"/>
            </a:xfrm>
            <a:prstGeom prst="roundRect">
              <a:avLst>
                <a:gd name="adj" fmla="val 10630"/>
              </a:avLst>
            </a:prstGeom>
            <a:solidFill>
              <a:srgbClr val="F4F6FB"/>
            </a:solidFill>
            <a:ln>
              <a:noFill/>
            </a:ln>
          </p:spPr>
        </p:sp>
        <p:sp>
          <p:nvSpPr>
            <p:cNvPr id="20" name="Rectangle 20"/>
            <p:cNvSpPr/>
            <p:nvPr/>
          </p:nvSpPr>
          <p:spPr>
            <a:xfrm>
              <a:off x="725805" y="4575810"/>
              <a:ext cx="391478" cy="247650"/>
            </a:xfrm>
            <a:prstGeom prst="roundRect">
              <a:avLst>
                <a:gd name="adj" fmla="val 50000"/>
              </a:avLst>
            </a:prstGeom>
            <a:solidFill>
              <a:srgbClr val="EEEAF7"/>
            </a:solidFill>
            <a:ln>
              <a:noFill/>
            </a:ln>
          </p:spPr>
        </p:sp>
        <p:sp>
          <p:nvSpPr>
            <p:cNvPr id="21" name="TextBox 21"/>
            <p:cNvSpPr txBox="1"/>
            <p:nvPr/>
          </p:nvSpPr>
          <p:spPr>
            <a:xfrm>
              <a:off x="814753" y="4610100"/>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Q5</a:t>
              </a:r>
            </a:p>
          </p:txBody>
        </p:sp>
        <p:sp>
          <p:nvSpPr>
            <p:cNvPr id="22" name="TextBox 22"/>
            <p:cNvSpPr txBox="1"/>
            <p:nvPr/>
          </p:nvSpPr>
          <p:spPr>
            <a:xfrm>
              <a:off x="718947" y="4932998"/>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和策略模式差在哪？</a:t>
              </a:r>
            </a:p>
          </p:txBody>
        </p:sp>
        <p:sp>
          <p:nvSpPr>
            <p:cNvPr id="23" name="TextBox 23"/>
            <p:cNvSpPr txBox="1"/>
            <p:nvPr/>
          </p:nvSpPr>
          <p:spPr>
            <a:xfrm>
              <a:off x="718947" y="5234940"/>
              <a:ext cx="3466719"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模板固定骨架换步骤，策略整体换算法</a:t>
              </a:r>
            </a:p>
          </p:txBody>
        </p:sp>
      </p:grpSp>
      <p:grpSp>
        <p:nvGrpSpPr>
          <p:cNvPr id="30" name="c2-card-1"/>
          <p:cNvGrpSpPr/>
          <p:nvPr/>
        </p:nvGrpSpPr>
        <p:grpSpPr>
          <a:xfrm>
            <a:off x="6248400" y="1524000"/>
            <a:ext cx="5410200" cy="1254442"/>
            <a:chOff x="6248400" y="1524000"/>
            <a:chExt cx="5410200" cy="1254442"/>
          </a:xfrm>
        </p:grpSpPr>
        <p:sp>
          <p:nvSpPr>
            <p:cNvPr id="25" name="Rectangle 25"/>
            <p:cNvSpPr/>
            <p:nvPr/>
          </p:nvSpPr>
          <p:spPr>
            <a:xfrm>
              <a:off x="6248400" y="1524000"/>
              <a:ext cx="5410200" cy="1254442"/>
            </a:xfrm>
            <a:prstGeom prst="roundRect">
              <a:avLst>
                <a:gd name="adj" fmla="val 10630"/>
              </a:avLst>
            </a:prstGeom>
            <a:solidFill>
              <a:srgbClr val="F4F6FB"/>
            </a:solidFill>
            <a:ln>
              <a:noFill/>
            </a:ln>
          </p:spPr>
        </p:sp>
        <p:sp>
          <p:nvSpPr>
            <p:cNvPr id="26" name="Rectangle 26"/>
            <p:cNvSpPr/>
            <p:nvPr/>
          </p:nvSpPr>
          <p:spPr>
            <a:xfrm>
              <a:off x="6440805" y="1716405"/>
              <a:ext cx="391478" cy="247650"/>
            </a:xfrm>
            <a:prstGeom prst="roundRect">
              <a:avLst>
                <a:gd name="adj" fmla="val 50000"/>
              </a:avLst>
            </a:prstGeom>
            <a:solidFill>
              <a:srgbClr val="EEEAF7"/>
            </a:solidFill>
            <a:ln>
              <a:noFill/>
            </a:ln>
          </p:spPr>
        </p:sp>
        <p:sp>
          <p:nvSpPr>
            <p:cNvPr id="27" name="TextBox 27"/>
            <p:cNvSpPr txBox="1"/>
            <p:nvPr/>
          </p:nvSpPr>
          <p:spPr>
            <a:xfrm>
              <a:off x="6529753" y="1750695"/>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Q2</a:t>
              </a:r>
            </a:p>
          </p:txBody>
        </p:sp>
        <p:sp>
          <p:nvSpPr>
            <p:cNvPr id="28" name="TextBox 28"/>
            <p:cNvSpPr txBox="1"/>
            <p:nvPr/>
          </p:nvSpPr>
          <p:spPr>
            <a:xfrm>
              <a:off x="6433947" y="2072640"/>
              <a:ext cx="1831086"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第一类钩子长什么样？</a:t>
              </a:r>
            </a:p>
          </p:txBody>
        </p:sp>
        <p:sp>
          <p:nvSpPr>
            <p:cNvPr id="29" name="TextBox 29"/>
            <p:cNvSpPr txBox="1"/>
            <p:nvPr/>
          </p:nvSpPr>
          <p:spPr>
            <a:xfrm>
              <a:off x="6433947" y="2375535"/>
              <a:ext cx="3438395"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返回 boolean，方法名多写成 isXxx()</a:t>
              </a:r>
            </a:p>
          </p:txBody>
        </p:sp>
      </p:grpSp>
      <p:grpSp>
        <p:nvGrpSpPr>
          <p:cNvPr id="36" name="c2-card-2"/>
          <p:cNvGrpSpPr/>
          <p:nvPr/>
        </p:nvGrpSpPr>
        <p:grpSpPr>
          <a:xfrm>
            <a:off x="6248400" y="2953702"/>
            <a:ext cx="5410200" cy="1254442"/>
            <a:chOff x="6248400" y="2953702"/>
            <a:chExt cx="5410200" cy="1254442"/>
          </a:xfrm>
        </p:grpSpPr>
        <p:sp>
          <p:nvSpPr>
            <p:cNvPr id="31" name="Rectangle 31"/>
            <p:cNvSpPr/>
            <p:nvPr/>
          </p:nvSpPr>
          <p:spPr>
            <a:xfrm>
              <a:off x="6248400" y="2953702"/>
              <a:ext cx="5410200" cy="1254442"/>
            </a:xfrm>
            <a:prstGeom prst="roundRect">
              <a:avLst>
                <a:gd name="adj" fmla="val 10630"/>
              </a:avLst>
            </a:prstGeom>
            <a:solidFill>
              <a:srgbClr val="F4F6FB"/>
            </a:solidFill>
            <a:ln>
              <a:noFill/>
            </a:ln>
          </p:spPr>
        </p:sp>
        <p:sp>
          <p:nvSpPr>
            <p:cNvPr id="32" name="Rectangle 32"/>
            <p:cNvSpPr/>
            <p:nvPr/>
          </p:nvSpPr>
          <p:spPr>
            <a:xfrm>
              <a:off x="6440805" y="3146108"/>
              <a:ext cx="391478" cy="247650"/>
            </a:xfrm>
            <a:prstGeom prst="roundRect">
              <a:avLst>
                <a:gd name="adj" fmla="val 50000"/>
              </a:avLst>
            </a:prstGeom>
            <a:solidFill>
              <a:srgbClr val="EEEAF7"/>
            </a:solidFill>
            <a:ln>
              <a:noFill/>
            </a:ln>
          </p:spPr>
        </p:sp>
        <p:sp>
          <p:nvSpPr>
            <p:cNvPr id="33" name="TextBox 33"/>
            <p:cNvSpPr txBox="1"/>
            <p:nvPr/>
          </p:nvSpPr>
          <p:spPr>
            <a:xfrm>
              <a:off x="6529753" y="3180398"/>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Q4</a:t>
              </a:r>
            </a:p>
          </p:txBody>
        </p:sp>
        <p:sp>
          <p:nvSpPr>
            <p:cNvPr id="34" name="TextBox 34"/>
            <p:cNvSpPr txBox="1"/>
            <p:nvPr/>
          </p:nvSpPr>
          <p:spPr>
            <a:xfrm>
              <a:off x="6433947" y="3503295"/>
              <a:ext cx="1649349"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好莱坞原则怎么说？</a:t>
              </a:r>
            </a:p>
          </p:txBody>
        </p:sp>
        <p:sp>
          <p:nvSpPr>
            <p:cNvPr id="35" name="TextBox 35"/>
            <p:cNvSpPr txBox="1"/>
            <p:nvPr/>
          </p:nvSpPr>
          <p:spPr>
            <a:xfrm>
              <a:off x="6433947" y="3805238"/>
              <a:ext cx="3466719"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不要给我们打电话，我们会给你打电话</a:t>
              </a:r>
            </a:p>
          </p:txBody>
        </p:sp>
      </p:grpSp>
      <p:grpSp>
        <p:nvGrpSpPr>
          <p:cNvPr id="42" name="c2-card-3"/>
          <p:cNvGrpSpPr/>
          <p:nvPr/>
        </p:nvGrpSpPr>
        <p:grpSpPr>
          <a:xfrm>
            <a:off x="6248400" y="4383405"/>
            <a:ext cx="5410200" cy="1254442"/>
            <a:chOff x="6248400" y="4383405"/>
            <a:chExt cx="5410200" cy="1254442"/>
          </a:xfrm>
        </p:grpSpPr>
        <p:sp>
          <p:nvSpPr>
            <p:cNvPr id="37" name="Rectangle 37"/>
            <p:cNvSpPr/>
            <p:nvPr/>
          </p:nvSpPr>
          <p:spPr>
            <a:xfrm>
              <a:off x="6248400" y="4383405"/>
              <a:ext cx="5410200" cy="1254442"/>
            </a:xfrm>
            <a:prstGeom prst="roundRect">
              <a:avLst>
                <a:gd name="adj" fmla="val 10630"/>
              </a:avLst>
            </a:prstGeom>
            <a:solidFill>
              <a:srgbClr val="F4F6FB"/>
            </a:solidFill>
            <a:ln>
              <a:noFill/>
            </a:ln>
          </p:spPr>
        </p:sp>
        <p:sp>
          <p:nvSpPr>
            <p:cNvPr id="38" name="Rectangle 38"/>
            <p:cNvSpPr/>
            <p:nvPr/>
          </p:nvSpPr>
          <p:spPr>
            <a:xfrm>
              <a:off x="6440805" y="4575810"/>
              <a:ext cx="391478" cy="247650"/>
            </a:xfrm>
            <a:prstGeom prst="roundRect">
              <a:avLst>
                <a:gd name="adj" fmla="val 50000"/>
              </a:avLst>
            </a:prstGeom>
            <a:solidFill>
              <a:srgbClr val="EEEAF7"/>
            </a:solidFill>
            <a:ln>
              <a:noFill/>
            </a:ln>
          </p:spPr>
        </p:sp>
        <p:sp>
          <p:nvSpPr>
            <p:cNvPr id="39" name="TextBox 39"/>
            <p:cNvSpPr txBox="1"/>
            <p:nvPr/>
          </p:nvSpPr>
          <p:spPr>
            <a:xfrm>
              <a:off x="6529753" y="4610100"/>
              <a:ext cx="214533" cy="205359"/>
            </a:xfrm>
            <a:prstGeom prst="rect">
              <a:avLst/>
            </a:prstGeom>
            <a:noFill/>
            <a:ln>
              <a:noFill/>
            </a:ln>
          </p:spPr>
          <p:txBody>
            <a:bodyPr wrap="none" lIns="0" tIns="0" rIns="0" bIns="0" anchor="t" anchorCtr="0">
              <a:spAutoFit/>
            </a:bodyPr>
            <a:lstStyle/>
            <a:p>
              <a:pPr algn="ctr"/>
              <a:r>
                <a:rPr lang="en-US" sz="1050" b="1" dirty="0">
                  <a:solidFill>
                    <a:srgbClr val="5B3FA0"/>
                  </a:solidFill>
                  <a:latin typeface="+mn-lt"/>
                  <a:ea typeface="+mn-ea"/>
                  <a:cs typeface="+mn-cs"/>
                </a:rPr>
                <a:t>Q6</a:t>
              </a:r>
            </a:p>
          </p:txBody>
        </p:sp>
        <p:sp>
          <p:nvSpPr>
            <p:cNvPr id="40" name="TextBox 40"/>
            <p:cNvSpPr txBox="1"/>
            <p:nvPr/>
          </p:nvSpPr>
          <p:spPr>
            <a:xfrm>
              <a:off x="6433947" y="4932998"/>
              <a:ext cx="2012823" cy="264033"/>
            </a:xfrm>
            <a:prstGeom prst="rect">
              <a:avLst/>
            </a:prstGeom>
            <a:noFill/>
            <a:ln>
              <a:noFill/>
            </a:ln>
          </p:spPr>
          <p:txBody>
            <a:bodyPr wrap="none" lIns="0" tIns="0" rIns="0" bIns="0" anchor="t" anchorCtr="0">
              <a:spAutoFit/>
            </a:bodyPr>
            <a:lstStyle/>
            <a:p>
              <a:pPr algn="l"/>
              <a:r>
                <a:rPr lang="zh-CN" sz="1350" b="1" dirty="0">
                  <a:solidFill>
                    <a:srgbClr val="1F2937"/>
                  </a:solidFill>
                  <a:latin typeface="+mn-lt"/>
                  <a:ea typeface="+mn-ea"/>
                  <a:cs typeface="+mn-cs"/>
                </a:rPr>
                <a:t>它最主要的缺点是什么？</a:t>
              </a:r>
            </a:p>
          </p:txBody>
        </p:sp>
        <p:sp>
          <p:nvSpPr>
            <p:cNvPr id="41" name="TextBox 41"/>
            <p:cNvSpPr txBox="1"/>
            <p:nvPr/>
          </p:nvSpPr>
          <p:spPr>
            <a:xfrm>
              <a:off x="6433947" y="5234940"/>
              <a:ext cx="3648456" cy="264033"/>
            </a:xfrm>
            <a:prstGeom prst="rect">
              <a:avLst/>
            </a:prstGeom>
            <a:noFill/>
            <a:ln>
              <a:noFill/>
            </a:ln>
          </p:spPr>
          <p:txBody>
            <a:bodyPr wrap="none" lIns="0" tIns="0" rIns="0" bIns="0" anchor="t" anchorCtr="0">
              <a:spAutoFit/>
            </a:bodyPr>
            <a:lstStyle/>
            <a:p>
              <a:pPr algn="l"/>
              <a:r>
                <a:rPr lang="zh-CN" sz="1350" b="1" dirty="0">
                  <a:solidFill>
                    <a:srgbClr val="0F7A68"/>
                  </a:solidFill>
                  <a:latin typeface="+mn-lt"/>
                  <a:ea typeface="+mn-ea"/>
                  <a:cs typeface="+mn-cs"/>
                </a:rPr>
                <a:t>答：</a:t>
              </a:r>
              <a:r>
                <a:rPr lang="zh-CN" sz="1350" dirty="0">
                  <a:solidFill>
                    <a:srgbClr val="1F2937"/>
                  </a:solidFill>
                  <a:latin typeface="+mn-lt"/>
                  <a:ea typeface="+mn-ea"/>
                  <a:cs typeface="+mn-cs"/>
                </a:rPr>
                <a:t>一个可变实现一个子类，类个数容易膨胀</a:t>
              </a:r>
            </a:p>
          </p:txBody>
        </p:sp>
      </p:grpSp>
      <p:grpSp>
        <p:nvGrpSpPr>
          <p:cNvPr id="48" name="takeaway"/>
          <p:cNvGrpSpPr/>
          <p:nvPr/>
        </p:nvGrpSpPr>
        <p:grpSpPr>
          <a:xfrm>
            <a:off x="533400" y="5874068"/>
            <a:ext cx="11125200" cy="488632"/>
            <a:chOff x="533400" y="5874068"/>
            <a:chExt cx="11125200" cy="488632"/>
          </a:xfrm>
        </p:grpSpPr>
        <p:sp>
          <p:nvSpPr>
            <p:cNvPr id="43" name="Rectangle 43"/>
            <p:cNvSpPr/>
            <p:nvPr/>
          </p:nvSpPr>
          <p:spPr>
            <a:xfrm>
              <a:off x="533400" y="5874068"/>
              <a:ext cx="11125200" cy="488632"/>
            </a:xfrm>
            <a:prstGeom prst="roundRect">
              <a:avLst>
                <a:gd name="adj" fmla="val 23392"/>
              </a:avLst>
            </a:prstGeom>
            <a:solidFill>
              <a:srgbClr val="5B3FA0"/>
            </a:solidFill>
            <a:ln>
              <a:noFill/>
            </a:ln>
          </p:spPr>
        </p:sp>
        <p:grpSp>
          <p:nvGrpSpPr>
            <p:cNvPr id="46" name="Group 46"/>
            <p:cNvGrpSpPr/>
            <p:nvPr/>
          </p:nvGrpSpPr>
          <p:grpSpPr>
            <a:xfrm>
              <a:off x="738188" y="6017897"/>
              <a:ext cx="200023" cy="200023"/>
              <a:chOff x="738188" y="6017897"/>
              <a:chExt cx="200023" cy="200023"/>
            </a:xfrm>
          </p:grpSpPr>
          <p:sp>
            <p:nvSpPr>
              <p:cNvPr id="44" name="Freeform 44"/>
              <p:cNvSpPr/>
              <p:nvPr/>
            </p:nvSpPr>
            <p:spPr>
              <a:xfrm>
                <a:off x="738188" y="6017897"/>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5" name="Freeform 45"/>
              <p:cNvSpPr/>
              <p:nvPr/>
            </p:nvSpPr>
            <p:spPr>
              <a:xfrm>
                <a:off x="871538" y="6084570"/>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47" name="TextBox 47"/>
            <p:cNvSpPr txBox="1"/>
            <p:nvPr/>
          </p:nvSpPr>
          <p:spPr>
            <a:xfrm>
              <a:off x="1040892" y="6023610"/>
              <a:ext cx="5284089"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判题题眼：几个类的流程完全一样，只有当中一两步的做法不同。</a:t>
              </a:r>
            </a:p>
          </p:txBody>
        </p:sp>
      </p:grpSp>
      <p:grpSp>
        <p:nvGrpSpPr>
          <p:cNvPr id="51" name="footer"/>
          <p:cNvGrpSpPr/>
          <p:nvPr/>
        </p:nvGrpSpPr>
        <p:grpSpPr>
          <a:xfrm>
            <a:off x="528447" y="6581299"/>
            <a:ext cx="11135106" cy="190690"/>
            <a:chOff x="528447" y="6581299"/>
            <a:chExt cx="11135106" cy="190690"/>
          </a:xfrm>
        </p:grpSpPr>
        <p:sp>
          <p:nvSpPr>
            <p:cNvPr id="49" name="TextBox 49"/>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0" name="TextBox 50"/>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31</a:t>
              </a:r>
            </a:p>
          </p:txBody>
        </p:sp>
      </p:grpSp>
    </p:spTree>
  </p:cSld>
  <p:clrMapOvr>
    <a:masterClrMapping/>
  </p:clrMapOvr>
  <p:transition xmlns:p14="http://schemas.microsoft.com/office/powerpoint/2010/main" p14:dur="400">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6" name="header"/>
          <p:cNvGrpSpPr/>
          <p:nvPr/>
        </p:nvGrpSpPr>
        <p:grpSpPr>
          <a:xfrm>
            <a:off x="520446" y="342900"/>
            <a:ext cx="1399032" cy="909257"/>
            <a:chOff x="520446" y="342900"/>
            <a:chExt cx="1399032" cy="909257"/>
          </a:xfrm>
        </p:grpSpPr>
        <p:sp>
          <p:nvSpPr>
            <p:cNvPr id="2" name="Rectangle 2"/>
            <p:cNvSpPr/>
            <p:nvPr/>
          </p:nvSpPr>
          <p:spPr>
            <a:xfrm>
              <a:off x="533400" y="342900"/>
              <a:ext cx="1044892" cy="266700"/>
            </a:xfrm>
            <a:prstGeom prst="roundRect">
              <a:avLst>
                <a:gd name="adj" fmla="val 50000"/>
              </a:avLst>
            </a:prstGeom>
            <a:solidFill>
              <a:srgbClr val="EEEAF7"/>
            </a:solidFill>
            <a:ln>
              <a:noFill/>
            </a:ln>
          </p:spPr>
        </p:sp>
        <p:sp>
          <p:nvSpPr>
            <p:cNvPr id="3" name="TextBox 3"/>
            <p:cNvSpPr txBox="1"/>
            <p:nvPr/>
          </p:nvSpPr>
          <p:spPr>
            <a:xfrm>
              <a:off x="637287" y="407194"/>
              <a:ext cx="836166" cy="220028"/>
            </a:xfrm>
            <a:prstGeom prst="rect">
              <a:avLst/>
            </a:prstGeom>
            <a:noFill/>
            <a:ln>
              <a:noFill/>
            </a:ln>
          </p:spPr>
          <p:txBody>
            <a:bodyPr wrap="none" lIns="0" tIns="0" rIns="0" bIns="0" anchor="t" anchorCtr="0">
              <a:spAutoFit/>
            </a:bodyPr>
            <a:lstStyle/>
            <a:p>
              <a:pPr algn="ctr"/>
              <a:r>
                <a:rPr lang="zh-CN" sz="1120" b="1" dirty="0">
                  <a:solidFill>
                    <a:srgbClr val="5B3FA0"/>
                  </a:solidFill>
                  <a:latin typeface="+mn-lt"/>
                  <a:ea typeface="+mn-ea"/>
                  <a:cs typeface="+mn-cs"/>
                </a:rPr>
                <a:t>39 模板方法</a:t>
              </a:r>
            </a:p>
          </p:txBody>
        </p:sp>
        <p:sp>
          <p:nvSpPr>
            <p:cNvPr id="4" name="TextBox 4"/>
            <p:cNvSpPr txBox="1"/>
            <p:nvPr/>
          </p:nvSpPr>
          <p:spPr>
            <a:xfrm>
              <a:off x="520446" y="753428"/>
              <a:ext cx="1399032" cy="498729"/>
            </a:xfrm>
            <a:prstGeom prst="rect">
              <a:avLst/>
            </a:prstGeom>
            <a:noFill/>
            <a:ln>
              <a:noFill/>
            </a:ln>
          </p:spPr>
          <p:txBody>
            <a:bodyPr wrap="none" lIns="0" tIns="0" rIns="0" bIns="0" anchor="t" anchorCtr="0">
              <a:spAutoFit/>
            </a:bodyPr>
            <a:lstStyle/>
            <a:p>
              <a:pPr algn="l"/>
              <a:r>
                <a:rPr lang="zh-CN" sz="2550" b="1" dirty="0">
                  <a:solidFill>
                    <a:srgbClr val="1F2937"/>
                  </a:solidFill>
                  <a:latin typeface="+mn-lt"/>
                  <a:ea typeface="+mn-ea"/>
                  <a:cs typeface="+mn-cs"/>
                </a:rPr>
                <a:t>本讲小结</a:t>
              </a:r>
            </a:p>
          </p:txBody>
        </p:sp>
        <p:sp>
          <p:nvSpPr>
            <p:cNvPr id="5" name="Rectangle 5"/>
            <p:cNvSpPr/>
            <p:nvPr/>
          </p:nvSpPr>
          <p:spPr>
            <a:xfrm>
              <a:off x="533400" y="1181100"/>
              <a:ext cx="609600" cy="38100"/>
            </a:xfrm>
            <a:prstGeom prst="roundRect">
              <a:avLst>
                <a:gd name="adj" fmla="val 50000"/>
              </a:avLst>
            </a:prstGeom>
            <a:gradFill>
              <a:gsLst>
                <a:gs pos="0">
                  <a:srgbClr val="5B3FA0"/>
                </a:gs>
                <a:gs pos="100000">
                  <a:srgbClr val="F26B3A"/>
                </a:gs>
              </a:gsLst>
              <a:lin ang="0" scaled="1"/>
            </a:gradFill>
            <a:ln>
              <a:noFill/>
            </a:ln>
          </p:spPr>
        </p:sp>
      </p:grpSp>
      <p:grpSp>
        <p:nvGrpSpPr>
          <p:cNvPr id="22" name="c1-bullets-1"/>
          <p:cNvGrpSpPr/>
          <p:nvPr/>
        </p:nvGrpSpPr>
        <p:grpSpPr>
          <a:xfrm>
            <a:off x="533400" y="1533525"/>
            <a:ext cx="6921152" cy="1432845"/>
            <a:chOff x="533400" y="1533525"/>
            <a:chExt cx="6921152" cy="1432845"/>
          </a:xfrm>
        </p:grpSpPr>
        <p:sp>
          <p:nvSpPr>
            <p:cNvPr id="7" name="Ellipse 7"/>
            <p:cNvSpPr/>
            <p:nvPr/>
          </p:nvSpPr>
          <p:spPr>
            <a:xfrm>
              <a:off x="533400" y="1533525"/>
              <a:ext cx="180975" cy="180975"/>
            </a:xfrm>
            <a:prstGeom prst="ellipse">
              <a:avLst/>
            </a:prstGeom>
            <a:solidFill>
              <a:srgbClr val="5B3FA0"/>
            </a:solidFill>
            <a:ln>
              <a:noFill/>
            </a:ln>
          </p:spPr>
        </p:sp>
        <p:sp>
          <p:nvSpPr>
            <p:cNvPr id="8" name="TextBox 8"/>
            <p:cNvSpPr txBox="1"/>
            <p:nvPr/>
          </p:nvSpPr>
          <p:spPr>
            <a:xfrm>
              <a:off x="585307" y="156914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9" name="TextBox 9"/>
            <p:cNvSpPr txBox="1"/>
            <p:nvPr/>
          </p:nvSpPr>
          <p:spPr>
            <a:xfrm>
              <a:off x="803148" y="1545431"/>
              <a:ext cx="621624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定义：定义一个操作中算法的框架，而将一些步骤延迟到子类；属于类行为型模式</a:t>
              </a:r>
            </a:p>
          </p:txBody>
        </p:sp>
        <p:sp>
          <p:nvSpPr>
            <p:cNvPr id="10" name="Ellipse 10"/>
            <p:cNvSpPr/>
            <p:nvPr/>
          </p:nvSpPr>
          <p:spPr>
            <a:xfrm>
              <a:off x="533400" y="1826895"/>
              <a:ext cx="180975" cy="180975"/>
            </a:xfrm>
            <a:prstGeom prst="ellipse">
              <a:avLst/>
            </a:prstGeom>
            <a:solidFill>
              <a:srgbClr val="5B3FA0"/>
            </a:solidFill>
            <a:ln>
              <a:noFill/>
            </a:ln>
          </p:spPr>
        </p:sp>
        <p:sp>
          <p:nvSpPr>
            <p:cNvPr id="11" name="TextBox 11"/>
            <p:cNvSpPr txBox="1"/>
            <p:nvPr/>
          </p:nvSpPr>
          <p:spPr>
            <a:xfrm>
              <a:off x="585307" y="1862519"/>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12" name="TextBox 12"/>
            <p:cNvSpPr txBox="1"/>
            <p:nvPr/>
          </p:nvSpPr>
          <p:spPr>
            <a:xfrm>
              <a:off x="803148" y="1837849"/>
              <a:ext cx="665140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两个角色：AbstractClass 写模板方法和基本方法，ConcreteClass 只写变化的那几步</a:t>
              </a:r>
            </a:p>
          </p:txBody>
        </p:sp>
        <p:sp>
          <p:nvSpPr>
            <p:cNvPr id="13" name="Ellipse 13"/>
            <p:cNvSpPr/>
            <p:nvPr/>
          </p:nvSpPr>
          <p:spPr>
            <a:xfrm>
              <a:off x="533400" y="2120265"/>
              <a:ext cx="180975" cy="180975"/>
            </a:xfrm>
            <a:prstGeom prst="ellipse">
              <a:avLst/>
            </a:prstGeom>
            <a:solidFill>
              <a:srgbClr val="5B3FA0"/>
            </a:solidFill>
            <a:ln>
              <a:noFill/>
            </a:ln>
          </p:spPr>
        </p:sp>
        <p:sp>
          <p:nvSpPr>
            <p:cNvPr id="14" name="TextBox 14"/>
            <p:cNvSpPr txBox="1"/>
            <p:nvPr/>
          </p:nvSpPr>
          <p:spPr>
            <a:xfrm>
              <a:off x="585307" y="215588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15" name="TextBox 15"/>
            <p:cNvSpPr txBox="1"/>
            <p:nvPr/>
          </p:nvSpPr>
          <p:spPr>
            <a:xfrm>
              <a:off x="803148" y="2131219"/>
              <a:ext cx="638855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基本方法三种：抽象方法必须覆盖，具体方法直接继承，钩子方法覆不覆盖都能编译</a:t>
              </a:r>
            </a:p>
          </p:txBody>
        </p:sp>
        <p:sp>
          <p:nvSpPr>
            <p:cNvPr id="16" name="Ellipse 16"/>
            <p:cNvSpPr/>
            <p:nvPr/>
          </p:nvSpPr>
          <p:spPr>
            <a:xfrm>
              <a:off x="533400" y="2413635"/>
              <a:ext cx="180975" cy="180975"/>
            </a:xfrm>
            <a:prstGeom prst="ellipse">
              <a:avLst/>
            </a:prstGeom>
            <a:solidFill>
              <a:srgbClr val="5B3FA0"/>
            </a:solidFill>
            <a:ln>
              <a:noFill/>
            </a:ln>
          </p:spPr>
        </p:sp>
        <p:sp>
          <p:nvSpPr>
            <p:cNvPr id="17" name="TextBox 17"/>
            <p:cNvSpPr txBox="1"/>
            <p:nvPr/>
          </p:nvSpPr>
          <p:spPr>
            <a:xfrm>
              <a:off x="585307" y="244830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18" name="TextBox 18"/>
            <p:cNvSpPr txBox="1"/>
            <p:nvPr/>
          </p:nvSpPr>
          <p:spPr>
            <a:xfrm>
              <a:off x="803148" y="2424589"/>
              <a:ext cx="587161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好莱坞原则：父类调用子类，子类的钩子方法反过来约束父类流程里的某一步</a:t>
              </a:r>
            </a:p>
          </p:txBody>
        </p:sp>
        <p:sp>
          <p:nvSpPr>
            <p:cNvPr id="19" name="Ellipse 19"/>
            <p:cNvSpPr/>
            <p:nvPr/>
          </p:nvSpPr>
          <p:spPr>
            <a:xfrm>
              <a:off x="533400" y="2706052"/>
              <a:ext cx="180975" cy="180975"/>
            </a:xfrm>
            <a:prstGeom prst="ellipse">
              <a:avLst/>
            </a:prstGeom>
            <a:solidFill>
              <a:srgbClr val="5B3FA0"/>
            </a:solidFill>
            <a:ln>
              <a:noFill/>
            </a:ln>
          </p:spPr>
        </p:sp>
        <p:sp>
          <p:nvSpPr>
            <p:cNvPr id="20" name="TextBox 20"/>
            <p:cNvSpPr txBox="1"/>
            <p:nvPr/>
          </p:nvSpPr>
          <p:spPr>
            <a:xfrm>
              <a:off x="585307" y="2741676"/>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5</a:t>
              </a:r>
            </a:p>
          </p:txBody>
        </p:sp>
        <p:sp>
          <p:nvSpPr>
            <p:cNvPr id="21" name="TextBox 21"/>
            <p:cNvSpPr txBox="1"/>
            <p:nvPr/>
          </p:nvSpPr>
          <p:spPr>
            <a:xfrm>
              <a:off x="803148" y="2717006"/>
              <a:ext cx="6388557"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优点是固定部分只写一遍并符合开闭原则，代价是子类个数容易膨胀、骨架不易升级</a:t>
              </a:r>
            </a:p>
          </p:txBody>
        </p:sp>
      </p:grpSp>
      <p:grpSp>
        <p:nvGrpSpPr>
          <p:cNvPr id="28" name="c1-kv-2"/>
          <p:cNvGrpSpPr/>
          <p:nvPr/>
        </p:nvGrpSpPr>
        <p:grpSpPr>
          <a:xfrm>
            <a:off x="526923" y="3102769"/>
            <a:ext cx="11131677" cy="622744"/>
            <a:chOff x="526923" y="3102769"/>
            <a:chExt cx="11131677" cy="622744"/>
          </a:xfrm>
        </p:grpSpPr>
        <p:sp>
          <p:nvSpPr>
            <p:cNvPr id="23" name="TextBox 23"/>
            <p:cNvSpPr txBox="1"/>
            <p:nvPr/>
          </p:nvSpPr>
          <p:spPr>
            <a:xfrm>
              <a:off x="526923" y="3102769"/>
              <a:ext cx="702208" cy="249364"/>
            </a:xfrm>
            <a:prstGeom prst="rect">
              <a:avLst/>
            </a:prstGeom>
            <a:noFill/>
            <a:ln>
              <a:noFill/>
            </a:ln>
          </p:spPr>
          <p:txBody>
            <a:bodyPr wrap="none" lIns="0" tIns="0" rIns="0" bIns="0" anchor="t" anchorCtr="0">
              <a:spAutoFit/>
            </a:bodyPr>
            <a:lstStyle/>
            <a:p>
              <a:pPr algn="l"/>
              <a:r>
                <a:rPr lang="zh-CN" sz="1280" b="1" dirty="0">
                  <a:solidFill>
                    <a:srgbClr val="5B3FA0"/>
                  </a:solidFill>
                  <a:latin typeface="+mn-lt"/>
                  <a:ea typeface="+mn-ea"/>
                  <a:cs typeface="+mn-cs"/>
                </a:rPr>
                <a:t>两个实例</a:t>
              </a:r>
            </a:p>
          </p:txBody>
        </p:sp>
        <p:sp>
          <p:nvSpPr>
            <p:cNvPr id="24" name="TextBox 24"/>
            <p:cNvSpPr txBox="1"/>
            <p:nvPr/>
          </p:nvSpPr>
          <p:spPr>
            <a:xfrm>
              <a:off x="1621346" y="3102769"/>
              <a:ext cx="6542664"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银行流程取号和评分在父类、transact() 在子类；数据库模板只有 connDB() 在子类</a:t>
              </a:r>
            </a:p>
          </p:txBody>
        </p:sp>
        <p:sp>
          <p:nvSpPr>
            <p:cNvPr id="25" name="Rectangle 25"/>
            <p:cNvSpPr/>
            <p:nvPr/>
          </p:nvSpPr>
          <p:spPr>
            <a:xfrm>
              <a:off x="533400" y="3374708"/>
              <a:ext cx="11125200" cy="9525"/>
            </a:xfrm>
            <a:prstGeom prst="rect">
              <a:avLst/>
            </a:prstGeom>
            <a:solidFill>
              <a:srgbClr val="D9DFEA"/>
            </a:solidFill>
            <a:ln>
              <a:noFill/>
            </a:ln>
          </p:spPr>
        </p:sp>
        <p:sp>
          <p:nvSpPr>
            <p:cNvPr id="26" name="TextBox 26"/>
            <p:cNvSpPr txBox="1"/>
            <p:nvPr/>
          </p:nvSpPr>
          <p:spPr>
            <a:xfrm>
              <a:off x="526923" y="3476149"/>
              <a:ext cx="874522" cy="249364"/>
            </a:xfrm>
            <a:prstGeom prst="rect">
              <a:avLst/>
            </a:prstGeom>
            <a:noFill/>
            <a:ln>
              <a:noFill/>
            </a:ln>
          </p:spPr>
          <p:txBody>
            <a:bodyPr wrap="none" lIns="0" tIns="0" rIns="0" bIns="0" anchor="t" anchorCtr="0">
              <a:spAutoFit/>
            </a:bodyPr>
            <a:lstStyle/>
            <a:p>
              <a:pPr algn="l"/>
              <a:r>
                <a:rPr lang="zh-CN" sz="1280" b="1" dirty="0">
                  <a:solidFill>
                    <a:srgbClr val="5B3FA0"/>
                  </a:solidFill>
                  <a:latin typeface="+mn-lt"/>
                  <a:ea typeface="+mn-ea"/>
                  <a:cs typeface="+mn-cs"/>
                </a:rPr>
                <a:t>最近的邻居</a:t>
              </a:r>
            </a:p>
          </p:txBody>
        </p:sp>
        <p:sp>
          <p:nvSpPr>
            <p:cNvPr id="27" name="TextBox 27"/>
            <p:cNvSpPr txBox="1"/>
            <p:nvPr/>
          </p:nvSpPr>
          <p:spPr>
            <a:xfrm>
              <a:off x="1621346" y="3476149"/>
              <a:ext cx="576822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策略（第 38 讲）换整个算法，工厂方法（第 11 讲）是只剩一步的模板方法</a:t>
              </a:r>
            </a:p>
          </p:txBody>
        </p:sp>
      </p:grpSp>
      <p:grpSp>
        <p:nvGrpSpPr>
          <p:cNvPr id="46" name="c1-card-3"/>
          <p:cNvGrpSpPr/>
          <p:nvPr/>
        </p:nvGrpSpPr>
        <p:grpSpPr>
          <a:xfrm>
            <a:off x="533400" y="3840480"/>
            <a:ext cx="11125200" cy="1883092"/>
            <a:chOff x="533400" y="3840480"/>
            <a:chExt cx="11125200" cy="1883092"/>
          </a:xfrm>
        </p:grpSpPr>
        <p:sp>
          <p:nvSpPr>
            <p:cNvPr id="29" name="Rectangle 29"/>
            <p:cNvSpPr/>
            <p:nvPr/>
          </p:nvSpPr>
          <p:spPr>
            <a:xfrm>
              <a:off x="533400" y="3840480"/>
              <a:ext cx="11125200" cy="1883092"/>
            </a:xfrm>
            <a:prstGeom prst="roundRect">
              <a:avLst>
                <a:gd name="adj" fmla="val 7081"/>
              </a:avLst>
            </a:prstGeom>
            <a:solidFill>
              <a:srgbClr val="FFFFFF"/>
            </a:solidFill>
            <a:ln w="14288">
              <a:solidFill>
                <a:srgbClr val="D9DFEA"/>
              </a:solidFill>
            </a:ln>
          </p:spPr>
        </p:sp>
        <p:sp>
          <p:nvSpPr>
            <p:cNvPr id="30" name="Rectangle 30"/>
            <p:cNvSpPr/>
            <p:nvPr/>
          </p:nvSpPr>
          <p:spPr>
            <a:xfrm>
              <a:off x="542925" y="3973830"/>
              <a:ext cx="47625" cy="1616392"/>
            </a:xfrm>
            <a:prstGeom prst="roundRect">
              <a:avLst>
                <a:gd name="adj" fmla="val 50000"/>
              </a:avLst>
            </a:prstGeom>
            <a:solidFill>
              <a:srgbClr val="5B6475"/>
            </a:solidFill>
            <a:ln>
              <a:noFill/>
            </a:ln>
          </p:spPr>
        </p:sp>
        <p:sp>
          <p:nvSpPr>
            <p:cNvPr id="31" name="Rectangle 31"/>
            <p:cNvSpPr/>
            <p:nvPr/>
          </p:nvSpPr>
          <p:spPr>
            <a:xfrm>
              <a:off x="752475" y="4021455"/>
              <a:ext cx="707708" cy="238125"/>
            </a:xfrm>
            <a:prstGeom prst="roundRect">
              <a:avLst>
                <a:gd name="adj" fmla="val 50000"/>
              </a:avLst>
            </a:prstGeom>
            <a:solidFill>
              <a:srgbClr val="F4F6FB"/>
            </a:solidFill>
            <a:ln>
              <a:noFill/>
            </a:ln>
          </p:spPr>
        </p:sp>
        <p:sp>
          <p:nvSpPr>
            <p:cNvPr id="32" name="TextBox 32"/>
            <p:cNvSpPr txBox="1"/>
            <p:nvPr/>
          </p:nvSpPr>
          <p:spPr>
            <a:xfrm>
              <a:off x="837044" y="4054316"/>
              <a:ext cx="537616" cy="190690"/>
            </a:xfrm>
            <a:prstGeom prst="rect">
              <a:avLst/>
            </a:prstGeom>
            <a:noFill/>
            <a:ln>
              <a:noFill/>
            </a:ln>
          </p:spPr>
          <p:txBody>
            <a:bodyPr wrap="none" lIns="0" tIns="0" rIns="0" bIns="0" anchor="t" anchorCtr="0">
              <a:spAutoFit/>
            </a:bodyPr>
            <a:lstStyle/>
            <a:p>
              <a:pPr algn="ctr"/>
              <a:r>
                <a:rPr lang="zh-CN" sz="980" b="1" dirty="0">
                  <a:solidFill>
                    <a:srgbClr val="5B6475"/>
                  </a:solidFill>
                  <a:latin typeface="+mn-lt"/>
                  <a:ea typeface="+mn-ea"/>
                  <a:cs typeface="+mn-cs"/>
                </a:rPr>
                <a:t>更正汇总</a:t>
              </a:r>
            </a:p>
          </p:txBody>
        </p:sp>
        <p:sp>
          <p:nvSpPr>
            <p:cNvPr id="33" name="TextBox 33"/>
            <p:cNvSpPr txBox="1"/>
            <p:nvPr/>
          </p:nvSpPr>
          <p:spPr>
            <a:xfrm>
              <a:off x="1568006" y="4060984"/>
              <a:ext cx="1736090" cy="249364"/>
            </a:xfrm>
            <a:prstGeom prst="rect">
              <a:avLst/>
            </a:prstGeom>
            <a:noFill/>
            <a:ln>
              <a:noFill/>
            </a:ln>
          </p:spPr>
          <p:txBody>
            <a:bodyPr wrap="none" lIns="0" tIns="0" rIns="0" bIns="0" anchor="t" anchorCtr="0">
              <a:spAutoFit/>
            </a:bodyPr>
            <a:lstStyle/>
            <a:p>
              <a:pPr algn="l"/>
              <a:r>
                <a:rPr lang="zh-CN" sz="1280" b="1" dirty="0">
                  <a:solidFill>
                    <a:srgbClr val="1F2937"/>
                  </a:solidFill>
                  <a:latin typeface="+mn-lt"/>
                  <a:ea typeface="+mn-ea"/>
                  <a:cs typeface="+mn-cs"/>
                </a:rPr>
                <a:t>本讲订正的源课件问题</a:t>
              </a:r>
            </a:p>
          </p:txBody>
        </p:sp>
        <p:sp>
          <p:nvSpPr>
            <p:cNvPr id="34" name="Ellipse 34"/>
            <p:cNvSpPr/>
            <p:nvPr/>
          </p:nvSpPr>
          <p:spPr>
            <a:xfrm>
              <a:off x="752475" y="4366260"/>
              <a:ext cx="180975" cy="180975"/>
            </a:xfrm>
            <a:prstGeom prst="ellipse">
              <a:avLst/>
            </a:prstGeom>
            <a:solidFill>
              <a:srgbClr val="5B3FA0"/>
            </a:solidFill>
            <a:ln>
              <a:noFill/>
            </a:ln>
          </p:spPr>
        </p:sp>
        <p:sp>
          <p:nvSpPr>
            <p:cNvPr id="35" name="TextBox 35"/>
            <p:cNvSpPr txBox="1"/>
            <p:nvPr/>
          </p:nvSpPr>
          <p:spPr>
            <a:xfrm>
              <a:off x="804382" y="4401884"/>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1</a:t>
              </a:r>
            </a:p>
          </p:txBody>
        </p:sp>
        <p:sp>
          <p:nvSpPr>
            <p:cNvPr id="36" name="TextBox 36"/>
            <p:cNvSpPr txBox="1"/>
            <p:nvPr/>
          </p:nvSpPr>
          <p:spPr>
            <a:xfrm>
              <a:off x="1022223" y="4378166"/>
              <a:ext cx="923498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张欣佳第 8 页结构图里子类列的是 </a:t>
              </a:r>
              <a:r>
                <a:rPr lang="en-US" sz="1280" dirty="0">
                  <a:solidFill>
                    <a:srgbClr val="462F80"/>
                  </a:solidFill>
                  <a:latin typeface="+mn-lt"/>
                  <a:ea typeface="+mn-ea"/>
                  <a:cs typeface="+mn-cs"/>
                </a:rPr>
                <a:t>primitiveOperation1/2</a:t>
              </a:r>
              <a:r>
                <a:rPr lang="zh-CN" sz="1280" dirty="0">
                  <a:solidFill>
                    <a:srgbClr val="1F2937"/>
                  </a:solidFill>
                  <a:latin typeface="+mn-lt"/>
                  <a:ea typeface="+mn-ea"/>
                  <a:cs typeface="+mn-cs"/>
                </a:rPr>
                <a:t xml:space="preserve">，与第 15、16 页代码对不上，应为 </a:t>
              </a:r>
              <a:r>
                <a:rPr lang="en-US" sz="1280" dirty="0">
                  <a:solidFill>
                    <a:srgbClr val="462F80"/>
                  </a:solidFill>
                  <a:latin typeface="+mn-lt"/>
                  <a:ea typeface="+mn-ea"/>
                  <a:cs typeface="+mn-cs"/>
                </a:rPr>
                <a:t>primitiveOperation2/3</a:t>
              </a:r>
            </a:p>
          </p:txBody>
        </p:sp>
        <p:sp>
          <p:nvSpPr>
            <p:cNvPr id="37" name="Ellipse 37"/>
            <p:cNvSpPr/>
            <p:nvPr/>
          </p:nvSpPr>
          <p:spPr>
            <a:xfrm>
              <a:off x="752475" y="4652010"/>
              <a:ext cx="180975" cy="180975"/>
            </a:xfrm>
            <a:prstGeom prst="ellipse">
              <a:avLst/>
            </a:prstGeom>
            <a:solidFill>
              <a:srgbClr val="5B3FA0"/>
            </a:solidFill>
            <a:ln>
              <a:noFill/>
            </a:ln>
          </p:spPr>
        </p:sp>
        <p:sp>
          <p:nvSpPr>
            <p:cNvPr id="38" name="TextBox 38"/>
            <p:cNvSpPr txBox="1"/>
            <p:nvPr/>
          </p:nvSpPr>
          <p:spPr>
            <a:xfrm>
              <a:off x="804382" y="468668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2</a:t>
              </a:r>
            </a:p>
          </p:txBody>
        </p:sp>
        <p:sp>
          <p:nvSpPr>
            <p:cNvPr id="39" name="TextBox 39"/>
            <p:cNvSpPr txBox="1"/>
            <p:nvPr/>
          </p:nvSpPr>
          <p:spPr>
            <a:xfrm>
              <a:off x="1022223" y="4662964"/>
              <a:ext cx="6611618"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张欣佳第 13 页钩子 </a:t>
              </a:r>
              <a:r>
                <a:rPr lang="en-US" sz="1280" dirty="0">
                  <a:solidFill>
                    <a:srgbClr val="462F80"/>
                  </a:solidFill>
                  <a:latin typeface="+mn-lt"/>
                  <a:ea typeface="+mn-ea"/>
                  <a:cs typeface="+mn-cs"/>
                </a:rPr>
                <a:t>public bool IsPrint()</a:t>
              </a:r>
              <a:r>
                <a:rPr lang="zh-CN" sz="1280" dirty="0">
                  <a:solidFill>
                    <a:srgbClr val="1F2937"/>
                  </a:solidFill>
                  <a:latin typeface="+mn-lt"/>
                  <a:ea typeface="+mn-ea"/>
                  <a:cs typeface="+mn-cs"/>
                </a:rPr>
                <a:t xml:space="preserve"> 少了 </a:t>
              </a:r>
              <a:r>
                <a:rPr lang="en-US" sz="1280" dirty="0">
                  <a:solidFill>
                    <a:srgbClr val="462F80"/>
                  </a:solidFill>
                  <a:latin typeface="+mn-lt"/>
                  <a:ea typeface="+mn-ea"/>
                  <a:cs typeface="+mn-cs"/>
                </a:rPr>
                <a:t>virtual</a:t>
              </a:r>
              <a:r>
                <a:rPr lang="zh-CN" sz="1280" dirty="0">
                  <a:solidFill>
                    <a:srgbClr val="1F2937"/>
                  </a:solidFill>
                  <a:latin typeface="+mn-lt"/>
                  <a:ea typeface="+mn-ea"/>
                  <a:cs typeface="+mn-cs"/>
                </a:rPr>
                <a:t>，C# 子类覆盖不了，钩子失效</a:t>
              </a:r>
            </a:p>
          </p:txBody>
        </p:sp>
        <p:sp>
          <p:nvSpPr>
            <p:cNvPr id="40" name="Ellipse 40"/>
            <p:cNvSpPr/>
            <p:nvPr/>
          </p:nvSpPr>
          <p:spPr>
            <a:xfrm>
              <a:off x="752475" y="4936808"/>
              <a:ext cx="180975" cy="180975"/>
            </a:xfrm>
            <a:prstGeom prst="ellipse">
              <a:avLst/>
            </a:prstGeom>
            <a:solidFill>
              <a:srgbClr val="5B3FA0"/>
            </a:solidFill>
            <a:ln>
              <a:noFill/>
            </a:ln>
          </p:spPr>
        </p:sp>
        <p:sp>
          <p:nvSpPr>
            <p:cNvPr id="41" name="TextBox 41"/>
            <p:cNvSpPr txBox="1"/>
            <p:nvPr/>
          </p:nvSpPr>
          <p:spPr>
            <a:xfrm>
              <a:off x="804382" y="4972431"/>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3</a:t>
              </a:r>
            </a:p>
          </p:txBody>
        </p:sp>
        <p:sp>
          <p:nvSpPr>
            <p:cNvPr id="42" name="TextBox 42"/>
            <p:cNvSpPr txBox="1"/>
            <p:nvPr/>
          </p:nvSpPr>
          <p:spPr>
            <a:xfrm>
              <a:off x="1022223" y="4947761"/>
              <a:ext cx="6853473"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张欣佳第 28 页 </a:t>
              </a:r>
              <a:r>
                <a:rPr lang="en-US" sz="1280" dirty="0">
                  <a:solidFill>
                    <a:srgbClr val="462F80"/>
                  </a:solidFill>
                  <a:latin typeface="+mn-lt"/>
                  <a:ea typeface="+mn-ea"/>
                  <a:cs typeface="+mn-cs"/>
                </a:rPr>
                <a:t>CPaintDCdc(this);</a:t>
              </a:r>
              <a:r>
                <a:rPr lang="zh-CN" sz="1280" dirty="0">
                  <a:solidFill>
                    <a:srgbClr val="1F2937"/>
                  </a:solidFill>
                  <a:latin typeface="+mn-lt"/>
                  <a:ea typeface="+mn-ea"/>
                  <a:cs typeface="+mn-cs"/>
                </a:rPr>
                <a:t xml:space="preserve"> 缺空格；类定义体内不能写 </a:t>
              </a:r>
              <a:r>
                <a:rPr lang="en-US" sz="1280" dirty="0">
                  <a:solidFill>
                    <a:srgbClr val="462F80"/>
                  </a:solidFill>
                  <a:latin typeface="+mn-lt"/>
                  <a:ea typeface="+mn-ea"/>
                  <a:cs typeface="+mn-cs"/>
                </a:rPr>
                <a:t>void CView::OnPaint()</a:t>
              </a:r>
            </a:p>
          </p:txBody>
        </p:sp>
        <p:sp>
          <p:nvSpPr>
            <p:cNvPr id="43" name="Ellipse 43"/>
            <p:cNvSpPr/>
            <p:nvPr/>
          </p:nvSpPr>
          <p:spPr>
            <a:xfrm>
              <a:off x="752475" y="5221605"/>
              <a:ext cx="180975" cy="180975"/>
            </a:xfrm>
            <a:prstGeom prst="ellipse">
              <a:avLst/>
            </a:prstGeom>
            <a:solidFill>
              <a:srgbClr val="5B3FA0"/>
            </a:solidFill>
            <a:ln>
              <a:noFill/>
            </a:ln>
          </p:spPr>
        </p:sp>
        <p:sp>
          <p:nvSpPr>
            <p:cNvPr id="44" name="TextBox 44"/>
            <p:cNvSpPr txBox="1"/>
            <p:nvPr/>
          </p:nvSpPr>
          <p:spPr>
            <a:xfrm>
              <a:off x="804382" y="5257228"/>
              <a:ext cx="77161" cy="170498"/>
            </a:xfrm>
            <a:prstGeom prst="rect">
              <a:avLst/>
            </a:prstGeom>
            <a:noFill/>
            <a:ln>
              <a:noFill/>
            </a:ln>
          </p:spPr>
          <p:txBody>
            <a:bodyPr wrap="none" lIns="0" tIns="0" rIns="0" bIns="0" anchor="t" anchorCtr="0">
              <a:spAutoFit/>
            </a:bodyPr>
            <a:lstStyle/>
            <a:p>
              <a:pPr algn="ctr"/>
              <a:r>
                <a:rPr lang="zh-CN" sz="870" b="1" dirty="0">
                  <a:solidFill>
                    <a:srgbClr val="FFFFFF"/>
                  </a:solidFill>
                  <a:latin typeface="+mn-lt"/>
                  <a:ea typeface="+mn-ea"/>
                  <a:cs typeface="+mn-cs"/>
                </a:rPr>
                <a:t>4</a:t>
              </a:r>
            </a:p>
          </p:txBody>
        </p:sp>
        <p:sp>
          <p:nvSpPr>
            <p:cNvPr id="45" name="TextBox 45"/>
            <p:cNvSpPr txBox="1"/>
            <p:nvPr/>
          </p:nvSpPr>
          <p:spPr>
            <a:xfrm>
              <a:off x="1022223" y="5232559"/>
              <a:ext cx="6939726" cy="249364"/>
            </a:xfrm>
            <a:prstGeom prst="rect">
              <a:avLst/>
            </a:prstGeom>
            <a:noFill/>
            <a:ln>
              <a:noFill/>
            </a:ln>
          </p:spPr>
          <p:txBody>
            <a:bodyPr wrap="none" lIns="0" tIns="0" rIns="0" bIns="0" anchor="t" anchorCtr="0">
              <a:spAutoFit/>
            </a:bodyPr>
            <a:lstStyle/>
            <a:p>
              <a:pPr algn="l"/>
              <a:r>
                <a:rPr lang="zh-CN" sz="1280" dirty="0">
                  <a:solidFill>
                    <a:srgbClr val="1F2937"/>
                  </a:solidFill>
                  <a:latin typeface="+mn-lt"/>
                  <a:ea typeface="+mn-ea"/>
                  <a:cs typeface="+mn-cs"/>
                </a:rPr>
                <a:t xml:space="preserve">陈伟第 3 页 </a:t>
              </a:r>
              <a:r>
                <a:rPr lang="zh-CN" sz="1280" dirty="0">
                  <a:solidFill>
                    <a:srgbClr val="462F80"/>
                  </a:solidFill>
                  <a:latin typeface="+mn-lt"/>
                  <a:ea typeface="+mn-ea"/>
                  <a:cs typeface="+mn-cs"/>
                </a:rPr>
                <a:t>class MyProcessFile：public ProcessFile</a:t>
              </a:r>
              <a:r>
                <a:rPr lang="zh-CN" sz="1280" dirty="0">
                  <a:solidFill>
                    <a:srgbClr val="1F2937"/>
                  </a:solidFill>
                  <a:latin typeface="+mn-lt"/>
                  <a:ea typeface="+mn-ea"/>
                  <a:cs typeface="+mn-cs"/>
                </a:rPr>
                <a:t xml:space="preserve"> 用全角冒号，且类头后缺左花括号</a:t>
              </a:r>
            </a:p>
          </p:txBody>
        </p:sp>
      </p:grpSp>
      <p:grpSp>
        <p:nvGrpSpPr>
          <p:cNvPr id="52" name="takeaway"/>
          <p:cNvGrpSpPr/>
          <p:nvPr/>
        </p:nvGrpSpPr>
        <p:grpSpPr>
          <a:xfrm>
            <a:off x="533400" y="5895022"/>
            <a:ext cx="11125200" cy="467678"/>
            <a:chOff x="533400" y="5895022"/>
            <a:chExt cx="11125200" cy="467678"/>
          </a:xfrm>
        </p:grpSpPr>
        <p:sp>
          <p:nvSpPr>
            <p:cNvPr id="47" name="Rectangle 47"/>
            <p:cNvSpPr/>
            <p:nvPr/>
          </p:nvSpPr>
          <p:spPr>
            <a:xfrm>
              <a:off x="533400" y="5895022"/>
              <a:ext cx="11125200" cy="467678"/>
            </a:xfrm>
            <a:prstGeom prst="roundRect">
              <a:avLst>
                <a:gd name="adj" fmla="val 24440"/>
              </a:avLst>
            </a:prstGeom>
            <a:solidFill>
              <a:srgbClr val="5B3FA0"/>
            </a:solidFill>
            <a:ln>
              <a:noFill/>
            </a:ln>
          </p:spPr>
        </p:sp>
        <p:grpSp>
          <p:nvGrpSpPr>
            <p:cNvPr id="50" name="Group 50"/>
            <p:cNvGrpSpPr/>
            <p:nvPr/>
          </p:nvGrpSpPr>
          <p:grpSpPr>
            <a:xfrm>
              <a:off x="738188" y="6028375"/>
              <a:ext cx="200023" cy="200023"/>
              <a:chOff x="738188" y="6028375"/>
              <a:chExt cx="200023" cy="200023"/>
            </a:xfrm>
          </p:grpSpPr>
          <p:sp>
            <p:nvSpPr>
              <p:cNvPr id="48" name="Freeform 48"/>
              <p:cNvSpPr/>
              <p:nvPr/>
            </p:nvSpPr>
            <p:spPr>
              <a:xfrm>
                <a:off x="738188" y="6028375"/>
                <a:ext cx="200023" cy="200023"/>
              </a:xfrm>
              <a:custGeom>
                <a:avLst/>
                <a:gdLst/>
                <a:ahLst/>
                <a:cxnLst/>
                <a:rect l="l" t="t" r="r" b="b"/>
                <a:pathLst>
                  <a:path w="200023" h="200023">
                    <a:moveTo>
                      <a:pt x="150630" y="9366"/>
                    </a:moveTo>
                    <a:lnTo>
                      <a:pt x="190658" y="49393"/>
                    </a:lnTo>
                    <a:cubicBezTo>
                      <a:pt x="196654" y="55389"/>
                      <a:pt x="200023" y="63522"/>
                      <a:pt x="200023" y="72002"/>
                    </a:cubicBezTo>
                    <a:cubicBezTo>
                      <a:pt x="200023" y="80482"/>
                      <a:pt x="196654" y="88614"/>
                      <a:pt x="190658" y="94610"/>
                    </a:cubicBezTo>
                    <a:lnTo>
                      <a:pt x="161287" y="123980"/>
                    </a:lnTo>
                    <a:cubicBezTo>
                      <a:pt x="155291" y="129977"/>
                      <a:pt x="147159" y="133346"/>
                      <a:pt x="138679" y="133346"/>
                    </a:cubicBezTo>
                    <a:cubicBezTo>
                      <a:pt x="130199" y="133346"/>
                      <a:pt x="122066" y="129977"/>
                      <a:pt x="116070" y="123980"/>
                    </a:cubicBezTo>
                    <a:lnTo>
                      <a:pt x="112726" y="120636"/>
                    </a:lnTo>
                    <a:lnTo>
                      <a:pt x="39850" y="193511"/>
                    </a:lnTo>
                    <a:cubicBezTo>
                      <a:pt x="36157" y="197203"/>
                      <a:pt x="31283" y="199477"/>
                      <a:pt x="26081" y="199935"/>
                    </a:cubicBezTo>
                    <a:lnTo>
                      <a:pt x="24136" y="200023"/>
                    </a:lnTo>
                    <a:lnTo>
                      <a:pt x="11113" y="200023"/>
                    </a:lnTo>
                    <a:cubicBezTo>
                      <a:pt x="5479" y="200023"/>
                      <a:pt x="737" y="195806"/>
                      <a:pt x="78" y="190211"/>
                    </a:cubicBezTo>
                    <a:lnTo>
                      <a:pt x="0" y="188911"/>
                    </a:lnTo>
                    <a:lnTo>
                      <a:pt x="0" y="175887"/>
                    </a:lnTo>
                    <a:cubicBezTo>
                      <a:pt x="1" y="170669"/>
                      <a:pt x="1838" y="165618"/>
                      <a:pt x="5190" y="161619"/>
                    </a:cubicBezTo>
                    <a:lnTo>
                      <a:pt x="6512" y="160174"/>
                    </a:lnTo>
                    <a:lnTo>
                      <a:pt x="11113" y="155573"/>
                    </a:lnTo>
                    <a:lnTo>
                      <a:pt x="33338" y="155573"/>
                    </a:lnTo>
                    <a:lnTo>
                      <a:pt x="33338" y="133348"/>
                    </a:lnTo>
                    <a:lnTo>
                      <a:pt x="55563" y="133348"/>
                    </a:lnTo>
                    <a:lnTo>
                      <a:pt x="55563" y="111123"/>
                    </a:lnTo>
                    <a:lnTo>
                      <a:pt x="79388" y="87298"/>
                    </a:lnTo>
                    <a:lnTo>
                      <a:pt x="76043" y="83953"/>
                    </a:lnTo>
                    <a:cubicBezTo>
                      <a:pt x="70046" y="77957"/>
                      <a:pt x="66677" y="69825"/>
                      <a:pt x="66677" y="61345"/>
                    </a:cubicBezTo>
                    <a:cubicBezTo>
                      <a:pt x="66677" y="52865"/>
                      <a:pt x="70046" y="44732"/>
                      <a:pt x="76043" y="38736"/>
                    </a:cubicBezTo>
                    <a:lnTo>
                      <a:pt x="105413" y="9366"/>
                    </a:lnTo>
                    <a:cubicBezTo>
                      <a:pt x="111409" y="3369"/>
                      <a:pt x="119542" y="0"/>
                      <a:pt x="128022" y="0"/>
                    </a:cubicBezTo>
                    <a:cubicBezTo>
                      <a:pt x="136502" y="0"/>
                      <a:pt x="144635" y="3369"/>
                      <a:pt x="150630" y="9366"/>
                    </a:cubicBezTo>
                  </a:path>
                </a:pathLst>
              </a:custGeom>
              <a:noFill/>
              <a:ln w="22225">
                <a:solidFill>
                  <a:srgbClr val="FFFFFF"/>
                </a:solidFill>
              </a:ln>
            </p:spPr>
          </p:sp>
          <p:sp>
            <p:nvSpPr>
              <p:cNvPr id="49" name="Freeform 49"/>
              <p:cNvSpPr/>
              <p:nvPr/>
            </p:nvSpPr>
            <p:spPr>
              <a:xfrm>
                <a:off x="871538" y="6095048"/>
                <a:ext cx="9525" cy="9525"/>
              </a:xfrm>
              <a:custGeom>
                <a:avLst/>
                <a:gdLst/>
                <a:ahLst/>
                <a:cxnLst/>
                <a:rect l="l" t="t" r="r" b="b"/>
                <a:pathLst>
                  <a:path w="9525" h="9525">
                    <a:moveTo>
                      <a:pt x="0" y="0"/>
                    </a:moveTo>
                    <a:lnTo>
                      <a:pt x="111" y="0"/>
                    </a:lnTo>
                  </a:path>
                </a:pathLst>
              </a:custGeom>
              <a:noFill/>
              <a:ln w="22225">
                <a:solidFill>
                  <a:srgbClr val="FFFFFF"/>
                </a:solidFill>
              </a:ln>
            </p:spPr>
          </p:sp>
        </p:grpSp>
        <p:sp>
          <p:nvSpPr>
            <p:cNvPr id="51" name="TextBox 51"/>
            <p:cNvSpPr txBox="1"/>
            <p:nvPr/>
          </p:nvSpPr>
          <p:spPr>
            <a:xfrm>
              <a:off x="1041273" y="6039326"/>
              <a:ext cx="5699303" cy="249364"/>
            </a:xfrm>
            <a:prstGeom prst="rect">
              <a:avLst/>
            </a:prstGeom>
            <a:noFill/>
            <a:ln>
              <a:noFill/>
            </a:ln>
          </p:spPr>
          <p:txBody>
            <a:bodyPr wrap="none" lIns="0" tIns="0" rIns="0" bIns="0" anchor="t" anchorCtr="0">
              <a:spAutoFit/>
            </a:bodyPr>
            <a:lstStyle/>
            <a:p>
              <a:pPr algn="l"/>
              <a:r>
                <a:rPr lang="zh-CN" sz="1280" dirty="0">
                  <a:solidFill>
                    <a:srgbClr val="FFFFFF"/>
                  </a:solidFill>
                  <a:latin typeface="+mn-lt"/>
                  <a:ea typeface="+mn-ea"/>
                  <a:cs typeface="+mn-cs"/>
                </a:rPr>
                <a:t>本质是固定算法骨架。骨架放父类，变化留给子类，可选的部分留成钩子。</a:t>
              </a:r>
            </a:p>
          </p:txBody>
        </p:sp>
      </p:grpSp>
      <p:grpSp>
        <p:nvGrpSpPr>
          <p:cNvPr id="55" name="footer"/>
          <p:cNvGrpSpPr/>
          <p:nvPr/>
        </p:nvGrpSpPr>
        <p:grpSpPr>
          <a:xfrm>
            <a:off x="528447" y="6581299"/>
            <a:ext cx="11135106" cy="190690"/>
            <a:chOff x="528447" y="6581299"/>
            <a:chExt cx="11135106" cy="190690"/>
          </a:xfrm>
        </p:grpSpPr>
        <p:sp>
          <p:nvSpPr>
            <p:cNvPr id="53" name="TextBox 53"/>
            <p:cNvSpPr txBox="1"/>
            <p:nvPr/>
          </p:nvSpPr>
          <p:spPr>
            <a:xfrm>
              <a:off x="528447" y="6581299"/>
              <a:ext cx="1744754" cy="190690"/>
            </a:xfrm>
            <a:prstGeom prst="rect">
              <a:avLst/>
            </a:prstGeom>
            <a:noFill/>
            <a:ln>
              <a:noFill/>
            </a:ln>
          </p:spPr>
          <p:txBody>
            <a:bodyPr wrap="none" lIns="0" tIns="0" rIns="0" bIns="0" anchor="t" anchorCtr="0">
              <a:spAutoFit/>
            </a:bodyPr>
            <a:lstStyle/>
            <a:p>
              <a:pPr algn="l"/>
              <a:r>
                <a:rPr lang="zh-CN" sz="980" dirty="0">
                  <a:solidFill>
                    <a:srgbClr val="5B6475"/>
                  </a:solidFill>
                  <a:latin typeface="+mn-lt"/>
                  <a:ea typeface="+mn-ea"/>
                  <a:cs typeface="+mn-cs"/>
                </a:rPr>
                <a:t>软件设计模式 · 模板方法模式</a:t>
              </a:r>
            </a:p>
          </p:txBody>
        </p:sp>
        <p:sp>
          <p:nvSpPr>
            <p:cNvPr id="54" name="TextBox 54"/>
            <p:cNvSpPr txBox="1"/>
            <p:nvPr/>
          </p:nvSpPr>
          <p:spPr>
            <a:xfrm>
              <a:off x="11508527" y="6581299"/>
              <a:ext cx="155026" cy="190690"/>
            </a:xfrm>
            <a:prstGeom prst="rect">
              <a:avLst/>
            </a:prstGeom>
            <a:noFill/>
            <a:ln>
              <a:noFill/>
            </a:ln>
          </p:spPr>
          <p:txBody>
            <a:bodyPr wrap="none" lIns="0" tIns="0" rIns="0" bIns="0" anchor="t" anchorCtr="0">
              <a:spAutoFit/>
            </a:bodyPr>
            <a:lstStyle/>
            <a:p>
              <a:pPr algn="r"/>
              <a:r>
                <a:rPr lang="zh-CN" sz="980" dirty="0">
                  <a:solidFill>
                    <a:srgbClr val="5B6475"/>
                  </a:solidFill>
                  <a:latin typeface="+mn-lt"/>
                  <a:ea typeface="+mn-ea"/>
                  <a:cs typeface="+mn-cs"/>
                </a:rPr>
                <a:t>32</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sdp_39">
  <a:themeElements>
    <a:clrScheme name="sdp_39">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dp_39">
      <a:maj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Microsoft YaHei"/>
        <a:ea typeface="Microsoft YaHei"/>
        <a:cs typeface="Microsoft YaHei"/>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dp_3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32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2026-09-19T09:34:12Z</dcterms:created>
  <dcterms:modified xsi:type="dcterms:W3CDTF">2026-09-19T09:34:12Z</dcterms:modified>
  <cp:category/>
  <cp:contentStatus/>
</cp:coreProperties>
</file>