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d1d224fef9cb7e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d1d224fef9cb7e2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a281961efaa4091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ea601d2935b6346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第二十六讲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一件事有好几种做法，运行时换一种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行为的变化怎么封装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三个角色与一条聚合线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排序出行出牌三个实例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与状态模式的分界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行为的变化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接口在变还是实现在变，继承为什么扛不住多维变化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三个角色，一条从环境类指向抽象策略的聚合线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四段典型代码，策略怎么注入，数据怎么传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排序策略、旅游出行策略、扑克牌出牌策略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98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SE 的布局管理器，以及 JDK 里的其它策略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优缺点、适用场景，与状态和模板方法的分界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画出策略模式类图，聚合菱形在环境类一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端、空心三角在抽象策略一端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40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写出抽象策略、具体策略、环境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类，以及注入策略的客户端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拿到一段用 if-else 选算法的代码，能把它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改写成策略模式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说清策略与状态、模板方法、装饰的分界，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不把凡是能换的都叫策略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记住策略模式不负责选算法，选哪一个由客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户端决定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行为的变化与策略的由来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先看清行为为什么会变，旧写法又卡在哪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接口的变化与实现的变化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继承应对多维变化的代价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扑克牌与排序两个动机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两类变化：接口在变，还是实现在变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78573" cy="278702"/>
            <a:chOff x="526161" y="1547336"/>
            <a:chExt cx="72785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陈伟老师《行为的变化》一讲的开场。先把变化分清楚，才知道每个模式在管哪一种。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41195"/>
            <a:ext cx="5410200" cy="1877378"/>
            <a:chOff x="533400" y="1941195"/>
            <a:chExt cx="5410200" cy="187737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877378"/>
            </a:xfrm>
            <a:prstGeom prst="roundRect">
              <a:avLst>
                <a:gd name="adj" fmla="val 7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61067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接口的变化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5641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50793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功能的增加：给类添一个新方法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28670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81082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功能的减少：面向对象做不到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16896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31127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参数个数及类型的变化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347186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341566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可访问性的变化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993832"/>
            <a:ext cx="5410200" cy="1529715"/>
            <a:chOff x="533400" y="3993832"/>
            <a:chExt cx="5410200" cy="1529715"/>
          </a:xfrm>
        </p:grpSpPr>
        <p:sp>
          <p:nvSpPr>
            <p:cNvPr id="23" name="Rectangle 23"/>
            <p:cNvSpPr/>
            <p:nvPr/>
          </p:nvSpPr>
          <p:spPr>
            <a:xfrm>
              <a:off x="533400" y="3993832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127182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18623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5345" y="4220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47597" y="4226242"/>
              <a:ext cx="3831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原课件写的“功能的减少(OO不支持)”说得含混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456057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子类可以把父类的方法覆盖成空实现或者直接抛异常，但父类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声明过的方法仍然留在子类的接口里，调用方照样能调到。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11968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准确的说法是：用派生子类删不掉父类已有的方法。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941195"/>
            <a:ext cx="5410200" cy="1272540"/>
            <a:chOff x="6248400" y="1941195"/>
            <a:chExt cx="5410200" cy="1272540"/>
          </a:xfrm>
        </p:grpSpPr>
        <p:sp>
          <p:nvSpPr>
            <p:cNvPr id="31" name="Rectangle 31"/>
            <p:cNvSpPr/>
            <p:nvPr/>
          </p:nvSpPr>
          <p:spPr>
            <a:xfrm>
              <a:off x="6248400" y="1941195"/>
              <a:ext cx="541020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2074545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6345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另一类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5947" y="21736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实现的变化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7478" y="25641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3497" y="250793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数据表示的变化：数据的类型、数量、可访问性、组织形式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7478" y="28670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3497" y="2810827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行为的变化：方法签名不动，只换方法体里的做法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248400" y="3388995"/>
            <a:ext cx="5410200" cy="2023110"/>
            <a:chOff x="6248400" y="3388995"/>
            <a:chExt cx="5410200" cy="2023110"/>
          </a:xfrm>
        </p:grpSpPr>
        <p:sp>
          <p:nvSpPr>
            <p:cNvPr id="41" name="Rectangle 41"/>
            <p:cNvSpPr/>
            <p:nvPr/>
          </p:nvSpPr>
          <p:spPr>
            <a:xfrm>
              <a:off x="6248400" y="3388995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01892" y="35132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课件里的改动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16556" y="35132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具体是什么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10126" y="35132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属于哪一类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48412" y="3919061"/>
              <a:ext cx="9463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One 加一个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doIt2()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1472" y="401907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类多出一个公开方法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26968" y="40190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接口的变化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395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440055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8412" y="4524851"/>
              <a:ext cx="126740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One 加一个 Two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类型的字段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71472" y="46248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类多出一个成员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26968" y="462486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实现中数据表示的变化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50015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8412" y="5130641"/>
              <a:ext cx="1303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doIt() 换一种算法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71472" y="513064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签名不变，方法体变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936480" y="5015865"/>
              <a:ext cx="17125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26968" y="513064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实现中行为的变化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388995"/>
              <a:ext cx="541020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866698" y="33889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922192" y="33889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策略模式管的是最后一行：方法签名不动，只换方法体里的那段做法。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行为的变化有三种形态，策略落在中间那一条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50727" cy="278702"/>
            <a:chOff x="526161" y="1547336"/>
            <a:chExt cx="61507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50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课件把“行为的变化”再拆成三条，其中只有动态性变化能在运行期换人。</a:t>
              </a:r>
            </a:p>
          </p:txBody>
        </p:sp>
      </p:grpSp>
      <p:grpSp>
        <p:nvGrpSpPr>
          <p:cNvPr id="24" name="c1-bullets-1"/>
          <p:cNvGrpSpPr/>
          <p:nvPr/>
        </p:nvGrpSpPr>
        <p:grpSpPr>
          <a:xfrm>
            <a:off x="526542" y="1964055"/>
            <a:ext cx="2183816" cy="2113122"/>
            <a:chOff x="526542" y="1964055"/>
            <a:chExt cx="2183816" cy="2113122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课件拆出的三条线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972" y="234029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992" y="228409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静态性变化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261080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9635" y="25474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模板的静态性变化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4850" y="284035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9635" y="27770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具体类的静态性变化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972" y="310896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992" y="30527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动态性变化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" y="338042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9635" y="33170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运行期换掉一段行为的实现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41972" y="364902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7992" y="35928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交互性变化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" y="392049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9635" y="385714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对象之间怎么协作也会变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208145"/>
            <a:ext cx="4977765" cy="1483995"/>
            <a:chOff x="533400" y="4208145"/>
            <a:chExt cx="4977765" cy="1483995"/>
          </a:xfrm>
        </p:grpSpPr>
        <p:sp>
          <p:nvSpPr>
            <p:cNvPr id="25" name="Rectangle 25"/>
            <p:cNvSpPr/>
            <p:nvPr/>
          </p:nvSpPr>
          <p:spPr>
            <a:xfrm>
              <a:off x="533400" y="4208145"/>
              <a:ext cx="497776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34149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4005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345" y="44348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47597" y="44405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具体类的行为静态性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4773930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一旦具体类确定了，类的行为就确定了。无论该类有多少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个对象，各对象的行为完全一致，而且在实例化时就定下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来，运行期间不会改变。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5815965" y="1941195"/>
            <a:ext cx="5842635" cy="1829752"/>
            <a:chOff x="5815965" y="1941195"/>
            <a:chExt cx="5842635" cy="1829752"/>
          </a:xfrm>
        </p:grpSpPr>
        <p:sp>
          <p:nvSpPr>
            <p:cNvPr id="32" name="Rectangle 32"/>
            <p:cNvSpPr/>
            <p:nvPr/>
          </p:nvSpPr>
          <p:spPr>
            <a:xfrm>
              <a:off x="5815965" y="1941195"/>
              <a:ext cx="5842635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44362" y="209311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模板的静态性变化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43981" y="2354580"/>
              <a:ext cx="3464433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One&lt;T&gt;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item;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doIt(T a)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实例化时才定下 T，一旦写成 One&lt;Two&gt; 就换不了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One&lt;Two&gt; aOne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One&lt;&gt;();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5815965" y="3946208"/>
            <a:ext cx="5842635" cy="1745932"/>
            <a:chOff x="5815965" y="3946208"/>
            <a:chExt cx="5842635" cy="1745932"/>
          </a:xfrm>
        </p:grpSpPr>
        <p:sp>
          <p:nvSpPr>
            <p:cNvPr id="36" name="Rectangle 36"/>
            <p:cNvSpPr/>
            <p:nvPr/>
          </p:nvSpPr>
          <p:spPr>
            <a:xfrm>
              <a:off x="5815965" y="3946208"/>
              <a:ext cx="5842635" cy="1745932"/>
            </a:xfrm>
            <a:prstGeom prst="roundRect">
              <a:avLst>
                <a:gd name="adj" fmla="val 7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4079558"/>
              <a:ext cx="47625" cy="14792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6470" y="41386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7910" y="41729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30162" y="4178618"/>
              <a:ext cx="2402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模板与 Java 泛型的落差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39612" y="4512945"/>
              <a:ext cx="51143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C++ 模板举例，模板参数在编译期实例化时确定。Java 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型在编译期做类型检查、运行期擦除，同样属于静态性变化。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39612" y="507206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共同点是：换参数就得改源码重新编译，运行期换不了。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静态性变化靠改代码重新编译，动态性变化靠运行期换对象，策略模式立足的正是后者。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只有一个行为在变时，继承还顶得住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28817" cy="278702"/>
            <a:chOff x="526161" y="1547336"/>
            <a:chExt cx="692881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28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课件的第一张图。AbsSome 有 do1 和 do2 两个方法，其中只有 do1 的实现在变。</a:t>
              </a:r>
            </a:p>
          </p:txBody>
        </p:sp>
      </p:grpSp>
      <p:grpSp>
        <p:nvGrpSpPr>
          <p:cNvPr id="39" name="c1-uml-1"/>
          <p:cNvGrpSpPr/>
          <p:nvPr/>
        </p:nvGrpSpPr>
        <p:grpSpPr>
          <a:xfrm>
            <a:off x="935355" y="2528888"/>
            <a:ext cx="5038725" cy="2511742"/>
            <a:chOff x="935355" y="2528888"/>
            <a:chExt cx="5038725" cy="2511742"/>
          </a:xfrm>
        </p:grpSpPr>
        <p:sp>
          <p:nvSpPr>
            <p:cNvPr id="9" name="Freeform 9"/>
            <p:cNvSpPr/>
            <p:nvPr/>
          </p:nvSpPr>
          <p:spPr>
            <a:xfrm>
              <a:off x="1506855" y="3360420"/>
              <a:ext cx="1757362" cy="1123950"/>
            </a:xfrm>
            <a:custGeom>
              <a:avLst/>
              <a:gdLst/>
              <a:ahLst/>
              <a:cxnLst/>
              <a:rect l="l" t="t" r="r" b="b"/>
              <a:pathLst>
                <a:path w="1757362" h="1123950">
                  <a:moveTo>
                    <a:pt x="0" y="1123950"/>
                  </a:moveTo>
                  <a:lnTo>
                    <a:pt x="0" y="499110"/>
                  </a:lnTo>
                  <a:lnTo>
                    <a:pt x="1757362" y="499110"/>
                  </a:lnTo>
                  <a:lnTo>
                    <a:pt x="175736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90875" y="32346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4718" y="3360420"/>
              <a:ext cx="9525" cy="1123950"/>
            </a:xfrm>
            <a:custGeom>
              <a:avLst/>
              <a:gdLst/>
              <a:ahLst/>
              <a:cxnLst/>
              <a:rect l="l" t="t" r="r" b="b"/>
              <a:pathLst>
                <a:path w="9525" h="1123950">
                  <a:moveTo>
                    <a:pt x="0" y="1123950"/>
                  </a:moveTo>
                  <a:lnTo>
                    <a:pt x="0" y="499110"/>
                  </a:lnTo>
                  <a:lnTo>
                    <a:pt x="0" y="4991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81375" y="32346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45218" y="3360420"/>
              <a:ext cx="1757363" cy="1123950"/>
            </a:xfrm>
            <a:custGeom>
              <a:avLst/>
              <a:gdLst/>
              <a:ahLst/>
              <a:cxnLst/>
              <a:rect l="l" t="t" r="r" b="b"/>
              <a:pathLst>
                <a:path w="1757363" h="1123950">
                  <a:moveTo>
                    <a:pt x="1757363" y="1123950"/>
                  </a:moveTo>
                  <a:lnTo>
                    <a:pt x="1757363" y="499110"/>
                  </a:lnTo>
                  <a:lnTo>
                    <a:pt x="0" y="4991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71875" y="32346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83218" y="252888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90838" y="253650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83218" y="27412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83218" y="28365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35355" y="44843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42975" y="449103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5355" y="46967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5355" y="4792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83218" y="44843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90838" y="449103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83218" y="46967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83218" y="4792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831080" y="44843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38700" y="449103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31080" y="46967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31080" y="4792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88177" y="2580323"/>
              <a:ext cx="5330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AbsSome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54655" y="2904649"/>
              <a:ext cx="38442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do2()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1794" y="4535805"/>
              <a:ext cx="3901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6792" y="4860131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59656" y="4535805"/>
              <a:ext cx="3901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54655" y="4860131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07519" y="4535805"/>
              <a:ext cx="3901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02518" y="4860131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941195"/>
            <a:ext cx="4977765" cy="2049780"/>
            <a:chOff x="6680835" y="1941195"/>
            <a:chExt cx="4977765" cy="2049780"/>
          </a:xfrm>
        </p:grpSpPr>
        <p:sp>
          <p:nvSpPr>
            <p:cNvPr id="40" name="Rectangle 40"/>
            <p:cNvSpPr/>
            <p:nvPr/>
          </p:nvSpPr>
          <p:spPr>
            <a:xfrm>
              <a:off x="6680835" y="1941195"/>
              <a:ext cx="4977765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0360" y="207454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1134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278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5032" y="2173605"/>
              <a:ext cx="1839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三个子类各给一种 do1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4482" y="2507932"/>
              <a:ext cx="42828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do2 的实现没有变，留在父类里；do1 有几种做法就派生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几个子类。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4482" y="3068002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用哪一种做法，在 new 哪个子类的时候就定了，对象建好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之后换不掉。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5625" y="3623786"/>
              <a:ext cx="3816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课件里方法名写作 Do1、Do2，Java 习惯方法名小写开头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4167188"/>
            <a:ext cx="4977765" cy="1529715"/>
            <a:chOff x="6680835" y="4167188"/>
            <a:chExt cx="4977765" cy="1529715"/>
          </a:xfrm>
        </p:grpSpPr>
        <p:sp>
          <p:nvSpPr>
            <p:cNvPr id="49" name="Rectangle 49"/>
            <p:cNvSpPr/>
            <p:nvPr/>
          </p:nvSpPr>
          <p:spPr>
            <a:xfrm>
              <a:off x="6680835" y="4167188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4300538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11340" y="43595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02780" y="43938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5032" y="43986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再来一个维度就撑不住了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04482" y="4732972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do2 也有三种做法，两个维度要自由组合，用继承就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得写出 3 × 3 = 9 个子类。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04482" y="52930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再添一个维度，类的数量按乘法往上涨。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用继承表达变化，等于把每一种组合都写成一个类，维度一多类的数量就按乘法涨。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两个行为同时在变：抽成接口，再用组合持有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81645" cy="308039"/>
            <a:chOff x="525399" y="1550194"/>
            <a:chExt cx="808164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816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课件的第二张图。把 do1 和 do2 各自抽成一个接口，AbsSome 改成持有它们的引用。</a:t>
              </a:r>
            </a:p>
          </p:txBody>
        </p:sp>
      </p:grpSp>
      <p:grpSp>
        <p:nvGrpSpPr>
          <p:cNvPr id="54" name="c1-uml-1"/>
          <p:cNvGrpSpPr/>
          <p:nvPr/>
        </p:nvGrpSpPr>
        <p:grpSpPr>
          <a:xfrm>
            <a:off x="971550" y="2352675"/>
            <a:ext cx="5182552" cy="2676525"/>
            <a:chOff x="971550" y="2352675"/>
            <a:chExt cx="5182552" cy="2676525"/>
          </a:xfrm>
        </p:grpSpPr>
        <p:sp>
          <p:nvSpPr>
            <p:cNvPr id="9" name="Freeform 9"/>
            <p:cNvSpPr/>
            <p:nvPr/>
          </p:nvSpPr>
          <p:spPr>
            <a:xfrm>
              <a:off x="2114550" y="2889885"/>
              <a:ext cx="667703" cy="9525"/>
            </a:xfrm>
            <a:custGeom>
              <a:avLst/>
              <a:gdLst/>
              <a:ahLst/>
              <a:cxnLst/>
              <a:rect l="l" t="t" r="r" b="b"/>
              <a:pathLst>
                <a:path w="667703" h="9525">
                  <a:moveTo>
                    <a:pt x="0" y="0"/>
                  </a:moveTo>
                  <a:lnTo>
                    <a:pt x="66770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82252" y="283273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209550" y="57150"/>
                  </a:moveTo>
                  <a:lnTo>
                    <a:pt x="104775" y="115253"/>
                  </a:lnTo>
                  <a:lnTo>
                    <a:pt x="0" y="5715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344352" y="288988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66675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34802" y="283273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43050" y="3378518"/>
              <a:ext cx="9525" cy="1062990"/>
            </a:xfrm>
            <a:custGeom>
              <a:avLst/>
              <a:gdLst/>
              <a:ahLst/>
              <a:cxnLst/>
              <a:rect l="l" t="t" r="r" b="b"/>
              <a:pathLst>
                <a:path w="9525" h="1062990">
                  <a:moveTo>
                    <a:pt x="0" y="106299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469708" y="32527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582602" y="3378518"/>
              <a:ext cx="9525" cy="1062990"/>
            </a:xfrm>
            <a:custGeom>
              <a:avLst/>
              <a:gdLst/>
              <a:ahLst/>
              <a:cxnLst/>
              <a:rect l="l" t="t" r="r" b="b"/>
              <a:pathLst>
                <a:path w="9525" h="1062990">
                  <a:moveTo>
                    <a:pt x="0" y="106299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5509260" y="32527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71550" y="2527935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79170" y="2534602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71550" y="28956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1550" y="29908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91802" y="2352675"/>
              <a:ext cx="114300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98470" y="235934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91802" y="25831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991802" y="30032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011102" y="2527935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018722" y="2534602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011102" y="28956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011102" y="29908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1550" y="444150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79170" y="444817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71550" y="46720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71550" y="47672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11102" y="444150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18722" y="444817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011102" y="46720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11102" y="47672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8161" y="257984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7939" y="2719864"/>
              <a:ext cx="290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IDo1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988" y="3060382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73302" y="2408396"/>
              <a:ext cx="5800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AbsSome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63240" y="2652712"/>
              <a:ext cx="47815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impDo1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impDo2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63240" y="3072765"/>
              <a:ext cx="42100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do2()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57714" y="257984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37492" y="2719864"/>
              <a:ext cx="290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IDo2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82540" y="3060382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do2()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68942" y="4497229"/>
              <a:ext cx="548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Do1Imp1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2988" y="48367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do1()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08495" y="4497229"/>
              <a:ext cx="548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Do2Imp1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82540" y="48367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do2()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288858" y="2673668"/>
              <a:ext cx="52863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316023" y="2700338"/>
              <a:ext cx="47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impDo1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309110" y="2673668"/>
              <a:ext cx="52863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335323" y="2700338"/>
              <a:ext cx="47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impDo2</a:t>
              </a:r>
            </a:p>
          </p:txBody>
        </p:sp>
      </p:grpSp>
      <p:grpSp>
        <p:nvGrpSpPr>
          <p:cNvPr id="58" name="c2-code-1"/>
          <p:cNvGrpSpPr/>
          <p:nvPr/>
        </p:nvGrpSpPr>
        <p:grpSpPr>
          <a:xfrm>
            <a:off x="6898005" y="1967865"/>
            <a:ext cx="4760595" cy="1922145"/>
            <a:chOff x="6898005" y="1967865"/>
            <a:chExt cx="4760595" cy="1922145"/>
          </a:xfrm>
        </p:grpSpPr>
        <p:sp>
          <p:nvSpPr>
            <p:cNvPr id="55" name="Rectangle 55"/>
            <p:cNvSpPr/>
            <p:nvPr/>
          </p:nvSpPr>
          <p:spPr>
            <a:xfrm>
              <a:off x="6898005" y="1967865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26402" y="2119789"/>
              <a:ext cx="194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AbsSome 把两个行为都委托出去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25640" y="2381726"/>
              <a:ext cx="396570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AbsSome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IDo1 impDo1;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第一个行为的实现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IDo2 impDo2;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第二个行为的实现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do1() { impDo1.do1();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do2() { impDo2.do2();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5" name="c2-table-2"/>
          <p:cNvGrpSpPr/>
          <p:nvPr/>
        </p:nvGrpSpPr>
        <p:grpSpPr>
          <a:xfrm>
            <a:off x="6898005" y="4080510"/>
            <a:ext cx="4760595" cy="1346835"/>
            <a:chOff x="6898005" y="4080510"/>
            <a:chExt cx="4760595" cy="1346835"/>
          </a:xfrm>
        </p:grpSpPr>
        <p:sp>
          <p:nvSpPr>
            <p:cNvPr id="59" name="Rectangle 59"/>
            <p:cNvSpPr/>
            <p:nvPr/>
          </p:nvSpPr>
          <p:spPr>
            <a:xfrm>
              <a:off x="6898005" y="4080510"/>
              <a:ext cx="476059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2637" y="42152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17069" y="421528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两个维度各 3 种时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73182" y="42152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再加一个维度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05828" y="46639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用继承逐个组合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626" y="466391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要写 9 个子类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43375" y="46639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类数再乘一遍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898005" y="4973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898005" y="497776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05828" y="51134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各抽接口用组合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35328" y="4987290"/>
              <a:ext cx="178974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433626" y="5113496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+ 3 + 1 共 7 个类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243375" y="51134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只加一组实现类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98005" y="4080510"/>
              <a:ext cx="476059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321040" y="408051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130790" y="408051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6" name="Rectangle 7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把每个会变的行为抽成接口，再让主类持有它的引用，这就是策略模式的雏形。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动态性变化：运行期把持有的那个对象换掉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组合还带来一件继承做不到的事。对象已经建好了，它的行为仍然可以换。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842635" cy="2264092"/>
            <a:chOff x="533400" y="1928812"/>
            <a:chExt cx="5842635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具体类行为的动态性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631692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MyObject obj;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当前使用的实现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doIt()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obj.func();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这一步委托给 obj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change(MyObject o)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.obj = o;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运行期换一个实现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357688"/>
            <a:ext cx="5842635" cy="1343978"/>
            <a:chOff x="533400" y="4357688"/>
            <a:chExt cx="5842635" cy="1343978"/>
          </a:xfrm>
        </p:grpSpPr>
        <p:sp>
          <p:nvSpPr>
            <p:cNvPr id="14" name="Rectangle 14"/>
            <p:cNvSpPr/>
            <p:nvPr/>
          </p:nvSpPr>
          <p:spPr>
            <a:xfrm>
              <a:off x="533400" y="4357688"/>
              <a:ext cx="5842635" cy="1343978"/>
            </a:xfrm>
            <a:prstGeom prst="roundRect">
              <a:avLst>
                <a:gd name="adj" fmla="val 99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491038"/>
              <a:ext cx="47625" cy="10772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4538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4571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450" y="4578191"/>
              <a:ext cx="21884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原课件把方法名写成了 do()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895374"/>
              <a:ext cx="5356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C++ 和 Java 的保留字，不能用作方法名，这里改写成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doIt()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518017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原代码的函数体还多套了一层花括号，并且少一个右括号。</a:t>
              </a:r>
            </a:p>
          </p:txBody>
        </p:sp>
      </p:grpSp>
      <p:grpSp>
        <p:nvGrpSpPr>
          <p:cNvPr id="44" name="c2-uml-1"/>
          <p:cNvGrpSpPr/>
          <p:nvPr/>
        </p:nvGrpSpPr>
        <p:grpSpPr>
          <a:xfrm>
            <a:off x="6938962" y="2034540"/>
            <a:ext cx="4461510" cy="1325880"/>
            <a:chOff x="6938962" y="2034540"/>
            <a:chExt cx="4461510" cy="1325880"/>
          </a:xfrm>
        </p:grpSpPr>
        <p:sp>
          <p:nvSpPr>
            <p:cNvPr id="22" name="Freeform 22"/>
            <p:cNvSpPr/>
            <p:nvPr/>
          </p:nvSpPr>
          <p:spPr>
            <a:xfrm>
              <a:off x="7510462" y="2697480"/>
              <a:ext cx="1564005" cy="106680"/>
            </a:xfrm>
            <a:custGeom>
              <a:avLst/>
              <a:gdLst/>
              <a:ahLst/>
              <a:cxnLst/>
              <a:rect l="l" t="t" r="r" b="b"/>
              <a:pathLst>
                <a:path w="1564005" h="106680">
                  <a:moveTo>
                    <a:pt x="0" y="106680"/>
                  </a:moveTo>
                  <a:lnTo>
                    <a:pt x="0" y="0"/>
                  </a:lnTo>
                  <a:lnTo>
                    <a:pt x="1564005" y="0"/>
                  </a:lnTo>
                  <a:lnTo>
                    <a:pt x="1564005" y="2000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001125" y="25917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264968" y="2697480"/>
              <a:ext cx="1564005" cy="106680"/>
            </a:xfrm>
            <a:custGeom>
              <a:avLst/>
              <a:gdLst/>
              <a:ahLst/>
              <a:cxnLst/>
              <a:rect l="l" t="t" r="r" b="b"/>
              <a:pathLst>
                <a:path w="1564005" h="106680">
                  <a:moveTo>
                    <a:pt x="1564005" y="106680"/>
                  </a:moveTo>
                  <a:lnTo>
                    <a:pt x="1564005" y="0"/>
                  </a:lnTo>
                  <a:lnTo>
                    <a:pt x="0" y="0"/>
                  </a:lnTo>
                  <a:lnTo>
                    <a:pt x="0" y="2000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191625" y="25917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598218" y="203454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05838" y="204216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98218" y="2246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98218" y="2342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38962" y="28041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46582" y="28108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38962" y="30165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38962" y="31118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257472" y="28041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65092" y="28108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57472" y="30165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57472" y="31118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71443" y="2085975"/>
              <a:ext cx="596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MyObject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69655" y="241030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func()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02512" y="2855595"/>
              <a:ext cx="615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SubClass1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10400" y="317992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func()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21022" y="2855595"/>
              <a:ext cx="615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SubClass2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28910" y="317992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func()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680835" y="3631882"/>
            <a:ext cx="4977765" cy="1202055"/>
            <a:chOff x="6680835" y="3631882"/>
            <a:chExt cx="4977765" cy="1202055"/>
          </a:xfrm>
        </p:grpSpPr>
        <p:sp>
          <p:nvSpPr>
            <p:cNvPr id="45" name="Rectangle 45"/>
            <p:cNvSpPr/>
            <p:nvPr/>
          </p:nvSpPr>
          <p:spPr>
            <a:xfrm>
              <a:off x="6680835" y="3631882"/>
              <a:ext cx="497776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376523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99910" y="38128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2582" y="38457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66838" y="38523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换成哪一个，由什么决定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09435" y="422148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64883" y="416861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环境上下文、当前配置文件、系统状态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09435" y="450627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64883" y="445436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客户的主观意愿，也就是他选的那个策略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680835" y="4998720"/>
            <a:ext cx="4977765" cy="702945"/>
            <a:chOff x="6680835" y="4998720"/>
            <a:chExt cx="4977765" cy="702945"/>
          </a:xfrm>
        </p:grpSpPr>
        <p:sp>
          <p:nvSpPr>
            <p:cNvPr id="55" name="Rectangle 55"/>
            <p:cNvSpPr/>
            <p:nvPr/>
          </p:nvSpPr>
          <p:spPr>
            <a:xfrm>
              <a:off x="6680835" y="4998720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885623" y="5250180"/>
              <a:ext cx="200026" cy="200025"/>
              <a:chOff x="6885623" y="5250180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885623" y="5250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25361" y="5294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960077" y="5405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188708" y="514397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交互上的变化也要问三句：直接交互还是间接交互，依赖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型还是关联型，谁是主动方。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行为型模式针对的就是这三件事：行为的静态性变化、行为的动态性变化、交互上的变化。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动机一：扑克牌玩家想中途换出牌方式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77368" cy="264033"/>
            <a:chOff x="526542" y="1545907"/>
            <a:chExt cx="717736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77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陈伟老师课件的开场例子。玩家 Player 的行为是出牌 outCards，难度能选，还要能改。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410200" cy="1403032"/>
            <a:chOff x="533400" y="1928812"/>
            <a:chExt cx="5410200" cy="14030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一个扑克牌游戏里的玩家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751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玩的过程中可以选难度级别，例如 Beginner、Expert，还可以动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态更改：嫌电脑太笨就加大它的 AI，总是玩不过电脑就换一种低难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度的出牌方式。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496628"/>
            <a:ext cx="5410200" cy="2154555"/>
            <a:chOff x="533400" y="3496628"/>
            <a:chExt cx="5410200" cy="2154555"/>
          </a:xfrm>
        </p:grpSpPr>
        <p:sp>
          <p:nvSpPr>
            <p:cNvPr id="16" name="Rectangle 16"/>
            <p:cNvSpPr/>
            <p:nvPr/>
          </p:nvSpPr>
          <p:spPr>
            <a:xfrm>
              <a:off x="533400" y="3496628"/>
              <a:ext cx="5410200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648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原有实现一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988" y="3907631"/>
              <a:ext cx="2300605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AutoPlayer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outCards(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(level == BEGINNER)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(level == EXPERT)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otherFunction()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8400" y="1928812"/>
            <a:ext cx="5410200" cy="2085975"/>
            <a:chOff x="6248400" y="1928812"/>
            <a:chExt cx="5410200" cy="208597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776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旧写法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082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59200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卡在哪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43079" y="25203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6534" y="2426970"/>
              <a:ext cx="187090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outCards 里用 if-else 判断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89198" y="2520315"/>
              <a:ext cx="1951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每加一个难度都要改 outCards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873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87845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3079" y="30889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6534" y="2995612"/>
              <a:ext cx="176422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 ExpandAutoPlayer 覆盖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outCards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89198" y="308895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出牌这一个维度占住了继承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441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3079" y="365664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16534" y="3563302"/>
              <a:ext cx="18508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按难度派生 BeginnerPlayer 与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ExpertPlayer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9198" y="365664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同样占住继承，运行期还换不了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928812"/>
              <a:ext cx="5410200" cy="2085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17092" y="1928812"/>
              <a:ext cx="9525" cy="2085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489758" y="1928812"/>
              <a:ext cx="9525" cy="2085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6248400" y="4178618"/>
            <a:ext cx="5410200" cy="1471612"/>
            <a:chOff x="6248400" y="4178618"/>
            <a:chExt cx="5410200" cy="1471612"/>
          </a:xfrm>
        </p:grpSpPr>
        <p:sp>
          <p:nvSpPr>
            <p:cNvPr id="40" name="Rectangle 40"/>
            <p:cNvSpPr/>
            <p:nvPr/>
          </p:nvSpPr>
          <p:spPr>
            <a:xfrm>
              <a:off x="6248400" y="4178618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31196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7475" y="43595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0147" y="43924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33451" y="440007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继承线被出牌方式占走了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0998" y="4716304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otherFunction 如果也有几种做法，就没有第二条继承线可用了。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课件在实现二、实现三旁边批的都是：限制了其它方向的变化。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2141" y="5240655"/>
              <a:ext cx="3125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更正：实现二的 outCards 函数体少一个右花括号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7083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各个 outCards 的差异来自算法的变化。把算法的变化封装起来再独立出去，问题就解开了。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行为的变化与策略的由来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动机二：查找和排序算法被硬编码在一个类里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张欣佳老师课件的动机。同一个功能有多种算法时，直接写进类里会带来三件麻烦事。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28812"/>
            <a:ext cx="4977765" cy="1480852"/>
            <a:chOff x="533400" y="1928812"/>
            <a:chExt cx="4977765" cy="148085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8602" r="0" b="28603"/>
            <a:stretch>
              <a:fillRect/>
            </a:stretch>
          </p:blipFill>
          <p:spPr>
            <a:xfrm>
              <a:off x="533400" y="1928812"/>
              <a:ext cx="4977765" cy="1198245"/>
            </a:xfrm>
            <a:prstGeom prst="roundRect">
              <a:avLst>
                <a:gd name="adj" fmla="val 11128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104379" y="3218974"/>
              <a:ext cx="3835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同一个目的地，骑车、坐车、坐飞机都能到，按预算和时间选一种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55682"/>
            <a:ext cx="4977765" cy="1934528"/>
            <a:chOff x="533400" y="3555682"/>
            <a:chExt cx="4977765" cy="1934528"/>
          </a:xfrm>
        </p:grpSpPr>
        <p:sp>
          <p:nvSpPr>
            <p:cNvPr id="12" name="Rectangle 12"/>
            <p:cNvSpPr/>
            <p:nvPr/>
          </p:nvSpPr>
          <p:spPr>
            <a:xfrm>
              <a:off x="533400" y="3555682"/>
              <a:ext cx="4977765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689032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37366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5147" y="37695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8450" y="37761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要在系统里实现查找或者排序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09241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一种常用的方法是硬编码在一个类中：需要多种查找算法，就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在该类里提供多个方法，每个方法对应一个具体算法。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620101"/>
              <a:ext cx="4393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也可以把这些算法封装在一个统一的方法里，用 if-else 条件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判断来选。这两种都算硬编码。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7141" y="514445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更差的做法是把算法代码直接写进客户端，程序会更庞大也更难维护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5809488" y="1949291"/>
            <a:ext cx="3542538" cy="1769841"/>
            <a:chOff x="5809488" y="1949291"/>
            <a:chExt cx="3542538" cy="1769841"/>
          </a:xfrm>
        </p:grpSpPr>
        <p:sp>
          <p:nvSpPr>
            <p:cNvPr id="21" name="TextBox 21"/>
            <p:cNvSpPr txBox="1"/>
            <p:nvPr/>
          </p:nvSpPr>
          <p:spPr>
            <a:xfrm>
              <a:off x="5809488" y="19492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硬编码带来的三件麻烦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815965" y="228123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9993" y="22512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加算法要改源码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46470" y="255841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1636" y="249936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增加一种新的查找算法，得修改封装算法的那个类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815965" y="2788920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9993" y="27579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换算法要改客户端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46470" y="306514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31636" y="300609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更换查找算法，还得跟着改调用它的客户端代码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815965" y="3295650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9993" y="32646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类会越来越臃肿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46470" y="357187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31636" y="3513773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大量算法挤在一个类里，代码复杂，维护困难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815965" y="3842385"/>
            <a:ext cx="5842635" cy="1647825"/>
            <a:chOff x="5815965" y="3842385"/>
            <a:chExt cx="5842635" cy="1647825"/>
          </a:xfrm>
        </p:grpSpPr>
        <p:sp>
          <p:nvSpPr>
            <p:cNvPr id="35" name="Rectangle 35"/>
            <p:cNvSpPr/>
            <p:nvPr/>
          </p:nvSpPr>
          <p:spPr>
            <a:xfrm>
              <a:off x="5815965" y="3842385"/>
              <a:ext cx="5842635" cy="1647825"/>
            </a:xfrm>
            <a:prstGeom prst="roundRect">
              <a:avLst>
                <a:gd name="adj" fmla="val 8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25490" y="3975735"/>
              <a:ext cx="47625" cy="13811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5040" y="40233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6759" y="40562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1016" y="4062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一个算法一个类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8563" y="4379119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定义一些独立的类来分别封装不同的算法，每一个这样的类就叫一个策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略；再用一个抽象的策略类统一它们的接口。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6914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判断要不要用策略：看这段 if-else 选的是“做同一件事的不同做法”，还是真的业务分支。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定义、结构与三个角色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三个角色，一条从环境类指向抽象策略的聚合线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定义与模式本质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结构类图怎么读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定义、结构与三个角色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定义：一族可以互相替换的算法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831658"/>
            <a:chOff x="533400" y="1524000"/>
            <a:chExt cx="5842635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747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策略模式（Strategy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定义一系列算法，将每一个算法封装起来，并让它们可以相互替换。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策略模式让算法独立于使用它的客户而变化。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2035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又称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政策模式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（Policy）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1758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530918"/>
            <a:ext cx="5842635" cy="1862138"/>
            <a:chOff x="533400" y="3530918"/>
            <a:chExt cx="5842635" cy="1862138"/>
          </a:xfrm>
        </p:grpSpPr>
        <p:sp>
          <p:nvSpPr>
            <p:cNvPr id="18" name="Rectangle 18"/>
            <p:cNvSpPr/>
            <p:nvPr/>
          </p:nvSpPr>
          <p:spPr>
            <a:xfrm>
              <a:off x="533400" y="3530918"/>
              <a:ext cx="5842635" cy="1862138"/>
            </a:xfrm>
            <a:prstGeom prst="roundRect">
              <a:avLst>
                <a:gd name="adj" fmla="val 716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5805" y="37233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7245" y="37576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9497" y="376332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分离算法，选择实现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097655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用一个统一的策略接口分离并封装策略算法，再用不同的实现类来实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例化这个接口，于是既容易修改和添加算法，也容易在运行期切换算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37" name="c2-bullets-1"/>
          <p:cNvGrpSpPr/>
          <p:nvPr/>
        </p:nvGrpSpPr>
        <p:grpSpPr>
          <a:xfrm>
            <a:off x="6673977" y="1545907"/>
            <a:ext cx="3160852" cy="1884522"/>
            <a:chOff x="6673977" y="1545907"/>
            <a:chExt cx="3160852" cy="1884522"/>
          </a:xfrm>
        </p:grpSpPr>
        <p:sp>
          <p:nvSpPr>
            <p:cNvPr id="24" name="TextBox 24"/>
            <p:cNvSpPr txBox="1"/>
            <p:nvPr/>
          </p:nvSpPr>
          <p:spPr>
            <a:xfrm>
              <a:off x="6673977" y="1545907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陈伟老师课件给的意图，拆成三句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680835" y="189452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17817" y="186594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定义多个实现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924675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09460" y="213026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或者只是实现的一部分，并一一封装起来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680835" y="243459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17817" y="240601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执行过程中可替换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924675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09460" y="267033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在行为的动态执行过程中替换各个实现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680835" y="297465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17817" y="294608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实现独立于使用者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24675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09460" y="321040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各实现可以独立于客户而变化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680835" y="3561398"/>
            <a:ext cx="4977765" cy="1831658"/>
            <a:chOff x="6680835" y="3561398"/>
            <a:chExt cx="4977765" cy="1831658"/>
          </a:xfrm>
        </p:grpSpPr>
        <p:sp>
          <p:nvSpPr>
            <p:cNvPr id="38" name="Rectangle 38"/>
            <p:cNvSpPr/>
            <p:nvPr/>
          </p:nvSpPr>
          <p:spPr>
            <a:xfrm>
              <a:off x="6680835" y="3561398"/>
              <a:ext cx="4977765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3694748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11340" y="375380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8780" y="37880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读定义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8382" y="379380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三个词要抠住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4482" y="412813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一系列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：策略是一族，彼此平等，地位相同。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4482" y="443007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封装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：一个算法一个类，算法要用的数据结构也装在里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4482" y="499014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相互替换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：它们的接口必须一致，换上去环境类不用改。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定义里没有说谁来选算法，这件事留给了客户端，也正是策略模式最大的一条缺点。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定义、结构与三个角色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结构：环境类只认抽象策略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366969" cy="278702"/>
            <a:chOff x="526161" y="1547336"/>
            <a:chExt cx="536696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整张图只有三类框，关键是环境类指向抽象策略的那条聚合线。</a:t>
              </a:r>
            </a:p>
          </p:txBody>
        </p:sp>
      </p:grpSp>
      <p:grpSp>
        <p:nvGrpSpPr>
          <p:cNvPr id="42" name="c1-uml-1"/>
          <p:cNvGrpSpPr/>
          <p:nvPr/>
        </p:nvGrpSpPr>
        <p:grpSpPr>
          <a:xfrm>
            <a:off x="785812" y="2454592"/>
            <a:ext cx="5273041" cy="2586038"/>
            <a:chOff x="785812" y="2454592"/>
            <a:chExt cx="5273041" cy="2586038"/>
          </a:xfrm>
        </p:grpSpPr>
        <p:sp>
          <p:nvSpPr>
            <p:cNvPr id="9" name="Freeform 9"/>
            <p:cNvSpPr/>
            <p:nvPr/>
          </p:nvSpPr>
          <p:spPr>
            <a:xfrm>
              <a:off x="2438400" y="2882265"/>
              <a:ext cx="2392680" cy="9525"/>
            </a:xfrm>
            <a:custGeom>
              <a:avLst/>
              <a:gdLst/>
              <a:ahLst/>
              <a:cxnLst/>
              <a:rect l="l" t="t" r="r" b="b"/>
              <a:pathLst>
                <a:path w="2392680" h="9525">
                  <a:moveTo>
                    <a:pt x="239268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28850" y="282416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4718" y="3286125"/>
              <a:ext cx="1852613" cy="1198245"/>
            </a:xfrm>
            <a:custGeom>
              <a:avLst/>
              <a:gdLst/>
              <a:ahLst/>
              <a:cxnLst/>
              <a:rect l="l" t="t" r="r" b="b"/>
              <a:pathLst>
                <a:path w="1852613" h="1198245">
                  <a:moveTo>
                    <a:pt x="0" y="1198245"/>
                  </a:moveTo>
                  <a:lnTo>
                    <a:pt x="0" y="536258"/>
                  </a:lnTo>
                  <a:lnTo>
                    <a:pt x="1852613" y="536258"/>
                  </a:lnTo>
                  <a:lnTo>
                    <a:pt x="185261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33988" y="31603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402580" y="3286125"/>
              <a:ext cx="95250" cy="1198245"/>
            </a:xfrm>
            <a:custGeom>
              <a:avLst/>
              <a:gdLst/>
              <a:ahLst/>
              <a:cxnLst/>
              <a:rect l="l" t="t" r="r" b="b"/>
              <a:pathLst>
                <a:path w="95250" h="1198245">
                  <a:moveTo>
                    <a:pt x="0" y="1198245"/>
                  </a:moveTo>
                  <a:lnTo>
                    <a:pt x="0" y="536258"/>
                  </a:lnTo>
                  <a:lnTo>
                    <a:pt x="95250" y="536258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24488" y="31603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5812" y="2454592"/>
              <a:ext cx="144399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2480" y="2462212"/>
              <a:ext cx="142970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5812" y="2667000"/>
              <a:ext cx="14439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5812" y="2910840"/>
              <a:ext cx="14439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31080" y="260318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38700" y="261080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31080" y="28155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31080" y="29108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98445" y="4484370"/>
              <a:ext cx="131254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06065" y="4491038"/>
              <a:ext cx="129825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98445" y="469677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98445" y="479202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46308" y="4484370"/>
              <a:ext cx="131254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752975" y="4491038"/>
              <a:ext cx="129825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46308" y="469677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746308" y="4792028"/>
              <a:ext cx="13125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55222" y="2506028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7250" y="2735104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strategy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7250" y="2978944"/>
              <a:ext cx="130086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setStrategy(Strategy)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15962" y="2654618"/>
              <a:ext cx="5732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02518" y="2978944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49280" y="4535805"/>
              <a:ext cx="1210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ConcreteStrategyA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69882" y="4860131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97142" y="4535805"/>
              <a:ext cx="1210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ConcreteStrategyB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17745" y="4860131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208972" y="2675572"/>
              <a:ext cx="64293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34771" y="2700814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680835" y="1941195"/>
            <a:ext cx="4977765" cy="2257425"/>
            <a:chOff x="6680835" y="1941195"/>
            <a:chExt cx="4977765" cy="2257425"/>
          </a:xfrm>
        </p:grpSpPr>
        <p:sp>
          <p:nvSpPr>
            <p:cNvPr id="43" name="Rectangle 43"/>
            <p:cNvSpPr/>
            <p:nvPr/>
          </p:nvSpPr>
          <p:spPr>
            <a:xfrm>
              <a:off x="6680835" y="1941195"/>
              <a:ext cx="4977765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2074545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1134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278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5032" y="2173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两种线各说明什么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4482" y="250793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环境类一端的空心菱形是聚合：它持有一个策略对象，但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不负责这个对象的生死，策略是从外面注入进来的。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4482" y="306800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空心三角在 Strategy 一端，说明两个具体策略都是它的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子类，方法签名完全一致。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05625" y="3623786"/>
              <a:ext cx="4292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客户端在图外：它 new 出一个具体策略，再通过 setStrategy 注入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给环境类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4373880"/>
            <a:ext cx="4977765" cy="1226820"/>
            <a:chOff x="6680835" y="4373880"/>
            <a:chExt cx="4977765" cy="1226820"/>
          </a:xfrm>
        </p:grpSpPr>
        <p:sp>
          <p:nvSpPr>
            <p:cNvPr id="52" name="Rectangle 52"/>
            <p:cNvSpPr/>
            <p:nvPr/>
          </p:nvSpPr>
          <p:spPr>
            <a:xfrm>
              <a:off x="6680835" y="4373880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450723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11340" y="45662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2780" y="46005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95032" y="460629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字段类型必须写抽象策略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04482" y="4940618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 Strategy strategy;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写成某个具体策略类，运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行期就换不了人了。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抽象策略写成接口最常见；几个策略之间有公共字段或公共代码要共享时，写成抽象类更省事。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定义、结构与三个角色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6067044" cy="2450402"/>
            <a:chOff x="526161" y="1547336"/>
            <a:chExt cx="6067044" cy="24504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427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Context 环境类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07386" y="1547336"/>
              <a:ext cx="362127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使用算法的角色。它在实现某个方法时可以采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用多种策略，内部维持一个对抽象策略类的引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用实例，用来定义所采用的策略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860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499836"/>
              <a:ext cx="1920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Strategy 抽象策略类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07386" y="2499836"/>
              <a:ext cx="362127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为所支持的算法声明抽象方法，是所有策略类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的父类。它可以是抽象类或具体类，也可以是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338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3451384"/>
              <a:ext cx="191796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ConcreteStrategy 具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体策略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07386" y="345138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实现抽象策略类中声明的算法。运行时具体策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略对象将覆盖环境类中定义的抽象策略对象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122420"/>
            <a:ext cx="6059805" cy="1344930"/>
            <a:chOff x="533400" y="4122420"/>
            <a:chExt cx="6059805" cy="1344930"/>
          </a:xfrm>
        </p:grpSpPr>
        <p:sp>
          <p:nvSpPr>
            <p:cNvPr id="16" name="Rectangle 16"/>
            <p:cNvSpPr/>
            <p:nvPr/>
          </p:nvSpPr>
          <p:spPr>
            <a:xfrm>
              <a:off x="533400" y="4122420"/>
              <a:ext cx="6059805" cy="1344930"/>
            </a:xfrm>
            <a:prstGeom prst="roundRect">
              <a:avLst>
                <a:gd name="adj" fmla="val 84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694873"/>
              <a:ext cx="200026" cy="200026"/>
              <a:chOff x="738188" y="4694873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6948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761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7948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456390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一个系统里可以有多个环境类，它们可能需要重用同一批策略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898005" y="1524000"/>
            <a:ext cx="4760595" cy="1858328"/>
            <a:chOff x="6898005" y="1524000"/>
            <a:chExt cx="4760595" cy="1858328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4760595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1657350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3422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1766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模式分析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84236" y="175688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把算法的责任和算法本身分开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26986" y="21007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策略模式是对算法的封装。它把算法的责任和算法本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身分割开，委派给不同的对象管理。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26986" y="269033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一系列算法被封装成一系列具体策略类，作为抽象策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略类的子类；环境类就是需要使用算法的那个类。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898005" y="3562350"/>
            <a:ext cx="4760595" cy="1904048"/>
            <a:chOff x="6898005" y="3562350"/>
            <a:chExt cx="4760595" cy="1904048"/>
          </a:xfrm>
        </p:grpSpPr>
        <p:sp>
          <p:nvSpPr>
            <p:cNvPr id="31" name="Rectangle 31"/>
            <p:cNvSpPr/>
            <p:nvPr/>
          </p:nvSpPr>
          <p:spPr>
            <a:xfrm>
              <a:off x="6898005" y="3562350"/>
              <a:ext cx="476059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369570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34225" y="37604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25665" y="37947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17536" y="37952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三个角色在排序例子里分别是谁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41845" y="419957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98436" y="4139089"/>
              <a:ext cx="3186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Context：数组操作类 ArrayHandler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41845" y="451675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98436" y="4457224"/>
              <a:ext cx="2493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Strategy：抽象排序类 Sort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41845" y="483489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98436" y="4774406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ConcreteStrategy：冒泡、选择、插入三个排序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3" name="Rectangle 4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1170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环境类通过抽象策略类里声明的方法，在运行时调用具体策略类中实现的那段算法。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标准代码与两个实现要点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抽象策略、具体策略、环境类与客户端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四段典型代码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依赖形式与关联形式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环境类与策略之间怎么传数据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标准代码与两个实现要点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典型代码（一）：抽象策略与具体策略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13932" cy="278702"/>
            <a:chOff x="526161" y="1547336"/>
            <a:chExt cx="65139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用策略模式重构时第一步是把算法从环境类里提出来，先建一个抽象策略类。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1261110"/>
            <a:chOff x="533400" y="1941195"/>
            <a:chExt cx="5410200" cy="126111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294436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AbstractStrategy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声明抽象算法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algorithm();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378518"/>
            <a:ext cx="5410200" cy="2207895"/>
            <a:chOff x="533400" y="3378518"/>
            <a:chExt cx="5410200" cy="2207895"/>
          </a:xfrm>
        </p:grpSpPr>
        <p:sp>
          <p:nvSpPr>
            <p:cNvPr id="13" name="Rectangle 13"/>
            <p:cNvSpPr/>
            <p:nvPr/>
          </p:nvSpPr>
          <p:spPr>
            <a:xfrm>
              <a:off x="533400" y="3378518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5304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具体策略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3791902"/>
              <a:ext cx="4191191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ConcreteStrategyA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AbstractStrategy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algorithm()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算法 A 的具体实现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ConcreteStrategyB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AbstractStrategy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algorithm()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算法 B 的具体实现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bullets-1"/>
          <p:cNvGrpSpPr/>
          <p:nvPr/>
        </p:nvGrpSpPr>
        <p:grpSpPr>
          <a:xfrm>
            <a:off x="6241542" y="1964055"/>
            <a:ext cx="2859303" cy="1884522"/>
            <a:chOff x="6241542" y="1964055"/>
            <a:chExt cx="2859303" cy="1884522"/>
          </a:xfrm>
        </p:grpSpPr>
        <p:sp>
          <p:nvSpPr>
            <p:cNvPr id="17" name="TextBox 17"/>
            <p:cNvSpPr txBox="1"/>
            <p:nvPr/>
          </p:nvSpPr>
          <p:spPr>
            <a:xfrm>
              <a:off x="6241542" y="19640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三条不能改的约定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248400" y="23117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85382" y="228409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方法签名必须一致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92240" y="261080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77025" y="254746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签名不一致就谈不上相互替换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248400" y="285273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85382" y="282416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具体策略彼此不认识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92240" y="315087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77025" y="308752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它们是地位平等的兄弟算法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248400" y="339280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85382" y="336423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策略类里只放算法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92240" y="369189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77025" y="362854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算法要用的数据结构也一并封在里面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978592"/>
            <a:ext cx="5410200" cy="1697355"/>
            <a:chOff x="6248400" y="3978592"/>
            <a:chExt cx="5410200" cy="1697355"/>
          </a:xfrm>
        </p:grpSpPr>
        <p:sp>
          <p:nvSpPr>
            <p:cNvPr id="31" name="Rectangle 31"/>
            <p:cNvSpPr/>
            <p:nvPr/>
          </p:nvSpPr>
          <p:spPr>
            <a:xfrm>
              <a:off x="6248400" y="3978592"/>
              <a:ext cx="5410200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4111942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41709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0345" y="4205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62597" y="421100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抽象类还是接口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2047" y="454533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有公共字段或公共代码要共享就写抽象类，把公共代码上移，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避免重复；只需要统一签名时用接口。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3190" y="5101114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抽象策略只有一个抽象方法时就是函数式接口，简单策略可直接写成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Lambda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3610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把几个策略的公共代码用继承上移到抽象策略类，正是课件说的“管理相关的算法族”。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标准代码与两个实现要点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典型代码（二）：环境类与客户端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2791778"/>
            <a:chOff x="533400" y="1524000"/>
            <a:chExt cx="5626418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50758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843274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Context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维持一个对抽象策略类的引用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AbstractStrategy strategy;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setStrategy(AbstractStrategy strategy)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.strategy = strategy;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调用策略类中的算法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algorithm()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strategy.algorithm();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486275"/>
            <a:ext cx="5626418" cy="1143952"/>
            <a:chOff x="533400" y="4486275"/>
            <a:chExt cx="5626418" cy="1143952"/>
          </a:xfrm>
        </p:grpSpPr>
        <p:sp>
          <p:nvSpPr>
            <p:cNvPr id="12" name="Rectangle 12"/>
            <p:cNvSpPr/>
            <p:nvPr/>
          </p:nvSpPr>
          <p:spPr>
            <a:xfrm>
              <a:off x="533400" y="4486275"/>
              <a:ext cx="5626418" cy="1143952"/>
            </a:xfrm>
            <a:prstGeom prst="roundRect">
              <a:avLst>
                <a:gd name="adj" fmla="val 99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26129" y="4954071"/>
              <a:ext cx="224134" cy="192560"/>
              <a:chOff x="726129" y="4954071"/>
              <a:chExt cx="224134" cy="1925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8200" y="50244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6129" y="49540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1022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4838700"/>
              <a:ext cx="47028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还没注入策略就调用 algorithm() 会抛空指针，稳妥的写法是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在构造函数里先给一个默认策略。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2264092"/>
            <a:chOff x="6464618" y="1524000"/>
            <a:chExt cx="5193982" cy="2264092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3015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3015" y="1935956"/>
              <a:ext cx="3090291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Context context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Context();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可在运行时指定类型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AbstractStrategy 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ConcreteStrategyA();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context.setStrategy(s);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context.algorithm();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中途还能换一个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context.setStrategy(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ConcreteStrategyB());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context.algorithm();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464618" y="3958590"/>
            <a:ext cx="5193982" cy="1670685"/>
            <a:chOff x="6464618" y="3958590"/>
            <a:chExt cx="5193982" cy="1670685"/>
          </a:xfrm>
        </p:grpSpPr>
        <p:sp>
          <p:nvSpPr>
            <p:cNvPr id="23" name="Rectangle 23"/>
            <p:cNvSpPr/>
            <p:nvPr/>
          </p:nvSpPr>
          <p:spPr>
            <a:xfrm>
              <a:off x="6464618" y="395859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409194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9408" y="41452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2079" y="41781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注入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55954" y="418052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客户端只做一件事，把策略塞进去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2549" y="450627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具体策略类的类名可以存在配置文件里，用反射动态创建策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略对象，于是更换或者增加具体策略类都不必改代码。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83692" y="5060156"/>
              <a:ext cx="42644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反射写法</a:t>
              </a:r>
              <a:br/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Class.forName(n).getDeclaredConstructor().newInstance()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1" name="Rectangle 3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8373"/>
              <a:ext cx="6822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环境类从头到尾只认 AbstractStrategy 这一个类型，换算法碰不到它的任何一行。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标准代码与两个实现要点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策略怎么交给环境类：依赖形式与关联形式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38789" cy="264033"/>
            <a:chOff x="526542" y="1545907"/>
            <a:chExt cx="49387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陈伟老师课件把这件事单列成一条“具体策略的建立与绑定”。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257300"/>
            <a:chOff x="533400" y="1928812"/>
            <a:chExt cx="5410200" cy="12573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依赖形式，策略当参数传进来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2743200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func(Strategy 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s.doFunc();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用完就不再持有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350895"/>
            <a:ext cx="5410200" cy="1855470"/>
            <a:chOff x="533400" y="3350895"/>
            <a:chExt cx="5410200" cy="1855470"/>
          </a:xfrm>
        </p:grpSpPr>
        <p:sp>
          <p:nvSpPr>
            <p:cNvPr id="13" name="Rectangle 13"/>
            <p:cNvSpPr/>
            <p:nvPr/>
          </p:nvSpPr>
          <p:spPr>
            <a:xfrm>
              <a:off x="533400" y="3350895"/>
              <a:ext cx="5410200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50281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关联形式，策略当字段存起来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3761899"/>
              <a:ext cx="2430780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Strategy s;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一直持有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setStrategy(Strategy s)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 = s;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s.doFunc();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248400" y="1928812"/>
            <a:ext cx="5410200" cy="1906905"/>
            <a:chOff x="6248400" y="1928812"/>
            <a:chExt cx="5410200" cy="1906905"/>
          </a:xfrm>
        </p:grpSpPr>
        <p:sp>
          <p:nvSpPr>
            <p:cNvPr id="17" name="Rectangle 17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675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1117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依赖形式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5044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关联形式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43079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策略存在哪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74724" y="2426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方法的参数里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14001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环境类的字段里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3079" y="2808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每次调用能不能换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74724" y="280892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能，每次都可以传不同的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14001" y="2808923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要先调 setter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3079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环境类要不要记住它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4724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14001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3079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适合什么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4724" y="35718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一次性的算法选择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14001" y="35718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长期用同一种算法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7528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81456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248400" y="4000500"/>
            <a:ext cx="5410200" cy="1444942"/>
            <a:chOff x="6248400" y="4000500"/>
            <a:chExt cx="5410200" cy="1444942"/>
          </a:xfrm>
        </p:grpSpPr>
        <p:sp>
          <p:nvSpPr>
            <p:cNvPr id="42" name="Rectangle 42"/>
            <p:cNvSpPr/>
            <p:nvPr/>
          </p:nvSpPr>
          <p:spPr>
            <a:xfrm>
              <a:off x="6248400" y="40005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41338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7475" y="4181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0147" y="4214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3451" y="42210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原课件这两页有两处笔误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0998" y="4537234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p13 把引用当指针用，写成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s-&gt;doFunc()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；s 是引用，应写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s.doFunc()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，同一份课件 p14 就是对的。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0998" y="5065871"/>
              <a:ext cx="4725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p14 把类名拼成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Stragegy::getInstance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0" name="Rectangle 5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805011"/>
              <a:ext cx="999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策略对象怎么造可以交给创建型模式：简单工厂（第 10 讲）按标识造，无状态的策略还能做成单例（第 15 讲）共用一份，带状态的每次都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得新建。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标准代码与两个实现要点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环境类与策略之间怎么传数据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31611" cy="278702"/>
            <a:chOff x="526161" y="1547336"/>
            <a:chExt cx="61316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算法要用的数据在环境类里，策略对象怎么拿到它，课件给了四种办法。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41195"/>
            <a:ext cx="5842635" cy="2828925"/>
            <a:chOff x="533400" y="1941195"/>
            <a:chExt cx="5842635" cy="28289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7795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244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9272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5712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35493" y="2571274"/>
              <a:ext cx="1356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s.doFunc(2, 5, 8)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22407" y="247126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参数一多签名就难看，加字段要改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所有策略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479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52750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1770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传整个环境对象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35493" y="3177064"/>
              <a:ext cx="1426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s.doFunc(context)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22407" y="307705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策略和环境类绑死，这族策略不通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537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782854"/>
              <a:ext cx="518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 this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35493" y="3782854"/>
              <a:ext cx="1140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s.doFunc(this)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22407" y="3682841"/>
              <a:ext cx="20596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策略只能访问环境类的 public 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595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164330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3886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回调环境接口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35493" y="4388644"/>
              <a:ext cx="1496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s.doFunc() 内部再取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22407" y="428863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策略要知道去哪儿取，耦合藏在方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法体里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41195"/>
              <a:ext cx="5842635" cy="2828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30718" y="1941195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17632" y="1941195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2"/>
          <p:cNvGrpSpPr/>
          <p:nvPr/>
        </p:nvGrpSpPr>
        <p:grpSpPr>
          <a:xfrm>
            <a:off x="533400" y="4945380"/>
            <a:ext cx="5842635" cy="729615"/>
            <a:chOff x="533400" y="4945380"/>
            <a:chExt cx="5842635" cy="729615"/>
          </a:xfrm>
        </p:grpSpPr>
        <p:sp>
          <p:nvSpPr>
            <p:cNvPr id="34" name="Rectangle 34"/>
            <p:cNvSpPr/>
            <p:nvPr/>
          </p:nvSpPr>
          <p:spPr>
            <a:xfrm>
              <a:off x="533400" y="494538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210175"/>
              <a:ext cx="200026" cy="200026"/>
              <a:chOff x="738188" y="5210175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2101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276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3101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5092065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四种办法没有绝对的好坏，看的是这族策略要不要为某一个环境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类定制。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941195"/>
            <a:ext cx="4977765" cy="1529715"/>
            <a:chOff x="6680835" y="1941195"/>
            <a:chExt cx="4977765" cy="1529715"/>
          </a:xfrm>
        </p:grpSpPr>
        <p:sp>
          <p:nvSpPr>
            <p:cNvPr id="41" name="Rectangle 41"/>
            <p:cNvSpPr/>
            <p:nvPr/>
          </p:nvSpPr>
          <p:spPr>
            <a:xfrm>
              <a:off x="6680835" y="1941195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207454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1134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278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5032" y="217360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参数少就传值，参数多就传对象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4482" y="250793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算法只需要两三个数，直接传值，这样的策略谁都能用。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4482" y="281082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算法要读环境类一大堆状态，传整个环境对象反而清楚，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代价是这族策略只能给这个环境类用。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3646170"/>
            <a:ext cx="4977765" cy="2028825"/>
            <a:chOff x="6680835" y="3646170"/>
            <a:chExt cx="4977765" cy="2028825"/>
          </a:xfrm>
        </p:grpSpPr>
        <p:sp>
          <p:nvSpPr>
            <p:cNvPr id="49" name="Rectangle 49"/>
            <p:cNvSpPr/>
            <p:nvPr/>
          </p:nvSpPr>
          <p:spPr>
            <a:xfrm>
              <a:off x="6680835" y="3646170"/>
              <a:ext cx="4977765" cy="2028825"/>
            </a:xfrm>
            <a:prstGeom prst="roundRect">
              <a:avLst>
                <a:gd name="adj" fmla="val 6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3779520"/>
              <a:ext cx="47625" cy="17621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11340" y="383857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06781" y="38728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1682" y="38785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排序策略属于哪一种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04482" y="4211955"/>
              <a:ext cx="43085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sort(int[] arr)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把要排的数组作为参数交给策略，属于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第一种。换成任何一个环境类，这三个排序类都能复用。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一句话的判据：这族策略以后还想给别的环境类用，就别把环境类的类型写进策略的方法签名里。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三个课件实例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排序、出行、出牌，用的是同一套骨架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排序策略与完整走查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旅游出行策略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扑克牌出牌策略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三个课件实例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实例一：排序策略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某系统有一个数组操作类，封装了查找、排序等常见操作。现在要让客户端能动态更换排序算法。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54530"/>
            <a:ext cx="4544378" cy="1564958"/>
            <a:chOff x="533400" y="1954530"/>
            <a:chExt cx="4544378" cy="15649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54437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用策略模式设计数组操作类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38016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以排序操作为例，使客户端可以动态地更换排序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算法，可以根据需要选冒泡排序、选择排序或者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插入排序，也能够灵活地增加新的排序算法。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04272"/>
            <a:ext cx="4544378" cy="1662112"/>
            <a:chOff x="533400" y="3704272"/>
            <a:chExt cx="4544378" cy="1662112"/>
          </a:xfrm>
        </p:grpSpPr>
        <p:sp>
          <p:nvSpPr>
            <p:cNvPr id="16" name="Rectangle 16"/>
            <p:cNvSpPr/>
            <p:nvPr/>
          </p:nvSpPr>
          <p:spPr>
            <a:xfrm>
              <a:off x="533400" y="3704272"/>
              <a:ext cx="4544378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37622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9081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39438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39485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36054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300061"/>
              <a:ext cx="3943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ArrayHandler 是环境类，持有一个 Sort 引用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468058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4620101"/>
              <a:ext cx="2793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 是抽象策略，声明排序方法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2955" y="50006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9546" y="494014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三个排序类是具体策略</a:t>
              </a:r>
            </a:p>
          </p:txBody>
        </p:sp>
      </p:grpSp>
      <p:grpSp>
        <p:nvGrpSpPr>
          <p:cNvPr id="69" name="c2-uml-1"/>
          <p:cNvGrpSpPr/>
          <p:nvPr/>
        </p:nvGrpSpPr>
        <p:grpSpPr>
          <a:xfrm>
            <a:off x="5803582" y="2427922"/>
            <a:ext cx="5380673" cy="2608898"/>
            <a:chOff x="5803582" y="2427922"/>
            <a:chExt cx="5380673" cy="2608898"/>
          </a:xfrm>
        </p:grpSpPr>
        <p:sp>
          <p:nvSpPr>
            <p:cNvPr id="28" name="Freeform 28"/>
            <p:cNvSpPr/>
            <p:nvPr/>
          </p:nvSpPr>
          <p:spPr>
            <a:xfrm>
              <a:off x="7262812" y="2884170"/>
              <a:ext cx="2778443" cy="9525"/>
            </a:xfrm>
            <a:custGeom>
              <a:avLst/>
              <a:gdLst/>
              <a:ahLst/>
              <a:cxnLst/>
              <a:rect l="l" t="t" r="r" b="b"/>
              <a:pathLst>
                <a:path w="2778443" h="9525">
                  <a:moveTo>
                    <a:pt x="27784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053262" y="282606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428422" y="3304222"/>
              <a:ext cx="3993833" cy="1144905"/>
            </a:xfrm>
            <a:custGeom>
              <a:avLst/>
              <a:gdLst/>
              <a:ahLst/>
              <a:cxnLst/>
              <a:rect l="l" t="t" r="r" b="b"/>
              <a:pathLst>
                <a:path w="3993833" h="1144905">
                  <a:moveTo>
                    <a:pt x="0" y="1144905"/>
                  </a:moveTo>
                  <a:lnTo>
                    <a:pt x="0" y="509588"/>
                  </a:lnTo>
                  <a:lnTo>
                    <a:pt x="3993833" y="509588"/>
                  </a:lnTo>
                  <a:lnTo>
                    <a:pt x="399383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348912" y="317849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521065" y="3304222"/>
              <a:ext cx="2091690" cy="1144905"/>
            </a:xfrm>
            <a:custGeom>
              <a:avLst/>
              <a:gdLst/>
              <a:ahLst/>
              <a:cxnLst/>
              <a:rect l="l" t="t" r="r" b="b"/>
              <a:pathLst>
                <a:path w="2091690" h="1144905">
                  <a:moveTo>
                    <a:pt x="0" y="1144905"/>
                  </a:moveTo>
                  <a:lnTo>
                    <a:pt x="0" y="509588"/>
                  </a:lnTo>
                  <a:lnTo>
                    <a:pt x="2091690" y="509588"/>
                  </a:lnTo>
                  <a:lnTo>
                    <a:pt x="209169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39412" y="317849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612755" y="3304222"/>
              <a:ext cx="190500" cy="1144905"/>
            </a:xfrm>
            <a:custGeom>
              <a:avLst/>
              <a:gdLst/>
              <a:ahLst/>
              <a:cxnLst/>
              <a:rect l="l" t="t" r="r" b="b"/>
              <a:pathLst>
                <a:path w="190500" h="1144905">
                  <a:moveTo>
                    <a:pt x="0" y="1144905"/>
                  </a:moveTo>
                  <a:lnTo>
                    <a:pt x="0" y="509588"/>
                  </a:lnTo>
                  <a:lnTo>
                    <a:pt x="190500" y="509588"/>
                  </a:lnTo>
                  <a:lnTo>
                    <a:pt x="1905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729912" y="317849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03582" y="2427922"/>
              <a:ext cx="124968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1202" y="2434590"/>
              <a:ext cx="123539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03582" y="2658428"/>
              <a:ext cx="12496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03582" y="2915602"/>
              <a:ext cx="12496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041255" y="258984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047922" y="259746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041255" y="28203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041255" y="29156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56922" y="444912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64542" y="44557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56922" y="46796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56922" y="47748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49565" y="444912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56232" y="44557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49565" y="46796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49565" y="47748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041255" y="444912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47922" y="44557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41255" y="46796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41255" y="47748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79507" y="2483644"/>
              <a:ext cx="897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ArrayHandler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5020" y="2727960"/>
              <a:ext cx="5774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sortObj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75020" y="2985135"/>
              <a:ext cx="110680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setSortObj(Sort)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sort(int[])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53269" y="264556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Sort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12692" y="298513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sort(int[])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55728" y="4504849"/>
              <a:ext cx="745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BubbleSort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28360" y="484441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sort(int[])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51509" y="4504849"/>
              <a:ext cx="939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SelectionSort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21002" y="484441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sort(int[])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43199" y="4504849"/>
              <a:ext cx="939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InsertionSort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12692" y="484441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sort(int[])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246745" y="2667952"/>
              <a:ext cx="60198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271662" y="2694623"/>
              <a:ext cx="552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sortObj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97350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原课件类图里的签名写作 sort(int arr[])，那是 C 风格的数组声明；Java 里更规范的写法是 sort(int[] arr)。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三个课件实例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实例一的代码：抽象策略与两个具体策略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670935"/>
            <a:chOff x="533400" y="1524000"/>
            <a:chExt cx="5410200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705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Sort 与 BubbleSort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843274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Sort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抽象策略：声明排序算法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sort(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arr);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BubbleSort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Sort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sort(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arr)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arr.length - 1;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arr.length - 1 - i; j++)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(arr[j] &gt; arr[j + 1])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arr[j];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arr[j] = arr[j + 1];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arr[j + 1] 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248400" y="1524000"/>
            <a:ext cx="5410200" cy="2616518"/>
            <a:chOff x="6248400" y="1524000"/>
            <a:chExt cx="5410200" cy="2616518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939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SelectionSort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797" y="1935956"/>
              <a:ext cx="4117086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SelectionSort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Sort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sort(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arr)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arr.length - 1;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 =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 + 1; j &lt; arr.length; j++)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(arr[j] &lt; arr[min]) { min = j;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arr[min]; arr[min] = arr[i]; arr[i] 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2"/>
          <p:cNvGrpSpPr/>
          <p:nvPr/>
        </p:nvGrpSpPr>
        <p:grpSpPr>
          <a:xfrm>
            <a:off x="6248400" y="4305300"/>
            <a:ext cx="5410200" cy="1406842"/>
            <a:chOff x="6248400" y="4305300"/>
            <a:chExt cx="5410200" cy="1406842"/>
          </a:xfrm>
        </p:grpSpPr>
        <p:sp>
          <p:nvSpPr>
            <p:cNvPr id="15" name="Rectangle 15"/>
            <p:cNvSpPr/>
            <p:nvPr/>
          </p:nvSpPr>
          <p:spPr>
            <a:xfrm>
              <a:off x="6248400" y="4305300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57925" y="443865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67475" y="4486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60147" y="4519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33451" y="45258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三个策略只有方法体不同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0998" y="484203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父类、方法名、参数和返回值完全一样，所以它们可以互相替换。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插入排序同理，把方法体换成逐个向前插入即可。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2141" y="5366385"/>
              <a:ext cx="49296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冒泡每一轮把当前最大的元素换到右端，第 i 轮结束后最右边的 i 个元素已就位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3" name="Rectangle 2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6039326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这三种排序都直接改传进来的数组，同一个数组排过一次就已经有序，比较两种算法要各给一份新数组。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三个课件实例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实例一的代码：环境类、客户端与走查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2088832"/>
            <a:chOff x="533400" y="1524000"/>
            <a:chExt cx="497776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97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ArrayHandler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56152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ArrayHandler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Sort sortObj;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持有抽象策略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setSortObj(Sort 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.sortObj = 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sort(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arr)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sortObj.sort(arr);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委托给当前策略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782378"/>
            <a:ext cx="4977765" cy="1912620"/>
            <a:chOff x="533400" y="3782378"/>
            <a:chExt cx="4977765" cy="1912620"/>
          </a:xfrm>
        </p:grpSpPr>
        <p:sp>
          <p:nvSpPr>
            <p:cNvPr id="11" name="Rectangle 11"/>
            <p:cNvSpPr/>
            <p:nvPr/>
          </p:nvSpPr>
          <p:spPr>
            <a:xfrm>
              <a:off x="533400" y="3782378"/>
              <a:ext cx="497776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9343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52450" y="4333875"/>
              <a:ext cx="493966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5036820"/>
              <a:ext cx="493966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195286"/>
              <a:ext cx="3227197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ArrayHandler h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ArrayHandler();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h.setSortObj(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BubbleSort());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 = {8, 3, 5, 1, 9};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System.out.println(Arrays.toString(h.sort(a)));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h.setSortObj(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SelectionSort());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b = {8, 3, 5, 1, 9};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System.out.println(Arrays.toString(h.sort(b)));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5811012" y="1524000"/>
            <a:ext cx="5847588" cy="2263806"/>
            <a:chOff x="5811012" y="1524000"/>
            <a:chExt cx="5847588" cy="2263806"/>
          </a:xfrm>
        </p:grpSpPr>
        <p:sp>
          <p:nvSpPr>
            <p:cNvPr id="17" name="Rectangle 17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6809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0145" y="16454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这一轮的比较与交换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438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轮末的数组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13120" y="204549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0365" y="2045494"/>
              <a:ext cx="2393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8&gt;3 换、8&gt;5 换、8&gt;1 换、8&gt;9 不换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52635" y="204549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3, 5, 1, 8, 9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3120" y="244554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0365" y="2445544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3&gt;5 不换、5&gt;1 换、5&gt;8 不换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52635" y="244554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3, 1, 5, 8, 9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13120" y="284559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0365" y="2845594"/>
              <a:ext cx="1202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3&gt;1 换、3&gt;5 不换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52635" y="284559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1, 3, 5, 8, 9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3120" y="324564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30365" y="3245644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1&gt;3 不换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65005" y="3133725"/>
              <a:ext cx="208407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52635" y="324564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1, 3, 5, 8, 9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2844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5071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11012" y="3597116"/>
              <a:ext cx="23516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冒泡排序把 8, 3, 5, 1, 9 排好的全过程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5815965" y="3919538"/>
            <a:ext cx="5842635" cy="1775460"/>
            <a:chOff x="5815965" y="3919538"/>
            <a:chExt cx="5842635" cy="1775460"/>
          </a:xfrm>
        </p:grpSpPr>
        <p:sp>
          <p:nvSpPr>
            <p:cNvPr id="44" name="Rectangle 44"/>
            <p:cNvSpPr/>
            <p:nvPr/>
          </p:nvSpPr>
          <p:spPr>
            <a:xfrm>
              <a:off x="5815965" y="3919538"/>
              <a:ext cx="5842635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25490" y="4052888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40755" y="41062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32474" y="41390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走查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6349" y="41414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换成选择排序会怎么走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3897" y="4467225"/>
              <a:ext cx="51657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 时在整段里找到最小的 1，与 arr[0] 交换，一步就排好；后面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三轮找到的最小值都已在位，不再真正交换。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33897" y="502443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两种算法的比较次数都是 10 次，交换次数一个 5 次一个 1 次，输出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结果完全相同。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2" name="Rectangle 5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8373"/>
              <a:ext cx="6652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客户端换算法只改一行 setSortObj，ArrayHandler 和三个排序类一行都不用动。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三个课件实例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实例二：旅游出行策略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96300" cy="293370"/>
            <a:chOff x="525780" y="1548765"/>
            <a:chExt cx="84963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出行方式可以有多种，坐飞机、坐火车，有兴趣的话骑自行车也行，客户按自己的需要选一种。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609600" y="2052638"/>
            <a:ext cx="4823460" cy="1756410"/>
            <a:chOff x="609600" y="2052638"/>
            <a:chExt cx="4823460" cy="1756410"/>
          </a:xfrm>
        </p:grpSpPr>
        <p:sp>
          <p:nvSpPr>
            <p:cNvPr id="9" name="Freeform 9"/>
            <p:cNvSpPr/>
            <p:nvPr/>
          </p:nvSpPr>
          <p:spPr>
            <a:xfrm>
              <a:off x="2398395" y="2480310"/>
              <a:ext cx="1891665" cy="9525"/>
            </a:xfrm>
            <a:custGeom>
              <a:avLst/>
              <a:gdLst/>
              <a:ahLst/>
              <a:cxnLst/>
              <a:rect l="l" t="t" r="r" b="b"/>
              <a:pathLst>
                <a:path w="1891665" h="9525">
                  <a:moveTo>
                    <a:pt x="189166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88845" y="2422208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9222" y="2947035"/>
              <a:ext cx="3271838" cy="305753"/>
            </a:xfrm>
            <a:custGeom>
              <a:avLst/>
              <a:gdLst/>
              <a:ahLst/>
              <a:cxnLst/>
              <a:rect l="l" t="t" r="r" b="b"/>
              <a:pathLst>
                <a:path w="3271838" h="305753">
                  <a:moveTo>
                    <a:pt x="0" y="305753"/>
                  </a:moveTo>
                  <a:lnTo>
                    <a:pt x="0" y="89535"/>
                  </a:lnTo>
                  <a:lnTo>
                    <a:pt x="3271838" y="89535"/>
                  </a:lnTo>
                  <a:lnTo>
                    <a:pt x="327183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597718" y="28213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2947035"/>
              <a:ext cx="1731645" cy="305753"/>
            </a:xfrm>
            <a:custGeom>
              <a:avLst/>
              <a:gdLst/>
              <a:ahLst/>
              <a:cxnLst/>
              <a:rect l="l" t="t" r="r" b="b"/>
              <a:pathLst>
                <a:path w="1731645" h="305753">
                  <a:moveTo>
                    <a:pt x="0" y="305753"/>
                  </a:moveTo>
                  <a:lnTo>
                    <a:pt x="0" y="89535"/>
                  </a:lnTo>
                  <a:lnTo>
                    <a:pt x="1731645" y="89535"/>
                  </a:lnTo>
                  <a:lnTo>
                    <a:pt x="173164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788218" y="28213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61560" y="2947035"/>
              <a:ext cx="190500" cy="305753"/>
            </a:xfrm>
            <a:custGeom>
              <a:avLst/>
              <a:gdLst/>
              <a:ahLst/>
              <a:cxnLst/>
              <a:rect l="l" t="t" r="r" b="b"/>
              <a:pathLst>
                <a:path w="190500" h="305753">
                  <a:moveTo>
                    <a:pt x="0" y="305753"/>
                  </a:moveTo>
                  <a:lnTo>
                    <a:pt x="0" y="89535"/>
                  </a:lnTo>
                  <a:lnTo>
                    <a:pt x="190500" y="89535"/>
                  </a:lnTo>
                  <a:lnTo>
                    <a:pt x="1905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978718" y="28213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052638"/>
              <a:ext cx="1579245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" y="2060258"/>
              <a:ext cx="156495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265045"/>
              <a:ext cx="15792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2509838"/>
              <a:ext cx="15792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90060" y="2139315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96728" y="2145982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90060" y="24774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90060" y="25727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5815" y="3252788"/>
              <a:ext cx="118681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2482" y="3259455"/>
              <a:ext cx="117252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5815" y="3465195"/>
              <a:ext cx="11868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5815" y="3560445"/>
              <a:ext cx="11868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58415" y="325278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66035" y="325945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58415" y="34651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558415" y="3560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90060" y="325278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96728" y="325945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90060" y="34651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90060" y="3560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82574" y="2104072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1038" y="2333149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strategy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1038" y="2577941"/>
              <a:ext cx="161848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setStrategy(TravelStrategy)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travel()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3999" y="218789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79086" y="2316480"/>
              <a:ext cx="964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TravelStrategy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1498" y="264080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travel()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2779" y="3304223"/>
              <a:ext cx="10728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AirplaneStrategy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7252" y="3628549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travel()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82436" y="3304223"/>
              <a:ext cx="894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TrainStrategy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29852" y="3628549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travel()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60115" y="3304223"/>
              <a:ext cx="10028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BicycleStrategy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61498" y="3628549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travel()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17508" y="2273618"/>
              <a:ext cx="64293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944259" y="2298859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</p:grpSp>
      <p:grpSp>
        <p:nvGrpSpPr>
          <p:cNvPr id="55" name="c1-code-2"/>
          <p:cNvGrpSpPr/>
          <p:nvPr/>
        </p:nvGrpSpPr>
        <p:grpSpPr>
          <a:xfrm>
            <a:off x="533400" y="4236720"/>
            <a:ext cx="5193982" cy="1450658"/>
            <a:chOff x="533400" y="4236720"/>
            <a:chExt cx="5193982" cy="1450658"/>
          </a:xfrm>
        </p:grpSpPr>
        <p:sp>
          <p:nvSpPr>
            <p:cNvPr id="52" name="Rectangle 52"/>
            <p:cNvSpPr/>
            <p:nvPr/>
          </p:nvSpPr>
          <p:spPr>
            <a:xfrm>
              <a:off x="533400" y="4236720"/>
              <a:ext cx="5193982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1797" y="43886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416" y="4650105"/>
              <a:ext cx="3964496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Person p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p.setStrategy(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TrainStrategy());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p.travel();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坐火车旅游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p.setStrategy(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BicycleStrategy());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p.travel();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骑自行车旅游 */</a:t>
              </a:r>
            </a:p>
          </p:txBody>
        </p:sp>
      </p:grpSp>
      <p:grpSp>
        <p:nvGrpSpPr>
          <p:cNvPr id="59" name="c2-code-1"/>
          <p:cNvGrpSpPr/>
          <p:nvPr/>
        </p:nvGrpSpPr>
        <p:grpSpPr>
          <a:xfrm>
            <a:off x="6032182" y="1954530"/>
            <a:ext cx="5626418" cy="2776538"/>
            <a:chOff x="6032182" y="1954530"/>
            <a:chExt cx="5626418" cy="2776538"/>
          </a:xfrm>
        </p:grpSpPr>
        <p:sp>
          <p:nvSpPr>
            <p:cNvPr id="56" name="Rectangle 56"/>
            <p:cNvSpPr/>
            <p:nvPr/>
          </p:nvSpPr>
          <p:spPr>
            <a:xfrm>
              <a:off x="6032182" y="1954530"/>
              <a:ext cx="5626418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60580" y="210645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抽象策略、具体策略与环境类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60198" y="2367915"/>
              <a:ext cx="4997958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TravelStrategy {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抽象策略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travel();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TrainStrategy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TravelStrategy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travel()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"坐火车旅游"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环境类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TravelStrategy strategy;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setStrategy(TravelStrategy s)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.strategy = s;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travel() { strategy.travel();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032182" y="4911090"/>
            <a:ext cx="5626418" cy="756285"/>
            <a:chOff x="6032182" y="4911090"/>
            <a:chExt cx="5626418" cy="756285"/>
          </a:xfrm>
        </p:grpSpPr>
        <p:sp>
          <p:nvSpPr>
            <p:cNvPr id="60" name="Rectangle 60"/>
            <p:cNvSpPr/>
            <p:nvPr/>
          </p:nvSpPr>
          <p:spPr>
            <a:xfrm>
              <a:off x="6032182" y="491109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236970" y="5189220"/>
              <a:ext cx="200026" cy="200026"/>
              <a:chOff x="6236970" y="5189220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236970" y="5189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336983" y="5255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325870" y="52892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539294" y="5058251"/>
              <a:ext cx="471233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TravelStrategy 画成接口，所以三个具体策略用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的是实现关系，虚线加空心三角。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7" name="Rectangle 6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6011704"/>
              <a:ext cx="90628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换出行方式只改客户端注入的那个对象，Person 类完全不动，这就是开闭原则（第 02 讲）在这里的样子。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三个课件实例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实例三：扑克牌的出牌策略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99070" cy="264033"/>
            <a:chOff x="526542" y="1545907"/>
            <a:chExt cx="97990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99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回到开头的扑克牌例子。把出牌算法抽成 OutCardStrategy，AutoPlayer 改成持有它，Player 那条继承线就空出来了。</a:t>
              </a:r>
            </a:p>
          </p:txBody>
        </p:sp>
      </p:grpSp>
      <p:grpSp>
        <p:nvGrpSpPr>
          <p:cNvPr id="58" name="c1-uml-1"/>
          <p:cNvGrpSpPr/>
          <p:nvPr/>
        </p:nvGrpSpPr>
        <p:grpSpPr>
          <a:xfrm>
            <a:off x="746760" y="2466022"/>
            <a:ext cx="5849302" cy="2485073"/>
            <a:chOff x="746760" y="2466022"/>
            <a:chExt cx="5849302" cy="2485073"/>
          </a:xfrm>
        </p:grpSpPr>
        <p:sp>
          <p:nvSpPr>
            <p:cNvPr id="9" name="Freeform 9"/>
            <p:cNvSpPr/>
            <p:nvPr/>
          </p:nvSpPr>
          <p:spPr>
            <a:xfrm>
              <a:off x="1223010" y="3296602"/>
              <a:ext cx="95250" cy="1023938"/>
            </a:xfrm>
            <a:custGeom>
              <a:avLst/>
              <a:gdLst/>
              <a:ahLst/>
              <a:cxnLst/>
              <a:rect l="l" t="t" r="r" b="b"/>
              <a:pathLst>
                <a:path w="95250" h="1023938">
                  <a:moveTo>
                    <a:pt x="95250" y="1023938"/>
                  </a:moveTo>
                  <a:lnTo>
                    <a:pt x="95250" y="449580"/>
                  </a:lnTo>
                  <a:lnTo>
                    <a:pt x="0" y="44958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49668" y="31708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13510" y="3296602"/>
              <a:ext cx="1378268" cy="949642"/>
            </a:xfrm>
            <a:custGeom>
              <a:avLst/>
              <a:gdLst/>
              <a:ahLst/>
              <a:cxnLst/>
              <a:rect l="l" t="t" r="r" b="b"/>
              <a:pathLst>
                <a:path w="1378268" h="949642">
                  <a:moveTo>
                    <a:pt x="1378268" y="949642"/>
                  </a:moveTo>
                  <a:lnTo>
                    <a:pt x="1378268" y="412432"/>
                  </a:lnTo>
                  <a:lnTo>
                    <a:pt x="0" y="41243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40168" y="31708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82278" y="3096578"/>
              <a:ext cx="1283018" cy="940117"/>
            </a:xfrm>
            <a:custGeom>
              <a:avLst/>
              <a:gdLst/>
              <a:ahLst/>
              <a:cxnLst/>
              <a:rect l="l" t="t" r="r" b="b"/>
              <a:pathLst>
                <a:path w="1283018" h="940117">
                  <a:moveTo>
                    <a:pt x="1283018" y="0"/>
                  </a:moveTo>
                  <a:lnTo>
                    <a:pt x="1283018" y="575310"/>
                  </a:lnTo>
                  <a:lnTo>
                    <a:pt x="0" y="575310"/>
                  </a:lnTo>
                  <a:lnTo>
                    <a:pt x="0" y="940117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24175" y="4036695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8103" y="209550"/>
                  </a:moveTo>
                  <a:lnTo>
                    <a:pt x="0" y="104775"/>
                  </a:lnTo>
                  <a:lnTo>
                    <a:pt x="58103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455795" y="3222308"/>
              <a:ext cx="9525" cy="1098232"/>
            </a:xfrm>
            <a:custGeom>
              <a:avLst/>
              <a:gdLst/>
              <a:ahLst/>
              <a:cxnLst/>
              <a:rect l="l" t="t" r="r" b="b"/>
              <a:pathLst>
                <a:path w="9525" h="1098232">
                  <a:moveTo>
                    <a:pt x="0" y="1098232"/>
                  </a:moveTo>
                  <a:lnTo>
                    <a:pt x="0" y="486727"/>
                  </a:lnTo>
                  <a:lnTo>
                    <a:pt x="0" y="48672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82452" y="30965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46295" y="3222308"/>
              <a:ext cx="1378268" cy="1098232"/>
            </a:xfrm>
            <a:custGeom>
              <a:avLst/>
              <a:gdLst/>
              <a:ahLst/>
              <a:cxnLst/>
              <a:rect l="l" t="t" r="r" b="b"/>
              <a:pathLst>
                <a:path w="1378268" h="1098232">
                  <a:moveTo>
                    <a:pt x="1378268" y="1098232"/>
                  </a:moveTo>
                  <a:lnTo>
                    <a:pt x="1378268" y="486727"/>
                  </a:lnTo>
                  <a:lnTo>
                    <a:pt x="0" y="48672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72952" y="30965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6760" y="246602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3428" y="24726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6760" y="26784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6760" y="27736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53815" y="2540318"/>
              <a:ext cx="120491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60482" y="2547938"/>
              <a:ext cx="119062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53815" y="2752725"/>
              <a:ext cx="12049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53815" y="2847975"/>
              <a:ext cx="12049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6760" y="432054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3428" y="432720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6760" y="4532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6760" y="4628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15528" y="4246245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322195" y="425291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15528" y="44586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15528" y="47024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47148" y="4320540"/>
              <a:ext cx="121634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854768" y="4327208"/>
              <a:ext cx="12020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847148" y="4532948"/>
              <a:ext cx="12163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47148" y="4628198"/>
              <a:ext cx="12163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53062" y="432054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60682" y="432720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53062" y="4532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53062" y="4628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7663" y="2517458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Player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198" y="2841784"/>
              <a:ext cx="931164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outCards()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otherFunction()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07461" y="2591752"/>
              <a:ext cx="1096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OutCardStrategy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25252" y="2916079"/>
              <a:ext cx="8694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selectCards()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3730" y="4371975"/>
              <a:ext cx="3890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Human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198" y="4696301"/>
              <a:ext cx="7154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outCards()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44543" y="4297680"/>
              <a:ext cx="684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AutoPlayer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86965" y="4526756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strategy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86965" y="4770596"/>
              <a:ext cx="7154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outCards()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03337" y="4371975"/>
              <a:ext cx="11049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BeginnerStrategy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18585" y="4696301"/>
              <a:ext cx="8694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selectCards()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26058" y="4371975"/>
              <a:ext cx="997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ExpertStrategy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24500" y="4696301"/>
              <a:ext cx="8694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selectCards()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324225" y="3475672"/>
              <a:ext cx="59817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352000" y="3498532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</p:grpSp>
      <p:grpSp>
        <p:nvGrpSpPr>
          <p:cNvPr id="62" name="c2-code-1"/>
          <p:cNvGrpSpPr/>
          <p:nvPr/>
        </p:nvGrpSpPr>
        <p:grpSpPr>
          <a:xfrm>
            <a:off x="7114222" y="1928812"/>
            <a:ext cx="4544378" cy="2154555"/>
            <a:chOff x="7114222" y="1928812"/>
            <a:chExt cx="4544378" cy="2154555"/>
          </a:xfrm>
        </p:grpSpPr>
        <p:sp>
          <p:nvSpPr>
            <p:cNvPr id="59" name="Rectangle 59"/>
            <p:cNvSpPr/>
            <p:nvPr/>
          </p:nvSpPr>
          <p:spPr>
            <a:xfrm>
              <a:off x="7114222" y="1928812"/>
              <a:ext cx="4544378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42620" y="2080736"/>
              <a:ext cx="14470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AutoPlayer 的两种写法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42810" y="2339816"/>
              <a:ext cx="2888996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AutoPlayer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Player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OutCardStrategy strategy;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outCards()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strategy.selectCards();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关联形式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依赖形式：出牌时现传一个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outCards(OutCardStrategy 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s.selectCards();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114222" y="4247198"/>
            <a:ext cx="4544378" cy="1160145"/>
            <a:chOff x="7114222" y="4247198"/>
            <a:chExt cx="4544378" cy="1160145"/>
          </a:xfrm>
        </p:grpSpPr>
        <p:sp>
          <p:nvSpPr>
            <p:cNvPr id="63" name="Rectangle 63"/>
            <p:cNvSpPr/>
            <p:nvPr/>
          </p:nvSpPr>
          <p:spPr>
            <a:xfrm>
              <a:off x="7114222" y="4247198"/>
              <a:ext cx="454437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123748" y="438054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333298" y="44281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25017" y="44610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99273" y="44686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出牌换成了策略，其它方向还空着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26820" y="4784884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出牌方式想加几种就加几个策略类，两个玩家各管各的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otherFunction。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0" name="Rectangle 7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5805011"/>
              <a:ext cx="91650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更正：原课件类图把 AutoPlayer 的操作拼成 ohterFunction，注释里的类型拼成 OUtCardStrategy，应为 otherFunction 与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OutCardStrategy。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真实系统里的策略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你其实早就在用它了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8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SE 的容器布局管理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42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里的其它策略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认出策略模式的两条线索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4239" cy="909257"/>
            <a:chOff x="520446" y="342900"/>
            <a:chExt cx="49042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真实系统里的策略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42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应用：Java SE 的容器布局管理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294370" cy="293370"/>
            <a:chOff x="525780" y="1548765"/>
            <a:chExt cx="8294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张欣佳老师把它称为策略模式应用的经典实例。用户在程序运行期间决定一个容器怎么布局。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653415" y="2235518"/>
            <a:ext cx="5150167" cy="1897380"/>
            <a:chOff x="653415" y="2235518"/>
            <a:chExt cx="5150167" cy="1897380"/>
          </a:xfrm>
        </p:grpSpPr>
        <p:sp>
          <p:nvSpPr>
            <p:cNvPr id="9" name="Freeform 9"/>
            <p:cNvSpPr/>
            <p:nvPr/>
          </p:nvSpPr>
          <p:spPr>
            <a:xfrm>
              <a:off x="2499360" y="2587942"/>
              <a:ext cx="2141220" cy="9525"/>
            </a:xfrm>
            <a:custGeom>
              <a:avLst/>
              <a:gdLst/>
              <a:ahLst/>
              <a:cxnLst/>
              <a:rect l="l" t="t" r="r" b="b"/>
              <a:pathLst>
                <a:path w="2141220" h="9525">
                  <a:moveTo>
                    <a:pt x="21412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89810" y="253079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3054668"/>
              <a:ext cx="1780222" cy="521970"/>
            </a:xfrm>
            <a:custGeom>
              <a:avLst/>
              <a:gdLst/>
              <a:ahLst/>
              <a:cxnLst/>
              <a:rect l="l" t="t" r="r" b="b"/>
              <a:pathLst>
                <a:path w="1780222" h="521970">
                  <a:moveTo>
                    <a:pt x="0" y="521970"/>
                  </a:moveTo>
                  <a:lnTo>
                    <a:pt x="0" y="198120"/>
                  </a:lnTo>
                  <a:lnTo>
                    <a:pt x="1780222" y="198120"/>
                  </a:lnTo>
                  <a:lnTo>
                    <a:pt x="178022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5053965" y="29289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22558" y="3054668"/>
              <a:ext cx="95250" cy="521970"/>
            </a:xfrm>
            <a:custGeom>
              <a:avLst/>
              <a:gdLst/>
              <a:ahLst/>
              <a:cxnLst/>
              <a:rect l="l" t="t" r="r" b="b"/>
              <a:pathLst>
                <a:path w="95250" h="521970">
                  <a:moveTo>
                    <a:pt x="0" y="521970"/>
                  </a:moveTo>
                  <a:lnTo>
                    <a:pt x="0" y="198120"/>
                  </a:lnTo>
                  <a:lnTo>
                    <a:pt x="95250" y="19812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244465" y="29289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53415" y="2235518"/>
              <a:ext cx="1636395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0082" y="2242185"/>
              <a:ext cx="162210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53415" y="2447925"/>
              <a:ext cx="16363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53415" y="2691765"/>
              <a:ext cx="16363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40580" y="2246948"/>
              <a:ext cx="1163002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48200" y="2254568"/>
              <a:ext cx="1148715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40580" y="2585085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40580" y="2680335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65108" y="3576638"/>
              <a:ext cx="116300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72728" y="3584258"/>
              <a:ext cx="11487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65108" y="3789045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65108" y="3884295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40580" y="3576638"/>
              <a:ext cx="116300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48200" y="3584258"/>
              <a:ext cx="11487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40580" y="3789045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40580" y="3884295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66012" y="2286952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852" y="2516029"/>
              <a:ext cx="6482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layoutMgr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852" y="2759869"/>
              <a:ext cx="15947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setLayout(LayoutManager)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24996" y="2295525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46205" y="2424112"/>
              <a:ext cx="9527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LayoutManager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12018" y="2748439"/>
              <a:ext cx="10843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layoutContainer()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91735" y="3628073"/>
              <a:ext cx="710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FlowLayout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36545" y="3952399"/>
              <a:ext cx="10843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layoutContainer()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80073" y="3628073"/>
              <a:ext cx="684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GridLayout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12018" y="3952399"/>
              <a:ext cx="10843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layoutContainer()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112770" y="2382202"/>
              <a:ext cx="70485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34987" y="2406491"/>
              <a:ext cx="6604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layoutMgr</a:t>
              </a:r>
            </a:p>
          </p:txBody>
        </p:sp>
      </p:grpSp>
      <p:grpSp>
        <p:nvGrpSpPr>
          <p:cNvPr id="50" name="c1-callout-2"/>
          <p:cNvGrpSpPr/>
          <p:nvPr/>
        </p:nvGrpSpPr>
        <p:grpSpPr>
          <a:xfrm>
            <a:off x="533400" y="4669155"/>
            <a:ext cx="5626418" cy="1018222"/>
            <a:chOff x="533400" y="4669155"/>
            <a:chExt cx="5626418" cy="1018222"/>
          </a:xfrm>
        </p:grpSpPr>
        <p:sp>
          <p:nvSpPr>
            <p:cNvPr id="44" name="Rectangle 44"/>
            <p:cNvSpPr/>
            <p:nvPr/>
          </p:nvSpPr>
          <p:spPr>
            <a:xfrm>
              <a:off x="533400" y="4669155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077778"/>
              <a:ext cx="200026" cy="200026"/>
              <a:chOff x="738188" y="507777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0777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144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51777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4816316"/>
              <a:ext cx="473938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需要给组件附加约束对象的布局，比如 BorderLayout 的方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位、CardLayout 的卡片名、GridBagLayout 的约束，实现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 LayoutManager 的子接口 LayoutManager2。</a:t>
              </a:r>
            </a:p>
          </p:txBody>
        </p:sp>
      </p:grpSp>
      <p:grpSp>
        <p:nvGrpSpPr>
          <p:cNvPr id="54" name="c2-code-1"/>
          <p:cNvGrpSpPr/>
          <p:nvPr/>
        </p:nvGrpSpPr>
        <p:grpSpPr>
          <a:xfrm>
            <a:off x="6464618" y="1954530"/>
            <a:ext cx="5193982" cy="1829752"/>
            <a:chOff x="6464618" y="1954530"/>
            <a:chExt cx="5193982" cy="1829752"/>
          </a:xfrm>
        </p:grpSpPr>
        <p:sp>
          <p:nvSpPr>
            <p:cNvPr id="51" name="Rectangle 51"/>
            <p:cNvSpPr/>
            <p:nvPr/>
          </p:nvSpPr>
          <p:spPr>
            <a:xfrm>
              <a:off x="6464618" y="1954530"/>
              <a:ext cx="5193982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93015" y="2106454"/>
              <a:ext cx="1693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中 Container 类的片段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92634" y="2367915"/>
              <a:ext cx="3384423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LayoutManager layoutMgr;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setLayout(LayoutManager mgr)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layoutMgr = mgr;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3" name="c2-kv-2"/>
          <p:cNvGrpSpPr/>
          <p:nvPr/>
        </p:nvGrpSpPr>
        <p:grpSpPr>
          <a:xfrm>
            <a:off x="6457379" y="3987641"/>
            <a:ext cx="5201221" cy="1646492"/>
            <a:chOff x="6457379" y="3987641"/>
            <a:chExt cx="5201221" cy="1646492"/>
          </a:xfrm>
        </p:grpSpPr>
        <p:sp>
          <p:nvSpPr>
            <p:cNvPr id="55" name="TextBox 55"/>
            <p:cNvSpPr txBox="1"/>
            <p:nvPr/>
          </p:nvSpPr>
          <p:spPr>
            <a:xfrm>
              <a:off x="6457379" y="3987641"/>
              <a:ext cx="79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41436" y="3987641"/>
              <a:ext cx="15497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容器类 Container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42910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7379" y="4403884"/>
              <a:ext cx="9038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41436" y="4403884"/>
              <a:ext cx="22542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布局接口 LayoutManager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47072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57379" y="4820126"/>
              <a:ext cx="17932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ConcreteStrategy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41436" y="4820126"/>
              <a:ext cx="280974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FlowLayout、GridLayout、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BorderLayout、GridBagLayout、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CardLayout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4" name="Rectangle 6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6011704"/>
              <a:ext cx="102674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Container 针对抽象策略 LayoutManager 编程，用户只要往 setLayout 里传一个具体布局对象，不必关心它怎么实现。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4652" cy="909257"/>
            <a:chOff x="520446" y="342900"/>
            <a:chExt cx="454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真实系统里的策略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里还有哪些地方在用策略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这一页是课件之外的补充。能认出这几个，策略模式基本就算学会了。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737360"/>
            <a:chOff x="533400" y="1928812"/>
            <a:chExt cx="5410200" cy="173736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90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Comparator 就是一族排序策略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706368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List&lt;Student&gt; list = getStudents();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按分数排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list.sort(Comparator.comparingInt(Student::getScore));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换成按姓名排，sort 本身一行没改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list.sort(Comparator.comparing(Student::getName));</a:t>
              </a:r>
            </a:p>
          </p:txBody>
        </p:sp>
      </p:grpSp>
      <p:grpSp>
        <p:nvGrpSpPr>
          <p:cNvPr id="15" name="c1-image-2"/>
          <p:cNvGrpSpPr/>
          <p:nvPr/>
        </p:nvGrpSpPr>
        <p:grpSpPr>
          <a:xfrm>
            <a:off x="533400" y="3830002"/>
            <a:ext cx="5410200" cy="1465612"/>
            <a:chOff x="533400" y="3830002"/>
            <a:chExt cx="5410200" cy="1465612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l="0" t="35434" r="0" b="35435"/>
            <a:stretch>
              <a:fillRect/>
            </a:stretch>
          </p:blipFill>
          <p:spPr>
            <a:xfrm>
              <a:off x="533400" y="3830002"/>
              <a:ext cx="5410200" cy="1182052"/>
            </a:xfrm>
            <a:prstGeom prst="roundRect">
              <a:avLst>
                <a:gd name="adj" fmla="val 11281"/>
              </a:avLst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2244090" y="5104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机器不变，换一个头就换一种活法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6248400" y="1928812"/>
            <a:ext cx="5410200" cy="2280285"/>
            <a:chOff x="6248400" y="1928812"/>
            <a:chExt cx="5410200" cy="2280285"/>
          </a:xfrm>
        </p:grpSpPr>
        <p:sp>
          <p:nvSpPr>
            <p:cNvPr id="16" name="Rectangle 16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2777" y="204597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JDK 里的位置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2444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抽象策略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92881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具体策略举例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43079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3704" y="2426970"/>
              <a:ext cx="8209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Comparator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80614" y="242697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按分数、按姓名的各种比较器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3079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容器布局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33704" y="2808923"/>
              <a:ext cx="1058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LayoutManager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80614" y="2808923"/>
              <a:ext cx="1681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FlowLayout、GridLayout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3079" y="33766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线程池拒绝任务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3704" y="3376612"/>
              <a:ext cx="17829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RejectedExecutionHandler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80614" y="3189923"/>
              <a:ext cx="1184148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AbortPolicy、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CallerRunsPolicy、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DiscardPolicy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822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382714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3079" y="39452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文件过滤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33704" y="3945255"/>
              <a:ext cx="653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FileFilter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80614" y="394525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各种自定义的过滤条件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1928812"/>
              <a:ext cx="5410200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434262" y="1928812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381172" y="1928812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6248400" y="4373880"/>
            <a:ext cx="5410200" cy="1160145"/>
            <a:chOff x="6248400" y="4373880"/>
            <a:chExt cx="5410200" cy="1160145"/>
          </a:xfrm>
        </p:grpSpPr>
        <p:sp>
          <p:nvSpPr>
            <p:cNvPr id="41" name="Rectangle 41"/>
            <p:cNvSpPr/>
            <p:nvPr/>
          </p:nvSpPr>
          <p:spPr>
            <a:xfrm>
              <a:off x="6248400" y="437388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450723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7475" y="45548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0147" y="45877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3451" y="4594384"/>
              <a:ext cx="2138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Comparator 这一行谁是谁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0998" y="491061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Comparator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是抽象策略，每个比较器是具体策略，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List.sort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使用算法的环境。比较规则整个从排序算法里分了出去。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10615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认出策略的两条线索：接口只声明一个方法且实现类常带 Policy、Strategy、Comparator 这类词；用它的类有一个 setXxx 专门换实现。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优缺点、适用场景，以及最容易认错的几个邻居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五条优点与三条缺点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策略与状态的分界和自测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优点：算法能复用，条件语句也没了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26923" y="1545431"/>
            <a:ext cx="3973258" cy="2782348"/>
            <a:chOff x="526923" y="1545431"/>
            <a:chExt cx="3973258" cy="2782348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张欣佳老师课件给的五条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7356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4096" y="184642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提供了一种算法复用机制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70572" y="215360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5738" y="209550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算法单独封装在策略类里，不同的环境类都能复用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38029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4096" y="23531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提供了管理算法族的办法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0572" y="266033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5738" y="260223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策略类的等级结构定义了一个算法族，公共代码可以上移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288702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4096" y="285988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可以避免多重条件选择语句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70572" y="316706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5738" y="310896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选哪个算法的逻辑不再和算法本身混在一起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339375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4096" y="336661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提供了替换继承关系的办法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0572" y="367379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5738" y="361569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不必给环境类派生一堆子类，也就不违反单一职责原则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3400" y="390048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4096" y="38733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支持开闭原则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0572" y="418052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5738" y="412242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不修改原有系统就能选算法，也能灵活增加新算法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451032"/>
            <a:ext cx="5626418" cy="1160145"/>
            <a:chOff x="533400" y="4451032"/>
            <a:chExt cx="5626418" cy="1160145"/>
          </a:xfrm>
        </p:grpSpPr>
        <p:sp>
          <p:nvSpPr>
            <p:cNvPr id="29" name="Rectangle 29"/>
            <p:cNvSpPr/>
            <p:nvPr/>
          </p:nvSpPr>
          <p:spPr>
            <a:xfrm>
              <a:off x="533400" y="4451032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58438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63200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246" y="466486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94625" y="467153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第一条优点在排序例子里的样子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4988719"/>
              <a:ext cx="49954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三个排序类并不认识 ArrayHandler，任何一个需要排序的环境类都能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直接把它们拿去用，不必再抄一遍冒泡。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1930718"/>
            <a:chOff x="6464618" y="1524000"/>
            <a:chExt cx="5193982" cy="1930718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50620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第三条为什么被单独拎出来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77216" y="2061686"/>
              <a:ext cx="45808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多重条件选择语句不易维护，它把“采取哪一种算法”的逻辑与算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法本身的实现逻辑混在一起，全部硬编码在一个庞大的选择语句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7216" y="283225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课件对这种写法的评价是：比直接继承环境类的办法还要原始和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落后。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3619500"/>
            <a:ext cx="5193982" cy="1991678"/>
            <a:chOff x="6464618" y="3619500"/>
            <a:chExt cx="5193982" cy="1991678"/>
          </a:xfrm>
        </p:grpSpPr>
        <p:sp>
          <p:nvSpPr>
            <p:cNvPr id="44" name="Rectangle 44"/>
            <p:cNvSpPr/>
            <p:nvPr/>
          </p:nvSpPr>
          <p:spPr>
            <a:xfrm>
              <a:off x="6464618" y="3619500"/>
              <a:ext cx="5193982" cy="1991678"/>
            </a:xfrm>
            <a:prstGeom prst="roundRect">
              <a:avLst>
                <a:gd name="adj" fmla="val 66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3752850"/>
              <a:ext cx="47625" cy="17249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38004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65163" y="38333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另一种说法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4001" y="38409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陈伟老师课件写的三条效果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93218" y="421005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8666" y="41571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封装一部分实现细节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93218" y="449484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48666" y="4441984"/>
              <a:ext cx="3715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允许在不新建上下文 Context 的情况下改变行为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93218" y="477964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48666" y="472678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允许相同的行为有不同的实现，而且可以动态地选择并改变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72845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第四条最容易被忽略：给环境类派子类等于把“选算法”和“算法本身”焊死，运行期再也换不了。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缺点：客户端要认识所有策略，而且不能嵌套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161" y="1547336"/>
            <a:ext cx="3676650" cy="2000155"/>
            <a:chOff x="526161" y="1547336"/>
            <a:chExt cx="3676650" cy="2000155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课件给的三条缺点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2024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88642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客户端必须知道所有策略类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75335" y="223361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9739" y="216503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还要理解它们的区别，才能选对那一个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493645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8096" y="245983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会产生很多具体策略类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5335" y="280701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9739" y="273939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任何细小的变化都要新增一个具体策略类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06705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096" y="303323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只适合扁平的算法结构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75335" y="338042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" y="331279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一个策略接口下都是兄弟算法，不能嵌套使用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685222"/>
            <a:ext cx="5410200" cy="1884998"/>
            <a:chOff x="533400" y="3685222"/>
            <a:chExt cx="5410200" cy="1884998"/>
          </a:xfrm>
        </p:grpSpPr>
        <p:sp>
          <p:nvSpPr>
            <p:cNvPr id="21" name="Rectangle 21"/>
            <p:cNvSpPr/>
            <p:nvPr/>
          </p:nvSpPr>
          <p:spPr>
            <a:xfrm>
              <a:off x="533400" y="3685222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81857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8890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543" y="39247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细看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744" y="3928586"/>
              <a:ext cx="29115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第三条说的“不能嵌套”是什么意思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428101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一系列算法地位平等、可以互换，构成的是一个扁平结构，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而且运行时刻只有一个算法被使用。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487251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遇到折上折、折后返券这类要组合或嵌套多个算法的业务，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应该用装饰模式（第 23 讲）。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2476500"/>
            <a:chOff x="6248400" y="1524000"/>
            <a:chExt cx="5410200" cy="247650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1744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三条缺点各自的缓解办法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3096" y="2119789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客户端要认识所有策略：把“按什么条件选哪个策略”交给简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单工厂（第 10 讲），客户端只给一个标识。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3096" y="2711291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策略类太多：无状态的策略做成单例（第 15 讲）共用一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份，非常简单的策略用 Lambda 代替单独建类。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3096" y="33027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只能扁平：要叠加就换装饰模式，要按状态自动切换就换状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态模式（第 37 讲）。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248400" y="4185285"/>
            <a:ext cx="5410200" cy="1383982"/>
            <a:chOff x="6248400" y="4185285"/>
            <a:chExt cx="5410200" cy="1383982"/>
          </a:xfrm>
        </p:grpSpPr>
        <p:sp>
          <p:nvSpPr>
            <p:cNvPr id="38" name="Rectangle 38"/>
            <p:cNvSpPr/>
            <p:nvPr/>
          </p:nvSpPr>
          <p:spPr>
            <a:xfrm>
              <a:off x="6248400" y="4185285"/>
              <a:ext cx="5410200" cy="1383982"/>
            </a:xfrm>
            <a:prstGeom prst="roundRect">
              <a:avLst>
                <a:gd name="adj" fmla="val 82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41129" y="4774048"/>
              <a:ext cx="224134" cy="192560"/>
              <a:chOff x="6441129" y="477404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53200" y="48444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41129" y="47740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53200" y="4922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511" y="4516279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策略模式并不决定在何时使用何种算法，算法的选择由客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户端来决定。灵活性提高了，理解各算法区别的负担也落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到了客户端身上。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5" name="Rectangle 4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04084"/>
              <a:ext cx="653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记住这条分界：策略负责“有哪些做法”，至于选哪一种做法，是客户端的事。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什么情况下用它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6542" y="1545907"/>
            <a:ext cx="3958539" cy="1884522"/>
            <a:chOff x="526542" y="1545907"/>
            <a:chExt cx="3958539" cy="1884522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张欣佳老师课件的三条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356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594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需要动态地在几种算法中选一种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21055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5840" y="21302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选哪一种要等运行时才能定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39363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4329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40601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一个对象有很多的行为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5840" y="267033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不用恰当的模式就只能写成多重条件选择语句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2934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078" y="29730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97" y="294608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不希望客户端知道复杂的数据结构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5840" y="321040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算法与相关数据结构一并封装，提高保密性与安全性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561398"/>
            <a:ext cx="5410200" cy="2116455"/>
            <a:chOff x="533400" y="3561398"/>
            <a:chExt cx="5410200" cy="2116455"/>
          </a:xfrm>
        </p:grpSpPr>
        <p:sp>
          <p:nvSpPr>
            <p:cNvPr id="24" name="Rectangle 24"/>
            <p:cNvSpPr/>
            <p:nvPr/>
          </p:nvSpPr>
          <p:spPr>
            <a:xfrm>
              <a:off x="533400" y="3561398"/>
              <a:ext cx="5410200" cy="2116455"/>
            </a:xfrm>
            <a:prstGeom prst="roundRect">
              <a:avLst>
                <a:gd name="adj" fmla="val 63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694748"/>
              <a:ext cx="47625" cy="18497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375380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1344" y="37880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不该用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0947" y="379380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这两种情况别硬套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418433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4128135"/>
              <a:ext cx="4184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做法只有两种而且以后不会变：一个 if-else 更清楚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44862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443007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几种做法要一起执行或者层层叠加：那是装饰或者职责链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30 讲）的活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241542" y="1545907"/>
            <a:ext cx="3209163" cy="2424590"/>
            <a:chOff x="6241542" y="1545907"/>
            <a:chExt cx="3209163" cy="2424590"/>
          </a:xfrm>
        </p:grpSpPr>
        <p:sp>
          <p:nvSpPr>
            <p:cNvPr id="34" name="TextBox 34"/>
            <p:cNvSpPr txBox="1"/>
            <p:nvPr/>
          </p:nvSpPr>
          <p:spPr>
            <a:xfrm>
              <a:off x="6241542" y="154590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陈伟老师课件的四条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185356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4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29197" y="186594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只是行为上有差异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36055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20840" y="21302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别的方面都一样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239363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4078" y="24329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9197" y="240601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差异部分可动态替换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36055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20840" y="267033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区别于编译期就定死的静态变化适应方式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2934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4078" y="29730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9197" y="294608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差异部分可能有更多的变体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36055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20840" y="32104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以后还会冒出新的做法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48400" y="34747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4078" y="35131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29197" y="34861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用多个条件语句区别不同的实质行为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36055" y="38138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20840" y="3750469"/>
              <a:ext cx="2717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看到成片的 if-else 在选做法就该想到它</a:t>
              </a:r>
            </a:p>
          </p:txBody>
        </p:sp>
      </p:grpSp>
      <p:grpSp>
        <p:nvGrpSpPr>
          <p:cNvPr id="58" name="c2-image-2"/>
          <p:cNvGrpSpPr/>
          <p:nvPr/>
        </p:nvGrpSpPr>
        <p:grpSpPr>
          <a:xfrm>
            <a:off x="6248400" y="4101465"/>
            <a:ext cx="5410200" cy="1598866"/>
            <a:chOff x="6248400" y="4101465"/>
            <a:chExt cx="5410200" cy="1598866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2"/>
            <a:srcRect l="0" t="33979" r="0" b="33979"/>
            <a:stretch>
              <a:fillRect/>
            </a:stretch>
          </p:blipFill>
          <p:spPr>
            <a:xfrm>
              <a:off x="6248400" y="4101465"/>
              <a:ext cx="5410200" cy="1300162"/>
            </a:xfrm>
            <a:prstGeom prst="roundRect">
              <a:avLst>
                <a:gd name="adj" fmla="val 10256"/>
              </a:avLst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6757226" y="5494972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左边的旋钮由人来拨，右边的信号灯自己换，这正是策略与状态的差别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62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先问一句“以后还会不会冒出新的做法”，不会冒出，就别为它单独建一族类。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策略与状态：最容易认错的一对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648456" cy="264033"/>
            <a:chOff x="526542" y="1545907"/>
            <a:chExt cx="364845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两者的类图几乎一样，分界只在于谁来切换。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28812"/>
            <a:ext cx="11125200" cy="2287905"/>
            <a:chOff x="533400" y="1928812"/>
            <a:chExt cx="11125200" cy="2287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2212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2881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696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环境类持有的对象代表什么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97936" y="242697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一种算法或者一种做法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6084" y="2426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对象当前所处的状态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谁决定换成哪一个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12782" y="2701290"/>
              <a:ext cx="42081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97936" y="2808923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客户端显式选择并注入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40930" y="2701290"/>
              <a:ext cx="42081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26084" y="2808923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环境类根据用户操作自动转换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18992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客户端要不要知道具体类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97936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必须知道，才能选对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6084" y="3189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无须关心具体状态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7187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具体类要不要认识环境类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97936" y="357187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不需要，策略之间也互不认识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6084" y="357187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往往持有环境类引用以便切换状态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952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关联的方向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97936" y="39528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环境类单向指向策略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6084" y="395287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环境类与状态类之间是双向关联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28812"/>
              <a:ext cx="11125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19849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42664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ompare-2"/>
          <p:cNvGrpSpPr/>
          <p:nvPr/>
        </p:nvGrpSpPr>
        <p:grpSpPr>
          <a:xfrm>
            <a:off x="533400" y="4381500"/>
            <a:ext cx="11125200" cy="1342072"/>
            <a:chOff x="533400" y="4381500"/>
            <a:chExt cx="11125200" cy="1342072"/>
          </a:xfrm>
        </p:grpSpPr>
        <p:sp>
          <p:nvSpPr>
            <p:cNvPr id="40" name="Rectangle 40"/>
            <p:cNvSpPr/>
            <p:nvPr/>
          </p:nvSpPr>
          <p:spPr>
            <a:xfrm>
              <a:off x="533400" y="4381500"/>
              <a:ext cx="533400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5148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5998" y="45839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这样就用策略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62000" y="493776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7448" y="488489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同一件事有好几种做法，地位平等可互换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2000" y="522255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7448" y="51696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由使用者挑一种，运行期注入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24600" y="4381500"/>
              <a:ext cx="533400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34125" y="45148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37198" y="45839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这样就用状态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53200" y="493776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08648" y="488489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对象有若干个状态，按规则互相转换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53200" y="522255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08648" y="516969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行为随状态自动变，用不着外人选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915025" y="487203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70080" y="499681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也可以通过环境类状态的个数来判断：状态多且互相转换就用状态模式，行为多且可互换就用策略模式。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和其它几个模式的分界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10703" cy="293370"/>
            <a:chOff x="525780" y="1548765"/>
            <a:chExt cx="791070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107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这几个模式都能让一段行为“换一种做法”，区别在于换的是什么、谁来换、能不能叠加。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54530"/>
            <a:ext cx="11125200" cy="3011805"/>
            <a:chOff x="533400" y="1954530"/>
            <a:chExt cx="11125200" cy="30118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972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59377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封装的是什么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6368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24681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能不能叠加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策略（本讲）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6672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一个算法或一种做法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28410" y="2394585"/>
              <a:ext cx="287369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24232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客户端在运行期选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16022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不能，只用一个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2946082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状态（第 37 讲）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6672" y="294608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某个状态下的整组行为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232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环境类自动转换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6022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3376612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模板方法（第 39 讲）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86672" y="337661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算法骨架里的某几个步骤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4232" y="337661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编译期由子类定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16022" y="33766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380619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86672" y="38061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一层附加职责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4232" y="380619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客户端逐层包起来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16022" y="38061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能，可以层层套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423672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桥接（第 21 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6672" y="423672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实现维度的一整族实现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4232" y="423672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抽象类持有实现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16022" y="42367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310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3580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4666298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简单工厂（第 10 讲）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86672" y="466629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对象的创建过程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24232" y="466629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按标识造对象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16022" y="46662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与叠加无关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54530"/>
              <a:ext cx="11125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76562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14122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05912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llout-2"/>
          <p:cNvGrpSpPr/>
          <p:nvPr/>
        </p:nvGrpSpPr>
        <p:grpSpPr>
          <a:xfrm>
            <a:off x="533400" y="5151120"/>
            <a:ext cx="11125200" cy="521970"/>
            <a:chOff x="533400" y="5151120"/>
            <a:chExt cx="11125200" cy="521970"/>
          </a:xfrm>
        </p:grpSpPr>
        <p:sp>
          <p:nvSpPr>
            <p:cNvPr id="52" name="Rectangle 52"/>
            <p:cNvSpPr/>
            <p:nvPr/>
          </p:nvSpPr>
          <p:spPr>
            <a:xfrm>
              <a:off x="533400" y="5151120"/>
              <a:ext cx="11125200" cy="521970"/>
            </a:xfrm>
            <a:prstGeom prst="roundRect">
              <a:avLst>
                <a:gd name="adj" fmla="val 2189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312093"/>
              <a:ext cx="200026" cy="200026"/>
              <a:chOff x="738188" y="531209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3120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53787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54121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5312569"/>
              <a:ext cx="103371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策略和模板方法解决的是同一个问题的两个方向：模板方法用继承在编译期定下步骤，策略用组合在运行期换掉整段算法。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简单工厂常和策略配合：工厂按标识造出具体策略，客户端就不必认识所有策略类了。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六个一考就错的地方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6059805" cy="3500438"/>
            <a:chOff x="533400" y="1524000"/>
            <a:chExt cx="6059805" cy="35004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500438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337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写代码和做判断题时按这六条自查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环境类的字段写成具体策略类型，运行期就换不了策略。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以为策略模式负责选算法，选算法自始至终是客户端的事。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3263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没注入策略就调用 algorithm()，会抛</a:t>
              </a:r>
              <a:br/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NullPointerException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4080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421380"/>
              <a:ext cx="4881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把“每一层都要执行”的场景当成策略，那是装饰模式。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37433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37856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3756660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把“状态自动转换”的场景当成策略，那是状态模式。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1050" y="407860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899" y="41208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2040" y="409194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让策略之间互相引用或互相调用，它们应当彼此不认识。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6898005" y="1533525"/>
            <a:ext cx="2837967" cy="2529173"/>
            <a:chOff x="6898005" y="1533525"/>
            <a:chExt cx="2837967" cy="2529173"/>
          </a:xfrm>
        </p:grpSpPr>
        <p:sp>
          <p:nvSpPr>
            <p:cNvPr id="31" name="Rectangle 31"/>
            <p:cNvSpPr/>
            <p:nvPr/>
          </p:nvSpPr>
          <p:spPr>
            <a:xfrm>
              <a:off x="703135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898005" y="348615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162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0948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0628" y="186166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这几种做法是不是在做同一件事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09485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0628" y="251221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换做法能不能等到运行期再定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0948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0628" y="316277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以后还会不会冒出新的做法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9485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0628" y="381333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一次只用一种，还是要几种叠加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898005" y="4241482"/>
            <a:ext cx="4760595" cy="782955"/>
            <a:chOff x="6898005" y="4241482"/>
            <a:chExt cx="4760595" cy="782955"/>
          </a:xfrm>
        </p:grpSpPr>
        <p:sp>
          <p:nvSpPr>
            <p:cNvPr id="49" name="Rectangle 49"/>
            <p:cNvSpPr/>
            <p:nvPr/>
          </p:nvSpPr>
          <p:spPr>
            <a:xfrm>
              <a:off x="6898005" y="4241482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102793" y="4532948"/>
              <a:ext cx="200026" cy="200025"/>
              <a:chOff x="7102793" y="453294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102793" y="45329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2531" y="45773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177247" y="46885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404735" y="4390072"/>
              <a:ext cx="3863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前三问都答“是”就用策略；第四问答“要叠加”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就改用装饰。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8758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题干里出现“运行时动态选择算法”“避免多重条件语句”“算法可以互换”，几乎都是在指策略模式。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模式包含哪三个角色？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861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Context、Strategy、ConcreteStrategy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谁来决定用哪一个具体策略？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客户端，模式本身不负责选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它的另一个名字叫什么？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672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政策模式 Policy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环境类里那个字段的类型？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抽象策略类型，不能写具体策略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策略模式的本质是什么？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分离算法，选择实现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策略与状态的关键分界是？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客户端选，还是环境类自动转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为什么说它只适合扁平结构？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运行时刻只有一个算法被使用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473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课件举的 Java SE 经典应用？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870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容器布局管理 LayoutManager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具体策略之间是什么关系？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地位平等的兄弟，互不认识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折上折、折后返券该用什么？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装饰模式，策略不能嵌套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策略模式最主要的缺点是？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客户端必须知道所有策略类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判断题常考这一句：策略模式并不决定何时使用何种算法。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38 策略模式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10471785" cy="1520380"/>
            <a:chOff x="533400" y="1534478"/>
            <a:chExt cx="10471785" cy="15203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策略模式定义一系列算法，把每个算法封装成一个类并让它们可以相互替换，算法因此独立于使用它的客户而变化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8570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三个角色：Context 持有抽象策略的引用，Strategy 声明算法接口，ConcreteStrategy 各实现一种算法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772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环境类的字段类型必须写抽象策略，客户端 new 出具体策略再注入，运行期换算法碰不到环境类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10190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优点是复用算法、管理算法族、消除多重条件语句、支持开闭原则；缺点是客户端要认识所有策略、类的数量多、只能扁平使用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784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90825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本质是分离算法、选择实现；与状态的分界在于谁来切换，与模板方法的分界在于用继承还是用组合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176588"/>
            <a:ext cx="11125200" cy="2525078"/>
            <a:chOff x="533400" y="3176588"/>
            <a:chExt cx="11125200" cy="2525078"/>
          </a:xfrm>
        </p:grpSpPr>
        <p:sp>
          <p:nvSpPr>
            <p:cNvPr id="23" name="Rectangle 23"/>
            <p:cNvSpPr/>
            <p:nvPr/>
          </p:nvSpPr>
          <p:spPr>
            <a:xfrm>
              <a:off x="533400" y="3176588"/>
              <a:ext cx="11125200" cy="2525078"/>
            </a:xfrm>
            <a:prstGeom prst="roundRect">
              <a:avLst>
                <a:gd name="adj" fmla="val 5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309938"/>
              <a:ext cx="47625" cy="22583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33689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7344" y="34032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4297" y="340899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3905" y="37309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9583" y="3769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4702" y="3743325"/>
              <a:ext cx="883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陈伟《设计模式16》p13 把引用当指针用，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void func(Strategy &amp; s) { s-&gt;doFunc(); 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s.doFunc()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3905" y="403383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9583" y="40722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4702" y="4046220"/>
              <a:ext cx="98978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同一份课件 p14 把类名拼成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Stragegy::getInstance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；p7 类图把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otherFunction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ohterFunction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，注释里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OutCardStrategy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OUtCardStrategy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；p4 的 outCards 函数体少一个右花括号。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3905" y="459295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9583" y="46322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702" y="4605338"/>
              <a:ext cx="9889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陈伟《设计模式15》p11 把方法名写成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，do 是保留字不能作方法名，改写为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doIt()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，同页代码还多套了一层花括号。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3905" y="489585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9583" y="49342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4702" y="4908233"/>
              <a:ext cx="98635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陈伟《设计模式15》p3 的“功能的减少(OO不支持)”表述含混，准确说法是用派生子类删不掉父类已有的方法；张欣佳课件 p25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“折后返卷”应为“折后返券”。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1" name="Rectangle 4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3610"/>
              <a:ext cx="8882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遇到“同一件事有好几种做法，而且要在运行时换”的场景，先想策略模式；下一步看第 39 讲的模板方法模式。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策略模式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8">
  <a:themeElements>
    <a:clrScheme name="sdp_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2026-09-19T09:35:51Z</dcterms:created>
  <dcterms:modified xsi:type="dcterms:W3CDTF">2026-09-19T09:35:51Z</dcterms:modified>
  <cp:category/>
  <cp:contentStatus/>
</cp:coreProperties>
</file>