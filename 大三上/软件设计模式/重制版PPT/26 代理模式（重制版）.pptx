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sdp_26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sdp_26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ec201e42b884cb4e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75b6ed9b2496a978.png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4112bd2b7d1c5e48.png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5843778" cy="3437763"/>
            <a:chOff x="666750" y="1619250"/>
            <a:chExt cx="5843778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2050732" cy="3429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00294" y="1718310"/>
              <a:ext cx="18226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软件设计模式 · 第十七讲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229971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代理模式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58338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不让客户直接碰到目标对象，中间那层就有了活动空间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八种代理形式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静态代理与动态代理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三个课件实例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与装饰适配器的分界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5403209" cy="205359"/>
            <a:chOff x="680466" y="6192202"/>
            <a:chExt cx="5403209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54032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自学复习版｜据吉林大学《软件设计模式》张欣佳、陈伟老师课件合并整理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760095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46139" y="407194"/>
              <a:ext cx="5346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26 代理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agenda-1"/>
          <p:cNvGrpSpPr/>
          <p:nvPr/>
        </p:nvGrpSpPr>
        <p:grpSpPr>
          <a:xfrm>
            <a:off x="521970" y="1515428"/>
            <a:ext cx="6287453" cy="4461795"/>
            <a:chOff x="521970" y="1515428"/>
            <a:chExt cx="6287453" cy="4461795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动机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客户端不能或不想直接访问目标对象时怎么办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定义与结构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三个角色，代理和目标实现同一个接口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代理的种类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八种形式，前五种是考试重点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课件实例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论坛权限、数学运算、图片浏览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静态与动态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从手写代理类到运行期生成代理对象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73468" y="5269230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1970" y="537495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5086" y="541115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效果与辨析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66990" y="5727859"/>
              <a:ext cx="39151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优缺点、RMI 与 Spring AOP、和装饰适配器的区别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7114222" y="1524000"/>
            <a:ext cx="4544378" cy="4402455"/>
            <a:chOff x="7114222" y="1524000"/>
            <a:chExt cx="4544378" cy="4402455"/>
          </a:xfrm>
        </p:grpSpPr>
        <p:sp>
          <p:nvSpPr>
            <p:cNvPr id="31" name="Rectangle 31"/>
            <p:cNvSpPr/>
            <p:nvPr/>
          </p:nvSpPr>
          <p:spPr>
            <a:xfrm>
              <a:off x="7114222" y="1524000"/>
              <a:ext cx="4544378" cy="4402455"/>
            </a:xfrm>
            <a:prstGeom prst="roundRect">
              <a:avLst>
                <a:gd name="adj" fmla="val 30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123748" y="1657350"/>
              <a:ext cx="47625" cy="4135755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211074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画出代理模式类图，两条实现线和那条指向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真实主题的关联线都不画反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2731770"/>
              <a:ext cx="35966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Java 写出抽象主题、真实主题、代理三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个类，说清代理在调用前后各插了什么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335280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认出远程、虚拟、保护、缓冲、智能引用这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五种代理各自解决什么问题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25702" y="3973830"/>
              <a:ext cx="37490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InvocationHandler 与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Proxy.newProxyInstance 写出一个 JDK 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态代理，并说出它的限制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367588" y="494347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25702" y="488061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判断一段代码属于代理、装饰还是适配器，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并说出判断依据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代理模式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024884" cy="2997517"/>
            <a:chOff x="667512" y="1835468"/>
            <a:chExt cx="4024884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45973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从代购说起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0149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客户端够不到目标对象时，谁来站在中间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代购与律师这两件事的共同点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没有中间层时客户端会变成什么样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模式定义与本质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代理模式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64306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0133" y="407194"/>
              <a:ext cx="14705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26 代理 · 从代购说起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动机：客户端为什么不直接找真实对象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7852054" cy="278702"/>
            <a:chOff x="526161" y="1547336"/>
            <a:chExt cx="7852054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78520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代购网站不生产商品，律师也不改判决。中间这一层只做一件事，就是控制你怎么接触对方。</a:t>
              </a:r>
            </a:p>
          </p:txBody>
        </p:sp>
      </p:grpSp>
      <p:grpSp>
        <p:nvGrpSpPr>
          <p:cNvPr id="27" name="c1-flow-1"/>
          <p:cNvGrpSpPr/>
          <p:nvPr/>
        </p:nvGrpSpPr>
        <p:grpSpPr>
          <a:xfrm>
            <a:off x="666750" y="2273618"/>
            <a:ext cx="5143500" cy="1012221"/>
            <a:chOff x="666750" y="2273618"/>
            <a:chExt cx="5143500" cy="1012221"/>
          </a:xfrm>
        </p:grpSpPr>
        <p:sp>
          <p:nvSpPr>
            <p:cNvPr id="9" name="Freeform 9"/>
            <p:cNvSpPr/>
            <p:nvPr/>
          </p:nvSpPr>
          <p:spPr>
            <a:xfrm>
              <a:off x="2203132" y="2700338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365058" y="264795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4007168" y="2700338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169092" y="264795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435418" y="2899410"/>
              <a:ext cx="3606165" cy="377190"/>
            </a:xfrm>
            <a:custGeom>
              <a:avLst/>
              <a:gdLst/>
              <a:ahLst/>
              <a:cxnLst/>
              <a:rect l="l" t="t" r="r" b="b"/>
              <a:pathLst>
                <a:path w="3606165" h="377190">
                  <a:moveTo>
                    <a:pt x="3606165" y="0"/>
                  </a:moveTo>
                  <a:lnTo>
                    <a:pt x="3606165" y="209550"/>
                  </a:lnTo>
                  <a:lnTo>
                    <a:pt x="3606165" y="377190"/>
                  </a:lnTo>
                  <a:lnTo>
                    <a:pt x="1803082" y="377190"/>
                  </a:lnTo>
                  <a:lnTo>
                    <a:pt x="0" y="377190"/>
                  </a:lnTo>
                  <a:lnTo>
                    <a:pt x="0" y="209550"/>
                  </a:lnTo>
                  <a:lnTo>
                    <a:pt x="0" y="1047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383030" y="289941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0"/>
                  </a:moveTo>
                  <a:lnTo>
                    <a:pt x="104775" y="104775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666750" y="2500312"/>
              <a:ext cx="1536382" cy="399098"/>
            </a:xfrm>
            <a:prstGeom prst="roundRect">
              <a:avLst>
                <a:gd name="adj" fmla="val 49881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2469832" y="2500312"/>
              <a:ext cx="1536382" cy="399098"/>
            </a:xfrm>
            <a:prstGeom prst="roundRect">
              <a:avLst>
                <a:gd name="adj" fmla="val 23866"/>
              </a:avLst>
            </a:prstGeom>
            <a:solidFill>
              <a:srgbClr val="EEEAF7"/>
            </a:solidFill>
            <a:ln w="19050">
              <a:solidFill>
                <a:srgbClr val="5B3FA0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4273868" y="2500312"/>
              <a:ext cx="1536382" cy="399098"/>
            </a:xfrm>
            <a:prstGeom prst="roundRect">
              <a:avLst>
                <a:gd name="adj" fmla="val 23866"/>
              </a:avLst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278928" y="26217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顾客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931236" y="26217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代购网站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583544" y="262175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境外购物网站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2040255" y="2273618"/>
              <a:ext cx="593408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067674" y="229790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填单付款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3843338" y="2273618"/>
              <a:ext cx="593408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871709" y="229790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代为下单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3843338" y="3069908"/>
              <a:ext cx="593408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871709" y="309514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快递发货</a:t>
              </a:r>
            </a:p>
          </p:txBody>
        </p:sp>
      </p:grpSp>
      <p:grpSp>
        <p:nvGrpSpPr>
          <p:cNvPr id="34" name="c1-card-2"/>
          <p:cNvGrpSpPr/>
          <p:nvPr/>
        </p:nvGrpSpPr>
        <p:grpSpPr>
          <a:xfrm>
            <a:off x="533400" y="3633788"/>
            <a:ext cx="5410200" cy="2017395"/>
            <a:chOff x="533400" y="3633788"/>
            <a:chExt cx="5410200" cy="2017395"/>
          </a:xfrm>
        </p:grpSpPr>
        <p:sp>
          <p:nvSpPr>
            <p:cNvPr id="28" name="Rectangle 28"/>
            <p:cNvSpPr/>
            <p:nvPr/>
          </p:nvSpPr>
          <p:spPr>
            <a:xfrm>
              <a:off x="533400" y="3633788"/>
              <a:ext cx="5410200" cy="2017395"/>
            </a:xfrm>
            <a:prstGeom prst="roundRect">
              <a:avLst>
                <a:gd name="adj" fmla="val 661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542925" y="3767138"/>
              <a:ext cx="47625" cy="175069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763905" y="3826192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43343" y="386048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另一个例子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747647" y="386619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当事人、律师、法院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57047" y="4199572"/>
              <a:ext cx="46428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陈伟老师课件用的是打官司。当事人不直接面对法院，而是找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律师；律师用同一套法律程序办同一件事，还能替当事人挡掉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一部分麻烦。</a:t>
              </a:r>
            </a:p>
          </p:txBody>
        </p:sp>
      </p:grpSp>
      <p:grpSp>
        <p:nvGrpSpPr>
          <p:cNvPr id="47" name="c2-card-1"/>
          <p:cNvGrpSpPr/>
          <p:nvPr/>
        </p:nvGrpSpPr>
        <p:grpSpPr>
          <a:xfrm>
            <a:off x="6248400" y="1941195"/>
            <a:ext cx="5410200" cy="2049780"/>
            <a:chOff x="6248400" y="1941195"/>
            <a:chExt cx="5410200" cy="2049780"/>
          </a:xfrm>
        </p:grpSpPr>
        <p:sp>
          <p:nvSpPr>
            <p:cNvPr id="35" name="Rectangle 35"/>
            <p:cNvSpPr/>
            <p:nvPr/>
          </p:nvSpPr>
          <p:spPr>
            <a:xfrm>
              <a:off x="6248400" y="1941195"/>
              <a:ext cx="5410200" cy="2049780"/>
            </a:xfrm>
            <a:prstGeom prst="roundRect">
              <a:avLst>
                <a:gd name="adj" fmla="val 650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257925" y="2074545"/>
              <a:ext cx="47625" cy="178308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478905" y="213360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570345" y="216789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动机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062597" y="2173605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代购要解决的两类问题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6478905" y="2495550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534583" y="253393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759702" y="2507932"/>
              <a:ext cx="44714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在当地根本买不到，或者当地价格比别处贵，只好托人在其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他地区甚至国外买了再寄回来。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478905" y="3055620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534583" y="309400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759702" y="3068002"/>
              <a:ext cx="44714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对商品信息缺乏了解，自己判断不了实际价值又不想被宰，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只好委托中介帮着讲价或代买。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473190" y="3623786"/>
              <a:ext cx="40823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代购网站接下代购单和货款，替你下单，再由快递发到你手上</a:t>
              </a:r>
            </a:p>
          </p:txBody>
        </p:sp>
      </p:grpSp>
      <p:grpSp>
        <p:nvGrpSpPr>
          <p:cNvPr id="53" name="c2-card-2"/>
          <p:cNvGrpSpPr/>
          <p:nvPr/>
        </p:nvGrpSpPr>
        <p:grpSpPr>
          <a:xfrm>
            <a:off x="6248400" y="4167188"/>
            <a:ext cx="5410200" cy="1483995"/>
            <a:chOff x="6248400" y="4167188"/>
            <a:chExt cx="5410200" cy="1483995"/>
          </a:xfrm>
        </p:grpSpPr>
        <p:sp>
          <p:nvSpPr>
            <p:cNvPr id="48" name="Rectangle 48"/>
            <p:cNvSpPr/>
            <p:nvPr/>
          </p:nvSpPr>
          <p:spPr>
            <a:xfrm>
              <a:off x="6248400" y="4167188"/>
              <a:ext cx="5410200" cy="1483995"/>
            </a:xfrm>
            <a:prstGeom prst="roundRect">
              <a:avLst>
                <a:gd name="adj" fmla="val 8986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440805" y="4359592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524244" y="439388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落到软件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291197" y="4398645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由于某些原因，客户端不想或不能直接访问一个对象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433947" y="4732972"/>
              <a:ext cx="481431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此时可以通过一个称之为</a:t>
              </a:r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代理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的第三者来实现间接访问。对象可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能在另一台主机上、创建起来很贵、或者不该让当前用户随便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碰，这三类原因各自对应一种代理。</a:t>
              </a:r>
            </a:p>
          </p:txBody>
        </p:sp>
      </p:grpSp>
      <p:grpSp>
        <p:nvGrpSpPr>
          <p:cNvPr id="59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54" name="Rectangle 54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1040892" y="6023610"/>
              <a:ext cx="52840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中间这层不改变要办的事，它改变的是办事的时机、地点和资格。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代理模式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64306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0133" y="407194"/>
              <a:ext cx="14705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26 代理 · 从代购说起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不用代理：控制访问的代码只能塞进客户端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9102090" cy="293370"/>
            <a:chOff x="525780" y="1548765"/>
            <a:chExt cx="910209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91020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目标对象只想做自己的业务。权限检查、延迟加载、远程通信这些事没地方放，就全落在调用方身上。</a:t>
              </a:r>
            </a:p>
          </p:txBody>
        </p:sp>
      </p:grpSp>
      <p:grpSp>
        <p:nvGrpSpPr>
          <p:cNvPr id="14" name="c1-code-1"/>
          <p:cNvGrpSpPr/>
          <p:nvPr/>
        </p:nvGrpSpPr>
        <p:grpSpPr>
          <a:xfrm>
            <a:off x="533400" y="1954530"/>
            <a:ext cx="6059805" cy="3533775"/>
            <a:chOff x="533400" y="1954530"/>
            <a:chExt cx="6059805" cy="3533775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6059805" cy="3533775"/>
            </a:xfrm>
            <a:prstGeom prst="roundRect">
              <a:avLst>
                <a:gd name="adj" fmla="val 269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106454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论坛功能直接暴露给客户端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2707005"/>
              <a:ext cx="6021705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52450" y="4031932"/>
              <a:ext cx="6021705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61416" y="2367915"/>
              <a:ext cx="4511231" cy="30485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ForumClient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publish(RealPermission real,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level)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(level == 1) {     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每个调用点判一次 */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real.publishNote();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System.out.println(</a:t>
              </a:r>
              <a:r>
                <a:rPr lang="zh-CN" sz="105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"对不起，您没有发帖权限。"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modify(RealPermission real,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level)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(level == 1) {     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同样的判断再抄一遍 */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real.modifyUserInfo();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System.out.println(</a:t>
              </a:r>
              <a:r>
                <a:rPr lang="zh-CN" sz="105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"对不起，您没有修改权限。"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9" name="c2-card-1"/>
          <p:cNvGrpSpPr/>
          <p:nvPr/>
        </p:nvGrpSpPr>
        <p:grpSpPr>
          <a:xfrm>
            <a:off x="6898005" y="1954530"/>
            <a:ext cx="4760595" cy="2175510"/>
            <a:chOff x="6898005" y="1954530"/>
            <a:chExt cx="4760595" cy="2175510"/>
          </a:xfrm>
        </p:grpSpPr>
        <p:sp>
          <p:nvSpPr>
            <p:cNvPr id="15" name="Rectangle 15"/>
            <p:cNvSpPr/>
            <p:nvPr/>
          </p:nvSpPr>
          <p:spPr>
            <a:xfrm>
              <a:off x="6898005" y="1954530"/>
              <a:ext cx="4760595" cy="2175510"/>
            </a:xfrm>
            <a:prstGeom prst="roundRect">
              <a:avLst>
                <a:gd name="adj" fmla="val 6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6907530" y="2087880"/>
              <a:ext cx="47625" cy="190881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134225" y="215265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225665" y="218694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代价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717536" y="218741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三条代价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134225" y="2519362"/>
              <a:ext cx="201930" cy="20193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192570" y="255874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424166" y="2531269"/>
              <a:ext cx="38016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权限规则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散落在每个调用点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。改一条规则要翻遍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所有客户端代码，漏一处就是一个安全洞。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134225" y="3108007"/>
              <a:ext cx="201930" cy="20193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192570" y="314834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424166" y="3120866"/>
              <a:ext cx="375653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客户端必须拿到 </a:t>
              </a:r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RealPermission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这个具体类，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换一套实现就得改客户端。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7134225" y="3697605"/>
              <a:ext cx="201930" cy="20193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192570" y="373699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424166" y="3709511"/>
              <a:ext cx="38376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真正的业务只有一行，其余全是判断和提示。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898005" y="4311015"/>
            <a:ext cx="4760595" cy="1268730"/>
            <a:chOff x="6898005" y="4311015"/>
            <a:chExt cx="4760595" cy="1268730"/>
          </a:xfrm>
        </p:grpSpPr>
        <p:sp>
          <p:nvSpPr>
            <p:cNvPr id="30" name="Rectangle 30"/>
            <p:cNvSpPr/>
            <p:nvPr/>
          </p:nvSpPr>
          <p:spPr>
            <a:xfrm>
              <a:off x="6898005" y="4311015"/>
              <a:ext cx="4760595" cy="1268730"/>
            </a:xfrm>
            <a:prstGeom prst="roundRect">
              <a:avLst>
                <a:gd name="adj" fmla="val 105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907530" y="4444365"/>
              <a:ext cx="47625" cy="100203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7134225" y="4509135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213664" y="4543425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想要的效果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117586" y="4543901"/>
              <a:ext cx="275477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客户端只写一句 publishNote()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126986" y="4887754"/>
              <a:ext cx="41622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能不能发帖由别人管。客户端拿到的到底是真身还是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代理，它不需要知道，也不应该知道。</a:t>
              </a:r>
            </a:p>
          </p:txBody>
        </p:sp>
      </p:grpSp>
      <p:grpSp>
        <p:nvGrpSpPr>
          <p:cNvPr id="42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37" name="Rectangle 37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738188" y="6011230"/>
              <a:ext cx="200023" cy="200023"/>
              <a:chOff x="738188" y="6011230"/>
              <a:chExt cx="200023" cy="200023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738188" y="601123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71538" y="60779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1040511" y="6011704"/>
              <a:ext cx="635749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代理模式要挪走的是这些判断，而不是帮你少写一次 publishNote 的调用。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代理模式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07933" cy="909257"/>
            <a:chOff x="520446" y="342900"/>
            <a:chExt cx="860793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64306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0133" y="407194"/>
              <a:ext cx="14705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26 代理 · 从代购说起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0793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定义：给对象提供一个代理，由代理控制对原对象的引用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842635" cy="2088832"/>
            <a:chOff x="533400" y="1524000"/>
            <a:chExt cx="5842635" cy="208883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2088832"/>
            </a:xfrm>
            <a:prstGeom prst="roundRect">
              <a:avLst>
                <a:gd name="adj" fmla="val 638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822132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5345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47597" y="1756410"/>
              <a:ext cx="24332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代理模式（Proxy Pattern）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047" y="2090738"/>
              <a:ext cx="515721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给某一个对象提供一个代理，并由代理对象控制对原对象的引用。代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理对象在客户端对象和目标对象之间起到中介作用，它去掉客户不能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看到的内容和服务，或者增添客户需要的额外新服务。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72478" y="2963227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28497" y="2907030"/>
              <a:ext cx="31996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英文又叫 </a:t>
              </a:r>
              <a:r>
                <a:rPr lang="en-US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Surrogate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（代理人、替身）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72478" y="3266122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8497" y="3209925"/>
              <a:ext cx="17583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属于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对象结构型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模式</a:t>
              </a:r>
            </a:p>
          </p:txBody>
        </p:sp>
      </p:grpSp>
      <p:grpSp>
        <p:nvGrpSpPr>
          <p:cNvPr id="23" name="c1-card-2"/>
          <p:cNvGrpSpPr/>
          <p:nvPr/>
        </p:nvGrpSpPr>
        <p:grpSpPr>
          <a:xfrm>
            <a:off x="533400" y="3788092"/>
            <a:ext cx="5842635" cy="1483995"/>
            <a:chOff x="533400" y="3788092"/>
            <a:chExt cx="5842635" cy="1483995"/>
          </a:xfrm>
        </p:grpSpPr>
        <p:sp>
          <p:nvSpPr>
            <p:cNvPr id="18" name="Rectangle 18"/>
            <p:cNvSpPr/>
            <p:nvPr/>
          </p:nvSpPr>
          <p:spPr>
            <a:xfrm>
              <a:off x="533400" y="3788092"/>
              <a:ext cx="5842635" cy="1483995"/>
            </a:xfrm>
            <a:prstGeom prst="roundRect">
              <a:avLst>
                <a:gd name="adj" fmla="val 8986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25805" y="3980498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17245" y="401478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本质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09497" y="402050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控制对象访问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8947" y="4354830"/>
              <a:ext cx="515721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把代理对象插到客户和目标对象之间，引入一定的</a:t>
              </a:r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间接性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。正是这个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间接性给了代理活动空间，它可以在调用目标对象前后附加操作，也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可以干脆不去创建和调用目标对象。</a:t>
              </a:r>
            </a:p>
          </p:txBody>
        </p:sp>
      </p:grpSp>
      <p:grpSp>
        <p:nvGrpSpPr>
          <p:cNvPr id="26" name="c2-image-1"/>
          <p:cNvGrpSpPr/>
          <p:nvPr/>
        </p:nvGrpSpPr>
        <p:grpSpPr>
          <a:xfrm>
            <a:off x="6680835" y="1524000"/>
            <a:ext cx="4977765" cy="1997964"/>
            <a:chOff x="6680835" y="1524000"/>
            <a:chExt cx="4977765" cy="1997964"/>
          </a:xfrm>
        </p:grpSpPr>
        <p:pic>
          <p:nvPicPr>
            <p:cNvPr id="24" name="Image 24"/>
            <p:cNvPicPr>
              <a:picLocks noChangeAspect="1"/>
            </p:cNvPicPr>
            <p:nvPr/>
          </p:nvPicPr>
          <p:blipFill>
            <a:blip r:embed="rId2"/>
            <a:srcRect l="0" t="27242" r="0" b="27242"/>
            <a:stretch>
              <a:fillRect/>
            </a:stretch>
          </p:blipFill>
          <p:spPr>
            <a:xfrm>
              <a:off x="6680835" y="1524000"/>
              <a:ext cx="4977765" cy="1699260"/>
            </a:xfrm>
            <a:prstGeom prst="roundRect">
              <a:avLst>
                <a:gd name="adj" fmla="val 7847"/>
              </a:avLst>
            </a:prstGeom>
          </p:spPr>
        </p:pic>
        <p:sp>
          <p:nvSpPr>
            <p:cNvPr id="25" name="TextBox 25"/>
            <p:cNvSpPr txBox="1"/>
            <p:nvPr/>
          </p:nvSpPr>
          <p:spPr>
            <a:xfrm>
              <a:off x="7468172" y="3316605"/>
              <a:ext cx="34030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同一道门，凭证不同放行的级别就不同，这是保护代理</a:t>
              </a:r>
            </a:p>
          </p:txBody>
        </p:sp>
      </p:grpSp>
      <p:grpSp>
        <p:nvGrpSpPr>
          <p:cNvPr id="33" name="c2-card-2"/>
          <p:cNvGrpSpPr/>
          <p:nvPr/>
        </p:nvGrpSpPr>
        <p:grpSpPr>
          <a:xfrm>
            <a:off x="6680835" y="3674745"/>
            <a:ext cx="4977765" cy="1597342"/>
            <a:chOff x="6680835" y="3674745"/>
            <a:chExt cx="4977765" cy="1597342"/>
          </a:xfrm>
        </p:grpSpPr>
        <p:sp>
          <p:nvSpPr>
            <p:cNvPr id="27" name="Rectangle 27"/>
            <p:cNvSpPr/>
            <p:nvPr/>
          </p:nvSpPr>
          <p:spPr>
            <a:xfrm>
              <a:off x="6680835" y="3674745"/>
              <a:ext cx="4977765" cy="1597342"/>
            </a:xfrm>
            <a:prstGeom prst="roundRect">
              <a:avLst>
                <a:gd name="adj" fmla="val 834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690360" y="3808095"/>
              <a:ext cx="47625" cy="133064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911340" y="386715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002780" y="390144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别混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495032" y="3907155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代理不改接口，也不加职责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904482" y="4240530"/>
              <a:ext cx="42999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代理提供的方法和真实主题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完全一样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，客户调用的写法一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个字都不变。想换接口那是适配器，想加职责那是装饰，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33 页会逐条分清。</a:t>
              </a:r>
            </a:p>
          </p:txBody>
        </p:sp>
      </p:grpSp>
      <p:grpSp>
        <p:nvGrpSpPr>
          <p:cNvPr id="40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34" name="Rectangle 34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738188" y="6017895"/>
              <a:ext cx="200026" cy="200026"/>
              <a:chOff x="738188" y="6017895"/>
              <a:chExt cx="200026" cy="200026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738188" y="60178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38200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27088" y="61179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1040892" y="6023610"/>
              <a:ext cx="70469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代理模式应用很广、变化形式也多，光是课件里列出来的就有八种，第 13 页一次看完。</a:t>
              </a:r>
            </a:p>
          </p:txBody>
        </p:sp>
      </p:grpSp>
      <p:grpSp>
        <p:nvGrpSpPr>
          <p:cNvPr id="4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1" name="TextBox 41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代理模式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882896" cy="2997517"/>
            <a:chOff x="667512" y="1835468"/>
            <a:chExt cx="4882896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88289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结构、角色与标准实现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5707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三个类，一条引用线，前后各插一段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标准类图的四条线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三个角色各管什么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34457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标准代码与调用推演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代理模式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26 代理 · 结构、角色与标准实现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结构：代理和真实主题实现同一个抽象主题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9909810" cy="293370"/>
            <a:chOff x="525780" y="1548765"/>
            <a:chExt cx="990981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99098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代理模式的结构很简单，核心是代理类。为了让客户端一致地对待真实对象和代理对象，模式里引入了抽象层。</a:t>
              </a:r>
            </a:p>
          </p:txBody>
        </p:sp>
      </p:grpSp>
      <p:grpSp>
        <p:nvGrpSpPr>
          <p:cNvPr id="44" name="c1-uml-1"/>
          <p:cNvGrpSpPr/>
          <p:nvPr/>
        </p:nvGrpSpPr>
        <p:grpSpPr>
          <a:xfrm>
            <a:off x="863918" y="2503170"/>
            <a:ext cx="4885181" cy="2721292"/>
            <a:chOff x="863918" y="2503170"/>
            <a:chExt cx="4885181" cy="2721292"/>
          </a:xfrm>
        </p:grpSpPr>
        <p:sp>
          <p:nvSpPr>
            <p:cNvPr id="9" name="Freeform 9"/>
            <p:cNvSpPr/>
            <p:nvPr/>
          </p:nvSpPr>
          <p:spPr>
            <a:xfrm>
              <a:off x="2006918" y="2865120"/>
              <a:ext cx="660083" cy="9525"/>
            </a:xfrm>
            <a:custGeom>
              <a:avLst/>
              <a:gdLst/>
              <a:ahLst/>
              <a:cxnLst/>
              <a:rect l="l" t="t" r="r" b="b"/>
              <a:pathLst>
                <a:path w="660083" h="9525">
                  <a:moveTo>
                    <a:pt x="0" y="0"/>
                  </a:moveTo>
                  <a:lnTo>
                    <a:pt x="660083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562225" y="2807970"/>
              <a:ext cx="104775" cy="115252"/>
            </a:xfrm>
            <a:custGeom>
              <a:avLst/>
              <a:gdLst/>
              <a:ahLst/>
              <a:cxnLst/>
              <a:rect l="l" t="t" r="r" b="b"/>
              <a:pathLst>
                <a:path w="104775" h="115252">
                  <a:moveTo>
                    <a:pt x="0" y="115252"/>
                  </a:moveTo>
                  <a:lnTo>
                    <a:pt x="104775" y="57150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435418" y="3353752"/>
              <a:ext cx="1707832" cy="1039177"/>
            </a:xfrm>
            <a:custGeom>
              <a:avLst/>
              <a:gdLst/>
              <a:ahLst/>
              <a:cxnLst/>
              <a:rect l="l" t="t" r="r" b="b"/>
              <a:pathLst>
                <a:path w="1707832" h="1039177">
                  <a:moveTo>
                    <a:pt x="0" y="1039177"/>
                  </a:moveTo>
                  <a:lnTo>
                    <a:pt x="0" y="456247"/>
                  </a:lnTo>
                  <a:lnTo>
                    <a:pt x="1707832" y="456247"/>
                  </a:lnTo>
                  <a:lnTo>
                    <a:pt x="1707832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2" name="Freeform 12"/>
            <p:cNvSpPr/>
            <p:nvPr/>
          </p:nvSpPr>
          <p:spPr>
            <a:xfrm>
              <a:off x="3069908" y="3228022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3333750" y="3353752"/>
              <a:ext cx="1707832" cy="795338"/>
            </a:xfrm>
            <a:custGeom>
              <a:avLst/>
              <a:gdLst/>
              <a:ahLst/>
              <a:cxnLst/>
              <a:rect l="l" t="t" r="r" b="b"/>
              <a:pathLst>
                <a:path w="1707832" h="795338">
                  <a:moveTo>
                    <a:pt x="1707832" y="795338"/>
                  </a:moveTo>
                  <a:lnTo>
                    <a:pt x="1707832" y="335280"/>
                  </a:lnTo>
                  <a:lnTo>
                    <a:pt x="0" y="335280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4" name="Freeform 14"/>
            <p:cNvSpPr/>
            <p:nvPr/>
          </p:nvSpPr>
          <p:spPr>
            <a:xfrm>
              <a:off x="3260408" y="3228022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2006918" y="4687252"/>
              <a:ext cx="2338388" cy="9525"/>
            </a:xfrm>
            <a:custGeom>
              <a:avLst/>
              <a:gdLst/>
              <a:ahLst/>
              <a:cxnLst/>
              <a:rect l="l" t="t" r="r" b="b"/>
              <a:pathLst>
                <a:path w="2338388" h="9525">
                  <a:moveTo>
                    <a:pt x="2338388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2006918" y="4629150"/>
              <a:ext cx="104775" cy="115253"/>
            </a:xfrm>
            <a:custGeom>
              <a:avLst/>
              <a:gdLst/>
              <a:ahLst/>
              <a:cxnLst/>
              <a:rect l="l" t="t" r="r" b="b"/>
              <a:pathLst>
                <a:path w="104775" h="115253">
                  <a:moveTo>
                    <a:pt x="104775" y="0"/>
                  </a:moveTo>
                  <a:lnTo>
                    <a:pt x="0" y="58103"/>
                  </a:lnTo>
                  <a:lnTo>
                    <a:pt x="104775" y="115253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863918" y="2652712"/>
              <a:ext cx="1143000" cy="42576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870585" y="2659380"/>
              <a:ext cx="112871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863918" y="288321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863918" y="297846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2667000" y="2503170"/>
              <a:ext cx="1143000" cy="72485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2674620" y="2509838"/>
              <a:ext cx="1128712" cy="36480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2667000" y="287083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2667000" y="296608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863918" y="4392930"/>
              <a:ext cx="1143000" cy="5876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870585" y="4399598"/>
              <a:ext cx="112871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863918" y="462343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863918" y="471868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4345305" y="4149090"/>
              <a:ext cx="1392555" cy="107537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352925" y="4156710"/>
              <a:ext cx="1378268" cy="227648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4345305" y="4379595"/>
              <a:ext cx="139255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345305" y="4637722"/>
              <a:ext cx="139255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234701" y="2708434"/>
              <a:ext cx="4014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Client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913611" y="2555081"/>
              <a:ext cx="64977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«interface»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982188" y="2695099"/>
              <a:ext cx="5126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Subject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738438" y="3035618"/>
              <a:ext cx="7122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request()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42104" y="4448651"/>
              <a:ext cx="7866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RealSubject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35355" y="4788218"/>
              <a:ext cx="7122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request()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844003" y="4204811"/>
              <a:ext cx="3951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Proxy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416742" y="4449128"/>
              <a:ext cx="13323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realSubject: Subject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416742" y="4707255"/>
              <a:ext cx="923925" cy="5000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preRequest()</a:t>
              </a:r>
              <a:br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request()</a:t>
              </a:r>
              <a:br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postRequest()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2758440" y="4471035"/>
              <a:ext cx="835342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2776986" y="4497705"/>
              <a:ext cx="79920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realSubject</a:t>
              </a:r>
            </a:p>
          </p:txBody>
        </p:sp>
      </p:grpSp>
      <p:grpSp>
        <p:nvGrpSpPr>
          <p:cNvPr id="53" name="c2-kv-1"/>
          <p:cNvGrpSpPr/>
          <p:nvPr/>
        </p:nvGrpSpPr>
        <p:grpSpPr>
          <a:xfrm>
            <a:off x="6241161" y="1977866"/>
            <a:ext cx="5417439" cy="1925574"/>
            <a:chOff x="6241161" y="1977866"/>
            <a:chExt cx="5417439" cy="1925574"/>
          </a:xfrm>
        </p:grpSpPr>
        <p:sp>
          <p:nvSpPr>
            <p:cNvPr id="45" name="TextBox 45"/>
            <p:cNvSpPr txBox="1"/>
            <p:nvPr/>
          </p:nvSpPr>
          <p:spPr>
            <a:xfrm>
              <a:off x="6241161" y="1977866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两条实现线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427976" y="1977866"/>
              <a:ext cx="3837686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空心三角虚线画在 Subject 这一端，真实主题和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代理都实现抽象主题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248400" y="255174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241161" y="2667476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一条关联线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427976" y="2667476"/>
              <a:ext cx="3837686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 Proxy 指向 RealSubject，箭头在真实主题这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一端，代理持有它的引用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248400" y="324135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241161" y="3357086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客户那条线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427976" y="3357086"/>
              <a:ext cx="3963924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客户类只认识 Subject，箭头指向抽象主题，不指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向任何具体类</a:t>
              </a:r>
            </a:p>
          </p:txBody>
        </p:sp>
      </p:grpSp>
      <p:grpSp>
        <p:nvGrpSpPr>
          <p:cNvPr id="59" name="c2-card-2"/>
          <p:cNvGrpSpPr/>
          <p:nvPr/>
        </p:nvGrpSpPr>
        <p:grpSpPr>
          <a:xfrm>
            <a:off x="6248400" y="4032885"/>
            <a:ext cx="5410200" cy="1564958"/>
            <a:chOff x="6248400" y="4032885"/>
            <a:chExt cx="5410200" cy="1564958"/>
          </a:xfrm>
        </p:grpSpPr>
        <p:sp>
          <p:nvSpPr>
            <p:cNvPr id="54" name="Rectangle 54"/>
            <p:cNvSpPr/>
            <p:nvPr/>
          </p:nvSpPr>
          <p:spPr>
            <a:xfrm>
              <a:off x="6248400" y="4032885"/>
              <a:ext cx="5410200" cy="1564958"/>
            </a:xfrm>
            <a:prstGeom prst="roundRect">
              <a:avLst>
                <a:gd name="adj" fmla="val 8521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452235" y="423672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542443" y="427243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读图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053644" y="4276249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两条实现线是替换的前提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444996" y="4628674"/>
              <a:ext cx="470331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代理和真实主题有</a:t>
              </a:r>
              <a:r>
                <a:rPr lang="zh-CN" sz="142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相同的接口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，所以任何使用真实主题的地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方都可以塞进代理，客户端察觉不到。少了这两条线，代理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就只是个普通的包装类。</a:t>
              </a:r>
            </a:p>
          </p:txBody>
        </p:sp>
      </p:grpSp>
      <p:grpSp>
        <p:nvGrpSpPr>
          <p:cNvPr id="66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60" name="Rectangle 60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726129" y="5999916"/>
              <a:ext cx="224134" cy="192560"/>
              <a:chOff x="726129" y="5999916"/>
              <a:chExt cx="224134" cy="192560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838200" y="607028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726129" y="599991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838200" y="614807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1040511" y="6004084"/>
              <a:ext cx="915867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把关联线画成 Proxy 指向 Subject 也算对，指向 RealSubject 更贴近课件的典型代码，两种写法要认得出。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代理模式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772156" cy="909257"/>
            <a:chOff x="520446" y="342900"/>
            <a:chExt cx="277215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26 代理 · 结构、角色与标准实现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7721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三个角色各管什么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kv-1"/>
          <p:cNvGrpSpPr/>
          <p:nvPr/>
        </p:nvGrpSpPr>
        <p:grpSpPr>
          <a:xfrm>
            <a:off x="525780" y="1548765"/>
            <a:ext cx="6283642" cy="3429000"/>
            <a:chOff x="525780" y="1548765"/>
            <a:chExt cx="6283642" cy="342900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1366838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Subject 抽象主</a:t>
              </a:r>
              <a:br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题角色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157412" y="1548765"/>
              <a:ext cx="4396740" cy="857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声明真实主题和代理主题的共同接口，这样在任何使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用真实主题的地方都可以使用代理主题。它可以是接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口、抽象类或具体类，客户端通常针对它编程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243268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5780" y="2552700"/>
              <a:ext cx="1375886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RealSubject 真</a:t>
              </a:r>
              <a:br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实主题角色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157412" y="2552700"/>
              <a:ext cx="4396740" cy="857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定义了代理角色所代表的真实对象，实现真实的业务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操作。客户端通过代理主题角色间接调用它里面定义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的操作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343662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5780" y="3556635"/>
              <a:ext cx="1387316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Proxy 代理主题</a:t>
              </a:r>
              <a:br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角色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157412" y="3556635"/>
              <a:ext cx="4396740" cy="14211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持有对真实主题的引用，从而可以在任何时候操作真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实主题对象；提供与真实主题相同的接口，以便随时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替代真实主题；还可以控制对真实主题的使用，负责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在需要时创建和删除真实主题对象，并对它的使用加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以约束</a:t>
              </a:r>
            </a:p>
          </p:txBody>
        </p:sp>
      </p:grpSp>
      <p:grpSp>
        <p:nvGrpSpPr>
          <p:cNvPr id="22" name="c2-card-1"/>
          <p:cNvGrpSpPr/>
          <p:nvPr/>
        </p:nvGrpSpPr>
        <p:grpSpPr>
          <a:xfrm>
            <a:off x="7114222" y="1524000"/>
            <a:ext cx="4544378" cy="1621155"/>
            <a:chOff x="7114222" y="1524000"/>
            <a:chExt cx="4544378" cy="1621155"/>
          </a:xfrm>
        </p:grpSpPr>
        <p:sp>
          <p:nvSpPr>
            <p:cNvPr id="16" name="Rectangle 16"/>
            <p:cNvSpPr/>
            <p:nvPr/>
          </p:nvSpPr>
          <p:spPr>
            <a:xfrm>
              <a:off x="7114222" y="1524000"/>
              <a:ext cx="4544378" cy="1621155"/>
            </a:xfrm>
            <a:prstGeom prst="roundRect">
              <a:avLst>
                <a:gd name="adj" fmla="val 82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7123748" y="1657350"/>
              <a:ext cx="47625" cy="135445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61872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452081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常错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961948" y="1768792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代理不是单纯地转发一次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354252" y="2129790"/>
              <a:ext cx="3825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客户端在调用所引用的真实主题操作之前或之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后，通常还要执行其他操作。只把调用原样传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过去的那个类，习惯上叫委托，不叫代理。</a:t>
              </a:r>
            </a:p>
          </p:txBody>
        </p:sp>
      </p:grpSp>
      <p:grpSp>
        <p:nvGrpSpPr>
          <p:cNvPr id="29" name="c2-card-2"/>
          <p:cNvGrpSpPr/>
          <p:nvPr/>
        </p:nvGrpSpPr>
        <p:grpSpPr>
          <a:xfrm>
            <a:off x="7114222" y="3335655"/>
            <a:ext cx="4544378" cy="1621155"/>
            <a:chOff x="7114222" y="3335655"/>
            <a:chExt cx="4544378" cy="1621155"/>
          </a:xfrm>
        </p:grpSpPr>
        <p:sp>
          <p:nvSpPr>
            <p:cNvPr id="23" name="Rectangle 23"/>
            <p:cNvSpPr/>
            <p:nvPr/>
          </p:nvSpPr>
          <p:spPr>
            <a:xfrm>
              <a:off x="7114222" y="3335655"/>
              <a:ext cx="4544378" cy="1621155"/>
            </a:xfrm>
            <a:prstGeom prst="roundRect">
              <a:avLst>
                <a:gd name="adj" fmla="val 82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7123748" y="3469005"/>
              <a:ext cx="47625" cy="13544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361872" y="354520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452081" y="358092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记法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961948" y="3580448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三个角色对上代购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354252" y="3941445"/>
              <a:ext cx="38061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Subject 是“买商品”这件事本身，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RealSubject 是境外购物网站，Proxy 是代购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网站，Client 就是下单的顾客。</a:t>
              </a:r>
            </a:p>
          </p:txBody>
        </p:sp>
      </p:grpSp>
      <p:grpSp>
        <p:nvGrpSpPr>
          <p:cNvPr id="35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0" name="Rectangle 30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1040130" y="5991225"/>
              <a:ext cx="82943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判断一个类是不是代理，先看它实现的接口和目标是否相同，再看它有没有持有目标的引用。</a:t>
              </a:r>
            </a:p>
          </p:txBody>
        </p:sp>
      </p:grpSp>
      <p:grpSp>
        <p:nvGrpSpPr>
          <p:cNvPr id="3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6" name="TextBox 36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代理模式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26 代理 · 结构、角色与标准实现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代码实现：前后各插一段，中间把活儿转给真身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919722" cy="264033"/>
            <a:chOff x="526542" y="1545907"/>
            <a:chExt cx="6919722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9197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三个类写完就是一个能跑的静态代理，课件里的所有代理形式都从这段代码变化出来。</a:t>
              </a:r>
            </a:p>
          </p:txBody>
        </p:sp>
      </p:grpSp>
      <p:grpSp>
        <p:nvGrpSpPr>
          <p:cNvPr id="13" name="c1-code-1"/>
          <p:cNvGrpSpPr/>
          <p:nvPr/>
        </p:nvGrpSpPr>
        <p:grpSpPr>
          <a:xfrm>
            <a:off x="533400" y="1928812"/>
            <a:ext cx="6059805" cy="3670935"/>
            <a:chOff x="533400" y="1928812"/>
            <a:chExt cx="6059805" cy="3670935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6059805" cy="3670935"/>
            </a:xfrm>
            <a:prstGeom prst="roundRect">
              <a:avLst>
                <a:gd name="adj" fmla="val 259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80736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抽象主题、真实主题与代理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4765358"/>
              <a:ext cx="6021705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797" y="2340769"/>
              <a:ext cx="4409567" cy="31863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interface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AbstractSubject {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抽象主题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request();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RealSubject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AbstractSubject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request()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"RealSubject 执行真正的业务"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Proxy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AbstractSubject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AbstractSubject realSubject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RealSubject();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preRequest()  { System.out.println(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"前置处理"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postRequest() { System.out.println(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"后置处理"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request()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preRequest();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realSubject.request();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调用真实主题的方法 */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postRequest();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5" name="c2-card-1"/>
          <p:cNvGrpSpPr/>
          <p:nvPr/>
        </p:nvGrpSpPr>
        <p:grpSpPr>
          <a:xfrm>
            <a:off x="6898005" y="1928812"/>
            <a:ext cx="4760595" cy="2416492"/>
            <a:chOff x="6898005" y="1928812"/>
            <a:chExt cx="4760595" cy="2416492"/>
          </a:xfrm>
        </p:grpSpPr>
        <p:sp>
          <p:nvSpPr>
            <p:cNvPr id="14" name="Rectangle 14"/>
            <p:cNvSpPr/>
            <p:nvPr/>
          </p:nvSpPr>
          <p:spPr>
            <a:xfrm>
              <a:off x="6898005" y="1928812"/>
              <a:ext cx="4760595" cy="2416492"/>
            </a:xfrm>
            <a:prstGeom prst="roundRect">
              <a:avLst>
                <a:gd name="adj" fmla="val 551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6907530" y="2062162"/>
              <a:ext cx="47625" cy="214979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17080" y="210978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208799" y="21426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83056" y="2149316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原课件这段代码的两处问题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117080" y="2454592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168987" y="249021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386828" y="2465546"/>
              <a:ext cx="3922522" cy="978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方法名写成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prerequest()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postrequest()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，原课件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讲模式扩展时又写作 preRequest、postRequest，同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一份课件里两种拼法。按 Java 命名规范统一成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小驼</a:t>
              </a:r>
              <a:br/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峰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117080" y="3468052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168987" y="350367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386828" y="3479959"/>
              <a:ext cx="391439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字段声明成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private RealSubject realsubject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，代理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和具体真实主题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硬绑在一起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，换一个真实主题就得改代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理。声明成抽象主题类型即可。</a:t>
              </a:r>
            </a:p>
          </p:txBody>
        </p:sp>
      </p:grpSp>
      <p:grpSp>
        <p:nvGrpSpPr>
          <p:cNvPr id="31" name="c2-card-2"/>
          <p:cNvGrpSpPr/>
          <p:nvPr/>
        </p:nvGrpSpPr>
        <p:grpSpPr>
          <a:xfrm>
            <a:off x="6898005" y="4510088"/>
            <a:ext cx="4760595" cy="1160145"/>
            <a:chOff x="6898005" y="4510088"/>
            <a:chExt cx="4760595" cy="1160145"/>
          </a:xfrm>
        </p:grpSpPr>
        <p:sp>
          <p:nvSpPr>
            <p:cNvPr id="26" name="Rectangle 26"/>
            <p:cNvSpPr/>
            <p:nvPr/>
          </p:nvSpPr>
          <p:spPr>
            <a:xfrm>
              <a:off x="6898005" y="4510088"/>
              <a:ext cx="4760595" cy="1160145"/>
            </a:xfrm>
            <a:prstGeom prst="roundRect">
              <a:avLst>
                <a:gd name="adj" fmla="val 11494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078980" y="469106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170699" y="472392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记住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44956" y="4730591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代理类的三件事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072503" y="5047774"/>
              <a:ext cx="407695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实现和目标相同的接口，持有目标的引用，在转调前后插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入自己要做的事。</a:t>
              </a:r>
            </a:p>
          </p:txBody>
        </p:sp>
      </p:grpSp>
      <p:grpSp>
        <p:nvGrpSpPr>
          <p:cNvPr id="38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32" name="Rectangle 32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041273" y="6039326"/>
              <a:ext cx="80479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更常见的写法是由构造方法把真实主题传进来，历年题文档里的 UserManagerImplProxy 就是这么做的。</a:t>
              </a:r>
            </a:p>
          </p:txBody>
        </p:sp>
      </p:grpSp>
      <p:grpSp>
        <p:nvGrpSpPr>
          <p:cNvPr id="4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9" name="TextBox 39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代理模式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458718" cy="909257"/>
            <a:chOff x="520446" y="342900"/>
            <a:chExt cx="34587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26 代理 · 结构、角色与标准实现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4587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客户端调用与运行推演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8343191" cy="308039"/>
            <a:chOff x="525399" y="1550194"/>
            <a:chExt cx="8343191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834319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客户端声明的是抽象主题类型，new 出来的是代理，调用的写法和直接用真身完全一样。</a:t>
              </a:r>
            </a:p>
          </p:txBody>
        </p:sp>
      </p:grpSp>
      <p:grpSp>
        <p:nvGrpSpPr>
          <p:cNvPr id="13" name="c1-code-1"/>
          <p:cNvGrpSpPr/>
          <p:nvPr/>
        </p:nvGrpSpPr>
        <p:grpSpPr>
          <a:xfrm>
            <a:off x="533400" y="1967865"/>
            <a:ext cx="5626418" cy="1719262"/>
            <a:chOff x="533400" y="1967865"/>
            <a:chExt cx="5626418" cy="1719262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5626418" cy="1719262"/>
            </a:xfrm>
            <a:prstGeom prst="roundRect">
              <a:avLst>
                <a:gd name="adj" fmla="val 554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11978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客户端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2745105"/>
              <a:ext cx="5588318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035" y="2381726"/>
              <a:ext cx="3915918" cy="1234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Client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AbstractSubject subject =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Proxy();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subject.request();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调用方式不变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9" name="c1-card-2"/>
          <p:cNvGrpSpPr/>
          <p:nvPr/>
        </p:nvGrpSpPr>
        <p:grpSpPr>
          <a:xfrm>
            <a:off x="533400" y="3877628"/>
            <a:ext cx="5626418" cy="1621155"/>
            <a:chOff x="533400" y="3877628"/>
            <a:chExt cx="5626418" cy="1621155"/>
          </a:xfrm>
        </p:grpSpPr>
        <p:sp>
          <p:nvSpPr>
            <p:cNvPr id="14" name="Rectangle 14"/>
            <p:cNvSpPr/>
            <p:nvPr/>
          </p:nvSpPr>
          <p:spPr>
            <a:xfrm>
              <a:off x="533400" y="3877628"/>
              <a:ext cx="5626418" cy="1621155"/>
            </a:xfrm>
            <a:prstGeom prst="roundRect">
              <a:avLst>
                <a:gd name="adj" fmla="val 8226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42950" y="408717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33158" y="41228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看点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43978" y="4122420"/>
              <a:ext cx="397534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把 new Proxy() 换成 new RealSubject()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35330" y="4483418"/>
              <a:ext cx="4968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这段客户端代码一个字都不用改，照样跑得通，只是少了前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置和后置两行输出。代理能替换真实主题，靠的就是这一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点。</a:t>
              </a:r>
            </a:p>
          </p:txBody>
        </p:sp>
      </p:grpSp>
      <p:grpSp>
        <p:nvGrpSpPr>
          <p:cNvPr id="23" name="c2-code-1"/>
          <p:cNvGrpSpPr/>
          <p:nvPr/>
        </p:nvGrpSpPr>
        <p:grpSpPr>
          <a:xfrm>
            <a:off x="6464618" y="1967865"/>
            <a:ext cx="5193982" cy="1110615"/>
            <a:chOff x="6464618" y="1967865"/>
            <a:chExt cx="5193982" cy="1110615"/>
          </a:xfrm>
        </p:grpSpPr>
        <p:sp>
          <p:nvSpPr>
            <p:cNvPr id="20" name="Rectangle 20"/>
            <p:cNvSpPr/>
            <p:nvPr/>
          </p:nvSpPr>
          <p:spPr>
            <a:xfrm>
              <a:off x="6464618" y="1967865"/>
              <a:ext cx="5193982" cy="1110615"/>
            </a:xfrm>
            <a:prstGeom prst="roundRect">
              <a:avLst>
                <a:gd name="adj" fmla="val 857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593015" y="211978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运行输出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592252" y="2381726"/>
              <a:ext cx="1945894" cy="6257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前置处理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RealSubject 执行真正的业务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后置处理</a:t>
              </a:r>
            </a:p>
          </p:txBody>
        </p:sp>
      </p:grpSp>
      <p:grpSp>
        <p:nvGrpSpPr>
          <p:cNvPr id="31" name="c2-card-2"/>
          <p:cNvGrpSpPr/>
          <p:nvPr/>
        </p:nvGrpSpPr>
        <p:grpSpPr>
          <a:xfrm>
            <a:off x="6464618" y="3268980"/>
            <a:ext cx="5193982" cy="2229802"/>
            <a:chOff x="6464618" y="3268980"/>
            <a:chExt cx="5193982" cy="2229802"/>
          </a:xfrm>
        </p:grpSpPr>
        <p:sp>
          <p:nvSpPr>
            <p:cNvPr id="24" name="Rectangle 24"/>
            <p:cNvSpPr/>
            <p:nvPr/>
          </p:nvSpPr>
          <p:spPr>
            <a:xfrm>
              <a:off x="6464618" y="3268980"/>
              <a:ext cx="5193982" cy="2229802"/>
            </a:xfrm>
            <a:prstGeom prst="roundRect">
              <a:avLst>
                <a:gd name="adj" fmla="val 598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474142" y="3402330"/>
              <a:ext cx="47625" cy="196310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712268" y="347853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803428" y="351424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推演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313295" y="3513772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这三行是怎么来的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704648" y="3874770"/>
              <a:ext cx="441579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subject.request()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进入的是 Proxy 的 request。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它先调自己的 preRequest 打印第一行，再把调用转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 realSubject 打印第二行，回来之后调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postRequest 打印第三行。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705791" y="5063014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真实主题自始至终不知道有人在它前后加了动作</a:t>
              </a:r>
            </a:p>
          </p:txBody>
        </p:sp>
      </p:grpSp>
      <p:grpSp>
        <p:nvGrpSpPr>
          <p:cNvPr id="37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2" name="Rectangle 32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1040130" y="5991225"/>
              <a:ext cx="76885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前置和后置这两个位置，就是日志、计时、权限、缓存、事务这些横切事务的落脚点。</a:t>
              </a:r>
            </a:p>
          </p:txBody>
        </p:sp>
      </p:grpSp>
      <p:grpSp>
        <p:nvGrpSpPr>
          <p:cNvPr id="4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8" name="TextBox 38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代理模式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047096" cy="2997517"/>
            <a:chOff x="667512" y="1835468"/>
            <a:chExt cx="4047096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29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代理的八种形式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03719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同一套结构，按“控制什么”分出八种用法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八种形式一览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远程代理与虚拟代理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保护、缓冲与智能引用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代理模式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2786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1281" y="407194"/>
              <a:ext cx="17720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26 代理 · 代理的八种形式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八种代理形式，各自控制的是什么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8702718" cy="278702"/>
            <a:chOff x="526161" y="1547336"/>
            <a:chExt cx="8702718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87027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类图都是同一张，区别只在代理的 request 里做了什么。前五种是考试重点，后三种课件列在扩展里。</a:t>
              </a:r>
            </a:p>
          </p:txBody>
        </p:sp>
      </p:grpSp>
      <p:grpSp>
        <p:nvGrpSpPr>
          <p:cNvPr id="54" name="c1-table-1"/>
          <p:cNvGrpSpPr/>
          <p:nvPr/>
        </p:nvGrpSpPr>
        <p:grpSpPr>
          <a:xfrm>
            <a:off x="533400" y="1941195"/>
            <a:ext cx="11125200" cy="3651885"/>
            <a:chOff x="533400" y="1941195"/>
            <a:chExt cx="11125200" cy="3651885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11125200" cy="40576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822806" y="20654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形式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490464" y="206549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代理做的事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682556" y="206549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典型场景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42925" y="2356485"/>
              <a:ext cx="2873692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3412" y="2471261"/>
              <a:ext cx="12217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远程代理 Remote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526155" y="2471261"/>
              <a:ext cx="34792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为不同地址空间的对象提供本地代表，隐藏网络细节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421052" y="2471261"/>
              <a:ext cx="18353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RMI、CORBA、DCOM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274796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533400" y="2752725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42925" y="2762250"/>
              <a:ext cx="2873692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3412" y="2877026"/>
              <a:ext cx="11970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虚拟代理 Virtual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526155" y="2877026"/>
              <a:ext cx="34792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先用开销小的对象顶着，真实对象只在需要时才创建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421052" y="287702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网页大图延迟加载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15372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42925" y="3168015"/>
              <a:ext cx="2873692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3412" y="3282791"/>
              <a:ext cx="12768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保护代理 Protect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526155" y="3282791"/>
              <a:ext cx="34792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控制对一个对象的访问，给不同用户不同级别的权限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421052" y="3282791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论坛的发帖与改帖权限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55949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33400" y="3564255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3412" y="3688556"/>
              <a:ext cx="11028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缓冲代理 Cache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526155" y="3688556"/>
              <a:ext cx="34792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为目标操作的结果提供临时存储空间，多客户端共享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421052" y="368855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查询结果缓存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396525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3412" y="4094321"/>
              <a:ext cx="22726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智能引用代理 Smart Reference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526155" y="4094321"/>
              <a:ext cx="34792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对象被引用时附加额外操作，例如记录被调用的次数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421052" y="409432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引用计数、调用统计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437102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533400" y="4375785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3412" y="4500086"/>
              <a:ext cx="14269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防火墙代理 Firewall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526155" y="4500086"/>
              <a:ext cx="3328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控制网络资源的访问，保护主题免于坏客户的侵害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421052" y="450008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公司的防火墙系统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33400" y="477678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33412" y="4905851"/>
              <a:ext cx="18937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同步代理 Synchronization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526155" y="4905851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多线程情况下为主题提供安全的访问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421052" y="4905851"/>
              <a:ext cx="8500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JavaSpaces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3400" y="518255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533400" y="5187315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33412" y="5311616"/>
              <a:ext cx="21378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写时复制代理 Copy-On-Write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526155" y="5311616"/>
              <a:ext cx="36300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延迟对象的复制直到客户真的需要，是虚拟代理的变体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421052" y="531161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大对象的拷贝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33400" y="1941195"/>
              <a:ext cx="11125200" cy="36518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3421380" y="1941195"/>
              <a:ext cx="9525" cy="36518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8316278" y="1941195"/>
              <a:ext cx="9525" cy="36518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0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55" name="Rectangle 55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1040892" y="6023610"/>
              <a:ext cx="89188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分三堆记：够不到的用远程和防火墙代理，太贵的用虚拟、缓冲和写时复制代理，不该碰的用保护和同步代理。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代理模式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2786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1281" y="407194"/>
              <a:ext cx="17720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26 代理 · 代理的八种形式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远程代理：把网络细节挡在代理里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7082790" cy="293370"/>
            <a:chOff x="525780" y="1548765"/>
            <a:chExt cx="708279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70827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客户完全可以认为被代理的远程业务对象就在本地，网络通信由代理对象承担。</a:t>
              </a:r>
            </a:p>
          </p:txBody>
        </p:sp>
      </p:grpSp>
      <p:grpSp>
        <p:nvGrpSpPr>
          <p:cNvPr id="31" name="c1-graph-1"/>
          <p:cNvGrpSpPr/>
          <p:nvPr/>
        </p:nvGrpSpPr>
        <p:grpSpPr>
          <a:xfrm>
            <a:off x="1058228" y="1982629"/>
            <a:ext cx="4464366" cy="1729264"/>
            <a:chOff x="1058228" y="1982629"/>
            <a:chExt cx="4464366" cy="1729264"/>
          </a:xfrm>
        </p:grpSpPr>
        <p:sp>
          <p:nvSpPr>
            <p:cNvPr id="9" name="Freeform 9"/>
            <p:cNvSpPr/>
            <p:nvPr/>
          </p:nvSpPr>
          <p:spPr>
            <a:xfrm>
              <a:off x="1658302" y="2800350"/>
              <a:ext cx="9525" cy="428625"/>
            </a:xfrm>
            <a:custGeom>
              <a:avLst/>
              <a:gdLst/>
              <a:ahLst/>
              <a:cxnLst/>
              <a:rect l="l" t="t" r="r" b="b"/>
              <a:pathLst>
                <a:path w="9525" h="428625">
                  <a:moveTo>
                    <a:pt x="0" y="0"/>
                  </a:moveTo>
                  <a:lnTo>
                    <a:pt x="0" y="42862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610678" y="32289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259330" y="3517582"/>
              <a:ext cx="2031682" cy="9525"/>
            </a:xfrm>
            <a:custGeom>
              <a:avLst/>
              <a:gdLst/>
              <a:ahLst/>
              <a:cxnLst/>
              <a:rect l="l" t="t" r="r" b="b"/>
              <a:pathLst>
                <a:path w="2031682" h="9525">
                  <a:moveTo>
                    <a:pt x="0" y="0"/>
                  </a:moveTo>
                  <a:lnTo>
                    <a:pt x="203168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12" name="Freeform 12"/>
            <p:cNvSpPr/>
            <p:nvPr/>
          </p:nvSpPr>
          <p:spPr>
            <a:xfrm>
              <a:off x="4291012" y="346995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4922520" y="2895600"/>
              <a:ext cx="9525" cy="428625"/>
            </a:xfrm>
            <a:custGeom>
              <a:avLst/>
              <a:gdLst/>
              <a:ahLst/>
              <a:cxnLst/>
              <a:rect l="l" t="t" r="r" b="b"/>
              <a:pathLst>
                <a:path w="9525" h="428625">
                  <a:moveTo>
                    <a:pt x="0" y="42862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874895" y="28003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1122998" y="2411730"/>
              <a:ext cx="1071562" cy="387668"/>
            </a:xfrm>
            <a:prstGeom prst="roundRect">
              <a:avLst>
                <a:gd name="adj" fmla="val 24570"/>
              </a:avLst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1058228" y="3324225"/>
              <a:ext cx="1201102" cy="387668"/>
            </a:xfrm>
            <a:prstGeom prst="roundRect">
              <a:avLst>
                <a:gd name="adj" fmla="val 24570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4386262" y="3324225"/>
              <a:ext cx="1071562" cy="387668"/>
            </a:xfrm>
            <a:prstGeom prst="roundRect">
              <a:avLst>
                <a:gd name="adj" fmla="val 24570"/>
              </a:avLst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4321492" y="2411730"/>
              <a:ext cx="1201102" cy="387668"/>
            </a:xfrm>
            <a:prstGeom prst="roundRect">
              <a:avLst>
                <a:gd name="adj" fmla="val 24570"/>
              </a:avLst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329119" y="253079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客户对象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67574" y="3443288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远程代理对象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593336" y="344328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骨架对象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431792" y="2530792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远程业务对象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1371600" y="2968942"/>
              <a:ext cx="574358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389494" y="300370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本地调用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3035618" y="3425190"/>
              <a:ext cx="574358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053512" y="345995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网络传输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4634865" y="2968942"/>
              <a:ext cx="574358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653712" y="300370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真正执行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501813" y="198262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本机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615256" y="198262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远程主机</a:t>
              </a:r>
            </a:p>
          </p:txBody>
        </p:sp>
      </p:grpSp>
      <p:grpSp>
        <p:nvGrpSpPr>
          <p:cNvPr id="38" name="c1-callout-2"/>
          <p:cNvGrpSpPr/>
          <p:nvPr/>
        </p:nvGrpSpPr>
        <p:grpSpPr>
          <a:xfrm>
            <a:off x="533400" y="4311015"/>
            <a:ext cx="5626418" cy="967740"/>
            <a:chOff x="533400" y="4311015"/>
            <a:chExt cx="5626418" cy="967740"/>
          </a:xfrm>
        </p:grpSpPr>
        <p:sp>
          <p:nvSpPr>
            <p:cNvPr id="32" name="Rectangle 32"/>
            <p:cNvSpPr/>
            <p:nvPr/>
          </p:nvSpPr>
          <p:spPr>
            <a:xfrm>
              <a:off x="533400" y="4311015"/>
              <a:ext cx="5626418" cy="967740"/>
            </a:xfrm>
            <a:prstGeom prst="roundRect">
              <a:avLst>
                <a:gd name="adj" fmla="val 1181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738188" y="4694873"/>
              <a:ext cx="200026" cy="200026"/>
              <a:chOff x="738188" y="4694873"/>
              <a:chExt cx="200026" cy="200026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738188" y="46948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38200" y="47615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27088" y="47948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040511" y="4564856"/>
              <a:ext cx="452297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代理把方法名和参数打包送上网，骨架在对端拆包调用真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身，返回值再原路送回。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6464618" y="1954530"/>
            <a:ext cx="5193982" cy="1564958"/>
            <a:chOff x="6464618" y="1954530"/>
            <a:chExt cx="5193982" cy="1564958"/>
          </a:xfrm>
        </p:grpSpPr>
        <p:sp>
          <p:nvSpPr>
            <p:cNvPr id="39" name="Rectangle 39"/>
            <p:cNvSpPr/>
            <p:nvPr/>
          </p:nvSpPr>
          <p:spPr>
            <a:xfrm>
              <a:off x="6464618" y="1954530"/>
              <a:ext cx="5193982" cy="1564958"/>
            </a:xfrm>
            <a:prstGeom prst="roundRect">
              <a:avLst>
                <a:gd name="adj" fmla="val 85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6474142" y="2087880"/>
              <a:ext cx="47625" cy="1298258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706552" y="215836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797713" y="219408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307961" y="2197894"/>
              <a:ext cx="248967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远程代理（Remote Proxy）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699314" y="2550319"/>
              <a:ext cx="452297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为一个位于不同地址空间的对象提供一个本地的代理对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象。这个不同的地址空间可以在同一台主机中，也可以在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另一台主机中。远程代理又称为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大使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（Ambassador）。</a:t>
              </a:r>
            </a:p>
          </p:txBody>
        </p:sp>
      </p:grpSp>
      <p:grpSp>
        <p:nvGrpSpPr>
          <p:cNvPr id="53" name="c2-card-2"/>
          <p:cNvGrpSpPr/>
          <p:nvPr/>
        </p:nvGrpSpPr>
        <p:grpSpPr>
          <a:xfrm>
            <a:off x="6464618" y="3704272"/>
            <a:ext cx="5193982" cy="1574482"/>
            <a:chOff x="6464618" y="3704272"/>
            <a:chExt cx="5193982" cy="1574482"/>
          </a:xfrm>
        </p:grpSpPr>
        <p:sp>
          <p:nvSpPr>
            <p:cNvPr id="46" name="Rectangle 46"/>
            <p:cNvSpPr/>
            <p:nvPr/>
          </p:nvSpPr>
          <p:spPr>
            <a:xfrm>
              <a:off x="6464618" y="3704272"/>
              <a:ext cx="5193982" cy="1574482"/>
            </a:xfrm>
            <a:prstGeom prst="roundRect">
              <a:avLst>
                <a:gd name="adj" fmla="val 846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6474142" y="3837622"/>
              <a:ext cx="47625" cy="130778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706552" y="3908108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792811" y="394382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用在哪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449884" y="3948589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四个现成的例子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699314" y="4300061"/>
              <a:ext cx="441477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Java RMI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Web Service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CORBA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DCOM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（分布式组件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对象模型）里都应用了远程代理模式。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700456" y="4888230"/>
              <a:ext cx="42123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远程主机往往算力更强，可以快速响应并处理客户端的请求</a:t>
              </a:r>
            </a:p>
          </p:txBody>
        </p:sp>
      </p:grpSp>
      <p:grpSp>
        <p:nvGrpSpPr>
          <p:cNvPr id="59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54" name="Rectangle 54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738188" y="6003610"/>
              <a:ext cx="200023" cy="200023"/>
              <a:chOff x="738188" y="6003610"/>
              <a:chExt cx="200023" cy="200023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738188" y="60036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71538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1040511" y="6004084"/>
              <a:ext cx="655504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远程代理的价值在于隐藏位置，客户端代码里看不到任何 IP、端口和序列化。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代理模式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2786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1281" y="407194"/>
              <a:ext cx="17720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26 代理 · 代理的八种形式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虚拟代理：先用小的顶着，大的按需再造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556248" cy="264033"/>
            <a:chOff x="526542" y="1545907"/>
            <a:chExt cx="6556248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5562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浏览网页时先不加载真实大图，由代理先挂一张小图，后台线程再把大图取回来。</a:t>
              </a:r>
            </a:p>
          </p:txBody>
        </p:sp>
      </p:grpSp>
      <p:grpSp>
        <p:nvGrpSpPr>
          <p:cNvPr id="11" name="c1-image-1"/>
          <p:cNvGrpSpPr/>
          <p:nvPr/>
        </p:nvGrpSpPr>
        <p:grpSpPr>
          <a:xfrm>
            <a:off x="533400" y="1928812"/>
            <a:ext cx="4977765" cy="1820894"/>
            <a:chOff x="533400" y="1928812"/>
            <a:chExt cx="4977765" cy="1820894"/>
          </a:xfrm>
        </p:grpSpPr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2"/>
            <a:srcRect l="0" t="29398" r="0" b="29398"/>
            <a:stretch>
              <a:fillRect/>
            </a:stretch>
          </p:blipFill>
          <p:spPr>
            <a:xfrm>
              <a:off x="533400" y="1928812"/>
              <a:ext cx="4977765" cy="1538288"/>
            </a:xfrm>
            <a:prstGeom prst="roundRect">
              <a:avLst>
                <a:gd name="adj" fmla="val 8668"/>
              </a:avLst>
            </a:prstGeom>
          </p:spPr>
        </p:pic>
        <p:sp>
          <p:nvSpPr>
            <p:cNvPr id="10" name="TextBox 10"/>
            <p:cNvSpPr txBox="1"/>
            <p:nvPr/>
          </p:nvSpPr>
          <p:spPr>
            <a:xfrm>
              <a:off x="1500162" y="3559016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画框里先钉一张小样占住位置，真正的大画还在路上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895725"/>
            <a:ext cx="4977765" cy="1623060"/>
            <a:chOff x="533400" y="3895725"/>
            <a:chExt cx="4977765" cy="1623060"/>
          </a:xfrm>
        </p:grpSpPr>
        <p:sp>
          <p:nvSpPr>
            <p:cNvPr id="12" name="Rectangle 12"/>
            <p:cNvSpPr/>
            <p:nvPr/>
          </p:nvSpPr>
          <p:spPr>
            <a:xfrm>
              <a:off x="533400" y="3895725"/>
              <a:ext cx="4977765" cy="1623060"/>
            </a:xfrm>
            <a:prstGeom prst="roundRect">
              <a:avLst>
                <a:gd name="adj" fmla="val 82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542925" y="4029075"/>
              <a:ext cx="47625" cy="1356360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52475" y="407670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45147" y="410956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18450" y="4116229"/>
              <a:ext cx="22157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虚拟代理（Virtual Proxy）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45998" y="4432459"/>
              <a:ext cx="44020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如果需要创建一个资源消耗较大的对象，先创建一个消耗相对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较小的对象来表示，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真实对象只在需要时才会被真正创建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46" name="c2-uml-1"/>
          <p:cNvGrpSpPr/>
          <p:nvPr/>
        </p:nvGrpSpPr>
        <p:grpSpPr>
          <a:xfrm>
            <a:off x="6217920" y="2142172"/>
            <a:ext cx="5038725" cy="1986915"/>
            <a:chOff x="6217920" y="2142172"/>
            <a:chExt cx="5038725" cy="1986915"/>
          </a:xfrm>
        </p:grpSpPr>
        <p:sp>
          <p:nvSpPr>
            <p:cNvPr id="19" name="Freeform 19"/>
            <p:cNvSpPr/>
            <p:nvPr/>
          </p:nvSpPr>
          <p:spPr>
            <a:xfrm>
              <a:off x="6789420" y="2972752"/>
              <a:ext cx="1852612" cy="301942"/>
            </a:xfrm>
            <a:custGeom>
              <a:avLst/>
              <a:gdLst/>
              <a:ahLst/>
              <a:cxnLst/>
              <a:rect l="l" t="t" r="r" b="b"/>
              <a:pathLst>
                <a:path w="1852612" h="301942">
                  <a:moveTo>
                    <a:pt x="0" y="301942"/>
                  </a:moveTo>
                  <a:lnTo>
                    <a:pt x="0" y="88582"/>
                  </a:lnTo>
                  <a:lnTo>
                    <a:pt x="1852612" y="88582"/>
                  </a:lnTo>
                  <a:lnTo>
                    <a:pt x="1852612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8568690" y="2847022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8832532" y="2972752"/>
              <a:ext cx="1852612" cy="153352"/>
            </a:xfrm>
            <a:custGeom>
              <a:avLst/>
              <a:gdLst/>
              <a:ahLst/>
              <a:cxnLst/>
              <a:rect l="l" t="t" r="r" b="b"/>
              <a:pathLst>
                <a:path w="1852612" h="153352">
                  <a:moveTo>
                    <a:pt x="1852612" y="153352"/>
                  </a:moveTo>
                  <a:lnTo>
                    <a:pt x="1852612" y="14288"/>
                  </a:lnTo>
                  <a:lnTo>
                    <a:pt x="0" y="14288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8759190" y="2847022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7360920" y="3627120"/>
              <a:ext cx="2752725" cy="9525"/>
            </a:xfrm>
            <a:custGeom>
              <a:avLst/>
              <a:gdLst/>
              <a:ahLst/>
              <a:cxnLst/>
              <a:rect l="l" t="t" r="r" b="b"/>
              <a:pathLst>
                <a:path w="2752725" h="9525">
                  <a:moveTo>
                    <a:pt x="2752725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7360920" y="3569970"/>
              <a:ext cx="104775" cy="115252"/>
            </a:xfrm>
            <a:custGeom>
              <a:avLst/>
              <a:gdLst/>
              <a:ahLst/>
              <a:cxnLst/>
              <a:rect l="l" t="t" r="r" b="b"/>
              <a:pathLst>
                <a:path w="104775" h="115252">
                  <a:moveTo>
                    <a:pt x="104775" y="0"/>
                  </a:moveTo>
                  <a:lnTo>
                    <a:pt x="0" y="57150"/>
                  </a:lnTo>
                  <a:lnTo>
                    <a:pt x="104775" y="115252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8165782" y="2142172"/>
              <a:ext cx="1143000" cy="70485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8172450" y="2149792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8165782" y="235458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8165782" y="244983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217920" y="3274695"/>
              <a:ext cx="1143000" cy="70485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224588" y="3281362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217920" y="348710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217920" y="358235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10113645" y="3126105"/>
              <a:ext cx="1143000" cy="100298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10120312" y="3132772"/>
              <a:ext cx="1128712" cy="209550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10113645" y="333851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10113645" y="373094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501680" y="2193608"/>
              <a:ext cx="47120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i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Graphic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237220" y="2517934"/>
              <a:ext cx="728091" cy="310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draw()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getExtent()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10972" y="3326130"/>
              <a:ext cx="35689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Image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289358" y="3650456"/>
              <a:ext cx="728091" cy="310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draw()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getExtent()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329795" y="3177540"/>
              <a:ext cx="71070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ImageProxy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185082" y="3406616"/>
              <a:ext cx="931164" cy="310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fileName: String</a:t>
              </a:r>
            </a:p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image: Image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185082" y="3799046"/>
              <a:ext cx="728091" cy="310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draw()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getExtent()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8535352" y="3430905"/>
              <a:ext cx="403860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568957" y="3453765"/>
              <a:ext cx="33665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image</a:t>
              </a:r>
            </a:p>
          </p:txBody>
        </p:sp>
      </p:grpSp>
      <p:grpSp>
        <p:nvGrpSpPr>
          <p:cNvPr id="53" name="c2-card-2"/>
          <p:cNvGrpSpPr/>
          <p:nvPr/>
        </p:nvGrpSpPr>
        <p:grpSpPr>
          <a:xfrm>
            <a:off x="5815965" y="4357688"/>
            <a:ext cx="5842635" cy="1160145"/>
            <a:chOff x="5815965" y="4357688"/>
            <a:chExt cx="5842635" cy="1160145"/>
          </a:xfrm>
        </p:grpSpPr>
        <p:sp>
          <p:nvSpPr>
            <p:cNvPr id="47" name="Rectangle 47"/>
            <p:cNvSpPr/>
            <p:nvPr/>
          </p:nvSpPr>
          <p:spPr>
            <a:xfrm>
              <a:off x="5815965" y="4357688"/>
              <a:ext cx="5842635" cy="1160145"/>
            </a:xfrm>
            <a:prstGeom prst="roundRect">
              <a:avLst>
                <a:gd name="adj" fmla="val 114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5825490" y="4491038"/>
              <a:ext cx="47625" cy="89344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035040" y="453866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126759" y="457152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601016" y="4579144"/>
              <a:ext cx="29251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原图的 GetExtent 返回类型自相矛盾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028563" y="4895374"/>
              <a:ext cx="512546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类图里写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GetExtent() : void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，旁边的注释代码却写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return</a:t>
              </a:r>
              <a:br/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extent;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，二者对不上。取尺寸必须有返回值，讲义改成返回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Extent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60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54" name="Rectangle 54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738188" y="6028373"/>
              <a:ext cx="200026" cy="200026"/>
              <a:chOff x="738188" y="6028373"/>
              <a:chExt cx="200026" cy="200026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738188" y="60283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38200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827088" y="61283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1041273" y="6039326"/>
              <a:ext cx="78385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ImageProxy 自己存着 extent，所以排版时不用加载大图也能报出尺寸，这是虚拟代理最省事的一点。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代理模式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445382" cy="909257"/>
            <a:chOff x="520446" y="342900"/>
            <a:chExt cx="544538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2786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1281" y="407194"/>
              <a:ext cx="17720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26 代理 · 代理的八种形式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44538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ImageProxy：延迟加载写在代理里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210948" cy="264033"/>
            <a:chOff x="526542" y="1545907"/>
            <a:chExt cx="6210948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2109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代理的每个方法都先问一句“真身造出来了没有”，没有就现造，有就直接用。</a:t>
              </a:r>
            </a:p>
          </p:txBody>
        </p:sp>
      </p:grpSp>
      <p:grpSp>
        <p:nvGrpSpPr>
          <p:cNvPr id="14" name="c1-code-1"/>
          <p:cNvGrpSpPr/>
          <p:nvPr/>
        </p:nvGrpSpPr>
        <p:grpSpPr>
          <a:xfrm>
            <a:off x="533400" y="1928812"/>
            <a:ext cx="5951220" cy="3670935"/>
            <a:chOff x="533400" y="1928812"/>
            <a:chExt cx="5951220" cy="3670935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951220" cy="3670935"/>
            </a:xfrm>
            <a:prstGeom prst="roundRect">
              <a:avLst>
                <a:gd name="adj" fmla="val 259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80736"/>
              <a:ext cx="7734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ImageProxy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3710940"/>
              <a:ext cx="5913120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52450" y="4765358"/>
              <a:ext cx="5913120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61797" y="2340769"/>
              <a:ext cx="4870069" cy="31863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ImageProxy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Graphic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 fileName;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Extent extent;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尺寸，代理自己存一份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Image image;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一开始是 null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ImageProxy(String f, Extent e) { fileName = f; extent = e;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Image load() {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真正需要时才创建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(image ==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 { image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Image(fileName);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image;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draw() { load().draw();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Extent getExtent()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(image ==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extent; }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不碰大图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image.getExtent();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1" name="c2-card-1"/>
          <p:cNvGrpSpPr/>
          <p:nvPr/>
        </p:nvGrpSpPr>
        <p:grpSpPr>
          <a:xfrm>
            <a:off x="6789420" y="1928812"/>
            <a:ext cx="4869180" cy="1202055"/>
            <a:chOff x="6789420" y="1928812"/>
            <a:chExt cx="4869180" cy="1202055"/>
          </a:xfrm>
        </p:grpSpPr>
        <p:sp>
          <p:nvSpPr>
            <p:cNvPr id="15" name="Rectangle 15"/>
            <p:cNvSpPr/>
            <p:nvPr/>
          </p:nvSpPr>
          <p:spPr>
            <a:xfrm>
              <a:off x="6789420" y="1928812"/>
              <a:ext cx="4869180" cy="1202055"/>
            </a:xfrm>
            <a:prstGeom prst="roundRect">
              <a:avLst>
                <a:gd name="adj" fmla="val 110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6798945" y="2062162"/>
              <a:ext cx="47625" cy="9353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014210" y="211550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106882" y="214836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79804" y="2150745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空指针判断的写法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007352" y="2476500"/>
              <a:ext cx="429139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原课件是 C++，写作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if (image == 0)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。Java 里对象引用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不能和 0 比较，必须写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image == null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，否则编译不过。</a:t>
              </a:r>
            </a:p>
          </p:txBody>
        </p:sp>
      </p:grpSp>
      <p:grpSp>
        <p:nvGrpSpPr>
          <p:cNvPr id="28" name="c2-card-2"/>
          <p:cNvGrpSpPr/>
          <p:nvPr/>
        </p:nvGrpSpPr>
        <p:grpSpPr>
          <a:xfrm>
            <a:off x="6789420" y="3301365"/>
            <a:ext cx="4869180" cy="2298382"/>
            <a:chOff x="6789420" y="3301365"/>
            <a:chExt cx="4869180" cy="2298382"/>
          </a:xfrm>
        </p:grpSpPr>
        <p:sp>
          <p:nvSpPr>
            <p:cNvPr id="22" name="Rectangle 22"/>
            <p:cNvSpPr/>
            <p:nvPr/>
          </p:nvSpPr>
          <p:spPr>
            <a:xfrm>
              <a:off x="6789420" y="3301365"/>
              <a:ext cx="4869180" cy="2298382"/>
            </a:xfrm>
            <a:prstGeom prst="roundRect">
              <a:avLst>
                <a:gd name="adj" fmla="val 5802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976110" y="3488055"/>
              <a:ext cx="1329690" cy="23812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042328" y="3520916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课件里的另一种做法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413242" y="3522345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大图浏览为什么还要多线程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969252" y="3849052"/>
              <a:ext cx="42999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代理先用一个线程给浏览器送去小图，另一个线程在后台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调用大图的加载方法。要看大图时再在新页面显示；加载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还没完成就再启动一个线程显示提示信息。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970395" y="4659154"/>
              <a:ext cx="3961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延迟加载解决“造不造”，多线程解决“造的时候界面卡不卡”</a:t>
              </a:r>
            </a:p>
          </p:txBody>
        </p:sp>
      </p:grpSp>
      <p:grpSp>
        <p:nvGrpSpPr>
          <p:cNvPr id="34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29" name="Rectangle 29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1040892" y="6028373"/>
              <a:ext cx="63745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虚拟代理的判断条件写在代理里，真实主题的代码一行都不用为延迟加载让步。</a:t>
              </a:r>
            </a:p>
          </p:txBody>
        </p:sp>
      </p:grpSp>
      <p:grpSp>
        <p:nvGrpSpPr>
          <p:cNvPr id="3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5" name="TextBox 35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代理模式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2786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1281" y="407194"/>
              <a:ext cx="17720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26 代理 · 代理的八种形式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保护、缓冲与智能引用：在转调前后各加一点事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092819" cy="264033"/>
            <a:chOff x="526542" y="1545907"/>
            <a:chExt cx="6092819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0928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这三种代理的类图和标准结构一模一样，区别只在 request 里多写了几行。</a:t>
              </a:r>
            </a:p>
          </p:txBody>
        </p:sp>
      </p:grpSp>
      <p:grpSp>
        <p:nvGrpSpPr>
          <p:cNvPr id="17" name="c1-kv-1"/>
          <p:cNvGrpSpPr/>
          <p:nvPr/>
        </p:nvGrpSpPr>
        <p:grpSpPr>
          <a:xfrm>
            <a:off x="526923" y="1949291"/>
            <a:ext cx="5091875" cy="1717167"/>
            <a:chOff x="526923" y="1949291"/>
            <a:chExt cx="5091875" cy="1717167"/>
          </a:xfrm>
        </p:grpSpPr>
        <p:sp>
          <p:nvSpPr>
            <p:cNvPr id="9" name="TextBox 9"/>
            <p:cNvSpPr txBox="1"/>
            <p:nvPr/>
          </p:nvSpPr>
          <p:spPr>
            <a:xfrm>
              <a:off x="526923" y="194929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保护代理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90890" y="1949291"/>
              <a:ext cx="3589274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控制对一个对象的访问，给不同用户不同级别的使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用权限。转调前先查资格，不够就拒绝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33400" y="2461260"/>
              <a:ext cx="508539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26923" y="256365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缓冲代理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790890" y="2563654"/>
              <a:ext cx="3589274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为目标操作的结果提供临时存储空间，多个客户端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共享。命中就不再转调真身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3074670"/>
              <a:ext cx="508539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6923" y="317706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智能引用代理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790890" y="3177064"/>
              <a:ext cx="3589274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对象被引用时提供额外操作，例如记录被调用的次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数。它不拦截调用，只顺手记一笔</a:t>
              </a:r>
            </a:p>
          </p:txBody>
        </p:sp>
      </p:grpSp>
      <p:grpSp>
        <p:nvGrpSpPr>
          <p:cNvPr id="25" name="c1-card-2"/>
          <p:cNvGrpSpPr/>
          <p:nvPr/>
        </p:nvGrpSpPr>
        <p:grpSpPr>
          <a:xfrm>
            <a:off x="533400" y="3780472"/>
            <a:ext cx="5085398" cy="1843088"/>
            <a:chOff x="533400" y="3780472"/>
            <a:chExt cx="5085398" cy="1843088"/>
          </a:xfrm>
        </p:grpSpPr>
        <p:sp>
          <p:nvSpPr>
            <p:cNvPr id="18" name="Rectangle 18"/>
            <p:cNvSpPr/>
            <p:nvPr/>
          </p:nvSpPr>
          <p:spPr>
            <a:xfrm>
              <a:off x="533400" y="3780472"/>
              <a:ext cx="5085398" cy="1843088"/>
            </a:xfrm>
            <a:prstGeom prst="roundRect">
              <a:avLst>
                <a:gd name="adj" fmla="val 723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42925" y="3913822"/>
              <a:ext cx="47625" cy="157638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52475" y="3961448"/>
              <a:ext cx="125063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11919" y="3994309"/>
              <a:ext cx="113079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课件里的 C++ 例子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110930" y="4000976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智能指针也是一种智能引用代理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45998" y="4318159"/>
              <a:ext cx="440207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SmartPtr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构造时接管裸指针，重载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operator-&gt;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把调用转给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真身，析构时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delete ptr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，用它之后 main 里不必再写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delete。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47141" y="5085398"/>
              <a:ext cx="3271076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 有垃圾回收，对应做法是实现 AutoCloseable，用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try-with-resources 自动关闭</a:t>
              </a:r>
            </a:p>
          </p:txBody>
        </p:sp>
      </p:grpSp>
      <p:grpSp>
        <p:nvGrpSpPr>
          <p:cNvPr id="29" name="c2-code-1"/>
          <p:cNvGrpSpPr/>
          <p:nvPr/>
        </p:nvGrpSpPr>
        <p:grpSpPr>
          <a:xfrm>
            <a:off x="5923598" y="1928812"/>
            <a:ext cx="5735002" cy="2088832"/>
            <a:chOff x="5923598" y="1928812"/>
            <a:chExt cx="5735002" cy="2088832"/>
          </a:xfrm>
        </p:grpSpPr>
        <p:sp>
          <p:nvSpPr>
            <p:cNvPr id="26" name="Rectangle 26"/>
            <p:cNvSpPr/>
            <p:nvPr/>
          </p:nvSpPr>
          <p:spPr>
            <a:xfrm>
              <a:off x="5923598" y="1928812"/>
              <a:ext cx="5735002" cy="2088832"/>
            </a:xfrm>
            <a:prstGeom prst="roundRect">
              <a:avLst>
                <a:gd name="adj" fmla="val 456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051994" y="2080736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智能引用代理：统计调用次数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051994" y="2340769"/>
              <a:ext cx="4664710" cy="16003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CountingProxy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AbstractSubject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AbstractSubject real;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count = 0;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被调用的次数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CountingProxy(AbstractSubject real)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.real = real;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request() { count++; real.request();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getCount()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count;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5" name="c2-card-2"/>
          <p:cNvGrpSpPr/>
          <p:nvPr/>
        </p:nvGrpSpPr>
        <p:grpSpPr>
          <a:xfrm>
            <a:off x="5923598" y="4182428"/>
            <a:ext cx="5735002" cy="1441132"/>
            <a:chOff x="5923598" y="4182428"/>
            <a:chExt cx="5735002" cy="1441132"/>
          </a:xfrm>
        </p:grpSpPr>
        <p:sp>
          <p:nvSpPr>
            <p:cNvPr id="30" name="Rectangle 30"/>
            <p:cNvSpPr/>
            <p:nvPr/>
          </p:nvSpPr>
          <p:spPr>
            <a:xfrm>
              <a:off x="5923598" y="4182428"/>
              <a:ext cx="5735002" cy="1441132"/>
            </a:xfrm>
            <a:prstGeom prst="roundRect">
              <a:avLst>
                <a:gd name="adj" fmla="val 9253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104572" y="436340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197244" y="439626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落点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671501" y="4402931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三种代理插入的位置不同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098096" y="4719161"/>
              <a:ext cx="505231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保护代理插在转调之前并</a:t>
              </a:r>
              <a:r>
                <a:rPr lang="zh-CN" sz="128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可能不转调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；缓冲代理插在转调之前并可能直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接返回旧结果；智能引用代理插在前后但总会转调。</a:t>
              </a:r>
            </a:p>
          </p:txBody>
        </p:sp>
      </p:grpSp>
      <p:grpSp>
        <p:nvGrpSpPr>
          <p:cNvPr id="42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36" name="Rectangle 36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738188" y="6028373"/>
              <a:ext cx="200026" cy="200026"/>
              <a:chOff x="738188" y="6028373"/>
              <a:chExt cx="200026" cy="200026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738188" y="60283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38200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27088" y="61283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1041273" y="6039326"/>
              <a:ext cx="75947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缓冲代理会带来数据过期的问题，这是它和其他代理最不一样的地方，用之前要先想清楚失效策略。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代理模式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913376" cy="2997517"/>
            <a:chOff x="667512" y="1835468"/>
            <a:chExt cx="4913376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91363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课件里的三个实例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9034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保护代理、远程代理各一个，都给到可运行的代码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论坛权限控制代理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数学运算代理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实例里值得留意的写法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代理模式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45280" cy="909257"/>
            <a:chOff x="520446" y="342900"/>
            <a:chExt cx="41452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26 代理 · 课件里的三个实例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实例一：论坛权限控制代理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283196" cy="264033"/>
            <a:chOff x="526542" y="1545907"/>
            <a:chExt cx="7283196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2831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已注册用户能发帖、改自己的注册信息和帖子；游客只能看别人发的帖子，没有其他权限。</a:t>
              </a:r>
            </a:p>
          </p:txBody>
        </p:sp>
      </p:grpSp>
      <p:grpSp>
        <p:nvGrpSpPr>
          <p:cNvPr id="44" name="c1-uml-1"/>
          <p:cNvGrpSpPr/>
          <p:nvPr/>
        </p:nvGrpSpPr>
        <p:grpSpPr>
          <a:xfrm>
            <a:off x="1043940" y="2079308"/>
            <a:ext cx="5737860" cy="2346959"/>
            <a:chOff x="1043940" y="2079308"/>
            <a:chExt cx="5737860" cy="2346959"/>
          </a:xfrm>
        </p:grpSpPr>
        <p:sp>
          <p:nvSpPr>
            <p:cNvPr id="9" name="Freeform 9"/>
            <p:cNvSpPr/>
            <p:nvPr/>
          </p:nvSpPr>
          <p:spPr>
            <a:xfrm>
              <a:off x="2186940" y="3850005"/>
              <a:ext cx="784860" cy="9525"/>
            </a:xfrm>
            <a:custGeom>
              <a:avLst/>
              <a:gdLst/>
              <a:ahLst/>
              <a:cxnLst/>
              <a:rect l="l" t="t" r="r" b="b"/>
              <a:pathLst>
                <a:path w="784860" h="9525">
                  <a:moveTo>
                    <a:pt x="0" y="0"/>
                  </a:moveTo>
                  <a:lnTo>
                    <a:pt x="78486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867025" y="3792855"/>
              <a:ext cx="104775" cy="115253"/>
            </a:xfrm>
            <a:custGeom>
              <a:avLst/>
              <a:gdLst/>
              <a:ahLst/>
              <a:cxnLst/>
              <a:rect l="l" t="t" r="r" b="b"/>
              <a:pathLst>
                <a:path w="104775" h="115253">
                  <a:moveTo>
                    <a:pt x="0" y="115253"/>
                  </a:moveTo>
                  <a:lnTo>
                    <a:pt x="104775" y="57150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3779520" y="3185160"/>
              <a:ext cx="9525" cy="89535"/>
            </a:xfrm>
            <a:custGeom>
              <a:avLst/>
              <a:gdLst/>
              <a:ahLst/>
              <a:cxnLst/>
              <a:rect l="l" t="t" r="r" b="b"/>
              <a:pathLst>
                <a:path w="9525" h="89535">
                  <a:moveTo>
                    <a:pt x="0" y="89535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2" name="Freeform 12"/>
            <p:cNvSpPr/>
            <p:nvPr/>
          </p:nvSpPr>
          <p:spPr>
            <a:xfrm>
              <a:off x="3706178" y="3059430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4576762" y="2568892"/>
              <a:ext cx="2205038" cy="1281112"/>
            </a:xfrm>
            <a:custGeom>
              <a:avLst/>
              <a:gdLst/>
              <a:ahLst/>
              <a:cxnLst/>
              <a:rect l="l" t="t" r="r" b="b"/>
              <a:pathLst>
                <a:path w="2205038" h="1281112">
                  <a:moveTo>
                    <a:pt x="1938338" y="1281112"/>
                  </a:moveTo>
                  <a:lnTo>
                    <a:pt x="2205038" y="1281112"/>
                  </a:lnTo>
                  <a:lnTo>
                    <a:pt x="2205038" y="0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4" name="Freeform 14"/>
            <p:cNvSpPr/>
            <p:nvPr/>
          </p:nvSpPr>
          <p:spPr>
            <a:xfrm>
              <a:off x="4451032" y="2495550"/>
              <a:ext cx="125730" cy="146685"/>
            </a:xfrm>
            <a:custGeom>
              <a:avLst/>
              <a:gdLst/>
              <a:ahLst/>
              <a:cxnLst/>
              <a:rect l="l" t="t" r="r" b="b"/>
              <a:pathLst>
                <a:path w="125730" h="146685">
                  <a:moveTo>
                    <a:pt x="0" y="73342"/>
                  </a:moveTo>
                  <a:lnTo>
                    <a:pt x="125730" y="0"/>
                  </a:lnTo>
                  <a:lnTo>
                    <a:pt x="125730" y="146685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4587240" y="3850005"/>
              <a:ext cx="784860" cy="9525"/>
            </a:xfrm>
            <a:custGeom>
              <a:avLst/>
              <a:gdLst/>
              <a:ahLst/>
              <a:cxnLst/>
              <a:rect l="l" t="t" r="r" b="b"/>
              <a:pathLst>
                <a:path w="784860" h="9525">
                  <a:moveTo>
                    <a:pt x="0" y="0"/>
                  </a:moveTo>
                  <a:lnTo>
                    <a:pt x="78486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5267325" y="3792855"/>
              <a:ext cx="104775" cy="115253"/>
            </a:xfrm>
            <a:custGeom>
              <a:avLst/>
              <a:gdLst/>
              <a:ahLst/>
              <a:cxnLst/>
              <a:rect l="l" t="t" r="r" b="b"/>
              <a:pathLst>
                <a:path w="104775" h="115253">
                  <a:moveTo>
                    <a:pt x="0" y="115253"/>
                  </a:moveTo>
                  <a:lnTo>
                    <a:pt x="104775" y="57150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1043940" y="3646170"/>
              <a:ext cx="1143000" cy="40767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1051560" y="3653790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1043940" y="385857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1043940" y="395382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3108008" y="2079308"/>
              <a:ext cx="1343025" cy="98012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3115628" y="2086928"/>
              <a:ext cx="1328738" cy="33528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3108008" y="2417445"/>
              <a:ext cx="134302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3108008" y="2512695"/>
              <a:ext cx="134302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2971800" y="3274695"/>
              <a:ext cx="1615440" cy="115157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2978468" y="3281362"/>
              <a:ext cx="1601152" cy="209550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2971800" y="3487102"/>
              <a:ext cx="161544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2971800" y="3879532"/>
              <a:ext cx="161544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372100" y="3423285"/>
              <a:ext cx="1143000" cy="8543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379720" y="3430905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5372100" y="363569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372100" y="373094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430895" y="3697605"/>
              <a:ext cx="36909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Client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481959" y="2127885"/>
              <a:ext cx="595122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«interface»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160281" y="2256472"/>
              <a:ext cx="12384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AbstractPermission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179445" y="2580799"/>
              <a:ext cx="790575" cy="4591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viewNote()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publishNote()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setLevel(int)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265258" y="3326130"/>
              <a:ext cx="102852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PermissionProxy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043238" y="3555206"/>
              <a:ext cx="1472692" cy="310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permission: RealPermission</a:t>
              </a:r>
            </a:p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level: int = 0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043238" y="3947636"/>
              <a:ext cx="790575" cy="4591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viewNote()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publishNote()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setLevel(int)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480363" y="3474720"/>
              <a:ext cx="92647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RealPermission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443538" y="3799046"/>
              <a:ext cx="790575" cy="4591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viewNote()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publishNote()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setLevel(int)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4634865" y="3653790"/>
              <a:ext cx="689610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4659897" y="3676650"/>
              <a:ext cx="6395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permission</a:t>
              </a:r>
            </a:p>
          </p:txBody>
        </p:sp>
      </p:grpSp>
      <p:grpSp>
        <p:nvGrpSpPr>
          <p:cNvPr id="50" name="c1-kv-2"/>
          <p:cNvGrpSpPr/>
          <p:nvPr/>
        </p:nvGrpSpPr>
        <p:grpSpPr>
          <a:xfrm>
            <a:off x="526923" y="4676299"/>
            <a:ext cx="6498717" cy="623696"/>
            <a:chOff x="526923" y="4676299"/>
            <a:chExt cx="6498717" cy="623696"/>
          </a:xfrm>
        </p:grpSpPr>
        <p:sp>
          <p:nvSpPr>
            <p:cNvPr id="45" name="TextBox 45"/>
            <p:cNvSpPr txBox="1"/>
            <p:nvPr/>
          </p:nvSpPr>
          <p:spPr>
            <a:xfrm>
              <a:off x="526923" y="4676299"/>
              <a:ext cx="7276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level = 0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476565" y="4676299"/>
              <a:ext cx="49739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游客，只能 viewNote()，其余三个方法被代理拦下并提示无权限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33400" y="4949190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26923" y="5050631"/>
              <a:ext cx="7276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level = 1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476565" y="5050631"/>
              <a:ext cx="37194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注册用户，四个业务方法都转给 RealPermission</a:t>
              </a:r>
            </a:p>
          </p:txBody>
        </p:sp>
      </p:grpSp>
      <p:grpSp>
        <p:nvGrpSpPr>
          <p:cNvPr id="57" name="c2-card-1"/>
          <p:cNvGrpSpPr/>
          <p:nvPr/>
        </p:nvGrpSpPr>
        <p:grpSpPr>
          <a:xfrm>
            <a:off x="7330440" y="1928812"/>
            <a:ext cx="4328160" cy="1403032"/>
            <a:chOff x="7330440" y="1928812"/>
            <a:chExt cx="4328160" cy="1403032"/>
          </a:xfrm>
        </p:grpSpPr>
        <p:sp>
          <p:nvSpPr>
            <p:cNvPr id="51" name="Rectangle 51"/>
            <p:cNvSpPr/>
            <p:nvPr/>
          </p:nvSpPr>
          <p:spPr>
            <a:xfrm>
              <a:off x="7330440" y="1928812"/>
              <a:ext cx="4328160" cy="1403032"/>
            </a:xfrm>
            <a:prstGeom prst="roundRect">
              <a:avLst>
                <a:gd name="adj" fmla="val 95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7339965" y="2062162"/>
              <a:ext cx="47625" cy="113633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7549515" y="210978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642187" y="21426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题目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115491" y="2149316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用代理模式设计论坛的权限管理模块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543038" y="2465546"/>
              <a:ext cx="375183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本实例用的是代理模式中的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保护代理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，它控制对一个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对象的访问，可以给不同的用户提供不同级别的使用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权限。</a:t>
              </a:r>
            </a:p>
          </p:txBody>
        </p:sp>
      </p:grpSp>
      <p:grpSp>
        <p:nvGrpSpPr>
          <p:cNvPr id="67" name="c2-card-2"/>
          <p:cNvGrpSpPr/>
          <p:nvPr/>
        </p:nvGrpSpPr>
        <p:grpSpPr>
          <a:xfrm>
            <a:off x="7330440" y="3496628"/>
            <a:ext cx="4328160" cy="1753552"/>
            <a:chOff x="7330440" y="3496628"/>
            <a:chExt cx="4328160" cy="1753552"/>
          </a:xfrm>
        </p:grpSpPr>
        <p:sp>
          <p:nvSpPr>
            <p:cNvPr id="58" name="Rectangle 58"/>
            <p:cNvSpPr/>
            <p:nvPr/>
          </p:nvSpPr>
          <p:spPr>
            <a:xfrm>
              <a:off x="7330440" y="3496628"/>
              <a:ext cx="4328160" cy="1753552"/>
            </a:xfrm>
            <a:prstGeom prst="roundRect">
              <a:avLst>
                <a:gd name="adj" fmla="val 760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7339965" y="3629978"/>
              <a:ext cx="47625" cy="148685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7549515" y="3677602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634084" y="371046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对照原图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365046" y="3717131"/>
              <a:ext cx="20124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关联线从 Client 连到代理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7559040" y="4086225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714488" y="4034314"/>
              <a:ext cx="353237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原图 Client 的关联箭头指向 PermissionProxy；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level 初值为 0，新建的代理默认按游客处理。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7559040" y="4613910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714488" y="4561999"/>
              <a:ext cx="358114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原图还有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modifyUserInfo()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和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modifyNote()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写法同 publishNote，图上省掉了。</a:t>
              </a:r>
            </a:p>
          </p:txBody>
        </p:sp>
      </p:grpSp>
      <p:grpSp>
        <p:nvGrpSpPr>
          <p:cNvPr id="73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68" name="Rectangle 68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2" name="TextBox 72"/>
            <p:cNvSpPr txBox="1"/>
            <p:nvPr/>
          </p:nvSpPr>
          <p:spPr>
            <a:xfrm>
              <a:off x="1041273" y="6039326"/>
              <a:ext cx="67009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真实权限类 RealPermission 里没有一行权限判断，它只管把事做了，资格由代理去卡。</a:t>
              </a:r>
            </a:p>
          </p:txBody>
        </p:sp>
      </p:grpSp>
      <p:grpSp>
        <p:nvGrpSpPr>
          <p:cNvPr id="7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4" name="TextBox 74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代理模式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26 代理 · 课件里的三个实例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实例一的代码与一次完整推演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138253" cy="264033"/>
            <a:chOff x="526542" y="1545907"/>
            <a:chExt cx="6138253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1382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代理把 level 存在自己身上，客户端换一个 level 再跑一遍，输出就跟着变。</a:t>
              </a:r>
            </a:p>
          </p:txBody>
        </p:sp>
      </p:grpSp>
      <p:grpSp>
        <p:nvGrpSpPr>
          <p:cNvPr id="14" name="c1-code-1"/>
          <p:cNvGrpSpPr/>
          <p:nvPr/>
        </p:nvGrpSpPr>
        <p:grpSpPr>
          <a:xfrm>
            <a:off x="533400" y="1928812"/>
            <a:ext cx="6059805" cy="3670935"/>
            <a:chOff x="533400" y="1928812"/>
            <a:chExt cx="6059805" cy="3670935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6059805" cy="3670935"/>
            </a:xfrm>
            <a:prstGeom prst="roundRect">
              <a:avLst>
                <a:gd name="adj" fmla="val 259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80736"/>
              <a:ext cx="111948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PermissionProxy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3886200"/>
              <a:ext cx="6021705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52450" y="4590098"/>
              <a:ext cx="6021705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61797" y="2340769"/>
              <a:ext cx="4683379" cy="31863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PermissionProxy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AbstractPermission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RealPermission permission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RealPermission();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level = 0;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0 游客，1 注册用户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setLevel(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level)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.level = level;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viewNote() { permission.viewNote(); }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谁都能看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publishNote()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(level == 1) { permission.publishNote();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 System.out.println(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"对不起，您没有发帖权限。"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modifyUserInfo()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(level == 1) { permission.modifyUserInfo();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 System.out.println(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"对不起，您没有修改信息的权限。"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modifyNote 写法与 publishNote 相同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8" name="c2-code-1"/>
          <p:cNvGrpSpPr/>
          <p:nvPr/>
        </p:nvGrpSpPr>
        <p:grpSpPr>
          <a:xfrm>
            <a:off x="6898005" y="1928812"/>
            <a:ext cx="4760595" cy="1033462"/>
            <a:chOff x="6898005" y="1928812"/>
            <a:chExt cx="4760595" cy="1033462"/>
          </a:xfrm>
        </p:grpSpPr>
        <p:sp>
          <p:nvSpPr>
            <p:cNvPr id="15" name="Rectangle 15"/>
            <p:cNvSpPr/>
            <p:nvPr/>
          </p:nvSpPr>
          <p:spPr>
            <a:xfrm>
              <a:off x="6898005" y="1928812"/>
              <a:ext cx="4760595" cy="1033462"/>
            </a:xfrm>
            <a:prstGeom prst="roundRect">
              <a:avLst>
                <a:gd name="adj" fmla="val 921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026402" y="2080736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游客登录后依次调三个方法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026402" y="2340769"/>
              <a:ext cx="1876806" cy="5431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查看帖子。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对不起，您没有发帖权限。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对不起，您没有修改信息的权限。</a:t>
              </a:r>
            </a:p>
          </p:txBody>
        </p:sp>
      </p:grpSp>
      <p:grpSp>
        <p:nvGrpSpPr>
          <p:cNvPr id="26" name="c2-card-2"/>
          <p:cNvGrpSpPr/>
          <p:nvPr/>
        </p:nvGrpSpPr>
        <p:grpSpPr>
          <a:xfrm>
            <a:off x="6898005" y="3131820"/>
            <a:ext cx="4760595" cy="2467928"/>
            <a:chOff x="6898005" y="3131820"/>
            <a:chExt cx="4760595" cy="2467928"/>
          </a:xfrm>
        </p:grpSpPr>
        <p:sp>
          <p:nvSpPr>
            <p:cNvPr id="19" name="Rectangle 19"/>
            <p:cNvSpPr/>
            <p:nvPr/>
          </p:nvSpPr>
          <p:spPr>
            <a:xfrm>
              <a:off x="6898005" y="3131820"/>
              <a:ext cx="4760595" cy="2467928"/>
            </a:xfrm>
            <a:prstGeom prst="roundRect">
              <a:avLst>
                <a:gd name="adj" fmla="val 540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6907530" y="3265170"/>
              <a:ext cx="47625" cy="220122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122795" y="331851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214514" y="335137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推演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88389" y="3353752"/>
              <a:ext cx="23340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setLevel(1) 加在最前面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115937" y="3679508"/>
              <a:ext cx="408565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三行输出变成“查看帖子。”“发布新帖子。”“修改用户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信息。”。客户端调的三个方法名一个字没改，变的只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是代理里那个 level。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117080" y="4490561"/>
              <a:ext cx="4157726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和第 5 页的反例比：判断从每个调用点收回到了代理里，改规则只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改这一个类</a:t>
              </a:r>
            </a:p>
          </p:txBody>
        </p:sp>
      </p:grpSp>
      <p:grpSp>
        <p:nvGrpSpPr>
          <p:cNvPr id="33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27" name="Rectangle 27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726129" y="6018966"/>
              <a:ext cx="224134" cy="192560"/>
              <a:chOff x="726129" y="6018966"/>
              <a:chExt cx="224134" cy="19256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838200" y="608933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726129" y="601896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38200" y="616712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040892" y="6028373"/>
              <a:ext cx="97245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历年题文档的静态代理里 findUser 调了真身却 return null，把结果丢了，这类“转调完忘了返回”是代理最常见的 bug。</a:t>
              </a:r>
            </a:p>
          </p:txBody>
        </p:sp>
      </p:grpSp>
      <p:grpSp>
        <p:nvGrpSpPr>
          <p:cNvPr id="3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4" name="TextBox 34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代理模式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458718" cy="909257"/>
            <a:chOff x="520446" y="342900"/>
            <a:chExt cx="34587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26 代理 · 课件里的三个实例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4587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实例二：数学运算代理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919722" cy="264033"/>
            <a:chOff x="526542" y="1545907"/>
            <a:chExt cx="6919722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9197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加减乘除在远程实现，本地要调用，就在本地设一个代理。这是远程代理的最小示范。</a:t>
              </a:r>
            </a:p>
          </p:txBody>
        </p:sp>
      </p:grpSp>
      <p:grpSp>
        <p:nvGrpSpPr>
          <p:cNvPr id="37" name="c1-uml-1"/>
          <p:cNvGrpSpPr/>
          <p:nvPr/>
        </p:nvGrpSpPr>
        <p:grpSpPr>
          <a:xfrm>
            <a:off x="806768" y="1993582"/>
            <a:ext cx="4806314" cy="2324100"/>
            <a:chOff x="806768" y="1993582"/>
            <a:chExt cx="4806314" cy="2324100"/>
          </a:xfrm>
        </p:grpSpPr>
        <p:sp>
          <p:nvSpPr>
            <p:cNvPr id="9" name="Freeform 9"/>
            <p:cNvSpPr/>
            <p:nvPr/>
          </p:nvSpPr>
          <p:spPr>
            <a:xfrm>
              <a:off x="1435418" y="3218498"/>
              <a:ext cx="1707832" cy="96203"/>
            </a:xfrm>
            <a:custGeom>
              <a:avLst/>
              <a:gdLst/>
              <a:ahLst/>
              <a:cxnLst/>
              <a:rect l="l" t="t" r="r" b="b"/>
              <a:pathLst>
                <a:path w="1707832" h="96203">
                  <a:moveTo>
                    <a:pt x="0" y="96203"/>
                  </a:moveTo>
                  <a:lnTo>
                    <a:pt x="0" y="0"/>
                  </a:lnTo>
                  <a:lnTo>
                    <a:pt x="1707832" y="0"/>
                  </a:lnTo>
                  <a:lnTo>
                    <a:pt x="1707832" y="29528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0" name="Freeform 10"/>
            <p:cNvSpPr/>
            <p:nvPr/>
          </p:nvSpPr>
          <p:spPr>
            <a:xfrm>
              <a:off x="3069908" y="3122295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3333750" y="3248025"/>
              <a:ext cx="1707832" cy="215265"/>
            </a:xfrm>
            <a:custGeom>
              <a:avLst/>
              <a:gdLst/>
              <a:ahLst/>
              <a:cxnLst/>
              <a:rect l="l" t="t" r="r" b="b"/>
              <a:pathLst>
                <a:path w="1707832" h="215265">
                  <a:moveTo>
                    <a:pt x="1707832" y="215265"/>
                  </a:moveTo>
                  <a:lnTo>
                    <a:pt x="1707832" y="44767"/>
                  </a:lnTo>
                  <a:lnTo>
                    <a:pt x="0" y="44767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2" name="Freeform 12"/>
            <p:cNvSpPr/>
            <p:nvPr/>
          </p:nvSpPr>
          <p:spPr>
            <a:xfrm>
              <a:off x="3260408" y="3122295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2063115" y="3815715"/>
              <a:ext cx="2406968" cy="9525"/>
            </a:xfrm>
            <a:custGeom>
              <a:avLst/>
              <a:gdLst/>
              <a:ahLst/>
              <a:cxnLst/>
              <a:rect l="l" t="t" r="r" b="b"/>
              <a:pathLst>
                <a:path w="2406968" h="9525">
                  <a:moveTo>
                    <a:pt x="0" y="0"/>
                  </a:moveTo>
                  <a:lnTo>
                    <a:pt x="2406968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365308" y="3757612"/>
              <a:ext cx="104775" cy="115253"/>
            </a:xfrm>
            <a:custGeom>
              <a:avLst/>
              <a:gdLst/>
              <a:ahLst/>
              <a:cxnLst/>
              <a:rect l="l" t="t" r="r" b="b"/>
              <a:pathLst>
                <a:path w="104775" h="115253">
                  <a:moveTo>
                    <a:pt x="0" y="115253"/>
                  </a:moveTo>
                  <a:lnTo>
                    <a:pt x="104775" y="58103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2667000" y="1993582"/>
              <a:ext cx="1143000" cy="112871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2674620" y="2000250"/>
              <a:ext cx="1128712" cy="33528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2667000" y="233172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2667000" y="242697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806768" y="3314700"/>
              <a:ext cx="1256348" cy="100298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814388" y="3321368"/>
              <a:ext cx="1242060" cy="209550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806768" y="3527108"/>
              <a:ext cx="125634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806768" y="3770948"/>
              <a:ext cx="125634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4470082" y="3463290"/>
              <a:ext cx="1143000" cy="70485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4477702" y="3469958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4470082" y="367569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470082" y="377094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2940939" y="2042160"/>
              <a:ext cx="595122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«interface»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913898" y="2170748"/>
              <a:ext cx="6492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Calculator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738438" y="2495074"/>
              <a:ext cx="587502" cy="6076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add(x, y)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sub(x, y)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mul(x, y)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div(x, y)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33973" y="3366135"/>
              <a:ext cx="10028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ProxyCalculator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78205" y="3595211"/>
              <a:ext cx="118700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real: RealCalculator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78205" y="3839051"/>
              <a:ext cx="587502" cy="4591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init()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add(x, y)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div(x, y)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591170" y="3514725"/>
              <a:ext cx="90082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RealCalculator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541520" y="3839051"/>
              <a:ext cx="587502" cy="310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add(x, y)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div(x, y)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3108008" y="3619500"/>
              <a:ext cx="318135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144183" y="3642360"/>
              <a:ext cx="2457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real</a:t>
              </a:r>
            </a:p>
          </p:txBody>
        </p:sp>
      </p:grpSp>
      <p:grpSp>
        <p:nvGrpSpPr>
          <p:cNvPr id="41" name="c1-code-2"/>
          <p:cNvGrpSpPr/>
          <p:nvPr/>
        </p:nvGrpSpPr>
        <p:grpSpPr>
          <a:xfrm>
            <a:off x="533400" y="4609148"/>
            <a:ext cx="5410200" cy="858202"/>
            <a:chOff x="533400" y="4609148"/>
            <a:chExt cx="5410200" cy="858202"/>
          </a:xfrm>
        </p:grpSpPr>
        <p:sp>
          <p:nvSpPr>
            <p:cNvPr id="38" name="Rectangle 38"/>
            <p:cNvSpPr/>
            <p:nvPr/>
          </p:nvSpPr>
          <p:spPr>
            <a:xfrm>
              <a:off x="533400" y="4609148"/>
              <a:ext cx="5410200" cy="858202"/>
            </a:xfrm>
            <a:prstGeom prst="roundRect">
              <a:avLst>
                <a:gd name="adj" fmla="val 1109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61797" y="4761071"/>
              <a:ext cx="193209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客户端：没调 init() 也能直接算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61797" y="5022056"/>
              <a:ext cx="3544570" cy="3669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Calculator calc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ProxyCalculator();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System.out.println(calc.add(3, 4));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输出 7.0 */</a:t>
              </a:r>
            </a:p>
          </p:txBody>
        </p:sp>
      </p:grpSp>
      <p:grpSp>
        <p:nvGrpSpPr>
          <p:cNvPr id="46" name="c2-code-1"/>
          <p:cNvGrpSpPr/>
          <p:nvPr/>
        </p:nvGrpSpPr>
        <p:grpSpPr>
          <a:xfrm>
            <a:off x="6248400" y="1928812"/>
            <a:ext cx="5410200" cy="2440305"/>
            <a:chOff x="6248400" y="1928812"/>
            <a:chExt cx="5410200" cy="2440305"/>
          </a:xfrm>
        </p:grpSpPr>
        <p:sp>
          <p:nvSpPr>
            <p:cNvPr id="42" name="Rectangle 42"/>
            <p:cNvSpPr/>
            <p:nvPr/>
          </p:nvSpPr>
          <p:spPr>
            <a:xfrm>
              <a:off x="6248400" y="1928812"/>
              <a:ext cx="5410200" cy="2440305"/>
            </a:xfrm>
            <a:prstGeom prst="roundRect">
              <a:avLst>
                <a:gd name="adj" fmla="val 390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376797" y="2080736"/>
              <a:ext cx="10915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ProxyCalculator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267450" y="3358515"/>
              <a:ext cx="5372100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376797" y="2340769"/>
              <a:ext cx="4316222" cy="19528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ProxyCalculator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Calculator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RealCalculator real;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init() { real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RealCalculator();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double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add(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double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x,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double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y)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(real ==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 { init(); }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忘了 init 也不会崩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real.add(x, y);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sub、mul、div 写法相同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53" name="c2-card-2"/>
          <p:cNvGrpSpPr/>
          <p:nvPr/>
        </p:nvGrpSpPr>
        <p:grpSpPr>
          <a:xfrm>
            <a:off x="6248400" y="4533900"/>
            <a:ext cx="5410200" cy="1160145"/>
            <a:chOff x="6248400" y="4533900"/>
            <a:chExt cx="5410200" cy="1160145"/>
          </a:xfrm>
        </p:grpSpPr>
        <p:sp>
          <p:nvSpPr>
            <p:cNvPr id="47" name="Rectangle 47"/>
            <p:cNvSpPr/>
            <p:nvPr/>
          </p:nvSpPr>
          <p:spPr>
            <a:xfrm>
              <a:off x="6248400" y="4533900"/>
              <a:ext cx="5410200" cy="1160145"/>
            </a:xfrm>
            <a:prstGeom prst="roundRect">
              <a:avLst>
                <a:gd name="adj" fmla="val 114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6257925" y="4667250"/>
              <a:ext cx="47625" cy="89344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467475" y="47148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560147" y="47477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补充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033451" y="4754404"/>
              <a:ext cx="1952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原图没说清谁来调 init()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460998" y="5070634"/>
              <a:ext cx="468655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课件把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real = new RealCalculator();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画成 init 旁边的注释，客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户端忘了先调就会空指针，讲义在业务方法里补了兜底判断。</a:t>
              </a:r>
            </a:p>
          </p:txBody>
        </p:sp>
      </p:grpSp>
      <p:grpSp>
        <p:nvGrpSpPr>
          <p:cNvPr id="59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54" name="Rectangle 54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1041273" y="6039326"/>
              <a:ext cx="70778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这个例子同时用到了两种代理的味道：隐藏远程位置是远程代理，推迟建立连接是虚拟代理。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代理模式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398264" cy="2997517"/>
            <a:chOff x="667512" y="1835468"/>
            <a:chExt cx="4398264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39826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静态代理与动态代理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代理类是编译前写好的，还是运行时生成的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静态代理为什么会失控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2075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JDK 动态代理的两个 API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一个完整可跑的例子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代理模式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26 代理 · 静态代理与动态代理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静态代理：编译前就指定好了谁代理谁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7688580" cy="293370"/>
            <a:chOff x="525780" y="1548765"/>
            <a:chExt cx="768858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76885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前面写的都是静态代理。各个角色在编译前就已存在，执行效率高，麻烦出在数量上。</a:t>
              </a:r>
            </a:p>
          </p:txBody>
        </p:sp>
      </p:grpSp>
      <p:grpSp>
        <p:nvGrpSpPr>
          <p:cNvPr id="25" name="c1-flow-1"/>
          <p:cNvGrpSpPr/>
          <p:nvPr/>
        </p:nvGrpSpPr>
        <p:grpSpPr>
          <a:xfrm>
            <a:off x="666750" y="2185035"/>
            <a:ext cx="4927283" cy="1284923"/>
            <a:chOff x="666750" y="2185035"/>
            <a:chExt cx="4927283" cy="1284923"/>
          </a:xfrm>
        </p:grpSpPr>
        <p:sp>
          <p:nvSpPr>
            <p:cNvPr id="9" name="Freeform 9"/>
            <p:cNvSpPr/>
            <p:nvPr/>
          </p:nvSpPr>
          <p:spPr>
            <a:xfrm>
              <a:off x="1183005" y="2596515"/>
              <a:ext cx="9525" cy="461962"/>
            </a:xfrm>
            <a:custGeom>
              <a:avLst/>
              <a:gdLst/>
              <a:ahLst/>
              <a:cxnLst/>
              <a:rect l="l" t="t" r="r" b="b"/>
              <a:pathLst>
                <a:path w="9525" h="461962">
                  <a:moveTo>
                    <a:pt x="0" y="461962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183005" y="2596515"/>
              <a:ext cx="1298258" cy="461962"/>
            </a:xfrm>
            <a:custGeom>
              <a:avLst/>
              <a:gdLst/>
              <a:ahLst/>
              <a:cxnLst/>
              <a:rect l="l" t="t" r="r" b="b"/>
              <a:pathLst>
                <a:path w="1298258" h="461962">
                  <a:moveTo>
                    <a:pt x="1298258" y="461962"/>
                  </a:moveTo>
                  <a:lnTo>
                    <a:pt x="1298258" y="230505"/>
                  </a:lnTo>
                  <a:lnTo>
                    <a:pt x="0" y="230505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3779520" y="2596515"/>
              <a:ext cx="9525" cy="461962"/>
            </a:xfrm>
            <a:custGeom>
              <a:avLst/>
              <a:gdLst/>
              <a:ahLst/>
              <a:cxnLst/>
              <a:rect l="l" t="t" r="r" b="b"/>
              <a:pathLst>
                <a:path w="9525" h="461962">
                  <a:moveTo>
                    <a:pt x="0" y="461962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779520" y="2596515"/>
              <a:ext cx="1298258" cy="461962"/>
            </a:xfrm>
            <a:custGeom>
              <a:avLst/>
              <a:gdLst/>
              <a:ahLst/>
              <a:cxnLst/>
              <a:rect l="l" t="t" r="r" b="b"/>
              <a:pathLst>
                <a:path w="1298258" h="461962">
                  <a:moveTo>
                    <a:pt x="1298258" y="461962"/>
                  </a:moveTo>
                  <a:lnTo>
                    <a:pt x="1298258" y="230505"/>
                  </a:lnTo>
                  <a:lnTo>
                    <a:pt x="0" y="230505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666750" y="2185035"/>
              <a:ext cx="1031558" cy="411480"/>
            </a:xfrm>
            <a:prstGeom prst="roundRect">
              <a:avLst>
                <a:gd name="adj" fmla="val 23148"/>
              </a:avLst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3263265" y="2185035"/>
              <a:ext cx="1031558" cy="411480"/>
            </a:xfrm>
            <a:prstGeom prst="roundRect">
              <a:avLst>
                <a:gd name="adj" fmla="val 23148"/>
              </a:avLst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666750" y="3058478"/>
              <a:ext cx="1031558" cy="411480"/>
            </a:xfrm>
            <a:prstGeom prst="roundRect">
              <a:avLst>
                <a:gd name="adj" fmla="val 23148"/>
              </a:avLst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1965008" y="3058478"/>
              <a:ext cx="1031558" cy="411480"/>
            </a:xfrm>
            <a:prstGeom prst="roundRect">
              <a:avLst>
                <a:gd name="adj" fmla="val 23148"/>
              </a:avLst>
            </a:prstGeom>
            <a:solidFill>
              <a:srgbClr val="EEEAF7"/>
            </a:solidFill>
            <a:ln w="19050">
              <a:solidFill>
                <a:srgbClr val="5B3FA0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3263265" y="3058478"/>
              <a:ext cx="1031558" cy="411480"/>
            </a:xfrm>
            <a:prstGeom prst="roundRect">
              <a:avLst>
                <a:gd name="adj" fmla="val 23148"/>
              </a:avLst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4562475" y="3058478"/>
              <a:ext cx="1031558" cy="411480"/>
            </a:xfrm>
            <a:prstGeom prst="roundRect">
              <a:avLst>
                <a:gd name="adj" fmla="val 23148"/>
              </a:avLst>
            </a:prstGeom>
            <a:solidFill>
              <a:srgbClr val="EEEAF7"/>
            </a:solidFill>
            <a:ln w="19050">
              <a:solidFill>
                <a:srgbClr val="5B3FA0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42823" y="2306955"/>
              <a:ext cx="4803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接口 A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539338" y="2306955"/>
              <a:ext cx="4803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接口 B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83031" y="3180398"/>
              <a:ext cx="1999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158327" y="3180398"/>
              <a:ext cx="6458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ProxyA1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679546" y="3180398"/>
              <a:ext cx="1999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B1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754842" y="3180398"/>
              <a:ext cx="6458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ProxyB1</a:t>
              </a:r>
            </a:p>
          </p:txBody>
        </p:sp>
      </p:grpSp>
      <p:grpSp>
        <p:nvGrpSpPr>
          <p:cNvPr id="32" name="c1-callout-2"/>
          <p:cNvGrpSpPr/>
          <p:nvPr/>
        </p:nvGrpSpPr>
        <p:grpSpPr>
          <a:xfrm>
            <a:off x="533400" y="3880485"/>
            <a:ext cx="5193982" cy="1744980"/>
            <a:chOff x="533400" y="3880485"/>
            <a:chExt cx="5193982" cy="1744980"/>
          </a:xfrm>
        </p:grpSpPr>
        <p:sp>
          <p:nvSpPr>
            <p:cNvPr id="26" name="Rectangle 26"/>
            <p:cNvSpPr/>
            <p:nvPr/>
          </p:nvSpPr>
          <p:spPr>
            <a:xfrm>
              <a:off x="533400" y="3880485"/>
              <a:ext cx="5193982" cy="1744980"/>
            </a:xfrm>
            <a:prstGeom prst="roundRect">
              <a:avLst>
                <a:gd name="adj" fmla="val 655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738188" y="4652963"/>
              <a:ext cx="200026" cy="200026"/>
              <a:chOff x="738188" y="4652963"/>
              <a:chExt cx="200026" cy="200026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738188" y="465296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38200" y="471963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27088" y="475297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1040511" y="4522946"/>
              <a:ext cx="416229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每多一个目标类，就得照着它的接口再手写一个代理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类，接口里有几个方法就抄几遍。</a:t>
              </a:r>
            </a:p>
          </p:txBody>
        </p:sp>
      </p:grpSp>
      <p:grpSp>
        <p:nvGrpSpPr>
          <p:cNvPr id="42" name="c2-card-1"/>
          <p:cNvGrpSpPr/>
          <p:nvPr/>
        </p:nvGrpSpPr>
        <p:grpSpPr>
          <a:xfrm>
            <a:off x="6032182" y="1954530"/>
            <a:ext cx="5626418" cy="1315402"/>
            <a:chOff x="6032182" y="1954530"/>
            <a:chExt cx="5626418" cy="1315402"/>
          </a:xfrm>
        </p:grpSpPr>
        <p:sp>
          <p:nvSpPr>
            <p:cNvPr id="33" name="Rectangle 33"/>
            <p:cNvSpPr/>
            <p:nvPr/>
          </p:nvSpPr>
          <p:spPr>
            <a:xfrm>
              <a:off x="6032182" y="1954530"/>
              <a:ext cx="5626418" cy="1315402"/>
            </a:xfrm>
            <a:prstGeom prst="roundRect">
              <a:avLst>
                <a:gd name="adj" fmla="val 101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041708" y="2087880"/>
              <a:ext cx="47625" cy="104870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268402" y="215265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59842" y="218694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优点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851714" y="2187416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实实在在，效率高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6276022" y="2590800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432614" y="2531269"/>
              <a:ext cx="40288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代理类是自己写的，点进去就能看到，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调试直观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6276022" y="2908935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432614" y="2849404"/>
              <a:ext cx="479348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在编译期就加入，提前指定好了谁调用谁，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没有反射开销</a:t>
              </a:r>
            </a:p>
          </p:txBody>
        </p:sp>
      </p:grpSp>
      <p:grpSp>
        <p:nvGrpSpPr>
          <p:cNvPr id="57" name="c2-card-2"/>
          <p:cNvGrpSpPr/>
          <p:nvPr/>
        </p:nvGrpSpPr>
        <p:grpSpPr>
          <a:xfrm>
            <a:off x="6032182" y="3449955"/>
            <a:ext cx="5626418" cy="2175510"/>
            <a:chOff x="6032182" y="3449955"/>
            <a:chExt cx="5626418" cy="2175510"/>
          </a:xfrm>
        </p:grpSpPr>
        <p:sp>
          <p:nvSpPr>
            <p:cNvPr id="43" name="Rectangle 43"/>
            <p:cNvSpPr/>
            <p:nvPr/>
          </p:nvSpPr>
          <p:spPr>
            <a:xfrm>
              <a:off x="6032182" y="3449955"/>
              <a:ext cx="5626418" cy="2175510"/>
            </a:xfrm>
            <a:prstGeom prst="roundRect">
              <a:avLst>
                <a:gd name="adj" fmla="val 6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041708" y="3583305"/>
              <a:ext cx="47625" cy="190881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268402" y="364807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359842" y="368236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缺点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851714" y="3682841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它的优点也成了致命的缺点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268402" y="4014788"/>
              <a:ext cx="201930" cy="20193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326747" y="4054173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559296" y="4026694"/>
              <a:ext cx="47033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需要大量的代理类。有多个目标对象要代理就得建多个代理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类，改动一多就容易出问题，还得重新测试。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6268402" y="4603432"/>
              <a:ext cx="201930" cy="20193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326747" y="464377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559296" y="4616291"/>
              <a:ext cx="45229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重复代码出现在各个角落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。代理类每个方法里都写一遍日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志、成功、失败，要改就得一个个改。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6268402" y="5193030"/>
              <a:ext cx="201930" cy="20193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326747" y="523241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559296" y="5204936"/>
              <a:ext cx="38376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编译前就确定了谁代理谁，系统的灵活性差。</a:t>
              </a:r>
            </a:p>
          </p:txBody>
        </p:sp>
      </p:grpSp>
      <p:grpSp>
        <p:nvGrpSpPr>
          <p:cNvPr id="63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58" name="Rectangle 58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738188" y="6011230"/>
              <a:ext cx="200023" cy="200023"/>
              <a:chOff x="738188" y="6011230"/>
              <a:chExt cx="200023" cy="200023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738188" y="601123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71538" y="60779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1040511" y="6011704"/>
              <a:ext cx="712853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静态代理省不掉重复的原因在于：横切的那段逻辑和方法签名绑死在一起写了 N 遍。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代理模式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26 代理 · 静态代理与动态代理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动态代理：运行时才决定代理谁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556248" cy="264033"/>
            <a:chOff x="526542" y="1545907"/>
            <a:chExt cx="6556248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5562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在运行时决定被代理的对象，并自动生成代理类对象。实现上通常使用反射机制。</a:t>
              </a:r>
            </a:p>
          </p:txBody>
        </p:sp>
      </p:grpSp>
      <p:grpSp>
        <p:nvGrpSpPr>
          <p:cNvPr id="15" name="c1-card-1"/>
          <p:cNvGrpSpPr/>
          <p:nvPr/>
        </p:nvGrpSpPr>
        <p:grpSpPr>
          <a:xfrm>
            <a:off x="533400" y="1928812"/>
            <a:ext cx="4977765" cy="1403032"/>
            <a:chOff x="533400" y="1928812"/>
            <a:chExt cx="4977765" cy="1403032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4977765" cy="1403032"/>
            </a:xfrm>
            <a:prstGeom prst="roundRect">
              <a:avLst>
                <a:gd name="adj" fmla="val 95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62162"/>
              <a:ext cx="47625" cy="1136332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52475" y="210978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45147" y="21426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18450" y="2149316"/>
              <a:ext cx="22978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动态代理（Dynamic Proxy）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5998" y="2465546"/>
              <a:ext cx="440207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可以基于反射技术，采用 Java JDK 提供的相应机制实现。有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多个真实主题对象时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只需要一个动态代理类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，避免了创建多个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静态代理类的麻烦。</a:t>
              </a:r>
            </a:p>
          </p:txBody>
        </p:sp>
      </p:grpSp>
      <p:grpSp>
        <p:nvGrpSpPr>
          <p:cNvPr id="21" name="c1-kv-2"/>
          <p:cNvGrpSpPr/>
          <p:nvPr/>
        </p:nvGrpSpPr>
        <p:grpSpPr>
          <a:xfrm>
            <a:off x="526923" y="3518059"/>
            <a:ext cx="4984242" cy="1102804"/>
            <a:chOff x="526923" y="3518059"/>
            <a:chExt cx="4984242" cy="1102804"/>
          </a:xfrm>
        </p:grpSpPr>
        <p:sp>
          <p:nvSpPr>
            <p:cNvPr id="16" name="TextBox 16"/>
            <p:cNvSpPr txBox="1"/>
            <p:nvPr/>
          </p:nvSpPr>
          <p:spPr>
            <a:xfrm>
              <a:off x="526923" y="3518059"/>
              <a:ext cx="13622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基于接口（JDK）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020443" y="3518059"/>
              <a:ext cx="3296666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java.lang.reflect.Proxy 生成实现同样接口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的代理对象，调用转给 InvocationHandler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402907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6923" y="4131469"/>
              <a:ext cx="764794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基于子类</a:t>
              </a:r>
              <a:br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（CGLib）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020443" y="4131469"/>
              <a:ext cx="3264154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运行时生成目标类的子类来充当代理，目标类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没有接口时用它</a:t>
              </a:r>
            </a:p>
          </p:txBody>
        </p:sp>
      </p:grpSp>
      <p:grpSp>
        <p:nvGrpSpPr>
          <p:cNvPr id="28" name="c1-callout-3"/>
          <p:cNvGrpSpPr/>
          <p:nvPr/>
        </p:nvGrpSpPr>
        <p:grpSpPr>
          <a:xfrm>
            <a:off x="533400" y="4734878"/>
            <a:ext cx="4977765" cy="702945"/>
            <a:chOff x="533400" y="4734878"/>
            <a:chExt cx="4977765" cy="702945"/>
          </a:xfrm>
        </p:grpSpPr>
        <p:sp>
          <p:nvSpPr>
            <p:cNvPr id="22" name="Rectangle 22"/>
            <p:cNvSpPr/>
            <p:nvPr/>
          </p:nvSpPr>
          <p:spPr>
            <a:xfrm>
              <a:off x="533400" y="4734878"/>
              <a:ext cx="4977765" cy="702945"/>
            </a:xfrm>
            <a:prstGeom prst="roundRect">
              <a:avLst>
                <a:gd name="adj" fmla="val 1626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26129" y="4982646"/>
              <a:ext cx="224134" cy="192560"/>
              <a:chOff x="726129" y="4982646"/>
              <a:chExt cx="224134" cy="19256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838200" y="505301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726129" y="498264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38200" y="513080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1041273" y="4880134"/>
              <a:ext cx="406882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JDK 动态代理只能对实现了接口的类进行代理，这是它最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硬的一条限制。</a:t>
              </a:r>
            </a:p>
          </p:txBody>
        </p:sp>
      </p:grpSp>
      <p:grpSp>
        <p:nvGrpSpPr>
          <p:cNvPr id="46" name="c2-steps-1"/>
          <p:cNvGrpSpPr/>
          <p:nvPr/>
        </p:nvGrpSpPr>
        <p:grpSpPr>
          <a:xfrm>
            <a:off x="5815965" y="1938338"/>
            <a:ext cx="5477732" cy="2149411"/>
            <a:chOff x="5815965" y="1938338"/>
            <a:chExt cx="5477732" cy="2149411"/>
          </a:xfrm>
        </p:grpSpPr>
        <p:sp>
          <p:nvSpPr>
            <p:cNvPr id="29" name="Rectangle 29"/>
            <p:cNvSpPr/>
            <p:nvPr/>
          </p:nvSpPr>
          <p:spPr>
            <a:xfrm>
              <a:off x="5949315" y="2081212"/>
              <a:ext cx="19050" cy="1659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5815965" y="1938338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909589" y="20121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5815965" y="2490788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909589" y="25646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5815965" y="3044190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909589" y="31180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5815965" y="3597592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909589" y="367141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228588" y="1968341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运行期拿到目标对象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229731" y="2223135"/>
              <a:ext cx="29156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new Dog() 这样的实例交给处理器保存起来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228588" y="252174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生成代理对象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229731" y="2776538"/>
              <a:ext cx="44561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Proxy.newProxyInstance 按目标的接口列表现场生成一个类并实例化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228588" y="3075146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客户端照常调用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229731" y="3328988"/>
              <a:ext cx="40544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拿到的对象可以强转成 IAnimal，调 eat()、sleep() 和平时一样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228588" y="3627596"/>
              <a:ext cx="14806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调用被转给 invoke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229731" y="3882390"/>
              <a:ext cx="50639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所有方法调用都进同一个 invoke，由它决定加什么、什么时候调 method.invoke</a:t>
              </a:r>
            </a:p>
          </p:txBody>
        </p:sp>
      </p:grpSp>
      <p:grpSp>
        <p:nvGrpSpPr>
          <p:cNvPr id="52" name="c2-card-2"/>
          <p:cNvGrpSpPr/>
          <p:nvPr/>
        </p:nvGrpSpPr>
        <p:grpSpPr>
          <a:xfrm>
            <a:off x="5815965" y="4249102"/>
            <a:ext cx="5842635" cy="1188720"/>
            <a:chOff x="5815965" y="4249102"/>
            <a:chExt cx="5842635" cy="1188720"/>
          </a:xfrm>
        </p:grpSpPr>
        <p:sp>
          <p:nvSpPr>
            <p:cNvPr id="47" name="Rectangle 47"/>
            <p:cNvSpPr/>
            <p:nvPr/>
          </p:nvSpPr>
          <p:spPr>
            <a:xfrm>
              <a:off x="5815965" y="4249102"/>
              <a:ext cx="5842635" cy="1188720"/>
            </a:xfrm>
            <a:prstGeom prst="roundRect">
              <a:avLst>
                <a:gd name="adj" fmla="val 11218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5996940" y="443007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088659" y="446293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关键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562916" y="4469606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重复的那段只写一遍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990463" y="4786789"/>
              <a:ext cx="508482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接口里有几个方法不重要，它们全都进同一个 </a:t>
              </a:r>
              <a:r>
                <a:rPr lang="en-US" sz="1280" dirty="0">
                  <a:solidFill>
                    <a:srgbClr val="EEEAF7"/>
                  </a:solidFill>
                  <a:latin typeface="+mn-lt"/>
                  <a:ea typeface="+mn-ea"/>
                  <a:cs typeface="+mn-cs"/>
                </a:rPr>
                <a:t>invoke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。静态代理里抄 N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遍的日志代码，这里只有一份。</a:t>
              </a:r>
            </a:p>
          </p:txBody>
        </p:sp>
      </p:grpSp>
      <p:grpSp>
        <p:nvGrpSpPr>
          <p:cNvPr id="59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53" name="Rectangle 53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738188" y="6028373"/>
              <a:ext cx="200026" cy="200026"/>
              <a:chOff x="738188" y="6028373"/>
              <a:chExt cx="200026" cy="200026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738188" y="60283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838200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27088" y="61283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1041273" y="6039326"/>
              <a:ext cx="69905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Spring 对有接口的 Bean 走 JDK 动态代理，对没有接口的走 CGLib，选哪种由它自己判断。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代理模式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87933" cy="909257"/>
            <a:chOff x="520446" y="342900"/>
            <a:chExt cx="488793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26 代理 · 静态代理与动态代理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8793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JDK 动态代理只要记住两个方法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4956962" cy="264033"/>
            <a:chOff x="526542" y="1545907"/>
            <a:chExt cx="4956962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49569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相关类位于 java.lang.reflect 包，涉及一个接口和一个类。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28812"/>
            <a:ext cx="5951220" cy="2088832"/>
            <a:chOff x="533400" y="1928812"/>
            <a:chExt cx="5951220" cy="2088832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951220" cy="2088832"/>
            </a:xfrm>
            <a:prstGeom prst="roundRect">
              <a:avLst>
                <a:gd name="adj" fmla="val 456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80736"/>
              <a:ext cx="20343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java.lang.reflect 里的两个签名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797" y="2340769"/>
              <a:ext cx="4390898" cy="16003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InvocationHandler 接口：代理对象的调用处理程序 */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Object invoke(Object proxy, Method method, Object[] args)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throws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Throwable;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Proxy 类：生成代理对象的工厂方法 */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Object newProxyInstance(ClassLoader loader,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                    Class&lt;?&gt;[] interfaces,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                    InvocationHandler h)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throws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IllegalArgumentException;</a:t>
              </a:r>
            </a:p>
          </p:txBody>
        </p:sp>
      </p:grpSp>
      <p:grpSp>
        <p:nvGrpSpPr>
          <p:cNvPr id="19" name="c1-callout-2"/>
          <p:cNvGrpSpPr/>
          <p:nvPr/>
        </p:nvGrpSpPr>
        <p:grpSpPr>
          <a:xfrm>
            <a:off x="533400" y="4182428"/>
            <a:ext cx="5951220" cy="1162050"/>
            <a:chOff x="533400" y="4182428"/>
            <a:chExt cx="5951220" cy="1162050"/>
          </a:xfrm>
        </p:grpSpPr>
        <p:sp>
          <p:nvSpPr>
            <p:cNvPr id="13" name="Rectangle 13"/>
            <p:cNvSpPr/>
            <p:nvPr/>
          </p:nvSpPr>
          <p:spPr>
            <a:xfrm>
              <a:off x="533400" y="4182428"/>
              <a:ext cx="5951220" cy="1162050"/>
            </a:xfrm>
            <a:prstGeom prst="roundRect">
              <a:avLst>
                <a:gd name="adj" fmla="val 983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738188" y="4663440"/>
              <a:ext cx="200026" cy="200025"/>
              <a:chOff x="738188" y="4663440"/>
              <a:chExt cx="200026" cy="200025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738188" y="466344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777926" y="470789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12642" y="481901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041273" y="4556284"/>
              <a:ext cx="484098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invoke 的第一个参数 proxy 是代理对象本身，绝大多数实现里用不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到，别在里面调它的方法，会无限递归。</a:t>
              </a:r>
            </a:p>
          </p:txBody>
        </p:sp>
      </p:grpSp>
      <p:grpSp>
        <p:nvGrpSpPr>
          <p:cNvPr id="37" name="c2-kv-1"/>
          <p:cNvGrpSpPr/>
          <p:nvPr/>
        </p:nvGrpSpPr>
        <p:grpSpPr>
          <a:xfrm>
            <a:off x="6782943" y="1949291"/>
            <a:ext cx="4875657" cy="2120074"/>
            <a:chOff x="6782943" y="1949291"/>
            <a:chExt cx="4875657" cy="2120074"/>
          </a:xfrm>
        </p:grpSpPr>
        <p:sp>
          <p:nvSpPr>
            <p:cNvPr id="20" name="TextBox 20"/>
            <p:cNvSpPr txBox="1"/>
            <p:nvPr/>
          </p:nvSpPr>
          <p:spPr>
            <a:xfrm>
              <a:off x="6782943" y="1949291"/>
              <a:ext cx="5105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proxy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964043" y="1949291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代理类对象本身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789420" y="2222182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782943" y="2323624"/>
              <a:ext cx="6462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method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964043" y="232362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需要代理的那个方法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789420" y="2595562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82943" y="2697956"/>
              <a:ext cx="410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args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964043" y="2697956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代理方法的参数数组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789420" y="2969895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782943" y="3072289"/>
              <a:ext cx="5647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loader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964043" y="3072289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目标类的类加载器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789420" y="3344228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782943" y="3445669"/>
              <a:ext cx="9628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interfaces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964043" y="3445669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目标类的接口列表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789420" y="3717608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782943" y="382000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h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964043" y="3820001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调用处理程序，对代理对象的调用都委托给它</a:t>
              </a:r>
            </a:p>
          </p:txBody>
        </p:sp>
      </p:grpSp>
      <p:grpSp>
        <p:nvGrpSpPr>
          <p:cNvPr id="43" name="c2-card-2"/>
          <p:cNvGrpSpPr/>
          <p:nvPr/>
        </p:nvGrpSpPr>
        <p:grpSpPr>
          <a:xfrm>
            <a:off x="6789420" y="4183380"/>
            <a:ext cx="4869180" cy="1160145"/>
            <a:chOff x="6789420" y="4183380"/>
            <a:chExt cx="4869180" cy="1160145"/>
          </a:xfrm>
        </p:grpSpPr>
        <p:sp>
          <p:nvSpPr>
            <p:cNvPr id="38" name="Rectangle 38"/>
            <p:cNvSpPr/>
            <p:nvPr/>
          </p:nvSpPr>
          <p:spPr>
            <a:xfrm>
              <a:off x="6789420" y="4183380"/>
              <a:ext cx="4869180" cy="1160145"/>
            </a:xfrm>
            <a:prstGeom prst="roundRect">
              <a:avLst>
                <a:gd name="adj" fmla="val 11494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970395" y="4364355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059016" y="439816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串起来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61148" y="4404836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两个方法的关系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963918" y="4721066"/>
              <a:ext cx="424764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newProxyInstance 按接口列表现场造出一个代理对象，它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的每个方法体都只做一件事，就是回头调 h 的 </a:t>
              </a:r>
              <a:r>
                <a:rPr lang="en-US" sz="1280" dirty="0">
                  <a:solidFill>
                    <a:srgbClr val="EEEAF7"/>
                  </a:solidFill>
                  <a:latin typeface="+mn-lt"/>
                  <a:ea typeface="+mn-ea"/>
                  <a:cs typeface="+mn-cs"/>
                </a:rPr>
                <a:t>invoke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50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44" name="Rectangle 44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738188" y="6028373"/>
              <a:ext cx="200026" cy="200026"/>
              <a:chOff x="738188" y="6028373"/>
              <a:chExt cx="200026" cy="200026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738188" y="60283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38200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27088" y="61283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041273" y="6039326"/>
              <a:ext cx="54552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返回值是 Object，客户端要强制转型成目标接口类型才能调业务方法。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代理模式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26 代理 · 静态代理与动态代理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动态代理例子（一）：接口与两个目标类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101459" cy="264033"/>
            <a:chOff x="526542" y="1545907"/>
            <a:chExt cx="7101459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1014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陈伟老师课件的例子。两个目标类实现同一个接口，一会儿用同一个处理器都代理一遍。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28812"/>
            <a:ext cx="5951220" cy="2967990"/>
            <a:chOff x="533400" y="1928812"/>
            <a:chExt cx="5951220" cy="2967990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951220" cy="2967990"/>
            </a:xfrm>
            <a:prstGeom prst="roundRect">
              <a:avLst>
                <a:gd name="adj" fmla="val 320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80736"/>
              <a:ext cx="12886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IAnimal 与 Dog、Cat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797" y="2340769"/>
              <a:ext cx="4683379" cy="24814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interface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IAnimal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eat();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sleep();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Dog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IAnimal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@Override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eat()   { System.out.println(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"狗在吃饭"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 }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@Override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sleep() { System.out.println(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"狗在睡觉"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Cat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IAnimal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@Override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eat()   { System.out.println(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"猫在吃饭"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 }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@Override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sleep() { System.out.println(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"猫在睡觉"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789420" y="1928812"/>
            <a:ext cx="4869180" cy="2258378"/>
            <a:chOff x="6789420" y="1928812"/>
            <a:chExt cx="4869180" cy="2258378"/>
          </a:xfrm>
        </p:grpSpPr>
        <p:sp>
          <p:nvSpPr>
            <p:cNvPr id="13" name="Rectangle 13"/>
            <p:cNvSpPr/>
            <p:nvPr/>
          </p:nvSpPr>
          <p:spPr>
            <a:xfrm>
              <a:off x="6789420" y="1928812"/>
              <a:ext cx="4869180" cy="2258378"/>
            </a:xfrm>
            <a:prstGeom prst="roundRect">
              <a:avLst>
                <a:gd name="adj" fmla="val 590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6798945" y="2062162"/>
              <a:ext cx="47625" cy="199167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008495" y="210978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101167" y="21426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74470" y="2149316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原课件这段代码编译不过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008495" y="2454592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060402" y="249021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278243" y="2465546"/>
              <a:ext cx="394690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注解写成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@override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，正确的是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@Override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首字母大</a:t>
              </a:r>
              <a:br/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写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008495" y="2982278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060402" y="301790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278243" y="2994184"/>
              <a:ext cx="39475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system.out.println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应为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System.out.println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008495" y="3268028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060402" y="330269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278243" y="3278981"/>
              <a:ext cx="397129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字符串两端用了中文引号，Java 源码里必须是 ASCII 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引号。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7008495" y="3795712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060402" y="383133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278243" y="3806666"/>
              <a:ext cx="41089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Dog 类少了收尾的右花括号，紧接着就写 class Cat。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789420" y="4351972"/>
            <a:ext cx="4869180" cy="1160145"/>
            <a:chOff x="6789420" y="4351972"/>
            <a:chExt cx="4869180" cy="1160145"/>
          </a:xfrm>
        </p:grpSpPr>
        <p:sp>
          <p:nvSpPr>
            <p:cNvPr id="31" name="Rectangle 31"/>
            <p:cNvSpPr/>
            <p:nvPr/>
          </p:nvSpPr>
          <p:spPr>
            <a:xfrm>
              <a:off x="6789420" y="4351972"/>
              <a:ext cx="4869180" cy="1160145"/>
            </a:xfrm>
            <a:prstGeom prst="roundRect">
              <a:avLst>
                <a:gd name="adj" fmla="val 11494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970395" y="453294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063067" y="456580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前提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536370" y="4572476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目标类必须实现接口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963918" y="4888706"/>
              <a:ext cx="423138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JDK 动态代理靠接口列表生成代理类，目标类没有接口时这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套写法用不了，要改用 CGLib。</a:t>
              </a:r>
            </a:p>
          </p:txBody>
        </p:sp>
      </p:grpSp>
      <p:grpSp>
        <p:nvGrpSpPr>
          <p:cNvPr id="43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37" name="Rectangle 37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738188" y="6028373"/>
              <a:ext cx="200026" cy="200026"/>
              <a:chOff x="738188" y="6028373"/>
              <a:chExt cx="200026" cy="200026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738188" y="60283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38200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27088" y="61283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1041273" y="6039326"/>
              <a:ext cx="75947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这四处都是誊抄板书常见的手误，考试手写代码时同样会丢分，抄的时候留意大小写和成对的括号。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" name="TextBox 44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代理模式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26 代理 · 静态代理与动态代理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动态代理例子（二）：处理器、客户端与输出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293072" cy="264033"/>
            <a:chOff x="526542" y="1545907"/>
            <a:chExt cx="6293072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2930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处理器只写一次，换成 new Cat() 同样能跑，这正是动态代理省下来的东西。</a:t>
              </a:r>
            </a:p>
          </p:txBody>
        </p:sp>
      </p:grpSp>
      <p:grpSp>
        <p:nvGrpSpPr>
          <p:cNvPr id="13" name="c1-code-1"/>
          <p:cNvGrpSpPr/>
          <p:nvPr/>
        </p:nvGrpSpPr>
        <p:grpSpPr>
          <a:xfrm>
            <a:off x="533400" y="1928812"/>
            <a:ext cx="5842635" cy="3319462"/>
            <a:chOff x="533400" y="1928812"/>
            <a:chExt cx="5842635" cy="3319462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842635" cy="3319462"/>
            </a:xfrm>
            <a:prstGeom prst="roundRect">
              <a:avLst>
                <a:gd name="adj" fmla="val 286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80736"/>
              <a:ext cx="26105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MyProxy implements InvocationHandler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4237672"/>
              <a:ext cx="5804535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797" y="2340769"/>
              <a:ext cx="4664710" cy="28338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MyProxy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InvocationHandler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Object target;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被代理对象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Object getProxyInstance(Object t)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.target = t;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Proxy.newProxyInstance(t.getClass().getClassLoader(),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t.getClass().getInterfaces(),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@Override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Object invoke(Object proxy, Method m, Object[] args)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throws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Throwable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"before 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m.getName());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Object result = m.invoke(target, args);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"after 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m.getName());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result;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7" name="c2-code-1"/>
          <p:cNvGrpSpPr/>
          <p:nvPr/>
        </p:nvGrpSpPr>
        <p:grpSpPr>
          <a:xfrm>
            <a:off x="6680835" y="1928812"/>
            <a:ext cx="4977765" cy="1033462"/>
            <a:chOff x="6680835" y="1928812"/>
            <a:chExt cx="4977765" cy="1033462"/>
          </a:xfrm>
        </p:grpSpPr>
        <p:sp>
          <p:nvSpPr>
            <p:cNvPr id="14" name="Rectangle 14"/>
            <p:cNvSpPr/>
            <p:nvPr/>
          </p:nvSpPr>
          <p:spPr>
            <a:xfrm>
              <a:off x="6680835" y="1928812"/>
              <a:ext cx="4977765" cy="1033462"/>
            </a:xfrm>
            <a:prstGeom prst="roundRect">
              <a:avLst>
                <a:gd name="adj" fmla="val 921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809232" y="2080736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客户端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809232" y="2340769"/>
              <a:ext cx="3569462" cy="5431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MyProxy h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MyProxy();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IAnimal a = (IAnimal) h.getProxyInstance(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Dog());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a.eat();   a.sleep();</a:t>
              </a:r>
            </a:p>
          </p:txBody>
        </p:sp>
      </p:grpSp>
      <p:grpSp>
        <p:nvGrpSpPr>
          <p:cNvPr id="21" name="c2-code-2"/>
          <p:cNvGrpSpPr/>
          <p:nvPr/>
        </p:nvGrpSpPr>
        <p:grpSpPr>
          <a:xfrm>
            <a:off x="6680835" y="3131820"/>
            <a:ext cx="4977765" cy="1561148"/>
            <a:chOff x="6680835" y="3131820"/>
            <a:chExt cx="4977765" cy="1561148"/>
          </a:xfrm>
        </p:grpSpPr>
        <p:sp>
          <p:nvSpPr>
            <p:cNvPr id="18" name="Rectangle 18"/>
            <p:cNvSpPr/>
            <p:nvPr/>
          </p:nvSpPr>
          <p:spPr>
            <a:xfrm>
              <a:off x="6680835" y="3131820"/>
              <a:ext cx="4977765" cy="1561148"/>
            </a:xfrm>
            <a:prstGeom prst="roundRect">
              <a:avLst>
                <a:gd name="adj" fmla="val 610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809232" y="328374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运行输出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809232" y="3544729"/>
              <a:ext cx="831342" cy="10717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before eat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狗在吃饭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after eat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before sleep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狗在睡觉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after sleep</a:t>
              </a:r>
            </a:p>
          </p:txBody>
        </p:sp>
      </p:grpSp>
      <p:grpSp>
        <p:nvGrpSpPr>
          <p:cNvPr id="27" name="c2-callout-3"/>
          <p:cNvGrpSpPr/>
          <p:nvPr/>
        </p:nvGrpSpPr>
        <p:grpSpPr>
          <a:xfrm>
            <a:off x="6680835" y="4863465"/>
            <a:ext cx="4977765" cy="729615"/>
            <a:chOff x="6680835" y="4863465"/>
            <a:chExt cx="4977765" cy="729615"/>
          </a:xfrm>
        </p:grpSpPr>
        <p:sp>
          <p:nvSpPr>
            <p:cNvPr id="22" name="Rectangle 22"/>
            <p:cNvSpPr/>
            <p:nvPr/>
          </p:nvSpPr>
          <p:spPr>
            <a:xfrm>
              <a:off x="6680835" y="4863465"/>
              <a:ext cx="4977765" cy="729615"/>
            </a:xfrm>
            <a:prstGeom prst="roundRect">
              <a:avLst>
                <a:gd name="adj" fmla="val 15666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6885623" y="5128262"/>
              <a:ext cx="200023" cy="200023"/>
              <a:chOff x="6885623" y="5128262"/>
              <a:chExt cx="200023" cy="200023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6885623" y="512826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7018973" y="519493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7188327" y="5009198"/>
              <a:ext cx="396563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把 new Dog() 换成 new Cat()，MyProxy 一个字不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用改，处理器里没有一行和 Dog 有关的代码。</a:t>
              </a:r>
            </a:p>
          </p:txBody>
        </p:sp>
      </p:grpSp>
      <p:grpSp>
        <p:nvGrpSpPr>
          <p:cNvPr id="34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28" name="Rectangle 28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726129" y="6018966"/>
              <a:ext cx="224134" cy="192560"/>
              <a:chOff x="726129" y="6018966"/>
              <a:chExt cx="224134" cy="19256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838200" y="608933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726129" y="601896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38200" y="616712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1040892" y="6028373"/>
              <a:ext cx="104117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更正：target 是实例字段，同一个 handler 再调一次 getProxyInstance 会顶掉上一个目标，一个目标配一个 handler 才安全。</a:t>
              </a:r>
            </a:p>
          </p:txBody>
        </p:sp>
      </p:grpSp>
      <p:grpSp>
        <p:nvGrpSpPr>
          <p:cNvPr id="3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5" name="TextBox 35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代理模式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45280" cy="909257"/>
            <a:chOff x="520446" y="342900"/>
            <a:chExt cx="41452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26 代理 · 静态代理与动态代理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静态代理与动态代理怎么选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6131611" cy="278702"/>
            <a:chOff x="526161" y="1547336"/>
            <a:chExt cx="6131611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613161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两者各有独特之处，谁也替代不了谁，按目标类的数量和接口情况来定。</a:t>
              </a:r>
            </a:p>
          </p:txBody>
        </p:sp>
      </p:grpSp>
      <p:grpSp>
        <p:nvGrpSpPr>
          <p:cNvPr id="44" name="c1-table-1"/>
          <p:cNvGrpSpPr/>
          <p:nvPr/>
        </p:nvGrpSpPr>
        <p:grpSpPr>
          <a:xfrm>
            <a:off x="533400" y="1941195"/>
            <a:ext cx="6276022" cy="3040380"/>
            <a:chOff x="533400" y="1941195"/>
            <a:chExt cx="6276022" cy="3040380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6276022" cy="40576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30338" y="20654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维度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924569" y="206549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静态代理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309629" y="206549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动态代理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3412" y="247126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代理类哪来的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139315" y="247126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编译前手写好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524375" y="2471261"/>
              <a:ext cx="16079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运行时由 JVM 现场生成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74796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752725"/>
              <a:ext cx="6276022" cy="6057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3412" y="2877026"/>
              <a:ext cx="114935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一个代理管几个目</a:t>
              </a:r>
              <a:br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139315" y="2977039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一个代理类对一个目标类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524375" y="2977039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一个处理器可代理任意接口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35375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3412" y="348281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横切代码写几遍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139315" y="3482816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接口有几个方法就抄几遍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433888" y="3368040"/>
              <a:ext cx="2366010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24375" y="3482816"/>
              <a:ext cx="14664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只在 invoke 里写一遍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375951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3764280"/>
              <a:ext cx="627602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3412" y="388858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执行效率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2048828" y="3773805"/>
              <a:ext cx="2366010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2139315" y="388858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24375" y="3888581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低一些，反射调用有开销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16528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3412" y="429434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可读性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139315" y="429434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直观，点进去就能看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524375" y="429434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差，要先理解反射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400" y="457104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533400" y="4575810"/>
              <a:ext cx="627602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33412" y="470011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限制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139315" y="470011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524375" y="4700111"/>
              <a:ext cx="21313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JDK 版只能代理实现了接口的类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1941195"/>
              <a:ext cx="6276022" cy="304038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2034540" y="1941195"/>
              <a:ext cx="9525" cy="30403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4419600" y="1941195"/>
              <a:ext cx="9525" cy="30403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1" name="c1-callout-2"/>
          <p:cNvGrpSpPr/>
          <p:nvPr/>
        </p:nvGrpSpPr>
        <p:grpSpPr>
          <a:xfrm>
            <a:off x="533400" y="5156835"/>
            <a:ext cx="6276022" cy="532448"/>
            <a:chOff x="533400" y="5156835"/>
            <a:chExt cx="6276022" cy="532448"/>
          </a:xfrm>
        </p:grpSpPr>
        <p:sp>
          <p:nvSpPr>
            <p:cNvPr id="45" name="Rectangle 45"/>
            <p:cNvSpPr/>
            <p:nvPr/>
          </p:nvSpPr>
          <p:spPr>
            <a:xfrm>
              <a:off x="533400" y="5156835"/>
              <a:ext cx="6276022" cy="532448"/>
            </a:xfrm>
            <a:prstGeom prst="roundRect">
              <a:avLst>
                <a:gd name="adj" fmla="val 21467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738188" y="5323523"/>
              <a:ext cx="200026" cy="200026"/>
              <a:chOff x="738188" y="5323523"/>
              <a:chExt cx="200026" cy="200026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738188" y="532352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38200" y="539019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27088" y="542353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1040892" y="5329238"/>
              <a:ext cx="45571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两者打成平手，在项目中用哪种没有最好，只有更合适。</a:t>
              </a:r>
            </a:p>
          </p:txBody>
        </p:sp>
      </p:grpSp>
      <p:grpSp>
        <p:nvGrpSpPr>
          <p:cNvPr id="65" name="c2-card-1"/>
          <p:cNvGrpSpPr/>
          <p:nvPr/>
        </p:nvGrpSpPr>
        <p:grpSpPr>
          <a:xfrm>
            <a:off x="7114222" y="1941195"/>
            <a:ext cx="4544378" cy="2346008"/>
            <a:chOff x="7114222" y="1941195"/>
            <a:chExt cx="4544378" cy="2346008"/>
          </a:xfrm>
        </p:grpSpPr>
        <p:sp>
          <p:nvSpPr>
            <p:cNvPr id="52" name="Rectangle 52"/>
            <p:cNvSpPr/>
            <p:nvPr/>
          </p:nvSpPr>
          <p:spPr>
            <a:xfrm>
              <a:off x="7114222" y="1941195"/>
              <a:ext cx="4544378" cy="2346008"/>
            </a:xfrm>
            <a:prstGeom prst="roundRect">
              <a:avLst>
                <a:gd name="adj" fmla="val 5684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7306628" y="213360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398068" y="216789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选法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890320" y="2173605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按三个问题问下去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7306628" y="2495550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362306" y="253393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586472" y="2507932"/>
              <a:ext cx="345986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目标类有接口吗？没有就只剩 CGLib 或静态代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理。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7306628" y="3055620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362306" y="309400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586472" y="3068002"/>
              <a:ext cx="36141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要代理的目标类有几个？只有一两个时静态代理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更省心。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7306628" y="3614738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362306" y="365407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586472" y="3627120"/>
              <a:ext cx="36141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横切逻辑会不会经常改？会改就用动态代理，改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一处就够。</a:t>
              </a:r>
            </a:p>
          </p:txBody>
        </p:sp>
      </p:grpSp>
      <p:grpSp>
        <p:nvGrpSpPr>
          <p:cNvPr id="72" name="c2-card-2"/>
          <p:cNvGrpSpPr/>
          <p:nvPr/>
        </p:nvGrpSpPr>
        <p:grpSpPr>
          <a:xfrm>
            <a:off x="7114222" y="4462462"/>
            <a:ext cx="4544378" cy="1226820"/>
            <a:chOff x="7114222" y="4462462"/>
            <a:chExt cx="4544378" cy="1226820"/>
          </a:xfrm>
        </p:grpSpPr>
        <p:sp>
          <p:nvSpPr>
            <p:cNvPr id="66" name="Rectangle 66"/>
            <p:cNvSpPr/>
            <p:nvPr/>
          </p:nvSpPr>
          <p:spPr>
            <a:xfrm>
              <a:off x="7114222" y="4462462"/>
              <a:ext cx="4544378" cy="1226820"/>
            </a:xfrm>
            <a:prstGeom prst="roundRect">
              <a:avLst>
                <a:gd name="adj" fmla="val 108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7123748" y="4595812"/>
              <a:ext cx="47625" cy="96012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7344728" y="4654868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7436168" y="468915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延伸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928420" y="4694872"/>
              <a:ext cx="19615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动态代理是 AOP 的地基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337870" y="5029200"/>
              <a:ext cx="391420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invoke 里的“加什么”抽成可配置的切面，再按方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法名匹配规则挑方法，就是 Spring AOP 的雏形。</a:t>
              </a:r>
            </a:p>
          </p:txBody>
        </p:sp>
      </p:grpSp>
      <p:grpSp>
        <p:nvGrpSpPr>
          <p:cNvPr id="79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73" name="Rectangle 73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77" name="Group 77"/>
            <p:cNvGrpSpPr/>
            <p:nvPr/>
          </p:nvGrpSpPr>
          <p:grpSpPr>
            <a:xfrm>
              <a:off x="726129" y="6014203"/>
              <a:ext cx="224134" cy="192560"/>
              <a:chOff x="726129" y="6014203"/>
              <a:chExt cx="224134" cy="192560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838200" y="608457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726129" y="601420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838200" y="61623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78" name="TextBox 78"/>
            <p:cNvSpPr txBox="1"/>
            <p:nvPr/>
          </p:nvSpPr>
          <p:spPr>
            <a:xfrm>
              <a:off x="1040892" y="6023610"/>
              <a:ext cx="69197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动态代理不是静态代理的升级版，它只是把重复代码换成了反射开销和一层理解成本。</a:t>
              </a:r>
            </a:p>
          </p:txBody>
        </p:sp>
      </p:grpSp>
      <p:grpSp>
        <p:nvGrpSpPr>
          <p:cNvPr id="8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0" name="TextBox 80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代理模式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882896" cy="2997517"/>
            <a:chOff x="667512" y="1835468"/>
            <a:chExt cx="4882896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第六部分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88289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效果、应用与模式辨析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用在什么地方，以及和谁容易混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优点与缺点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适用环境与真实应用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与装饰适配器外观的分界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代理模式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26 代理 · 效果、应用与模式辨析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优点：间接性换来了协调的余地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bullets-1"/>
          <p:cNvGrpSpPr/>
          <p:nvPr/>
        </p:nvGrpSpPr>
        <p:grpSpPr>
          <a:xfrm>
            <a:off x="526923" y="1545431"/>
            <a:ext cx="5640133" cy="1455516"/>
            <a:chOff x="526923" y="1545431"/>
            <a:chExt cx="5640133" cy="1455516"/>
          </a:xfrm>
        </p:grpSpPr>
        <p:sp>
          <p:nvSpPr>
            <p:cNvPr id="7" name="TextBox 7"/>
            <p:cNvSpPr txBox="1"/>
            <p:nvPr/>
          </p:nvSpPr>
          <p:spPr>
            <a:xfrm>
              <a:off x="526923" y="1545431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所有代理形式共有的两条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533400" y="1873568"/>
              <a:ext cx="122873" cy="99060"/>
            </a:xfrm>
            <a:custGeom>
              <a:avLst/>
              <a:gdLst/>
              <a:ahLst/>
              <a:cxnLst/>
              <a:rect l="l" t="t" r="r" b="b"/>
              <a:pathLst>
                <a:path w="122873" h="99060">
                  <a:moveTo>
                    <a:pt x="0" y="52388"/>
                  </a:moveTo>
                  <a:lnTo>
                    <a:pt x="46672" y="99060"/>
                  </a:lnTo>
                  <a:lnTo>
                    <a:pt x="122873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64096" y="1846421"/>
              <a:ext cx="48377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能够协调调用者和被调用者，在一定程度上降低了系统的耦合度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70572" y="2153602"/>
              <a:ext cx="60008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55738" y="2095500"/>
              <a:ext cx="5211318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客户端只认抽象主题。真实主题换了实现、换了位置，甚至暂时还没造出来，客户端都不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用改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533400" y="2573655"/>
              <a:ext cx="122873" cy="99060"/>
            </a:xfrm>
            <a:custGeom>
              <a:avLst/>
              <a:gdLst/>
              <a:ahLst/>
              <a:cxnLst/>
              <a:rect l="l" t="t" r="r" b="b"/>
              <a:pathLst>
                <a:path w="122873" h="99060">
                  <a:moveTo>
                    <a:pt x="0" y="52388"/>
                  </a:moveTo>
                  <a:lnTo>
                    <a:pt x="46672" y="99060"/>
                  </a:lnTo>
                  <a:lnTo>
                    <a:pt x="122873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4096" y="2546509"/>
              <a:ext cx="46654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客户端针对抽象主题编程，增加和更换代理类无须修改源代码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70572" y="2853690"/>
              <a:ext cx="60008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55738" y="2795588"/>
              <a:ext cx="31203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符合开闭原则，系统具有较好的灵活性和可扩展性</a:t>
              </a:r>
            </a:p>
          </p:txBody>
        </p:sp>
      </p:grpSp>
      <p:grpSp>
        <p:nvGrpSpPr>
          <p:cNvPr id="28" name="c1-kv-2"/>
          <p:cNvGrpSpPr/>
          <p:nvPr/>
        </p:nvGrpSpPr>
        <p:grpSpPr>
          <a:xfrm>
            <a:off x="526923" y="3145631"/>
            <a:ext cx="5957697" cy="2089594"/>
            <a:chOff x="526923" y="3145631"/>
            <a:chExt cx="5957697" cy="2089594"/>
          </a:xfrm>
        </p:grpSpPr>
        <p:sp>
          <p:nvSpPr>
            <p:cNvPr id="17" name="TextBox 17"/>
            <p:cNvSpPr txBox="1"/>
            <p:nvPr/>
          </p:nvSpPr>
          <p:spPr>
            <a:xfrm>
              <a:off x="526923" y="31456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远程代理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51800" y="3145631"/>
              <a:ext cx="4727194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为两个不同地址空间对象的访问提供实现机制，可以把消耗资源多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的对象和操作移到性能更好的计算机上，提高系统整体运行效率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65664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26923" y="375904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虚拟代理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451800" y="3759041"/>
              <a:ext cx="4727194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用一个消耗资源较少的对象代表一个消耗资源较多的对象，节省系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统运行开销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4271010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6923" y="437245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缓冲代理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451800" y="4372451"/>
              <a:ext cx="4727194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为某个操作的结果提供临时缓存，后续使用中共享这些结果，优化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性能、缩短执行时间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4884420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26923" y="498586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保护代理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451800" y="4985861"/>
              <a:ext cx="50100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控制对一个对象的访问权限，为不同用户提供不同级别的使用权限</a:t>
              </a:r>
            </a:p>
          </p:txBody>
        </p:sp>
      </p:grpSp>
      <p:grpSp>
        <p:nvGrpSpPr>
          <p:cNvPr id="34" name="c2-card-1"/>
          <p:cNvGrpSpPr/>
          <p:nvPr/>
        </p:nvGrpSpPr>
        <p:grpSpPr>
          <a:xfrm>
            <a:off x="6789420" y="1524000"/>
            <a:ext cx="4869180" cy="1403032"/>
            <a:chOff x="6789420" y="1524000"/>
            <a:chExt cx="4869180" cy="1403032"/>
          </a:xfrm>
        </p:grpSpPr>
        <p:sp>
          <p:nvSpPr>
            <p:cNvPr id="29" name="Rectangle 29"/>
            <p:cNvSpPr/>
            <p:nvPr/>
          </p:nvSpPr>
          <p:spPr>
            <a:xfrm>
              <a:off x="6789420" y="1524000"/>
              <a:ext cx="4869180" cy="1403032"/>
            </a:xfrm>
            <a:prstGeom prst="roundRect">
              <a:avLst>
                <a:gd name="adj" fmla="val 9504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970395" y="1704975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054964" y="173783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落到原则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785926" y="1744504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它满足开闭原则的那一半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963918" y="2061686"/>
              <a:ext cx="423951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新增一种代理、换一种代理都不用动客户端和真实主题，这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部分是开放的。抽象主题一旦增删方法，真实主题和所有代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理都得跟着改，那部分依然是封闭的。</a:t>
              </a:r>
            </a:p>
          </p:txBody>
        </p:sp>
      </p:grpSp>
      <p:grpSp>
        <p:nvGrpSpPr>
          <p:cNvPr id="41" name="c2-card-2"/>
          <p:cNvGrpSpPr/>
          <p:nvPr/>
        </p:nvGrpSpPr>
        <p:grpSpPr>
          <a:xfrm>
            <a:off x="6789420" y="3091815"/>
            <a:ext cx="4869180" cy="2093595"/>
            <a:chOff x="6789420" y="3091815"/>
            <a:chExt cx="4869180" cy="2093595"/>
          </a:xfrm>
        </p:grpSpPr>
        <p:sp>
          <p:nvSpPr>
            <p:cNvPr id="35" name="Rectangle 35"/>
            <p:cNvSpPr/>
            <p:nvPr/>
          </p:nvSpPr>
          <p:spPr>
            <a:xfrm>
              <a:off x="6789420" y="3091815"/>
              <a:ext cx="4869180" cy="2093595"/>
            </a:xfrm>
            <a:prstGeom prst="roundRect">
              <a:avLst>
                <a:gd name="adj" fmla="val 636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798945" y="3225165"/>
              <a:ext cx="47625" cy="182689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7008495" y="3272790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089966" y="3305651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附带的好处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947851" y="3312319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真实主题可以更干净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002018" y="3629501"/>
              <a:ext cx="423951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权限、日志、缓存、计数这些和业务无关的事全被挪到代理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里，真实主题只留下业务逻辑，单独测试它时不必先造一套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权限环境。</a:t>
              </a:r>
            </a:p>
          </p:txBody>
        </p:sp>
      </p:grpSp>
      <p:grpSp>
        <p:nvGrpSpPr>
          <p:cNvPr id="48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42" name="Rectangle 42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738188" y="6028373"/>
              <a:ext cx="200026" cy="200026"/>
              <a:chOff x="738188" y="6028373"/>
              <a:chExt cx="200026" cy="200026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738188" y="60283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838200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27088" y="61283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1041273" y="6039326"/>
              <a:ext cx="79566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四种代理的优点各背各的，简答题问“代理模式的优点”时先答共有的两条，再按题目提到的形式补一条。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代理模式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428875" cy="909257"/>
            <a:chOff x="520446" y="342900"/>
            <a:chExt cx="242887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26 代理 · 效果、应用与模式辨析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42887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缺点与适用环境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card-1"/>
          <p:cNvGrpSpPr/>
          <p:nvPr/>
        </p:nvGrpSpPr>
        <p:grpSpPr>
          <a:xfrm>
            <a:off x="533400" y="1524000"/>
            <a:ext cx="5193982" cy="1956435"/>
            <a:chOff x="533400" y="1524000"/>
            <a:chExt cx="5193982" cy="19564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1956435"/>
            </a:xfrm>
            <a:prstGeom prst="roundRect">
              <a:avLst>
                <a:gd name="adj" fmla="val 68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8973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335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主要缺点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65922" y="1768792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两条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1050" y="2116455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42899" y="215874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82040" y="2129790"/>
              <a:ext cx="4206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客户端和真实主题之间多了一个代理对象，有些类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型的代理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可能造成请求的处理速度变慢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1050" y="2737485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42899" y="277977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82040" y="2750820"/>
              <a:ext cx="4206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实现代理模式需要额外的工作，有些代理模式的实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现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非常复杂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26" name="c1-card-2"/>
          <p:cNvGrpSpPr/>
          <p:nvPr/>
        </p:nvGrpSpPr>
        <p:grpSpPr>
          <a:xfrm>
            <a:off x="533400" y="3670935"/>
            <a:ext cx="5193982" cy="1958340"/>
            <a:chOff x="533400" y="3670935"/>
            <a:chExt cx="5193982" cy="1958340"/>
          </a:xfrm>
        </p:grpSpPr>
        <p:sp>
          <p:nvSpPr>
            <p:cNvPr id="19" name="Rectangle 19"/>
            <p:cNvSpPr/>
            <p:nvPr/>
          </p:nvSpPr>
          <p:spPr>
            <a:xfrm>
              <a:off x="533400" y="3670935"/>
              <a:ext cx="5193982" cy="1958340"/>
            </a:xfrm>
            <a:prstGeom prst="roundRect">
              <a:avLst>
                <a:gd name="adj" fmla="val 68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542925" y="3804285"/>
              <a:ext cx="47625" cy="169164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81050" y="388048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63359" y="391620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具体一点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665922" y="3915728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慢在哪、复杂在哪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73430" y="4276725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慢：远程代理要序列化和走网络，动态代理每次调用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都过一遍反射。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73430" y="4897755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复杂：远程代理要处理连接、超时和失败重试；缓冲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代理要处理失效；同步代理要处理并发。</a:t>
              </a:r>
            </a:p>
          </p:txBody>
        </p:sp>
      </p:grpSp>
      <p:grpSp>
        <p:nvGrpSpPr>
          <p:cNvPr id="47" name="c2-card-1"/>
          <p:cNvGrpSpPr/>
          <p:nvPr/>
        </p:nvGrpSpPr>
        <p:grpSpPr>
          <a:xfrm>
            <a:off x="6032182" y="1524000"/>
            <a:ext cx="5626418" cy="4105275"/>
            <a:chOff x="6032182" y="1524000"/>
            <a:chExt cx="5626418" cy="4105275"/>
          </a:xfrm>
        </p:grpSpPr>
        <p:sp>
          <p:nvSpPr>
            <p:cNvPr id="27" name="Rectangle 27"/>
            <p:cNvSpPr/>
            <p:nvPr/>
          </p:nvSpPr>
          <p:spPr>
            <a:xfrm>
              <a:off x="6032182" y="1524000"/>
              <a:ext cx="5626418" cy="4105275"/>
            </a:xfrm>
            <a:prstGeom prst="roundRect">
              <a:avLst>
                <a:gd name="adj" fmla="val 324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041708" y="1657350"/>
              <a:ext cx="47625" cy="383857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27983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6118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适用环境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164705" y="1768792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按代理形式对号入座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6279832" y="2116455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41682" y="215874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580823" y="2129790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客户端需要访问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远程主机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中的对象时，用远程代理。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279832" y="2451735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41682" y="249402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580823" y="2465070"/>
              <a:ext cx="4587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需要用消耗资源少的对象代表消耗资源多的对象，从而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降低开销、缩短运行时间时，用虚拟代理，例如一个对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象需要很长时间才能完成加载。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6279832" y="3358515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41682" y="340080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580823" y="3371850"/>
              <a:ext cx="4587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需要为被频繁访问的操作结果提供临时存储空间供多个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客户端共享时，用缓冲代理，系统无须每次访问都重新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执行操作。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279832" y="4265295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341682" y="430758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580823" y="427863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需要控制对一个对象的访问、为不同用户提供不同级别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的访问权限时，用保护代理。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279832" y="4886325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341682" y="492861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580823" y="4899660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需要为一个对象的访问（引用）提供一些额外的操作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时，用智能引用代理。</a:t>
              </a:r>
            </a:p>
          </p:txBody>
        </p:sp>
      </p:grpSp>
      <p:grpSp>
        <p:nvGrpSpPr>
          <p:cNvPr id="53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8" name="Rectangle 48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1040130" y="5991225"/>
              <a:ext cx="74866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判断题常考这条：代理模式不会改变接口，所以它不能用来解决接口不兼容的问题。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代理模式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473519" cy="909257"/>
            <a:chOff x="520446" y="342900"/>
            <a:chExt cx="747351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26 代理 · 效果、应用与模式辨析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47351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模式应用：RMI、Spring AOP 与身边的反向代理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6275070" cy="293370"/>
            <a:chOff x="525780" y="1548765"/>
            <a:chExt cx="627507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62750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这几处都是课件点名或考试常引的例子，能说出用的是哪种代理即可。</a:t>
              </a:r>
            </a:p>
          </p:txBody>
        </p:sp>
      </p:grpSp>
      <p:grpSp>
        <p:nvGrpSpPr>
          <p:cNvPr id="20" name="c1-kv-1"/>
          <p:cNvGrpSpPr/>
          <p:nvPr/>
        </p:nvGrpSpPr>
        <p:grpSpPr>
          <a:xfrm>
            <a:off x="526161" y="1977866"/>
            <a:ext cx="5633657" cy="2615184"/>
            <a:chOff x="526161" y="1977866"/>
            <a:chExt cx="5633657" cy="2615184"/>
          </a:xfrm>
        </p:grpSpPr>
        <p:sp>
          <p:nvSpPr>
            <p:cNvPr id="9" name="TextBox 9"/>
            <p:cNvSpPr txBox="1"/>
            <p:nvPr/>
          </p:nvSpPr>
          <p:spPr>
            <a:xfrm>
              <a:off x="526161" y="1977866"/>
              <a:ext cx="8640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Java RMI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876806" y="1977866"/>
              <a:ext cx="3945890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远程方法调用。本地的 Stub 是远程对象的代理，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客户端像调本地方法一样调它，属于远程代理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33400" y="255174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26161" y="2667476"/>
              <a:ext cx="108447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Spring AOP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876806" y="2667476"/>
              <a:ext cx="3945890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Spring AOP 中应用了动态代理技术，事务、日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志、权限都靠它织入，是较为高级的代理模式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324135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6161" y="3357086"/>
              <a:ext cx="1141603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Hibernate 延</a:t>
              </a:r>
              <a:br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迟加载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876806" y="3357086"/>
              <a:ext cx="3981958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查出来的关联对象先是一个代理，真正读它的属性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时才发 SQL，属于虚拟代理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393096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26161" y="4046696"/>
              <a:ext cx="1085698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Nginx 反向代</a:t>
              </a:r>
              <a:br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理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876806" y="4046696"/>
              <a:ext cx="3981958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客户端只知道代理的地址，由它决定把请求转给后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面哪台服务器，兼有防火墙代理和缓冲代理的味道</a:t>
              </a:r>
            </a:p>
          </p:txBody>
        </p:sp>
      </p:grpSp>
      <p:grpSp>
        <p:nvGrpSpPr>
          <p:cNvPr id="27" name="c1-callout-2"/>
          <p:cNvGrpSpPr/>
          <p:nvPr/>
        </p:nvGrpSpPr>
        <p:grpSpPr>
          <a:xfrm>
            <a:off x="533400" y="4722495"/>
            <a:ext cx="5626418" cy="756285"/>
            <a:chOff x="533400" y="4722495"/>
            <a:chExt cx="5626418" cy="756285"/>
          </a:xfrm>
        </p:grpSpPr>
        <p:sp>
          <p:nvSpPr>
            <p:cNvPr id="21" name="Rectangle 21"/>
            <p:cNvSpPr/>
            <p:nvPr/>
          </p:nvSpPr>
          <p:spPr>
            <a:xfrm>
              <a:off x="533400" y="4722495"/>
              <a:ext cx="5626418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738188" y="5000625"/>
              <a:ext cx="200026" cy="200025"/>
              <a:chOff x="738188" y="5000625"/>
              <a:chExt cx="200026" cy="200025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738188" y="500062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777926" y="504507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12642" y="515620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1040511" y="4869656"/>
              <a:ext cx="470331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答题时先说清是哪种代理，再说它控制的是什么，比背名字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管用。</a:t>
              </a:r>
            </a:p>
          </p:txBody>
        </p:sp>
      </p:grpSp>
      <p:grpSp>
        <p:nvGrpSpPr>
          <p:cNvPr id="34" name="c2-card-1"/>
          <p:cNvGrpSpPr/>
          <p:nvPr/>
        </p:nvGrpSpPr>
        <p:grpSpPr>
          <a:xfrm>
            <a:off x="6464618" y="1954530"/>
            <a:ext cx="5193982" cy="1564958"/>
            <a:chOff x="6464618" y="1954530"/>
            <a:chExt cx="5193982" cy="1564958"/>
          </a:xfrm>
        </p:grpSpPr>
        <p:sp>
          <p:nvSpPr>
            <p:cNvPr id="28" name="Rectangle 28"/>
            <p:cNvSpPr/>
            <p:nvPr/>
          </p:nvSpPr>
          <p:spPr>
            <a:xfrm>
              <a:off x="6464618" y="1954530"/>
              <a:ext cx="5193982" cy="1564958"/>
            </a:xfrm>
            <a:prstGeom prst="roundRect">
              <a:avLst>
                <a:gd name="adj" fmla="val 85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474142" y="2087880"/>
              <a:ext cx="47625" cy="129825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706552" y="2158365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780009" y="219408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看得见的例子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876604" y="2197894"/>
              <a:ext cx="288716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Mapper 接口为什么不用写实现类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699314" y="2550319"/>
              <a:ext cx="4568063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MyBatis 里只写一个 </a:t>
              </a:r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UserMapper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接口就能直接注入使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用，因为框架在运行时用 JDK 动态代理生成了它的实现，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每个方法的调用都被转成一次 SQL 执行。</a:t>
              </a:r>
            </a:p>
          </p:txBody>
        </p:sp>
      </p:grpSp>
      <p:grpSp>
        <p:nvGrpSpPr>
          <p:cNvPr id="40" name="c2-card-2"/>
          <p:cNvGrpSpPr/>
          <p:nvPr/>
        </p:nvGrpSpPr>
        <p:grpSpPr>
          <a:xfrm>
            <a:off x="6464618" y="3704272"/>
            <a:ext cx="5193982" cy="1773555"/>
            <a:chOff x="6464618" y="3704272"/>
            <a:chExt cx="5193982" cy="1773555"/>
          </a:xfrm>
        </p:grpSpPr>
        <p:sp>
          <p:nvSpPr>
            <p:cNvPr id="35" name="Rectangle 35"/>
            <p:cNvSpPr/>
            <p:nvPr/>
          </p:nvSpPr>
          <p:spPr>
            <a:xfrm>
              <a:off x="6464618" y="3704272"/>
              <a:ext cx="5193982" cy="1773555"/>
            </a:xfrm>
            <a:prstGeom prst="roundRect">
              <a:avLst>
                <a:gd name="adj" fmla="val 7519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668452" y="3908108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754711" y="394382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串起来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411784" y="3948589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框架爱用代理的原因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61214" y="4300061"/>
              <a:ext cx="452297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框架要在不改用户代码的前提下插入自己的动作。代理和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目标接口完全一致，所以能悄悄把真身换掉，用户代码毫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不知情。</a:t>
              </a:r>
            </a:p>
          </p:txBody>
        </p:sp>
      </p:grpSp>
      <p:grpSp>
        <p:nvGrpSpPr>
          <p:cNvPr id="47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41" name="Rectangle 41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738188" y="6003608"/>
              <a:ext cx="200026" cy="200026"/>
              <a:chOff x="738188" y="6003608"/>
              <a:chExt cx="200026" cy="200026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738188" y="600360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38200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827088" y="610362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1040511" y="6004084"/>
              <a:ext cx="885054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调试 Spring 项目时看到类名里带 $Proxy 或 EnhancerBySpringCGLIB，说明手里拿的是代理不是原类。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代理模式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45280" cy="909257"/>
            <a:chOff x="520446" y="342900"/>
            <a:chExt cx="41452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26 代理 · 效果、应用与模式辨析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代理、装饰、适配器怎么分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011037" cy="264033"/>
            <a:chOff x="526542" y="1545907"/>
            <a:chExt cx="6011037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0110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三者的类图很像，都是持有一个对象再转调，区别在于为什么要包这一层。</a:t>
              </a:r>
            </a:p>
          </p:txBody>
        </p:sp>
      </p:grpSp>
      <p:grpSp>
        <p:nvGrpSpPr>
          <p:cNvPr id="41" name="c1-table-1"/>
          <p:cNvGrpSpPr/>
          <p:nvPr/>
        </p:nvGrpSpPr>
        <p:grpSpPr>
          <a:xfrm>
            <a:off x="533400" y="1928812"/>
            <a:ext cx="6276022" cy="1906905"/>
            <a:chOff x="533400" y="1928812"/>
            <a:chExt cx="6276022" cy="1906905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6276022" cy="381000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77278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维度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300478" y="204597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代理（本讲）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805955" y="2045970"/>
              <a:ext cx="11110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装饰（第 23 讲）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366912" y="2045970"/>
              <a:ext cx="12524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适配器（第 20 讲）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28078" y="2426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目的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924050" y="2319338"/>
              <a:ext cx="1612582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009204" y="242697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控制对目标的访问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640836" y="2426970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运行期给对象加职责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272469" y="2426970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转换接口让两者能合作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68700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2691765"/>
              <a:ext cx="627602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8078" y="2808923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接口变不变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009204" y="2808923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和目标完全一致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640836" y="2808923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和被装饰者一致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187315" y="2701290"/>
              <a:ext cx="1612582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272469" y="2808923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换成客户要的接口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306800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28078" y="3189923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谁提供被包对象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009204" y="3189923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代理自己创建或持有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640836" y="3189923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客户端传进来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272469" y="3189923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客户端传进来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344900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33400" y="3453765"/>
              <a:ext cx="627602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28078" y="3571875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常不常嵌套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009204" y="3571875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一般只包一层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640836" y="3571875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常见多层叠加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272469" y="3571875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一般只包一层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1928812"/>
              <a:ext cx="6276022" cy="1906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1909762" y="1928812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3541395" y="1928812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5173028" y="1928812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8" name="c1-callout-2"/>
          <p:cNvGrpSpPr/>
          <p:nvPr/>
        </p:nvGrpSpPr>
        <p:grpSpPr>
          <a:xfrm>
            <a:off x="533400" y="4000500"/>
            <a:ext cx="6276022" cy="1496378"/>
            <a:chOff x="533400" y="4000500"/>
            <a:chExt cx="6276022" cy="1496378"/>
          </a:xfrm>
        </p:grpSpPr>
        <p:sp>
          <p:nvSpPr>
            <p:cNvPr id="42" name="Rectangle 42"/>
            <p:cNvSpPr/>
            <p:nvPr/>
          </p:nvSpPr>
          <p:spPr>
            <a:xfrm>
              <a:off x="533400" y="4000500"/>
              <a:ext cx="6276022" cy="1496378"/>
            </a:xfrm>
            <a:prstGeom prst="roundRect">
              <a:avLst>
                <a:gd name="adj" fmla="val 7638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738188" y="4648200"/>
              <a:ext cx="200026" cy="200026"/>
              <a:chOff x="738188" y="4648200"/>
              <a:chExt cx="200026" cy="200026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738188" y="464820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838200" y="47148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27088" y="474821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1041273" y="4541996"/>
              <a:ext cx="521487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装饰和代理的代码可能长得一模一样，区分靠意图：装饰让对象更强，代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理让对象更难接触。</a:t>
              </a:r>
            </a:p>
          </p:txBody>
        </p:sp>
      </p:grpSp>
      <p:grpSp>
        <p:nvGrpSpPr>
          <p:cNvPr id="55" name="c2-card-1"/>
          <p:cNvGrpSpPr/>
          <p:nvPr/>
        </p:nvGrpSpPr>
        <p:grpSpPr>
          <a:xfrm>
            <a:off x="7114222" y="1928812"/>
            <a:ext cx="4544378" cy="1160145"/>
            <a:chOff x="7114222" y="1928812"/>
            <a:chExt cx="4544378" cy="1160145"/>
          </a:xfrm>
        </p:grpSpPr>
        <p:sp>
          <p:nvSpPr>
            <p:cNvPr id="49" name="Rectangle 49"/>
            <p:cNvSpPr/>
            <p:nvPr/>
          </p:nvSpPr>
          <p:spPr>
            <a:xfrm>
              <a:off x="7114222" y="1928812"/>
              <a:ext cx="4544378" cy="1160145"/>
            </a:xfrm>
            <a:prstGeom prst="roundRect">
              <a:avLst>
                <a:gd name="adj" fmla="val 114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7123748" y="2062162"/>
              <a:ext cx="47625" cy="89344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7333298" y="2109788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417867" y="214264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和外观比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147876" y="2149316"/>
              <a:ext cx="15267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24 讲的外观模式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326820" y="2465546"/>
              <a:ext cx="39143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外观面对的是一整个子系统的多个类，给出一个新的简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化接口；代理只对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一个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对象，提供和它相同的接口。</a:t>
              </a:r>
            </a:p>
          </p:txBody>
        </p:sp>
      </p:grpSp>
      <p:grpSp>
        <p:nvGrpSpPr>
          <p:cNvPr id="62" name="c2-card-2"/>
          <p:cNvGrpSpPr/>
          <p:nvPr/>
        </p:nvGrpSpPr>
        <p:grpSpPr>
          <a:xfrm>
            <a:off x="7114222" y="3253740"/>
            <a:ext cx="4544378" cy="1160145"/>
            <a:chOff x="7114222" y="3253740"/>
            <a:chExt cx="4544378" cy="1160145"/>
          </a:xfrm>
        </p:grpSpPr>
        <p:sp>
          <p:nvSpPr>
            <p:cNvPr id="56" name="Rectangle 56"/>
            <p:cNvSpPr/>
            <p:nvPr/>
          </p:nvSpPr>
          <p:spPr>
            <a:xfrm>
              <a:off x="7114222" y="3253740"/>
              <a:ext cx="4544378" cy="1160145"/>
            </a:xfrm>
            <a:prstGeom prst="roundRect">
              <a:avLst>
                <a:gd name="adj" fmla="val 114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7123748" y="3387090"/>
              <a:ext cx="47625" cy="89344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7333298" y="3434715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417867" y="346757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和桥接比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147876" y="3474244"/>
              <a:ext cx="15267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21 讲的桥接模式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326820" y="3791426"/>
              <a:ext cx="39143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桥接把抽象和实现拆成两个继承层次各自扩展；代理只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在一条接口上加一层控制，不产生第二个维度。</a:t>
              </a:r>
            </a:p>
          </p:txBody>
        </p:sp>
      </p:grpSp>
      <p:grpSp>
        <p:nvGrpSpPr>
          <p:cNvPr id="68" name="c2-card-3"/>
          <p:cNvGrpSpPr/>
          <p:nvPr/>
        </p:nvGrpSpPr>
        <p:grpSpPr>
          <a:xfrm>
            <a:off x="7114222" y="4578668"/>
            <a:ext cx="4544378" cy="917258"/>
            <a:chOff x="7114222" y="4578668"/>
            <a:chExt cx="4544378" cy="917258"/>
          </a:xfrm>
        </p:grpSpPr>
        <p:sp>
          <p:nvSpPr>
            <p:cNvPr id="63" name="Rectangle 63"/>
            <p:cNvSpPr/>
            <p:nvPr/>
          </p:nvSpPr>
          <p:spPr>
            <a:xfrm>
              <a:off x="7114222" y="4578668"/>
              <a:ext cx="4544378" cy="917258"/>
            </a:xfrm>
            <a:prstGeom prst="roundRect">
              <a:avLst>
                <a:gd name="adj" fmla="val 14538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7295198" y="4759642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383818" y="479250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一句话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985951" y="479917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三个词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288720" y="5116354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代理管</a:t>
              </a:r>
              <a:r>
                <a:rPr lang="zh-CN" sz="128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访问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，装饰管</a:t>
              </a:r>
              <a:r>
                <a:rPr lang="zh-CN" sz="128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职责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，适配器管</a:t>
              </a:r>
              <a:r>
                <a:rPr lang="zh-CN" sz="128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接口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74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69" name="Rectangle 69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72" name="Group 72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3" name="TextBox 73"/>
            <p:cNvSpPr txBox="1"/>
            <p:nvPr/>
          </p:nvSpPr>
          <p:spPr>
            <a:xfrm>
              <a:off x="1041273" y="6039326"/>
              <a:ext cx="57165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遇到“它包了一个对象”就问三句：接口变没变、职责加没加、访问拦没拦。</a:t>
              </a:r>
            </a:p>
          </p:txBody>
        </p:sp>
      </p:grpSp>
      <p:grpSp>
        <p:nvGrpSpPr>
          <p:cNvPr id="7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5" name="TextBox 75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代理模式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458718" cy="909257"/>
            <a:chOff x="520446" y="342900"/>
            <a:chExt cx="34587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26 代理 · 效果、应用与模式辨析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4587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五个易错点与模式本质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7" name="c1-card-1"/>
          <p:cNvGrpSpPr/>
          <p:nvPr/>
        </p:nvGrpSpPr>
        <p:grpSpPr>
          <a:xfrm>
            <a:off x="533400" y="1524000"/>
            <a:ext cx="5842635" cy="4004310"/>
            <a:chOff x="533400" y="1524000"/>
            <a:chExt cx="5842635" cy="400431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4004310"/>
            </a:xfrm>
            <a:prstGeom prst="roundRect">
              <a:avLst>
                <a:gd name="adj" fmla="val 33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73761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这五处一考就错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1050" y="2116455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42899" y="215874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82040" y="2129790"/>
              <a:ext cx="4777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以为代理可以改接口。代理和真实主题的接口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必须相同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改接口的是适配器。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1050" y="2737485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42899" y="277977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82040" y="2750820"/>
              <a:ext cx="47586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类图里漏掉 Proxy 到 Subject 的实现线，只画 Proxy 指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 RealSubject，那样代理就替换不了真身。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81050" y="3358515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42899" y="340080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82040" y="3371850"/>
              <a:ext cx="48615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把写时复制代理归到缓冲代理，它是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虚拟代理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的变体。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81050" y="3693795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42899" y="373608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82040" y="3707130"/>
              <a:ext cx="4777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以为动态代理比静态代理快。反射调用更慢，动态代理换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来的是代码量和灵活性。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81050" y="4314825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42899" y="435711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82040" y="4328160"/>
              <a:ext cx="41300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忘了 JDK 动态代理只能代理实现了接口的类。</a:t>
              </a:r>
            </a:p>
          </p:txBody>
        </p:sp>
      </p:grpSp>
      <p:grpSp>
        <p:nvGrpSpPr>
          <p:cNvPr id="33" name="c2-card-1"/>
          <p:cNvGrpSpPr/>
          <p:nvPr/>
        </p:nvGrpSpPr>
        <p:grpSpPr>
          <a:xfrm>
            <a:off x="6680835" y="1524000"/>
            <a:ext cx="4977765" cy="2192655"/>
            <a:chOff x="6680835" y="1524000"/>
            <a:chExt cx="4977765" cy="2192655"/>
          </a:xfrm>
        </p:grpSpPr>
        <p:sp>
          <p:nvSpPr>
            <p:cNvPr id="28" name="Rectangle 28"/>
            <p:cNvSpPr/>
            <p:nvPr/>
          </p:nvSpPr>
          <p:spPr>
            <a:xfrm>
              <a:off x="6680835" y="1524000"/>
              <a:ext cx="4977765" cy="2192655"/>
            </a:xfrm>
            <a:prstGeom prst="roundRect">
              <a:avLst>
                <a:gd name="adj" fmla="val 6082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890385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981546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本质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491412" y="1768792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代理模式的本质是控制对象访问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882765" y="2129790"/>
              <a:ext cx="4206240" cy="1436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代理对象插在客户和目标对象之间，引入了一定的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间接性。这个间接性给了代理很多活动空间，它可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以在调用目标对象前后附加操作，实现新功能或扩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展目标的功能，</a:t>
              </a:r>
              <a:r>
                <a:rPr lang="zh-CN" sz="150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甚至可以不去创建和调用目标对</a:t>
              </a:r>
              <a:br/>
              <a:r>
                <a:rPr lang="zh-CN" sz="150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象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，把目标完全代理掉或者替换掉。</a:t>
              </a:r>
            </a:p>
          </p:txBody>
        </p:sp>
      </p:grpSp>
      <p:grpSp>
        <p:nvGrpSpPr>
          <p:cNvPr id="40" name="c2-card-2"/>
          <p:cNvGrpSpPr/>
          <p:nvPr/>
        </p:nvGrpSpPr>
        <p:grpSpPr>
          <a:xfrm>
            <a:off x="6680835" y="3907155"/>
            <a:ext cx="4977765" cy="1621155"/>
            <a:chOff x="6680835" y="3907155"/>
            <a:chExt cx="4977765" cy="1621155"/>
          </a:xfrm>
        </p:grpSpPr>
        <p:sp>
          <p:nvSpPr>
            <p:cNvPr id="34" name="Rectangle 34"/>
            <p:cNvSpPr/>
            <p:nvPr/>
          </p:nvSpPr>
          <p:spPr>
            <a:xfrm>
              <a:off x="6680835" y="3907155"/>
              <a:ext cx="4977765" cy="1621155"/>
            </a:xfrm>
            <a:prstGeom prst="roundRect">
              <a:avLst>
                <a:gd name="adj" fmla="val 82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690360" y="4040505"/>
              <a:ext cx="47625" cy="13544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928485" y="411670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010794" y="415242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顺带一提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814310" y="4151948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代理模式与单例、享元常一起出现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920865" y="4512945"/>
              <a:ext cx="43395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代理里那个真实主题可以是单例（第 15 讲），也可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以从享元池里取（第 25 讲），代理负责把这些取对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象的细节挡在客户端外面。</a:t>
              </a:r>
            </a:p>
          </p:txBody>
        </p:sp>
      </p:grpSp>
      <p:grpSp>
        <p:nvGrpSpPr>
          <p:cNvPr id="47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1" name="Rectangle 41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738188" y="5995988"/>
              <a:ext cx="200026" cy="200026"/>
              <a:chOff x="738188" y="5995988"/>
              <a:chExt cx="200026" cy="200026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738188" y="59959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38200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827088" y="60960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1040130" y="5991225"/>
              <a:ext cx="91020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本质那句话里最容易被忽略的是最后半句：代理有权不调用目标，保护代理和缓冲代理都用到了这条。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代理模式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742313" cy="909257"/>
            <a:chOff x="520446" y="342900"/>
            <a:chExt cx="174231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7423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自测（一）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254442"/>
            <a:chOff x="533400" y="1524000"/>
            <a:chExt cx="5410200" cy="125444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5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4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8947" y="2072640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代理模式属于哪一类模式？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8947" y="2375535"/>
              <a:ext cx="35886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对象结构型，英文 Proxy 或 Surrogate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2953702"/>
            <a:ext cx="5410200" cy="1254442"/>
            <a:chOff x="533400" y="2953702"/>
            <a:chExt cx="5410200" cy="1254442"/>
          </a:xfrm>
        </p:grpSpPr>
        <p:sp>
          <p:nvSpPr>
            <p:cNvPr id="13" name="Rectangle 13"/>
            <p:cNvSpPr/>
            <p:nvPr/>
          </p:nvSpPr>
          <p:spPr>
            <a:xfrm>
              <a:off x="533400" y="2953702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25805" y="314610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14753" y="318039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8947" y="3503295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代理为什么能替换真实主题？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8947" y="380523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两者实现同一个抽象主题接口</a:t>
              </a:r>
            </a:p>
          </p:txBody>
        </p:sp>
      </p:grpSp>
      <p:grpSp>
        <p:nvGrpSpPr>
          <p:cNvPr id="24" name="c1-card-3"/>
          <p:cNvGrpSpPr/>
          <p:nvPr/>
        </p:nvGrpSpPr>
        <p:grpSpPr>
          <a:xfrm>
            <a:off x="533400" y="4383405"/>
            <a:ext cx="5410200" cy="1254442"/>
            <a:chOff x="533400" y="4383405"/>
            <a:chExt cx="5410200" cy="1254442"/>
          </a:xfrm>
        </p:grpSpPr>
        <p:sp>
          <p:nvSpPr>
            <p:cNvPr id="19" name="Rectangle 19"/>
            <p:cNvSpPr/>
            <p:nvPr/>
          </p:nvSpPr>
          <p:spPr>
            <a:xfrm>
              <a:off x="533400" y="4383405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25805" y="457581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14753" y="461010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8947" y="493299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代理模式的本质是什么？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8947" y="5234940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控制对象访问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248400" y="1524000"/>
            <a:ext cx="5410200" cy="1254442"/>
            <a:chOff x="6248400" y="1524000"/>
            <a:chExt cx="5410200" cy="1254442"/>
          </a:xfrm>
        </p:grpSpPr>
        <p:sp>
          <p:nvSpPr>
            <p:cNvPr id="25" name="Rectangle 25"/>
            <p:cNvSpPr/>
            <p:nvPr/>
          </p:nvSpPr>
          <p:spPr>
            <a:xfrm>
              <a:off x="6248400" y="1524000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40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29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33947" y="207264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它包含哪三个角色？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33947" y="2375535"/>
              <a:ext cx="29246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Subject、RealSubject、Proxy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248400" y="2953702"/>
            <a:ext cx="5410200" cy="1254442"/>
            <a:chOff x="6248400" y="2953702"/>
            <a:chExt cx="5410200" cy="1254442"/>
          </a:xfrm>
        </p:grpSpPr>
        <p:sp>
          <p:nvSpPr>
            <p:cNvPr id="31" name="Rectangle 31"/>
            <p:cNvSpPr/>
            <p:nvPr/>
          </p:nvSpPr>
          <p:spPr>
            <a:xfrm>
              <a:off x="6248400" y="2953702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40805" y="314610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29753" y="318039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33947" y="3503295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客户端应该针对谁编程？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33947" y="3805238"/>
              <a:ext cx="18186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抽象主题 Subject</a:t>
              </a:r>
            </a:p>
          </p:txBody>
        </p:sp>
      </p:grpSp>
      <p:grpSp>
        <p:nvGrpSpPr>
          <p:cNvPr id="42" name="c2-card-3"/>
          <p:cNvGrpSpPr/>
          <p:nvPr/>
        </p:nvGrpSpPr>
        <p:grpSpPr>
          <a:xfrm>
            <a:off x="6248400" y="4383405"/>
            <a:ext cx="5410200" cy="1254442"/>
            <a:chOff x="6248400" y="4383405"/>
            <a:chExt cx="5410200" cy="1254442"/>
          </a:xfrm>
        </p:grpSpPr>
        <p:sp>
          <p:nvSpPr>
            <p:cNvPr id="37" name="Rectangle 37"/>
            <p:cNvSpPr/>
            <p:nvPr/>
          </p:nvSpPr>
          <p:spPr>
            <a:xfrm>
              <a:off x="6248400" y="4383405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40805" y="457581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29753" y="461010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33947" y="493299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代理类里那条引用指向谁？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33947" y="5234940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真实主题，最好声明成抽象类型</a:t>
              </a:r>
            </a:p>
          </p:txBody>
        </p:sp>
      </p:grpSp>
      <p:grpSp>
        <p:nvGrpSpPr>
          <p:cNvPr id="49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43" name="Rectangle 43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38188" y="6017895"/>
              <a:ext cx="200026" cy="200026"/>
              <a:chOff x="738188" y="6017895"/>
              <a:chExt cx="200026" cy="200026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60178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38200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27088" y="61179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40892" y="6023610"/>
              <a:ext cx="54385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答不上来的题，回到第 8 页那张类图和第 10 页那段代码再看一遍。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代理模式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742313" cy="909257"/>
            <a:chOff x="520446" y="342900"/>
            <a:chExt cx="174231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7423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自测（二）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254442"/>
            <a:chOff x="533400" y="1524000"/>
            <a:chExt cx="5410200" cy="125444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5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4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8947" y="2072640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网页大图延迟加载是哪种代理？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8947" y="2375535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虚拟代理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2953702"/>
            <a:ext cx="5410200" cy="1254442"/>
            <a:chOff x="533400" y="2953702"/>
            <a:chExt cx="5410200" cy="1254442"/>
          </a:xfrm>
        </p:grpSpPr>
        <p:sp>
          <p:nvSpPr>
            <p:cNvPr id="13" name="Rectangle 13"/>
            <p:cNvSpPr/>
            <p:nvPr/>
          </p:nvSpPr>
          <p:spPr>
            <a:xfrm>
              <a:off x="533400" y="2953702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25805" y="314610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14753" y="318039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8947" y="3503295"/>
              <a:ext cx="23343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RMI 用的是哪种代理？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8947" y="380523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远程代理，又称大使</a:t>
              </a:r>
            </a:p>
          </p:txBody>
        </p:sp>
      </p:grpSp>
      <p:grpSp>
        <p:nvGrpSpPr>
          <p:cNvPr id="24" name="c1-card-3"/>
          <p:cNvGrpSpPr/>
          <p:nvPr/>
        </p:nvGrpSpPr>
        <p:grpSpPr>
          <a:xfrm>
            <a:off x="533400" y="4383405"/>
            <a:ext cx="5410200" cy="1254442"/>
            <a:chOff x="533400" y="4383405"/>
            <a:chExt cx="5410200" cy="1254442"/>
          </a:xfrm>
        </p:grpSpPr>
        <p:sp>
          <p:nvSpPr>
            <p:cNvPr id="19" name="Rectangle 19"/>
            <p:cNvSpPr/>
            <p:nvPr/>
          </p:nvSpPr>
          <p:spPr>
            <a:xfrm>
              <a:off x="533400" y="4383405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25805" y="457581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14753" y="461010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8947" y="493299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静态代理最大的麻烦是什么？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8947" y="5234940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目标一多就得写很多代理类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248400" y="1524000"/>
            <a:ext cx="5410200" cy="1254442"/>
            <a:chOff x="6248400" y="1524000"/>
            <a:chExt cx="5410200" cy="1254442"/>
          </a:xfrm>
        </p:grpSpPr>
        <p:sp>
          <p:nvSpPr>
            <p:cNvPr id="25" name="Rectangle 25"/>
            <p:cNvSpPr/>
            <p:nvPr/>
          </p:nvSpPr>
          <p:spPr>
            <a:xfrm>
              <a:off x="6248400" y="1524000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40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29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33947" y="2072640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论坛发帖权限控制是哪种？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33947" y="2375535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保护代理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248400" y="2953702"/>
            <a:ext cx="5410200" cy="1254442"/>
            <a:chOff x="6248400" y="2953702"/>
            <a:chExt cx="5410200" cy="1254442"/>
          </a:xfrm>
        </p:grpSpPr>
        <p:sp>
          <p:nvSpPr>
            <p:cNvPr id="31" name="Rectangle 31"/>
            <p:cNvSpPr/>
            <p:nvPr/>
          </p:nvSpPr>
          <p:spPr>
            <a:xfrm>
              <a:off x="6248400" y="2953702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40805" y="314610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29753" y="318039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33947" y="3503295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写时复制代理是谁的变体？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33947" y="380523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虚拟代理</a:t>
              </a:r>
            </a:p>
          </p:txBody>
        </p:sp>
      </p:grpSp>
      <p:grpSp>
        <p:nvGrpSpPr>
          <p:cNvPr id="42" name="c2-card-3"/>
          <p:cNvGrpSpPr/>
          <p:nvPr/>
        </p:nvGrpSpPr>
        <p:grpSpPr>
          <a:xfrm>
            <a:off x="6248400" y="4383405"/>
            <a:ext cx="5410200" cy="1254442"/>
            <a:chOff x="6248400" y="4383405"/>
            <a:chExt cx="5410200" cy="1254442"/>
          </a:xfrm>
        </p:grpSpPr>
        <p:sp>
          <p:nvSpPr>
            <p:cNvPr id="37" name="Rectangle 37"/>
            <p:cNvSpPr/>
            <p:nvPr/>
          </p:nvSpPr>
          <p:spPr>
            <a:xfrm>
              <a:off x="6248400" y="4383405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40805" y="457581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29753" y="461010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33947" y="4932998"/>
              <a:ext cx="22242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JDK 动态代理有什么限制？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33947" y="5234940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只能代理实现了接口的类</a:t>
              </a:r>
            </a:p>
          </p:txBody>
        </p:sp>
      </p:grpSp>
      <p:grpSp>
        <p:nvGrpSpPr>
          <p:cNvPr id="48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43" name="Rectangle 43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1040892" y="6023610"/>
              <a:ext cx="69469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 4 题常被答成缓冲代理，记住它推迟的是复制这个动作，推迟就是虚拟代理的标志。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代理模式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99032" cy="909257"/>
            <a:chOff x="520446" y="342900"/>
            <a:chExt cx="1399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760095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46139" y="407194"/>
              <a:ext cx="5346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26 代理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c1-bullets-1"/>
          <p:cNvGrpSpPr/>
          <p:nvPr/>
        </p:nvGrpSpPr>
        <p:grpSpPr>
          <a:xfrm>
            <a:off x="533400" y="1534478"/>
            <a:ext cx="9731438" cy="1509903"/>
            <a:chOff x="533400" y="1534478"/>
            <a:chExt cx="9731438" cy="1509903"/>
          </a:xfrm>
        </p:grpSpPr>
        <p:sp>
          <p:nvSpPr>
            <p:cNvPr id="7" name="Ellipse 7"/>
            <p:cNvSpPr/>
            <p:nvPr/>
          </p:nvSpPr>
          <p:spPr>
            <a:xfrm>
              <a:off x="533400" y="1534478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89078" y="157286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14197" y="1545907"/>
              <a:ext cx="92823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代理模式给某一个对象提供一个代理，由代理对象控制对原对象的引用，属于对象结构型模式，本质是控制对象访问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1843088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89078" y="188147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14197" y="1854518"/>
              <a:ext cx="94506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三个角色：Subject 声明共同接口，RealSubject 实现真正的业务，Proxy 持有真实主题的引用并在转调前后附加操作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151698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89078" y="219008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14197" y="2163128"/>
              <a:ext cx="83736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类图的要点是两条指向抽象主题的实现线，缺了它代理就替换不了真身；代理的接口和真实主题完全相同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2460307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89078" y="249869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14197" y="2471738"/>
              <a:ext cx="87370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按控制的内容分出八种形式，远程、虚拟、保护、缓冲、智能引用这五种是重点，写时复制是虚拟代理的变体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2768918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89078" y="280730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14197" y="2780348"/>
              <a:ext cx="80101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静态代理编译前写好、效率高但代理类数量失控；动态代理用反射在运行时生成，代价是变慢和难读</a:t>
              </a:r>
            </a:p>
          </p:txBody>
        </p:sp>
      </p:grpSp>
      <p:grpSp>
        <p:nvGrpSpPr>
          <p:cNvPr id="40" name="c1-card-2"/>
          <p:cNvGrpSpPr/>
          <p:nvPr/>
        </p:nvGrpSpPr>
        <p:grpSpPr>
          <a:xfrm>
            <a:off x="533400" y="3161348"/>
            <a:ext cx="11125200" cy="1845945"/>
            <a:chOff x="533400" y="3161348"/>
            <a:chExt cx="11125200" cy="1845945"/>
          </a:xfrm>
        </p:grpSpPr>
        <p:sp>
          <p:nvSpPr>
            <p:cNvPr id="23" name="Rectangle 23"/>
            <p:cNvSpPr/>
            <p:nvPr/>
          </p:nvSpPr>
          <p:spPr>
            <a:xfrm>
              <a:off x="533400" y="3161348"/>
              <a:ext cx="11125200" cy="1845945"/>
            </a:xfrm>
            <a:prstGeom prst="roundRect">
              <a:avLst>
                <a:gd name="adj" fmla="val 72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42925" y="3294698"/>
              <a:ext cx="47625" cy="157924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58190" y="3348038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42759" y="338089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更正汇总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573340" y="338328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本讲订正的源课件问题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758190" y="3696652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13868" y="373599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38987" y="3709035"/>
              <a:ext cx="98275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典型代理代码的方法名写作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prerequest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postrequest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，与正文不一致；字段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realsubject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把代理和具体真实主题绑死。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58190" y="3997642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13868" y="403602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38987" y="4009072"/>
              <a:ext cx="95108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ImageProxy 类图写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GetExtent() : void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，注释代码却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return extent;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；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image == 0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是 C++ 写法，Java 应为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null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758190" y="4297680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13868" y="433606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38987" y="4310062"/>
              <a:ext cx="88982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动态代理例子里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@override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system.out.println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大小写错，字符串用了中文引号，Dog 类少一个右花括号。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58190" y="4597718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13868" y="463610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38987" y="4610100"/>
              <a:ext cx="94276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MyProxy 把目标存在实例字段里，代理第二个对象会顶掉第一个；历年题文档的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findUser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调了真身却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return null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47" name="c1-callout-3"/>
          <p:cNvGrpSpPr/>
          <p:nvPr/>
        </p:nvGrpSpPr>
        <p:grpSpPr>
          <a:xfrm>
            <a:off x="533400" y="5177790"/>
            <a:ext cx="11125200" cy="533400"/>
            <a:chOff x="533400" y="5177790"/>
            <a:chExt cx="11125200" cy="533400"/>
          </a:xfrm>
        </p:grpSpPr>
        <p:sp>
          <p:nvSpPr>
            <p:cNvPr id="41" name="Rectangle 41"/>
            <p:cNvSpPr/>
            <p:nvPr/>
          </p:nvSpPr>
          <p:spPr>
            <a:xfrm>
              <a:off x="533400" y="517779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738188" y="5343525"/>
              <a:ext cx="200026" cy="200025"/>
              <a:chOff x="738188" y="5343525"/>
              <a:chExt cx="200026" cy="200025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738188" y="534352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777926" y="538797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812642" y="549910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1040892" y="5349240"/>
              <a:ext cx="83190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下一步：想在不改接口的前提下给对象叠加职责，回看第 23 讲的装饰模式，两者的类图差别只有一处。</a:t>
              </a:r>
            </a:p>
          </p:txBody>
        </p:sp>
      </p:grpSp>
      <p:grpSp>
        <p:nvGrpSpPr>
          <p:cNvPr id="53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48" name="Rectangle 48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1040892" y="6028373"/>
              <a:ext cx="66289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看到“不能直接访问”“先别创建”“按权限放行”“记一笔”这些说法，先想代理模式。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代理模式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sdp_26">
  <a:themeElements>
    <a:clrScheme name="sdp_26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dp_26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dp_2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2026-09-23T04:25:37Z</dcterms:created>
  <dcterms:modified xsi:type="dcterms:W3CDTF">2026-09-23T04:25:37Z</dcterms:modified>
  <cp:category/>
  <cp:contentStatus/>
</cp:coreProperties>
</file>