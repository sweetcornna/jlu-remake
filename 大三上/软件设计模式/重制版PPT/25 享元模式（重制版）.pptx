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2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2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8e574f550504036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364c8832b1aeb7c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755c263e6c89aa9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8e574f550504036.png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905250" cy="3437763"/>
            <a:chOff x="666750" y="1619250"/>
            <a:chExt cx="390525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0507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0294" y="17183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第十六讲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用少量共享对象顶替大量细粒度对象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内部状态与外部状态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享元池与享元工厂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四个课件实例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单纯享元与复合享元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403209" cy="205359"/>
            <a:chOff x="680466" y="6192202"/>
            <a:chExt cx="5403209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4032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157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一盘棋 361 个棋子对象，内存都花在哪了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两种状态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分清内部状态和外部状态，才谈得上共享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定义与结构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四个角色，一个享元池，一个享元工厂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862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写出享元类、享元工厂与客户端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课件实例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3526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网络设备、字符图元、String 与包装类缓存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效果与辨析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优缺点、两种扩展形式、与单例对象池的区别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拿到一个字段能判断它属于内部状态还是外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部状态，并说出理由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画出享元模式类图，聚合线方向、菱形位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置、实现线虚实都不画反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406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写出带享元池的享元工厂，说清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getFlyweight 的两条分支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给一个具体场景，手算出用享元前后的对象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数量与内存变化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区分享元与单例、原型、对象池、组合，说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出各自解决的问题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469130" cy="2997517"/>
            <a:chOff x="667512" y="1835468"/>
            <a:chExt cx="446913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从内存账说起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先看清大量细粒度对象把内存吃到了什么地步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棋盘与文档里的重复对象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什么样的对象值得共享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内部状态与外部状态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21272" cy="909257"/>
            <a:chOff x="520446" y="342900"/>
            <a:chExt cx="62212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从内存账说起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212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动机：一盘围棋，361 个棋子对象值不值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910189" cy="264033"/>
            <a:chOff x="526542" y="1545907"/>
            <a:chExt cx="791018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910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棋子的形状、大小一模一样，不同的只有颜色和落点。每颗子都 new 一个对象，内存花在了哪里。</a:t>
              </a:r>
            </a:p>
          </p:txBody>
        </p:sp>
      </p:grpSp>
      <p:grpSp>
        <p:nvGrpSpPr>
          <p:cNvPr id="11" name="c1-image-1"/>
          <p:cNvGrpSpPr/>
          <p:nvPr/>
        </p:nvGrpSpPr>
        <p:grpSpPr>
          <a:xfrm>
            <a:off x="533400" y="1928812"/>
            <a:ext cx="4977765" cy="1901857"/>
            <a:chOff x="533400" y="1928812"/>
            <a:chExt cx="4977765" cy="1901857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28314" r="0" b="28313"/>
            <a:stretch>
              <a:fillRect/>
            </a:stretch>
          </p:blipFill>
          <p:spPr>
            <a:xfrm>
              <a:off x="533400" y="1928812"/>
              <a:ext cx="4977765" cy="1619250"/>
            </a:xfrm>
            <a:prstGeom prst="roundRect">
              <a:avLst>
                <a:gd name="adj" fmla="val 8235"/>
              </a:avLst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764017" y="363997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盘上几百颗子，棋盒却只有两个，黑白各一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76688"/>
            <a:ext cx="4977765" cy="1403032"/>
            <a:chOff x="533400" y="3976688"/>
            <a:chExt cx="4977765" cy="1403032"/>
          </a:xfrm>
        </p:grpSpPr>
        <p:sp>
          <p:nvSpPr>
            <p:cNvPr id="12" name="Rectangle 12"/>
            <p:cNvSpPr/>
            <p:nvPr/>
          </p:nvSpPr>
          <p:spPr>
            <a:xfrm>
              <a:off x="533400" y="3976688"/>
              <a:ext cx="4977765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4110038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52475" y="41576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5147" y="41905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18450" y="419719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围棋软件的内存问题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5998" y="4513421"/>
              <a:ext cx="4402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围棋棋盘中包含大量的黑子和白子，它们的形状、大小都一模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一样，只是出现的位置不同。如果把每一个棋子都作为独立对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象存在内存里，软件运行时占用的内存空间会很大。</a:t>
              </a:r>
            </a:p>
          </p:txBody>
        </p:sp>
      </p:grpSp>
      <p:grpSp>
        <p:nvGrpSpPr>
          <p:cNvPr id="37" name="c2-table-1"/>
          <p:cNvGrpSpPr/>
          <p:nvPr/>
        </p:nvGrpSpPr>
        <p:grpSpPr>
          <a:xfrm>
            <a:off x="5811012" y="1928812"/>
            <a:ext cx="5847588" cy="1407509"/>
            <a:chOff x="5811012" y="1928812"/>
            <a:chExt cx="5847588" cy="1407509"/>
          </a:xfrm>
        </p:grpSpPr>
        <p:sp>
          <p:nvSpPr>
            <p:cNvPr id="19" name="Rectangle 19"/>
            <p:cNvSpPr/>
            <p:nvPr/>
          </p:nvSpPr>
          <p:spPr>
            <a:xfrm>
              <a:off x="5815965" y="1928812"/>
              <a:ext cx="5842635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1325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04351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棋子对象数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52366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内存合计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10644" y="2426970"/>
              <a:ext cx="15051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每颗子各 new 一个对象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97646" y="242697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16884" y="2426970"/>
              <a:ext cx="548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14.1 KB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815965" y="2687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815965" y="2691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10644" y="2808923"/>
              <a:ext cx="1727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个共享棋子 + 361 个坐标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512492" y="2701290"/>
              <a:ext cx="150018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97646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031730" y="2701290"/>
              <a:ext cx="161734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116884" y="2808923"/>
              <a:ext cx="4661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 KB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15965" y="1928812"/>
              <a:ext cx="5842635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498205" y="19288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017442" y="19288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11012" y="3145631"/>
              <a:ext cx="33807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设一个棋子对象 40 B，一个共享棋子 32 B，一个坐标 8 B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5815965" y="3463290"/>
            <a:ext cx="5842635" cy="1916430"/>
            <a:chOff x="5815965" y="3463290"/>
            <a:chExt cx="5842635" cy="1916430"/>
          </a:xfrm>
        </p:grpSpPr>
        <p:sp>
          <p:nvSpPr>
            <p:cNvPr id="38" name="Rectangle 38"/>
            <p:cNvSpPr/>
            <p:nvPr/>
          </p:nvSpPr>
          <p:spPr>
            <a:xfrm>
              <a:off x="5815965" y="3463290"/>
              <a:ext cx="5842635" cy="1916430"/>
            </a:xfrm>
            <a:prstGeom prst="roundRect">
              <a:avLst>
                <a:gd name="adj" fmla="val 6958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996940" y="364426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085561" y="367712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算一遍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87693" y="368379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省下的是对象本身，不是坐标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990463" y="4000024"/>
              <a:ext cx="5246167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361 × 40 = 14440 B；共享后是 2 × 32 + 361 × 8 = 2952 B，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省掉约</a:t>
              </a:r>
              <a:br/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80%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。坐标一个都少不了，被砍掉的是 359 份重复的颜色、形状、大小。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91606" y="4524375"/>
              <a:ext cx="467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棋盘开得越多，省下的比例越高：坐标随盘数增长，共享棋子始终只有两个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5" name="Rectangle 4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1273" y="6039326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判断能不能共享，先问这些对象里有多少字段是完全一样的。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从内存账说起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动机：一篇文档里，同一个字符出现了几百次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673188" cy="308039"/>
            <a:chOff x="525399" y="1550194"/>
            <a:chExt cx="76731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6731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逻辑上每个出现的字符都有一个对象与之对应，物理上它们共享同一个享元对象。</a:t>
              </a:r>
            </a:p>
          </p:txBody>
        </p:sp>
      </p:grpSp>
      <p:grpSp>
        <p:nvGrpSpPr>
          <p:cNvPr id="24" name="c1-graph-1"/>
          <p:cNvGrpSpPr/>
          <p:nvPr/>
        </p:nvGrpSpPr>
        <p:grpSpPr>
          <a:xfrm>
            <a:off x="884872" y="2164080"/>
            <a:ext cx="4442763" cy="1645920"/>
            <a:chOff x="884872" y="2164080"/>
            <a:chExt cx="4442763" cy="1645920"/>
          </a:xfrm>
        </p:grpSpPr>
        <p:sp>
          <p:nvSpPr>
            <p:cNvPr id="9" name="Freeform 9"/>
            <p:cNvSpPr/>
            <p:nvPr/>
          </p:nvSpPr>
          <p:spPr>
            <a:xfrm>
              <a:off x="1865948" y="2424112"/>
              <a:ext cx="1673543" cy="465772"/>
            </a:xfrm>
            <a:custGeom>
              <a:avLst/>
              <a:gdLst/>
              <a:ahLst/>
              <a:cxnLst/>
              <a:rect l="l" t="t" r="r" b="b"/>
              <a:pathLst>
                <a:path w="1673543" h="465772">
                  <a:moveTo>
                    <a:pt x="0" y="0"/>
                  </a:moveTo>
                  <a:lnTo>
                    <a:pt x="1673543" y="4657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526155" y="2843212"/>
              <a:ext cx="104775" cy="92392"/>
            </a:xfrm>
            <a:custGeom>
              <a:avLst/>
              <a:gdLst/>
              <a:ahLst/>
              <a:cxnLst/>
              <a:rect l="l" t="t" r="r" b="b"/>
              <a:pathLst>
                <a:path w="104775" h="92392">
                  <a:moveTo>
                    <a:pt x="104775" y="71438"/>
                  </a:moveTo>
                  <a:lnTo>
                    <a:pt x="0" y="92392"/>
                  </a:lnTo>
                  <a:lnTo>
                    <a:pt x="2571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13572" y="2987040"/>
              <a:ext cx="1612582" cy="9525"/>
            </a:xfrm>
            <a:custGeom>
              <a:avLst/>
              <a:gdLst/>
              <a:ahLst/>
              <a:cxnLst/>
              <a:rect l="l" t="t" r="r" b="b"/>
              <a:pathLst>
                <a:path w="1612582" h="9525">
                  <a:moveTo>
                    <a:pt x="0" y="0"/>
                  </a:moveTo>
                  <a:lnTo>
                    <a:pt x="16125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526155" y="29394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865948" y="3084195"/>
              <a:ext cx="1673543" cy="465772"/>
            </a:xfrm>
            <a:custGeom>
              <a:avLst/>
              <a:gdLst/>
              <a:ahLst/>
              <a:cxnLst/>
              <a:rect l="l" t="t" r="r" b="b"/>
              <a:pathLst>
                <a:path w="1673543" h="465772">
                  <a:moveTo>
                    <a:pt x="0" y="465772"/>
                  </a:moveTo>
                  <a:lnTo>
                    <a:pt x="167354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526155" y="3037522"/>
              <a:ext cx="104775" cy="92393"/>
            </a:xfrm>
            <a:custGeom>
              <a:avLst/>
              <a:gdLst/>
              <a:ahLst/>
              <a:cxnLst/>
              <a:rect l="l" t="t" r="r" b="b"/>
              <a:pathLst>
                <a:path w="104775" h="92393">
                  <a:moveTo>
                    <a:pt x="104775" y="20955"/>
                  </a:moveTo>
                  <a:lnTo>
                    <a:pt x="25717" y="92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84872" y="2164080"/>
              <a:ext cx="102870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84872" y="2856548"/>
              <a:ext cx="102870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4872" y="3549968"/>
              <a:ext cx="102870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630930" y="2729865"/>
              <a:ext cx="514350" cy="5143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44597" y="2233136"/>
              <a:ext cx="5092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12 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44597" y="2925604"/>
              <a:ext cx="5092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47 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4597" y="3619024"/>
              <a:ext cx="5092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99 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45058" y="292560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97668" y="2935129"/>
              <a:ext cx="11299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享元池里唯一的 a 对象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196715"/>
            <a:ext cx="5410200" cy="1162050"/>
            <a:chOff x="533400" y="4196715"/>
            <a:chExt cx="5410200" cy="1162050"/>
          </a:xfrm>
        </p:grpSpPr>
        <p:sp>
          <p:nvSpPr>
            <p:cNvPr id="25" name="Rectangle 25"/>
            <p:cNvSpPr/>
            <p:nvPr/>
          </p:nvSpPr>
          <p:spPr>
            <a:xfrm>
              <a:off x="533400" y="4196715"/>
              <a:ext cx="5410200" cy="1162050"/>
            </a:xfrm>
            <a:prstGeom prst="roundRect">
              <a:avLst>
                <a:gd name="adj" fmla="val 983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4677728"/>
              <a:ext cx="200026" cy="200026"/>
              <a:chOff x="738188" y="4677728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6777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47444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47777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4534852"/>
              <a:ext cx="4425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三处的 a 是三个引用，指向的却是同一个实例，字号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和颜色由各处自己记着。</a:t>
              </a:r>
            </a:p>
          </p:txBody>
        </p:sp>
      </p:grpSp>
      <p:grpSp>
        <p:nvGrpSpPr>
          <p:cNvPr id="43" name="c2-kv-1"/>
          <p:cNvGrpSpPr/>
          <p:nvPr/>
        </p:nvGrpSpPr>
        <p:grpSpPr>
          <a:xfrm>
            <a:off x="6240780" y="1992630"/>
            <a:ext cx="5417820" cy="1613535"/>
            <a:chOff x="6240780" y="1992630"/>
            <a:chExt cx="5417820" cy="1613535"/>
          </a:xfrm>
        </p:grpSpPr>
        <p:sp>
          <p:nvSpPr>
            <p:cNvPr id="32" name="TextBox 32"/>
            <p:cNvSpPr txBox="1"/>
            <p:nvPr/>
          </p:nvSpPr>
          <p:spPr>
            <a:xfrm>
              <a:off x="6240780" y="199263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每字符一个对象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63840" y="1992630"/>
              <a:ext cx="3610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万字符 × 100 B 字形数据 = 9.54 MB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23126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40780" y="24326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共享后的享元池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63840" y="2432685"/>
              <a:ext cx="28007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3000 种字符 × 100 B = 293 KB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27527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40780" y="28727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外部状态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63840" y="2872740"/>
              <a:ext cx="3630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万条字号颜色坐标 × 12 B = 1.14 MB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31927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40780" y="331279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共享后合计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63840" y="3312795"/>
              <a:ext cx="27376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1.43 MB，比原来省下 85%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248400" y="3737610"/>
            <a:ext cx="5410200" cy="1621155"/>
            <a:chOff x="6248400" y="3737610"/>
            <a:chExt cx="5410200" cy="1621155"/>
          </a:xfrm>
        </p:grpSpPr>
        <p:sp>
          <p:nvSpPr>
            <p:cNvPr id="44" name="Rectangle 44"/>
            <p:cNvSpPr/>
            <p:nvPr/>
          </p:nvSpPr>
          <p:spPr>
            <a:xfrm>
              <a:off x="6248400" y="373761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57925" y="387096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96050" y="394716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86258" y="39828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术语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97078" y="3982402"/>
              <a:ext cx="21609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享元池 Flyweight Pool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88430" y="434340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存放这些共享实例对象的地方叫享元池。针对每一个不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同的字符创建一个享元对象放进池里，需要时再从池里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1" name="Rectangle 5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130" y="5991225"/>
              <a:ext cx="69212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享元池装的是“有哪些不同的对象”，客户端记的是“在什么地方用了哪一个”。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从内存账说起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什么样的对象才值得共享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175809" cy="278702"/>
            <a:chOff x="526161" y="1547336"/>
            <a:chExt cx="517580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陈伟老师课件给了三条判据，三条同时成立才请出享元模式。</a:t>
              </a:r>
            </a:p>
          </p:txBody>
        </p:sp>
      </p:grpSp>
      <p:grpSp>
        <p:nvGrpSpPr>
          <p:cNvPr id="44" name="c1-uml-1"/>
          <p:cNvGrpSpPr/>
          <p:nvPr/>
        </p:nvGrpSpPr>
        <p:grpSpPr>
          <a:xfrm>
            <a:off x="609600" y="2179320"/>
            <a:ext cx="4824413" cy="1327786"/>
            <a:chOff x="609600" y="2179320"/>
            <a:chExt cx="4824413" cy="1327786"/>
          </a:xfrm>
        </p:grpSpPr>
        <p:sp>
          <p:nvSpPr>
            <p:cNvPr id="9" name="Freeform 9"/>
            <p:cNvSpPr/>
            <p:nvPr/>
          </p:nvSpPr>
          <p:spPr>
            <a:xfrm>
              <a:off x="1910715" y="2392680"/>
              <a:ext cx="1187768" cy="9525"/>
            </a:xfrm>
            <a:custGeom>
              <a:avLst/>
              <a:gdLst/>
              <a:ahLst/>
              <a:cxnLst/>
              <a:rect l="l" t="t" r="r" b="b"/>
              <a:pathLst>
                <a:path w="1187768" h="9525">
                  <a:moveTo>
                    <a:pt x="118776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01165" y="2334578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8102"/>
                  </a:moveTo>
                  <a:lnTo>
                    <a:pt x="104775" y="0"/>
                  </a:lnTo>
                  <a:lnTo>
                    <a:pt x="209550" y="58102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400300" y="2730818"/>
              <a:ext cx="1053465" cy="350520"/>
            </a:xfrm>
            <a:custGeom>
              <a:avLst/>
              <a:gdLst/>
              <a:ahLst/>
              <a:cxnLst/>
              <a:rect l="l" t="t" r="r" b="b"/>
              <a:pathLst>
                <a:path w="1053465" h="350520">
                  <a:moveTo>
                    <a:pt x="0" y="350520"/>
                  </a:moveTo>
                  <a:lnTo>
                    <a:pt x="0" y="112395"/>
                  </a:lnTo>
                  <a:lnTo>
                    <a:pt x="1053465" y="112395"/>
                  </a:lnTo>
                  <a:lnTo>
                    <a:pt x="105346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380422" y="260508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644265" y="2730818"/>
              <a:ext cx="9525" cy="350520"/>
            </a:xfrm>
            <a:custGeom>
              <a:avLst/>
              <a:gdLst/>
              <a:ahLst/>
              <a:cxnLst/>
              <a:rect l="l" t="t" r="r" b="b"/>
              <a:pathLst>
                <a:path w="9525" h="350520">
                  <a:moveTo>
                    <a:pt x="0" y="350520"/>
                  </a:moveTo>
                  <a:lnTo>
                    <a:pt x="0" y="112395"/>
                  </a:lnTo>
                  <a:lnTo>
                    <a:pt x="0" y="11239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570922" y="260508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34765" y="2730818"/>
              <a:ext cx="1053465" cy="350520"/>
            </a:xfrm>
            <a:custGeom>
              <a:avLst/>
              <a:gdLst/>
              <a:ahLst/>
              <a:cxnLst/>
              <a:rect l="l" t="t" r="r" b="b"/>
              <a:pathLst>
                <a:path w="1053465" h="350520">
                  <a:moveTo>
                    <a:pt x="1053465" y="350520"/>
                  </a:moveTo>
                  <a:lnTo>
                    <a:pt x="1053465" y="112395"/>
                  </a:lnTo>
                  <a:lnTo>
                    <a:pt x="0" y="11239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761422" y="260508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09600" y="2179320"/>
              <a:ext cx="1091565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17220" y="2186940"/>
              <a:ext cx="107727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9600" y="2409825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" y="2505075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098482" y="2179320"/>
              <a:ext cx="1091565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105150" y="2186940"/>
              <a:ext cx="107727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098482" y="2409825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098482" y="2505075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53565" y="3081338"/>
              <a:ext cx="1091565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861185" y="3088005"/>
              <a:ext cx="107727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53565" y="3311842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853565" y="3407092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098482" y="3081338"/>
              <a:ext cx="1091565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105150" y="3088005"/>
              <a:ext cx="107727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098482" y="3311842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098482" y="3407092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342448" y="3081338"/>
              <a:ext cx="1091565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350068" y="3088005"/>
              <a:ext cx="107727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342448" y="3311842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2448" y="3407092"/>
              <a:ext cx="10915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2851" y="2235041"/>
              <a:ext cx="665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Container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99062" y="223504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314846" y="313705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58811" y="313705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02776" y="313705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174558" y="2185988"/>
              <a:ext cx="44958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207350" y="2211229"/>
              <a:ext cx="3859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对多</a:t>
              </a:r>
            </a:p>
          </p:txBody>
        </p:sp>
      </p:grpSp>
      <p:grpSp>
        <p:nvGrpSpPr>
          <p:cNvPr id="51" name="c1-callout-2"/>
          <p:cNvGrpSpPr/>
          <p:nvPr/>
        </p:nvGrpSpPr>
        <p:grpSpPr>
          <a:xfrm>
            <a:off x="533400" y="3919538"/>
            <a:ext cx="4977765" cy="1437322"/>
            <a:chOff x="533400" y="3919538"/>
            <a:chExt cx="4977765" cy="1437322"/>
          </a:xfrm>
        </p:grpSpPr>
        <p:sp>
          <p:nvSpPr>
            <p:cNvPr id="45" name="Rectangle 45"/>
            <p:cNvSpPr/>
            <p:nvPr/>
          </p:nvSpPr>
          <p:spPr>
            <a:xfrm>
              <a:off x="533400" y="3919538"/>
              <a:ext cx="4977765" cy="1437322"/>
            </a:xfrm>
            <a:prstGeom prst="roundRect">
              <a:avLst>
                <a:gd name="adj" fmla="val 795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4537710"/>
              <a:ext cx="200026" cy="200026"/>
              <a:chOff x="738188" y="4537710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45377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46043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7088" y="46377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4419600"/>
              <a:ext cx="39827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容器里装着成百上千个 C 类及其子类的对象，这是享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元模式的典型现场。</a:t>
              </a:r>
            </a:p>
          </p:txBody>
        </p:sp>
      </p:grpSp>
      <p:grpSp>
        <p:nvGrpSpPr>
          <p:cNvPr id="64" name="c2-bullets-1"/>
          <p:cNvGrpSpPr/>
          <p:nvPr/>
        </p:nvGrpSpPr>
        <p:grpSpPr>
          <a:xfrm>
            <a:off x="5815965" y="1964055"/>
            <a:ext cx="5867933" cy="1771174"/>
            <a:chOff x="5815965" y="1964055"/>
            <a:chExt cx="5867933" cy="1771174"/>
          </a:xfrm>
        </p:grpSpPr>
        <p:sp>
          <p:nvSpPr>
            <p:cNvPr id="52" name="Freeform 52"/>
            <p:cNvSpPr/>
            <p:nvPr/>
          </p:nvSpPr>
          <p:spPr>
            <a:xfrm>
              <a:off x="5815965" y="1992630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8578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52947" y="1964055"/>
              <a:ext cx="18125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类及子类的对象众多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59805" y="2291715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44590" y="2228374"/>
              <a:ext cx="519607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少量对象直接 new 就好，享元池本身也要占内存，只在对象数量大到成为负担时才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划算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5815965" y="2739390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8578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52947" y="271081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对象粒度小，属于超轻量级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59805" y="3038475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244590" y="2975134"/>
              <a:ext cx="5439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一个对象只有几个字段，对象头和引用的开销占比反而高，重复存几百份特别不值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5815965" y="3279458"/>
              <a:ext cx="129540" cy="105727"/>
            </a:xfrm>
            <a:custGeom>
              <a:avLst/>
              <a:gdLst/>
              <a:ahLst/>
              <a:cxnLst/>
              <a:rect l="l" t="t" r="r" b="b"/>
              <a:pathLst>
                <a:path w="129540" h="105727">
                  <a:moveTo>
                    <a:pt x="0" y="56197"/>
                  </a:moveTo>
                  <a:lnTo>
                    <a:pt x="48578" y="105727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52947" y="325088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对象的状态变化不过于复杂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059805" y="3578542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244590" y="3515201"/>
              <a:ext cx="4866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能干净地切成“不变的那部分”和“随环境变的那部分”，切不开就共享不了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5815965" y="3866198"/>
            <a:ext cx="5842635" cy="1490662"/>
            <a:chOff x="5815965" y="3866198"/>
            <a:chExt cx="5842635" cy="1490662"/>
          </a:xfrm>
        </p:grpSpPr>
        <p:sp>
          <p:nvSpPr>
            <p:cNvPr id="65" name="Rectangle 65"/>
            <p:cNvSpPr/>
            <p:nvPr/>
          </p:nvSpPr>
          <p:spPr>
            <a:xfrm>
              <a:off x="5815965" y="3866198"/>
              <a:ext cx="5842635" cy="1490662"/>
            </a:xfrm>
            <a:prstGeom prst="roundRect">
              <a:avLst>
                <a:gd name="adj" fmla="val 89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5825490" y="3999548"/>
              <a:ext cx="47625" cy="12239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046470" y="405860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137910" y="40928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30162" y="409860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绘图程序里的图元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039612" y="4432935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一个绘图程序里用到大量的线段、圆、矩形等对象，同一种图形反复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出现，每个对象只有位置、颜色几个字段。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040755" y="4988719"/>
              <a:ext cx="2001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更正：原课件把“圆”写作“园”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3" name="Rectangle 7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892" y="602361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三条判据缺一条，享元带来的复杂度就换不回等值的内存。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从内存账说起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内部状态与外部状态，能共享的关键就在这里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529715"/>
            <a:chOff x="533400" y="1524000"/>
            <a:chExt cx="5626418" cy="1529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内部状态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14297" y="1756410"/>
              <a:ext cx="1408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Intrinsic State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存储在享元对象内部、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不会随环境改变而改变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的状态，可以共享。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39268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如字符的内容，无论在什么环境下，字符 a 始终是 a，不会变成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228022"/>
            <a:ext cx="5626418" cy="1861185"/>
            <a:chOff x="533400" y="3228022"/>
            <a:chExt cx="5626418" cy="1861185"/>
          </a:xfrm>
        </p:grpSpPr>
        <p:sp>
          <p:nvSpPr>
            <p:cNvPr id="15" name="Rectangle 15"/>
            <p:cNvSpPr/>
            <p:nvPr/>
          </p:nvSpPr>
          <p:spPr>
            <a:xfrm>
              <a:off x="533400" y="3228022"/>
              <a:ext cx="5626418" cy="1861185"/>
            </a:xfrm>
            <a:prstGeom prst="roundRect">
              <a:avLst>
                <a:gd name="adj" fmla="val 71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361372"/>
              <a:ext cx="47625" cy="159448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42042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7344" y="345471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外部状态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14297" y="3460432"/>
              <a:ext cx="14564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Extrinsic State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047" y="3794760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随环境改变而改变的、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不可以共享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的状态。通常由客户端保存，在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享元对象创建之后、需要使用的时候再传入享元对象内部。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047" y="4354830"/>
              <a:ext cx="48657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如字符的颜色和大小：有的 a 是红色五号字，有的 a 是绿色四号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字。颜色和大小是两个独立的外部状态，可以各自变化。</a:t>
              </a:r>
            </a:p>
          </p:txBody>
        </p:sp>
      </p:grpSp>
      <p:grpSp>
        <p:nvGrpSpPr>
          <p:cNvPr id="25" name="c2-image-1"/>
          <p:cNvGrpSpPr/>
          <p:nvPr/>
        </p:nvGrpSpPr>
        <p:grpSpPr>
          <a:xfrm>
            <a:off x="6464618" y="1524000"/>
            <a:ext cx="5193982" cy="1928432"/>
            <a:chOff x="6464618" y="1524000"/>
            <a:chExt cx="5193982" cy="1928432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rcRect l="0" t="29082" r="0" b="29082"/>
            <a:stretch>
              <a:fillRect/>
            </a:stretch>
          </p:blipFill>
          <p:spPr>
            <a:xfrm>
              <a:off x="6464618" y="1524000"/>
              <a:ext cx="5193982" cy="1629728"/>
            </a:xfrm>
            <a:prstGeom prst="roundRect">
              <a:avLst>
                <a:gd name="adj" fmla="val 8182"/>
              </a:avLst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795135" y="3247073"/>
              <a:ext cx="45339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格架里每格一枚图章（内部状态），蘸什么颜色、盖在哪里由用的人决定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6464618" y="3605212"/>
            <a:ext cx="5193982" cy="1483995"/>
            <a:chOff x="6464618" y="3605212"/>
            <a:chExt cx="5193982" cy="1483995"/>
          </a:xfrm>
        </p:grpSpPr>
        <p:sp>
          <p:nvSpPr>
            <p:cNvPr id="26" name="Rectangle 26"/>
            <p:cNvSpPr/>
            <p:nvPr/>
          </p:nvSpPr>
          <p:spPr>
            <a:xfrm>
              <a:off x="6464618" y="3605212"/>
              <a:ext cx="5193982" cy="1483995"/>
            </a:xfrm>
            <a:prstGeom prst="roundRect">
              <a:avLst>
                <a:gd name="adj" fmla="val 898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57022" y="3797618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44462" y="383190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74064" y="383762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相同内部状态的对象只留一份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50164" y="4171950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把具有相同内部状态的对象存进享元池共享，需要时取出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来，再注入不同的外部状态，就得到一系列相似的对象，而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它们在内存里实际上只存了一份。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2" name="Rectangle 3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892" y="6023610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外部状态之间互相独立，颜色改了不影响字号，注入顺序也无所谓。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从内存账说起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判一判：哪些字段该外部化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738878" cy="264033"/>
            <a:chOff x="526542" y="1545907"/>
            <a:chExt cx="473887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划分标准只有一条，这个值会不会随使用它的环境而改变。</a:t>
              </a:r>
            </a:p>
          </p:txBody>
        </p:sp>
      </p:grpSp>
      <p:grpSp>
        <p:nvGrpSpPr>
          <p:cNvPr id="47" name="c1-table-1"/>
          <p:cNvGrpSpPr/>
          <p:nvPr/>
        </p:nvGrpSpPr>
        <p:grpSpPr>
          <a:xfrm>
            <a:off x="533400" y="1928812"/>
            <a:ext cx="11125200" cy="2287905"/>
            <a:chOff x="533400" y="1928812"/>
            <a:chExt cx="11125200" cy="22879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11125200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7635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7945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5968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归属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77822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判断理由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426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文本编辑器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08301" y="2426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字符编码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33341" y="2426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967794" y="242697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放在哪里都一样，字符 a 始终是 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687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69176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80892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文本编辑器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08301" y="280892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颜色与字号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548188" y="2701290"/>
              <a:ext cx="131635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33341" y="2808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67794" y="2808923"/>
              <a:ext cx="28588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 a 可以是红色五号，也可以是绿色四号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068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31899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围棋软件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08301" y="31899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棋子颜色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33341" y="3189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67794" y="3189923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黑子永远是黑子，与落在哪里无关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449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45376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8078" y="3571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围棋软件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08301" y="3571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落点坐标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548188" y="3463290"/>
              <a:ext cx="131635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633341" y="3571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67794" y="3571875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每颗子的位置都不同，由棋盘记着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8309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3952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网络设备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08301" y="39528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端口号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548188" y="3845242"/>
              <a:ext cx="131635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633341" y="3952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967794" y="3952875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每台终端接的端口不一样，由终端传进来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928812"/>
              <a:ext cx="11125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2308860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533900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68352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1-card-2"/>
          <p:cNvGrpSpPr/>
          <p:nvPr/>
        </p:nvGrpSpPr>
        <p:grpSpPr>
          <a:xfrm>
            <a:off x="533400" y="4381500"/>
            <a:ext cx="11125200" cy="1342072"/>
            <a:chOff x="533400" y="4381500"/>
            <a:chExt cx="11125200" cy="1342072"/>
          </a:xfrm>
        </p:grpSpPr>
        <p:sp>
          <p:nvSpPr>
            <p:cNvPr id="48" name="Rectangle 48"/>
            <p:cNvSpPr/>
            <p:nvPr/>
          </p:nvSpPr>
          <p:spPr>
            <a:xfrm>
              <a:off x="533400" y="4381500"/>
              <a:ext cx="11125200" cy="1342072"/>
            </a:xfrm>
            <a:prstGeom prst="roundRect">
              <a:avLst>
                <a:gd name="adj" fmla="val 99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42925" y="4514850"/>
              <a:ext cx="47625" cy="107537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52475" y="45624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5147" y="45953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318450" y="460200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两个常见的判错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52475" y="490823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04382" y="494290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2223" y="4919186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使用次数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当成内部状态。计数每调用一次就变，应记在工厂里或由客户端保存。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52475" y="519303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04382" y="522865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2223" y="5203984"/>
              <a:ext cx="84454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认为外部状态必须单独建一个类。它可以只是一个参数，也可以打包成对象（陈伟老师课件叫 Layout 对象）。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0" name="Rectangle 6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1273" y="6039326"/>
              <a:ext cx="65608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内部状态跟着对象走，外部状态跟着使用现场走，写代码时前者是字段，后者是参数。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定义、结构与四个角色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一个接口、两种享元、一个带池子的工厂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模式定义与本质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标准类图的四条线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享元工厂的取用流程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定义、结构与四个角色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定义：运用共享技术有效地支持大量细粒度对象的复用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842635" cy="2291715"/>
            <a:chOff x="533400" y="1524000"/>
            <a:chExt cx="5842635" cy="2291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105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享元模式（Flyweight Pattern）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15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运用共享技术有效地支持大量细粒度对象的复用。系统只使用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少量的对象，而这些对象都很相似，状态变化很小，可以实现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对象的多次复用。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0994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036570"/>
              <a:ext cx="53259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要求能共享的对象必须是细粒度对象，因此又称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轻量级模式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3471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71850"/>
              <a:ext cx="1953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属于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对象结构型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模式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006215"/>
            <a:ext cx="5842635" cy="1335405"/>
            <a:chOff x="533400" y="4006215"/>
            <a:chExt cx="5842635" cy="1335405"/>
          </a:xfrm>
        </p:grpSpPr>
        <p:sp>
          <p:nvSpPr>
            <p:cNvPr id="18" name="Rectangle 18"/>
            <p:cNvSpPr/>
            <p:nvPr/>
          </p:nvSpPr>
          <p:spPr>
            <a:xfrm>
              <a:off x="533400" y="4006215"/>
              <a:ext cx="5842635" cy="1335405"/>
            </a:xfrm>
            <a:prstGeom prst="roundRect">
              <a:avLst>
                <a:gd name="adj" fmla="val 998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42950" y="42157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3158" y="42514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43978" y="4251008"/>
              <a:ext cx="41164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把对象的数量从“用了多少次”降到“有多少种”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5330" y="461200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内部状态相同的对象只造一个，谁用都用这一个。用的次数再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多，内存里的对象个数只取决于内部状态有多少种取值。</a:t>
              </a:r>
            </a:p>
          </p:txBody>
        </p:sp>
      </p:grpSp>
      <p:grpSp>
        <p:nvGrpSpPr>
          <p:cNvPr id="26" name="c2-image-1"/>
          <p:cNvGrpSpPr/>
          <p:nvPr/>
        </p:nvGrpSpPr>
        <p:grpSpPr>
          <a:xfrm>
            <a:off x="6680835" y="1524000"/>
            <a:ext cx="4977765" cy="2010252"/>
            <a:chOff x="6680835" y="1524000"/>
            <a:chExt cx="4977765" cy="2010252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rcRect l="0" t="19724" r="0" b="19724"/>
            <a:stretch>
              <a:fillRect/>
            </a:stretch>
          </p:blipFill>
          <p:spPr>
            <a:xfrm>
              <a:off x="6680835" y="1524000"/>
              <a:ext cx="4977765" cy="1695450"/>
            </a:xfrm>
            <a:prstGeom prst="roundRect">
              <a:avLst>
                <a:gd name="adj" fmla="val 7865"/>
              </a:avLst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6977774" y="3314224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一枚图章盖出满纸印记，形状来自图章，颜色和位置来自使用现场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680835" y="3699510"/>
            <a:ext cx="4977765" cy="1642110"/>
            <a:chOff x="6680835" y="3699510"/>
            <a:chExt cx="4977765" cy="1642110"/>
          </a:xfrm>
        </p:grpSpPr>
        <p:sp>
          <p:nvSpPr>
            <p:cNvPr id="27" name="Rectangle 27"/>
            <p:cNvSpPr/>
            <p:nvPr/>
          </p:nvSpPr>
          <p:spPr>
            <a:xfrm>
              <a:off x="6680835" y="3699510"/>
              <a:ext cx="4977765" cy="1642110"/>
            </a:xfrm>
            <a:prstGeom prst="roundRect">
              <a:avLst>
                <a:gd name="adj" fmla="val 8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90360" y="3832860"/>
              <a:ext cx="47625" cy="13754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928485" y="390906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19646" y="39447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搭档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29512" y="394430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享元模式一般结合工厂模式一起使用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20865" y="4305300"/>
              <a:ext cx="43110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结构图里包含一个享元工厂类，它管着享元池，负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责“有就取、没有就造”。客户端不直接 new 享元，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这是与普通对象最明显的区别。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4" name="Rectangle 3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991225"/>
              <a:ext cx="85871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判断一段设计是不是享元，看客户端拿对象的时候是 new 出来的，还是从工厂的池子里要来的。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定义、结构与四个角色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结构：四个角色，一条指向抽象享元的聚合线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486650" cy="293370"/>
            <a:chOff x="525780" y="1548765"/>
            <a:chExt cx="748665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工厂持有享元池，池里存的是抽象享元；能共享的走池子，不能共享的直接实例化。</a:t>
              </a:r>
            </a:p>
          </p:txBody>
        </p:sp>
      </p:grpSp>
      <p:grpSp>
        <p:nvGrpSpPr>
          <p:cNvPr id="45" name="c1-uml-1"/>
          <p:cNvGrpSpPr/>
          <p:nvPr/>
        </p:nvGrpSpPr>
        <p:grpSpPr>
          <a:xfrm>
            <a:off x="681038" y="2102168"/>
            <a:ext cx="10799268" cy="1884998"/>
            <a:chOff x="681038" y="2102168"/>
            <a:chExt cx="10799268" cy="1884998"/>
          </a:xfrm>
        </p:grpSpPr>
        <p:sp>
          <p:nvSpPr>
            <p:cNvPr id="9" name="Freeform 9"/>
            <p:cNvSpPr/>
            <p:nvPr/>
          </p:nvSpPr>
          <p:spPr>
            <a:xfrm>
              <a:off x="3376612" y="2499360"/>
              <a:ext cx="2963228" cy="9525"/>
            </a:xfrm>
            <a:custGeom>
              <a:avLst/>
              <a:gdLst/>
              <a:ahLst/>
              <a:cxnLst/>
              <a:rect l="l" t="t" r="r" b="b"/>
              <a:pathLst>
                <a:path w="2963228" h="9525">
                  <a:moveTo>
                    <a:pt x="296322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67062" y="2442210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705350" y="3009900"/>
              <a:ext cx="2686050" cy="181928"/>
            </a:xfrm>
            <a:custGeom>
              <a:avLst/>
              <a:gdLst/>
              <a:ahLst/>
              <a:cxnLst/>
              <a:rect l="l" t="t" r="r" b="b"/>
              <a:pathLst>
                <a:path w="2686050" h="181928">
                  <a:moveTo>
                    <a:pt x="0" y="181928"/>
                  </a:moveTo>
                  <a:lnTo>
                    <a:pt x="0" y="27622"/>
                  </a:lnTo>
                  <a:lnTo>
                    <a:pt x="2686050" y="27622"/>
                  </a:lnTo>
                  <a:lnTo>
                    <a:pt x="26860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7318058" y="288417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581900" y="3009900"/>
              <a:ext cx="2686050" cy="181928"/>
            </a:xfrm>
            <a:custGeom>
              <a:avLst/>
              <a:gdLst/>
              <a:ahLst/>
              <a:cxnLst/>
              <a:rect l="l" t="t" r="r" b="b"/>
              <a:pathLst>
                <a:path w="2686050" h="181928">
                  <a:moveTo>
                    <a:pt x="2686050" y="181928"/>
                  </a:moveTo>
                  <a:lnTo>
                    <a:pt x="2686050" y="27622"/>
                  </a:lnTo>
                  <a:lnTo>
                    <a:pt x="0" y="2762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7508558" y="288417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81038" y="2102168"/>
              <a:ext cx="2486025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87705" y="2108835"/>
              <a:ext cx="2471738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1038" y="2350770"/>
              <a:ext cx="248602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81038" y="2621280"/>
              <a:ext cx="248602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339840" y="2115502"/>
              <a:ext cx="2292668" cy="7686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347460" y="2122170"/>
              <a:ext cx="2278380" cy="39433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339840" y="2512695"/>
              <a:ext cx="22926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339840" y="2607945"/>
              <a:ext cx="22926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558540" y="3191828"/>
              <a:ext cx="2292668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566160" y="3199448"/>
              <a:ext cx="2278380" cy="24574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558540" y="3440430"/>
              <a:ext cx="22926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558540" y="3711892"/>
              <a:ext cx="22926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121140" y="3191828"/>
              <a:ext cx="2292668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9128760" y="3199448"/>
              <a:ext cx="2278380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121140" y="3440430"/>
              <a:ext cx="22926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121140" y="3711892"/>
              <a:ext cx="22926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83474" y="2162175"/>
              <a:ext cx="12811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FlyweightFactory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2284" y="2421731"/>
              <a:ext cx="2452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flyweights: Map&lt;String, Flyweight&gt;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2284" y="2692241"/>
              <a:ext cx="24975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getFlyweight(String key): Flyweight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30529" y="2172652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34073" y="2324100"/>
              <a:ext cx="7051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Flyweight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11087" y="2678906"/>
              <a:ext cx="22879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operation(String extrinsicState)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23950" y="3251835"/>
              <a:ext cx="13628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ConcreteFlyweight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29787" y="3511391"/>
              <a:ext cx="15621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intrinsicState: String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629787" y="3782854"/>
              <a:ext cx="22879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operation(String extrinsicState)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57722" y="3251835"/>
              <a:ext cx="20204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UnsharedConcreteFlyweight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92387" y="3511391"/>
              <a:ext cx="1160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allState: String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92387" y="3782854"/>
              <a:ext cx="22879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operation(String extrinsicState)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359592" y="2283142"/>
              <a:ext cx="78867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381081" y="2309812"/>
              <a:ext cx="7456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flyweights</a:t>
              </a:r>
            </a:p>
          </p:txBody>
        </p:sp>
      </p:grpSp>
      <p:grpSp>
        <p:nvGrpSpPr>
          <p:cNvPr id="54" name="c1-kv-2"/>
          <p:cNvGrpSpPr/>
          <p:nvPr/>
        </p:nvGrpSpPr>
        <p:grpSpPr>
          <a:xfrm>
            <a:off x="526161" y="4343876"/>
            <a:ext cx="11132439" cy="1121665"/>
            <a:chOff x="526161" y="4343876"/>
            <a:chExt cx="11132439" cy="1121665"/>
          </a:xfrm>
        </p:grpSpPr>
        <p:sp>
          <p:nvSpPr>
            <p:cNvPr id="46" name="TextBox 46"/>
            <p:cNvSpPr txBox="1"/>
            <p:nvPr/>
          </p:nvSpPr>
          <p:spPr>
            <a:xfrm>
              <a:off x="526161" y="434387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一条聚合线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12976" y="4343876"/>
              <a:ext cx="97950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空心菱形画在 FlyweightFactory 这一端，工厂是整体，享元是部分；箭头指向抽象享元，池里存的不是某个具体类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46491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6161" y="476583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两条实现线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712976" y="4765834"/>
              <a:ext cx="79061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虚线加空心三角，三角画在 Flyweight 这一端，具体享元与非共享具体享元都实现同一个接口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507111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6161" y="518683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抽象享元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712976" y="5186839"/>
              <a:ext cx="63227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画成接口时用虚线实现，画成抽象类时改用实线继承，考试两种写法都见过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5" name="Rectangle 5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511" y="6004084"/>
              <a:ext cx="79885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把聚合线画成工厂指向 ConcreteFlyweight 是常见错画法，那样池子就装不下非共享享元了。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定义、结构与四个角色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四个角色各管什么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6542" y="1545907"/>
            <a:ext cx="6282880" cy="3487294"/>
            <a:chOff x="526542" y="1545907"/>
            <a:chExt cx="6282880" cy="3487294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066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Flyweight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23007" y="1545907"/>
              <a:ext cx="3785616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抽象享元。通常是一个接口或抽象类，声明具体享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元类公共的方法。这些方法可以向外界提供享元对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象的内部数据，也可以通过参数接收外部数据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3421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542" y="2451735"/>
              <a:ext cx="17521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ConcreteFlyweight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23007" y="2451735"/>
              <a:ext cx="3785616" cy="1024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具体享元。实现抽象享元类，其实例称为享元对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象。在类中为内部状态提供存储空间，通常结合单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例模式设计，为每个具体享元类提供唯一的享元对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5013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542" y="3610927"/>
              <a:ext cx="184994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UnsharedConcreteFly</a:t>
              </a:r>
              <a:br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weight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23007" y="3610927"/>
              <a:ext cx="37856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非共享具体享元。不能共享的子类设计成这一种，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需要它的对象时直接实例化创建，不进享元池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415385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542" y="4262438"/>
              <a:ext cx="1647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FlyweightFactory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23007" y="4262438"/>
              <a:ext cx="3785616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享元工厂。创建并管理享元对象，针对抽象享元类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编程，把各类具体享元对象存在享元池里。享元池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一般是一个存储键值对的集合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7114222" y="1524000"/>
            <a:ext cx="4544378" cy="1483995"/>
            <a:chOff x="7114222" y="1524000"/>
            <a:chExt cx="4544378" cy="1483995"/>
          </a:xfrm>
        </p:grpSpPr>
        <p:sp>
          <p:nvSpPr>
            <p:cNvPr id="19" name="Rectangle 19"/>
            <p:cNvSpPr/>
            <p:nvPr/>
          </p:nvSpPr>
          <p:spPr>
            <a:xfrm>
              <a:off x="7114222" y="1524000"/>
              <a:ext cx="4544378" cy="1483995"/>
            </a:xfrm>
            <a:prstGeom prst="roundRect">
              <a:avLst>
                <a:gd name="adj" fmla="val 898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06628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98068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90320" y="175641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模式的核心在享元工厂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99770" y="2090738"/>
              <a:ext cx="39570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用户需要对象时先从享元池获取，池里没有就创建一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个新的享元对象返回给用户，并在池中保存这个新增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对象。缺了这一步，共享就无从谈起。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7114222" y="3183255"/>
            <a:ext cx="4544378" cy="1797368"/>
            <a:chOff x="7114222" y="3183255"/>
            <a:chExt cx="4544378" cy="1797368"/>
          </a:xfrm>
        </p:grpSpPr>
        <p:sp>
          <p:nvSpPr>
            <p:cNvPr id="25" name="Rectangle 25"/>
            <p:cNvSpPr/>
            <p:nvPr/>
          </p:nvSpPr>
          <p:spPr>
            <a:xfrm>
              <a:off x="7114222" y="3183255"/>
              <a:ext cx="4544378" cy="1797368"/>
            </a:xfrm>
            <a:prstGeom prst="roundRect">
              <a:avLst>
                <a:gd name="adj" fmla="val 74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123748" y="3316605"/>
              <a:ext cx="47625" cy="15306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344728" y="337566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20166" y="34099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何时用非共享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61820" y="341566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粒度大或状态外部化不掉的子类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37870" y="3749040"/>
              <a:ext cx="39570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陈伟老师课件的字符图元例子里，单个字符可以共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享，而整行 Row、整列 Column 每个都不一样，就做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成非共享具体享元，由工厂直接 new 出来。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2" name="Rectangle 3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892" y="6023610"/>
              <a:ext cx="8918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享元类的设计要点是把内部状态写成成员变量，外部状态通过参数注入，不在享元里留下任何随环境变的字段。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定义、结构与四个角色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享元工厂：先查池，没有再造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080214" cy="278702"/>
            <a:chOff x="526161" y="1547336"/>
            <a:chExt cx="608021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0802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getFlyweight 只有两条分支，两条分支的出口都是“池里那一个对象”。</a:t>
              </a:r>
            </a:p>
          </p:txBody>
        </p:sp>
      </p:grpSp>
      <p:grpSp>
        <p:nvGrpSpPr>
          <p:cNvPr id="37" name="c1-flow-1"/>
          <p:cNvGrpSpPr/>
          <p:nvPr/>
        </p:nvGrpSpPr>
        <p:grpSpPr>
          <a:xfrm>
            <a:off x="703898" y="2197418"/>
            <a:ext cx="4528185" cy="3128962"/>
            <a:chOff x="703898" y="2197418"/>
            <a:chExt cx="4528185" cy="3128962"/>
          </a:xfrm>
        </p:grpSpPr>
        <p:sp>
          <p:nvSpPr>
            <p:cNvPr id="9" name="Freeform 9"/>
            <p:cNvSpPr/>
            <p:nvPr/>
          </p:nvSpPr>
          <p:spPr>
            <a:xfrm>
              <a:off x="1750695" y="2595562"/>
              <a:ext cx="9525" cy="319088"/>
            </a:xfrm>
            <a:custGeom>
              <a:avLst/>
              <a:gdLst/>
              <a:ahLst/>
              <a:cxnLst/>
              <a:rect l="l" t="t" r="r" b="b"/>
              <a:pathLst>
                <a:path w="9525" h="319088">
                  <a:moveTo>
                    <a:pt x="0" y="0"/>
                  </a:moveTo>
                  <a:lnTo>
                    <a:pt x="0" y="3190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98308" y="29146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50695" y="3594735"/>
              <a:ext cx="9525" cy="318135"/>
            </a:xfrm>
            <a:custGeom>
              <a:avLst/>
              <a:gdLst/>
              <a:ahLst/>
              <a:cxnLst/>
              <a:rect l="l" t="t" r="r" b="b"/>
              <a:pathLst>
                <a:path w="9525" h="318135">
                  <a:moveTo>
                    <a:pt x="0" y="0"/>
                  </a:moveTo>
                  <a:lnTo>
                    <a:pt x="0" y="3181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98308" y="39128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797492" y="3307080"/>
              <a:ext cx="236220" cy="9525"/>
            </a:xfrm>
            <a:custGeom>
              <a:avLst/>
              <a:gdLst/>
              <a:ahLst/>
              <a:cxnLst/>
              <a:rect l="l" t="t" r="r" b="b"/>
              <a:pathLst>
                <a:path w="236220" h="9525">
                  <a:moveTo>
                    <a:pt x="0" y="0"/>
                  </a:moveTo>
                  <a:lnTo>
                    <a:pt x="2362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033712" y="32546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185285" y="3506152"/>
              <a:ext cx="9525" cy="406717"/>
            </a:xfrm>
            <a:custGeom>
              <a:avLst/>
              <a:gdLst/>
              <a:ahLst/>
              <a:cxnLst/>
              <a:rect l="l" t="t" r="r" b="b"/>
              <a:pathLst>
                <a:path w="9525" h="406717">
                  <a:moveTo>
                    <a:pt x="0" y="0"/>
                  </a:moveTo>
                  <a:lnTo>
                    <a:pt x="0" y="4067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132898" y="39128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750695" y="4415790"/>
              <a:ext cx="2434590" cy="406717"/>
            </a:xfrm>
            <a:custGeom>
              <a:avLst/>
              <a:gdLst/>
              <a:ahLst/>
              <a:cxnLst/>
              <a:rect l="l" t="t" r="r" b="b"/>
              <a:pathLst>
                <a:path w="2434590" h="406717">
                  <a:moveTo>
                    <a:pt x="2434590" y="0"/>
                  </a:moveTo>
                  <a:lnTo>
                    <a:pt x="2434590" y="256222"/>
                  </a:lnTo>
                  <a:lnTo>
                    <a:pt x="0" y="256222"/>
                  </a:lnTo>
                  <a:lnTo>
                    <a:pt x="0" y="4067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698308" y="48225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750695" y="4415790"/>
              <a:ext cx="9525" cy="406717"/>
            </a:xfrm>
            <a:custGeom>
              <a:avLst/>
              <a:gdLst/>
              <a:ahLst/>
              <a:cxnLst/>
              <a:rect l="l" t="t" r="r" b="b"/>
              <a:pathLst>
                <a:path w="9525" h="406717">
                  <a:moveTo>
                    <a:pt x="0" y="0"/>
                  </a:moveTo>
                  <a:lnTo>
                    <a:pt x="0" y="4067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698308" y="48225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03898" y="2197418"/>
              <a:ext cx="2093595" cy="399098"/>
            </a:xfrm>
            <a:prstGeom prst="roundRect">
              <a:avLst>
                <a:gd name="adj" fmla="val 4988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03898" y="3019425"/>
              <a:ext cx="2093595" cy="575310"/>
            </a:xfrm>
            <a:custGeom>
              <a:avLst/>
              <a:gdLst/>
              <a:ahLst/>
              <a:cxnLst/>
              <a:rect l="l" t="t" r="r" b="b"/>
              <a:pathLst>
                <a:path w="2093595" h="575310">
                  <a:moveTo>
                    <a:pt x="1046798" y="0"/>
                  </a:moveTo>
                  <a:lnTo>
                    <a:pt x="2093595" y="287655"/>
                  </a:lnTo>
                  <a:lnTo>
                    <a:pt x="1046798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138488" y="3107055"/>
              <a:ext cx="209359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03898" y="4017645"/>
              <a:ext cx="2093595" cy="399098"/>
            </a:xfrm>
            <a:prstGeom prst="roundRect">
              <a:avLst>
                <a:gd name="adj" fmla="val 23866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138488" y="4017645"/>
              <a:ext cx="209359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03898" y="4927282"/>
              <a:ext cx="2093595" cy="399098"/>
            </a:xfrm>
            <a:prstGeom prst="roundRect">
              <a:avLst>
                <a:gd name="adj" fmla="val 4988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14555" y="2317909"/>
              <a:ext cx="12722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客户端按 key 请求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21039" y="3228499"/>
              <a:ext cx="10593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池中已有 key？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27247" y="322849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新建具体享元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6495" y="413813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从池中取出已有实例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37006" y="4138136"/>
              <a:ext cx="1496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put(key, fw) 存入池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92657" y="50487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返回享元对象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779270" y="3720465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802892" y="374570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858452" y="3100388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897073" y="312562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46" name="c2-kv-1"/>
          <p:cNvGrpSpPr/>
          <p:nvPr/>
        </p:nvGrpSpPr>
        <p:grpSpPr>
          <a:xfrm>
            <a:off x="5700522" y="1964055"/>
            <a:ext cx="5958078" cy="2327148"/>
            <a:chOff x="5700522" y="1964055"/>
            <a:chExt cx="5958078" cy="2327148"/>
          </a:xfrm>
        </p:grpSpPr>
        <p:sp>
          <p:nvSpPr>
            <p:cNvPr id="38" name="TextBox 38"/>
            <p:cNvSpPr txBox="1"/>
            <p:nvPr/>
          </p:nvSpPr>
          <p:spPr>
            <a:xfrm>
              <a:off x="5700522" y="1964055"/>
              <a:ext cx="1311164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HashMap 池（标</a:t>
              </a:r>
              <a:br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准写法）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47382" y="1964055"/>
              <a:ext cx="41285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键是内部状态，值是享元对象，懒加载，用到哪个造哪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个，适合内部状态取值不确定的场合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707380" y="250602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00522" y="261556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数组池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47382" y="2615565"/>
              <a:ext cx="4171378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内部状态本身就是小整数或字符编码时，用下标直接定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位，不用算哈希。陈伟老师课件的 128 长度字符数组就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是这种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07380" y="341185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00522" y="352044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构造时装满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47382" y="3520440"/>
              <a:ext cx="4128516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内部状态的取值事先已知且很少时，在工厂构造函数里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一次性全部造好。张欣佳老师课件的网络设备实例是这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5707380" y="4413885"/>
            <a:ext cx="5951220" cy="1226820"/>
            <a:chOff x="5707380" y="4413885"/>
            <a:chExt cx="5951220" cy="1226820"/>
          </a:xfrm>
        </p:grpSpPr>
        <p:sp>
          <p:nvSpPr>
            <p:cNvPr id="47" name="Rectangle 47"/>
            <p:cNvSpPr/>
            <p:nvPr/>
          </p:nvSpPr>
          <p:spPr>
            <a:xfrm>
              <a:off x="5707380" y="4413885"/>
              <a:ext cx="5951220" cy="1226820"/>
            </a:xfrm>
            <a:prstGeom prst="roundRect">
              <a:avLst>
                <a:gd name="adj" fmla="val 1087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899785" y="46062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91225" y="46405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83477" y="4646295"/>
              <a:ext cx="26239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同一个 key 永远返回同一个对象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892927" y="4980623"/>
              <a:ext cx="526865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这是享元工厂唯一要保证的事。两次 getFlyweight("a") 取到的必须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是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同一个引用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，用 == 比较为 true，否则享元池就白建了。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3" name="Rectangle 5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892" y="6023610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享元池自己也占内存，只有享元被重复取用很多次时，这笔开销才划得来。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913376" cy="2997517"/>
            <a:chOff x="667512" y="1835468"/>
            <a:chExt cx="491337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26526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标准实现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三个类、一段客户端，把四个角色写成能跑的代码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抽象享元与具体享元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享元工厂与享元池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客户端调用与输出推演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745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93" y="407194"/>
              <a:ext cx="1723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Java 标准实现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抽象享元与具体享元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556248" cy="264033"/>
            <a:chOff x="526542" y="1545907"/>
            <a:chExt cx="655624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内部状态是构造时定下、之后不再改的字段；外部状态只以方法参数的形式出现。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6059805" cy="3670935"/>
            <a:chOff x="533400" y="1928812"/>
            <a:chExt cx="6059805" cy="36709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2135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Flyweight 与 ConcreteFlyweight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358515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4496689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Flyweight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operation(String extrinsicState);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外部状态每次传入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ConcreteFlyweight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Flyweight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内部状态作为成员变量，加 final 保证造好后不再改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intrinsicState;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ConcreteFlyweight(String intrinsicState)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.intrinsicState = intrinsicState;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operation(String extrinsicState)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"享元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intrinsicState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用在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extrinsicState);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card-1"/>
          <p:cNvGrpSpPr/>
          <p:nvPr/>
        </p:nvGrpSpPr>
        <p:grpSpPr>
          <a:xfrm>
            <a:off x="6898005" y="1928812"/>
            <a:ext cx="4760595" cy="1888808"/>
            <a:chOff x="6898005" y="1928812"/>
            <a:chExt cx="4760595" cy="1888808"/>
          </a:xfrm>
        </p:grpSpPr>
        <p:sp>
          <p:nvSpPr>
            <p:cNvPr id="14" name="Rectangle 14"/>
            <p:cNvSpPr/>
            <p:nvPr/>
          </p:nvSpPr>
          <p:spPr>
            <a:xfrm>
              <a:off x="6898005" y="1928812"/>
              <a:ext cx="4760595" cy="1888808"/>
            </a:xfrm>
            <a:prstGeom prst="roundRect">
              <a:avLst>
                <a:gd name="adj" fmla="val 70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907530" y="2062162"/>
              <a:ext cx="47625" cy="16221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17080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08799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83056" y="2149316"/>
              <a:ext cx="33136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原课件的“典型享元类代码”与结构图对不上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10603" y="2465546"/>
              <a:ext cx="4133850" cy="1220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张欣佳老师课件第 17 页把这个类直接写成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public class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Flyweight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，内部状态 intrinsicState 也放在里面；而第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页的结构图里 Flyweight 是接口，intrinsicState 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 ConcreteFlyweight。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同一个名字指了两样东西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，讲义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按结构图拆成接口与实现类。</a:t>
              </a:r>
            </a:p>
          </p:txBody>
        </p:sp>
      </p:grpSp>
      <p:grpSp>
        <p:nvGrpSpPr>
          <p:cNvPr id="26" name="c2-card-2"/>
          <p:cNvGrpSpPr/>
          <p:nvPr/>
        </p:nvGrpSpPr>
        <p:grpSpPr>
          <a:xfrm>
            <a:off x="6898005" y="3982402"/>
            <a:ext cx="4760595" cy="1617345"/>
            <a:chOff x="6898005" y="3982402"/>
            <a:chExt cx="4760595" cy="1617345"/>
          </a:xfrm>
        </p:grpSpPr>
        <p:sp>
          <p:nvSpPr>
            <p:cNvPr id="21" name="Rectangle 21"/>
            <p:cNvSpPr/>
            <p:nvPr/>
          </p:nvSpPr>
          <p:spPr>
            <a:xfrm>
              <a:off x="6898005" y="3982402"/>
              <a:ext cx="4760595" cy="1617345"/>
            </a:xfrm>
            <a:prstGeom prst="roundRect">
              <a:avLst>
                <a:gd name="adj" fmla="val 8245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078980" y="41633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70699" y="41962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44956" y="4202906"/>
              <a:ext cx="20251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内部状态一定要写成 final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72503" y="4520089"/>
              <a:ext cx="410133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原课件没有加 final，也没有禁止 setter。享元对象是被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很多处共用的，只要有一处能改它的内部状态，所有使用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点会一起跟着变，这类事故在第 33 页有完整代码。</a:t>
              </a:r>
            </a:p>
          </p:txBody>
        </p:sp>
      </p:grpSp>
      <p:grpSp>
        <p:nvGrpSpPr>
          <p:cNvPr id="3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27" name="Rectangle 2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1273" y="6039326"/>
              <a:ext cx="55442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享元类里不出现任何随环境变化的字段，是“这个类能不能共享”的判据。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745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93" y="407194"/>
              <a:ext cx="1723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Java 标准实现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享元工厂与享元池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785719" cy="278702"/>
            <a:chOff x="526161" y="1547336"/>
            <a:chExt cx="578571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7857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池用 Map，键是内部状态；取不到才新建，新建之后立刻存回池里。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41195"/>
            <a:ext cx="5951220" cy="3344228"/>
            <a:chOff x="533400" y="1941195"/>
            <a:chExt cx="5951220" cy="334422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951220" cy="3344228"/>
            </a:xfrm>
            <a:prstGeom prst="roundRect">
              <a:avLst>
                <a:gd name="adj" fmla="val 28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1956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FlyweightFactory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640455"/>
              <a:ext cx="591312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416" y="2354580"/>
              <a:ext cx="5144643" cy="28590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FlyweightFactory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享元池：键是内部状态，值是对应的唯一享元对象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Map&lt;String, Flyweight&gt; flyweights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HashMap&lt;&gt;();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Flyweight getFlyweight(String key)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Flyweight fw = flyweights.get(key);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(fw ==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池里没有才新建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fw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ConcreteFlyweight(key);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flyweights.put(key, fw);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造好立刻存回池里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fw;     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同一 key 永远同一对象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size()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flyweights.size();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789420" y="1941195"/>
            <a:ext cx="4869180" cy="2346008"/>
            <a:chOff x="6789420" y="1941195"/>
            <a:chExt cx="4869180" cy="2346008"/>
          </a:xfrm>
        </p:grpSpPr>
        <p:sp>
          <p:nvSpPr>
            <p:cNvPr id="14" name="Rectangle 14"/>
            <p:cNvSpPr/>
            <p:nvPr/>
          </p:nvSpPr>
          <p:spPr>
            <a:xfrm>
              <a:off x="6789420" y="1941195"/>
              <a:ext cx="4869180" cy="2346008"/>
            </a:xfrm>
            <a:prstGeom prst="roundRect">
              <a:avLst>
                <a:gd name="adj" fmla="val 56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798945" y="2074545"/>
              <a:ext cx="47625" cy="20793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01992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1136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03617" y="217360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原课件工厂代码的三处问题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019925" y="249555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5603" y="25339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0722" y="2507932"/>
              <a:ext cx="39056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= newHashMap();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中间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漏了空格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，编译器会把它当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成找不到的方法。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019925" y="305562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75603" y="30940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00722" y="3068002"/>
              <a:ext cx="389663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ConcreteFlyweight()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没传 key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，池里每个键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的享元内部状态都是空的，彼此没有区别。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019925" y="361473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75603" y="365407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00722" y="3627120"/>
              <a:ext cx="34512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(Flyweight)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强制转型可以去掉，把池声明成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Map&lt;String, Flyweight&gt;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就行。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789420" y="4462462"/>
            <a:ext cx="4869180" cy="1226820"/>
            <a:chOff x="6789420" y="4462462"/>
            <a:chExt cx="4869180" cy="1226820"/>
          </a:xfrm>
        </p:grpSpPr>
        <p:sp>
          <p:nvSpPr>
            <p:cNvPr id="29" name="Rectangle 29"/>
            <p:cNvSpPr/>
            <p:nvPr/>
          </p:nvSpPr>
          <p:spPr>
            <a:xfrm>
              <a:off x="6789420" y="4462462"/>
              <a:ext cx="486918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98945" y="4595812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019925" y="465486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11365" y="46891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03617" y="469487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一行写法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13067" y="5029200"/>
              <a:ext cx="31083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JDK 8 起可写成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computeIfAbsent(key,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ConcreteFlyweight::new)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6" name="Rectangle 3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892" y="6023610"/>
              <a:ext cx="76341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判断题常考：享元工厂里出现了 new，不代表客户端在 new，客户端始终只调 getFlyweight。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745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93" y="407194"/>
              <a:ext cx="1723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Java 标准实现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客户端调用与输出推演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102352" cy="264033"/>
            <a:chOff x="526542" y="1545907"/>
            <a:chExt cx="510235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客户端只做两件事，向工厂要享元，调用时把外部状态传进去。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5842635" cy="2616518"/>
            <a:chOff x="533400" y="1928812"/>
            <a:chExt cx="5842635" cy="261651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358515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4197985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FlyweightFactory factory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FlyweightFactory();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Flyweight a1 = factory.getFlyweight(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Flyweight a2 = factory.getFlyweight(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第二次直接取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Flyweight b1 = factory.getFlyweight(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System.out.println(a1 == a2);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System.out.println(a1 == b1);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System.out.println(factory.size());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a1.operation(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"第 12 个字位"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外部状态传入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a2.operation(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"第 99 个字位"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20" name="c1-callout-2"/>
          <p:cNvGrpSpPr/>
          <p:nvPr/>
        </p:nvGrpSpPr>
        <p:grpSpPr>
          <a:xfrm>
            <a:off x="533400" y="4714875"/>
            <a:ext cx="5842635" cy="954405"/>
            <a:chOff x="533400" y="4714875"/>
            <a:chExt cx="5842635" cy="954405"/>
          </a:xfrm>
        </p:grpSpPr>
        <p:sp>
          <p:nvSpPr>
            <p:cNvPr id="14" name="Rectangle 14"/>
            <p:cNvSpPr/>
            <p:nvPr/>
          </p:nvSpPr>
          <p:spPr>
            <a:xfrm>
              <a:off x="533400" y="4714875"/>
              <a:ext cx="5842635" cy="954405"/>
            </a:xfrm>
            <a:prstGeom prst="roundRect">
              <a:avLst>
                <a:gd name="adj" fmla="val 1197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5092065"/>
              <a:ext cx="200026" cy="200025"/>
              <a:chOff x="738188" y="5092065"/>
              <a:chExt cx="200026" cy="20002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50920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77926" y="51365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12642" y="52476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892" y="4973002"/>
              <a:ext cx="48400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非共享具体享元不走这条路，客户端直接 new，不经过工厂的池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子。</a:t>
              </a:r>
            </a:p>
          </p:txBody>
        </p:sp>
      </p:grpSp>
      <p:grpSp>
        <p:nvGrpSpPr>
          <p:cNvPr id="24" name="c2-code-1"/>
          <p:cNvGrpSpPr/>
          <p:nvPr/>
        </p:nvGrpSpPr>
        <p:grpSpPr>
          <a:xfrm>
            <a:off x="6680835" y="1928812"/>
            <a:ext cx="4977765" cy="1384935"/>
            <a:chOff x="6680835" y="1928812"/>
            <a:chExt cx="4977765" cy="1384935"/>
          </a:xfrm>
        </p:grpSpPr>
        <p:sp>
          <p:nvSpPr>
            <p:cNvPr id="21" name="Rectangle 21"/>
            <p:cNvSpPr/>
            <p:nvPr/>
          </p:nvSpPr>
          <p:spPr>
            <a:xfrm>
              <a:off x="6680835" y="1928812"/>
              <a:ext cx="4977765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09232" y="20807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运行输出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09232" y="2340769"/>
              <a:ext cx="1553210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true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false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享元 a 用在 第 12 个字位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享元 a 用在 第 99 个字位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680835" y="3484245"/>
            <a:ext cx="4977765" cy="2185035"/>
            <a:chOff x="6680835" y="3484245"/>
            <a:chExt cx="4977765" cy="2185035"/>
          </a:xfrm>
        </p:grpSpPr>
        <p:sp>
          <p:nvSpPr>
            <p:cNvPr id="25" name="Rectangle 25"/>
            <p:cNvSpPr/>
            <p:nvPr/>
          </p:nvSpPr>
          <p:spPr>
            <a:xfrm>
              <a:off x="6680835" y="3484245"/>
              <a:ext cx="4977765" cy="2185035"/>
            </a:xfrm>
            <a:prstGeom prst="roundRect">
              <a:avLst>
                <a:gd name="adj" fmla="val 61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90360" y="3617595"/>
              <a:ext cx="47625" cy="19183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905625" y="36709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98297" y="37037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72172" y="370522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三行布尔值和数字是怎么来的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98767" y="4031932"/>
              <a:ext cx="439426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第一次取 a 时池里没有，新建并存入；第二次取到同一个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对象，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a1 == a2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为 true。b 的内部状态不同，是池里另一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个对象，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a1 == b1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为 false。两个不同的 key，池的大小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2。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99910" y="5099209"/>
              <a:ext cx="42786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最后两行调的是同一个对象的同一个方法，输出不同只因为外部状态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不同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3" name="Rectangle 3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892" y="6028373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外部状态从头到尾只在参数里出现，享元对象自己一个字节都不为它花。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57622" cy="2997517"/>
            <a:chOff x="667512" y="1835468"/>
            <a:chExt cx="535762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课件里的四个实例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从无外部状态到有外部状态，再到标准库里的现成享元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共享网络设备的两个版本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字符图元与数组享元池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9096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 与包装类缓存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实例一：共享网络设备（无外部状态）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464933" cy="264033"/>
            <a:chOff x="526542" y="1545907"/>
            <a:chExt cx="746493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多台终端计算机可以连同一台交换机或集线器，并通过它转发数据。设备就是被共享的享元。</a:t>
              </a:r>
            </a:p>
          </p:txBody>
        </p:sp>
      </p:grpSp>
      <p:grpSp>
        <p:nvGrpSpPr>
          <p:cNvPr id="45" name="c1-uml-1"/>
          <p:cNvGrpSpPr/>
          <p:nvPr/>
        </p:nvGrpSpPr>
        <p:grpSpPr>
          <a:xfrm>
            <a:off x="1002030" y="1995488"/>
            <a:ext cx="9847897" cy="2288856"/>
            <a:chOff x="1002030" y="1995488"/>
            <a:chExt cx="9847897" cy="2288856"/>
          </a:xfrm>
        </p:grpSpPr>
        <p:sp>
          <p:nvSpPr>
            <p:cNvPr id="9" name="Freeform 9"/>
            <p:cNvSpPr/>
            <p:nvPr/>
          </p:nvSpPr>
          <p:spPr>
            <a:xfrm>
              <a:off x="3055620" y="2571750"/>
              <a:ext cx="3850005" cy="9525"/>
            </a:xfrm>
            <a:custGeom>
              <a:avLst/>
              <a:gdLst/>
              <a:ahLst/>
              <a:cxnLst/>
              <a:rect l="l" t="t" r="r" b="b"/>
              <a:pathLst>
                <a:path w="3850005" h="9525">
                  <a:moveTo>
                    <a:pt x="385000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46070" y="2513648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705350" y="3112770"/>
              <a:ext cx="2686050" cy="317183"/>
            </a:xfrm>
            <a:custGeom>
              <a:avLst/>
              <a:gdLst/>
              <a:ahLst/>
              <a:cxnLst/>
              <a:rect l="l" t="t" r="r" b="b"/>
              <a:pathLst>
                <a:path w="2686050" h="317183">
                  <a:moveTo>
                    <a:pt x="0" y="317183"/>
                  </a:moveTo>
                  <a:lnTo>
                    <a:pt x="0" y="96202"/>
                  </a:lnTo>
                  <a:lnTo>
                    <a:pt x="2686050" y="96202"/>
                  </a:lnTo>
                  <a:lnTo>
                    <a:pt x="26860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7318058" y="29870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581900" y="3112770"/>
              <a:ext cx="2686050" cy="317183"/>
            </a:xfrm>
            <a:custGeom>
              <a:avLst/>
              <a:gdLst/>
              <a:ahLst/>
              <a:cxnLst/>
              <a:rect l="l" t="t" r="r" b="b"/>
              <a:pathLst>
                <a:path w="2686050" h="317183">
                  <a:moveTo>
                    <a:pt x="2686050" y="317183"/>
                  </a:moveTo>
                  <a:lnTo>
                    <a:pt x="2686050" y="96202"/>
                  </a:lnTo>
                  <a:lnTo>
                    <a:pt x="0" y="9620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7508558" y="29870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02030" y="1995488"/>
              <a:ext cx="1844992" cy="115157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08698" y="2003108"/>
              <a:ext cx="183070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02030" y="2207895"/>
              <a:ext cx="184499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02030" y="2601278"/>
              <a:ext cx="184499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905625" y="2156460"/>
              <a:ext cx="1163002" cy="83058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912292" y="2163128"/>
              <a:ext cx="1148715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905625" y="2494598"/>
              <a:ext cx="11630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905625" y="2589848"/>
              <a:ext cx="11630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124325" y="3429952"/>
              <a:ext cx="1163002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130992" y="3437572"/>
              <a:ext cx="1148715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124325" y="3642360"/>
              <a:ext cx="11630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124325" y="3886200"/>
              <a:ext cx="11630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686925" y="3429952"/>
              <a:ext cx="1163002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9693592" y="3437572"/>
              <a:ext cx="114871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686925" y="3642360"/>
              <a:ext cx="11630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686925" y="3886200"/>
              <a:ext cx="11630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476571" y="2046922"/>
              <a:ext cx="8949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DeviceFactory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73468" y="2275999"/>
              <a:ext cx="1618488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devices: List&lt;NetworkDevice&gt;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totalTerminal: int = 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73468" y="2669381"/>
              <a:ext cx="1701800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getNetworkDevice(String type)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getTotalDevice(): int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getTotalTerminal(): int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89089" y="2205038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26338" y="2333625"/>
              <a:ext cx="9206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NetworkDevice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77062" y="2657951"/>
              <a:ext cx="1019683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getType(): String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use(): void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91911" y="3481388"/>
              <a:ext cx="4268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Switch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95762" y="3710464"/>
              <a:ext cx="7810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type: String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195762" y="3954304"/>
              <a:ext cx="1019683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getType(): String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use(): void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56254" y="3481388"/>
              <a:ext cx="2233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Hub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58362" y="3710464"/>
              <a:ext cx="7810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type: String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58362" y="3954304"/>
              <a:ext cx="1019683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getType(): String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use(): void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622482" y="2375535"/>
              <a:ext cx="50673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53001" y="2398395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devices</a:t>
              </a:r>
            </a:p>
          </p:txBody>
        </p:sp>
      </p:grpSp>
      <p:grpSp>
        <p:nvGrpSpPr>
          <p:cNvPr id="54" name="c1-kv-2"/>
          <p:cNvGrpSpPr/>
          <p:nvPr/>
        </p:nvGrpSpPr>
        <p:grpSpPr>
          <a:xfrm>
            <a:off x="526542" y="4692015"/>
            <a:ext cx="11132058" cy="1048893"/>
            <a:chOff x="526542" y="4692015"/>
            <a:chExt cx="11132058" cy="1048893"/>
          </a:xfrm>
        </p:grpSpPr>
        <p:sp>
          <p:nvSpPr>
            <p:cNvPr id="46" name="TextBox 46"/>
            <p:cNvSpPr txBox="1"/>
            <p:nvPr/>
          </p:nvSpPr>
          <p:spPr>
            <a:xfrm>
              <a:off x="526542" y="469201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内部状态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88567" y="4692015"/>
              <a:ext cx="51932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设备型号 type，一台交换机的型号不随谁来用而改变，可以共享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49787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6542" y="508444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外部状态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88567" y="5084445"/>
              <a:ext cx="49842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这一版没有外部状态，终端接上就能用，所以 use() 是无参的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537114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6542" y="54768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两个计数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488567" y="5476875"/>
              <a:ext cx="8768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getTotalDevice 返回享元对象个数，getTotalTerminal 返回终端接入次数，两者之差就是共享省下的对象数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5" name="Rectangle 5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892" y="6028373"/>
              <a:ext cx="5956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这个工厂的池是在构造函数里一次装满的，属于第 13 页说的第三种写法。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实例一的代码与运行结果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738878" cy="264033"/>
            <a:chOff x="526542" y="1545907"/>
            <a:chExt cx="473887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池里只有两台设备，接多少台终端都不会再多造一个对象。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6167438" cy="3499485"/>
            <a:chOff x="533400" y="1928812"/>
            <a:chExt cx="6167438" cy="349948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167438" cy="3499485"/>
            </a:xfrm>
            <a:prstGeom prst="roundRect">
              <a:avLst>
                <a:gd name="adj" fmla="val 27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9740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DeviceFactory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101465"/>
              <a:ext cx="6129338" cy="14954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988" y="2339816"/>
              <a:ext cx="4992624" cy="30032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DeviceFactory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List&lt;NetworkDevice&gt; devices =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totalTerminal = 0;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终端数，不是设备数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DeviceFactory() {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构造时一次装满享元池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devices.add(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Switch(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"Cisco-WS-C2950-24"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devices.add(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Hub(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"TP-LINK-HF8M"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NetworkDevice getNetworkDevice(String type)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"cisco"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.equalsIgnoreCase(type))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totalTerminal++;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每接一台终端加一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devices.get(0);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返回池中同一个对象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"tp"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.equalsIgnoreCase(type))    { totalTerminal++;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devices.get(1);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getTotalDevice()   {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devices.size();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getTotalTerminal() {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totalTerminal;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2-code-1"/>
          <p:cNvGrpSpPr/>
          <p:nvPr/>
        </p:nvGrpSpPr>
        <p:grpSpPr>
          <a:xfrm>
            <a:off x="7005638" y="1928812"/>
            <a:ext cx="4652962" cy="1912620"/>
            <a:chOff x="7005638" y="1928812"/>
            <a:chExt cx="4652962" cy="1912620"/>
          </a:xfrm>
        </p:grpSpPr>
        <p:sp>
          <p:nvSpPr>
            <p:cNvPr id="14" name="Rectangle 14"/>
            <p:cNvSpPr/>
            <p:nvPr/>
          </p:nvSpPr>
          <p:spPr>
            <a:xfrm>
              <a:off x="7005638" y="1928812"/>
              <a:ext cx="4652962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34034" y="208073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客户端与运行结果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24688" y="3183255"/>
              <a:ext cx="461486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34034" y="2340769"/>
              <a:ext cx="3569462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DeviceFactory f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DeviceFactory();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NetworkDevice d1 = f.getNetworkDevice(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"cisco"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NetworkDevice d2 = f.getNetworkDevice(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"cisco"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NetworkDevice d3 = f.getNetworkDevice(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"tp"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System.out.println(d1 == d2);         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true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System.out.println(f.getTotalDevice());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2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System.out.println(f.getTotalTerminal());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3 */</a:t>
              </a:r>
            </a:p>
          </p:txBody>
        </p:sp>
      </p:grpSp>
      <p:grpSp>
        <p:nvGrpSpPr>
          <p:cNvPr id="25" name="c2-card-2"/>
          <p:cNvGrpSpPr/>
          <p:nvPr/>
        </p:nvGrpSpPr>
        <p:grpSpPr>
          <a:xfrm>
            <a:off x="7005638" y="4006215"/>
            <a:ext cx="4652962" cy="1645920"/>
            <a:chOff x="7005638" y="4006215"/>
            <a:chExt cx="4652962" cy="1645920"/>
          </a:xfrm>
        </p:grpSpPr>
        <p:sp>
          <p:nvSpPr>
            <p:cNvPr id="19" name="Rectangle 19"/>
            <p:cNvSpPr/>
            <p:nvPr/>
          </p:nvSpPr>
          <p:spPr>
            <a:xfrm>
              <a:off x="7005638" y="4006215"/>
              <a:ext cx="4652962" cy="1645920"/>
            </a:xfrm>
            <a:prstGeom prst="roundRect">
              <a:avLst>
                <a:gd name="adj" fmla="val 81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015162" y="4139565"/>
              <a:ext cx="47625" cy="13792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224712" y="41871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17384" y="42200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91641" y="4226719"/>
              <a:ext cx="28793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享元池用 ArrayList 只够这个例子用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18236" y="4543901"/>
              <a:ext cx="4068826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原课件的池是 ArrayList，按下标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get(0)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get(1)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取，型号一多就要一路 else-if。改成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Map&lt;String,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NetworkDevice&gt;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后，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键就是内部状态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，加型号不用改方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</p:grpSp>
      <p:grpSp>
        <p:nvGrpSpPr>
          <p:cNvPr id="3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26" name="Rectangle 2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1273" y="6039326"/>
              <a:ext cx="5845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设备数恒为 2、终端数一直涨，这两个数字的差距就是享元模式省下的对象。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实例二：共享网络设备（有外部状态）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284720" cy="293370"/>
            <a:chOff x="525780" y="1548765"/>
            <a:chExt cx="728472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28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设备可以共享，分配给每台终端的端口却各不相同，把端口抽出来作为外部状态。</a:t>
              </a:r>
            </a:p>
          </p:txBody>
        </p:sp>
      </p:grpSp>
      <p:grpSp>
        <p:nvGrpSpPr>
          <p:cNvPr id="51" name="c1-uml-1"/>
          <p:cNvGrpSpPr/>
          <p:nvPr/>
        </p:nvGrpSpPr>
        <p:grpSpPr>
          <a:xfrm>
            <a:off x="609600" y="2028825"/>
            <a:ext cx="5229225" cy="2465069"/>
            <a:chOff x="609600" y="2028825"/>
            <a:chExt cx="5229225" cy="2465069"/>
          </a:xfrm>
        </p:grpSpPr>
        <p:sp>
          <p:nvSpPr>
            <p:cNvPr id="9" name="Freeform 9"/>
            <p:cNvSpPr/>
            <p:nvPr/>
          </p:nvSpPr>
          <p:spPr>
            <a:xfrm>
              <a:off x="2019300" y="3301365"/>
              <a:ext cx="1323975" cy="9525"/>
            </a:xfrm>
            <a:custGeom>
              <a:avLst/>
              <a:gdLst/>
              <a:ahLst/>
              <a:cxnLst/>
              <a:rect l="l" t="t" r="r" b="b"/>
              <a:pathLst>
                <a:path w="1323975" h="9525">
                  <a:moveTo>
                    <a:pt x="132397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09750" y="3244215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914775" y="2778442"/>
              <a:ext cx="9525" cy="160973"/>
            </a:xfrm>
            <a:custGeom>
              <a:avLst/>
              <a:gdLst/>
              <a:ahLst/>
              <a:cxnLst/>
              <a:rect l="l" t="t" r="r" b="b"/>
              <a:pathLst>
                <a:path w="9525" h="160973">
                  <a:moveTo>
                    <a:pt x="0" y="160973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3856672" y="2778442"/>
              <a:ext cx="116205" cy="104775"/>
            </a:xfrm>
            <a:custGeom>
              <a:avLst/>
              <a:gdLst/>
              <a:ahLst/>
              <a:cxnLst/>
              <a:rect l="l" t="t" r="r" b="b"/>
              <a:pathLst>
                <a:path w="116205" h="104775">
                  <a:moveTo>
                    <a:pt x="116205" y="104775"/>
                  </a:moveTo>
                  <a:lnTo>
                    <a:pt x="58103" y="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562225" y="3785235"/>
              <a:ext cx="1257300" cy="120968"/>
            </a:xfrm>
            <a:custGeom>
              <a:avLst/>
              <a:gdLst/>
              <a:ahLst/>
              <a:cxnLst/>
              <a:rect l="l" t="t" r="r" b="b"/>
              <a:pathLst>
                <a:path w="1257300" h="120968">
                  <a:moveTo>
                    <a:pt x="0" y="120968"/>
                  </a:moveTo>
                  <a:lnTo>
                    <a:pt x="0" y="0"/>
                  </a:lnTo>
                  <a:lnTo>
                    <a:pt x="1257300" y="0"/>
                  </a:lnTo>
                  <a:lnTo>
                    <a:pt x="1257300" y="4762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3746182" y="366426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010025" y="3785235"/>
              <a:ext cx="1257300" cy="120968"/>
            </a:xfrm>
            <a:custGeom>
              <a:avLst/>
              <a:gdLst/>
              <a:ahLst/>
              <a:cxnLst/>
              <a:rect l="l" t="t" r="r" b="b"/>
              <a:pathLst>
                <a:path w="1257300" h="120968">
                  <a:moveTo>
                    <a:pt x="1257300" y="120968"/>
                  </a:moveTo>
                  <a:lnTo>
                    <a:pt x="1257300" y="0"/>
                  </a:lnTo>
                  <a:lnTo>
                    <a:pt x="0" y="0"/>
                  </a:lnTo>
                  <a:lnTo>
                    <a:pt x="0" y="4762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3936682" y="366426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343275" y="2028825"/>
              <a:ext cx="114300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350895" y="203549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343275" y="22593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343275" y="251650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9600" y="3007995"/>
              <a:ext cx="120015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7220" y="3014662"/>
              <a:ext cx="118586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3238500"/>
              <a:ext cx="12001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3333750"/>
              <a:ext cx="12001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343275" y="2939415"/>
              <a:ext cx="1143000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350895" y="2946082"/>
              <a:ext cx="1128712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343275" y="33070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343275" y="34023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990725" y="3906202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998345" y="3912870"/>
              <a:ext cx="112871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990725" y="413670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990725" y="423195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695825" y="3906202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703445" y="391287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695825" y="413670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695825" y="423195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755289" y="208454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Port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14712" y="2328862"/>
              <a:ext cx="8563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port: String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14712" y="2586038"/>
              <a:ext cx="7179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getPort()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2653" y="3063716"/>
              <a:ext cx="9740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DeviceFactory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1038" y="3403282"/>
              <a:ext cx="13150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getNetworkDevice()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89886" y="2992279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413779" y="3132296"/>
              <a:ext cx="10019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NetworkDevice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414712" y="3471862"/>
              <a:ext cx="8209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use(Port p)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330047" y="3961924"/>
              <a:ext cx="4643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Switch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62162" y="4301490"/>
              <a:ext cx="8209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use(Port p)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145933" y="3961924"/>
              <a:ext cx="242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Hub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767262" y="4301490"/>
              <a:ext cx="8209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use(Port p)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288858" y="3085148"/>
              <a:ext cx="57531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316747" y="3111818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devices</a:t>
              </a:r>
            </a:p>
          </p:txBody>
        </p:sp>
      </p:grpSp>
      <p:grpSp>
        <p:nvGrpSpPr>
          <p:cNvPr id="57" name="c1-kv-2"/>
          <p:cNvGrpSpPr/>
          <p:nvPr/>
        </p:nvGrpSpPr>
        <p:grpSpPr>
          <a:xfrm>
            <a:off x="526161" y="4858226"/>
            <a:ext cx="5417439" cy="700660"/>
            <a:chOff x="526161" y="4858226"/>
            <a:chExt cx="5417439" cy="700660"/>
          </a:xfrm>
        </p:grpSpPr>
        <p:sp>
          <p:nvSpPr>
            <p:cNvPr id="52" name="TextBox 52"/>
            <p:cNvSpPr txBox="1"/>
            <p:nvPr/>
          </p:nvSpPr>
          <p:spPr>
            <a:xfrm>
              <a:off x="526161" y="485822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内部状态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525334" y="4858226"/>
              <a:ext cx="42334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设备型号 type，存在 Switch、Hub 自己的字段里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51635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6161" y="528018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外部状态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525334" y="5280184"/>
              <a:ext cx="32231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端口 Port，只出现在 use 的参数表里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6248400" y="1954530"/>
            <a:ext cx="5410200" cy="1564958"/>
            <a:chOff x="6248400" y="1954530"/>
            <a:chExt cx="5410200" cy="1564958"/>
          </a:xfrm>
        </p:grpSpPr>
        <p:sp>
          <p:nvSpPr>
            <p:cNvPr id="58" name="Rectangle 58"/>
            <p:cNvSpPr/>
            <p:nvPr/>
          </p:nvSpPr>
          <p:spPr>
            <a:xfrm>
              <a:off x="6248400" y="1954530"/>
              <a:ext cx="5410200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57925" y="208788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90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80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背景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91744" y="219789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端口为什么不能共享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83096" y="255031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多台计算机可以共享同一台网络设备，但必须使用不同的端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口。端口随终端而变，符合外部状态的定义，于是从设备里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抽出来，需要时再设置进去。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248400" y="3704272"/>
            <a:ext cx="5410200" cy="1797368"/>
            <a:chOff x="6248400" y="3704272"/>
            <a:chExt cx="5410200" cy="1797368"/>
          </a:xfrm>
        </p:grpSpPr>
        <p:sp>
          <p:nvSpPr>
            <p:cNvPr id="65" name="Rectangle 65"/>
            <p:cNvSpPr/>
            <p:nvPr/>
          </p:nvSpPr>
          <p:spPr>
            <a:xfrm>
              <a:off x="6248400" y="3704272"/>
              <a:ext cx="5410200" cy="1797368"/>
            </a:xfrm>
            <a:prstGeom prst="roundRect">
              <a:avLst>
                <a:gd name="adj" fmla="val 74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57925" y="3837622"/>
              <a:ext cx="47625" cy="15306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90335" y="390810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80543" y="39438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91744" y="3948589"/>
              <a:ext cx="24960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原图把 Port 画成了实线关联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83096" y="4300061"/>
              <a:ext cx="473938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Port 只出现在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use(Port port)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的参数表里，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NetworkDevice 并没有 Port 类型的字段，这是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依赖关系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应画成虚线箭头。实线关联会让人以为设备里存着端口。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2" name="Rectangle 7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511" y="6004084"/>
              <a:ext cx="76299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两版的差别只在方法签名：</a:t>
              </a:r>
              <a:r>
                <a:rPr lang="en-US" sz="142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use()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变成 </a:t>
              </a:r>
              <a:r>
                <a:rPr lang="en-US" sz="142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use(Port port)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，类的数量和继承关系一个没变。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实例二的代码与运行结果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374511" cy="264033"/>
            <a:chOff x="526542" y="1545907"/>
            <a:chExt cx="637451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同一台交换机被调用两次，打印出两个不同的端口，说明端口确实不在设备里。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6059805" cy="3670935"/>
            <a:chOff x="533400" y="1928812"/>
            <a:chExt cx="6059805" cy="36709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034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Switch 与客户端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534728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4415790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Switch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NetworkDevice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type;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内部状态，共享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Switch(String type)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.type = type;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getType()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type;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use(Port port) {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外部状态由参数传入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"交换机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type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分配端口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port.getPort());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DeviceFactory f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DeviceFactory();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NetworkDevice d1 = f.getNetworkDevice(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"cisco"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NetworkDevice d2 = f.getNetworkDevice(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"cisco"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d1.use(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Port(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"101"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));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同一台交换机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d2.use(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Port(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"102"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));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不同的端口 */</a:t>
              </a:r>
            </a:p>
          </p:txBody>
        </p:sp>
      </p:grpSp>
      <p:grpSp>
        <p:nvGrpSpPr>
          <p:cNvPr id="17" name="c2-code-1"/>
          <p:cNvGrpSpPr/>
          <p:nvPr/>
        </p:nvGrpSpPr>
        <p:grpSpPr>
          <a:xfrm>
            <a:off x="6898005" y="1928812"/>
            <a:ext cx="4760595" cy="858202"/>
            <a:chOff x="6898005" y="1928812"/>
            <a:chExt cx="4760595" cy="858202"/>
          </a:xfrm>
        </p:grpSpPr>
        <p:sp>
          <p:nvSpPr>
            <p:cNvPr id="14" name="Rectangle 14"/>
            <p:cNvSpPr/>
            <p:nvPr/>
          </p:nvSpPr>
          <p:spPr>
            <a:xfrm>
              <a:off x="6898005" y="1928812"/>
              <a:ext cx="4760595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26402" y="20807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26402" y="2340769"/>
              <a:ext cx="2455545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交换机 Cisco-WS-C2950-24 分配端口 101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交换机 Cisco-WS-C2950-24 分配端口 102</a:t>
              </a:r>
            </a:p>
          </p:txBody>
        </p:sp>
      </p:grpSp>
      <p:grpSp>
        <p:nvGrpSpPr>
          <p:cNvPr id="23" name="c2-card-2"/>
          <p:cNvGrpSpPr/>
          <p:nvPr/>
        </p:nvGrpSpPr>
        <p:grpSpPr>
          <a:xfrm>
            <a:off x="6898005" y="2950845"/>
            <a:ext cx="4760595" cy="1403032"/>
            <a:chOff x="6898005" y="2950845"/>
            <a:chExt cx="4760595" cy="1403032"/>
          </a:xfrm>
        </p:grpSpPr>
        <p:sp>
          <p:nvSpPr>
            <p:cNvPr id="18" name="Rectangle 18"/>
            <p:cNvSpPr/>
            <p:nvPr/>
          </p:nvSpPr>
          <p:spPr>
            <a:xfrm>
              <a:off x="6898005" y="2950845"/>
              <a:ext cx="4760595" cy="1403032"/>
            </a:xfrm>
            <a:prstGeom prst="roundRect">
              <a:avLst>
                <a:gd name="adj" fmla="val 950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78980" y="313182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67601" y="316468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读结果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69733" y="317230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型号相同说明是同一个对象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72503" y="3488531"/>
              <a:ext cx="40769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两行的型号一样，端口不一样。型号来自享元自己的字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段，端口来自这一次调用的参数，这就是内外状态在代码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里的样子。</a:t>
              </a:r>
            </a:p>
          </p:txBody>
        </p:sp>
      </p:grpSp>
      <p:grpSp>
        <p:nvGrpSpPr>
          <p:cNvPr id="30" name="c2-card-3"/>
          <p:cNvGrpSpPr/>
          <p:nvPr/>
        </p:nvGrpSpPr>
        <p:grpSpPr>
          <a:xfrm>
            <a:off x="6898005" y="4519612"/>
            <a:ext cx="4760595" cy="1160145"/>
            <a:chOff x="6898005" y="4519612"/>
            <a:chExt cx="4760595" cy="1160145"/>
          </a:xfrm>
        </p:grpSpPr>
        <p:sp>
          <p:nvSpPr>
            <p:cNvPr id="24" name="Rectangle 24"/>
            <p:cNvSpPr/>
            <p:nvPr/>
          </p:nvSpPr>
          <p:spPr>
            <a:xfrm>
              <a:off x="6898005" y="4519612"/>
              <a:ext cx="476059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907530" y="465296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117080" y="470058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05701" y="47334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别写成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07833" y="4740116"/>
              <a:ext cx="22565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 Switch 加一个 port 字段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10603" y="5056346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那样第二台终端接入就会覆盖掉第一台的端口，两台会显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示同一个端口。享元里不能留随使用者变化的字段。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1" name="Rectangle 3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1273" y="6039326"/>
              <a:ext cx="44130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Port 对象是客户端造的，用完就丢，它本身不需要共享。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实例三：绘图程序里的字符图元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01459" cy="264033"/>
            <a:chOff x="526542" y="1545907"/>
            <a:chExt cx="710145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陈伟老师课件的例子。字符可以共享，行和列不能共享，两种都由同一个工厂负责创建。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5193982" cy="3495675"/>
            <a:chOff x="533400" y="1928812"/>
            <a:chExt cx="5193982" cy="349567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193982" cy="3495675"/>
            </a:xfrm>
            <a:prstGeom prst="roundRect">
              <a:avLst>
                <a:gd name="adj" fmla="val 27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8867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GlyphFactory（由 C++ 改写）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062412"/>
              <a:ext cx="515588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4359783" cy="301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GlyphFactory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享元池是一个长度 128 的数组，下标就是字符的编码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CharGlyph[] chars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CharGlyph[128];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CharGlyph createCharacter(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 &gt;= 128) {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越界的先挡住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CharGlyph(c);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不进池，不共享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(chars[c] ==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chars[c]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CharGlyph(c);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同一字符只造一次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chars[c];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Row createRow()      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Row();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Column createColumn()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Column();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card-1"/>
          <p:cNvGrpSpPr/>
          <p:nvPr/>
        </p:nvGrpSpPr>
        <p:grpSpPr>
          <a:xfrm>
            <a:off x="6032182" y="1928812"/>
            <a:ext cx="5626418" cy="1406842"/>
            <a:chOff x="6032182" y="1928812"/>
            <a:chExt cx="5626418" cy="1406842"/>
          </a:xfrm>
        </p:grpSpPr>
        <p:sp>
          <p:nvSpPr>
            <p:cNvPr id="14" name="Rectangle 14"/>
            <p:cNvSpPr/>
            <p:nvPr/>
          </p:nvSpPr>
          <p:spPr>
            <a:xfrm>
              <a:off x="6032182" y="1928812"/>
              <a:ext cx="5626418" cy="1406842"/>
            </a:xfrm>
            <a:prstGeom prst="roundRect">
              <a:avLst>
                <a:gd name="adj" fmla="val 9479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13158" y="210978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1778" y="2142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读代码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03911" y="214931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数组池与非共享享元同时出现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06680" y="2465546"/>
              <a:ext cx="48166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createCharacter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走享元池，同一字符总返回同一个 CharGlyph；</a:t>
              </a:r>
              <a:br/>
              <a:r>
                <a:rPr lang="en-US" sz="128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createRow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createColumn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每次都 new，是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非共享具体享元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07824" y="2989898"/>
              <a:ext cx="499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原课件享元类名 Character 与 java.lang.Character 重名，改写为 CharGlyph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032182" y="3499485"/>
            <a:ext cx="5626418" cy="1924050"/>
            <a:chOff x="6032182" y="3499485"/>
            <a:chExt cx="5626418" cy="1924050"/>
          </a:xfrm>
        </p:grpSpPr>
        <p:sp>
          <p:nvSpPr>
            <p:cNvPr id="21" name="Rectangle 21"/>
            <p:cNvSpPr/>
            <p:nvPr/>
          </p:nvSpPr>
          <p:spPr>
            <a:xfrm>
              <a:off x="6032182" y="3499485"/>
              <a:ext cx="5626418" cy="1924050"/>
            </a:xfrm>
            <a:prstGeom prst="roundRect">
              <a:avLst>
                <a:gd name="adj" fmla="val 69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41708" y="3632835"/>
              <a:ext cx="47625" cy="16573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1258" y="368046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42977" y="37133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17233" y="3720941"/>
              <a:ext cx="2166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C++ 代码的三处问题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251258" y="402621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03164" y="406184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21006" y="4037171"/>
              <a:ext cx="48153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Class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与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Public: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首字母大写，C++ 关键字全小写，编译不过。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51258" y="431101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03164" y="43466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21006" y="4321969"/>
              <a:ext cx="38190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GlyphFactory::GlyphFactory {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缺参数表括号。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51258" y="459581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03164" y="463143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21006" y="460676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chars[c]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拿 char 当下标，char 可能有符号，会得到负下标而越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6" name="Rectangle 3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1273" y="6039326"/>
              <a:ext cx="80724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课件另一页的 struct Info 与 vector 成员 mLayout 就是外部状态的容器，原文没点明它对应哪个角色。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45812" cy="909257"/>
            <a:chOff x="520446" y="342900"/>
            <a:chExt cx="72458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458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实例四：JDK 的 String 常量池就是一个享元池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981891" cy="264033"/>
            <a:chOff x="526542" y="1545907"/>
            <a:chExt cx="598189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9818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内容相同的字符串字面量在内存里只存一份，这是 Java 语言自带的享元。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5626418" cy="2264092"/>
            <a:chOff x="533400" y="1928812"/>
            <a:chExt cx="5626418" cy="226409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四行输出，你能都答对吗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007042"/>
              <a:ext cx="558831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3992626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str1 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"abcd"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str2 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"abcd"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str3 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"ab"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"cd"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str4 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"ab"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str4 +=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"cd"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这一行才重新分配空间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System.out.println(str1 == str2); 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true 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System.out.println(str1 == str3); 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true 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System.out.println(str1 == str4); 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false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str2 +=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"e"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System.out.println(str1 == str2); 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false */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357688"/>
            <a:ext cx="5626418" cy="1200150"/>
            <a:chOff x="533400" y="4357688"/>
            <a:chExt cx="5626418" cy="1200150"/>
          </a:xfrm>
        </p:grpSpPr>
        <p:sp>
          <p:nvSpPr>
            <p:cNvPr id="14" name="Rectangle 14"/>
            <p:cNvSpPr/>
            <p:nvPr/>
          </p:nvSpPr>
          <p:spPr>
            <a:xfrm>
              <a:off x="533400" y="4357688"/>
              <a:ext cx="5626418" cy="1200150"/>
            </a:xfrm>
            <a:prstGeom prst="roundRect">
              <a:avLst>
                <a:gd name="adj" fmla="val 1111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14375" y="45386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7047" y="45715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80350" y="457819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编译期能定下来的拼接，结果都在常量池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895374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字面量之间的拼接由编译器算完，变量参与的拼接推迟到运行期，结果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是堆上的新对象。</a:t>
              </a:r>
            </a:p>
          </p:txBody>
        </p:sp>
      </p:grpSp>
      <p:grpSp>
        <p:nvGrpSpPr>
          <p:cNvPr id="31" name="c2-kv-1"/>
          <p:cNvGrpSpPr/>
          <p:nvPr/>
        </p:nvGrpSpPr>
        <p:grpSpPr>
          <a:xfrm>
            <a:off x="6458141" y="1949291"/>
            <a:ext cx="5200459" cy="2091499"/>
            <a:chOff x="6458141" y="1949291"/>
            <a:chExt cx="5200459" cy="2091499"/>
          </a:xfrm>
        </p:grpSpPr>
        <p:sp>
          <p:nvSpPr>
            <p:cNvPr id="20" name="TextBox 20"/>
            <p:cNvSpPr txBox="1"/>
            <p:nvPr/>
          </p:nvSpPr>
          <p:spPr>
            <a:xfrm>
              <a:off x="6458141" y="1949291"/>
              <a:ext cx="1116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str1 == str2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90688" y="1949291"/>
              <a:ext cx="37176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两个字面量指向常量池中同一个 abcd，共享成立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464618" y="222218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58141" y="2323624"/>
              <a:ext cx="1116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str1 == str3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90688" y="2323624"/>
              <a:ext cx="3564890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"ab" + "cd" 是编译期常量表达式，编译后就是字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面量 abcd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64618" y="28355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58141" y="2937034"/>
              <a:ext cx="1116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str1 == str4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90688" y="2937034"/>
              <a:ext cx="3573018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str4 += 在运行期拼接，产生堆上的新对象，不进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常量池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64618" y="3449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58141" y="35513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最后一行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90688" y="3551396"/>
              <a:ext cx="350799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str2 += 之后 str2 已经改指新对象，与 str1 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再相等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464618" y="4154805"/>
            <a:ext cx="5193982" cy="1403032"/>
            <a:chOff x="6464618" y="4154805"/>
            <a:chExt cx="5193982" cy="1403032"/>
          </a:xfrm>
        </p:grpSpPr>
        <p:sp>
          <p:nvSpPr>
            <p:cNvPr id="32" name="Rectangle 32"/>
            <p:cNvSpPr/>
            <p:nvPr/>
          </p:nvSpPr>
          <p:spPr>
            <a:xfrm>
              <a:off x="6464618" y="4154805"/>
              <a:ext cx="5193982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4142" y="4288155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83692" y="433578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76364" y="43686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50620" y="437530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注释标错了行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77216" y="4692491"/>
              <a:ext cx="45890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原课件把“重新分配空间”注在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String str4 = "ab";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这一行。这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一行只是取常量池里的 ab，真正分配新空间的是下一行的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str4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+= "cd";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9" name="Rectangle 3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1273" y="6039326"/>
              <a:ext cx="82695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String 的内部状态就是字符内容，它不可变、可共享，这正是 String 被设计成 final 且不可变的原因之一。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标准库和实际项目里还有哪些享元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090351" cy="264033"/>
            <a:chOff x="526542" y="1545907"/>
            <a:chExt cx="509035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0903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自动装箱背后的 Integer 缓存，是最常被 == 坑到的一处享元。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5410200" cy="1561148"/>
            <a:chOff x="533400" y="1928812"/>
            <a:chExt cx="5410200" cy="156114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082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Integer 的享元池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007042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3762375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Integer a = 127, b = 127;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走 Integer.valueOf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Integer c = 128, d = 128;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System.out.println(a == b);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true，取自缓存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System.out.println(c == d);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false，各 new 一个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System.out.println(c.equals(d));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true，比的是值 */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654742"/>
            <a:ext cx="5410200" cy="1900238"/>
            <a:chOff x="533400" y="3654742"/>
            <a:chExt cx="5410200" cy="1900238"/>
          </a:xfrm>
        </p:grpSpPr>
        <p:sp>
          <p:nvSpPr>
            <p:cNvPr id="14" name="Rectangle 14"/>
            <p:cNvSpPr/>
            <p:nvPr/>
          </p:nvSpPr>
          <p:spPr>
            <a:xfrm>
              <a:off x="533400" y="3654742"/>
              <a:ext cx="5410200" cy="1900238"/>
            </a:xfrm>
            <a:prstGeom prst="roundRect">
              <a:avLst>
                <a:gd name="adj" fmla="val 70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788092"/>
              <a:ext cx="47625" cy="16335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83571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5147" y="38685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8450" y="3875246"/>
              <a:ext cx="2169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比较包装类的值要用 equals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4191476"/>
              <a:ext cx="476336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Integer.valueOf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只缓存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-128 到 127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，超出这个范围每次都新建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对象。用 == 比较大于 127 的两个 Integer 会得到 false，这不是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玄学，是享元池的边界。</a:t>
              </a:r>
            </a:p>
          </p:txBody>
        </p:sp>
      </p:grpSp>
      <p:grpSp>
        <p:nvGrpSpPr>
          <p:cNvPr id="32" name="c2-kv-1"/>
          <p:cNvGrpSpPr/>
          <p:nvPr/>
        </p:nvGrpSpPr>
        <p:grpSpPr>
          <a:xfrm>
            <a:off x="6241923" y="1949291"/>
            <a:ext cx="5416677" cy="2330577"/>
            <a:chOff x="6241923" y="1949291"/>
            <a:chExt cx="5416677" cy="2330577"/>
          </a:xfrm>
        </p:grpSpPr>
        <p:sp>
          <p:nvSpPr>
            <p:cNvPr id="21" name="TextBox 21"/>
            <p:cNvSpPr txBox="1"/>
            <p:nvPr/>
          </p:nvSpPr>
          <p:spPr>
            <a:xfrm>
              <a:off x="6241923" y="1949291"/>
              <a:ext cx="1199236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Integer / Long</a:t>
              </a:r>
              <a:br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/ Short / Byte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56398" y="1949291"/>
              <a:ext cx="35486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valueOf 缓存 -128 到 127，Integer 的上界可用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启动参数调高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248400" y="24612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41923" y="2563654"/>
              <a:ext cx="100294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Character /</a:t>
              </a:r>
              <a:br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Boolean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56398" y="2563654"/>
              <a:ext cx="3516122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Character 缓存 0 到 127 的字符，Boolean 只有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 和 FALSE 两个常量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48400" y="30746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41923" y="31770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编辑器软件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56398" y="3177064"/>
              <a:ext cx="358927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同一张图片在文档里出现多次，只创建一个图片对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象，各处记自己的位置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48400" y="36890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41923" y="37904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游戏地图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56398" y="3790474"/>
              <a:ext cx="358927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几万块草地瓦片共用一个瓦片对象，坐标由地图数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组保存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248400" y="4394835"/>
            <a:ext cx="5410200" cy="1160145"/>
            <a:chOff x="6248400" y="4394835"/>
            <a:chExt cx="5410200" cy="1160145"/>
          </a:xfrm>
        </p:grpSpPr>
        <p:sp>
          <p:nvSpPr>
            <p:cNvPr id="33" name="Rectangle 33"/>
            <p:cNvSpPr/>
            <p:nvPr/>
          </p:nvSpPr>
          <p:spPr>
            <a:xfrm>
              <a:off x="6248400" y="4394835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4528185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67475" y="457581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56096" y="460867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共同点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58228" y="461533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这些享元池都藏在一个静态工厂方法后面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60998" y="4931569"/>
              <a:ext cx="47028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Integer.valueOf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Boolean.valueOf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String.intern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都是静态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方法，调用者拿不到构造器，就没机会绕过池子。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0" name="Rectangle 4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1273" y="6039326"/>
              <a:ext cx="70031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看到一个类的构造器被藏起来、只留 valueOf 或 getInstance，先想它背后是不是有个池。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469130" cy="2997517"/>
            <a:chOff x="667512" y="1835468"/>
            <a:chExt cx="446913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模式扩展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去掉非共享享元，或者把单纯享元再组合起来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单纯享元模式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复合享元模式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与其他模式的联用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0114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4083" y="407194"/>
              <a:ext cx="13197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模式扩展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扩展一：单纯享元模式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669280" cy="293370"/>
            <a:chOff x="525780" y="1548765"/>
            <a:chExt cx="566928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所有抽象享元类的子类都可以共享，不存在非共享具体享元类。</a:t>
              </a:r>
            </a:p>
          </p:txBody>
        </p:sp>
      </p:grpSp>
      <p:grpSp>
        <p:nvGrpSpPr>
          <p:cNvPr id="36" name="c1-uml-1"/>
          <p:cNvGrpSpPr/>
          <p:nvPr/>
        </p:nvGrpSpPr>
        <p:grpSpPr>
          <a:xfrm>
            <a:off x="796290" y="2055495"/>
            <a:ext cx="4055650" cy="1793558"/>
            <a:chOff x="796290" y="2055495"/>
            <a:chExt cx="4055650" cy="1793558"/>
          </a:xfrm>
        </p:grpSpPr>
        <p:sp>
          <p:nvSpPr>
            <p:cNvPr id="9" name="Freeform 9"/>
            <p:cNvSpPr/>
            <p:nvPr/>
          </p:nvSpPr>
          <p:spPr>
            <a:xfrm>
              <a:off x="2807018" y="2453640"/>
              <a:ext cx="414338" cy="9525"/>
            </a:xfrm>
            <a:custGeom>
              <a:avLst/>
              <a:gdLst/>
              <a:ahLst/>
              <a:cxnLst/>
              <a:rect l="l" t="t" r="r" b="b"/>
              <a:pathLst>
                <a:path w="414338" h="9525">
                  <a:moveTo>
                    <a:pt x="41433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597468" y="2395538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023360" y="2963228"/>
              <a:ext cx="9525" cy="90488"/>
            </a:xfrm>
            <a:custGeom>
              <a:avLst/>
              <a:gdLst/>
              <a:ahLst/>
              <a:cxnLst/>
              <a:rect l="l" t="t" r="r" b="b"/>
              <a:pathLst>
                <a:path w="9525" h="90488">
                  <a:moveTo>
                    <a:pt x="0" y="9048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3950018" y="283749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96290" y="2055495"/>
              <a:ext cx="1801178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02958" y="2063115"/>
              <a:ext cx="1786890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96290" y="2304098"/>
              <a:ext cx="180117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96290" y="2575560"/>
              <a:ext cx="180117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221355" y="2068830"/>
              <a:ext cx="1602105" cy="7686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228975" y="2076450"/>
              <a:ext cx="1587818" cy="39433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221355" y="2466022"/>
              <a:ext cx="160210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221355" y="2561272"/>
              <a:ext cx="160210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218498" y="3053715"/>
              <a:ext cx="1608772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226118" y="3060382"/>
              <a:ext cx="1594485" cy="24574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218498" y="3302318"/>
              <a:ext cx="160877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218498" y="3572828"/>
              <a:ext cx="160877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5827" y="2115502"/>
              <a:ext cx="12811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FlyweightFactory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7537" y="2375059"/>
              <a:ext cx="1169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flyweights: Map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7537" y="2646521"/>
              <a:ext cx="17673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getFlyweight(String key)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67239" y="2125980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70783" y="2277428"/>
              <a:ext cx="7051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Flyweight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92602" y="2632234"/>
              <a:ext cx="15516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operation(String ext)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41960" y="3113723"/>
              <a:ext cx="13628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ConcreteFlyweight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89744" y="3373279"/>
              <a:ext cx="15621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intrinsicState: String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89744" y="3643789"/>
              <a:ext cx="15516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operation(String ext)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515552" y="2237422"/>
              <a:ext cx="78867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537041" y="2264092"/>
              <a:ext cx="7456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flyweights</a:t>
              </a:r>
            </a:p>
          </p:txBody>
        </p:sp>
      </p:grpSp>
      <p:grpSp>
        <p:nvGrpSpPr>
          <p:cNvPr id="43" name="c1-callout-2"/>
          <p:cNvGrpSpPr/>
          <p:nvPr/>
        </p:nvGrpSpPr>
        <p:grpSpPr>
          <a:xfrm>
            <a:off x="533400" y="4135755"/>
            <a:ext cx="4652962" cy="1532572"/>
            <a:chOff x="533400" y="4135755"/>
            <a:chExt cx="4652962" cy="1532572"/>
          </a:xfrm>
        </p:grpSpPr>
        <p:sp>
          <p:nvSpPr>
            <p:cNvPr id="37" name="Rectangle 37"/>
            <p:cNvSpPr/>
            <p:nvPr/>
          </p:nvSpPr>
          <p:spPr>
            <a:xfrm>
              <a:off x="533400" y="4135755"/>
              <a:ext cx="4652962" cy="1532572"/>
            </a:xfrm>
            <a:prstGeom prst="roundRect">
              <a:avLst>
                <a:gd name="adj" fmla="val 745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4801553"/>
              <a:ext cx="200026" cy="200026"/>
              <a:chOff x="738188" y="4801553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48015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48682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27088" y="49015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511" y="4670584"/>
              <a:ext cx="339585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与标准结构的唯一差别，是右下角的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UnsharedConcreteFlyweight 被去掉了。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5491162" y="1954530"/>
            <a:ext cx="6167438" cy="1293495"/>
            <a:chOff x="5491162" y="1954530"/>
            <a:chExt cx="6167438" cy="1293495"/>
          </a:xfrm>
        </p:grpSpPr>
        <p:sp>
          <p:nvSpPr>
            <p:cNvPr id="44" name="Rectangle 44"/>
            <p:cNvSpPr/>
            <p:nvPr/>
          </p:nvSpPr>
          <p:spPr>
            <a:xfrm>
              <a:off x="5491162" y="1954530"/>
              <a:ext cx="6167438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500688" y="208788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733098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823306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33554" y="219789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单纯享元模式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725858" y="2550319"/>
              <a:ext cx="54246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在单纯享元模式中，所有的享元对象都是可以共享的，即所有抽象享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元类的子类都可共享，不存在非共享具体享元类。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5491162" y="3432810"/>
            <a:ext cx="6167438" cy="1293495"/>
            <a:chOff x="5491162" y="3432810"/>
            <a:chExt cx="6167438" cy="1293495"/>
          </a:xfrm>
        </p:grpSpPr>
        <p:sp>
          <p:nvSpPr>
            <p:cNvPr id="51" name="Rectangle 51"/>
            <p:cNvSpPr/>
            <p:nvPr/>
          </p:nvSpPr>
          <p:spPr>
            <a:xfrm>
              <a:off x="5491162" y="3432810"/>
              <a:ext cx="6167438" cy="1293495"/>
            </a:xfrm>
            <a:prstGeom prst="roundRect">
              <a:avLst>
                <a:gd name="adj" fmla="val 10309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694998" y="363664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759602" y="367236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什么时候是这一种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48894" y="367712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内部状态能覆盖全部差异时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87758" y="4028599"/>
              <a:ext cx="54246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对象的差别全落在几个可枚举的内部状态上，就没有哪个子类需要独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占。前面的 String 常量池、Integer 缓存都属于单纯享元。</a:t>
              </a:r>
            </a:p>
          </p:txBody>
        </p:sp>
      </p:grpSp>
      <p:grpSp>
        <p:nvGrpSpPr>
          <p:cNvPr id="63" name="c2-callout-3"/>
          <p:cNvGrpSpPr/>
          <p:nvPr/>
        </p:nvGrpSpPr>
        <p:grpSpPr>
          <a:xfrm>
            <a:off x="5491162" y="4912042"/>
            <a:ext cx="6167438" cy="756285"/>
            <a:chOff x="5491162" y="4912042"/>
            <a:chExt cx="6167438" cy="756285"/>
          </a:xfrm>
        </p:grpSpPr>
        <p:sp>
          <p:nvSpPr>
            <p:cNvPr id="57" name="Rectangle 57"/>
            <p:cNvSpPr/>
            <p:nvPr/>
          </p:nvSpPr>
          <p:spPr>
            <a:xfrm>
              <a:off x="5491162" y="4912042"/>
              <a:ext cx="6167438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5695950" y="5190173"/>
              <a:ext cx="200026" cy="200026"/>
              <a:chOff x="5695950" y="5190173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5695950" y="51901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5795963" y="52568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5784850" y="52901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5998274" y="5059204"/>
              <a:ext cx="524433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某个子类的对象个个不同，或粒度大到共享没有意义，就做成非共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享具体享元，工厂照样创建，只是不进池。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4" name="Rectangle 6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511" y="6004084"/>
              <a:ext cx="53860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考试里“享元模式一定有四个角色”是错的，单纯享元只有三个。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0114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4083" y="407194"/>
              <a:ext cx="13197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模式扩展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扩展二：复合享元模式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374511" cy="264033"/>
            <a:chOff x="526542" y="1545907"/>
            <a:chExt cx="637451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把一些单纯享元用组合模式装起来，就能一次给一组享元设置相同的外部状态。</a:t>
              </a:r>
            </a:p>
          </p:txBody>
        </p:sp>
      </p:grpSp>
      <p:grpSp>
        <p:nvGrpSpPr>
          <p:cNvPr id="49" name="c1-uml-1"/>
          <p:cNvGrpSpPr/>
          <p:nvPr/>
        </p:nvGrpSpPr>
        <p:grpSpPr>
          <a:xfrm>
            <a:off x="741045" y="2144078"/>
            <a:ext cx="5768340" cy="1991676"/>
            <a:chOff x="741045" y="2144078"/>
            <a:chExt cx="5768340" cy="1991676"/>
          </a:xfrm>
        </p:grpSpPr>
        <p:sp>
          <p:nvSpPr>
            <p:cNvPr id="9" name="Freeform 9"/>
            <p:cNvSpPr/>
            <p:nvPr/>
          </p:nvSpPr>
          <p:spPr>
            <a:xfrm>
              <a:off x="2483168" y="2497455"/>
              <a:ext cx="288608" cy="9525"/>
            </a:xfrm>
            <a:custGeom>
              <a:avLst/>
              <a:gdLst/>
              <a:ahLst/>
              <a:cxnLst/>
              <a:rect l="l" t="t" r="r" b="b"/>
              <a:pathLst>
                <a:path w="288608" h="9525">
                  <a:moveTo>
                    <a:pt x="28860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273618" y="2439352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8102"/>
                  </a:moveTo>
                  <a:lnTo>
                    <a:pt x="104775" y="0"/>
                  </a:lnTo>
                  <a:lnTo>
                    <a:pt x="209550" y="58102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506855" y="2964180"/>
              <a:ext cx="1852612" cy="317183"/>
            </a:xfrm>
            <a:custGeom>
              <a:avLst/>
              <a:gdLst/>
              <a:ahLst/>
              <a:cxnLst/>
              <a:rect l="l" t="t" r="r" b="b"/>
              <a:pathLst>
                <a:path w="1852612" h="317183">
                  <a:moveTo>
                    <a:pt x="0" y="317183"/>
                  </a:moveTo>
                  <a:lnTo>
                    <a:pt x="0" y="95250"/>
                  </a:lnTo>
                  <a:lnTo>
                    <a:pt x="1852612" y="95250"/>
                  </a:lnTo>
                  <a:lnTo>
                    <a:pt x="185261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3286125" y="283845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549968" y="2964180"/>
              <a:ext cx="1852613" cy="168592"/>
            </a:xfrm>
            <a:custGeom>
              <a:avLst/>
              <a:gdLst/>
              <a:ahLst/>
              <a:cxnLst/>
              <a:rect l="l" t="t" r="r" b="b"/>
              <a:pathLst>
                <a:path w="1852613" h="168592">
                  <a:moveTo>
                    <a:pt x="1852613" y="168592"/>
                  </a:moveTo>
                  <a:lnTo>
                    <a:pt x="1852613" y="20955"/>
                  </a:lnTo>
                  <a:lnTo>
                    <a:pt x="0" y="2095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3476625" y="283845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137660" y="2497455"/>
              <a:ext cx="2371725" cy="1136332"/>
            </a:xfrm>
            <a:custGeom>
              <a:avLst/>
              <a:gdLst/>
              <a:ahLst/>
              <a:cxnLst/>
              <a:rect l="l" t="t" r="r" b="b"/>
              <a:pathLst>
                <a:path w="2371725" h="1136332">
                  <a:moveTo>
                    <a:pt x="0" y="0"/>
                  </a:moveTo>
                  <a:lnTo>
                    <a:pt x="209550" y="0"/>
                  </a:lnTo>
                  <a:lnTo>
                    <a:pt x="2122170" y="0"/>
                  </a:lnTo>
                  <a:lnTo>
                    <a:pt x="2122170" y="567690"/>
                  </a:lnTo>
                  <a:lnTo>
                    <a:pt x="2122170" y="1136332"/>
                  </a:lnTo>
                  <a:lnTo>
                    <a:pt x="2371725" y="1136332"/>
                  </a:lnTo>
                  <a:lnTo>
                    <a:pt x="2371725" y="1136332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299835" y="3576638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41045" y="2144078"/>
              <a:ext cx="1532572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48665" y="2151698"/>
              <a:ext cx="151828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41045" y="2356485"/>
              <a:ext cx="153257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41045" y="2601278"/>
              <a:ext cx="153257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771775" y="2156460"/>
              <a:ext cx="1365885" cy="68199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779395" y="2163128"/>
              <a:ext cx="1351598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771775" y="2494598"/>
              <a:ext cx="136588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771775" y="2589848"/>
              <a:ext cx="136588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22008" y="3281362"/>
              <a:ext cx="1370648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28675" y="3288982"/>
              <a:ext cx="1356360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22008" y="3493770"/>
              <a:ext cx="137064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22008" y="3737610"/>
              <a:ext cx="137064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505325" y="3132772"/>
              <a:ext cx="1795462" cy="100298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11992" y="3139440"/>
              <a:ext cx="1781175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505325" y="3345180"/>
              <a:ext cx="179546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505325" y="3589020"/>
              <a:ext cx="179546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7599" y="2195512"/>
              <a:ext cx="10985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FlyweightFactory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2482" y="2424589"/>
              <a:ext cx="97962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flyweights: Map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2482" y="2669381"/>
              <a:ext cx="14800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getFlyweight(String key)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57156" y="2205038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52318" y="2333625"/>
              <a:ext cx="604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Flyweight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43212" y="2657951"/>
              <a:ext cx="12995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operation(String ext)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2607" y="3332798"/>
              <a:ext cx="11684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ConcreteFlyweight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3445" y="3561874"/>
              <a:ext cx="13083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intrinsicState: String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3445" y="3805714"/>
              <a:ext cx="12995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operation(String ext)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04691" y="3184208"/>
              <a:ext cx="17957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CompositeConcreteFlyweight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76762" y="3413284"/>
              <a:ext cx="16291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flyweights: List&lt;Flyweight&gt;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76762" y="3657124"/>
              <a:ext cx="1222756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operation(String ext)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add(Flyweight f)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remove(Flyweight f)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178368" y="2301240"/>
              <a:ext cx="68961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203399" y="2324100"/>
              <a:ext cx="6395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flyweights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912995" y="2301240"/>
              <a:ext cx="7810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935284" y="232410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一组单纯享元</a:t>
              </a:r>
            </a:p>
          </p:txBody>
        </p:sp>
      </p:grpSp>
      <p:grpSp>
        <p:nvGrpSpPr>
          <p:cNvPr id="55" name="c1-kv-2"/>
          <p:cNvGrpSpPr/>
          <p:nvPr/>
        </p:nvGrpSpPr>
        <p:grpSpPr>
          <a:xfrm>
            <a:off x="526542" y="4394835"/>
            <a:ext cx="5849493" cy="909828"/>
            <a:chOff x="526542" y="4394835"/>
            <a:chExt cx="5849493" cy="909828"/>
          </a:xfrm>
        </p:grpSpPr>
        <p:sp>
          <p:nvSpPr>
            <p:cNvPr id="50" name="TextBox 50"/>
            <p:cNvSpPr txBox="1"/>
            <p:nvPr/>
          </p:nvSpPr>
          <p:spPr>
            <a:xfrm>
              <a:off x="526542" y="439483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对上组合模式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845754" y="4394835"/>
              <a:ext cx="417995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Flyweight 相当于抽象构件，ConcreteFlyweight 是叶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子，复合享元是容器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49349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6542" y="504063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那条聚合线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845754" y="5040630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从复合享元指回抽象享元，空心菱形在复合享元这一端</a:t>
              </a:r>
            </a:p>
          </p:txBody>
        </p:sp>
      </p:grpSp>
      <p:grpSp>
        <p:nvGrpSpPr>
          <p:cNvPr id="62" name="c2-card-1"/>
          <p:cNvGrpSpPr/>
          <p:nvPr/>
        </p:nvGrpSpPr>
        <p:grpSpPr>
          <a:xfrm>
            <a:off x="6680835" y="1928812"/>
            <a:ext cx="4977765" cy="1459230"/>
            <a:chOff x="6680835" y="1928812"/>
            <a:chExt cx="4977765" cy="1459230"/>
          </a:xfrm>
        </p:grpSpPr>
        <p:sp>
          <p:nvSpPr>
            <p:cNvPr id="56" name="Rectangle 56"/>
            <p:cNvSpPr/>
            <p:nvPr/>
          </p:nvSpPr>
          <p:spPr>
            <a:xfrm>
              <a:off x="6680835" y="1928812"/>
              <a:ext cx="4977765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90360" y="2062162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905625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98297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72172" y="215074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复合享元模式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98767" y="2476500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将一些单纯享元使用组合模式加以组合，形成复合享元对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象。希望为多个内部状态不同的享元设置相同的外部状态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时，可以考虑复合享元模式。</a:t>
              </a:r>
            </a:p>
          </p:txBody>
        </p:sp>
      </p:grpSp>
      <p:grpSp>
        <p:nvGrpSpPr>
          <p:cNvPr id="68" name="c2-card-2"/>
          <p:cNvGrpSpPr/>
          <p:nvPr/>
        </p:nvGrpSpPr>
        <p:grpSpPr>
          <a:xfrm>
            <a:off x="6680835" y="3558540"/>
            <a:ext cx="4977765" cy="1202055"/>
            <a:chOff x="6680835" y="3558540"/>
            <a:chExt cx="4977765" cy="1202055"/>
          </a:xfrm>
        </p:grpSpPr>
        <p:sp>
          <p:nvSpPr>
            <p:cNvPr id="63" name="Rectangle 63"/>
            <p:cNvSpPr/>
            <p:nvPr/>
          </p:nvSpPr>
          <p:spPr>
            <a:xfrm>
              <a:off x="6680835" y="3558540"/>
              <a:ext cx="4977765" cy="1202055"/>
            </a:xfrm>
            <a:prstGeom prst="roundRect">
              <a:avLst>
                <a:gd name="adj" fmla="val 1109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867525" y="374523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960197" y="37780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用法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34072" y="377952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一次调用，外部状态传给整组享元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860667" y="4106227"/>
              <a:ext cx="40856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operation(ext)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遍历自己持有的单纯享元，把同一个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ext 逐个传下去。</a:t>
              </a:r>
            </a:p>
          </p:txBody>
        </p:sp>
      </p:grpSp>
      <p:grpSp>
        <p:nvGrpSpPr>
          <p:cNvPr id="75" name="c2-callout-3"/>
          <p:cNvGrpSpPr/>
          <p:nvPr/>
        </p:nvGrpSpPr>
        <p:grpSpPr>
          <a:xfrm>
            <a:off x="6680835" y="4930140"/>
            <a:ext cx="4977765" cy="729615"/>
            <a:chOff x="6680835" y="4930140"/>
            <a:chExt cx="4977765" cy="729615"/>
          </a:xfrm>
        </p:grpSpPr>
        <p:sp>
          <p:nvSpPr>
            <p:cNvPr id="69" name="Rectangle 69"/>
            <p:cNvSpPr/>
            <p:nvPr/>
          </p:nvSpPr>
          <p:spPr>
            <a:xfrm>
              <a:off x="6680835" y="4930140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873564" y="5191243"/>
              <a:ext cx="224134" cy="192560"/>
              <a:chOff x="6873564" y="5191243"/>
              <a:chExt cx="224134" cy="19256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985635" y="52616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873564" y="51912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985635" y="53393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7188327" y="5076825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复合享元持有哪几个单纯享元随组装场合而变，它本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身是非共享的，不进享元池。</a:t>
              </a:r>
            </a:p>
          </p:txBody>
        </p:sp>
      </p:grpSp>
      <p:grpSp>
        <p:nvGrpSpPr>
          <p:cNvPr id="8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6" name="Rectangle 7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040892" y="6028373"/>
              <a:ext cx="6501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这里用到的组合模式在第 22 讲，聚合线指回抽象享元的写法与那一讲完全一样。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0114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4083" y="407194"/>
              <a:ext cx="13197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模式扩展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享元模式常和谁一起出现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011930" cy="264033"/>
            <a:chOff x="526542" y="1545907"/>
            <a:chExt cx="401193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享元工厂这个角色，天然要用到简单工厂和单例。</a:t>
              </a:r>
            </a:p>
          </p:txBody>
        </p:sp>
      </p:grpSp>
      <p:grpSp>
        <p:nvGrpSpPr>
          <p:cNvPr id="17" name="c1-kv-1"/>
          <p:cNvGrpSpPr/>
          <p:nvPr/>
        </p:nvGrpSpPr>
        <p:grpSpPr>
          <a:xfrm>
            <a:off x="526542" y="1950720"/>
            <a:ext cx="5092256" cy="1809940"/>
            <a:chOff x="526542" y="1950720"/>
            <a:chExt cx="5092256" cy="1809940"/>
          </a:xfrm>
        </p:grpSpPr>
        <p:sp>
          <p:nvSpPr>
            <p:cNvPr id="9" name="TextBox 9"/>
            <p:cNvSpPr txBox="1"/>
            <p:nvPr/>
          </p:nvSpPr>
          <p:spPr>
            <a:xfrm>
              <a:off x="526542" y="1950720"/>
              <a:ext cx="10424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简单工厂（第</a:t>
              </a:r>
              <a:br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讲）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48612" y="1950720"/>
              <a:ext cx="34427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享元工厂类通常提供一个静态的工厂方法用于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返回享元对象，用简单工厂来生成享元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49078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542" y="2597468"/>
              <a:ext cx="95154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单例（第 15</a:t>
              </a:r>
              <a:br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讲）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48612" y="2597468"/>
              <a:ext cx="34427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一个系统中通常只有唯一一个享元工厂，因此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享元工厂类可以使用单例模式设计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137535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542" y="3243262"/>
              <a:ext cx="95154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组合（第 22</a:t>
              </a:r>
              <a:br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讲）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48612" y="3243262"/>
              <a:ext cx="34427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结合组合模式形成复合享元模式，统一对一组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享元对象设置外部状态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877628"/>
            <a:ext cx="5085398" cy="1742122"/>
            <a:chOff x="533400" y="3877628"/>
            <a:chExt cx="5085398" cy="1742122"/>
          </a:xfrm>
        </p:grpSpPr>
        <p:sp>
          <p:nvSpPr>
            <p:cNvPr id="18" name="Rectangle 18"/>
            <p:cNvSpPr/>
            <p:nvPr/>
          </p:nvSpPr>
          <p:spPr>
            <a:xfrm>
              <a:off x="533400" y="3877628"/>
              <a:ext cx="5085398" cy="1742122"/>
            </a:xfrm>
            <a:prstGeom prst="roundRect">
              <a:avLst>
                <a:gd name="adj" fmla="val 76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010978"/>
              <a:ext cx="47625" cy="147542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8190" y="406431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759" y="409717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还可以配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73340" y="409956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代理与状态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1332" y="4425315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代理模式的具体代理类做成享元，多个客户端可以共用同一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个代理；无状态的策略、状态对象也常常做成享元，因为它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们根本没有内部状态要区分。</a:t>
              </a:r>
            </a:p>
          </p:txBody>
        </p:sp>
      </p:grpSp>
      <p:grpSp>
        <p:nvGrpSpPr>
          <p:cNvPr id="29" name="c2-code-1"/>
          <p:cNvGrpSpPr/>
          <p:nvPr/>
        </p:nvGrpSpPr>
        <p:grpSpPr>
          <a:xfrm>
            <a:off x="5923598" y="1928812"/>
            <a:ext cx="5735002" cy="2791778"/>
            <a:chOff x="5923598" y="1928812"/>
            <a:chExt cx="5735002" cy="2791778"/>
          </a:xfrm>
        </p:grpSpPr>
        <p:sp>
          <p:nvSpPr>
            <p:cNvPr id="25" name="Rectangle 25"/>
            <p:cNvSpPr/>
            <p:nvPr/>
          </p:nvSpPr>
          <p:spPr>
            <a:xfrm>
              <a:off x="5923598" y="1928812"/>
              <a:ext cx="5735002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51994" y="2080736"/>
              <a:ext cx="15158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单例 + 简单工厂 + 享元池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942648" y="3007042"/>
              <a:ext cx="569690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51994" y="2340769"/>
              <a:ext cx="4459351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FlyweightFactory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FlyweightFactory INSTANCE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FlyweightFactory();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Map&lt;String, Flyweight&gt; pool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HashMap&lt;&gt;();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FlyweightFactory() { }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构造器私有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FlyweightFactory getInstance()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INSTANCE;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静态工厂方法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Flyweight getFlyweight(String key)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pool.computeIfAbsent(key, ConcreteFlyweight::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6" name="c2-callout-2"/>
          <p:cNvGrpSpPr/>
          <p:nvPr/>
        </p:nvGrpSpPr>
        <p:grpSpPr>
          <a:xfrm>
            <a:off x="5923598" y="4890135"/>
            <a:ext cx="5735002" cy="729615"/>
            <a:chOff x="5923598" y="4890135"/>
            <a:chExt cx="5735002" cy="729615"/>
          </a:xfrm>
        </p:grpSpPr>
        <p:sp>
          <p:nvSpPr>
            <p:cNvPr id="30" name="Rectangle 30"/>
            <p:cNvSpPr/>
            <p:nvPr/>
          </p:nvSpPr>
          <p:spPr>
            <a:xfrm>
              <a:off x="5923598" y="4890135"/>
              <a:ext cx="573500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128385" y="5154930"/>
              <a:ext cx="200026" cy="200025"/>
              <a:chOff x="6128385" y="5154930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128385" y="51549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168124" y="51993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202839" y="53105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431089" y="5036820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三个模式各管一件事：单例管工厂只有一个，简单工厂管怎么拿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到工厂，享元池管对象只造一次。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7" name="Rectangle 3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892" y="6028373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享元工厂常做成单例，但享元对象本身不是单例，同一个类可以有很多个内部状态不同的享元。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913632" cy="2997517"/>
            <a:chOff x="667512" y="1835468"/>
            <a:chExt cx="391363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效果、适用与辨析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省下的内存值不值这份复杂度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优缺点与适用环境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享元为什么必须不可变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与单例原型对象池的区别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优点：把对象数量压到内部状态的种类数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bullets-1"/>
          <p:cNvGrpSpPr/>
          <p:nvPr/>
        </p:nvGrpSpPr>
        <p:grpSpPr>
          <a:xfrm>
            <a:off x="533400" y="1548765"/>
            <a:ext cx="5657024" cy="2452974"/>
            <a:chOff x="533400" y="1548765"/>
            <a:chExt cx="5657024" cy="2452974"/>
          </a:xfrm>
        </p:grpSpPr>
        <p:sp>
          <p:nvSpPr>
            <p:cNvPr id="7" name="Freeform 7"/>
            <p:cNvSpPr/>
            <p:nvPr/>
          </p:nvSpPr>
          <p:spPr>
            <a:xfrm>
              <a:off x="533400" y="1580198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3908" y="154876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极大减少内存中对象的数量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91528" y="191547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75550" y="1842611"/>
              <a:ext cx="5214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相同或相似对象在内存中只保存一份，节约系统资源，提高系统性能。省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下的比例随使用次数增长，用得越多越划算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33400" y="2418398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3908" y="238696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外部状态相对独立，不影响内部状态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91528" y="275367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75550" y="2679859"/>
              <a:ext cx="5214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享元对象因此可以在不同的环境中被共享，同一个字符对象可以同时是红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色五号和绿色四号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33400" y="3256598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0960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3908" y="322421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对象的创建次数也跟着降下来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91528" y="359092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75550" y="3518059"/>
              <a:ext cx="5214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第二次之后全是查表返回，省掉的不只是内存，还有构造对象和垃圾回收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的时间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142422"/>
            <a:ext cx="5951220" cy="1335405"/>
            <a:chOff x="533400" y="4142422"/>
            <a:chExt cx="5951220" cy="1335405"/>
          </a:xfrm>
        </p:grpSpPr>
        <p:sp>
          <p:nvSpPr>
            <p:cNvPr id="20" name="Rectangle 20"/>
            <p:cNvSpPr/>
            <p:nvPr/>
          </p:nvSpPr>
          <p:spPr>
            <a:xfrm>
              <a:off x="533400" y="4142422"/>
              <a:ext cx="5951220" cy="1335405"/>
            </a:xfrm>
            <a:prstGeom prst="roundRect">
              <a:avLst>
                <a:gd name="adj" fmla="val 998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42950" y="435197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3158" y="43876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43978" y="438721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对象数的上界就是内部状态的种类数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5330" y="4748212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与调用了多少次无关。棋子只有黑白两种，不管棋盘上落了多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少子，棋子对象永远是两个。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789420" y="1524000"/>
            <a:ext cx="4869180" cy="1621155"/>
            <a:chOff x="6789420" y="1524000"/>
            <a:chExt cx="4869180" cy="1621155"/>
          </a:xfrm>
        </p:grpSpPr>
        <p:sp>
          <p:nvSpPr>
            <p:cNvPr id="26" name="Rectangle 26"/>
            <p:cNvSpPr/>
            <p:nvPr/>
          </p:nvSpPr>
          <p:spPr>
            <a:xfrm>
              <a:off x="6789420" y="1524000"/>
              <a:ext cx="4869180" cy="1621155"/>
            </a:xfrm>
            <a:prstGeom prst="roundRect">
              <a:avLst>
                <a:gd name="adj" fmla="val 822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99897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8127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落到原则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83842" y="176879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它把变化的部分挪到了参数上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91350" y="212979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享元模式没有新增继承层次，也没有改变调用接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口，它只做了一件事：把对象里随环境变化的字段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搬到方法参数上，使剩下的部分可以共享。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789420" y="3335655"/>
            <a:ext cx="4869180" cy="2142172"/>
            <a:chOff x="6789420" y="3335655"/>
            <a:chExt cx="4869180" cy="2142172"/>
          </a:xfrm>
        </p:grpSpPr>
        <p:sp>
          <p:nvSpPr>
            <p:cNvPr id="32" name="Rectangle 32"/>
            <p:cNvSpPr/>
            <p:nvPr/>
          </p:nvSpPr>
          <p:spPr>
            <a:xfrm>
              <a:off x="6789420" y="3335655"/>
              <a:ext cx="4869180" cy="2142172"/>
            </a:xfrm>
            <a:prstGeom prst="roundRect">
              <a:avLst>
                <a:gd name="adj" fmla="val 62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98945" y="3469005"/>
              <a:ext cx="47625" cy="18754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037070" y="354520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19379" y="35809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注意范围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21942" y="358044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省的是内存，不是运行时间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29450" y="3941445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享元不会让程序变快。查池、传外部状态都是额外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开销，它换来的只有内存和对象个数，下一页的缺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点里会再说一次。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9" name="Rectangle 3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991225"/>
              <a:ext cx="6073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优点只有一条真正成立的：对象变少了。其余都是由它派生出来的。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缺点与适用环境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483995"/>
            <a:chOff x="533400" y="1524000"/>
            <a:chExt cx="5410200" cy="14839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344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0947" y="175641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程序的逻辑复杂化了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享元模式使得系统变得复杂，需要分离出内部状态和外部状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态。原本一个类装得下的东西，现在拆成了享元类、享元池、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外部状态三处，调试时要同时看三处。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183255"/>
            <a:ext cx="5410200" cy="1483995"/>
            <a:chOff x="533400" y="3183255"/>
            <a:chExt cx="5410200" cy="1483995"/>
          </a:xfrm>
        </p:grpSpPr>
        <p:sp>
          <p:nvSpPr>
            <p:cNvPr id="14" name="Rectangle 14"/>
            <p:cNvSpPr/>
            <p:nvPr/>
          </p:nvSpPr>
          <p:spPr>
            <a:xfrm>
              <a:off x="533400" y="3183255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31660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337566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1344" y="34099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80947" y="341566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读取外部状态使运行时间变长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3749040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为了让对象可以共享，享元模式把享元对象的部分状态外部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化，而每次调用都要把外部状态传进来、读出来，这部分时间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是白加的。</a:t>
              </a:r>
            </a:p>
          </p:txBody>
        </p:sp>
      </p:grpSp>
      <p:grpSp>
        <p:nvGrpSpPr>
          <p:cNvPr id="27" name="c1-callout-3"/>
          <p:cNvGrpSpPr/>
          <p:nvPr/>
        </p:nvGrpSpPr>
        <p:grpSpPr>
          <a:xfrm>
            <a:off x="533400" y="4842510"/>
            <a:ext cx="5410200" cy="729615"/>
            <a:chOff x="533400" y="4842510"/>
            <a:chExt cx="5410200" cy="729615"/>
          </a:xfrm>
        </p:grpSpPr>
        <p:sp>
          <p:nvSpPr>
            <p:cNvPr id="21" name="Rectangle 21"/>
            <p:cNvSpPr/>
            <p:nvPr/>
          </p:nvSpPr>
          <p:spPr>
            <a:xfrm>
              <a:off x="533400" y="484251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106353"/>
              <a:ext cx="200026" cy="200026"/>
              <a:chOff x="738188" y="5106353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1063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1730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7088" y="52063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892" y="4988242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用内存换时间的模式很多，享元是少见的反过来用时间换内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248400" y="1524000"/>
            <a:ext cx="5410200" cy="2346008"/>
            <a:chOff x="6248400" y="1524000"/>
            <a:chExt cx="5410200" cy="2346008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2346008"/>
            </a:xfrm>
            <a:prstGeom prst="roundRect">
              <a:avLst>
                <a:gd name="adj" fmla="val 56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1657350"/>
              <a:ext cx="47625" cy="20793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8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62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适用环境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29297" y="175641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三个条件同时满足才值得用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78905" y="2078355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34583" y="2116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59702" y="209073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一个系统有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大量相同或者相似的对象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，由于这类对象的大量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使用，造成内存的大量耗费。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78905" y="263747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34583" y="26768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59702" y="264985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大部分状态都可以外部化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，可以将这些外部状态传入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对象中。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78905" y="319754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34583" y="32359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59702" y="320992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多次重复使用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享元对象。维护享元池本身要耗费系统资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源，只用一两次不值得。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248400" y="4045268"/>
            <a:ext cx="5410200" cy="1525905"/>
            <a:chOff x="6248400" y="4045268"/>
            <a:chExt cx="5410200" cy="1525905"/>
          </a:xfrm>
        </p:grpSpPr>
        <p:sp>
          <p:nvSpPr>
            <p:cNvPr id="43" name="Rectangle 43"/>
            <p:cNvSpPr/>
            <p:nvPr/>
          </p:nvSpPr>
          <p:spPr>
            <a:xfrm>
              <a:off x="6248400" y="4045268"/>
              <a:ext cx="5410200" cy="1525905"/>
            </a:xfrm>
            <a:prstGeom prst="roundRect">
              <a:avLst>
                <a:gd name="adj" fmla="val 8739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40805" y="423767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32245" y="42719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24497" y="427767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什么时候别用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33947" y="461200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对象总数只有几十个、或者每个对象的状态都不一样（外部化之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后享元池里每个键都只对应一个对象），享元池就成了纯开销。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9" name="Rectangle 4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892" y="6023610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第三条最容易被忽略：享元池自己也是内存，取用次数不够多就是白建一个池子。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享元对象必须不可变，否则一改全改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665737" cy="264033"/>
            <a:chOff x="526542" y="1545907"/>
            <a:chExt cx="566573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6657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共享意味着没有“只改这一处”这回事，下面这段代码是最典型的事故。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5842635" cy="2791778"/>
            <a:chOff x="533400" y="1928812"/>
            <a:chExt cx="5842635" cy="279177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反例：内部状态可以被改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237672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4739386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Tile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Flyweight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texture;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没有 final，还有 setter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Tile(String t)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.texture = t;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setTexture(String t)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.texture = t;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operation(String pos)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System.out.println(pos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画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texture);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Tile a = (Tile) factory.getFlyweight(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"grass"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Tile b = (Tile) factory.getFlyweight(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"grass"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同一个对象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a.setTexture(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"water"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只想改 a 这一处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b.operation(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"(3,5)"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输出 (3,5) 画 water */</a:t>
              </a:r>
            </a:p>
          </p:txBody>
        </p:sp>
      </p:grpSp>
      <p:grpSp>
        <p:nvGrpSpPr>
          <p:cNvPr id="20" name="c1-callout-2"/>
          <p:cNvGrpSpPr/>
          <p:nvPr/>
        </p:nvGrpSpPr>
        <p:grpSpPr>
          <a:xfrm>
            <a:off x="533400" y="4890135"/>
            <a:ext cx="5842635" cy="729615"/>
            <a:chOff x="533400" y="4890135"/>
            <a:chExt cx="5842635" cy="729615"/>
          </a:xfrm>
        </p:grpSpPr>
        <p:sp>
          <p:nvSpPr>
            <p:cNvPr id="14" name="Rectangle 14"/>
            <p:cNvSpPr/>
            <p:nvPr/>
          </p:nvSpPr>
          <p:spPr>
            <a:xfrm>
              <a:off x="533400" y="4890135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5154930"/>
              <a:ext cx="200026" cy="200025"/>
              <a:chOff x="738188" y="5154930"/>
              <a:chExt cx="200026" cy="20002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51549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77926" y="51993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12642" y="53105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892" y="5036820"/>
              <a:ext cx="463429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String、Integer 这些标准库享元全都是不可变类，这不是巧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合。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680835" y="1928812"/>
            <a:ext cx="4977765" cy="1803082"/>
            <a:chOff x="6680835" y="1928812"/>
            <a:chExt cx="4977765" cy="1803082"/>
          </a:xfrm>
        </p:grpSpPr>
        <p:sp>
          <p:nvSpPr>
            <p:cNvPr id="21" name="Rectangle 21"/>
            <p:cNvSpPr/>
            <p:nvPr/>
          </p:nvSpPr>
          <p:spPr>
            <a:xfrm>
              <a:off x="6680835" y="1928812"/>
              <a:ext cx="4977765" cy="1803082"/>
            </a:xfrm>
            <a:prstGeom prst="roundRect">
              <a:avLst>
                <a:gd name="adj" fmla="val 739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867525" y="211550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53047" y="21483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三条规矩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82674" y="215074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写享元类时照着做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867525" y="246411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23203" y="25025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48322" y="2476500"/>
              <a:ext cx="4111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内部状态字段一律加 </a:t>
              </a: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final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，构造器里赋完就锁死。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867525" y="2764155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23203" y="28025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48322" y="2776538"/>
              <a:ext cx="391934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不提供 setter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，也不把内部可变对象的引用漏出去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（数组、List 包成不可变视图）。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867525" y="332136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23203" y="33607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48322" y="333375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外部状态只走方法参数，绝不在享元里留字段缓存。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680835" y="3901440"/>
            <a:ext cx="4977765" cy="1718310"/>
            <a:chOff x="6680835" y="3901440"/>
            <a:chExt cx="4977765" cy="1718310"/>
          </a:xfrm>
        </p:grpSpPr>
        <p:sp>
          <p:nvSpPr>
            <p:cNvPr id="35" name="Rectangle 35"/>
            <p:cNvSpPr/>
            <p:nvPr/>
          </p:nvSpPr>
          <p:spPr>
            <a:xfrm>
              <a:off x="6680835" y="3901440"/>
              <a:ext cx="4977765" cy="1718310"/>
            </a:xfrm>
            <a:prstGeom prst="roundRect">
              <a:avLst>
                <a:gd name="adj" fmla="val 7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90360" y="4034790"/>
              <a:ext cx="47625" cy="14516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05625" y="408813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91147" y="412099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线程安全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20774" y="412337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享元被多线程共用时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98767" y="4449128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享元不可变就天然线程安全。但享元池可变，多线程同时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getFlyweight 可能造出两个对象，池要用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ConcurrentHashMap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或加锁。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2" name="Rectangle 4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892" y="6028373"/>
              <a:ext cx="52113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判断一个类能不能做享元，先看它有没有 setter，有就先去掉。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与单例、对象池、原型的区别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33400" y="1524000"/>
            <a:ext cx="6167438" cy="2924176"/>
            <a:chOff x="533400" y="1524000"/>
            <a:chExt cx="6167438" cy="292417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675322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1829" y="17730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68347" y="177307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享元（本讲）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06609" y="1659731"/>
              <a:ext cx="902157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单例（第 15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讲）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33885" y="177307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44840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要解决什么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74710" y="2335054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细粒度对象太多太占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25418" y="2335054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全局只能有一个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05603" y="244840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对象创建代价高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9882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74645"/>
              <a:ext cx="616743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0103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实例个数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776412" y="2884170"/>
              <a:ext cx="183165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874710" y="301037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每种内部状态各一个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25418" y="301037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整个系统一个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05603" y="301037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池里预置若干个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9462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35723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对象状态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74710" y="3459004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内部状态不可变，外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部状态传参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25418" y="35723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通常可变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05603" y="357235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可变，归还时重置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94785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999548"/>
              <a:ext cx="616743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413432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用完之后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776412" y="4009072"/>
              <a:ext cx="183165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874710" y="413432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不用归还，一直共享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25418" y="413432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不涉及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05603" y="413432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必须归还到池里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524000"/>
              <a:ext cx="6167438" cy="2924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762125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612832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093018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llout-2"/>
          <p:cNvGrpSpPr/>
          <p:nvPr/>
        </p:nvGrpSpPr>
        <p:grpSpPr>
          <a:xfrm>
            <a:off x="533400" y="4638675"/>
            <a:ext cx="6167438" cy="990600"/>
            <a:chOff x="533400" y="4638675"/>
            <a:chExt cx="6167438" cy="990600"/>
          </a:xfrm>
        </p:grpSpPr>
        <p:sp>
          <p:nvSpPr>
            <p:cNvPr id="40" name="Rectangle 40"/>
            <p:cNvSpPr/>
            <p:nvPr/>
          </p:nvSpPr>
          <p:spPr>
            <a:xfrm>
              <a:off x="533400" y="4638675"/>
              <a:ext cx="6167438" cy="990600"/>
            </a:xfrm>
            <a:prstGeom prst="roundRect">
              <a:avLst>
                <a:gd name="adj" fmla="val 1153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033963"/>
              <a:ext cx="200026" cy="200026"/>
              <a:chOff x="738188" y="5033963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0339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51006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7088" y="51339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4891088"/>
              <a:ext cx="5101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原型模式（第 14 讲）关心怎么快速造出新对象，享元关心怎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么少造对象，方向正好相反。</a:t>
              </a:r>
            </a:p>
          </p:txBody>
        </p:sp>
      </p:grpSp>
      <p:grpSp>
        <p:nvGrpSpPr>
          <p:cNvPr id="67" name="c2-card-1"/>
          <p:cNvGrpSpPr/>
          <p:nvPr/>
        </p:nvGrpSpPr>
        <p:grpSpPr>
          <a:xfrm>
            <a:off x="7005638" y="1524000"/>
            <a:ext cx="4652962" cy="4105275"/>
            <a:chOff x="7005638" y="1524000"/>
            <a:chExt cx="4652962" cy="4105275"/>
          </a:xfrm>
        </p:grpSpPr>
        <p:sp>
          <p:nvSpPr>
            <p:cNvPr id="47" name="Rectangle 47"/>
            <p:cNvSpPr/>
            <p:nvPr/>
          </p:nvSpPr>
          <p:spPr>
            <a:xfrm>
              <a:off x="7005638" y="1524000"/>
              <a:ext cx="4652962" cy="4105275"/>
            </a:xfrm>
            <a:prstGeom prst="roundRect">
              <a:avLst>
                <a:gd name="adj" fmla="val 32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015162" y="1657350"/>
              <a:ext cx="47625" cy="38385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25328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4444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54315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这五处一考就错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253288" y="21164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15137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54278" y="212979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把享元池写成 List 按下标取。键值对集合才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能按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内部状态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直接查到对应的享元。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253288" y="273748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15137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54278" y="2750820"/>
              <a:ext cx="3558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享元类留了 setter。一处改，所有使用点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跟着变。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253288" y="335851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315137" y="34008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54278" y="337185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把外部状态存进享元对象。存进去它就不能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共享了。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253288" y="397954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315137" y="40218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54278" y="399288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以为享元必须是单例。单例的是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享元工厂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享元本身有多少种内部状态就有多少个。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253288" y="460057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315137" y="46428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554278" y="4613910"/>
              <a:ext cx="3634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把连接池、线程池当成享元。那是对象池，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借了要还；享元一直共享，没有归还这一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8" name="Rectangle 6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130" y="5991225"/>
              <a:ext cx="7547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一句话区分：单例管“只有一个”，对象池管“借了要还”，享元管“相同的只存一份”。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享元模式属于哪一类模式？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对象结构型，又称轻量级模式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内部状态存放在哪里？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享元对象内部，随对象一起被共享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享元池一般是什么结构？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存储键值对的集合，键是内部状态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能做到共享的关键是什么？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区分内部状态与外部状态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外部状态由谁保存？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客户端保存，使用时传入享元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模式的核心角色是哪个？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714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享元工厂 FlyweightFactory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答不上来的题，回到对应正文页再看一遍那张类图或那段代码。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标准结构的四个角色是？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抽象享元、具体享元、非共享享元、工厂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369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getFlyweight 的两条分支？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池里有就取出，没有就新建再存入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单纯享元与标准结构差在哪？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没有非共享具体享元类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非共享具体享元怎么得到？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直接实例化创建，不进享元池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享元最主要的缺点是什么？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逻辑复杂，读外部状态使运行变长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复合享元用到了哪个模式？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140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组合模式，见第 22 讲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58565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4 题要能说全两条：逻辑复杂化，以及读取外部状态带来的时间开销。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25 享元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2572"/>
            <a:ext cx="8307133" cy="1231202"/>
            <a:chOff x="533400" y="1532572"/>
            <a:chExt cx="8307133" cy="1231202"/>
          </a:xfrm>
        </p:grpSpPr>
        <p:sp>
          <p:nvSpPr>
            <p:cNvPr id="7" name="Ellipse 7"/>
            <p:cNvSpPr/>
            <p:nvPr/>
          </p:nvSpPr>
          <p:spPr>
            <a:xfrm>
              <a:off x="533400" y="1532572"/>
              <a:ext cx="148590" cy="14859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5334" y="156138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2858" y="1541145"/>
              <a:ext cx="6088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享元模式运用共享技术有效地支持大量细粒度对象的复用，属于对象结构型模式，又称轻量级模式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786890"/>
              <a:ext cx="148590" cy="14859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5334" y="181570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2858" y="1795462"/>
              <a:ext cx="8067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能共享的关键是区分内部状态和外部状态：内部状态不随环境改变、可共享，外部状态随环境改变、由客户端保存并在调用时传入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041207"/>
              <a:ext cx="148590" cy="14859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5334" y="2070021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858" y="2049780"/>
              <a:ext cx="6512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四个角色：抽象享元声明接口，具体享元存内部状态，非共享具体享元直接实例化，享元工厂管着享元池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295525"/>
              <a:ext cx="148590" cy="14859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5334" y="2324338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2858" y="2304098"/>
              <a:ext cx="6936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享元工厂的逻辑只有两条分支，池里有就返回已有实例，没有就新建后存入池中，同一个键永远返回同一个对象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548890"/>
              <a:ext cx="148590" cy="14859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5334" y="257865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858" y="2558415"/>
              <a:ext cx="5664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优点是对象数量降到内部状态的种类数；缺点是逻辑复杂化，读取外部状态使运行时间变长</a:t>
              </a:r>
            </a:p>
          </p:txBody>
        </p:sp>
      </p:grpSp>
      <p:grpSp>
        <p:nvGrpSpPr>
          <p:cNvPr id="43" name="c1-card-2"/>
          <p:cNvGrpSpPr/>
          <p:nvPr/>
        </p:nvGrpSpPr>
        <p:grpSpPr>
          <a:xfrm>
            <a:off x="533400" y="2887028"/>
            <a:ext cx="11125200" cy="2057400"/>
            <a:chOff x="533400" y="2887028"/>
            <a:chExt cx="11125200" cy="2057400"/>
          </a:xfrm>
        </p:grpSpPr>
        <p:sp>
          <p:nvSpPr>
            <p:cNvPr id="23" name="Rectangle 23"/>
            <p:cNvSpPr/>
            <p:nvPr/>
          </p:nvSpPr>
          <p:spPr>
            <a:xfrm>
              <a:off x="533400" y="2887028"/>
              <a:ext cx="11125200" cy="205740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020378"/>
              <a:ext cx="47625" cy="17907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2475" y="306800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7044" y="31008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68006" y="310753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52475" y="341280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4382" y="344843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2223" y="3424714"/>
              <a:ext cx="7646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典型工厂代码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newHashMap()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漏空格；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ConcreteFlyweight()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没传 key，享元内部状态全空。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52475" y="369855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4382" y="373322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2223" y="3709511"/>
              <a:ext cx="64860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典型享元类命名为 Flyweight 并写成普通类，与结构图里 Flyweight 是接口对不上。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2475" y="398335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4382" y="401897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2223" y="3994309"/>
              <a:ext cx="62808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实例二的类图把 Port 画成实线关联，Port 只出现在方法参数里，应为虚线依赖。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2475" y="426815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4382" y="43037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2223" y="4279106"/>
              <a:ext cx="65146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String 例子把“重新分配空间”注错了行，真正分配空间的是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str4 += "cd";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那一行。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52475" y="455295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4382" y="458857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2223" y="4563904"/>
              <a:ext cx="75408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陈伟老师课件 C++ 代码：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Class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与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Public: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大写、构造函数定义缺括号、char 当数组下标会越界。</a:t>
              </a:r>
            </a:p>
          </p:txBody>
        </p:sp>
      </p:grpSp>
      <p:grpSp>
        <p:nvGrpSpPr>
          <p:cNvPr id="50" name="c1-callout-3"/>
          <p:cNvGrpSpPr/>
          <p:nvPr/>
        </p:nvGrpSpPr>
        <p:grpSpPr>
          <a:xfrm>
            <a:off x="533400" y="5109210"/>
            <a:ext cx="11125200" cy="614362"/>
            <a:chOff x="533400" y="5109210"/>
            <a:chExt cx="11125200" cy="614362"/>
          </a:xfrm>
        </p:grpSpPr>
        <p:sp>
          <p:nvSpPr>
            <p:cNvPr id="44" name="Rectangle 44"/>
            <p:cNvSpPr/>
            <p:nvPr/>
          </p:nvSpPr>
          <p:spPr>
            <a:xfrm>
              <a:off x="533400" y="5109210"/>
              <a:ext cx="11125200" cy="614362"/>
            </a:xfrm>
            <a:prstGeom prst="roundRect">
              <a:avLst>
                <a:gd name="adj" fmla="val 1860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315903"/>
              <a:ext cx="200026" cy="200025"/>
              <a:chOff x="738188" y="5315903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3159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53603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54714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1273" y="5326856"/>
              <a:ext cx="61645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下一步：想在不改接口的前提下控制对一个对象的访问，看第 26 讲的代理模式。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1" name="Rectangle 5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1273" y="6039326"/>
              <a:ext cx="5595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看到“大量”“细粒度”“只是位置不同”“内存耗费”这些词，先想享元模式。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享元模式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25">
  <a:themeElements>
    <a:clrScheme name="sdp_2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25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2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2026-09-19T08:58:37Z</dcterms:created>
  <dcterms:modified xsi:type="dcterms:W3CDTF">2026-09-19T08:58:37Z</dcterms:modified>
  <cp:category/>
  <cp:contentStatus/>
</cp:coreProperties>
</file>