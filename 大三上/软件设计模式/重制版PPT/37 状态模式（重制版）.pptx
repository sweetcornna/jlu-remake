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4e830add38cf11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dd852d54c37a5a3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e5f31ed179bcc97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第二十五讲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状态一换，同一个方法就换一套行为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水、冰、水蒸汽的启发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论坛等级与银行账户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与策略模式的分界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675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水有三态，TCP 连接也有三态，一串条件语句抄了一遍又一遍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三个角色、标准类图，以及典型代码的三个类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状态怎么转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环境类负责还是具体状态类负责，两种写法各有代价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论坛用户等级：新手、高手、专家，积分一变等级就变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银行账户：正常、透支、受限，余额一变状态就变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效果与分界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优缺点、适用环境、共享状态，以及和策略模式的区别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说清状态模式解决的是哪一类问题，并指出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它和一串 if-else 的差别在哪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默画出标准类图，说出环境类与抽象状态类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之间是什么关系、为什么不是聚合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写全三个角色，并把状态转换分别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写在环境类里和具体状态类里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拿到论坛等级或银行账户这样的需求，能划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出状态边界并写出完整的状态类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说出状态模式与策略、观察者、职责链的分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界，判断一段需求该用哪一个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动机：行为跟着状态走，代码却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只能靠分支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43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从水的三态讲到一个 TCP 连接类里抄了三遍的条件语句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水、冰、水蒸汽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 连接的常规写法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把状态做成对象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动机：行为跟着状态走，代码却只能靠分支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同一块水，状态一变，能做的事就全换了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736199" cy="264033"/>
            <a:chOff x="526542" y="1545907"/>
            <a:chExt cx="1073619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7361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张欣佳老师的课件从水讲起。水可以流动，冰可以雕刻，蒸汽可以扩散，它们是同一种物质的三种状态，在特定条件下还能互相转换。</a:t>
              </a:r>
            </a:p>
          </p:txBody>
        </p:sp>
      </p:grpSp>
      <p:grpSp>
        <p:nvGrpSpPr>
          <p:cNvPr id="39" name="c1-graph-1"/>
          <p:cNvGrpSpPr/>
          <p:nvPr/>
        </p:nvGrpSpPr>
        <p:grpSpPr>
          <a:xfrm>
            <a:off x="1004888" y="2036445"/>
            <a:ext cx="4899659" cy="2150269"/>
            <a:chOff x="1004888" y="2036445"/>
            <a:chExt cx="4899659" cy="2150269"/>
          </a:xfrm>
        </p:grpSpPr>
        <p:sp>
          <p:nvSpPr>
            <p:cNvPr id="9" name="Freeform 9"/>
            <p:cNvSpPr/>
            <p:nvPr/>
          </p:nvSpPr>
          <p:spPr>
            <a:xfrm>
              <a:off x="1737360" y="2368550"/>
              <a:ext cx="1464945" cy="429895"/>
            </a:xfrm>
            <a:custGeom>
              <a:avLst/>
              <a:gdLst/>
              <a:ahLst/>
              <a:cxnLst/>
              <a:rect l="l" t="t" r="r" b="b"/>
              <a:pathLst>
                <a:path w="1464945" h="429895">
                  <a:moveTo>
                    <a:pt x="1464945" y="429895"/>
                  </a:moveTo>
                  <a:cubicBezTo>
                    <a:pt x="951865" y="19685"/>
                    <a:pt x="463550" y="0"/>
                    <a:pt x="0" y="3708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63065" y="2702242"/>
              <a:ext cx="103823" cy="96203"/>
            </a:xfrm>
            <a:custGeom>
              <a:avLst/>
              <a:gdLst/>
              <a:ahLst/>
              <a:cxnLst/>
              <a:rect l="l" t="t" r="r" b="b"/>
              <a:pathLst>
                <a:path w="103823" h="96203">
                  <a:moveTo>
                    <a:pt x="0" y="96203"/>
                  </a:moveTo>
                  <a:lnTo>
                    <a:pt x="44768" y="0"/>
                  </a:lnTo>
                  <a:lnTo>
                    <a:pt x="103823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3065" y="3203258"/>
              <a:ext cx="1463993" cy="430848"/>
            </a:xfrm>
            <a:custGeom>
              <a:avLst/>
              <a:gdLst/>
              <a:ahLst/>
              <a:cxnLst/>
              <a:rect l="l" t="t" r="r" b="b"/>
              <a:pathLst>
                <a:path w="1463993" h="430848">
                  <a:moveTo>
                    <a:pt x="0" y="0"/>
                  </a:moveTo>
                  <a:cubicBezTo>
                    <a:pt x="513080" y="410845"/>
                    <a:pt x="1001078" y="430848"/>
                    <a:pt x="1463993" y="600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7530" y="3203258"/>
              <a:ext cx="104775" cy="97155"/>
            </a:xfrm>
            <a:custGeom>
              <a:avLst/>
              <a:gdLst/>
              <a:ahLst/>
              <a:cxnLst/>
              <a:rect l="l" t="t" r="r" b="b"/>
              <a:pathLst>
                <a:path w="104775" h="97155">
                  <a:moveTo>
                    <a:pt x="104775" y="0"/>
                  </a:moveTo>
                  <a:lnTo>
                    <a:pt x="60008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708082" y="3203258"/>
              <a:ext cx="1464945" cy="430848"/>
            </a:xfrm>
            <a:custGeom>
              <a:avLst/>
              <a:gdLst/>
              <a:ahLst/>
              <a:cxnLst/>
              <a:rect l="l" t="t" r="r" b="b"/>
              <a:pathLst>
                <a:path w="1464945" h="430848">
                  <a:moveTo>
                    <a:pt x="0" y="0"/>
                  </a:moveTo>
                  <a:cubicBezTo>
                    <a:pt x="513080" y="410845"/>
                    <a:pt x="1001395" y="430848"/>
                    <a:pt x="1464945" y="600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42548" y="3203258"/>
              <a:ext cx="104775" cy="97155"/>
            </a:xfrm>
            <a:custGeom>
              <a:avLst/>
              <a:gdLst/>
              <a:ahLst/>
              <a:cxnLst/>
              <a:rect l="l" t="t" r="r" b="b"/>
              <a:pathLst>
                <a:path w="104775" h="97155">
                  <a:moveTo>
                    <a:pt x="104775" y="0"/>
                  </a:moveTo>
                  <a:lnTo>
                    <a:pt x="60008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82378" y="2368550"/>
              <a:ext cx="1464945" cy="429895"/>
            </a:xfrm>
            <a:custGeom>
              <a:avLst/>
              <a:gdLst/>
              <a:ahLst/>
              <a:cxnLst/>
              <a:rect l="l" t="t" r="r" b="b"/>
              <a:pathLst>
                <a:path w="1464945" h="429895">
                  <a:moveTo>
                    <a:pt x="1464945" y="429895"/>
                  </a:moveTo>
                  <a:cubicBezTo>
                    <a:pt x="951865" y="19685"/>
                    <a:pt x="463550" y="0"/>
                    <a:pt x="0" y="3708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08082" y="2702242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0" y="96203"/>
                  </a:moveTo>
                  <a:lnTo>
                    <a:pt x="44767" y="0"/>
                  </a:lnTo>
                  <a:lnTo>
                    <a:pt x="103822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09700" y="2115502"/>
              <a:ext cx="4028122" cy="673418"/>
            </a:xfrm>
            <a:custGeom>
              <a:avLst/>
              <a:gdLst/>
              <a:ahLst/>
              <a:cxnLst/>
              <a:rect l="l" t="t" r="r" b="b"/>
              <a:pathLst>
                <a:path w="4028122" h="673418">
                  <a:moveTo>
                    <a:pt x="0" y="673418"/>
                  </a:moveTo>
                  <a:lnTo>
                    <a:pt x="584835" y="0"/>
                  </a:lnTo>
                  <a:lnTo>
                    <a:pt x="3506152" y="0"/>
                  </a:lnTo>
                  <a:lnTo>
                    <a:pt x="4028122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401628" y="2686050"/>
              <a:ext cx="98107" cy="102870"/>
            </a:xfrm>
            <a:custGeom>
              <a:avLst/>
              <a:gdLst/>
              <a:ahLst/>
              <a:cxnLst/>
              <a:rect l="l" t="t" r="r" b="b"/>
              <a:pathLst>
                <a:path w="98107" h="102870">
                  <a:moveTo>
                    <a:pt x="98107" y="102870"/>
                  </a:moveTo>
                  <a:lnTo>
                    <a:pt x="0" y="62865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463040" y="3212782"/>
              <a:ext cx="4036695" cy="861060"/>
            </a:xfrm>
            <a:custGeom>
              <a:avLst/>
              <a:gdLst/>
              <a:ahLst/>
              <a:cxnLst/>
              <a:rect l="l" t="t" r="r" b="b"/>
              <a:pathLst>
                <a:path w="4036695" h="861060">
                  <a:moveTo>
                    <a:pt x="4036695" y="0"/>
                  </a:moveTo>
                  <a:lnTo>
                    <a:pt x="3452812" y="861060"/>
                  </a:lnTo>
                  <a:lnTo>
                    <a:pt x="531495" y="861060"/>
                  </a:lnTo>
                  <a:lnTo>
                    <a:pt x="0" y="790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409700" y="3212782"/>
              <a:ext cx="93345" cy="105727"/>
            </a:xfrm>
            <a:custGeom>
              <a:avLst/>
              <a:gdLst/>
              <a:ahLst/>
              <a:cxnLst/>
              <a:rect l="l" t="t" r="r" b="b"/>
              <a:pathLst>
                <a:path w="93345" h="105727">
                  <a:moveTo>
                    <a:pt x="0" y="0"/>
                  </a:moveTo>
                  <a:lnTo>
                    <a:pt x="93345" y="52388"/>
                  </a:lnTo>
                  <a:lnTo>
                    <a:pt x="14288" y="1057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04888" y="2798445"/>
              <a:ext cx="809625" cy="404812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049905" y="2798445"/>
              <a:ext cx="809625" cy="404812"/>
            </a:xfrm>
            <a:prstGeom prst="roundRect">
              <a:avLst>
                <a:gd name="adj" fmla="val 2352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94922" y="2798445"/>
              <a:ext cx="809625" cy="404812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44358" y="294513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89376" y="294513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3235" y="294513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水蒸汽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89810" y="241268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17534" y="244173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凝固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289810" y="343281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17534" y="346186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熔化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34828" y="343281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62552" y="346186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蒸发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34828" y="241268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62552" y="244173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液化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12795" y="203644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339567" y="20654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升华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312795" y="399478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39567" y="402478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凝华</a:t>
              </a:r>
            </a:p>
          </p:txBody>
        </p:sp>
      </p:grpSp>
      <p:grpSp>
        <p:nvGrpSpPr>
          <p:cNvPr id="45" name="c1-callout-2"/>
          <p:cNvGrpSpPr/>
          <p:nvPr/>
        </p:nvGrpSpPr>
        <p:grpSpPr>
          <a:xfrm>
            <a:off x="533400" y="4425315"/>
            <a:ext cx="5842635" cy="786765"/>
            <a:chOff x="533400" y="4425315"/>
            <a:chExt cx="5842635" cy="786765"/>
          </a:xfrm>
        </p:grpSpPr>
        <p:sp>
          <p:nvSpPr>
            <p:cNvPr id="40" name="Rectangle 40"/>
            <p:cNvSpPr/>
            <p:nvPr/>
          </p:nvSpPr>
          <p:spPr>
            <a:xfrm>
              <a:off x="533400" y="4425315"/>
              <a:ext cx="5842635" cy="786765"/>
            </a:xfrm>
            <a:prstGeom prst="roundRect">
              <a:avLst>
                <a:gd name="adj" fmla="val 14528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4718687"/>
              <a:ext cx="200023" cy="200023"/>
              <a:chOff x="738188" y="471868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47186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4785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472963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状态是对象的属性算出来的，行为是状态决定的，转换由事件触发。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680835" y="1928812"/>
            <a:ext cx="4977765" cy="1712595"/>
            <a:chOff x="6680835" y="1928812"/>
            <a:chExt cx="4977765" cy="1712595"/>
          </a:xfrm>
        </p:grpSpPr>
        <p:sp>
          <p:nvSpPr>
            <p:cNvPr id="46" name="Rectangle 46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277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81556" y="2045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这个状态下能做什么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63162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什么时候离开它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75514" y="25203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71816" y="25203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流动、蒸发、凝固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63481" y="2426970"/>
              <a:ext cx="175755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降到 0 度以下成冰，升到 100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度成汽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28736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0835" y="287845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5514" y="29956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71816" y="29956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熔化、升华、雕刻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63481" y="299561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升到 0 度以上化成水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32546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5514" y="33766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水蒸汽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1816" y="33766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扩散、液化、凝华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563481" y="3376612"/>
              <a:ext cx="2024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降到 100 度以下成水，再降成冰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1928812"/>
              <a:ext cx="4977765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72375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464040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rd-2"/>
          <p:cNvGrpSpPr/>
          <p:nvPr/>
        </p:nvGrpSpPr>
        <p:grpSpPr>
          <a:xfrm>
            <a:off x="6680835" y="3805238"/>
            <a:ext cx="4977765" cy="1406842"/>
            <a:chOff x="6680835" y="3805238"/>
            <a:chExt cx="4977765" cy="1406842"/>
          </a:xfrm>
        </p:grpSpPr>
        <p:sp>
          <p:nvSpPr>
            <p:cNvPr id="66" name="Rectangle 66"/>
            <p:cNvSpPr/>
            <p:nvPr/>
          </p:nvSpPr>
          <p:spPr>
            <a:xfrm>
              <a:off x="6680835" y="3805238"/>
              <a:ext cx="497776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0360" y="3938588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99910" y="39862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92582" y="40190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66838" y="4026694"/>
              <a:ext cx="14578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状态图怎么看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3433" y="4342924"/>
              <a:ext cx="4328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圆角框是一个状态，框里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 /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后面是这个状态下能做的事；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箭头上写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事件 [守卫条件] / 动作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4576" y="486727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本讲两个实例的状态图都按这个写法画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4" name="Rectangle 74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1273" y="5805011"/>
              <a:ext cx="10018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更正：原课件把守卫条件写成“温度 =&lt;0 度”，应为“&lt;=0 度”；冰到水蒸汽那条“升温 [温度 &gt;=100 度] / 升华”也不成立，温度一过 0 度冰先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熔化成水，升华发生在 0 度以下。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动机：行为跟着状态走，代码却只能靠分支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常规写法：同一串条件判断，每个方法里抄一遍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943096" cy="293370"/>
            <a:chOff x="525780" y="1548765"/>
            <a:chExt cx="1094309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943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陈伟老师的课件给了一个 TCP 连接。它在 Established、Listening、Closed 三种状态下，对同一个请求的反应各不相同。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059805" cy="4356735"/>
            <a:chOff x="533400" y="1954530"/>
            <a:chExt cx="6059805" cy="435673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356735"/>
            </a:xfrm>
            <a:prstGeom prst="roundRect">
              <a:avLst>
                <a:gd name="adj" fmla="val 218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按状态分支的写法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3731006" cy="3871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TCPConnection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当前状态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(state.equals(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"Established"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已连接时的处理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(state.equals(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"Listening"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监听时的处理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(state.equals(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"Closed"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已关闭时的处理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close() 和 acknowledge() 里是同一串分支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acknowledge()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(state.equals(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"Established"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(state.equals(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"Listening"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(state.equals(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"Closed"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890766" y="1977866"/>
            <a:ext cx="2605583" cy="1605535"/>
            <a:chOff x="6890766" y="1977866"/>
            <a:chExt cx="2605583" cy="1605535"/>
          </a:xfrm>
        </p:grpSpPr>
        <p:sp>
          <p:nvSpPr>
            <p:cNvPr id="13" name="TextBox 13"/>
            <p:cNvSpPr txBox="1"/>
            <p:nvPr/>
          </p:nvSpPr>
          <p:spPr>
            <a:xfrm>
              <a:off x="6890766" y="19778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课件点出的四件事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898005" y="230409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6350" y="23444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7946" y="231695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大量结构相似的条件语句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98005" y="263366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56350" y="26740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7946" y="264556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状态在同一时刻是唯一的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98005" y="2963227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56350" y="30026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7946" y="297513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行为效果只与当前状态相关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32918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56350" y="33321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7946" y="330469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状态之间需要互相转换</a:t>
              </a:r>
            </a:p>
          </p:txBody>
        </p:sp>
      </p:grpSp>
      <p:grpSp>
        <p:nvGrpSpPr>
          <p:cNvPr id="29" name="c2-image-2"/>
          <p:cNvGrpSpPr/>
          <p:nvPr/>
        </p:nvGrpSpPr>
        <p:grpSpPr>
          <a:xfrm>
            <a:off x="6898005" y="3712845"/>
            <a:ext cx="4760595" cy="2420779"/>
            <a:chOff x="6898005" y="3712845"/>
            <a:chExt cx="4760595" cy="2420779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20495" r="0" b="20495"/>
            <a:stretch>
              <a:fillRect/>
            </a:stretch>
          </p:blipFill>
          <p:spPr>
            <a:xfrm>
              <a:off x="6898005" y="3712845"/>
              <a:ext cx="4760595" cy="2106930"/>
            </a:xfrm>
            <a:prstGeom prst="roundRect">
              <a:avLst>
                <a:gd name="adj" fmla="val 6329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538682" y="591359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左边是缠在一起的分支，右边是各管一段的三个盒子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动机：行为跟着状态走，代码却只能靠分支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改写：一个状态一个类，分支就消失了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把三个状态各做成一个类，让它们都实现同一个接口，连接类只留下一句转调。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746760" y="2545080"/>
            <a:ext cx="5849302" cy="2990850"/>
            <a:chOff x="746760" y="2545080"/>
            <a:chExt cx="5849302" cy="2990850"/>
          </a:xfrm>
        </p:grpSpPr>
        <p:sp>
          <p:nvSpPr>
            <p:cNvPr id="9" name="Freeform 9"/>
            <p:cNvSpPr/>
            <p:nvPr/>
          </p:nvSpPr>
          <p:spPr>
            <a:xfrm>
              <a:off x="1889760" y="3047048"/>
              <a:ext cx="1994535" cy="9525"/>
            </a:xfrm>
            <a:custGeom>
              <a:avLst/>
              <a:gdLst/>
              <a:ahLst/>
              <a:cxnLst/>
              <a:rect l="l" t="t" r="r" b="b"/>
              <a:pathLst>
                <a:path w="1994535" h="9525">
                  <a:moveTo>
                    <a:pt x="0" y="0"/>
                  </a:moveTo>
                  <a:lnTo>
                    <a:pt x="199453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79520" y="2988945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87028" y="3662362"/>
              <a:ext cx="1378268" cy="1317307"/>
            </a:xfrm>
            <a:custGeom>
              <a:avLst/>
              <a:gdLst/>
              <a:ahLst/>
              <a:cxnLst/>
              <a:rect l="l" t="t" r="r" b="b"/>
              <a:pathLst>
                <a:path w="1378268" h="1317307">
                  <a:moveTo>
                    <a:pt x="0" y="1317307"/>
                  </a:moveTo>
                  <a:lnTo>
                    <a:pt x="0" y="595312"/>
                  </a:lnTo>
                  <a:lnTo>
                    <a:pt x="1378268" y="595312"/>
                  </a:lnTo>
                  <a:lnTo>
                    <a:pt x="137826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191952" y="35366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455795" y="3662362"/>
              <a:ext cx="9525" cy="1317307"/>
            </a:xfrm>
            <a:custGeom>
              <a:avLst/>
              <a:gdLst/>
              <a:ahLst/>
              <a:cxnLst/>
              <a:rect l="l" t="t" r="r" b="b"/>
              <a:pathLst>
                <a:path w="9525" h="1317307">
                  <a:moveTo>
                    <a:pt x="0" y="1317307"/>
                  </a:moveTo>
                  <a:lnTo>
                    <a:pt x="0" y="595312"/>
                  </a:lnTo>
                  <a:lnTo>
                    <a:pt x="0" y="59531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382452" y="35366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46295" y="3662362"/>
              <a:ext cx="1378268" cy="1317307"/>
            </a:xfrm>
            <a:custGeom>
              <a:avLst/>
              <a:gdLst/>
              <a:ahLst/>
              <a:cxnLst/>
              <a:rect l="l" t="t" r="r" b="b"/>
              <a:pathLst>
                <a:path w="1378268" h="1317307">
                  <a:moveTo>
                    <a:pt x="1378268" y="1317307"/>
                  </a:moveTo>
                  <a:lnTo>
                    <a:pt x="1378268" y="595312"/>
                  </a:lnTo>
                  <a:lnTo>
                    <a:pt x="0" y="59531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572952" y="35366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6760" y="2545080"/>
              <a:ext cx="1143000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3428" y="25527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6760" y="27574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6760" y="30022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84295" y="2556510"/>
              <a:ext cx="1143000" cy="98012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91915" y="2564130"/>
              <a:ext cx="1128712" cy="33528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84295" y="28946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84295" y="29898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15528" y="49796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322195" y="498633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15528" y="5191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15528" y="52863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84295" y="49796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91915" y="498633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84295" y="5191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84295" y="52863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53062" y="49796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60682" y="498633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53062" y="5191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53062" y="52863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6959" y="2596515"/>
              <a:ext cx="9026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TCPConnection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198" y="2825591"/>
              <a:ext cx="10034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TCPState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198" y="3070384"/>
              <a:ext cx="837438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close()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acknowledge()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58234" y="260604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63237" y="2733675"/>
              <a:ext cx="5851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TCPState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55732" y="3058001"/>
              <a:ext cx="837438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close()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acknowledge()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16881" y="5031105"/>
              <a:ext cx="9402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TCPEstablished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86965" y="535447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55703" y="5031105"/>
              <a:ext cx="800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TCPListening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55732" y="535447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13322" y="5031105"/>
              <a:ext cx="6224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TCPClosed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24500" y="535447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667952" y="2840355"/>
              <a:ext cx="43719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700674" y="2865596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</p:grpSp>
      <p:grpSp>
        <p:nvGrpSpPr>
          <p:cNvPr id="55" name="c2-code-1"/>
          <p:cNvGrpSpPr/>
          <p:nvPr/>
        </p:nvGrpSpPr>
        <p:grpSpPr>
          <a:xfrm>
            <a:off x="7114222" y="1941195"/>
            <a:ext cx="4544378" cy="1640205"/>
            <a:chOff x="7114222" y="1941195"/>
            <a:chExt cx="4544378" cy="1640205"/>
          </a:xfrm>
        </p:grpSpPr>
        <p:sp>
          <p:nvSpPr>
            <p:cNvPr id="52" name="Rectangle 52"/>
            <p:cNvSpPr/>
            <p:nvPr/>
          </p:nvSpPr>
          <p:spPr>
            <a:xfrm>
              <a:off x="7114222" y="1941195"/>
              <a:ext cx="4544378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42620" y="209311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改写后的连接类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42238" y="2354580"/>
              <a:ext cx="199091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state.open();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acknowledge()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state.acknowledge();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1" name="c2-bullets-2"/>
          <p:cNvGrpSpPr/>
          <p:nvPr/>
        </p:nvGrpSpPr>
        <p:grpSpPr>
          <a:xfrm>
            <a:off x="7107364" y="3779520"/>
            <a:ext cx="2438400" cy="894588"/>
            <a:chOff x="7107364" y="3779520"/>
            <a:chExt cx="2438400" cy="894588"/>
          </a:xfrm>
        </p:grpSpPr>
        <p:sp>
          <p:nvSpPr>
            <p:cNvPr id="56" name="TextBox 56"/>
            <p:cNvSpPr txBox="1"/>
            <p:nvPr/>
          </p:nvSpPr>
          <p:spPr>
            <a:xfrm>
              <a:off x="7107364" y="377952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课件写的两条意图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7114222" y="41271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51204" y="409860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去掉判断状态的分支语句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7114222" y="443865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51204" y="44100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使行为自动适应状态的改变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7114222" y="4795838"/>
            <a:ext cx="4544378" cy="1483995"/>
            <a:chOff x="7114222" y="4795838"/>
            <a:chExt cx="4544378" cy="1483995"/>
          </a:xfrm>
        </p:grpSpPr>
        <p:sp>
          <p:nvSpPr>
            <p:cNvPr id="62" name="Rectangle 62"/>
            <p:cNvSpPr/>
            <p:nvPr/>
          </p:nvSpPr>
          <p:spPr>
            <a:xfrm>
              <a:off x="7114222" y="4795838"/>
              <a:ext cx="454437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23748" y="492918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44728" y="49882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36168" y="502253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28420" y="502824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课件里的几处拼写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37870" y="5362575"/>
              <a:ext cx="396563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原图写作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TCPConnecttion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TcpConnenction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Acknowlege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ConcreateState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，讲义统一改成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TCPConnection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acknowledge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ConcreteState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347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75" y="407194"/>
              <a:ext cx="35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动机：行为跟着状态走，代码却只能靠分支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定义：内部状态一改，行为跟着改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516493" cy="293370"/>
            <a:chOff x="525780" y="1548765"/>
            <a:chExt cx="851649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5164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定义里“对象看起来似乎修改了它的类”这一句最容易被跳过，它说的正是这个模式给人的观感。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54530"/>
            <a:ext cx="5410200" cy="1933575"/>
            <a:chOff x="533400" y="1954530"/>
            <a:chExt cx="5410200" cy="19335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25594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状态模式（State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允许一个对象在其内部状态改变时改变它的行为，对象看起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来似乎修改了它的类。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20135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141821"/>
              <a:ext cx="34011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别名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状态对象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（Objects for States）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5213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461861"/>
              <a:ext cx="1849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72890"/>
            <a:ext cx="5410200" cy="2262188"/>
            <a:chOff x="533400" y="4072890"/>
            <a:chExt cx="5410200" cy="2262188"/>
          </a:xfrm>
        </p:grpSpPr>
        <p:sp>
          <p:nvSpPr>
            <p:cNvPr id="20" name="Rectangle 20"/>
            <p:cNvSpPr/>
            <p:nvPr/>
          </p:nvSpPr>
          <p:spPr>
            <a:xfrm>
              <a:off x="533400" y="4072890"/>
              <a:ext cx="5410200" cy="2262188"/>
            </a:xfrm>
            <a:prstGeom prst="roundRect">
              <a:avLst>
                <a:gd name="adj" fmla="val 589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7235" y="42767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443" y="4312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8644" y="431720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根据状态来分离和选择行为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9996" y="466867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把一个对象的状态从该对象中分离出来，封装到专门的状态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类里，状态可以灵活变化，客户端始终按同一种方式调用。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241161" y="1977866"/>
            <a:ext cx="5417439" cy="2615184"/>
            <a:chOff x="6241161" y="1977866"/>
            <a:chExt cx="5417439" cy="2615184"/>
          </a:xfrm>
        </p:grpSpPr>
        <p:sp>
          <p:nvSpPr>
            <p:cNvPr id="26" name="TextBox 26"/>
            <p:cNvSpPr txBox="1"/>
            <p:nvPr/>
          </p:nvSpPr>
          <p:spPr>
            <a:xfrm>
              <a:off x="6241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内部状态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4214" y="1977866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对象里那些决定行为的属性值，比如账户余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额、用户积分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25517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41161" y="266747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改变它的行为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214" y="2667476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同一个方法名，在不同状态下走的是不同的实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3241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41161" y="33570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似乎修改了类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4214" y="3357086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客户端手里还是同一个对象，但它的反应整套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9309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41161" y="404669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客户端无须关心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4214" y="4046696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既不用管当前是哪个状态，也不用管什么时候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4722495"/>
            <a:ext cx="5410200" cy="1613535"/>
            <a:chOff x="6248400" y="4722495"/>
            <a:chExt cx="5410200" cy="1613535"/>
          </a:xfrm>
        </p:grpSpPr>
        <p:sp>
          <p:nvSpPr>
            <p:cNvPr id="38" name="Rectangle 38"/>
            <p:cNvSpPr/>
            <p:nvPr/>
          </p:nvSpPr>
          <p:spPr>
            <a:xfrm>
              <a:off x="6248400" y="4722495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4855845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0335" y="492633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7742" y="49620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对照上一页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3096" y="529923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三种状态不是三个对象，是同一个对象的三副面孔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3096" y="5637371"/>
              <a:ext cx="47393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客户端拿着的始终是那一个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TCPConnection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。换掉的是它内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部那个状态对象，而不是它本身。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结构、三个角色与典型代码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25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三个类不到三十行，难点全在“状态转换写在哪里”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三个角色的职责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状态转换的两种写法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结构、三个角色与典型代码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结构：环境类只持有一个抽象状态引用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类图和策略模式几乎一样。区别不在图上，在谁负责换那个引用。</a:t>
              </a:r>
            </a:p>
          </p:txBody>
        </p:sp>
      </p:grpSp>
      <p:grpSp>
        <p:nvGrpSpPr>
          <p:cNvPr id="42" name="c1-uml-1"/>
          <p:cNvGrpSpPr/>
          <p:nvPr/>
        </p:nvGrpSpPr>
        <p:grpSpPr>
          <a:xfrm>
            <a:off x="675322" y="2580322"/>
            <a:ext cx="5983606" cy="2993708"/>
            <a:chOff x="675322" y="2580322"/>
            <a:chExt cx="5983606" cy="2993708"/>
          </a:xfrm>
        </p:grpSpPr>
        <p:sp>
          <p:nvSpPr>
            <p:cNvPr id="9" name="Freeform 9"/>
            <p:cNvSpPr/>
            <p:nvPr/>
          </p:nvSpPr>
          <p:spPr>
            <a:xfrm>
              <a:off x="1960245" y="3066098"/>
              <a:ext cx="1924050" cy="9525"/>
            </a:xfrm>
            <a:custGeom>
              <a:avLst/>
              <a:gdLst/>
              <a:ahLst/>
              <a:cxnLst/>
              <a:rect l="l" t="t" r="r" b="b"/>
              <a:pathLst>
                <a:path w="1924050" h="9525">
                  <a:moveTo>
                    <a:pt x="0" y="0"/>
                  </a:moveTo>
                  <a:lnTo>
                    <a:pt x="19240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79520" y="300894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87028" y="3501390"/>
              <a:ext cx="1473518" cy="1452562"/>
            </a:xfrm>
            <a:custGeom>
              <a:avLst/>
              <a:gdLst/>
              <a:ahLst/>
              <a:cxnLst/>
              <a:rect l="l" t="t" r="r" b="b"/>
              <a:pathLst>
                <a:path w="1473518" h="1452562">
                  <a:moveTo>
                    <a:pt x="0" y="1452562"/>
                  </a:moveTo>
                  <a:lnTo>
                    <a:pt x="0" y="663892"/>
                  </a:lnTo>
                  <a:lnTo>
                    <a:pt x="1473518" y="663892"/>
                  </a:lnTo>
                  <a:lnTo>
                    <a:pt x="147351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87202" y="33756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51045" y="3501390"/>
              <a:ext cx="1473518" cy="1452562"/>
            </a:xfrm>
            <a:custGeom>
              <a:avLst/>
              <a:gdLst/>
              <a:ahLst/>
              <a:cxnLst/>
              <a:rect l="l" t="t" r="r" b="b"/>
              <a:pathLst>
                <a:path w="1473518" h="1452562">
                  <a:moveTo>
                    <a:pt x="1473518" y="1452562"/>
                  </a:moveTo>
                  <a:lnTo>
                    <a:pt x="1473518" y="663892"/>
                  </a:lnTo>
                  <a:lnTo>
                    <a:pt x="0" y="66389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77702" y="33756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75322" y="2580322"/>
              <a:ext cx="1284922" cy="9715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2942" y="2587942"/>
              <a:ext cx="127063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5322" y="2828925"/>
              <a:ext cx="12849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5322" y="3100388"/>
              <a:ext cx="12849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84295" y="2756535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91915" y="2763202"/>
              <a:ext cx="1128712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84295" y="30051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84295" y="31003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52662" y="4953952"/>
              <a:ext cx="126873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59330" y="4961572"/>
              <a:ext cx="125444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52662" y="5202555"/>
              <a:ext cx="12687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52662" y="5297805"/>
              <a:ext cx="12687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90198" y="4953952"/>
              <a:ext cx="126873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97818" y="4961572"/>
              <a:ext cx="125444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90198" y="5202555"/>
              <a:ext cx="12687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90198" y="5297805"/>
              <a:ext cx="12687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4910" y="2640330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6570" y="2899886"/>
              <a:ext cx="9651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State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570" y="3171349"/>
              <a:ext cx="1142492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setState(State)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44075" y="2816543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5542" y="3171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03351" y="5013960"/>
              <a:ext cx="1167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ConcreteStateA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23910" y="53687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40886" y="5013960"/>
              <a:ext cx="1167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ConcreteStateB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61444" y="53687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handle()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91765" y="2849880"/>
              <a:ext cx="46196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22578" y="28765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</p:grpSp>
      <p:grpSp>
        <p:nvGrpSpPr>
          <p:cNvPr id="56" name="c2-bullets-1"/>
          <p:cNvGrpSpPr/>
          <p:nvPr/>
        </p:nvGrpSpPr>
        <p:grpSpPr>
          <a:xfrm>
            <a:off x="7106602" y="1992630"/>
            <a:ext cx="3305379" cy="2103405"/>
            <a:chOff x="7106602" y="1992630"/>
            <a:chExt cx="3305379" cy="2103405"/>
          </a:xfrm>
        </p:grpSpPr>
        <p:sp>
          <p:nvSpPr>
            <p:cNvPr id="43" name="TextBox 43"/>
            <p:cNvSpPr txBox="1"/>
            <p:nvPr/>
          </p:nvSpPr>
          <p:spPr>
            <a:xfrm>
              <a:off x="7106602" y="19926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三处要看清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1993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78052" y="23469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环境类到抽象状态类是关联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28567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69696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课件结构图画的是单向关联，不是聚合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1993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78052" y="29498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具体状态类之间没有线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28567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69696" y="32427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它们互不知道对方，靠环境类换过去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19938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78052" y="3552825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环境类里只有一个 state 变量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8567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69696" y="384667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赋一次值就完成一次状态切换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7114222" y="4235768"/>
            <a:ext cx="4544378" cy="1621155"/>
            <a:chOff x="7114222" y="4235768"/>
            <a:chExt cx="4544378" cy="1621155"/>
          </a:xfrm>
        </p:grpSpPr>
        <p:sp>
          <p:nvSpPr>
            <p:cNvPr id="57" name="Rectangle 57"/>
            <p:cNvSpPr/>
            <p:nvPr/>
          </p:nvSpPr>
          <p:spPr>
            <a:xfrm>
              <a:off x="7114222" y="4235768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23772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13981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23848" y="448056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真正拥有状态的是环境类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16152" y="4841558"/>
              <a:ext cx="3930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状态类里装的只是“处于这个状态时该怎么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做”。数据仍然留在环境类里，状态类通过环境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对象去读写它。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结构、三个角色与典型代码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考试里给一段代码判断角色，看的就是这三条：谁持有引用、谁声明方法、谁实现行为。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161" y="1977866"/>
            <a:ext cx="5849874" cy="2460879"/>
            <a:chOff x="526161" y="1977866"/>
            <a:chExt cx="5849874" cy="2460879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427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Context 环境类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9281" y="1977866"/>
              <a:ext cx="344093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又称上下文类，是拥有多种状态的那个对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象。它维护一个抽象状态类的实例，这个实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例就是当前状态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8194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2935129"/>
              <a:ext cx="15894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State 抽象状态类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29281" y="2935129"/>
              <a:ext cx="344093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定义一个接口，封装与环境类某个特定状态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相关的行为；各状态都有的方法可以直接写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7766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61" y="3892391"/>
              <a:ext cx="178586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ConcreteState 具体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状态类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29281" y="3892391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抽象状态类的子类，一个子类对应环境的一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种状态，实现这个状态下的行为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568190"/>
            <a:ext cx="5842635" cy="1500188"/>
            <a:chOff x="533400" y="4568190"/>
            <a:chExt cx="5842635" cy="1500188"/>
          </a:xfrm>
        </p:grpSpPr>
        <p:sp>
          <p:nvSpPr>
            <p:cNvPr id="18" name="Rectangle 18"/>
            <p:cNvSpPr/>
            <p:nvPr/>
          </p:nvSpPr>
          <p:spPr>
            <a:xfrm>
              <a:off x="533400" y="4568190"/>
              <a:ext cx="5842635" cy="1500188"/>
            </a:xfrm>
            <a:prstGeom prst="roundRect">
              <a:avLst>
                <a:gd name="adj" fmla="val 761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215056"/>
              <a:ext cx="224134" cy="192560"/>
              <a:chOff x="726129" y="5215056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2854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2150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3632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087779"/>
              <a:ext cx="492874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环境类不是客户端。客户端只调 request()，连当前是哪个状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态都不知道。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680835" y="1954530"/>
            <a:ext cx="4977765" cy="2364105"/>
            <a:chOff x="6680835" y="1954530"/>
            <a:chExt cx="4977765" cy="2364105"/>
          </a:xfrm>
        </p:grpSpPr>
        <p:sp>
          <p:nvSpPr>
            <p:cNvPr id="25" name="Rectangle 25"/>
            <p:cNvSpPr/>
            <p:nvPr/>
          </p:nvSpPr>
          <p:spPr>
            <a:xfrm>
              <a:off x="6680835" y="1954530"/>
              <a:ext cx="497776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0948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9762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它知道什么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1582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它不知道什么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6182" y="2515552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9714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当前状态对象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075545" y="2394585"/>
              <a:ext cx="15735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7136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这个状态怎么干活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0835" y="281463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6182" y="294608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9714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有哪些业务方法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71366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具体怎么实现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32404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6182" y="3483292"/>
              <a:ext cx="1235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ConcreteState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9714" y="348329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本状态下的行为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71366" y="337661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别的状态类是什么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8833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0835" y="388810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6182" y="4019550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9714" y="40195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环境类的业务方法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075545" y="3897630"/>
              <a:ext cx="15735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71366" y="40195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状态类的存在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1954530"/>
              <a:ext cx="497776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269605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61258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680835" y="4504372"/>
            <a:ext cx="4977765" cy="1564958"/>
            <a:chOff x="6680835" y="4504372"/>
            <a:chExt cx="4977765" cy="1564958"/>
          </a:xfrm>
        </p:grpSpPr>
        <p:sp>
          <p:nvSpPr>
            <p:cNvPr id="52" name="Rectangle 52"/>
            <p:cNvSpPr/>
            <p:nvPr/>
          </p:nvSpPr>
          <p:spPr>
            <a:xfrm>
              <a:off x="6680835" y="4504372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463772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22770" y="470820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9028" y="47439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66101" y="474773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相同的方法写在抽象状态类里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5531" y="509920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课件第 9 页明确提到这一点。三个状态里行为一样的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方法，提到父类写一次；本讲两个实例都按这个办法把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代码压短了一半。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结构、三个角色与典型代码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典型代码：三个类合起来不到三十行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抽象状态类只声明方法，具体状态类只写自己那一套，环境类只负责转调。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440305"/>
            <a:chOff x="533400" y="1928812"/>
            <a:chExt cx="5410200" cy="24403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抽象状态类与具体状态类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88493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声明抽象业务方法，子类各给实现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一个具体状态类对应环境的一种状态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这一种状态下的行为写在这里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538662"/>
            <a:ext cx="5410200" cy="1760220"/>
            <a:chOff x="533400" y="4538662"/>
            <a:chExt cx="5410200" cy="1760220"/>
          </a:xfrm>
        </p:grpSpPr>
        <p:sp>
          <p:nvSpPr>
            <p:cNvPr id="13" name="Rectangle 13"/>
            <p:cNvSpPr/>
            <p:nvPr/>
          </p:nvSpPr>
          <p:spPr>
            <a:xfrm>
              <a:off x="533400" y="4538662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7201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4725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4758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784" y="47605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三处方法名必须对得上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086350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抽象状态类里声明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handle()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，具体状态类就实现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handle()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境类的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request()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里调的也是它。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564356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三处有一处对不上，多态就接不起来，环境类拿到的还是父类那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份空实现。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28812"/>
            <a:ext cx="5410200" cy="2440305"/>
            <a:chOff x="6248400" y="1928812"/>
            <a:chExt cx="5410200" cy="244030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79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797" y="2340769"/>
              <a:ext cx="3426333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Context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state;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当前状态对象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它变了可能换状态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setState(State state)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.state = state;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注入具体状态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state.handle();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转调状态对象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6248400" y="4538662"/>
            <a:ext cx="5410200" cy="1760220"/>
            <a:chOff x="6248400" y="4538662"/>
            <a:chExt cx="5410200" cy="1760220"/>
          </a:xfrm>
        </p:grpSpPr>
        <p:sp>
          <p:nvSpPr>
            <p:cNvPr id="25" name="Rectangle 25"/>
            <p:cNvSpPr/>
            <p:nvPr/>
          </p:nvSpPr>
          <p:spPr>
            <a:xfrm>
              <a:off x="6248400" y="4538662"/>
              <a:ext cx="5410200" cy="1760220"/>
            </a:xfrm>
            <a:prstGeom prst="roundRect">
              <a:avLst>
                <a:gd name="adj" fmla="val 649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453188" y="5318760"/>
              <a:ext cx="200026" cy="200025"/>
              <a:chOff x="6453188" y="5318760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53187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492926" y="53632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27642" y="54743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755892" y="5199698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request() 里可以有别的代码，但与状态有关的那一段只剩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state.handle() 一句。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结构、三个角色与典型代码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状态转换写在哪里：两种写法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课件给了两段代码。差别只有一处：判断属性值这件事，是环境类自己做，还是交给状态对象做。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2019300"/>
            <a:chOff x="533400" y="1941195"/>
            <a:chExt cx="5410200" cy="201930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写法一：环境类当状态管理器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237738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这段写在 Context 里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changeState()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(value == 0)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ConcreteStateA());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(value == 1)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ConcreteStateB());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35755"/>
            <a:ext cx="5410200" cy="1529715"/>
            <a:chOff x="533400" y="4135755"/>
            <a:chExt cx="5410200" cy="1529715"/>
          </a:xfrm>
        </p:grpSpPr>
        <p:sp>
          <p:nvSpPr>
            <p:cNvPr id="13" name="Rectangle 13"/>
            <p:cNvSpPr/>
            <p:nvPr/>
          </p:nvSpPr>
          <p:spPr>
            <a:xfrm>
              <a:off x="533400" y="4135755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26910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3281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4362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597" y="436816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状态类彼此不认识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470154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所有转换规则集中在环境类一处，具体状态类干干净净，只管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自己那一套行为。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5261610"/>
              <a:ext cx="4096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环境类此时扮演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状态管理器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（State Manager）。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41195"/>
            <a:ext cx="5410200" cy="2019300"/>
            <a:chOff x="6248400" y="1941195"/>
            <a:chExt cx="5410200" cy="201930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797" y="209311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写法二：具体状态类自己切换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416" y="2354580"/>
              <a:ext cx="3164396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这段写在具体状态类里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changeState(Context ctx)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(ctx.getValue() == 1)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ctx.setState(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ConcreteStateB());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(ctx.getValue() == 2)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ctx.setState(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ConcreteStateC());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135755"/>
            <a:ext cx="5410200" cy="1529715"/>
            <a:chOff x="6248400" y="4135755"/>
            <a:chExt cx="5410200" cy="1529715"/>
          </a:xfrm>
        </p:grpSpPr>
        <p:sp>
          <p:nvSpPr>
            <p:cNvPr id="25" name="Rectangle 25"/>
            <p:cNvSpPr/>
            <p:nvPr/>
          </p:nvSpPr>
          <p:spPr>
            <a:xfrm>
              <a:off x="6248400" y="4135755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426910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8905" y="43281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0345" y="4362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62597" y="436816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状态类与环境类互相引用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2047" y="4701540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状态类要读环境类的属性、调它的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setState()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，于是两者之间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多出一条关联或依赖。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047" y="526161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状态类还得知道下一个状态是哪个类。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6023610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判断依据只有一条：转换规则是属于整个对象的，还是属于某一个状态的。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652332" cy="909257"/>
            <a:chOff x="520446" y="342900"/>
            <a:chExt cx="2652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结构、三个角色与典型代码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两种写法怎么选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85887" cy="308039"/>
            <a:chOff x="525399" y="1550194"/>
            <a:chExt cx="7885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85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状态少、规则集中时用写法一；状态多、每个状态只关心自己的下一站时用写法二。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5626418" cy="2919412"/>
            <a:chOff x="533400" y="1967865"/>
            <a:chExt cx="5626418" cy="291941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1236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68854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环境类负责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5358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具体状态类负责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转换规则放在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29053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一个方法里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8823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分散在各状态类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状态类是否认识环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境类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9053" y="31141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00525" y="2874645"/>
              <a:ext cx="195072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98823" y="31141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356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6761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加一个新状态要改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9053" y="36761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98823" y="36761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相关的几个状态类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843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8907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1248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状态数多了以后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9053" y="4124801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一长串 if-else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00525" y="3998595"/>
              <a:ext cx="195072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8823" y="412480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每类只管自己一段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338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5734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29053" y="45734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简单状态机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8823" y="45734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工作流、协议栈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67865"/>
              <a:ext cx="5626418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216468" y="1967865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86238" y="1967865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5077778"/>
            <a:ext cx="5626418" cy="943928"/>
            <a:chOff x="533400" y="5077778"/>
            <a:chExt cx="5626418" cy="943928"/>
          </a:xfrm>
        </p:grpSpPr>
        <p:sp>
          <p:nvSpPr>
            <p:cNvPr id="40" name="Rectangle 40"/>
            <p:cNvSpPr/>
            <p:nvPr/>
          </p:nvSpPr>
          <p:spPr>
            <a:xfrm>
              <a:off x="533400" y="5077778"/>
              <a:ext cx="5626418" cy="943928"/>
            </a:xfrm>
            <a:prstGeom prst="roundRect">
              <a:avLst>
                <a:gd name="adj" fmla="val 1210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445561"/>
              <a:ext cx="224134" cy="192560"/>
              <a:chOff x="726129" y="5445561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5159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4455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5937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30637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写法二并没有消灭条件判断，只是把一大串拆成了每个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状态类里的两三句。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464618" y="1967865"/>
            <a:ext cx="5193982" cy="1956435"/>
            <a:chOff x="6464618" y="1967865"/>
            <a:chExt cx="5193982" cy="1956435"/>
          </a:xfrm>
        </p:grpSpPr>
        <p:sp>
          <p:nvSpPr>
            <p:cNvPr id="47" name="Rectangle 47"/>
            <p:cNvSpPr/>
            <p:nvPr/>
          </p:nvSpPr>
          <p:spPr>
            <a:xfrm>
              <a:off x="6464618" y="1967865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2101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122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34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折中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3295" y="221265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本讲两个实例用的是第三种办法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4648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论坛等级和银行账户的转换规则都只看一个数值落在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哪个区间，三个状态算出来的结果完全一样。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04648" y="319468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这种时候把判断写在抽象状态类里一次，三个子类都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不用再写。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4114800"/>
            <a:ext cx="5193982" cy="1906905"/>
            <a:chOff x="6464618" y="4114800"/>
            <a:chExt cx="5193982" cy="1906905"/>
          </a:xfrm>
        </p:grpSpPr>
        <p:sp>
          <p:nvSpPr>
            <p:cNvPr id="55" name="Rectangle 55"/>
            <p:cNvSpPr/>
            <p:nvPr/>
          </p:nvSpPr>
          <p:spPr>
            <a:xfrm>
              <a:off x="6464618" y="4114800"/>
              <a:ext cx="5193982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2481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12268" y="43243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90626" y="43600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关系怎么画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40015" y="43595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写法二在类图上多一条线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4648" y="4720590"/>
              <a:ext cx="45300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具体状态类持有环境对象引用就画关联，只在方法参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数里出现就画依赖。课件第 13 页说的“State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Context 之间可能也存在依赖或者关联关系”指的就是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结构、三个角色与典型代码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什么时候该把状态提出来做成类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58130" cy="278702"/>
            <a:chOff x="526161" y="1547336"/>
            <a:chExt cx="555813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不是有状态就要用状态模式。课件给了两个必须同时满足的条件。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41195"/>
            <a:ext cx="4977765" cy="2431352"/>
            <a:chOff x="533400" y="1941195"/>
            <a:chExt cx="4977765" cy="243135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1438" r="0" b="21437"/>
            <a:stretch>
              <a:fillRect/>
            </a:stretch>
          </p:blipFill>
          <p:spPr>
            <a:xfrm>
              <a:off x="533400" y="1941195"/>
              <a:ext cx="4977765" cy="2132648"/>
            </a:xfrm>
            <a:prstGeom prst="roundRect">
              <a:avLst>
                <a:gd name="adj" fmla="val 6252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462088" y="416718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转塔刀架转一格，同一台机床就换了一套加工动作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525328"/>
            <a:ext cx="4977765" cy="1799272"/>
            <a:chOff x="533400" y="4525328"/>
            <a:chExt cx="4977765" cy="1799272"/>
          </a:xfrm>
        </p:grpSpPr>
        <p:sp>
          <p:nvSpPr>
            <p:cNvPr id="12" name="Rectangle 12"/>
            <p:cNvSpPr/>
            <p:nvPr/>
          </p:nvSpPr>
          <p:spPr>
            <a:xfrm>
              <a:off x="533400" y="4525328"/>
              <a:ext cx="4977765" cy="1799272"/>
            </a:xfrm>
            <a:prstGeom prst="roundRect">
              <a:avLst>
                <a:gd name="adj" fmla="val 635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325430"/>
              <a:ext cx="200023" cy="200023"/>
              <a:chOff x="738188" y="5325430"/>
              <a:chExt cx="200023" cy="2000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3254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8" y="5392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206365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转的是刀架，不是机床；换的是状态对象，不是环境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5809107" y="1964055"/>
            <a:ext cx="3613175" cy="1343502"/>
            <a:chOff x="5809107" y="1964055"/>
            <a:chExt cx="3613175" cy="1343502"/>
          </a:xfrm>
        </p:grpSpPr>
        <p:sp>
          <p:nvSpPr>
            <p:cNvPr id="18" name="TextBox 18"/>
            <p:cNvSpPr txBox="1"/>
            <p:nvPr/>
          </p:nvSpPr>
          <p:spPr>
            <a:xfrm>
              <a:off x="5809107" y="19640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两个条件缺一不可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815965" y="23117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8578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52947" y="22840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这些状态经常需要切换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59805" y="261080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44590" y="254746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只有一两种且基本不变，用一个布尔字段就够了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815965" y="285273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8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52947" y="282416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不同状态下对象的行为不同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59805" y="315087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44590" y="308752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行为都一样的话，状态只是一个数据，不必成类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5815965" y="3438525"/>
            <a:ext cx="5842635" cy="1483995"/>
            <a:chOff x="5815965" y="3438525"/>
            <a:chExt cx="5842635" cy="1483995"/>
          </a:xfrm>
        </p:grpSpPr>
        <p:sp>
          <p:nvSpPr>
            <p:cNvPr id="28" name="Rectangle 28"/>
            <p:cNvSpPr/>
            <p:nvPr/>
          </p:nvSpPr>
          <p:spPr>
            <a:xfrm>
              <a:off x="5815965" y="3438525"/>
              <a:ext cx="5842635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08370" y="36309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99810" y="36652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2062" y="3670935"/>
              <a:ext cx="276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为什么“看起来似乎修改了它的类”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01512" y="4005262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环境类针对抽象状态类编程，运行时可以把任一具体状态类的对象设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进去。方法名一个没变，走的实现却换了一套，从外面看就像这个对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象改了类。</a:t>
              </a:r>
            </a:p>
          </p:txBody>
        </p:sp>
      </p:grpSp>
      <p:grpSp>
        <p:nvGrpSpPr>
          <p:cNvPr id="40" name="c2-card-3"/>
          <p:cNvGrpSpPr/>
          <p:nvPr/>
        </p:nvGrpSpPr>
        <p:grpSpPr>
          <a:xfrm>
            <a:off x="5815965" y="5097780"/>
            <a:ext cx="5842635" cy="1226820"/>
            <a:chOff x="5815965" y="5097780"/>
            <a:chExt cx="5842635" cy="1226820"/>
          </a:xfrm>
        </p:grpSpPr>
        <p:sp>
          <p:nvSpPr>
            <p:cNvPr id="34" name="Rectangle 34"/>
            <p:cNvSpPr/>
            <p:nvPr/>
          </p:nvSpPr>
          <p:spPr>
            <a:xfrm>
              <a:off x="5815965" y="5097780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523113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6470" y="52901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7910" y="53244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0162" y="533019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状态类只放行为，不放数据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39612" y="566451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数据留在环境类里，状态类通过环境对象读写。这样换状态时不用把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数据搬来搬去，状态对象也才有可能被共享。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实例一：论坛用户等级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积分一变等级就变，三个等级下发帖和下载的规则各不相同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需求与状态图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三个状态类的代码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完整运行轨迹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实例一：论坛用户等级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需求：三个等级，三套规则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17530" cy="293370"/>
            <a:chOff x="525780" y="1548765"/>
            <a:chExt cx="107175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17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用户可以发表留言、回复留言、下载文件。前两件事加积分，下载扣积分。积分决定等级，等级又决定这三件事怎么做。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1954530"/>
            <a:ext cx="5410200" cy="1697355"/>
            <a:chOff x="533400" y="1954530"/>
            <a:chExt cx="5410200" cy="169735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107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0637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积分区间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226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发表留言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1147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下载文件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889" y="25069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6514" y="2506980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 &lt; 100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49574" y="250698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1 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46282" y="2388870"/>
              <a:ext cx="1387792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39246" y="25069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不允许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84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0320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29317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26514" y="293179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≤ 积分 &lt; 1000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49574" y="293179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2 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9246" y="29317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全额扣分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232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26514" y="3356610"/>
              <a:ext cx="876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 ≥ 1000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49574" y="33566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2 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46282" y="3237548"/>
              <a:ext cx="1387792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39246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扣一半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954530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71926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4232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31995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3832860"/>
            <a:ext cx="5410200" cy="1847850"/>
            <a:chOff x="533400" y="3832860"/>
            <a:chExt cx="5410200" cy="1847850"/>
          </a:xfrm>
        </p:grpSpPr>
        <p:sp>
          <p:nvSpPr>
            <p:cNvPr id="36" name="Rectangle 36"/>
            <p:cNvSpPr/>
            <p:nvPr/>
          </p:nvSpPr>
          <p:spPr>
            <a:xfrm>
              <a:off x="533400" y="3832860"/>
              <a:ext cx="5410200" cy="1847850"/>
            </a:xfrm>
            <a:prstGeom prst="roundRect">
              <a:avLst>
                <a:gd name="adj" fmla="val 618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4653081"/>
              <a:ext cx="224134" cy="192560"/>
              <a:chOff x="726129" y="4653081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47234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46530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48012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452580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三个等级的回复留言规则完全相同，所以这个方法只写在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抽象状态类里。</a:t>
              </a:r>
            </a:p>
          </p:txBody>
        </p:sp>
      </p:grpSp>
      <p:grpSp>
        <p:nvGrpSpPr>
          <p:cNvPr id="65" name="c2-graph-1"/>
          <p:cNvGrpSpPr/>
          <p:nvPr/>
        </p:nvGrpSpPr>
        <p:grpSpPr>
          <a:xfrm>
            <a:off x="6630352" y="2435860"/>
            <a:ext cx="4646295" cy="1067911"/>
            <a:chOff x="6630352" y="2435860"/>
            <a:chExt cx="4646295" cy="1067911"/>
          </a:xfrm>
        </p:grpSpPr>
        <p:sp>
          <p:nvSpPr>
            <p:cNvPr id="43" name="Freeform 43"/>
            <p:cNvSpPr/>
            <p:nvPr/>
          </p:nvSpPr>
          <p:spPr>
            <a:xfrm>
              <a:off x="7389495" y="3181350"/>
              <a:ext cx="1156335" cy="297815"/>
            </a:xfrm>
            <a:custGeom>
              <a:avLst/>
              <a:gdLst/>
              <a:ahLst/>
              <a:cxnLst/>
              <a:rect l="l" t="t" r="r" b="b"/>
              <a:pathLst>
                <a:path w="1156335" h="297815">
                  <a:moveTo>
                    <a:pt x="0" y="0"/>
                  </a:moveTo>
                  <a:cubicBezTo>
                    <a:pt x="411480" y="280035"/>
                    <a:pt x="796925" y="297815"/>
                    <a:pt x="1156335" y="53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519160" y="3181350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0"/>
                  </a:moveTo>
                  <a:lnTo>
                    <a:pt x="53340" y="92392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467600" y="2435860"/>
              <a:ext cx="1156335" cy="297815"/>
            </a:xfrm>
            <a:custGeom>
              <a:avLst/>
              <a:gdLst/>
              <a:ahLst/>
              <a:cxnLst/>
              <a:rect l="l" t="t" r="r" b="b"/>
              <a:pathLst>
                <a:path w="1156335" h="297815">
                  <a:moveTo>
                    <a:pt x="1156335" y="297815"/>
                  </a:moveTo>
                  <a:cubicBezTo>
                    <a:pt x="744855" y="17780"/>
                    <a:pt x="359410" y="0"/>
                    <a:pt x="0" y="2444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389495" y="264033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0" y="93345"/>
                  </a:moveTo>
                  <a:lnTo>
                    <a:pt x="51435" y="0"/>
                  </a:lnTo>
                  <a:lnTo>
                    <a:pt x="104775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283065" y="3181350"/>
              <a:ext cx="1156335" cy="297815"/>
            </a:xfrm>
            <a:custGeom>
              <a:avLst/>
              <a:gdLst/>
              <a:ahLst/>
              <a:cxnLst/>
              <a:rect l="l" t="t" r="r" b="b"/>
              <a:pathLst>
                <a:path w="1156335" h="297815">
                  <a:moveTo>
                    <a:pt x="0" y="0"/>
                  </a:moveTo>
                  <a:cubicBezTo>
                    <a:pt x="411480" y="280035"/>
                    <a:pt x="796925" y="297815"/>
                    <a:pt x="1156335" y="53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412730" y="3181350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0"/>
                  </a:moveTo>
                  <a:lnTo>
                    <a:pt x="53340" y="92392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361170" y="2435860"/>
              <a:ext cx="1156335" cy="297815"/>
            </a:xfrm>
            <a:custGeom>
              <a:avLst/>
              <a:gdLst/>
              <a:ahLst/>
              <a:cxnLst/>
              <a:rect l="l" t="t" r="r" b="b"/>
              <a:pathLst>
                <a:path w="1156335" h="297815">
                  <a:moveTo>
                    <a:pt x="1156335" y="297815"/>
                  </a:moveTo>
                  <a:cubicBezTo>
                    <a:pt x="744855" y="17780"/>
                    <a:pt x="359410" y="0"/>
                    <a:pt x="0" y="2444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283065" y="264033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0" y="93345"/>
                  </a:moveTo>
                  <a:lnTo>
                    <a:pt x="51435" y="0"/>
                  </a:lnTo>
                  <a:lnTo>
                    <a:pt x="104775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30352" y="2733675"/>
              <a:ext cx="859155" cy="447675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23922" y="2733675"/>
              <a:ext cx="859155" cy="447675"/>
            </a:xfrm>
            <a:prstGeom prst="roundRect">
              <a:avLst>
                <a:gd name="adj" fmla="val 2127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417492" y="2733675"/>
              <a:ext cx="859155" cy="447675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3049" y="2897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16619" y="2897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10189" y="2897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20025" y="3312795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63967" y="3341846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≥ 100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38122" y="2445068"/>
              <a:ext cx="33623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63967" y="2474119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 100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85020" y="3312795"/>
              <a:ext cx="43053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727180" y="3341846"/>
              <a:ext cx="3462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≥ 1000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703118" y="2445068"/>
              <a:ext cx="3933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27180" y="2474119"/>
              <a:ext cx="3462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 1000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4140518"/>
            <a:ext cx="5410200" cy="1540192"/>
            <a:chOff x="6248400" y="4140518"/>
            <a:chExt cx="5410200" cy="1540192"/>
          </a:xfrm>
        </p:grpSpPr>
        <p:sp>
          <p:nvSpPr>
            <p:cNvPr id="66" name="Rectangle 66"/>
            <p:cNvSpPr/>
            <p:nvPr/>
          </p:nvSpPr>
          <p:spPr>
            <a:xfrm>
              <a:off x="6248400" y="4140518"/>
              <a:ext cx="5410200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4273868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84620" y="433863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72060" y="43729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补一条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01281" y="437340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新手也可能一步升到专家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77381" y="4717256"/>
              <a:ext cx="479348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图上没画新手到专家那条线，但只要一次发帖把积分从 90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推到 1090，就会直接跳过去。所以判断要按区间写，不能只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判断“比上一档多了没有”。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3" name="Rectangle 7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511" y="6011704"/>
              <a:ext cx="6351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下载文件还有一条公共规则：扣分后积分会小于 0 时，这次下载不予执行。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实例一：论坛用户等级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类图：三个状态类各只覆盖自己不一样的方法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191881" cy="264033"/>
            <a:chOff x="526542" y="1545907"/>
            <a:chExt cx="81918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抽象状态类里放公共实现，子类只写和别人不同的那一两个方法，这是状态模式里最常见的省力写法。</a:t>
              </a:r>
            </a:p>
          </p:txBody>
        </p:sp>
      </p:grpSp>
      <p:grpSp>
        <p:nvGrpSpPr>
          <p:cNvPr id="55" name="c1-uml-1"/>
          <p:cNvGrpSpPr/>
          <p:nvPr/>
        </p:nvGrpSpPr>
        <p:grpSpPr>
          <a:xfrm>
            <a:off x="664845" y="1998345"/>
            <a:ext cx="6120765" cy="3608070"/>
            <a:chOff x="664845" y="1998345"/>
            <a:chExt cx="6120765" cy="3608070"/>
          </a:xfrm>
        </p:grpSpPr>
        <p:sp>
          <p:nvSpPr>
            <p:cNvPr id="9" name="Freeform 9"/>
            <p:cNvSpPr/>
            <p:nvPr/>
          </p:nvSpPr>
          <p:spPr>
            <a:xfrm>
              <a:off x="2025015" y="3037522"/>
              <a:ext cx="1961198" cy="9525"/>
            </a:xfrm>
            <a:custGeom>
              <a:avLst/>
              <a:gdLst/>
              <a:ahLst/>
              <a:cxnLst/>
              <a:rect l="l" t="t" r="r" b="b"/>
              <a:pathLst>
                <a:path w="1961198" h="9525">
                  <a:moveTo>
                    <a:pt x="0" y="0"/>
                  </a:moveTo>
                  <a:lnTo>
                    <a:pt x="196119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81438" y="297942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44930" y="2194560"/>
              <a:ext cx="3246120" cy="266700"/>
            </a:xfrm>
            <a:custGeom>
              <a:avLst/>
              <a:gdLst/>
              <a:ahLst/>
              <a:cxnLst/>
              <a:rect l="l" t="t" r="r" b="b"/>
              <a:pathLst>
                <a:path w="3246120" h="266700">
                  <a:moveTo>
                    <a:pt x="3246120" y="266700"/>
                  </a:moveTo>
                  <a:lnTo>
                    <a:pt x="3246120" y="0"/>
                  </a:lnTo>
                  <a:lnTo>
                    <a:pt x="0" y="0"/>
                  </a:lnTo>
                  <a:lnTo>
                    <a:pt x="0" y="26670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86828" y="235648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67990" y="3738562"/>
              <a:ext cx="1432560" cy="1237297"/>
            </a:xfrm>
            <a:custGeom>
              <a:avLst/>
              <a:gdLst/>
              <a:ahLst/>
              <a:cxnLst/>
              <a:rect l="l" t="t" r="r" b="b"/>
              <a:pathLst>
                <a:path w="1432560" h="1237297">
                  <a:moveTo>
                    <a:pt x="0" y="1237297"/>
                  </a:moveTo>
                  <a:lnTo>
                    <a:pt x="0" y="556260"/>
                  </a:lnTo>
                  <a:lnTo>
                    <a:pt x="1432560" y="556260"/>
                  </a:lnTo>
                  <a:lnTo>
                    <a:pt x="14325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27208" y="36128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91050" y="3738562"/>
              <a:ext cx="9525" cy="1237297"/>
            </a:xfrm>
            <a:custGeom>
              <a:avLst/>
              <a:gdLst/>
              <a:ahLst/>
              <a:cxnLst/>
              <a:rect l="l" t="t" r="r" b="b"/>
              <a:pathLst>
                <a:path w="9525" h="1237297">
                  <a:moveTo>
                    <a:pt x="0" y="1237297"/>
                  </a:moveTo>
                  <a:lnTo>
                    <a:pt x="0" y="556260"/>
                  </a:lnTo>
                  <a:lnTo>
                    <a:pt x="0" y="55626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17708" y="36128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81550" y="3738562"/>
              <a:ext cx="1432560" cy="1163003"/>
            </a:xfrm>
            <a:custGeom>
              <a:avLst/>
              <a:gdLst/>
              <a:ahLst/>
              <a:cxnLst/>
              <a:rect l="l" t="t" r="r" b="b"/>
              <a:pathLst>
                <a:path w="1432560" h="1163003">
                  <a:moveTo>
                    <a:pt x="1432560" y="1163003"/>
                  </a:moveTo>
                  <a:lnTo>
                    <a:pt x="1432560" y="519112"/>
                  </a:lnTo>
                  <a:lnTo>
                    <a:pt x="0" y="51911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08208" y="36128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4845" y="2461260"/>
              <a:ext cx="1360170" cy="11515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1512" y="246888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4845" y="2673668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4845" y="306705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86212" y="2461260"/>
              <a:ext cx="1209675" cy="11515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93832" y="2468880"/>
              <a:ext cx="1195388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86212" y="2673668"/>
              <a:ext cx="12096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86212" y="2917508"/>
              <a:ext cx="12096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96490" y="49758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04110" y="498348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96490" y="51882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96490" y="52835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019550" y="49758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27170" y="498348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19550" y="51882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19550" y="52835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42610" y="4901565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50230" y="490918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42610" y="51139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642610" y="52092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3553" y="2512695"/>
              <a:ext cx="882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ForumAccount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282" y="2741771"/>
              <a:ext cx="121754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AbstractState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point: int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282" y="3135154"/>
              <a:ext cx="868680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writeNote(int)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replyNote(int)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download(int)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7530" y="2512695"/>
              <a:ext cx="9270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AbstractState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57650" y="2741771"/>
              <a:ext cx="11384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acc: ForumAccount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57650" y="2985611"/>
              <a:ext cx="988441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writeNote(int)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replyNote(int)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downloadFile(int)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checkState()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42665" y="5027295"/>
              <a:ext cx="8506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PrimaryState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67928" y="5351621"/>
              <a:ext cx="10510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downloadFile(int)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16778" y="5027295"/>
              <a:ext cx="7485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MiddleState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90988" y="5351621"/>
              <a:ext cx="9245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writeNote(int)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06630" y="4953000"/>
              <a:ext cx="614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HighState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14048" y="5277326"/>
              <a:ext cx="98844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writeNote(int)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downloadFile(int)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801302" y="2841308"/>
              <a:ext cx="40957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834735" y="2864168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26068" y="1998345"/>
              <a:ext cx="28384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63272" y="202120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acc</a:t>
              </a:r>
            </a:p>
          </p:txBody>
        </p:sp>
      </p:grpSp>
      <p:grpSp>
        <p:nvGrpSpPr>
          <p:cNvPr id="65" name="c2-bullets-1"/>
          <p:cNvGrpSpPr/>
          <p:nvPr/>
        </p:nvGrpSpPr>
        <p:grpSpPr>
          <a:xfrm>
            <a:off x="7323963" y="1949291"/>
            <a:ext cx="3036961" cy="1262158"/>
            <a:chOff x="7323963" y="1949291"/>
            <a:chExt cx="3036961" cy="1262158"/>
          </a:xfrm>
        </p:grpSpPr>
        <p:sp>
          <p:nvSpPr>
            <p:cNvPr id="56" name="TextBox 56"/>
            <p:cNvSpPr txBox="1"/>
            <p:nvPr/>
          </p:nvSpPr>
          <p:spPr>
            <a:xfrm>
              <a:off x="7323963" y="19492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两条线都要有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39965" y="230314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95413" y="2251234"/>
              <a:ext cx="157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账号到状态是 state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501890" y="255841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7056" y="249936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环境类持有当前状态对象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39965" y="280987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95413" y="2757964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状态到账号是 acc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501890" y="306514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3006090"/>
              <a:ext cx="2673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状态类要读写积分、还要回调 setState()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7330440" y="3335655"/>
            <a:ext cx="4328160" cy="2702242"/>
            <a:chOff x="7330440" y="3335655"/>
            <a:chExt cx="4328160" cy="2702242"/>
          </a:xfrm>
        </p:grpSpPr>
        <p:sp>
          <p:nvSpPr>
            <p:cNvPr id="66" name="Rectangle 66"/>
            <p:cNvSpPr/>
            <p:nvPr/>
          </p:nvSpPr>
          <p:spPr>
            <a:xfrm>
              <a:off x="7330440" y="3335655"/>
              <a:ext cx="4328160" cy="2702242"/>
            </a:xfrm>
            <a:prstGeom prst="roundRect">
              <a:avLst>
                <a:gd name="adj" fmla="val 4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39965" y="3469005"/>
              <a:ext cx="47625" cy="24355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549515" y="35166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42187" y="35494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15491" y="35561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原类图里三处对不上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549515" y="38614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601422" y="38970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19263" y="3872389"/>
              <a:ext cx="3386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HighState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writeNote()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downloadFile()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写成无参，而父类声明的是带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 score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是重载不是覆盖，多态会失效。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549515" y="46320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01422" y="46676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19263" y="4643914"/>
              <a:ext cx="3483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checkState(int score)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的参数在任何一个状态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类里都用不上，状态只看当前总积分。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549515" y="51596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601422" y="51953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19263" y="5171599"/>
              <a:ext cx="34429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积分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point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放在状态类里，每换一次状态都要搬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一次；讲义按银行账户那张图的做法把它留在环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境类。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实例一：论坛用户等级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代码（一）：公共行为全部收进抽象状态类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092440" cy="293370"/>
            <a:chOff x="525780" y="1548765"/>
            <a:chExt cx="80924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三个等级的状态判断规则是同一套区间，回复留言的算法也完全相同，这两样都只写一次。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626418" cy="3344228"/>
            <a:chOff x="533400" y="1954530"/>
            <a:chExt cx="5626418" cy="334422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字段与状态判断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3611118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AbstractState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ForumAccount acc;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回指环境类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stateName;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状态名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三个等级的分界相同，只写一次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checkState()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 = acc.getPoint();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&gt;= 1000)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acc.setState(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HighState(acc));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&gt;= 100)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acc.setState(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MiddleState(acc));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acc.setState(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PrimaryState(acc));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464618" y="1954530"/>
            <a:ext cx="5193982" cy="3533775"/>
            <a:chOff x="6464618" y="1954530"/>
            <a:chExt cx="5193982" cy="3533775"/>
          </a:xfrm>
        </p:grpSpPr>
        <p:sp>
          <p:nvSpPr>
            <p:cNvPr id="13" name="Rectangle 13"/>
            <p:cNvSpPr/>
            <p:nvPr/>
          </p:nvSpPr>
          <p:spPr>
            <a:xfrm>
              <a:off x="6464618" y="1954530"/>
              <a:ext cx="5193982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93015" y="210645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三个业务方法（同一个类里）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92634" y="2367915"/>
              <a:ext cx="3311081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发帖是新手的算法，回帖三个等级相同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writeNote(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acc.setPoint(acc.getPoint() + score);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checkState();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replyNote(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acc.setPoint(acc.getPoint() + score);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checkState();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下载是高手的算法，全额扣分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downloadFile(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(acc.getPoint() &lt; score)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acc.setPoint(acc.getPoint() - score);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checkState();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7" name="Rectangle 1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6011704"/>
              <a:ext cx="105525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父类里的 writeNote() 装的是新手的发帖算法，downloadFile() 装的是高手的下载算法，子类只覆盖跟自己不同的那一个。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实例一：论坛用户等级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代码（二）：三个状态类只写自己特殊的那一条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新手不能下载，高手发帖双倍，专家发帖双倍且下载减半。除此之外全部继承父类。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3670935"/>
            <a:chOff x="533400" y="1928812"/>
            <a:chExt cx="584263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新手与高手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476117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PrimaryState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PrimaryState(ForumAccount acc)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.acc = acc;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.stateName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"新手"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新手唯一不同的地方：不能下载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downloadFile(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"新手没有下载权限。"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MiddleState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MiddleState(ForumAccount acc)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.acc = acc;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.stateName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"高手"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writeNote(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双倍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acc.setPoint(acc.getPoint() + score * 2);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checkState();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680835" y="1928812"/>
            <a:ext cx="4977765" cy="2791778"/>
            <a:chOff x="6680835" y="1928812"/>
            <a:chExt cx="4977765" cy="2791778"/>
          </a:xfrm>
        </p:grpSpPr>
        <p:sp>
          <p:nvSpPr>
            <p:cNvPr id="13" name="Rectangle 13"/>
            <p:cNvSpPr/>
            <p:nvPr/>
          </p:nvSpPr>
          <p:spPr>
            <a:xfrm>
              <a:off x="6680835" y="1928812"/>
              <a:ext cx="497776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09232" y="2080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专家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9232" y="2340769"/>
              <a:ext cx="3364103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HighState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HighState(ForumAccount acc)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.acc = acc;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.stateName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"专家"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writeNote(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acc.setPoint(acc.getPoint() + score * 2);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checkState();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下载只扣一半，其余交回父类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downloadFile(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.downloadFile(score / 2);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6680835" y="4890135"/>
            <a:ext cx="4977765" cy="1459230"/>
            <a:chOff x="6680835" y="4890135"/>
            <a:chExt cx="4977765" cy="1459230"/>
          </a:xfrm>
        </p:grpSpPr>
        <p:sp>
          <p:nvSpPr>
            <p:cNvPr id="17" name="Rectangle 17"/>
            <p:cNvSpPr/>
            <p:nvPr/>
          </p:nvSpPr>
          <p:spPr>
            <a:xfrm>
              <a:off x="6680835" y="4890135"/>
              <a:ext cx="4977765" cy="1459230"/>
            </a:xfrm>
            <a:prstGeom prst="roundRect">
              <a:avLst>
                <a:gd name="adj" fmla="val 913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67525" y="507682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41845" y="510968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这一行最值得学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56054" y="5112068"/>
              <a:ext cx="2864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super.downloadFile(score / 2)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0667" y="5437823"/>
              <a:ext cx="43171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专家的下载规则是“按一半的价钱走普通流程”。把参数减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半再交回父类，积分不足的判断、扣分、状态检查全都不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用重写。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实例一：论坛用户等级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代码（三）：环境类与客户端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396054" cy="308039"/>
            <a:chOff x="525399" y="1550194"/>
            <a:chExt cx="939605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3960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环境类保管积分和当前状态，三个业务方法各只有一句转调。客户端从头到尾没提过“等级”两个字。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6492240" cy="4153852"/>
            <a:chOff x="533400" y="1967865"/>
            <a:chExt cx="6492240" cy="41538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492240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3984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 ForumAccount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783582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ForumAccount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AbstractState state;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当前等级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point;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积分留在环境类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ForumAccount(String name)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name;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.state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PrimaryState(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getPoint()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setPoint(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.point = p;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setState(AbstractState s) { state = s;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getLevel()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state.getStateName();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writeNote(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state.writeNote(n);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replyNote(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state.replyNote(n);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download(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state.downloadFile(n);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330440" y="1967865"/>
            <a:ext cx="4328160" cy="2530792"/>
            <a:chOff x="7330440" y="1967865"/>
            <a:chExt cx="4328160" cy="2530792"/>
          </a:xfrm>
        </p:grpSpPr>
        <p:sp>
          <p:nvSpPr>
            <p:cNvPr id="13" name="Rectangle 13"/>
            <p:cNvSpPr/>
            <p:nvPr/>
          </p:nvSpPr>
          <p:spPr>
            <a:xfrm>
              <a:off x="7330440" y="1967865"/>
              <a:ext cx="432816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5883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8075" y="2381726"/>
              <a:ext cx="2251710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ForumAccount u =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ForumAccount(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u.writeNote(20);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u.download(10);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u.replyNote(10);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u.writeNote(80);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u.writeNote(100);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u.download(150);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u.writeNote(450);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u.download(200);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7330440" y="4689158"/>
            <a:ext cx="4328160" cy="1621155"/>
            <a:chOff x="7330440" y="4689158"/>
            <a:chExt cx="4328160" cy="1621155"/>
          </a:xfrm>
        </p:grpSpPr>
        <p:sp>
          <p:nvSpPr>
            <p:cNvPr id="17" name="Rectangle 17"/>
            <p:cNvSpPr/>
            <p:nvPr/>
          </p:nvSpPr>
          <p:spPr>
            <a:xfrm>
              <a:off x="7330440" y="4689158"/>
              <a:ext cx="4328160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39990" y="48987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30198" y="49344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018" y="49339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客户端调的一直是同一个对象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2370" y="5294948"/>
              <a:ext cx="3691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九次调用里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u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没变过，变的只是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u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内部那个</a:t>
              </a:r>
              <a:br/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state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。同一句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u.download(...)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，前后三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次走的是三段不同的代码。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实例一：论坛用户等级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完整运行轨迹：九次调用走过三个等级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99109" cy="264033"/>
            <a:chOff x="526542" y="1545907"/>
            <a:chExt cx="859910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99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逐行核对一遍。中间一列是这次调用最终由哪个类的方法处理，右列是 checkState() 之后的积分和等级。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28447" y="1928812"/>
            <a:ext cx="5415153" cy="2552414"/>
            <a:chOff x="528447" y="1928812"/>
            <a:chExt cx="5415153" cy="25524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25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04756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8538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134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ForumAccount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59724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构造时设为新手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5218" y="2426970"/>
              <a:ext cx="512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0，新手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1071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writeNote(20)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59724" y="2808923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父类加 20 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5218" y="2808923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20，新手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982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download(10)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59724" y="3189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新手覆盖，拒绝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30065" y="3082290"/>
              <a:ext cx="160401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15218" y="3189923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20，新手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571875"/>
              <a:ext cx="1041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replyNote(10)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59724" y="3571875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父类加 10 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5218" y="3571875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30，新手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3952875"/>
              <a:ext cx="1071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writeNote(80)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59724" y="3952875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父类加 80 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330065" y="3845242"/>
              <a:ext cx="16040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15218" y="3952875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110，升高手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2881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26028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1577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47" y="42905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前五步：新手升到高手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607242"/>
            <a:ext cx="5410200" cy="1022032"/>
            <a:chOff x="533400" y="4607242"/>
            <a:chExt cx="5410200" cy="1022032"/>
          </a:xfrm>
        </p:grpSpPr>
        <p:sp>
          <p:nvSpPr>
            <p:cNvPr id="41" name="Rectangle 41"/>
            <p:cNvSpPr/>
            <p:nvPr/>
          </p:nvSpPr>
          <p:spPr>
            <a:xfrm>
              <a:off x="533400" y="4607242"/>
              <a:ext cx="5410200" cy="1022032"/>
            </a:xfrm>
            <a:prstGeom prst="roundRect">
              <a:avLst>
                <a:gd name="adj" fmla="val 111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017772"/>
              <a:ext cx="200023" cy="200023"/>
              <a:chOff x="738188" y="5017772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0177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50844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4911566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前四步都停在新手，第五步一越过 100 分，状态对象就被换掉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6243447" y="1928812"/>
            <a:ext cx="5415153" cy="2170462"/>
            <a:chOff x="6243447" y="1928812"/>
            <a:chExt cx="5415153" cy="2170462"/>
          </a:xfrm>
        </p:grpSpPr>
        <p:sp>
          <p:nvSpPr>
            <p:cNvPr id="47" name="Rectangle 47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675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975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由谁处理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0038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43079" y="2426970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writeNote(100)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74724" y="2426970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高手覆盖，双倍 200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30218" y="242697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310，高手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2808923"/>
              <a:ext cx="1064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download(150)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74724" y="2808923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父类全额扣 150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30218" y="2808923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160，高手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3079" y="3189923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writeNote(450)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74724" y="3189923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高手双倍，加 900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045065" y="3082290"/>
              <a:ext cx="16040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130218" y="3189923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1060，升专家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3079" y="3571875"/>
              <a:ext cx="1064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download(200)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74724" y="3571875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专家覆盖，只扣 100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045065" y="3463290"/>
              <a:ext cx="16040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130218" y="3571875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960，退回高手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97528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03077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43447" y="390858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后四步：升到专家又退回高手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248400" y="4226242"/>
            <a:ext cx="5410200" cy="1403032"/>
            <a:chOff x="6248400" y="4226242"/>
            <a:chExt cx="5410200" cy="1403032"/>
          </a:xfrm>
        </p:grpSpPr>
        <p:sp>
          <p:nvSpPr>
            <p:cNvPr id="75" name="Rectangle 75"/>
            <p:cNvSpPr/>
            <p:nvPr/>
          </p:nvSpPr>
          <p:spPr>
            <a:xfrm>
              <a:off x="6248400" y="4226242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7925" y="435959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67475" y="44072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52044" y="44400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83006" y="444674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降级用的是同一段判断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60998" y="4762976"/>
              <a:ext cx="47190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专家下载扣掉 100 分后积分 960，落回 100 到 1000 这一档，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checkState()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就把状态换成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MiddleState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。升级和降级共用一段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7930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两次 download 是这个例子的看点：同样一句调用，因为当前状态不同，一次被拒绝，一次只扣了一半。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实例二：银行账户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正常、透支、受限三种状态，余额决定当前处在哪一种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需求与状态图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类图与边界更正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三个状态类的代码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完整运行轨迹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实例二：银行账户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需求：余额落在哪一段，账户就是哪种状态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96300" cy="293370"/>
            <a:chOff x="525780" y="1548765"/>
            <a:chExt cx="84963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这个例子和论坛等级是同一个骨架，换成了余额。区别在于受限状态下有一个操作被直接禁掉。</a:t>
              </a:r>
            </a:p>
          </p:txBody>
        </p:sp>
      </p:grpSp>
      <p:grpSp>
        <p:nvGrpSpPr>
          <p:cNvPr id="39" name="c1-graph-1"/>
          <p:cNvGrpSpPr/>
          <p:nvPr/>
        </p:nvGrpSpPr>
        <p:grpSpPr>
          <a:xfrm>
            <a:off x="933450" y="2077402"/>
            <a:ext cx="4826318" cy="2301717"/>
            <a:chOff x="933450" y="2077402"/>
            <a:chExt cx="4826318" cy="2301717"/>
          </a:xfrm>
        </p:grpSpPr>
        <p:sp>
          <p:nvSpPr>
            <p:cNvPr id="9" name="Freeform 9"/>
            <p:cNvSpPr/>
            <p:nvPr/>
          </p:nvSpPr>
          <p:spPr>
            <a:xfrm>
              <a:off x="1654492" y="3331845"/>
              <a:ext cx="1341120" cy="397827"/>
            </a:xfrm>
            <a:custGeom>
              <a:avLst/>
              <a:gdLst/>
              <a:ahLst/>
              <a:cxnLst/>
              <a:rect l="l" t="t" r="r" b="b"/>
              <a:pathLst>
                <a:path w="1341120" h="397827">
                  <a:moveTo>
                    <a:pt x="0" y="0"/>
                  </a:moveTo>
                  <a:cubicBezTo>
                    <a:pt x="471805" y="377825"/>
                    <a:pt x="918845" y="397827"/>
                    <a:pt x="1341120" y="600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5132" y="3331845"/>
              <a:ext cx="104775" cy="97155"/>
            </a:xfrm>
            <a:custGeom>
              <a:avLst/>
              <a:gdLst/>
              <a:ahLst/>
              <a:cxnLst/>
              <a:rect l="l" t="t" r="r" b="b"/>
              <a:pathLst>
                <a:path w="104775" h="97155">
                  <a:moveTo>
                    <a:pt x="104775" y="0"/>
                  </a:moveTo>
                  <a:lnTo>
                    <a:pt x="60008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8788" y="2491740"/>
              <a:ext cx="1341120" cy="397192"/>
            </a:xfrm>
            <a:custGeom>
              <a:avLst/>
              <a:gdLst/>
              <a:ahLst/>
              <a:cxnLst/>
              <a:rect l="l" t="t" r="r" b="b"/>
              <a:pathLst>
                <a:path w="1341120" h="397192">
                  <a:moveTo>
                    <a:pt x="1341120" y="397192"/>
                  </a:moveTo>
                  <a:cubicBezTo>
                    <a:pt x="869315" y="20002"/>
                    <a:pt x="422275" y="0"/>
                    <a:pt x="0" y="3371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54492" y="2791778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4768" y="0"/>
                  </a:lnTo>
                  <a:lnTo>
                    <a:pt x="103823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24262" y="3331845"/>
              <a:ext cx="1340168" cy="397827"/>
            </a:xfrm>
            <a:custGeom>
              <a:avLst/>
              <a:gdLst/>
              <a:ahLst/>
              <a:cxnLst/>
              <a:rect l="l" t="t" r="r" b="b"/>
              <a:pathLst>
                <a:path w="1340168" h="397827">
                  <a:moveTo>
                    <a:pt x="0" y="0"/>
                  </a:moveTo>
                  <a:cubicBezTo>
                    <a:pt x="471170" y="377825"/>
                    <a:pt x="917893" y="397827"/>
                    <a:pt x="1340168" y="600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934902" y="3331845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59055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698558" y="2491740"/>
              <a:ext cx="1340168" cy="397192"/>
            </a:xfrm>
            <a:custGeom>
              <a:avLst/>
              <a:gdLst/>
              <a:ahLst/>
              <a:cxnLst/>
              <a:rect l="l" t="t" r="r" b="b"/>
              <a:pathLst>
                <a:path w="1340168" h="397192">
                  <a:moveTo>
                    <a:pt x="1340168" y="397192"/>
                  </a:moveTo>
                  <a:cubicBezTo>
                    <a:pt x="868362" y="20002"/>
                    <a:pt x="421640" y="0"/>
                    <a:pt x="0" y="3371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24262" y="279177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43815" y="0"/>
                  </a:lnTo>
                  <a:lnTo>
                    <a:pt x="103822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77315" y="3341370"/>
              <a:ext cx="3889057" cy="924877"/>
            </a:xfrm>
            <a:custGeom>
              <a:avLst/>
              <a:gdLst/>
              <a:ahLst/>
              <a:cxnLst/>
              <a:rect l="l" t="t" r="r" b="b"/>
              <a:pathLst>
                <a:path w="3889057" h="924877">
                  <a:moveTo>
                    <a:pt x="0" y="0"/>
                  </a:moveTo>
                  <a:lnTo>
                    <a:pt x="562928" y="924877"/>
                  </a:lnTo>
                  <a:lnTo>
                    <a:pt x="3375660" y="924877"/>
                  </a:lnTo>
                  <a:lnTo>
                    <a:pt x="3889057" y="81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225415" y="3341370"/>
              <a:ext cx="90488" cy="106680"/>
            </a:xfrm>
            <a:custGeom>
              <a:avLst/>
              <a:gdLst/>
              <a:ahLst/>
              <a:cxnLst/>
              <a:rect l="l" t="t" r="r" b="b"/>
              <a:pathLst>
                <a:path w="90488" h="106680">
                  <a:moveTo>
                    <a:pt x="90488" y="0"/>
                  </a:moveTo>
                  <a:lnTo>
                    <a:pt x="81915" y="10668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435418" y="2155508"/>
              <a:ext cx="3880485" cy="723900"/>
            </a:xfrm>
            <a:custGeom>
              <a:avLst/>
              <a:gdLst/>
              <a:ahLst/>
              <a:cxnLst/>
              <a:rect l="l" t="t" r="r" b="b"/>
              <a:pathLst>
                <a:path w="3880485" h="723900">
                  <a:moveTo>
                    <a:pt x="3880485" y="723900"/>
                  </a:moveTo>
                  <a:lnTo>
                    <a:pt x="3317558" y="0"/>
                  </a:lnTo>
                  <a:lnTo>
                    <a:pt x="504825" y="0"/>
                  </a:lnTo>
                  <a:lnTo>
                    <a:pt x="0" y="6486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377315" y="2774632"/>
              <a:ext cx="96202" cy="104775"/>
            </a:xfrm>
            <a:custGeom>
              <a:avLst/>
              <a:gdLst/>
              <a:ahLst/>
              <a:cxnLst/>
              <a:rect l="l" t="t" r="r" b="b"/>
              <a:pathLst>
                <a:path w="96202" h="104775">
                  <a:moveTo>
                    <a:pt x="0" y="104775"/>
                  </a:moveTo>
                  <a:lnTo>
                    <a:pt x="20955" y="0"/>
                  </a:lnTo>
                  <a:lnTo>
                    <a:pt x="96202" y="590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3450" y="2888932"/>
              <a:ext cx="886778" cy="443865"/>
            </a:xfrm>
            <a:prstGeom prst="roundRect">
              <a:avLst>
                <a:gd name="adj" fmla="val 2145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03220" y="2888932"/>
              <a:ext cx="886778" cy="443865"/>
            </a:xfrm>
            <a:prstGeom prst="roundRect">
              <a:avLst>
                <a:gd name="adj" fmla="val 21459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872990" y="2888932"/>
              <a:ext cx="886778" cy="443865"/>
            </a:xfrm>
            <a:prstGeom prst="roundRect">
              <a:avLst>
                <a:gd name="adj" fmla="val 21459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40434" y="30494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10204" y="30494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79022" y="30494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79308" y="3536632"/>
              <a:ext cx="56578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8025" y="3565684"/>
              <a:ext cx="528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取款后 &lt;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061210" y="2526982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98025" y="2556986"/>
              <a:ext cx="528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存款后 ≥ 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30028" y="3536632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47524" y="3565684"/>
              <a:ext cx="5669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取到 -2000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986212" y="2526982"/>
              <a:ext cx="69056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00609" y="2556986"/>
              <a:ext cx="6608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存后 &gt; -2000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46095" y="4188142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63592" y="4217194"/>
              <a:ext cx="5669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取到 -2000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45142" y="2077402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82910" y="2106454"/>
              <a:ext cx="528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存款后 ≥ 0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652962"/>
            <a:ext cx="5626418" cy="1480185"/>
            <a:chOff x="533400" y="4652962"/>
            <a:chExt cx="5626418" cy="1480185"/>
          </a:xfrm>
        </p:grpSpPr>
        <p:sp>
          <p:nvSpPr>
            <p:cNvPr id="40" name="Rectangle 40"/>
            <p:cNvSpPr/>
            <p:nvPr/>
          </p:nvSpPr>
          <p:spPr>
            <a:xfrm>
              <a:off x="533400" y="4652962"/>
              <a:ext cx="5626418" cy="1480185"/>
            </a:xfrm>
            <a:prstGeom prst="roundRect">
              <a:avLst>
                <a:gd name="adj" fmla="val 77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293043"/>
              <a:ext cx="200026" cy="200025"/>
              <a:chOff x="738188" y="5293043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2930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3374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54486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5162074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六条转换只由一件事决定：这次操作之后余额落进了哪个区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464618" y="1954530"/>
            <a:ext cx="5193982" cy="2146935"/>
            <a:chOff x="6464618" y="1954530"/>
            <a:chExt cx="5193982" cy="2146935"/>
          </a:xfrm>
        </p:grpSpPr>
        <p:sp>
          <p:nvSpPr>
            <p:cNvPr id="47" name="Rectangle 47"/>
            <p:cNvSpPr/>
            <p:nvPr/>
          </p:nvSpPr>
          <p:spPr>
            <a:xfrm>
              <a:off x="6464618" y="1954530"/>
              <a:ext cx="5193982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51560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3290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余额区间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9406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能做的事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9964" y="2515552"/>
              <a:ext cx="1414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 NormalState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9722" y="2515552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 ≥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94189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存取款，不计息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2814638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9964" y="2946082"/>
              <a:ext cx="127635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透支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OverdraftState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39722" y="3052762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-2000 &lt; 余额 &lt;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94189" y="305276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存取款，按天计息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34537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9964" y="3589972"/>
              <a:ext cx="1292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受限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RestrictedState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39722" y="3696652"/>
              <a:ext cx="965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 = -2000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798368" y="3468052"/>
              <a:ext cx="1850708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94189" y="36966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只能存款，按天计息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1954530"/>
              <a:ext cx="5193982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329612" y="195453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84080" y="195453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6464618" y="4287202"/>
            <a:ext cx="5193982" cy="1845945"/>
            <a:chOff x="6464618" y="4287202"/>
            <a:chExt cx="5193982" cy="1845945"/>
          </a:xfrm>
        </p:grpSpPr>
        <p:sp>
          <p:nvSpPr>
            <p:cNvPr id="68" name="Rectangle 68"/>
            <p:cNvSpPr/>
            <p:nvPr/>
          </p:nvSpPr>
          <p:spPr>
            <a:xfrm>
              <a:off x="6464618" y="4287202"/>
              <a:ext cx="5193982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74142" y="4420552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706552" y="44910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97713" y="4526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07961" y="4530566"/>
              <a:ext cx="25984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原状态图在 -2000 处有个缺口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99314" y="4882991"/>
              <a:ext cx="440575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课件把进入受限状态的条件写成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balance == -2000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额一旦被取到 -2000 以下，三条守卫条件全不成立，账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户会停在原状态。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00456" y="5741670"/>
              <a:ext cx="4543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讲义在取款里先拒绝超额操作，-2000 才成为真正到得了的边界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实例二：银行账户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类图：和论坛那张是同一个骨架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13756" cy="308039"/>
            <a:chOff x="525399" y="1550194"/>
            <a:chExt cx="951375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137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ForumAccount 换成 Account，把积分换成余额，把三个等级换成三种账户状态，其余一模一样。</a:t>
              </a:r>
            </a:p>
          </p:txBody>
        </p:sp>
      </p:grpSp>
      <p:grpSp>
        <p:nvGrpSpPr>
          <p:cNvPr id="55" name="c1-uml-1"/>
          <p:cNvGrpSpPr/>
          <p:nvPr/>
        </p:nvGrpSpPr>
        <p:grpSpPr>
          <a:xfrm>
            <a:off x="637222" y="2181225"/>
            <a:ext cx="6233161" cy="3457575"/>
            <a:chOff x="637222" y="2181225"/>
            <a:chExt cx="6233161" cy="3457575"/>
          </a:xfrm>
        </p:grpSpPr>
        <p:sp>
          <p:nvSpPr>
            <p:cNvPr id="9" name="Freeform 9"/>
            <p:cNvSpPr/>
            <p:nvPr/>
          </p:nvSpPr>
          <p:spPr>
            <a:xfrm>
              <a:off x="2052638" y="3066098"/>
              <a:ext cx="1882140" cy="9525"/>
            </a:xfrm>
            <a:custGeom>
              <a:avLst/>
              <a:gdLst/>
              <a:ahLst/>
              <a:cxnLst/>
              <a:rect l="l" t="t" r="r" b="b"/>
              <a:pathLst>
                <a:path w="1882140" h="9525">
                  <a:moveTo>
                    <a:pt x="0" y="0"/>
                  </a:moveTo>
                  <a:lnTo>
                    <a:pt x="188214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30002" y="300894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44930" y="2181225"/>
              <a:ext cx="3246120" cy="266700"/>
            </a:xfrm>
            <a:custGeom>
              <a:avLst/>
              <a:gdLst/>
              <a:ahLst/>
              <a:cxnLst/>
              <a:rect l="l" t="t" r="r" b="b"/>
              <a:pathLst>
                <a:path w="3246120" h="266700">
                  <a:moveTo>
                    <a:pt x="3246120" y="266700"/>
                  </a:moveTo>
                  <a:lnTo>
                    <a:pt x="3246120" y="0"/>
                  </a:lnTo>
                  <a:lnTo>
                    <a:pt x="0" y="0"/>
                  </a:lnTo>
                  <a:lnTo>
                    <a:pt x="0" y="26670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86828" y="2343150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67990" y="3810952"/>
              <a:ext cx="1432560" cy="1159192"/>
            </a:xfrm>
            <a:custGeom>
              <a:avLst/>
              <a:gdLst/>
              <a:ahLst/>
              <a:cxnLst/>
              <a:rect l="l" t="t" r="r" b="b"/>
              <a:pathLst>
                <a:path w="1432560" h="1159192">
                  <a:moveTo>
                    <a:pt x="0" y="1159192"/>
                  </a:moveTo>
                  <a:lnTo>
                    <a:pt x="0" y="516255"/>
                  </a:lnTo>
                  <a:lnTo>
                    <a:pt x="1432560" y="516255"/>
                  </a:lnTo>
                  <a:lnTo>
                    <a:pt x="14325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27208" y="36852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91050" y="3810952"/>
              <a:ext cx="9525" cy="1159192"/>
            </a:xfrm>
            <a:custGeom>
              <a:avLst/>
              <a:gdLst/>
              <a:ahLst/>
              <a:cxnLst/>
              <a:rect l="l" t="t" r="r" b="b"/>
              <a:pathLst>
                <a:path w="9525" h="1159192">
                  <a:moveTo>
                    <a:pt x="0" y="1159192"/>
                  </a:moveTo>
                  <a:lnTo>
                    <a:pt x="0" y="516255"/>
                  </a:lnTo>
                  <a:lnTo>
                    <a:pt x="0" y="51625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17708" y="36852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81550" y="3810952"/>
              <a:ext cx="1432560" cy="1077278"/>
            </a:xfrm>
            <a:custGeom>
              <a:avLst/>
              <a:gdLst/>
              <a:ahLst/>
              <a:cxnLst/>
              <a:rect l="l" t="t" r="r" b="b"/>
              <a:pathLst>
                <a:path w="1432560" h="1077278">
                  <a:moveTo>
                    <a:pt x="1432560" y="1077278"/>
                  </a:moveTo>
                  <a:lnTo>
                    <a:pt x="1432560" y="476250"/>
                  </a:lnTo>
                  <a:lnTo>
                    <a:pt x="0" y="4762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08208" y="36852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7222" y="2447925"/>
              <a:ext cx="1415415" cy="123729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3890" y="2454592"/>
              <a:ext cx="140112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7222" y="2678430"/>
              <a:ext cx="14154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37222" y="3097530"/>
              <a:ext cx="14154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34778" y="2447925"/>
              <a:ext cx="1312545" cy="123729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42398" y="2454592"/>
              <a:ext cx="129825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34778" y="2678430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34778" y="2935605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11718" y="4970145"/>
              <a:ext cx="131254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18385" y="4976812"/>
              <a:ext cx="129825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11718" y="5200650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11718" y="5295900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34778" y="4970145"/>
              <a:ext cx="131254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42398" y="4976812"/>
              <a:ext cx="129825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34778" y="5200650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34778" y="5295900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57838" y="4888230"/>
              <a:ext cx="131254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64505" y="4895850"/>
              <a:ext cx="129825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57838" y="511968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57838" y="521493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1162" y="2503646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Account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8660" y="2747962"/>
              <a:ext cx="127254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AccountState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balance: double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8660" y="3168015"/>
              <a:ext cx="116967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deposit(double)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withdraw(double)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computeInterest()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4655" y="2503646"/>
              <a:ext cx="932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AccountState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06215" y="2747962"/>
              <a:ext cx="8868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acc: Account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06215" y="3005138"/>
              <a:ext cx="1169670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deposit(double)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withdraw(double)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computeInterest()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stateCheck()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43188" y="5025866"/>
              <a:ext cx="84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NormalState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83155" y="5365432"/>
              <a:ext cx="1243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computeInterest()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34503" y="5025866"/>
              <a:ext cx="1113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OverdraftState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06215" y="5365432"/>
              <a:ext cx="1243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computeInterest()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50879" y="4943951"/>
              <a:ext cx="1126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RestrictedState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29275" y="5284470"/>
              <a:ext cx="116967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withdraw(double)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computeInterest()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763202" y="2849880"/>
              <a:ext cx="46196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794016" y="28765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10828" y="2214562"/>
              <a:ext cx="31527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46041" y="224123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acc</a:t>
              </a:r>
            </a:p>
          </p:txBody>
        </p:sp>
      </p:grpSp>
      <p:grpSp>
        <p:nvGrpSpPr>
          <p:cNvPr id="69" name="c2-bullets-1"/>
          <p:cNvGrpSpPr/>
          <p:nvPr/>
        </p:nvGrpSpPr>
        <p:grpSpPr>
          <a:xfrm>
            <a:off x="7322820" y="1992630"/>
            <a:ext cx="3086938" cy="2103405"/>
            <a:chOff x="7322820" y="1992630"/>
            <a:chExt cx="3086938" cy="2103405"/>
          </a:xfrm>
        </p:grpSpPr>
        <p:sp>
          <p:nvSpPr>
            <p:cNvPr id="56" name="TextBox 56"/>
            <p:cNvSpPr txBox="1"/>
            <p:nvPr/>
          </p:nvSpPr>
          <p:spPr>
            <a:xfrm>
              <a:off x="7322820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三个状态类各覆盖什么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36155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94270" y="2346960"/>
              <a:ext cx="2310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NormalState 只覆盖利息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501890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5913" y="263985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存取款都走父类那一份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36155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94270" y="2949892"/>
              <a:ext cx="2896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OverdraftState 也只覆盖利息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501890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5913" y="32427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它和正常状态的存取规则相同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36155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94270" y="3552825"/>
              <a:ext cx="2915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RestrictedState 还要覆盖取款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501890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685913" y="384667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必须挡住取款并给出提示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7330440" y="4235768"/>
            <a:ext cx="4328160" cy="1906905"/>
            <a:chOff x="7330440" y="4235768"/>
            <a:chExt cx="4328160" cy="1906905"/>
          </a:xfrm>
        </p:grpSpPr>
        <p:sp>
          <p:nvSpPr>
            <p:cNvPr id="70" name="Rectangle 70"/>
            <p:cNvSpPr/>
            <p:nvPr/>
          </p:nvSpPr>
          <p:spPr>
            <a:xfrm>
              <a:off x="7330440" y="4235768"/>
              <a:ext cx="432816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339965" y="4369118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578090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68298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179118" y="4480560"/>
              <a:ext cx="3296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受限状态为什么还留着 withdraw()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70470" y="4841558"/>
              <a:ext cx="3549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状态图里受限状态的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列表没有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withdraw，类图里却有。两者不矛盾：方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法必须覆盖，才能在被调用时打印“不能取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款”，而不是悄悄改了余额。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实例二：银行账户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代码（一）：环境类保管余额，状态判断只写一份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328780" cy="293370"/>
            <a:chOff x="525780" y="1548765"/>
            <a:chExt cx="93287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328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Account 的三个业务方法各只有一句转调。stateCheck() 按余额区间选状态，三个状态类共用这一份。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842635" cy="3912870"/>
            <a:chOff x="533400" y="1954530"/>
            <a:chExt cx="5842635" cy="391287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3912870"/>
            </a:xfrm>
            <a:prstGeom prst="roundRect">
              <a:avLst>
                <a:gd name="adj" fmla="val 24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85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 Account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4191191" cy="342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 {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环境类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AccountState state;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当前状态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init)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.balance = init;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.state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NormalState(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getBalance()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setBalance(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 balance = b;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setState(AccountState s) { state = s;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 { state.deposit(n);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withdraw(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state.withdraw(n);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computeInterest()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state.computeInterest();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680835" y="1954530"/>
            <a:ext cx="4977765" cy="2586990"/>
            <a:chOff x="6680835" y="1954530"/>
            <a:chExt cx="4977765" cy="2586990"/>
          </a:xfrm>
        </p:grpSpPr>
        <p:sp>
          <p:nvSpPr>
            <p:cNvPr id="13" name="Rectangle 13"/>
            <p:cNvSpPr/>
            <p:nvPr/>
          </p:nvSpPr>
          <p:spPr>
            <a:xfrm>
              <a:off x="6680835" y="1954530"/>
              <a:ext cx="4977765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09232" y="210645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抽象状态类里的状态判断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8851" y="2367915"/>
              <a:ext cx="3457766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三种状态共用这一份判断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stateCheck()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acc.getBalance();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 &gt;= 0)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NormalState(acc));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 &gt; -2000)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OverdraftState(acc));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acc.setState(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RestrictedState(acc));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6680835" y="4721542"/>
            <a:ext cx="4977765" cy="1540192"/>
            <a:chOff x="6680835" y="4721542"/>
            <a:chExt cx="4977765" cy="1540192"/>
          </a:xfrm>
        </p:grpSpPr>
        <p:sp>
          <p:nvSpPr>
            <p:cNvPr id="17" name="Rectangle 17"/>
            <p:cNvSpPr/>
            <p:nvPr/>
          </p:nvSpPr>
          <p:spPr>
            <a:xfrm>
              <a:off x="6680835" y="4721542"/>
              <a:ext cx="497776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90360" y="4854892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17055" y="491966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0494" y="4953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一处代价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7066" y="4955381"/>
              <a:ext cx="26090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每次判断都 new 一个状态对象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09816" y="5298281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即使状态没变也会新建一个。状态数多、调用频繁时可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以先比一下类型再决定换不换，或者按第五部分的共享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状态做成静态成员。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实例二：银行账户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代码（二）：存款取款写在父类，取款里挡住超额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36686" cy="308039"/>
            <a:chOff x="525399" y="1550194"/>
            <a:chExt cx="87366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366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存款三种状态都一样，取款在正常和透支状态下也一样，所以两个方法都放在抽象状态类里。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6059805" cy="3950970"/>
            <a:chOff x="533400" y="1967865"/>
            <a:chExt cx="6059805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634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抽象状态类 AccountState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164838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AccountState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 acc;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回指环境类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三态都能存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acc.setBalance(acc.getBalance() + 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stateCheck();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withdraw(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正常与透支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(acc.getBalance() - n &lt; -2000)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"超出透支额度。"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acc.setBalance(acc.getBalance() - 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stateCheck();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computeInterest();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890385" y="1992630"/>
            <a:ext cx="3736683" cy="2103405"/>
            <a:chOff x="6890385" y="1992630"/>
            <a:chExt cx="3736683" cy="2103405"/>
          </a:xfrm>
        </p:grpSpPr>
        <p:sp>
          <p:nvSpPr>
            <p:cNvPr id="13" name="TextBox 13"/>
            <p:cNvSpPr txBox="1"/>
            <p:nvPr/>
          </p:nvSpPr>
          <p:spPr>
            <a:xfrm>
              <a:off x="6890385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这段代码守住了三件事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898005" y="237839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48512" y="2346960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余额永远不低于 -2000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5613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40156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越界的取款在改余额之前就被拦下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98005" y="298132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48512" y="29498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每次改完余额都重新判断状态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5613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0156" y="3242786"/>
              <a:ext cx="2931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存取款两条路径都调了 stateCheck()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898005" y="358425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8512" y="3552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利息由子类各自实现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5613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40156" y="384667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三种状态的说法不同，所以声明成抽象方法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898005" y="4235768"/>
            <a:ext cx="4760595" cy="1682115"/>
            <a:chOff x="6898005" y="4235768"/>
            <a:chExt cx="4760595" cy="1682115"/>
          </a:xfrm>
        </p:grpSpPr>
        <p:sp>
          <p:nvSpPr>
            <p:cNvPr id="27" name="Rectangle 27"/>
            <p:cNvSpPr/>
            <p:nvPr/>
          </p:nvSpPr>
          <p:spPr>
            <a:xfrm>
              <a:off x="6898005" y="4235768"/>
              <a:ext cx="4760595" cy="1682115"/>
            </a:xfrm>
            <a:prstGeom prst="roundRect">
              <a:avLst>
                <a:gd name="adj" fmla="val 79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07530" y="4369118"/>
              <a:ext cx="47625" cy="14154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45655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5863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5730" y="44805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判断要写在扣款之前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8035" y="4841558"/>
              <a:ext cx="4082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先扣再判断的话，余额已经被改成 -2100 了，再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回滚一次既啰嗦又容易漏。取款类的操作一律先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校验后改数据。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实例二：银行账户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代码（三）：三个具体状态类与客户端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142922" cy="293370"/>
            <a:chOff x="525780" y="1548765"/>
            <a:chExt cx="814292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142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正常和透支状态只需要各写一句利息提示，受限状态多写一个 withdraw() 把取款挡回去。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11125200" cy="2966085"/>
            <a:chOff x="533400" y="1954530"/>
            <a:chExt cx="11125200" cy="296608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三个具体状态类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6084761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NormalState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AccountState {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正常状态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NormalState(Account acc)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.acc = acc;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computeInterest()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"正常状态，无须支付利息。"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OverdraftState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AccountState {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透支状态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OverdraftState(Account acc)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.acc = acc;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computeInterest()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"透支状态，按天计算利息。"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RestrictedState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AccountState {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受限状态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RestrictedState(Account acc)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.acc = acc;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withdraw(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"账户受限，不能取款。"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computeInterest()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"受限状态，按天计算利息。"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5100638"/>
            <a:ext cx="11125200" cy="1261110"/>
            <a:chOff x="533400" y="5100638"/>
            <a:chExt cx="11125200" cy="1261110"/>
          </a:xfrm>
        </p:grpSpPr>
        <p:sp>
          <p:nvSpPr>
            <p:cNvPr id="13" name="Rectangle 13"/>
            <p:cNvSpPr/>
            <p:nvPr/>
          </p:nvSpPr>
          <p:spPr>
            <a:xfrm>
              <a:off x="533400" y="5100638"/>
              <a:ext cx="11125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52525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5514022"/>
              <a:ext cx="477793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Account acc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Account(0);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acc.deposit(1000);   acc.withdraw(2000);   acc.computeInterest();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acc.withdraw(1000);  acc.withdraw(100);    acc.deposit(500);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acc.deposit(2000);   acc.computeInterest();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实例二：银行账户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完整运行轨迹：八次操作走遍三种状态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426459" cy="264033"/>
            <a:chOff x="526542" y="1545907"/>
            <a:chExt cx="8426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42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右列是 stateCheck() 按余额选出的状态。第三次取款正好把余额压到 -2000，是这个例子的关键一步。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28447" y="1928812"/>
            <a:ext cx="5415153" cy="2170462"/>
            <a:chOff x="528447" y="1928812"/>
            <a:chExt cx="5415153" cy="2170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25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5046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3109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1152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Account(0)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59724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构造时设为正常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06634" y="2426970"/>
              <a:ext cx="512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0，正常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103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deposit(1000)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59724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父类存款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06634" y="2808923"/>
              <a:ext cx="745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1000，正常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1175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withdraw(2000)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59724" y="3189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父类取款，未超额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21480" y="3082290"/>
              <a:ext cx="171259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06634" y="3189923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-1000，转透支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571875"/>
              <a:ext cx="1396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computeInterest()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59724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透支状态覆盖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06634" y="3571875"/>
              <a:ext cx="8234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-1000，透支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6028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0719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390858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前四步：正常到透支</a:t>
              </a:r>
            </a:p>
          </p:txBody>
        </p:sp>
      </p:grpSp>
      <p:grpSp>
        <p:nvGrpSpPr>
          <p:cNvPr id="41" name="c1-callout-2"/>
          <p:cNvGrpSpPr/>
          <p:nvPr/>
        </p:nvGrpSpPr>
        <p:grpSpPr>
          <a:xfrm>
            <a:off x="533400" y="4226242"/>
            <a:ext cx="5410200" cy="1487805"/>
            <a:chOff x="533400" y="4226242"/>
            <a:chExt cx="5410200" cy="1487805"/>
          </a:xfrm>
        </p:grpSpPr>
        <p:sp>
          <p:nvSpPr>
            <p:cNvPr id="36" name="Rectangle 36"/>
            <p:cNvSpPr/>
            <p:nvPr/>
          </p:nvSpPr>
          <p:spPr>
            <a:xfrm>
              <a:off x="533400" y="4226242"/>
              <a:ext cx="5410200" cy="1487805"/>
            </a:xfrm>
            <a:prstGeom prst="roundRect">
              <a:avLst>
                <a:gd name="adj" fmla="val 768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4869182"/>
              <a:ext cx="200023" cy="200023"/>
              <a:chOff x="738188" y="4869182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48691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49358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488013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第三步之后，同一个账户对象的取款行为已经换了一套实现。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243447" y="1928812"/>
            <a:ext cx="5415153" cy="2170462"/>
            <a:chOff x="6243447" y="1928812"/>
            <a:chExt cx="5415153" cy="2170462"/>
          </a:xfrm>
        </p:grpSpPr>
        <p:sp>
          <p:nvSpPr>
            <p:cNvPr id="42" name="Rectangle 42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675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546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由谁处理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4609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3079" y="2426970"/>
              <a:ext cx="1175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withdraw(1000)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74724" y="2426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父类取款，取到下限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21634" y="2426970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-2000，转受限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2808923"/>
              <a:ext cx="1094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withdraw(100)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74724" y="2808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受限覆盖，拒绝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936480" y="2701290"/>
              <a:ext cx="171259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021634" y="2808923"/>
              <a:ext cx="8234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-2000，受限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3189923"/>
              <a:ext cx="953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deposit(500)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74724" y="3189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父类存款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21634" y="3189923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-1500，回透支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3079" y="3571875"/>
              <a:ext cx="103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deposit(2000)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74724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父类存款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936480" y="3463290"/>
              <a:ext cx="17125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021634" y="3571875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500，回正常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97528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92219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43447" y="390858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后四步：受限再回到正常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248400" y="4226242"/>
            <a:ext cx="5410200" cy="1487805"/>
            <a:chOff x="6248400" y="4226242"/>
            <a:chExt cx="5410200" cy="1487805"/>
          </a:xfrm>
        </p:grpSpPr>
        <p:sp>
          <p:nvSpPr>
            <p:cNvPr id="70" name="Rectangle 70"/>
            <p:cNvSpPr/>
            <p:nvPr/>
          </p:nvSpPr>
          <p:spPr>
            <a:xfrm>
              <a:off x="6248400" y="4226242"/>
              <a:ext cx="5410200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4359592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67475" y="44072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60147" y="44400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33451" y="444674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和论坛那个例子只差三处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477000" y="481584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632448" y="4762976"/>
              <a:ext cx="4536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看的数从积分换成余额，界从 100 和 1000 换成 0 和 -2000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477000" y="510063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32448" y="504777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被禁的操作从下载换成取款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477000" y="538543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32448" y="533352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行为差异从加分倍率换成利息说法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8973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两个例子的骨架完全一样：环境类存数据，抽象状态类存公共算法和区间判断，子类只覆盖自己不同的那一两个方法。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效果、适用环境与两种扩展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优点集中在“分支变成了类”，缺点也集中在这一点上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三条缺点与适用环境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工作流与游戏里的应用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共享状态与简单状态模式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效果、适用环境与两种扩展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优点：把一大块条件控制切成了小块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02352" cy="264033"/>
            <a:chOff x="526542" y="1545907"/>
            <a:chExt cx="510235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课件列了四条。前两条讲代码结构，后两条讲改起来方不方便。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923" y="1949291"/>
            <a:ext cx="5632895" cy="2330577"/>
            <a:chOff x="526923" y="1949291"/>
            <a:chExt cx="5632895" cy="233057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简化逻辑控制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59483" y="194929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把一大段程序控制分成很多小块，每块用一个状态代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表，着眼点从执行语句提高到对象的状态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分离状态和行为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59483" y="2563654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所有状态类有共同接口，与某个状态相关的行为都放进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一个对象，调用方只关心切换，不关心处理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1770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更好的扩展性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59483" y="3177064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扩展一个新状态只要加一个实现类，再在做状态维护的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地方把状态指过去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890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37904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显式化状态转换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59483" y="3790474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上下文里只有一个变量记录状态对象，给这一个变量赋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值就完成转换，不会出现内部状态不一致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394835"/>
            <a:ext cx="5626418" cy="1772602"/>
            <a:chOff x="533400" y="4394835"/>
            <a:chExt cx="5626418" cy="1772602"/>
          </a:xfrm>
        </p:grpSpPr>
        <p:sp>
          <p:nvSpPr>
            <p:cNvPr id="21" name="Rectangle 21"/>
            <p:cNvSpPr/>
            <p:nvPr/>
          </p:nvSpPr>
          <p:spPr>
            <a:xfrm>
              <a:off x="533400" y="4394835"/>
              <a:ext cx="5626418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528185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5758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6086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对照本讲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8006" y="461533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四条优点落在论坛那个例子上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2000" y="49844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448" y="4931569"/>
              <a:ext cx="431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三个业务方法里的等级判断，收成了一个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checkState()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2000" y="526923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7448" y="5216366"/>
              <a:ext cx="4029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“新手不能下载”这条规则只出现在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PrimaryState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555402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5501164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加一个“版主”等级，就是再写一个类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583882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5786914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等级只由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这一个引用表示</a:t>
              </a:r>
            </a:p>
          </p:txBody>
        </p:sp>
      </p:grpSp>
      <p:grpSp>
        <p:nvGrpSpPr>
          <p:cNvPr id="59" name="c2-compare-1"/>
          <p:cNvGrpSpPr/>
          <p:nvPr/>
        </p:nvGrpSpPr>
        <p:grpSpPr>
          <a:xfrm>
            <a:off x="6464618" y="1928812"/>
            <a:ext cx="5193982" cy="2466975"/>
            <a:chOff x="6464618" y="1928812"/>
            <a:chExt cx="5193982" cy="2466975"/>
          </a:xfrm>
        </p:grpSpPr>
        <p:sp>
          <p:nvSpPr>
            <p:cNvPr id="35" name="Rectangle 35"/>
            <p:cNvSpPr/>
            <p:nvPr/>
          </p:nvSpPr>
          <p:spPr>
            <a:xfrm>
              <a:off x="6464618" y="1928812"/>
              <a:ext cx="2367915" cy="2466975"/>
            </a:xfrm>
            <a:prstGeom prst="roundRect">
              <a:avLst>
                <a:gd name="adj" fmla="val 56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2062162"/>
              <a:ext cx="47625" cy="22002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77216" y="2130266"/>
              <a:ext cx="1190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用一串 if-else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93218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48666" y="24322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每个方法里抄一遍分支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93218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48666" y="2717006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加一个状态要改所有方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93218" y="32975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8666" y="3244691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状态和行为混在一个类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93218" y="382524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48666" y="3772376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几个标志位可能互相打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290685" y="1928812"/>
              <a:ext cx="2367915" cy="2466975"/>
            </a:xfrm>
            <a:prstGeom prst="roundRect">
              <a:avLst>
                <a:gd name="adj" fmla="val 56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300210" y="2062162"/>
              <a:ext cx="47625" cy="2200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03283" y="21302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用状态模式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519285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74733" y="24322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一个状态一个类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519285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74733" y="27170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加状态就是加一个类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519285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74733" y="3001804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状态和它的行为绑在一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519285" y="358235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74733" y="35294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只有一个变量记录状态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881110" y="2981325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36164" y="310610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464618" y="4560570"/>
            <a:ext cx="5193982" cy="1605915"/>
            <a:chOff x="6464618" y="4560570"/>
            <a:chExt cx="5193982" cy="1605915"/>
          </a:xfrm>
        </p:grpSpPr>
        <p:sp>
          <p:nvSpPr>
            <p:cNvPr id="60" name="Rectangle 60"/>
            <p:cNvSpPr/>
            <p:nvPr/>
          </p:nvSpPr>
          <p:spPr>
            <a:xfrm>
              <a:off x="6464618" y="4560570"/>
              <a:ext cx="5193982" cy="1605915"/>
            </a:xfrm>
            <a:prstGeom prst="roundRect">
              <a:avLst>
                <a:gd name="adj" fmla="val 83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4142" y="4693920"/>
              <a:ext cx="47625" cy="1339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83692" y="474154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9214" y="477440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落到实处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99223" y="478107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最后一条最容易被忽略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77216" y="5097304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用布尔标志位表示状态时，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isOverdraft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isRestricted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同时为真。改成一个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引用之后，这种不一致在语法上就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不可能出现。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652332" cy="909257"/>
            <a:chOff x="520446" y="342900"/>
            <a:chExt cx="2652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效果、适用环境与两种扩展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275070" cy="293370"/>
            <a:chOff x="525780" y="1548765"/>
            <a:chExt cx="62750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缺点三条，其中第三条最值得记：状态模式对开闭原则的支持并不好。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6161" y="1977866"/>
            <a:ext cx="4645914" cy="1988725"/>
            <a:chOff x="526161" y="1977866"/>
            <a:chExt cx="4645914" cy="1988725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课件列的三条缺点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4791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096" y="231409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类和对象的个数必然增多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75335" y="266033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9739" y="259175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每种状态一个类，运行开销跟着增大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91750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8096" y="288369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结构与实现都比较复杂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75335" y="322992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9739" y="316134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用得不当会让程序结构和代码更乱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3488055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8096" y="345328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对开闭原则的支持不好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5335" y="379952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59739" y="373189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加新状态要改负责转换的源码，改某状态的行为要改对应类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099560"/>
            <a:ext cx="5410200" cy="1540192"/>
            <a:chOff x="533400" y="4099560"/>
            <a:chExt cx="5410200" cy="1540192"/>
          </a:xfrm>
        </p:grpSpPr>
        <p:sp>
          <p:nvSpPr>
            <p:cNvPr id="23" name="Rectangle 23"/>
            <p:cNvSpPr/>
            <p:nvPr/>
          </p:nvSpPr>
          <p:spPr>
            <a:xfrm>
              <a:off x="533400" y="4099560"/>
              <a:ext cx="5410200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23291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9620" y="42976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1060" y="4331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辨析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2931" y="43324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为什么它不满足开闭原则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381" y="4676299"/>
              <a:ext cx="462216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新加一个状态类本身不用改别人，但“什么时候转到这个新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状态”这句判断必须写进某个已有的类里，否则谁也到不了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它。</a:t>
              </a:r>
            </a:p>
          </p:txBody>
        </p:sp>
      </p:grpSp>
      <p:grpSp>
        <p:nvGrpSpPr>
          <p:cNvPr id="39" name="c2-bullets-1"/>
          <p:cNvGrpSpPr/>
          <p:nvPr/>
        </p:nvGrpSpPr>
        <p:grpSpPr>
          <a:xfrm>
            <a:off x="6241161" y="1977866"/>
            <a:ext cx="4009263" cy="1418178"/>
            <a:chOff x="6241161" y="1977866"/>
            <a:chExt cx="4009263" cy="1418178"/>
          </a:xfrm>
        </p:grpSpPr>
        <p:sp>
          <p:nvSpPr>
            <p:cNvPr id="30" name="TextBox 30"/>
            <p:cNvSpPr txBox="1"/>
            <p:nvPr/>
          </p:nvSpPr>
          <p:spPr>
            <a:xfrm>
              <a:off x="6241161" y="19778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适用环境（课件两条）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248400" y="234410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92621" y="231409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行为依赖于状态，状态改变导致行为变化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99860" y="266033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84264" y="259175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状态通常就是某几个属性值算出来的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48400" y="291369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92621" y="288369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代码里有大量与状态有关的条件语句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9860" y="322992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84264" y="3161348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分支让代码难维护，加删状态不方便，还加重耦合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3529012"/>
            <a:ext cx="5410200" cy="2109788"/>
            <a:chOff x="6248400" y="3529012"/>
            <a:chExt cx="5410200" cy="2109788"/>
          </a:xfrm>
        </p:grpSpPr>
        <p:sp>
          <p:nvSpPr>
            <p:cNvPr id="40" name="Rectangle 40"/>
            <p:cNvSpPr/>
            <p:nvPr/>
          </p:nvSpPr>
          <p:spPr>
            <a:xfrm>
              <a:off x="6248400" y="3529012"/>
              <a:ext cx="5410200" cy="2109788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662362"/>
              <a:ext cx="47625" cy="18430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84620" y="372713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8059" y="37614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反过来看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4631" y="376285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7381" y="410575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状态只有两种、转换规则也不会变时，一个布尔字段配几句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判断更清楚。为两个状态各写一个类，读代码的人要多跳两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次才能看到真正的逻辑。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7" name="Rectangle 4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11704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判断的落点是状态会不会增加、行为差异大不大，而不是现在有几个分支。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效果、适用环境与两种扩展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工程中的状态模式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82790" cy="293370"/>
            <a:chOff x="525780" y="1548765"/>
            <a:chExt cx="70827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课件给了工作流和游戏两处，这里再补两处常见的，以及一个容易认错的例子。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161" y="1977866"/>
            <a:ext cx="5633657" cy="2882837"/>
            <a:chOff x="526161" y="1977866"/>
            <a:chExt cx="5633657" cy="2882837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工作流软件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0619" y="1977866"/>
              <a:ext cx="398195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政府 OA 里一份批文有尚未办理、正在办理、正在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批示、正在审核、已经完成等状态，不同状态下能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做的操作不同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8194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2935129"/>
              <a:ext cx="81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RPG 游戏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619" y="2935129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角色升级伴随状态和行为的变化；游戏本身也有开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始、运行、结束等状态，可以用状态模式做总控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5090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61" y="362473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订单与协议栈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0619" y="3624739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电商订单的待付款、待发货、已发货、已完成，以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 TCP 连接的各个状态，都是典型状态机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1986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431434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别的常见场景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619" y="4314349"/>
              <a:ext cx="390080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自动售货机、电梯控制、游戏关卡：凡是“下一步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能做什么取决于现在在哪一步”的系统都算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990148"/>
            <a:ext cx="5626418" cy="1293495"/>
            <a:chOff x="533400" y="4990148"/>
            <a:chExt cx="5626418" cy="1293495"/>
          </a:xfrm>
        </p:grpSpPr>
        <p:sp>
          <p:nvSpPr>
            <p:cNvPr id="21" name="Rectangle 21"/>
            <p:cNvSpPr/>
            <p:nvPr/>
          </p:nvSpPr>
          <p:spPr>
            <a:xfrm>
              <a:off x="533400" y="4990148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5123498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519398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7644" y="52297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一个反面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60588" y="523351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状态多到几十个的时候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558593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每个状态一个类会让类文件成片出现。工作流引擎的做法是把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状态和转换存进数据库表，代码里只留少数几个通用处理类。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954530"/>
            <a:ext cx="5193982" cy="1564958"/>
            <a:chOff x="6464618" y="1954530"/>
            <a:chExt cx="5193982" cy="1564958"/>
          </a:xfrm>
        </p:grpSpPr>
        <p:sp>
          <p:nvSpPr>
            <p:cNvPr id="28" name="Rectangle 28"/>
            <p:cNvSpPr/>
            <p:nvPr/>
          </p:nvSpPr>
          <p:spPr>
            <a:xfrm>
              <a:off x="6464618" y="1954530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6552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71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7961" y="219789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有状态枚举不等于用了状态模式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9314" y="255031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Thread.State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只是一个枚举，线程的行为并没有按它分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派到不同的类里。判断的标准是：行为有没有跟着状态换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一套实现。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3704272"/>
            <a:ext cx="5193982" cy="1564958"/>
            <a:chOff x="6464618" y="3704272"/>
            <a:chExt cx="5193982" cy="1564958"/>
          </a:xfrm>
        </p:grpSpPr>
        <p:sp>
          <p:nvSpPr>
            <p:cNvPr id="35" name="Rectangle 35"/>
            <p:cNvSpPr/>
            <p:nvPr/>
          </p:nvSpPr>
          <p:spPr>
            <a:xfrm>
              <a:off x="6464618" y="3704272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383762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06552" y="390810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8861" y="39438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工程做法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92758" y="394858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状态机通常还要配一张转换表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9314" y="430006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状态一多，把“当前状态 + 事件 → 下一个状态”做成一张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表或一份配置，比写在代码里好维护。状态类仍然负责各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状态下的行为，表只负责转换。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464618" y="5454968"/>
            <a:ext cx="5193982" cy="828675"/>
            <a:chOff x="6464618" y="5454968"/>
            <a:chExt cx="5193982" cy="828675"/>
          </a:xfrm>
        </p:grpSpPr>
        <p:sp>
          <p:nvSpPr>
            <p:cNvPr id="42" name="Rectangle 42"/>
            <p:cNvSpPr/>
            <p:nvPr/>
          </p:nvSpPr>
          <p:spPr>
            <a:xfrm>
              <a:off x="6464618" y="5454968"/>
              <a:ext cx="5193982" cy="828675"/>
            </a:xfrm>
            <a:prstGeom prst="roundRect">
              <a:avLst>
                <a:gd name="adj" fmla="val 1379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69405" y="5769295"/>
              <a:ext cx="200023" cy="200023"/>
              <a:chOff x="6669405" y="5769295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9405" y="57692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02755" y="5835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71729" y="563832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工作流的共同点是：操作能不能做，取决于对象此刻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处在流程的哪一步。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效果、适用环境与两种扩展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扩展一：多个环境对象共享同一批状态对象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092440" cy="293370"/>
            <a:chOff x="525780" y="1548765"/>
            <a:chExt cx="80924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状态对象如果不带自己的数据，就没必要每个环境对象各造一份，做成静态成员大家共用。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842635" cy="2936558"/>
            <a:chOff x="533400" y="1954530"/>
            <a:chExt cx="5842635" cy="29365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把状态对象做成环境类的静态成员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4250182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Context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所有 Context 实例共用这两个状态对象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IDLE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IdleState();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BUSY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BusyState();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state = IDLE;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setState(State s)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s;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state.handle(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环境对象当参数传进去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076825"/>
            <a:ext cx="5842635" cy="518160"/>
            <a:chOff x="533400" y="5076825"/>
            <a:chExt cx="5842635" cy="518160"/>
          </a:xfrm>
        </p:grpSpPr>
        <p:sp>
          <p:nvSpPr>
            <p:cNvPr id="13" name="Rectangle 13"/>
            <p:cNvSpPr/>
            <p:nvPr/>
          </p:nvSpPr>
          <p:spPr>
            <a:xfrm>
              <a:off x="533400" y="5076825"/>
              <a:ext cx="5842635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235893"/>
              <a:ext cx="200026" cy="200025"/>
              <a:chOff x="738188" y="5235893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2358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2803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3914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236369"/>
              <a:ext cx="46883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共享之后，切换状态就是改一个引用，不再 new 对象。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680835" y="1954530"/>
            <a:ext cx="4977765" cy="1884998"/>
            <a:chOff x="6680835" y="1954530"/>
            <a:chExt cx="4977765" cy="1884998"/>
          </a:xfrm>
        </p:grpSpPr>
        <p:sp>
          <p:nvSpPr>
            <p:cNvPr id="20" name="Rectangle 20"/>
            <p:cNvSpPr/>
            <p:nvPr/>
          </p:nvSpPr>
          <p:spPr>
            <a:xfrm>
              <a:off x="6680835" y="1954530"/>
              <a:ext cx="4977765" cy="1884998"/>
            </a:xfrm>
            <a:prstGeom prst="roundRect">
              <a:avLst>
                <a:gd name="adj" fmla="val 707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84670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75831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079" y="21978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状态类里不能有自己的字段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7431" y="2550319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本讲两个实例的状态对象都有一个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acc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字段指向自己的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环境对象，所以它们没法共享。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7431" y="3141821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要共享就得把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acc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从字段改成方法参数，写成</a:t>
              </a:r>
              <a:br/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handle(Context ctx)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，状态对象从此不记任何东西。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680835" y="4024312"/>
            <a:ext cx="4977765" cy="1570672"/>
            <a:chOff x="6680835" y="4024312"/>
            <a:chExt cx="4977765" cy="1570672"/>
          </a:xfrm>
        </p:grpSpPr>
        <p:sp>
          <p:nvSpPr>
            <p:cNvPr id="27" name="Rectangle 27"/>
            <p:cNvSpPr/>
            <p:nvPr/>
          </p:nvSpPr>
          <p:spPr>
            <a:xfrm>
              <a:off x="6680835" y="4024312"/>
              <a:ext cx="4977765" cy="1570672"/>
            </a:xfrm>
            <a:prstGeom prst="roundRect">
              <a:avLst>
                <a:gd name="adj" fmla="val 84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4157662"/>
              <a:ext cx="47625" cy="13039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22770" y="42281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13931" y="42638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4179" y="426862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和享元模式是同一套道理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15531" y="462010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没有内部状态的对象可以被任意多个使用者共享，把外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部数据当参数传进来。享元模式见第 25 讲。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4" name="Rectangle 3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6004084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共享的状态对象会被多个线程同时调用，方法里不要写任何实例字段。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效果、适用环境与两种扩展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扩展二：简单状态模式与可切换状态的状态模式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78573" cy="278702"/>
            <a:chOff x="526161" y="1547336"/>
            <a:chExt cx="72785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按状态之间要不要转换，课件把状态模式分成两类。它们对开闭原则的表现完全不同。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41195"/>
            <a:ext cx="5410200" cy="2134552"/>
            <a:chOff x="533400" y="1941195"/>
            <a:chExt cx="5410200" cy="213455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344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第一类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0947" y="21736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简单状态模式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各状态相互独立，之间无须转换。每个状态类只封装与该状态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相关的操作，不用管切换。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1242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06800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客户端直接实例化状态类，再设置到环境类里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42614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36994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具体状态类名可以写在配置文件中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37290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367284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加新状态不影响原有系统，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遵循开闭原则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251008"/>
            <a:ext cx="5410200" cy="2044065"/>
            <a:chOff x="533400" y="4251008"/>
            <a:chExt cx="5410200" cy="2044065"/>
          </a:xfrm>
        </p:grpSpPr>
        <p:sp>
          <p:nvSpPr>
            <p:cNvPr id="22" name="Rectangle 22"/>
            <p:cNvSpPr/>
            <p:nvPr/>
          </p:nvSpPr>
          <p:spPr>
            <a:xfrm>
              <a:off x="533400" y="4251008"/>
              <a:ext cx="5410200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384358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444341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1344" y="4477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第二类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80947" y="44834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可切换状态的状态模式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4817745"/>
              <a:ext cx="46085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大多数状态模式属于这一类。具体状态类内部要调环境类的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setState()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完成切换，于是状态类和环境类之间有关联或依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56340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加新状态可能要改其他状态类甚至环境类的源码，否则系统切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换不到它。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248400" y="1941195"/>
            <a:ext cx="5410200" cy="2434590"/>
            <a:chOff x="6248400" y="1941195"/>
            <a:chExt cx="5410200" cy="2434590"/>
          </a:xfrm>
        </p:grpSpPr>
        <p:sp>
          <p:nvSpPr>
            <p:cNvPr id="30" name="Rectangle 30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28053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3537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简单状态模式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0249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可切换状态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8412" y="24712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状态之间要转换吗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1472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10750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28770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谁决定用哪个状态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1472" y="28770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10750" y="28770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环境类或状态类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8412" y="32827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状态类认识环境类吗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71472" y="32827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不认识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10750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8412" y="3688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满足开闭原则吗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880985" y="3573780"/>
              <a:ext cx="18202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71472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720262" y="3573780"/>
              <a:ext cx="19288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10750" y="3688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不太满足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8412" y="409432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本讲两个实例属于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71472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10750" y="40943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第二类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1941195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66698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705975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rd-2"/>
          <p:cNvGrpSpPr/>
          <p:nvPr/>
        </p:nvGrpSpPr>
        <p:grpSpPr>
          <a:xfrm>
            <a:off x="6248400" y="4551045"/>
            <a:ext cx="5410200" cy="1743075"/>
            <a:chOff x="6248400" y="4551045"/>
            <a:chExt cx="5410200" cy="1743075"/>
          </a:xfrm>
        </p:grpSpPr>
        <p:sp>
          <p:nvSpPr>
            <p:cNvPr id="61" name="Rectangle 61"/>
            <p:cNvSpPr/>
            <p:nvPr/>
          </p:nvSpPr>
          <p:spPr>
            <a:xfrm>
              <a:off x="6248400" y="4551045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7925" y="4684395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8905" y="47434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70345" y="4777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62597" y="4783455"/>
              <a:ext cx="2370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看状态类里有没有 setState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72047" y="5117783"/>
              <a:ext cx="47028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具体状态类里出现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ctx.setState(...)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或者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acc.setState(...)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，就是可切换状态的状态模式；只有业务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方法没有切换代码的，是简单状态模式。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与相关模式的分界，以及自测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状态和策略的类图几乎一样，区分只能看谁负责切换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与策略模式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与观察者、职责链、桥接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自测十二题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与策略模式的分界：类图一样，切换的人不一样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49153" cy="278702"/>
            <a:chOff x="526161" y="1547336"/>
            <a:chExt cx="894915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491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这两个模式的结构图可以画得一模一样。把它们分开的是意图，而意图落在代码上就是“谁调了 setXxx”。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41195"/>
            <a:ext cx="6059805" cy="2434590"/>
            <a:chOff x="533400" y="1941195"/>
            <a:chExt cx="6059805" cy="24345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462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5314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9532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封装的是什么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08848" y="24712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某个状态下的一整套行为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1040" y="24712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完成同一件事的不同算法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谁负责切换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18360" y="2762250"/>
              <a:ext cx="228314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08848" y="28770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环境类或状态对象自己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20552" y="2762250"/>
              <a:ext cx="21621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11040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客户端指定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537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2827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什么时候切换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08848" y="328279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运行中随属性值反复切换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1040" y="32827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多数在装配时选定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59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642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88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对象之间认识吗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08848" y="3688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状态类常知道下一个状态是谁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1040" y="3688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具体策略之间互不知道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652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40943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客户端知情吗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08848" y="409432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不知道当前是哪个状态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1040" y="409432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必须知道有哪些策略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41195"/>
              <a:ext cx="605980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0407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06265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4551045"/>
            <a:ext cx="6059805" cy="1665922"/>
            <a:chOff x="533400" y="4551045"/>
            <a:chExt cx="6059805" cy="1665922"/>
          </a:xfrm>
        </p:grpSpPr>
        <p:sp>
          <p:nvSpPr>
            <p:cNvPr id="40" name="Rectangle 40"/>
            <p:cNvSpPr/>
            <p:nvPr/>
          </p:nvSpPr>
          <p:spPr>
            <a:xfrm>
              <a:off x="533400" y="4551045"/>
              <a:ext cx="6059805" cy="1665922"/>
            </a:xfrm>
            <a:prstGeom prst="roundRect">
              <a:avLst>
                <a:gd name="adj" fmla="val 686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284472"/>
              <a:ext cx="200023" cy="200023"/>
              <a:chOff x="738188" y="5284472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2844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3511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165408"/>
              <a:ext cx="502862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状态模式里客户端不选状态，它调 request()，选哪个状态是对象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自己的事。</a:t>
              </a:r>
            </a:p>
          </p:txBody>
        </p:sp>
      </p:grpSp>
      <p:grpSp>
        <p:nvGrpSpPr>
          <p:cNvPr id="70" name="c2-compare-1"/>
          <p:cNvGrpSpPr/>
          <p:nvPr/>
        </p:nvGrpSpPr>
        <p:grpSpPr>
          <a:xfrm>
            <a:off x="6898005" y="1941195"/>
            <a:ext cx="4760595" cy="2873692"/>
            <a:chOff x="6898005" y="1941195"/>
            <a:chExt cx="4760595" cy="2873692"/>
          </a:xfrm>
        </p:grpSpPr>
        <p:sp>
          <p:nvSpPr>
            <p:cNvPr id="46" name="Rectangle 46"/>
            <p:cNvSpPr/>
            <p:nvPr/>
          </p:nvSpPr>
          <p:spPr>
            <a:xfrm>
              <a:off x="6898005" y="1941195"/>
              <a:ext cx="2142172" cy="2873692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2074545"/>
              <a:ext cx="47625" cy="2606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21652" y="21564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37082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93102" y="2476500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问：我现在处在什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么状态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37082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93102" y="3035618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答案由余额、积分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这类数据决定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37082" y="36518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93102" y="3595688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同一个方法换一套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37082" y="421100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93102" y="41548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状态之间有转换图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516428" y="1941195"/>
              <a:ext cx="2142172" cy="2873692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525952" y="2074545"/>
              <a:ext cx="47625" cy="2606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40074" y="21564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755505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911524" y="2476500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问：这件事我想怎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么做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755505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11524" y="3035618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答案由使用者当场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755505" y="36518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911524" y="3595688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算法之间平行可替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9755505" y="421100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911524" y="4154805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策略之间没有转换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086850" y="318706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41422" y="33180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问法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898005" y="4991100"/>
            <a:ext cx="4760595" cy="1226820"/>
            <a:chOff x="6898005" y="4991100"/>
            <a:chExt cx="4760595" cy="1226820"/>
          </a:xfrm>
        </p:grpSpPr>
        <p:sp>
          <p:nvSpPr>
            <p:cNvPr id="71" name="Rectangle 71"/>
            <p:cNvSpPr/>
            <p:nvPr/>
          </p:nvSpPr>
          <p:spPr>
            <a:xfrm>
              <a:off x="6898005" y="4991100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907530" y="51244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128510" y="51835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19950" y="52177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12202" y="522255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看到接口加实现类就答策略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21652" y="555688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选择题里两者的类图常常只差一个类名。先找有没有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“状态之间会互相转换”这句话，有就是状态模式。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与观察者、职责链、桥接的分界，以及判别法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这三个模式也会在选择题里和状态模式放在一起。分界点各不相同。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923" y="1949291"/>
            <a:ext cx="5849112" cy="1957197"/>
            <a:chOff x="526923" y="1949291"/>
            <a:chExt cx="5849112" cy="195719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观察者（第 36 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62378" y="1949291"/>
              <a:ext cx="375183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两者都在状态改变时触发行为。观察者的行为是固定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的，通知所有登记者；状态模式按当前状态选不同的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7012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802731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职责链（第 30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62378" y="280273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职责链要沿着链找谁来处理，运行时才知道；状态模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式的当前状态唯一确定了由谁处理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41709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桥接（第 21 讲）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62378" y="341709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桥接拆的是两个各自独立变化的维度，多在装配时绑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定；状态换的是同一维度上的当前状态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4020502"/>
            <a:ext cx="5842635" cy="2287905"/>
            <a:chOff x="533400" y="4020502"/>
            <a:chExt cx="5842635" cy="22879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20502"/>
              <a:ext cx="584263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9652" y="41376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86978" y="413766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它换掉的是什么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78337" y="41376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由谁决定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" y="45186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13954" y="451866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当前状态对象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65282" y="4411028"/>
              <a:ext cx="220122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50436" y="451866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对象自己或环境类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78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78345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9006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13954" y="49006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一个算法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50436" y="49006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159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52816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13954" y="528161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什么也不换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436" y="52816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触发方只管发通知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540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54545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6635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13954" y="566356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处理请求的人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50436" y="56635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沿链走到谁算谁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9226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8078" y="604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13954" y="60445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整套实现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50436" y="60445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装配时就绑定了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020502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814512" y="402050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150995" y="402050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bullets-1"/>
          <p:cNvGrpSpPr/>
          <p:nvPr/>
        </p:nvGrpSpPr>
        <p:grpSpPr>
          <a:xfrm>
            <a:off x="6674358" y="1949291"/>
            <a:ext cx="2834830" cy="1769841"/>
            <a:chOff x="6674358" y="1949291"/>
            <a:chExt cx="2834830" cy="1769841"/>
          </a:xfrm>
        </p:grpSpPr>
        <p:sp>
          <p:nvSpPr>
            <p:cNvPr id="48" name="TextBox 48"/>
            <p:cNvSpPr txBox="1"/>
            <p:nvPr/>
          </p:nvSpPr>
          <p:spPr>
            <a:xfrm>
              <a:off x="6674358" y="19492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三句话判别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680835" y="2277428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11530" y="22512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对象有没有几种明确的状态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18008" y="255841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3174" y="249936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能给状态起名字，还能画出转换图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680835" y="2784158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3340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11530" y="2757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同一个方法在不同状态下做法不同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18008" y="306514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03174" y="300609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只是取值不同还不够，得是流程不同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680835" y="329184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11530" y="32646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状态还会来回切换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918008" y="357187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03174" y="3513773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切换频繁才值得为每个状态写一个类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680835" y="3842385"/>
            <a:ext cx="4977765" cy="1687830"/>
            <a:chOff x="6680835" y="3842385"/>
            <a:chExt cx="4977765" cy="1687830"/>
          </a:xfrm>
        </p:grpSpPr>
        <p:sp>
          <p:nvSpPr>
            <p:cNvPr id="62" name="Rectangle 62"/>
            <p:cNvSpPr/>
            <p:nvPr/>
          </p:nvSpPr>
          <p:spPr>
            <a:xfrm>
              <a:off x="6680835" y="3842385"/>
              <a:ext cx="497776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0360" y="397573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99910" y="402336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85432" y="40562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两处易错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15441" y="40628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数据与行为分家，切换不限定写在哪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909435" y="44319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64883" y="4379119"/>
              <a:ext cx="4166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余额、积分是数据，留在环境类；状态类只装行为。问“谁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真正拥有状态”，答环境类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909435" y="4959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64883" y="4907756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转换写在环境类里也是状态模式，状态类里没有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setState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不等于没用这个模式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6680835" y="5694998"/>
            <a:ext cx="4977765" cy="613410"/>
            <a:chOff x="6680835" y="5694998"/>
            <a:chExt cx="4977765" cy="613410"/>
          </a:xfrm>
        </p:grpSpPr>
        <p:sp>
          <p:nvSpPr>
            <p:cNvPr id="72" name="Rectangle 72"/>
            <p:cNvSpPr/>
            <p:nvPr/>
          </p:nvSpPr>
          <p:spPr>
            <a:xfrm>
              <a:off x="6680835" y="5694998"/>
              <a:ext cx="4977765" cy="613410"/>
            </a:xfrm>
            <a:prstGeom prst="roundRect">
              <a:avLst>
                <a:gd name="adj" fmla="val 1863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885623" y="5901692"/>
              <a:ext cx="200023" cy="200023"/>
              <a:chOff x="6885623" y="5901692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885623" y="59016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018973" y="5968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188708" y="591264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第三句最要紧，不来回切换的多半只是分类。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允许对象在内部状态改变时改变行为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三个角色分别是什么？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环境类、抽象状态类、具体状态类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谁才是真正拥有状态的对象？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环境类，状态类只装行为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它的别名和分类是什么？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状态对象；对象行为型模式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环境类和抽象状态类什么关系？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关联，环境类持有一个状态引用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40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“似乎修改了它的类”指什么？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方法名没变，走的实现换了一套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答不上来的题，回到对应正文页把那一张类图或那一段代码再读一遍。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状态转换可以写在哪两处？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环境类的业务方法里，或具体状态类里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状态类产生要满足哪两个条件？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状态经常切换，各状态行为不同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状态对象什么时候能共享？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不带自己的数据时，做成静态成员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写在状态类里会多出什么？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状态类到环境类的关联或依赖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为什么它不太满足开闭原则？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加新状态要改负责转换的源码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状态模式和策略模式差在哪？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状态自己切换，策略由客户端指定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501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判断题眼：看见“状态之间会互相转换”或者“一串结构相同的状态分支”，就该想到状态模式。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37 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6313678" cy="1432845"/>
            <a:chOff x="533400" y="1533525"/>
            <a:chExt cx="6313678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716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状态模式把“处在某个状态时该怎么做”从对象里抽出来，做成一个个状态类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三个角色：环境类持有当前状态，抽象状态类声明行为，具体状态类各实现一套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环境类与抽象状态类之间是关联；数据留在环境类，状态类通过它读写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状态转换写在环境类里就是状态管理器，写在状态类里就多一条到环境类的线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两个实例是同一个骨架：区间判断写在父类一次，子类只覆盖自己不同的方法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923" y="3102769"/>
            <a:ext cx="11131677" cy="622744"/>
            <a:chOff x="526923" y="3102769"/>
            <a:chExt cx="11131677" cy="62274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31027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310276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根据状态来分离和选择行为；通过接口把状态和状态对应的行为分开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747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3476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1800" y="3476149"/>
              <a:ext cx="6181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策略（第 38 讲）、观察者（第 36 讲）、职责链（第 30 讲）、桥接（第 21 讲）</a:t>
              </a:r>
            </a:p>
          </p:txBody>
        </p:sp>
      </p:grpSp>
      <p:grpSp>
        <p:nvGrpSpPr>
          <p:cNvPr id="46" name="c1-card-3"/>
          <p:cNvGrpSpPr/>
          <p:nvPr/>
        </p:nvGrpSpPr>
        <p:grpSpPr>
          <a:xfrm>
            <a:off x="533400" y="3840480"/>
            <a:ext cx="11125200" cy="1883092"/>
            <a:chOff x="533400" y="3840480"/>
            <a:chExt cx="11125200" cy="1883092"/>
          </a:xfrm>
        </p:grpSpPr>
        <p:sp>
          <p:nvSpPr>
            <p:cNvPr id="29" name="Rectangle 29"/>
            <p:cNvSpPr/>
            <p:nvPr/>
          </p:nvSpPr>
          <p:spPr>
            <a:xfrm>
              <a:off x="533400" y="3840480"/>
              <a:ext cx="11125200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97383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0214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044" y="4054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8006" y="406098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36626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4018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378166"/>
              <a:ext cx="7413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水的状态图写成“温度 =&lt;0 度”；冰到水蒸汽的升华标成“升温 &gt;=100 度”，而升华发生在 0 度以下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652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686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662964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银行状态图只写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balance == -2000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进受限状态，余额跌破 -2000 时三条件全不成立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9368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49724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4947761"/>
              <a:ext cx="5769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论坛类图里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HighState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的两个方法漏掉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 score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参数，成了重载而非覆盖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2475" y="52216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382" y="52572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2223" y="5232559"/>
              <a:ext cx="7114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TCPConnecttion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Acknowlege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ConcreateState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拼写有误；末页标题误写成“观察者模式”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判题口诀：环境类只持一个状态引用，一个状态一个类，切换靠给那一个引用重新赋值。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状态模式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7">
  <a:themeElements>
    <a:clrScheme name="sdp_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2026-09-19T09:35:15Z</dcterms:created>
  <dcterms:modified xsi:type="dcterms:W3CDTF">2026-09-19T09:35:15Z</dcterms:modified>
  <cp:category/>
  <cp:contentStatus/>
</cp:coreProperties>
</file>