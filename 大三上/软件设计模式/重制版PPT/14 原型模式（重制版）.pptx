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dp_14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dp_14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300351be99f9b55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300351be99f9b55.pn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74e7a5792c4f4c8.png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9784e81d4385af8.png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3178302" cy="3437763"/>
            <a:chOff x="666750" y="1619250"/>
            <a:chExt cx="3178302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898332" cy="3429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4866" y="1718310"/>
              <a:ext cx="1661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软件设计模式 · 第九讲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原型模式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拿一个样板对象复制出新对象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定义、结构与三个角色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浅克隆与深克隆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946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 的 clone 与序列化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原型管理器与适用场景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5403209" cy="205359"/>
            <a:chOff x="680466" y="6192202"/>
            <a:chExt cx="5403209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54032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自学复习版｜据吉林大学《软件设计模式》张欣佳、陈伟老师课件合并整理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760095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6139" y="407194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14 原型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2260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每次 new 都要重走一遍构造过程，而且写死了具体类名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定义与结构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三个角色、标准类图、模式的本质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7187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的克隆语义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6170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Cloneable、Object.clone()、浅克隆与深克隆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课件实例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邮件复制、地图图块、相似对象的复制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带原型管理器的原型模式，登记式与注册表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评价与自测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3558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优缺点、适用场景、模式辨析，12 道自测题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画出原型模式的类图，三个角色齐全且实现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关系的空心三角指向抽象原型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说清浅克隆与深克隆的分界，并能预测一段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克隆代码的每一行输出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Java 写出浅克隆、递归深克隆、序列化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深克隆三种实现，并指出各自的前提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72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列举 clone() 的四类常见陷阱，看到一段克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隆代码能判断它错在哪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说出原型模式与工厂方法、建造者、备忘录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的分工差别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原型模式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492321" cy="2997517"/>
            <a:chOff x="667512" y="1835468"/>
            <a:chExt cx="5492321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49232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动机：为什么不直接 new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先看清构造函数和拷贝构造器各自卡在哪里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3273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 new 写死了具体类名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拷贝构造器不能被覆盖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先造样本再复制的思路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原型模式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3365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3215" y="407194"/>
              <a:ext cx="24140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14 原型 · 动机：为什么不直接 new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动机：地图要铺几千个图块，每个都从头构造一遍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282303" cy="264033"/>
            <a:chOff x="526542" y="1545907"/>
            <a:chExt cx="928230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2823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陈伟老师课件用一张游戏地图开场。地图由大量图块组成，图块分海洋、山地、平原几种，每种的构造过程都不短。</a:t>
              </a:r>
            </a:p>
          </p:txBody>
        </p:sp>
      </p:grpSp>
      <p:grpSp>
        <p:nvGrpSpPr>
          <p:cNvPr id="15" name="c1-code-1"/>
          <p:cNvGrpSpPr/>
          <p:nvPr/>
        </p:nvGrpSpPr>
        <p:grpSpPr>
          <a:xfrm>
            <a:off x="533400" y="1928812"/>
            <a:ext cx="5951220" cy="2264092"/>
            <a:chOff x="533400" y="1928812"/>
            <a:chExt cx="5951220" cy="226409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951220" cy="2264092"/>
            </a:xfrm>
            <a:prstGeom prst="roundRect">
              <a:avLst>
                <a:gd name="adj" fmla="val 42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最直接的写法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007042"/>
              <a:ext cx="591312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3183255"/>
              <a:ext cx="591312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52450" y="3358515"/>
              <a:ext cx="591312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2340769"/>
              <a:ext cx="3911727" cy="17766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GameMap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List&lt;Block&gt; blocks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ArrayList&lt;&gt;();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build()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blocks.add(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Ocean());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写死了具体类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blocks.add(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Mountain());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blocks.add(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Plain());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几千个图块，还要逐个读贴图、算邻接、初始化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3" name="c1-bullets-2"/>
          <p:cNvGrpSpPr/>
          <p:nvPr/>
        </p:nvGrpSpPr>
        <p:grpSpPr>
          <a:xfrm>
            <a:off x="526542" y="4385310"/>
            <a:ext cx="4724952" cy="1198435"/>
            <a:chOff x="526542" y="4385310"/>
            <a:chExt cx="4724952" cy="1198435"/>
          </a:xfrm>
        </p:grpSpPr>
        <p:sp>
          <p:nvSpPr>
            <p:cNvPr id="16" name="TextBox 16"/>
            <p:cNvSpPr txBox="1"/>
            <p:nvPr/>
          </p:nvSpPr>
          <p:spPr>
            <a:xfrm>
              <a:off x="526542" y="438531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三个跑不掉的问题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533400" y="4734878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762" y="4702492"/>
              <a:ext cx="44887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GameMap 认识每一种图块类，加一种地形就要回来改它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533400" y="5043488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762" y="5011102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改用工厂方法，工厂子类会长得和图块子类一样多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533400" y="5352098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762" y="5319712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工厂一旦选定，运行中换不了要造的产品子类</a:t>
              </a:r>
            </a:p>
          </p:txBody>
        </p:sp>
      </p:grpSp>
      <p:grpSp>
        <p:nvGrpSpPr>
          <p:cNvPr id="60" name="c2-uml-1"/>
          <p:cNvGrpSpPr/>
          <p:nvPr/>
        </p:nvGrpSpPr>
        <p:grpSpPr>
          <a:xfrm>
            <a:off x="7029450" y="2169795"/>
            <a:ext cx="4389120" cy="1522095"/>
            <a:chOff x="7029450" y="2169795"/>
            <a:chExt cx="4389120" cy="1522095"/>
          </a:xfrm>
        </p:grpSpPr>
        <p:sp>
          <p:nvSpPr>
            <p:cNvPr id="24" name="Freeform 24"/>
            <p:cNvSpPr/>
            <p:nvPr/>
          </p:nvSpPr>
          <p:spPr>
            <a:xfrm>
              <a:off x="8382000" y="2447925"/>
              <a:ext cx="1893570" cy="9525"/>
            </a:xfrm>
            <a:custGeom>
              <a:avLst/>
              <a:gdLst/>
              <a:ahLst/>
              <a:cxnLst/>
              <a:rect l="l" t="t" r="r" b="b"/>
              <a:pathLst>
                <a:path w="1893570" h="9525">
                  <a:moveTo>
                    <a:pt x="189357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8172450" y="2390775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7150"/>
                  </a:moveTo>
                  <a:lnTo>
                    <a:pt x="104775" y="0"/>
                  </a:lnTo>
                  <a:lnTo>
                    <a:pt x="209550" y="57150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1F2937"/>
            </a:solidFill>
            <a:ln w="15240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600950" y="2851785"/>
              <a:ext cx="3246120" cy="432435"/>
            </a:xfrm>
            <a:custGeom>
              <a:avLst/>
              <a:gdLst/>
              <a:ahLst/>
              <a:cxnLst/>
              <a:rect l="l" t="t" r="r" b="b"/>
              <a:pathLst>
                <a:path w="3246120" h="432435">
                  <a:moveTo>
                    <a:pt x="0" y="432435"/>
                  </a:moveTo>
                  <a:lnTo>
                    <a:pt x="0" y="153353"/>
                  </a:lnTo>
                  <a:lnTo>
                    <a:pt x="3246120" y="153353"/>
                  </a:lnTo>
                  <a:lnTo>
                    <a:pt x="324612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0773728" y="272605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9224010" y="2851785"/>
              <a:ext cx="1623060" cy="432435"/>
            </a:xfrm>
            <a:custGeom>
              <a:avLst/>
              <a:gdLst/>
              <a:ahLst/>
              <a:cxnLst/>
              <a:rect l="l" t="t" r="r" b="b"/>
              <a:pathLst>
                <a:path w="1623060" h="432435">
                  <a:moveTo>
                    <a:pt x="0" y="432435"/>
                  </a:moveTo>
                  <a:lnTo>
                    <a:pt x="0" y="153353"/>
                  </a:lnTo>
                  <a:lnTo>
                    <a:pt x="1623060" y="153353"/>
                  </a:lnTo>
                  <a:lnTo>
                    <a:pt x="162306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0773728" y="272605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0847070" y="2851785"/>
              <a:ext cx="9525" cy="432435"/>
            </a:xfrm>
            <a:custGeom>
              <a:avLst/>
              <a:gdLst/>
              <a:ahLst/>
              <a:cxnLst/>
              <a:rect l="l" t="t" r="r" b="b"/>
              <a:pathLst>
                <a:path w="9525" h="432435">
                  <a:moveTo>
                    <a:pt x="0" y="43243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10773728" y="272605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029450" y="2244090"/>
              <a:ext cx="1143000" cy="4076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7037070" y="225171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029450" y="245649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029450" y="255174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10275570" y="2169795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0282238" y="2177415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10275570" y="238220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10275570" y="247745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029450" y="3284220"/>
              <a:ext cx="1143000" cy="4076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037070" y="3290888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029450" y="349662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029450" y="359187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8652510" y="3284220"/>
              <a:ext cx="1143000" cy="4076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8659178" y="3290888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652510" y="349662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8652510" y="359187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275570" y="3284220"/>
              <a:ext cx="1143000" cy="4076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282238" y="3290888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275570" y="349662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275570" y="359187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321482" y="2295525"/>
              <a:ext cx="5589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GameMap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681487" y="2221230"/>
              <a:ext cx="3311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Block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347008" y="2545556"/>
              <a:ext cx="7988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draw(): void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406420" y="3335655"/>
              <a:ext cx="3890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Ocean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940595" y="3335655"/>
              <a:ext cx="5668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Mountain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697569" y="3335655"/>
              <a:ext cx="2990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Plain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062085" y="2251710"/>
              <a:ext cx="3238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098090" y="227457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图块</a:t>
              </a:r>
            </a:p>
          </p:txBody>
        </p:sp>
      </p:grpSp>
      <p:grpSp>
        <p:nvGrpSpPr>
          <p:cNvPr id="68" name="c2-card-2"/>
          <p:cNvGrpSpPr/>
          <p:nvPr/>
        </p:nvGrpSpPr>
        <p:grpSpPr>
          <a:xfrm>
            <a:off x="6789420" y="4177665"/>
            <a:ext cx="4869180" cy="1503045"/>
            <a:chOff x="6789420" y="4177665"/>
            <a:chExt cx="4869180" cy="1503045"/>
          </a:xfrm>
        </p:grpSpPr>
        <p:sp>
          <p:nvSpPr>
            <p:cNvPr id="61" name="Rectangle 61"/>
            <p:cNvSpPr/>
            <p:nvPr/>
          </p:nvSpPr>
          <p:spPr>
            <a:xfrm>
              <a:off x="6789420" y="4177665"/>
              <a:ext cx="4869180" cy="1503045"/>
            </a:xfrm>
            <a:prstGeom prst="roundRect">
              <a:avLst>
                <a:gd name="adj" fmla="val 88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798945" y="4311015"/>
              <a:ext cx="47625" cy="123634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7014210" y="436435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106882" y="439721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579804" y="439864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构造过程本身才是代价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007352" y="4725352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课件的说法是：有些对象创建过程较复杂，且需频繁创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建。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007352" y="5282565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同一种图块的几千个实例，除坐标外几乎完全一样。</a:t>
              </a:r>
            </a:p>
          </p:txBody>
        </p:sp>
      </p:grpSp>
      <p:grpSp>
        <p:nvGrpSpPr>
          <p:cNvPr id="74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9" name="Rectangle 69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40892" y="6028373"/>
              <a:ext cx="7101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判断标准：一段初始化逻辑每次都跑出几乎相同的结果，就值得改成复制一份已有实例。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原型模式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3365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3215" y="407194"/>
              <a:ext cx="24140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14 原型 · 动机：为什么不直接 new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三条路：构造函数、拷贝构造器、克隆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210948" cy="264033"/>
            <a:chOff x="526542" y="1545907"/>
            <a:chExt cx="621094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2109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陈伟老师课件把解决方案排成三档，前两档都过不了“不写具体类名”这一关。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842635" cy="2264092"/>
            <a:chOff x="533400" y="1928812"/>
            <a:chExt cx="5842635" cy="226409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842635" cy="2264092"/>
            </a:xfrm>
            <a:prstGeom prst="roundRect">
              <a:avLst>
                <a:gd name="adj" fmla="val 42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同一件事的三种写法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3631692" cy="17766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一、直接用构造函数：类名写死在调用处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Block b1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Mountain();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Block b2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SnowMountain();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二、拷贝构造器：仍要写出确切类型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Block b3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Mountain(m);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m 是山地样本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Block b4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Ocean(o);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换一种就得改类名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三、克隆：造哪一个由样本自己回答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Block b5 = proto.clone();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proto 是谁就造出谁 */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4357688"/>
            <a:ext cx="5842635" cy="1934528"/>
            <a:chOff x="533400" y="4357688"/>
            <a:chExt cx="5842635" cy="1934528"/>
          </a:xfrm>
        </p:grpSpPr>
        <p:sp>
          <p:nvSpPr>
            <p:cNvPr id="13" name="Rectangle 13"/>
            <p:cNvSpPr/>
            <p:nvPr/>
          </p:nvSpPr>
          <p:spPr>
            <a:xfrm>
              <a:off x="533400" y="4357688"/>
              <a:ext cx="5842635" cy="1934528"/>
            </a:xfrm>
            <a:prstGeom prst="roundRect">
              <a:avLst>
                <a:gd name="adj" fmla="val 68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4491038"/>
              <a:ext cx="47625" cy="166782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2475" y="453866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5147" y="45715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卡点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18450" y="457819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前两档卡在同一个地方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5998" y="4895374"/>
              <a:ext cx="51010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构造函数和拷贝构造器都要求调用处写出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确切类型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，产品子类一多，调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用处就要一处处改。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5998" y="5423059"/>
              <a:ext cx="52148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拷贝构造器的名字跟着类名走，不同的类名字不同，也就谈不上覆盖，没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有多态可用。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7141" y="5947410"/>
              <a:ext cx="27246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只有 clone() 是一个可以被覆盖的普通方法</a:t>
              </a:r>
            </a:p>
          </p:txBody>
        </p:sp>
      </p:grpSp>
      <p:grpSp>
        <p:nvGrpSpPr>
          <p:cNvPr id="30" name="c2-kv-1"/>
          <p:cNvGrpSpPr/>
          <p:nvPr/>
        </p:nvGrpSpPr>
        <p:grpSpPr>
          <a:xfrm>
            <a:off x="6674358" y="1949291"/>
            <a:ext cx="4984242" cy="1717167"/>
            <a:chOff x="6674358" y="1949291"/>
            <a:chExt cx="4984242" cy="1717167"/>
          </a:xfrm>
        </p:grpSpPr>
        <p:sp>
          <p:nvSpPr>
            <p:cNvPr id="22" name="TextBox 22"/>
            <p:cNvSpPr txBox="1"/>
            <p:nvPr/>
          </p:nvSpPr>
          <p:spPr>
            <a:xfrm>
              <a:off x="6674358" y="194929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直接构造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68780" y="1949291"/>
              <a:ext cx="358927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调用处必须出现具体类名，增加产品子类就要改调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用处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680835" y="246126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74358" y="256365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拷贝构造器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68780" y="2563654"/>
              <a:ext cx="3694938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Java 里写成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Mountain(Mountain other)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，它是构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造器，不参与多态，也不能被覆盖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680835" y="307467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74358" y="317706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克隆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68780" y="3177064"/>
              <a:ext cx="3735578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clone()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是普通实例方法，可以被覆盖，调用它等于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让对象自己决定造什么</a:t>
              </a:r>
            </a:p>
          </p:txBody>
        </p:sp>
      </p:grpSp>
      <p:grpSp>
        <p:nvGrpSpPr>
          <p:cNvPr id="38" name="c2-card-2"/>
          <p:cNvGrpSpPr/>
          <p:nvPr/>
        </p:nvGrpSpPr>
        <p:grpSpPr>
          <a:xfrm>
            <a:off x="6680835" y="3780472"/>
            <a:ext cx="4977765" cy="2511742"/>
            <a:chOff x="6680835" y="3780472"/>
            <a:chExt cx="4977765" cy="2511742"/>
          </a:xfrm>
        </p:grpSpPr>
        <p:sp>
          <p:nvSpPr>
            <p:cNvPr id="31" name="Rectangle 31"/>
            <p:cNvSpPr/>
            <p:nvPr/>
          </p:nvSpPr>
          <p:spPr>
            <a:xfrm>
              <a:off x="6680835" y="3780472"/>
              <a:ext cx="4977765" cy="2511742"/>
            </a:xfrm>
            <a:prstGeom prst="roundRect">
              <a:avLst>
                <a:gd name="adj" fmla="val 5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690360" y="3913822"/>
              <a:ext cx="47625" cy="224504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899910" y="396144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992582" y="399430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66838" y="4000976"/>
              <a:ext cx="17718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课件第 6 页的一处笔误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93433" y="4318159"/>
              <a:ext cx="42232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原课件写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Picture * pic = new Ocean(0);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，括号里是数字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零。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93433" y="4845844"/>
              <a:ext cx="45348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上文约定样本变量叫 o、m、p，这里应为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 Ocean(o)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原型模式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3365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3215" y="407194"/>
              <a:ext cx="24140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14 原型 · 动机：为什么不直接 new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换个思路：先备好样本，用的时候复制一份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4140708" cy="1790128"/>
            <a:chOff x="533400" y="1533525"/>
            <a:chExt cx="4140708" cy="1790128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455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7558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261" y="156638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备样本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404" y="1846898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为每一种可能用到的产品，先实例化出一个样本对象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218741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2467927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需要产品时，复制对应的样本，不再走一遍构造过程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280844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微调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3088957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必要的话再改副本的几个字段，原件一个字都不动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3499485"/>
            <a:ext cx="5626418" cy="2679382"/>
            <a:chOff x="533400" y="3499485"/>
            <a:chExt cx="5626418" cy="2679382"/>
          </a:xfrm>
        </p:grpSpPr>
        <p:sp>
          <p:nvSpPr>
            <p:cNvPr id="21" name="Rectangle 21"/>
            <p:cNvSpPr/>
            <p:nvPr/>
          </p:nvSpPr>
          <p:spPr>
            <a:xfrm>
              <a:off x="533400" y="3499485"/>
              <a:ext cx="5626418" cy="2679382"/>
            </a:xfrm>
            <a:prstGeom prst="roundRect">
              <a:avLst>
                <a:gd name="adj" fmla="val 4977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37235" y="370332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7443" y="37390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38644" y="374380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克隆比拷贝构造器多了什么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9996" y="4095274"/>
              <a:ext cx="485660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拷贝构造器 </a:t>
              </a:r>
              <a:r>
                <a:rPr lang="en-US" sz="142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new Apple(apple)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必须写出确切类型。手里只有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一个 </a:t>
              </a:r>
              <a:r>
                <a:rPr lang="en-US" sz="142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Fruit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引用时，它复制不出对象真正的那一种。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9996" y="4686776"/>
              <a:ext cx="487464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fruit.clone()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由对象自己回答造哪一个：苹果克隆出苹果，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梨克隆出梨。这正是课件说的 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有助于符合里氏替换原则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0" name="c2-image-1"/>
          <p:cNvGrpSpPr/>
          <p:nvPr/>
        </p:nvGrpSpPr>
        <p:grpSpPr>
          <a:xfrm>
            <a:off x="6464618" y="1524000"/>
            <a:ext cx="5193982" cy="2329339"/>
            <a:chOff x="6464618" y="1524000"/>
            <a:chExt cx="5193982" cy="2329339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rcRect l="0" t="15524" r="0" b="15523"/>
            <a:stretch>
              <a:fillRect/>
            </a:stretch>
          </p:blipFill>
          <p:spPr>
            <a:xfrm>
              <a:off x="6464618" y="1524000"/>
              <a:ext cx="5193982" cy="2014538"/>
            </a:xfrm>
            <a:prstGeom prst="roundRect">
              <a:avLst>
                <a:gd name="adj" fmla="val 6619"/>
              </a:avLst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7322464" y="3633311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复印机不需要知道原件上印的是什么，照着复制就行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6464618" y="4012882"/>
            <a:ext cx="5193982" cy="2165985"/>
            <a:chOff x="6464618" y="4012882"/>
            <a:chExt cx="5193982" cy="2165985"/>
          </a:xfrm>
        </p:grpSpPr>
        <p:sp>
          <p:nvSpPr>
            <p:cNvPr id="31" name="Rectangle 31"/>
            <p:cNvSpPr/>
            <p:nvPr/>
          </p:nvSpPr>
          <p:spPr>
            <a:xfrm>
              <a:off x="6464618" y="4012882"/>
              <a:ext cx="5193982" cy="2165985"/>
            </a:xfrm>
            <a:prstGeom prst="roundRect">
              <a:avLst>
                <a:gd name="adj" fmla="val 61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74142" y="4146232"/>
              <a:ext cx="47625" cy="189928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706552" y="421671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97713" y="425243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术语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07961" y="4257199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原型、样本、副本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99314" y="4608671"/>
              <a:ext cx="455859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原型（Prototype）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：那个被复制的样板对象，课件里也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叫样本。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99314" y="5200174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副本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：克隆方法返回的新对象，与原型类型相同、内存地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址不同。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00456" y="5787390"/>
              <a:ext cx="4696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水果篮里放的是水果的副本，篮子并不知道放进去的是苹果还是梨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原型模式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882896" cy="2997517"/>
            <a:chOff x="667512" y="1835468"/>
            <a:chExt cx="488289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定义、结构与三个角色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类图只有三个框，接线规则要记准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模式定义与本质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标准类图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三个角色各写什么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原型模式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14 原型 · 定义、结构与三个角色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定义：用原型实例指定种类，再靠复制创建新对象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6059805" cy="2044065"/>
            <a:chOff x="533400" y="1524000"/>
            <a:chExt cx="6059805" cy="20440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044065"/>
            </a:xfrm>
            <a:prstGeom prst="roundRect">
              <a:avLst>
                <a:gd name="adj" fmla="val 65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7736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28529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原型模式（Prototype Pattern）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53286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用原型实例指定创建对象的种类，并且通过复制这些原型创建新的对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象。原型模式允许一个对象再创建另外一个可定制的对象，无须知道任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何创建的细节。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047" y="2907030"/>
              <a:ext cx="5328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基本工作原理：把一个原型对象交给要发动创建的对象，后者请求原型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拷贝原型自己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来完成创建。</a:t>
              </a:r>
            </a:p>
          </p:txBody>
        </p:sp>
      </p:grpSp>
      <p:grpSp>
        <p:nvGrpSpPr>
          <p:cNvPr id="23" name="c1-kv-2"/>
          <p:cNvGrpSpPr/>
          <p:nvPr/>
        </p:nvGrpSpPr>
        <p:grpSpPr>
          <a:xfrm>
            <a:off x="526542" y="3765232"/>
            <a:ext cx="6066663" cy="1059371"/>
            <a:chOff x="526542" y="3765232"/>
            <a:chExt cx="6066663" cy="1059371"/>
          </a:xfrm>
        </p:grpSpPr>
        <p:sp>
          <p:nvSpPr>
            <p:cNvPr id="15" name="TextBox 15"/>
            <p:cNvSpPr txBox="1"/>
            <p:nvPr/>
          </p:nvSpPr>
          <p:spPr>
            <a:xfrm>
              <a:off x="526542" y="376523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按目的分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88567" y="3765232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创建型模式，关心对象怎样被创建出来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405384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6542" y="416337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按范围分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88567" y="4163377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对象模式，靠对象之间的委托而不是继承来工作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45198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6542" y="456057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模式本质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88567" y="4560570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克隆生成对象。克隆是手段，生成新实例才是目的</a:t>
              </a:r>
            </a:p>
          </p:txBody>
        </p:sp>
      </p:grpSp>
      <p:grpSp>
        <p:nvGrpSpPr>
          <p:cNvPr id="31" name="c1-card-3"/>
          <p:cNvGrpSpPr/>
          <p:nvPr/>
        </p:nvGrpSpPr>
        <p:grpSpPr>
          <a:xfrm>
            <a:off x="533400" y="4946332"/>
            <a:ext cx="6059805" cy="1272540"/>
            <a:chOff x="533400" y="4946332"/>
            <a:chExt cx="6059805" cy="1272540"/>
          </a:xfrm>
        </p:grpSpPr>
        <p:sp>
          <p:nvSpPr>
            <p:cNvPr id="24" name="Rectangle 24"/>
            <p:cNvSpPr/>
            <p:nvPr/>
          </p:nvSpPr>
          <p:spPr>
            <a:xfrm>
              <a:off x="533400" y="4946332"/>
              <a:ext cx="6059805" cy="1272540"/>
            </a:xfrm>
            <a:prstGeom prst="roundRect">
              <a:avLst>
                <a:gd name="adj" fmla="val 10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5079682"/>
              <a:ext cx="47625" cy="10058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63905" y="5138738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43343" y="51730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怎么认出来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47647" y="51787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代码里的两个信号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7047" y="5513070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有一个长期留着的样板对象，它不参与业务，只负责被复制。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7047" y="5815965"/>
              <a:ext cx="5574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真正要用的实例，都是从那个样板对象上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复制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出来再改几个字段的。</a:t>
              </a:r>
            </a:p>
          </p:txBody>
        </p:sp>
      </p:grpSp>
      <p:grpSp>
        <p:nvGrpSpPr>
          <p:cNvPr id="38" name="c2-card-1"/>
          <p:cNvGrpSpPr/>
          <p:nvPr/>
        </p:nvGrpSpPr>
        <p:grpSpPr>
          <a:xfrm>
            <a:off x="6898005" y="1524000"/>
            <a:ext cx="4760595" cy="1490662"/>
            <a:chOff x="6898005" y="1524000"/>
            <a:chExt cx="4760595" cy="1490662"/>
          </a:xfrm>
        </p:grpSpPr>
        <p:sp>
          <p:nvSpPr>
            <p:cNvPr id="32" name="Rectangle 32"/>
            <p:cNvSpPr/>
            <p:nvPr/>
          </p:nvSpPr>
          <p:spPr>
            <a:xfrm>
              <a:off x="6898005" y="1524000"/>
              <a:ext cx="4760595" cy="1490662"/>
            </a:xfrm>
            <a:prstGeom prst="roundRect">
              <a:avLst>
                <a:gd name="adj" fmla="val 894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090410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181850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归类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74102" y="175641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五个创建型模式里的第四个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83552" y="2090738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创建型的五个模式中，只有工厂方法是类模式，抽象工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厂、建造者、</a:t>
              </a:r>
              <a:r>
                <a:rPr lang="zh-CN" sz="135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原型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、单例都是对象模式。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84695" y="2646521"/>
              <a:ext cx="11723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分类表见第 03 讲</a:t>
              </a:r>
            </a:p>
          </p:txBody>
        </p:sp>
      </p:grpSp>
      <p:grpSp>
        <p:nvGrpSpPr>
          <p:cNvPr id="46" name="c2-bullets-2"/>
          <p:cNvGrpSpPr/>
          <p:nvPr/>
        </p:nvGrpSpPr>
        <p:grpSpPr>
          <a:xfrm>
            <a:off x="6891147" y="3211830"/>
            <a:ext cx="2547747" cy="1206055"/>
            <a:chOff x="6891147" y="3211830"/>
            <a:chExt cx="2547747" cy="1206055"/>
          </a:xfrm>
        </p:grpSpPr>
        <p:sp>
          <p:nvSpPr>
            <p:cNvPr id="39" name="TextBox 39"/>
            <p:cNvSpPr txBox="1"/>
            <p:nvPr/>
          </p:nvSpPr>
          <p:spPr>
            <a:xfrm>
              <a:off x="6891147" y="321183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三句话记住它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906578" y="3588068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62597" y="353187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创建的方式是复制，不是构造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906578" y="3898582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62597" y="384333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造哪一个由样本对象自己回答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906578" y="421005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062597" y="415385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客户端只拿着抽象原型的引用</a:t>
              </a:r>
            </a:p>
          </p:txBody>
        </p:sp>
      </p:grpSp>
      <p:grpSp>
        <p:nvGrpSpPr>
          <p:cNvPr id="54" name="c2-card-3"/>
          <p:cNvGrpSpPr/>
          <p:nvPr/>
        </p:nvGrpSpPr>
        <p:grpSpPr>
          <a:xfrm>
            <a:off x="6898005" y="4539615"/>
            <a:ext cx="4760595" cy="1679258"/>
            <a:chOff x="6898005" y="4539615"/>
            <a:chExt cx="4760595" cy="1679258"/>
          </a:xfrm>
        </p:grpSpPr>
        <p:sp>
          <p:nvSpPr>
            <p:cNvPr id="47" name="Rectangle 47"/>
            <p:cNvSpPr/>
            <p:nvPr/>
          </p:nvSpPr>
          <p:spPr>
            <a:xfrm>
              <a:off x="6898005" y="4539615"/>
              <a:ext cx="4760595" cy="1679258"/>
            </a:xfrm>
            <a:prstGeom prst="roundRect">
              <a:avLst>
                <a:gd name="adj" fmla="val 79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907530" y="4672965"/>
              <a:ext cx="47625" cy="141255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128510" y="47320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219950" y="47663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712202" y="477202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和工厂家族的一句话之差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21652" y="5106352"/>
              <a:ext cx="40685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工厂家族回答的是“由谁来造”，原型回答的是“照着谁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复制”。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122795" y="566213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前者要养一棵工厂树，后者只要留住样本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原型模式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14 原型 · 定义、结构与三个角色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模式结构：三个框，一条实现线，一条引用线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334756" cy="293370"/>
            <a:chOff x="525780" y="1548765"/>
            <a:chExt cx="8334756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3347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客户类只持有抽象原型的引用，调用 clone() 拿到副本；具体原型各自实现自己的克隆方法。</a:t>
              </a:r>
            </a:p>
          </p:txBody>
        </p:sp>
      </p:grpSp>
      <p:grpSp>
        <p:nvGrpSpPr>
          <p:cNvPr id="43" name="c1-uml-1"/>
          <p:cNvGrpSpPr/>
          <p:nvPr/>
        </p:nvGrpSpPr>
        <p:grpSpPr>
          <a:xfrm>
            <a:off x="1538288" y="2144078"/>
            <a:ext cx="9100184" cy="1965960"/>
            <a:chOff x="1538288" y="2144078"/>
            <a:chExt cx="9100184" cy="1965960"/>
          </a:xfrm>
        </p:grpSpPr>
        <p:sp>
          <p:nvSpPr>
            <p:cNvPr id="9" name="Freeform 9"/>
            <p:cNvSpPr/>
            <p:nvPr/>
          </p:nvSpPr>
          <p:spPr>
            <a:xfrm>
              <a:off x="3237548" y="2564130"/>
              <a:ext cx="2098358" cy="9525"/>
            </a:xfrm>
            <a:custGeom>
              <a:avLst/>
              <a:gdLst/>
              <a:ahLst/>
              <a:cxnLst/>
              <a:rect l="l" t="t" r="r" b="b"/>
              <a:pathLst>
                <a:path w="2098358" h="9525">
                  <a:moveTo>
                    <a:pt x="0" y="0"/>
                  </a:moveTo>
                  <a:lnTo>
                    <a:pt x="2098358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231130" y="2506980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0" y="115253"/>
                  </a:moveTo>
                  <a:lnTo>
                    <a:pt x="104775" y="571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387918" y="3095625"/>
              <a:ext cx="3708082" cy="362903"/>
            </a:xfrm>
            <a:custGeom>
              <a:avLst/>
              <a:gdLst/>
              <a:ahLst/>
              <a:cxnLst/>
              <a:rect l="l" t="t" r="r" b="b"/>
              <a:pathLst>
                <a:path w="3708082" h="362903">
                  <a:moveTo>
                    <a:pt x="0" y="362903"/>
                  </a:moveTo>
                  <a:lnTo>
                    <a:pt x="0" y="118110"/>
                  </a:lnTo>
                  <a:lnTo>
                    <a:pt x="3708082" y="118110"/>
                  </a:lnTo>
                  <a:lnTo>
                    <a:pt x="370808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6022658" y="296989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6096000" y="3095625"/>
              <a:ext cx="3708082" cy="362903"/>
            </a:xfrm>
            <a:custGeom>
              <a:avLst/>
              <a:gdLst/>
              <a:ahLst/>
              <a:cxnLst/>
              <a:rect l="l" t="t" r="r" b="b"/>
              <a:pathLst>
                <a:path w="3708082" h="362903">
                  <a:moveTo>
                    <a:pt x="3708082" y="362903"/>
                  </a:moveTo>
                  <a:lnTo>
                    <a:pt x="3708082" y="118110"/>
                  </a:lnTo>
                  <a:lnTo>
                    <a:pt x="0" y="11811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6022658" y="296989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538288" y="2144078"/>
              <a:ext cx="1699260" cy="84105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544955" y="2150745"/>
              <a:ext cx="1684972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538288" y="2410778"/>
              <a:ext cx="169926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1538288" y="2695575"/>
              <a:ext cx="169926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5905" y="2158365"/>
              <a:ext cx="1519238" cy="81153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43525" y="2165985"/>
              <a:ext cx="1504950" cy="423862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5905" y="2585085"/>
              <a:ext cx="151923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5905" y="2680335"/>
              <a:ext cx="151923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553528" y="3458528"/>
              <a:ext cx="1668780" cy="65151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560195" y="3465195"/>
              <a:ext cx="1654492" cy="26479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553528" y="3725228"/>
              <a:ext cx="166878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1553528" y="3820478"/>
              <a:ext cx="166878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969692" y="3458528"/>
              <a:ext cx="1668780" cy="65151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8977312" y="3465195"/>
              <a:ext cx="1654492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969692" y="3725228"/>
              <a:ext cx="166878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969692" y="3820478"/>
              <a:ext cx="166878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158473" y="2208371"/>
              <a:ext cx="4588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Client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609154" y="2483168"/>
              <a:ext cx="16554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prototype: Prototype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609154" y="2767965"/>
              <a:ext cx="13464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operation(): void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08457" y="2219801"/>
              <a:ext cx="7750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695996" y="2382679"/>
              <a:ext cx="800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Prototype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406771" y="2752725"/>
              <a:ext cx="14653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clone(): Prototype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591160" y="3522821"/>
              <a:ext cx="15935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ConcretePrototypeA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624394" y="3892868"/>
              <a:ext cx="14653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clone(): Prototype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07325" y="3522821"/>
              <a:ext cx="15935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ConcretePrototypeB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40559" y="3892868"/>
              <a:ext cx="14653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clone(): Prototype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909060" y="2347912"/>
              <a:ext cx="755332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932025" y="2374582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prototype</a:t>
              </a:r>
            </a:p>
          </p:txBody>
        </p:sp>
      </p:grpSp>
      <p:grpSp>
        <p:nvGrpSpPr>
          <p:cNvPr id="52" name="c1-kv-2"/>
          <p:cNvGrpSpPr/>
          <p:nvPr/>
        </p:nvGrpSpPr>
        <p:grpSpPr>
          <a:xfrm>
            <a:off x="526161" y="4602956"/>
            <a:ext cx="11132439" cy="1121665"/>
            <a:chOff x="526161" y="4602956"/>
            <a:chExt cx="11132439" cy="1121665"/>
          </a:xfrm>
        </p:grpSpPr>
        <p:sp>
          <p:nvSpPr>
            <p:cNvPr id="44" name="TextBox 44"/>
            <p:cNvSpPr txBox="1"/>
            <p:nvPr/>
          </p:nvSpPr>
          <p:spPr>
            <a:xfrm>
              <a:off x="526161" y="460295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那条虚线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890141" y="4602956"/>
              <a:ext cx="6513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实现关系。空心三角虚线从具体原型指向抽象原型，三角画在抽象原型那一端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490823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26161" y="502396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那条实线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890141" y="5023961"/>
              <a:ext cx="81797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关联关系。Client 有一个 Prototype 类型的字段，它指向哪个具体原型，克隆出来的就是哪一种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53301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26161" y="5445919"/>
              <a:ext cx="11499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谁来写 clone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890141" y="5445919"/>
              <a:ext cx="63705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抽象原型只声明，具体原型各自实现，返回的是自己的一个副本，不是 this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3" name="Rectangle 53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511" y="6004084"/>
              <a:ext cx="68962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客户端从头到尾只用抽象原型的类型，具体原型的类名只在准备样本那一处出现。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原型模式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14 原型 · 定义、结构与三个角色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三个角色各写什么，以及三条接线规则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6161" y="1547336"/>
            <a:ext cx="5849874" cy="2460880"/>
            <a:chOff x="526161" y="1547336"/>
            <a:chExt cx="5849874" cy="2460880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20306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Prototype 抽象原型类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616071" y="1547336"/>
              <a:ext cx="2629408" cy="814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声明克隆自身的接口。可以是接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口、抽象类，Java 里也可以直接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借用 Object 的 clone()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38887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161" y="2504599"/>
              <a:ext cx="29201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ConcretePrototype 具体原型类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16071" y="2504599"/>
              <a:ext cx="253923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实现克隆方法，在方法里返回自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己的一个副本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307848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161" y="3194209"/>
              <a:ext cx="12160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Client 客户类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16071" y="3194209"/>
              <a:ext cx="2539238" cy="814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先拿到一个原型对象，再调用它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的克隆方法复制出多个相同的对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4137660"/>
            <a:ext cx="5842635" cy="1884998"/>
            <a:chOff x="533400" y="4137660"/>
            <a:chExt cx="5842635" cy="1884998"/>
          </a:xfrm>
        </p:grpSpPr>
        <p:sp>
          <p:nvSpPr>
            <p:cNvPr id="16" name="Rectangle 16"/>
            <p:cNvSpPr/>
            <p:nvPr/>
          </p:nvSpPr>
          <p:spPr>
            <a:xfrm>
              <a:off x="533400" y="4137660"/>
              <a:ext cx="5842635" cy="1884998"/>
            </a:xfrm>
            <a:prstGeom prst="roundRect">
              <a:avLst>
                <a:gd name="adj" fmla="val 7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271010"/>
              <a:ext cx="47625" cy="161829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75335" y="43414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5543" y="43772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76744" y="438197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客户类只做两件事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8096" y="4733449"/>
              <a:ext cx="50639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先拿到一个原型对象，课件的说法是直接实例化或通过工厂方法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等方式创建一个。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8096" y="5324951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之后调用它的克隆方法复制出多个相同的对象，一次都不用再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new。</a:t>
              </a:r>
            </a:p>
          </p:txBody>
        </p:sp>
      </p:grpSp>
      <p:grpSp>
        <p:nvGrpSpPr>
          <p:cNvPr id="38" name="c2-card-1"/>
          <p:cNvGrpSpPr/>
          <p:nvPr/>
        </p:nvGrpSpPr>
        <p:grpSpPr>
          <a:xfrm>
            <a:off x="6680835" y="1524000"/>
            <a:ext cx="4977765" cy="2476500"/>
            <a:chOff x="6680835" y="1524000"/>
            <a:chExt cx="4977765" cy="2476500"/>
          </a:xfrm>
        </p:grpSpPr>
        <p:sp>
          <p:nvSpPr>
            <p:cNvPr id="24" name="Rectangle 24"/>
            <p:cNvSpPr/>
            <p:nvPr/>
          </p:nvSpPr>
          <p:spPr>
            <a:xfrm>
              <a:off x="6680835" y="1524000"/>
              <a:ext cx="4977765" cy="2476500"/>
            </a:xfrm>
            <a:prstGeom prst="roundRect">
              <a:avLst>
                <a:gd name="adj" fmla="val 53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690360" y="1657350"/>
              <a:ext cx="47625" cy="22098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922770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05079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接线规则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08976" y="176736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三条一写就错的地方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923722" y="2106930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82067" y="214726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13664" y="2119789"/>
              <a:ext cx="394904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克隆方法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不能是 static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。静态方法不能被覆盖，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多态一没，样本就决定不了造什么。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923722" y="2698432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82067" y="273877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13664" y="2711291"/>
              <a:ext cx="404507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返回类型写抽象原型。Java 5 起可以用协变返回类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型写成具体类，客户端仍按抽象类型接。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923722" y="3289935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982067" y="333027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13664" y="3302794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客户端只在准备样本那一处出现具体类名，之后一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律用抽象类型。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6680835" y="4185285"/>
            <a:ext cx="4977765" cy="1837372"/>
            <a:chOff x="6680835" y="4185285"/>
            <a:chExt cx="4977765" cy="1837372"/>
          </a:xfrm>
        </p:grpSpPr>
        <p:sp>
          <p:nvSpPr>
            <p:cNvPr id="39" name="Rectangle 39"/>
            <p:cNvSpPr/>
            <p:nvPr/>
          </p:nvSpPr>
          <p:spPr>
            <a:xfrm>
              <a:off x="6680835" y="4185285"/>
              <a:ext cx="4977765" cy="1837372"/>
            </a:xfrm>
            <a:prstGeom prst="roundRect">
              <a:avLst>
                <a:gd name="adj" fmla="val 72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690360" y="4318635"/>
              <a:ext cx="47625" cy="157067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922770" y="4389120"/>
              <a:ext cx="86772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99929" y="4424839"/>
              <a:ext cx="7143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Java 特有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897558" y="442960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抽象原型类常常被省掉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15531" y="4781074"/>
              <a:ext cx="430657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Object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已经提供了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clone()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Cloneable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充当了那个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标识接口，所以 Java 版的原型模式常常只剩具体原型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和客户类两个角色。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原型模式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469130" cy="2997517"/>
            <a:chOff x="667512" y="1835468"/>
            <a:chExt cx="446913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74989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的克隆语义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浅克隆与深克隆的分界，就在引用类型字段上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7452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Cloneable 与 Object.clone()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浅克隆与深克隆的对象图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两种深克隆写法与常见陷阱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原型模式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57871" cy="909257"/>
            <a:chOff x="520446" y="342900"/>
            <a:chExt cx="86578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1644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843" y="407194"/>
              <a:ext cx="18745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14 原型 · Java 的克隆语义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578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Cloneable 是一个开关，真正干活的是 Object.clone()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626418" cy="3139440"/>
            <a:chOff x="533400" y="1524000"/>
            <a:chExt cx="5626418" cy="31394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139440"/>
            </a:xfrm>
            <a:prstGeom prst="roundRect">
              <a:avLst>
                <a:gd name="adj" fmla="val 30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克隆方法的标准写法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112770"/>
              <a:ext cx="5588318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035" y="1937861"/>
              <a:ext cx="4541774" cy="2654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PrototypeDemo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Cloneable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name;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PrototypeDemo clone() {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协变返回类型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(PrototypeDemo)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.clone();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(CloneNotSupportedException e)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已经实现 Cloneable，走不到这里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AssertionError(e);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1-callout-2"/>
          <p:cNvGrpSpPr/>
          <p:nvPr/>
        </p:nvGrpSpPr>
        <p:grpSpPr>
          <a:xfrm>
            <a:off x="533400" y="4853940"/>
            <a:ext cx="5626418" cy="1344930"/>
            <a:chOff x="533400" y="4853940"/>
            <a:chExt cx="5626418" cy="1344930"/>
          </a:xfrm>
        </p:grpSpPr>
        <p:sp>
          <p:nvSpPr>
            <p:cNvPr id="12" name="Rectangle 12"/>
            <p:cNvSpPr/>
            <p:nvPr/>
          </p:nvSpPr>
          <p:spPr>
            <a:xfrm>
              <a:off x="533400" y="4853940"/>
              <a:ext cx="5626418" cy="1344930"/>
            </a:xfrm>
            <a:prstGeom prst="roundRect">
              <a:avLst>
                <a:gd name="adj" fmla="val 84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38188" y="5426393"/>
              <a:ext cx="200026" cy="200025"/>
              <a:chOff x="738188" y="5426393"/>
              <a:chExt cx="200026" cy="20002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38188" y="542639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77926" y="547084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12642" y="558196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40130" y="5283518"/>
              <a:ext cx="41586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super.clone()</a:t>
              </a: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 xml:space="preserve"> 是 protected 的，覆盖时提升为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public，外部才调得到。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464618" y="1524000"/>
            <a:ext cx="5193982" cy="1956435"/>
            <a:chOff x="6464618" y="1524000"/>
            <a:chExt cx="5193982" cy="1956435"/>
          </a:xfrm>
        </p:grpSpPr>
        <p:sp>
          <p:nvSpPr>
            <p:cNvPr id="19" name="Rectangle 19"/>
            <p:cNvSpPr/>
            <p:nvPr/>
          </p:nvSpPr>
          <p:spPr>
            <a:xfrm>
              <a:off x="6464618" y="1524000"/>
              <a:ext cx="5193982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74142" y="165735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712268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80342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13295" y="1768792"/>
              <a:ext cx="1836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标识接口 Cloneable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04648" y="2129790"/>
              <a:ext cx="45396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Cloneable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里没有任何方法，它只起一个开关作用：声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明这个类允许被按字段复制。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04648" y="2750820"/>
              <a:ext cx="4530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Object.clone()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不调用构造器，它直接开辟一块同样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大小的内存，把每个字段的值原样搬过去。</a:t>
              </a:r>
            </a:p>
          </p:txBody>
        </p:sp>
      </p:grpSp>
      <p:grpSp>
        <p:nvGrpSpPr>
          <p:cNvPr id="34" name="c2-card-2"/>
          <p:cNvGrpSpPr/>
          <p:nvPr/>
        </p:nvGrpSpPr>
        <p:grpSpPr>
          <a:xfrm>
            <a:off x="6464618" y="3670935"/>
            <a:ext cx="5193982" cy="2527935"/>
            <a:chOff x="6464618" y="3670935"/>
            <a:chExt cx="5193982" cy="2527935"/>
          </a:xfrm>
        </p:grpSpPr>
        <p:sp>
          <p:nvSpPr>
            <p:cNvPr id="27" name="Rectangle 27"/>
            <p:cNvSpPr/>
            <p:nvPr/>
          </p:nvSpPr>
          <p:spPr>
            <a:xfrm>
              <a:off x="6464618" y="3670935"/>
              <a:ext cx="5193982" cy="2527935"/>
            </a:xfrm>
            <a:prstGeom prst="roundRect">
              <a:avLst>
                <a:gd name="adj" fmla="val 527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4142" y="3804285"/>
              <a:ext cx="47625" cy="22612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712268" y="38804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03428" y="39162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13295" y="3915728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抛异常的是虚拟机，不是编译器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04648" y="4276725"/>
              <a:ext cx="43110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原课件写“如果一个类没有实现这个接口但是调用了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clone() 方法，Java </a:t>
              </a:r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编译器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将抛出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CloneNotSupportedException”。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04648" y="5183505"/>
              <a:ext cx="45110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实际是 </a:t>
              </a: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运行时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由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Object.clone()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抛出。编译期只要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求调用方处理这个受检异常，没实现 Cloneable 一行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警告也不会有。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原型模式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24140" cy="909257"/>
            <a:chOff x="520446" y="342900"/>
            <a:chExt cx="69241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1644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843" y="407194"/>
              <a:ext cx="18745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14 原型 · Java 的克隆语义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241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clone() 的三条约定，和一个一写就错的地方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bullets-1"/>
          <p:cNvGrpSpPr/>
          <p:nvPr/>
        </p:nvGrpSpPr>
        <p:grpSpPr>
          <a:xfrm>
            <a:off x="525780" y="1548765"/>
            <a:ext cx="4088089" cy="2103405"/>
            <a:chOff x="525780" y="1548765"/>
            <a:chExt cx="4088089" cy="210340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26658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Object.clone() 的三条约定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33400" y="188976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5249" y="193205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4390" y="1903095"/>
              <a:ext cx="13681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x.clone() != x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42010" y="226980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26033" y="219694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克隆对象与原对象不是同一个对象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492692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5249" y="2534984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4390" y="2506028"/>
              <a:ext cx="37794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x.clone().getClass() == x.getClass()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42010" y="287274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26033" y="279987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克隆对象与原对象的类型一样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309562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95249" y="31379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4390" y="3108960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x.clone().equals(x)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为真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42010" y="3475672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26033" y="3402806"/>
              <a:ext cx="22099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前提是 equals() 定义得恰当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3792855"/>
            <a:ext cx="5410200" cy="2408872"/>
            <a:chOff x="533400" y="3792855"/>
            <a:chExt cx="5410200" cy="2408872"/>
          </a:xfrm>
        </p:grpSpPr>
        <p:sp>
          <p:nvSpPr>
            <p:cNvPr id="24" name="Rectangle 24"/>
            <p:cNvSpPr/>
            <p:nvPr/>
          </p:nvSpPr>
          <p:spPr>
            <a:xfrm>
              <a:off x="533400" y="3792855"/>
              <a:ext cx="5410200" cy="2408872"/>
            </a:xfrm>
            <a:prstGeom prst="roundRect">
              <a:avLst>
                <a:gd name="adj" fmla="val 55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3926205"/>
              <a:ext cx="47625" cy="214217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81050" y="400240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71258" y="40381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82078" y="4037648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这三条不是语言强制的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3430" y="4398645"/>
              <a:ext cx="47015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文档把它们写成“一般而言”，编译器不检查。自己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写的 clone() 违反第二条，多半是用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顶替了</a:t>
              </a:r>
              <a:br/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super.clone()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6" name="c2-code-1"/>
          <p:cNvGrpSpPr/>
          <p:nvPr/>
        </p:nvGrpSpPr>
        <p:grpSpPr>
          <a:xfrm>
            <a:off x="6248400" y="1524000"/>
            <a:ext cx="5410200" cy="2530792"/>
            <a:chOff x="6248400" y="1524000"/>
            <a:chExt cx="5410200" cy="2530792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5410200" cy="2530792"/>
            </a:xfrm>
            <a:prstGeom prst="roundRect">
              <a:avLst>
                <a:gd name="adj" fmla="val 376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76797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错误写法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267450" y="2301240"/>
              <a:ext cx="537210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67450" y="3721418"/>
              <a:ext cx="537210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76035" y="1937861"/>
              <a:ext cx="3958590" cy="2045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Base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Cloneable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Base clone()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Base();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写死了 Base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Derived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Base {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Base b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Derived().clone();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System.out.println(b.getClass());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打印 class Base，本该是 class Derived */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248400" y="4245292"/>
            <a:ext cx="5410200" cy="1956435"/>
            <a:chOff x="6248400" y="4245292"/>
            <a:chExt cx="5410200" cy="1956435"/>
          </a:xfrm>
        </p:grpSpPr>
        <p:sp>
          <p:nvSpPr>
            <p:cNvPr id="37" name="Rectangle 37"/>
            <p:cNvSpPr/>
            <p:nvPr/>
          </p:nvSpPr>
          <p:spPr>
            <a:xfrm>
              <a:off x="6248400" y="4245292"/>
              <a:ext cx="5410200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57925" y="4378642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96050" y="445484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86258" y="44905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97078" y="4490085"/>
              <a:ext cx="30709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super.clone() 不能用 new 代替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88430" y="4851082"/>
              <a:ext cx="4739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super.clone()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由虚拟机按对象的 </a:t>
              </a: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实际类型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分配内存，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所以子类不重写也能克隆出正确的类型。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88430" y="5472112"/>
              <a:ext cx="4672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换成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就把这份多态丢掉了，子类的字段还会全部丢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原型模式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1644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843" y="407194"/>
              <a:ext cx="18745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14 原型 · Java 的克隆语义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浅克隆：基本类型复制值，引用类型复制地址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311286" cy="308039"/>
            <a:chOff x="525399" y="1550194"/>
            <a:chExt cx="8311286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31128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副本自己是一个新对象，但它的引用类型字段指向的，仍是原件指向的那几个成员对象。</a:t>
              </a:r>
            </a:p>
          </p:txBody>
        </p:sp>
      </p:grpSp>
      <p:grpSp>
        <p:nvGrpSpPr>
          <p:cNvPr id="25" name="c1-graph-1"/>
          <p:cNvGrpSpPr/>
          <p:nvPr/>
        </p:nvGrpSpPr>
        <p:grpSpPr>
          <a:xfrm>
            <a:off x="731520" y="2171700"/>
            <a:ext cx="5230178" cy="1839278"/>
            <a:chOff x="731520" y="2171700"/>
            <a:chExt cx="5230178" cy="1839278"/>
          </a:xfrm>
        </p:grpSpPr>
        <p:sp>
          <p:nvSpPr>
            <p:cNvPr id="9" name="Freeform 9"/>
            <p:cNvSpPr/>
            <p:nvPr/>
          </p:nvSpPr>
          <p:spPr>
            <a:xfrm>
              <a:off x="1798320" y="2587942"/>
              <a:ext cx="924877" cy="319088"/>
            </a:xfrm>
            <a:custGeom>
              <a:avLst/>
              <a:gdLst/>
              <a:ahLst/>
              <a:cxnLst/>
              <a:rect l="l" t="t" r="r" b="b"/>
              <a:pathLst>
                <a:path w="924877" h="319088">
                  <a:moveTo>
                    <a:pt x="0" y="319088"/>
                  </a:moveTo>
                  <a:lnTo>
                    <a:pt x="92487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707958" y="2542222"/>
              <a:ext cx="105727" cy="90488"/>
            </a:xfrm>
            <a:custGeom>
              <a:avLst/>
              <a:gdLst/>
              <a:ahLst/>
              <a:cxnLst/>
              <a:rect l="l" t="t" r="r" b="b"/>
              <a:pathLst>
                <a:path w="105727" h="90488">
                  <a:moveTo>
                    <a:pt x="105727" y="14288"/>
                  </a:moveTo>
                  <a:lnTo>
                    <a:pt x="30480" y="904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798320" y="3275648"/>
              <a:ext cx="924877" cy="320040"/>
            </a:xfrm>
            <a:custGeom>
              <a:avLst/>
              <a:gdLst/>
              <a:ahLst/>
              <a:cxnLst/>
              <a:rect l="l" t="t" r="r" b="b"/>
              <a:pathLst>
                <a:path w="924877" h="320040">
                  <a:moveTo>
                    <a:pt x="0" y="0"/>
                  </a:moveTo>
                  <a:lnTo>
                    <a:pt x="924877" y="3200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707958" y="3549968"/>
              <a:ext cx="105727" cy="90488"/>
            </a:xfrm>
            <a:custGeom>
              <a:avLst/>
              <a:gdLst/>
              <a:ahLst/>
              <a:cxnLst/>
              <a:rect l="l" t="t" r="r" b="b"/>
              <a:pathLst>
                <a:path w="105727" h="90488">
                  <a:moveTo>
                    <a:pt x="105727" y="76200"/>
                  </a:moveTo>
                  <a:lnTo>
                    <a:pt x="0" y="90488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970020" y="2587942"/>
              <a:ext cx="924877" cy="319088"/>
            </a:xfrm>
            <a:custGeom>
              <a:avLst/>
              <a:gdLst/>
              <a:ahLst/>
              <a:cxnLst/>
              <a:rect l="l" t="t" r="r" b="b"/>
              <a:pathLst>
                <a:path w="924877" h="319088">
                  <a:moveTo>
                    <a:pt x="924877" y="31908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880485" y="2542222"/>
              <a:ext cx="104775" cy="90488"/>
            </a:xfrm>
            <a:custGeom>
              <a:avLst/>
              <a:gdLst/>
              <a:ahLst/>
              <a:cxnLst/>
              <a:rect l="l" t="t" r="r" b="b"/>
              <a:pathLst>
                <a:path w="104775" h="90488">
                  <a:moveTo>
                    <a:pt x="0" y="14288"/>
                  </a:moveTo>
                  <a:lnTo>
                    <a:pt x="104775" y="0"/>
                  </a:lnTo>
                  <a:lnTo>
                    <a:pt x="74295" y="9048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970020" y="3275648"/>
              <a:ext cx="924877" cy="320040"/>
            </a:xfrm>
            <a:custGeom>
              <a:avLst/>
              <a:gdLst/>
              <a:ahLst/>
              <a:cxnLst/>
              <a:rect l="l" t="t" r="r" b="b"/>
              <a:pathLst>
                <a:path w="924877" h="320040">
                  <a:moveTo>
                    <a:pt x="924877" y="0"/>
                  </a:moveTo>
                  <a:lnTo>
                    <a:pt x="0" y="3200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880485" y="3549968"/>
              <a:ext cx="104775" cy="90488"/>
            </a:xfrm>
            <a:custGeom>
              <a:avLst/>
              <a:gdLst/>
              <a:ahLst/>
              <a:cxnLst/>
              <a:rect l="l" t="t" r="r" b="b"/>
              <a:pathLst>
                <a:path w="104775" h="90488">
                  <a:moveTo>
                    <a:pt x="0" y="76200"/>
                  </a:moveTo>
                  <a:lnTo>
                    <a:pt x="74295" y="0"/>
                  </a:lnTo>
                  <a:lnTo>
                    <a:pt x="104775" y="9048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1520" y="2891790"/>
              <a:ext cx="1066800" cy="40005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813685" y="2171700"/>
              <a:ext cx="1066800" cy="400050"/>
            </a:xfrm>
            <a:prstGeom prst="roundRect">
              <a:avLst>
                <a:gd name="adj" fmla="val 2381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813685" y="3610928"/>
              <a:ext cx="1066800" cy="400050"/>
            </a:xfrm>
            <a:prstGeom prst="roundRect">
              <a:avLst>
                <a:gd name="adj" fmla="val 2381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894898" y="2891790"/>
              <a:ext cx="1066800" cy="40005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70355" y="3016568"/>
              <a:ext cx="9891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obj1（原件）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41731" y="2297430"/>
              <a:ext cx="8107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成员对象 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941731" y="3735705"/>
              <a:ext cx="8107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成员对象 B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933733" y="3016568"/>
              <a:ext cx="9891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obj2（副本）</a:t>
              </a:r>
            </a:p>
          </p:txBody>
        </p:sp>
      </p:grpSp>
      <p:grpSp>
        <p:nvGrpSpPr>
          <p:cNvPr id="33" name="c1-card-2"/>
          <p:cNvGrpSpPr/>
          <p:nvPr/>
        </p:nvGrpSpPr>
        <p:grpSpPr>
          <a:xfrm>
            <a:off x="533400" y="4406265"/>
            <a:ext cx="5626418" cy="1864995"/>
            <a:chOff x="533400" y="4406265"/>
            <a:chExt cx="5626418" cy="1864995"/>
          </a:xfrm>
        </p:grpSpPr>
        <p:sp>
          <p:nvSpPr>
            <p:cNvPr id="26" name="Rectangle 26"/>
            <p:cNvSpPr/>
            <p:nvPr/>
          </p:nvSpPr>
          <p:spPr>
            <a:xfrm>
              <a:off x="533400" y="4406265"/>
              <a:ext cx="5626418" cy="1864995"/>
            </a:xfrm>
            <a:prstGeom prst="roundRect">
              <a:avLst>
                <a:gd name="adj" fmla="val 71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4539615"/>
              <a:ext cx="47625" cy="15982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81050" y="46158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71258" y="46515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82078" y="4651058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两支箭头落在同一个框上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3430" y="5012055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复制出来的只有最外层那一个对象。中间两个成员对象一份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没动，被原件和副本同时引用。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4573" y="5628799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改副本的成员对象，原件跟着变，这是浅克隆最常见的事故</a:t>
              </a:r>
            </a:p>
          </p:txBody>
        </p:sp>
      </p:grpSp>
      <p:grpSp>
        <p:nvGrpSpPr>
          <p:cNvPr id="36" name="c2-image-1"/>
          <p:cNvGrpSpPr/>
          <p:nvPr/>
        </p:nvGrpSpPr>
        <p:grpSpPr>
          <a:xfrm>
            <a:off x="6464618" y="1967865"/>
            <a:ext cx="5193982" cy="2181702"/>
            <a:chOff x="6464618" y="1967865"/>
            <a:chExt cx="5193982" cy="2181702"/>
          </a:xfrm>
        </p:grpSpPr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2"/>
            <a:srcRect l="0" t="26038" r="0" b="26037"/>
            <a:stretch>
              <a:fillRect/>
            </a:stretch>
          </p:blipFill>
          <p:spPr>
            <a:xfrm>
              <a:off x="6464618" y="1967865"/>
              <a:ext cx="5193982" cy="1866900"/>
            </a:xfrm>
            <a:prstGeom prst="roundRect">
              <a:avLst>
                <a:gd name="adj" fmla="val 7142"/>
              </a:avLst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7171690" y="3929539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两个盒子各自独立，钥匙却只有一把，两边都拴在它上面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464618" y="4314825"/>
            <a:ext cx="5193982" cy="1956435"/>
            <a:chOff x="6464618" y="4314825"/>
            <a:chExt cx="5193982" cy="1956435"/>
          </a:xfrm>
        </p:grpSpPr>
        <p:sp>
          <p:nvSpPr>
            <p:cNvPr id="37" name="Rectangle 37"/>
            <p:cNvSpPr/>
            <p:nvPr/>
          </p:nvSpPr>
          <p:spPr>
            <a:xfrm>
              <a:off x="6464618" y="4314825"/>
              <a:ext cx="5193982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74142" y="4448175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712268" y="452437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03428" y="45600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13295" y="4559618"/>
              <a:ext cx="2383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浅克隆（Shallow Clone）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04648" y="492061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复制对象的字段值：基本数据类型复制值；引用类型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只复制那个引用，数组变量复制的是数组地址。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04648" y="5541645"/>
              <a:ext cx="4406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Object.clone()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提供的就是浅克隆，</a:t>
              </a:r>
              <a:br/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ArrayList.clone()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、数组的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clone()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也都是浅的。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原型模式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1644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843" y="407194"/>
              <a:ext cx="18745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14 原型 · Java 的克隆语义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深克隆：连成员对象一起复制一份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311286" cy="308039"/>
            <a:chOff x="525399" y="1550194"/>
            <a:chExt cx="8311286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31128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深克隆与浅克隆的区别只在复合类型字段上：遇到引用字段，要为它重新创建一个对象。</a:t>
              </a:r>
            </a:p>
          </p:txBody>
        </p:sp>
      </p:grpSp>
      <p:grpSp>
        <p:nvGrpSpPr>
          <p:cNvPr id="29" name="c1-graph-1"/>
          <p:cNvGrpSpPr/>
          <p:nvPr/>
        </p:nvGrpSpPr>
        <p:grpSpPr>
          <a:xfrm>
            <a:off x="769620" y="2145982"/>
            <a:ext cx="5161598" cy="1890713"/>
            <a:chOff x="769620" y="2145982"/>
            <a:chExt cx="5161598" cy="1890713"/>
          </a:xfrm>
        </p:grpSpPr>
        <p:sp>
          <p:nvSpPr>
            <p:cNvPr id="9" name="Freeform 9"/>
            <p:cNvSpPr/>
            <p:nvPr/>
          </p:nvSpPr>
          <p:spPr>
            <a:xfrm>
              <a:off x="1601152" y="2554605"/>
              <a:ext cx="611505" cy="346710"/>
            </a:xfrm>
            <a:custGeom>
              <a:avLst/>
              <a:gdLst/>
              <a:ahLst/>
              <a:cxnLst/>
              <a:rect l="l" t="t" r="r" b="b"/>
              <a:pathLst>
                <a:path w="611505" h="346710">
                  <a:moveTo>
                    <a:pt x="0" y="346710"/>
                  </a:moveTo>
                  <a:lnTo>
                    <a:pt x="6115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188845" y="2507932"/>
              <a:ext cx="106680" cy="88583"/>
            </a:xfrm>
            <a:custGeom>
              <a:avLst/>
              <a:gdLst/>
              <a:ahLst/>
              <a:cxnLst/>
              <a:rect l="l" t="t" r="r" b="b"/>
              <a:pathLst>
                <a:path w="106680" h="88583">
                  <a:moveTo>
                    <a:pt x="106680" y="0"/>
                  </a:moveTo>
                  <a:lnTo>
                    <a:pt x="47625" y="88583"/>
                  </a:lnTo>
                  <a:lnTo>
                    <a:pt x="0" y="571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601152" y="3282315"/>
              <a:ext cx="611505" cy="345757"/>
            </a:xfrm>
            <a:custGeom>
              <a:avLst/>
              <a:gdLst/>
              <a:ahLst/>
              <a:cxnLst/>
              <a:rect l="l" t="t" r="r" b="b"/>
              <a:pathLst>
                <a:path w="611505" h="345757">
                  <a:moveTo>
                    <a:pt x="0" y="0"/>
                  </a:moveTo>
                  <a:lnTo>
                    <a:pt x="611505" y="34575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188845" y="3586162"/>
              <a:ext cx="106680" cy="88583"/>
            </a:xfrm>
            <a:custGeom>
              <a:avLst/>
              <a:gdLst/>
              <a:ahLst/>
              <a:cxnLst/>
              <a:rect l="l" t="t" r="r" b="b"/>
              <a:pathLst>
                <a:path w="106680" h="88583">
                  <a:moveTo>
                    <a:pt x="106680" y="88583"/>
                  </a:moveTo>
                  <a:lnTo>
                    <a:pt x="0" y="82867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485322" y="2553652"/>
              <a:ext cx="639128" cy="347662"/>
            </a:xfrm>
            <a:custGeom>
              <a:avLst/>
              <a:gdLst/>
              <a:ahLst/>
              <a:cxnLst/>
              <a:rect l="l" t="t" r="r" b="b"/>
              <a:pathLst>
                <a:path w="639128" h="347662">
                  <a:moveTo>
                    <a:pt x="0" y="347662"/>
                  </a:moveTo>
                  <a:lnTo>
                    <a:pt x="63912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101590" y="2507932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106680" y="0"/>
                  </a:moveTo>
                  <a:lnTo>
                    <a:pt x="45720" y="87630"/>
                  </a:lnTo>
                  <a:lnTo>
                    <a:pt x="0" y="381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485322" y="3282315"/>
              <a:ext cx="639128" cy="346710"/>
            </a:xfrm>
            <a:custGeom>
              <a:avLst/>
              <a:gdLst/>
              <a:ahLst/>
              <a:cxnLst/>
              <a:rect l="l" t="t" r="r" b="b"/>
              <a:pathLst>
                <a:path w="639128" h="346710">
                  <a:moveTo>
                    <a:pt x="0" y="0"/>
                  </a:moveTo>
                  <a:lnTo>
                    <a:pt x="639128" y="3467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101590" y="3587115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106680" y="87630"/>
                  </a:moveTo>
                  <a:lnTo>
                    <a:pt x="0" y="83820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9620" y="2901315"/>
              <a:ext cx="990600" cy="3810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225040" y="2145982"/>
              <a:ext cx="781050" cy="361950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225040" y="3674745"/>
              <a:ext cx="781050" cy="361950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639502" y="2901315"/>
              <a:ext cx="990600" cy="3810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150168" y="2145982"/>
              <a:ext cx="781050" cy="361950"/>
            </a:xfrm>
            <a:prstGeom prst="roundRect">
              <a:avLst>
                <a:gd name="adj" fmla="val 2631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150168" y="3674745"/>
              <a:ext cx="781050" cy="361950"/>
            </a:xfrm>
            <a:prstGeom prst="roundRect">
              <a:avLst>
                <a:gd name="adj" fmla="val 2631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70355" y="3016568"/>
              <a:ext cx="9891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obj1（原件）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71755" y="2252662"/>
              <a:ext cx="4876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成员 A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71755" y="3781425"/>
              <a:ext cx="4876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成员 B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40238" y="3016568"/>
              <a:ext cx="9891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obj2（副本）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96883" y="2252662"/>
              <a:ext cx="4876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成员 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96883" y="3781425"/>
              <a:ext cx="4876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成员 B</a:t>
              </a:r>
            </a:p>
          </p:txBody>
        </p:sp>
      </p:grpSp>
      <p:grpSp>
        <p:nvGrpSpPr>
          <p:cNvPr id="36" name="c1-card-2"/>
          <p:cNvGrpSpPr/>
          <p:nvPr/>
        </p:nvGrpSpPr>
        <p:grpSpPr>
          <a:xfrm>
            <a:off x="533400" y="4406265"/>
            <a:ext cx="5626418" cy="1944052"/>
            <a:chOff x="533400" y="4406265"/>
            <a:chExt cx="5626418" cy="1944052"/>
          </a:xfrm>
        </p:grpSpPr>
        <p:sp>
          <p:nvSpPr>
            <p:cNvPr id="30" name="Rectangle 30"/>
            <p:cNvSpPr/>
            <p:nvPr/>
          </p:nvSpPr>
          <p:spPr>
            <a:xfrm>
              <a:off x="533400" y="4406265"/>
              <a:ext cx="5626418" cy="1944052"/>
            </a:xfrm>
            <a:prstGeom prst="roundRect">
              <a:avLst>
                <a:gd name="adj" fmla="val 68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42925" y="4539615"/>
              <a:ext cx="47625" cy="16773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81050" y="46158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1258" y="46515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82078" y="4651058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整张对象图都被复制了一遍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3430" y="5012055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副本这一侧的成员对象是新建的，内容与原件相同，地址不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同。两边从此互不影响。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6464618" y="1967865"/>
            <a:ext cx="5193982" cy="1631632"/>
            <a:chOff x="6464618" y="1967865"/>
            <a:chExt cx="5193982" cy="1631632"/>
          </a:xfrm>
        </p:grpSpPr>
        <p:sp>
          <p:nvSpPr>
            <p:cNvPr id="37" name="Rectangle 37"/>
            <p:cNvSpPr/>
            <p:nvPr/>
          </p:nvSpPr>
          <p:spPr>
            <a:xfrm>
              <a:off x="6464618" y="1967865"/>
              <a:ext cx="5193982" cy="1631632"/>
            </a:xfrm>
            <a:prstGeom prst="roundRect">
              <a:avLst>
                <a:gd name="adj" fmla="val 81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74142" y="2101215"/>
              <a:ext cx="47625" cy="1364932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712268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0342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13295" y="2212658"/>
              <a:ext cx="20983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深克隆（Deep Clone）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04648" y="257365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除对象本身被复制外，对象所包含的引用也被复制，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也就是其中的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成员对象也将复制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05791" y="3190399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嵌套多层时，每一层对象对应的类都必须支持深克隆</a:t>
              </a:r>
            </a:p>
          </p:txBody>
        </p:sp>
      </p:grpSp>
      <p:grpSp>
        <p:nvGrpSpPr>
          <p:cNvPr id="65" name="c2-compare-2"/>
          <p:cNvGrpSpPr/>
          <p:nvPr/>
        </p:nvGrpSpPr>
        <p:grpSpPr>
          <a:xfrm>
            <a:off x="6464618" y="3789998"/>
            <a:ext cx="5193982" cy="2560320"/>
            <a:chOff x="6464618" y="3789998"/>
            <a:chExt cx="5193982" cy="2560320"/>
          </a:xfrm>
        </p:grpSpPr>
        <p:sp>
          <p:nvSpPr>
            <p:cNvPr id="45" name="Rectangle 45"/>
            <p:cNvSpPr/>
            <p:nvPr/>
          </p:nvSpPr>
          <p:spPr>
            <a:xfrm>
              <a:off x="6464618" y="3789998"/>
              <a:ext cx="2348865" cy="2560320"/>
            </a:xfrm>
            <a:prstGeom prst="roundRect">
              <a:avLst>
                <a:gd name="adj" fmla="val 56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74142" y="3923348"/>
              <a:ext cx="47625" cy="229362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04648" y="402431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浅克隆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717983" y="4441508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76098" y="4378642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只新建最外层一个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717983" y="5062538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76098" y="4999672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成员对象被两边共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717983" y="5683568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876098" y="5620702"/>
              <a:ext cx="1424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Object.clone()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的默认行为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309735" y="3789998"/>
              <a:ext cx="2348865" cy="2560320"/>
            </a:xfrm>
            <a:prstGeom prst="roundRect">
              <a:avLst>
                <a:gd name="adj" fmla="val 56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9319260" y="3923348"/>
              <a:ext cx="47625" cy="22936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549765" y="402431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深克隆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9563100" y="4441508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721215" y="4378642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沿引用逐层新建对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9563100" y="5062538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721215" y="499967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成员对象各有一份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9563100" y="5397818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721215" y="5334952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要自己写，或借序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列化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8862060" y="4870132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915400" y="500443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分界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原型模式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1644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843" y="407194"/>
              <a:ext cx="18745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14 原型 · Java 的克隆语义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深克隆写法一：先浅克隆，再逐个字段补复制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284720" cy="293370"/>
            <a:chOff x="525780" y="1548765"/>
            <a:chExt cx="728472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284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这是最直接的做法：拿到浅克隆的结果后，把每一个引用字段换成它自己的副本。</a:t>
              </a:r>
            </a:p>
          </p:txBody>
        </p:sp>
      </p:grpSp>
      <p:grpSp>
        <p:nvGrpSpPr>
          <p:cNvPr id="14" name="c1-code-1"/>
          <p:cNvGrpSpPr/>
          <p:nvPr/>
        </p:nvGrpSpPr>
        <p:grpSpPr>
          <a:xfrm>
            <a:off x="533400" y="1954530"/>
            <a:ext cx="6059805" cy="4291012"/>
            <a:chOff x="533400" y="1954530"/>
            <a:chExt cx="6059805" cy="429101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6059805" cy="4291012"/>
            </a:xfrm>
            <a:prstGeom prst="roundRect">
              <a:avLst>
                <a:gd name="adj" fmla="val 222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842385"/>
              <a:ext cx="602170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4221480"/>
              <a:ext cx="602170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416" y="2367915"/>
              <a:ext cx="4217861" cy="38067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Email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Cloneable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subject;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不可变，浅复制就够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Attachment attachment;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可变对象，要补一层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Email clone()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1. 先浅克隆，类型正确、字段齐全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Email copy = (Email)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.clone();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2. 再把引用字段换成它自己的副本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copy.attachment = attachment.clone();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copy;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(CloneNotSupportedException e)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AssertionError(e);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/* Attachment 自己也要实现 Cloneable 并覆盖 clone()，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写法与前面那个模板一模一样 */</a:t>
              </a:r>
            </a:p>
          </p:txBody>
        </p:sp>
      </p:grpSp>
      <p:grpSp>
        <p:nvGrpSpPr>
          <p:cNvPr id="28" name="c2-steps-1"/>
          <p:cNvGrpSpPr/>
          <p:nvPr/>
        </p:nvGrpSpPr>
        <p:grpSpPr>
          <a:xfrm>
            <a:off x="6898005" y="1964055"/>
            <a:ext cx="4463796" cy="1781556"/>
            <a:chOff x="6898005" y="1964055"/>
            <a:chExt cx="4463796" cy="1781556"/>
          </a:xfrm>
        </p:grpSpPr>
        <p:sp>
          <p:nvSpPr>
            <p:cNvPr id="15" name="Rectangle 15"/>
            <p:cNvSpPr/>
            <p:nvPr/>
          </p:nvSpPr>
          <p:spPr>
            <a:xfrm>
              <a:off x="7031355" y="2106930"/>
              <a:ext cx="19050" cy="12334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6898005" y="196405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91629" y="2037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898005" y="258127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991629" y="26550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898005" y="319754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91629" y="32713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09866" y="199691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11009" y="2277428"/>
              <a:ext cx="39215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super.clone()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拿到一份浅克隆，类型正确、字段齐全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09866" y="261413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11009" y="2894648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把每个引用字段改成它自己的副本，成员类也要实现克隆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09866" y="323040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11009" y="3510915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成员里还有成员，就继续往下递归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898005" y="3916680"/>
            <a:ext cx="4760595" cy="2328862"/>
            <a:chOff x="6898005" y="3916680"/>
            <a:chExt cx="4760595" cy="2328862"/>
          </a:xfrm>
        </p:grpSpPr>
        <p:sp>
          <p:nvSpPr>
            <p:cNvPr id="29" name="Rectangle 29"/>
            <p:cNvSpPr/>
            <p:nvPr/>
          </p:nvSpPr>
          <p:spPr>
            <a:xfrm>
              <a:off x="6898005" y="3916680"/>
              <a:ext cx="4760595" cy="2328862"/>
            </a:xfrm>
            <a:prstGeom prst="roundRect">
              <a:avLst>
                <a:gd name="adj" fmla="val 57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907530" y="4050030"/>
              <a:ext cx="47625" cy="206216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134225" y="41148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225665" y="41490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17536" y="4150519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这种写法有两个硬伤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26986" y="4493419"/>
              <a:ext cx="409016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对象图上 </a:t>
              </a: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每一层的类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都要自己支持克隆，漏掉一层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就退回半深不浅。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26986" y="5083016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对象之间互相引用成环时，简单递归会无限下去，必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须自己记录已经复制过的对象。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原型模式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1644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843" y="407194"/>
              <a:ext cx="18745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14 原型 · Java 的克隆语义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深克隆写法二：写进字节流再读回来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150727" cy="278702"/>
            <a:chOff x="526161" y="1547336"/>
            <a:chExt cx="6150727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1507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课件小结里提到的“通过序列化等方式实现深克隆”，指的就是这种写法。</a:t>
              </a:r>
            </a:p>
          </p:txBody>
        </p:sp>
      </p:grpSp>
      <p:grpSp>
        <p:nvGrpSpPr>
          <p:cNvPr id="14" name="c1-code-1"/>
          <p:cNvGrpSpPr/>
          <p:nvPr/>
        </p:nvGrpSpPr>
        <p:grpSpPr>
          <a:xfrm>
            <a:off x="533400" y="1941195"/>
            <a:ext cx="6276022" cy="4291012"/>
            <a:chOff x="533400" y="1941195"/>
            <a:chExt cx="6276022" cy="429101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6276022" cy="4291012"/>
            </a:xfrm>
            <a:prstGeom prst="roundRect">
              <a:avLst>
                <a:gd name="adj" fmla="val 222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4208145"/>
              <a:ext cx="6237922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5723572"/>
              <a:ext cx="6237922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416" y="2354580"/>
              <a:ext cx="4704588" cy="38067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Email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Serializable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long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serialVersionUID = 1L;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subject;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Attachment attachment;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它也要 Serializable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Email deepClone()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IOException, ClassNotFoundException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1. 把整张对象图写进内存里的字节数组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ByteArrayOutputStream bos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ByteArrayOutputStream();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ObjectOutputStream oos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ObjectOutputStream(bos);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oos.writeObject(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oos.flush();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2. 再从字节数组里读回来，读到的就是副本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ByteArrayInputStream bis =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ByteArrayInputStream(bos.toByteArray());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ObjectInputStream ois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ObjectInputStream(bis);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(Email) ois.readObject();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2" name="c2-bullets-1"/>
          <p:cNvGrpSpPr/>
          <p:nvPr/>
        </p:nvGrpSpPr>
        <p:grpSpPr>
          <a:xfrm>
            <a:off x="7107364" y="1964055"/>
            <a:ext cx="3892296" cy="1206055"/>
            <a:chOff x="7107364" y="1964055"/>
            <a:chExt cx="3892296" cy="1206055"/>
          </a:xfrm>
        </p:grpSpPr>
        <p:sp>
          <p:nvSpPr>
            <p:cNvPr id="15" name="TextBox 15"/>
            <p:cNvSpPr txBox="1"/>
            <p:nvPr/>
          </p:nvSpPr>
          <p:spPr>
            <a:xfrm>
              <a:off x="7107364" y="196405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省事在哪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7114222" y="2311718"/>
              <a:ext cx="129540" cy="105728"/>
            </a:xfrm>
            <a:custGeom>
              <a:avLst/>
              <a:gdLst/>
              <a:ahLst/>
              <a:cxnLst/>
              <a:rect l="l" t="t" r="r" b="b"/>
              <a:pathLst>
                <a:path w="129540" h="105728">
                  <a:moveTo>
                    <a:pt x="0" y="56198"/>
                  </a:moveTo>
                  <a:lnTo>
                    <a:pt x="49530" y="105728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51204" y="2284095"/>
              <a:ext cx="36121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一次调用复制整张对象图，不用每层写 clone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7114222" y="2623185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51204" y="259461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对象之间的环和共享结构由序列化自己处理好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7114222" y="2934652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351204" y="2906077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嵌套再深，代码也是这十几行</a:t>
              </a:r>
            </a:p>
          </p:txBody>
        </p:sp>
      </p:grpSp>
      <p:grpSp>
        <p:nvGrpSpPr>
          <p:cNvPr id="40" name="c2-card-2"/>
          <p:cNvGrpSpPr/>
          <p:nvPr/>
        </p:nvGrpSpPr>
        <p:grpSpPr>
          <a:xfrm>
            <a:off x="7114222" y="3291840"/>
            <a:ext cx="4544378" cy="2940368"/>
            <a:chOff x="7114222" y="3291840"/>
            <a:chExt cx="4544378" cy="2940368"/>
          </a:xfrm>
        </p:grpSpPr>
        <p:sp>
          <p:nvSpPr>
            <p:cNvPr id="23" name="Rectangle 23"/>
            <p:cNvSpPr/>
            <p:nvPr/>
          </p:nvSpPr>
          <p:spPr>
            <a:xfrm>
              <a:off x="7114222" y="3291840"/>
              <a:ext cx="4544378" cy="2940368"/>
            </a:xfrm>
            <a:prstGeom prst="roundRect">
              <a:avLst>
                <a:gd name="adj" fmla="val 45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123748" y="3425190"/>
              <a:ext cx="47625" cy="267366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344728" y="3484245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424166" y="351853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前提与代价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28470" y="352425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四条必须记住的限制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344728" y="3846195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400406" y="388458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4572" y="3858577"/>
              <a:ext cx="35284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对象图上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每一个类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都要实现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Serializable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一个就抛 NotSerializableException。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44728" y="4406265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400406" y="444465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4572" y="4417695"/>
              <a:ext cx="36656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transient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字段不参与序列化，副本里是 null 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0。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344728" y="496538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400406" y="500376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4572" y="4977765"/>
              <a:ext cx="367417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static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字段属于类不属于实例，本来就不会被复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44728" y="552545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00406" y="556383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4572" y="5537835"/>
              <a:ext cx="36313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走一遍流的开销比手写 clone 大得多，频繁克隆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时要掂量。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原型模式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1644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843" y="407194"/>
              <a:ext cx="18745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14 原型 · Java 的克隆语义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自己推演一遍：四行输出就能分辨浅和深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099859" cy="293370"/>
            <a:chOff x="525780" y="1548765"/>
            <a:chExt cx="7099859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0998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把下面这段代码分别接到浅克隆版和深克隆版的 Email 上，只有两行输出会变。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54530"/>
            <a:ext cx="5842635" cy="2776538"/>
            <a:chOff x="533400" y="1954530"/>
            <a:chExt cx="5842635" cy="277653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842635" cy="2776538"/>
            </a:xfrm>
            <a:prstGeom prst="roundRect">
              <a:avLst>
                <a:gd name="adj" fmla="val 343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274695"/>
              <a:ext cx="580453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416" y="2367915"/>
              <a:ext cx="4917948" cy="2290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Attachment a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Attachment(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"data.xlsx"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Email e1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Email(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"周报"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a);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Email e2 = e1.clone();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换成 deepClone() 再跑一次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e2.setSubject(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"周报副本"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e2.getAttachment().setName(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"data_v2.xlsx"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System.out.println(e1.getSubject());   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1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System.out.println(e1.getAttachment().getName());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2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System.out.println(e1.getAttachment()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== e2.getAttachment());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3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System.out.println(e1 == e2);          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/* 4 */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4911090"/>
            <a:ext cx="5842635" cy="1276350"/>
            <a:chOff x="533400" y="4911090"/>
            <a:chExt cx="5842635" cy="1276350"/>
          </a:xfrm>
        </p:grpSpPr>
        <p:sp>
          <p:nvSpPr>
            <p:cNvPr id="14" name="Rectangle 14"/>
            <p:cNvSpPr/>
            <p:nvPr/>
          </p:nvSpPr>
          <p:spPr>
            <a:xfrm>
              <a:off x="533400" y="4911090"/>
              <a:ext cx="5842635" cy="1276350"/>
            </a:xfrm>
            <a:prstGeom prst="roundRect">
              <a:avLst>
                <a:gd name="adj" fmla="val 104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5044440"/>
              <a:ext cx="47625" cy="10096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9620" y="510921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7059" y="51435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怎么做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86281" y="514397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先把四行答案写在纸上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381" y="5487829"/>
              <a:ext cx="53669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按浅克隆走一遍，再按深克隆走一遍，然后和右边的表对答案。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3524" y="5801678"/>
              <a:ext cx="4373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关键在高亮那一行：它改的是附件对象本身，不是邮件的字段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6680835" y="1954530"/>
            <a:ext cx="4977765" cy="2122170"/>
            <a:chOff x="6680835" y="1954530"/>
            <a:chExt cx="4977765" cy="2122170"/>
          </a:xfrm>
        </p:grpSpPr>
        <p:sp>
          <p:nvSpPr>
            <p:cNvPr id="22" name="Rectangle 22"/>
            <p:cNvSpPr/>
            <p:nvPr/>
          </p:nvSpPr>
          <p:spPr>
            <a:xfrm>
              <a:off x="6680835" y="1954530"/>
              <a:ext cx="4977765" cy="42481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58100" y="20831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94698" y="208311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浅克隆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738675" y="208311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深克隆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83324" y="2506980"/>
              <a:ext cx="9640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原件的标题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73134" y="25069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17111" y="25069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周报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680835" y="279844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680835" y="2803208"/>
              <a:ext cx="497776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83324" y="2931795"/>
              <a:ext cx="11256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原件的附件名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980170" y="2812732"/>
              <a:ext cx="1324928" cy="40576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073134" y="2931795"/>
              <a:ext cx="10379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data_v2.xlsx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0324148" y="2812732"/>
              <a:ext cx="1324928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417111" y="2931795"/>
              <a:ext cx="7714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data.xlsx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680835" y="322326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83324" y="3356610"/>
              <a:ext cx="1933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两封邮件的附件是同一个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980170" y="3237548"/>
              <a:ext cx="1324928" cy="40576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73134" y="335661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324148" y="3237548"/>
              <a:ext cx="1324928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417111" y="3356610"/>
              <a:ext cx="4160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false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680835" y="364712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680835" y="3651885"/>
              <a:ext cx="497776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83324" y="3780472"/>
              <a:ext cx="14487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两封邮件是同一个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73134" y="3780472"/>
              <a:ext cx="4160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false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417111" y="3780472"/>
              <a:ext cx="4160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false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680835" y="1954530"/>
              <a:ext cx="4977765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965882" y="195453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309860" y="195453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rd-2"/>
          <p:cNvGrpSpPr/>
          <p:nvPr/>
        </p:nvGrpSpPr>
        <p:grpSpPr>
          <a:xfrm>
            <a:off x="6680835" y="4256722"/>
            <a:ext cx="4977765" cy="1930718"/>
            <a:chOff x="6680835" y="4256722"/>
            <a:chExt cx="4977765" cy="1930718"/>
          </a:xfrm>
        </p:grpSpPr>
        <p:sp>
          <p:nvSpPr>
            <p:cNvPr id="51" name="Rectangle 51"/>
            <p:cNvSpPr/>
            <p:nvPr/>
          </p:nvSpPr>
          <p:spPr>
            <a:xfrm>
              <a:off x="6680835" y="4256722"/>
              <a:ext cx="4977765" cy="1930718"/>
            </a:xfrm>
            <a:prstGeom prst="roundRect">
              <a:avLst>
                <a:gd name="adj" fmla="val 6907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878955" y="445484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970395" y="448913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462266" y="4490561"/>
              <a:ext cx="188498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分水岭只有第 2、3 行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71716" y="4833461"/>
              <a:ext cx="440575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标题是 </a:t>
              </a:r>
              <a:r>
                <a:rPr lang="en-US" sz="142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String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，字符串不可变，给副本换标题只是让副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本的字段指向另一个串，原件不受影响。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71716" y="5423059"/>
              <a:ext cx="410819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附件是可变对象，浅克隆下两封邮件握着同一个</a:t>
              </a:r>
              <a:br/>
              <a:r>
                <a:rPr lang="en-US" sz="142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Attachment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，副本改名等于把原件的附件也改了。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原型模式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1644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843" y="407194"/>
              <a:ext cx="18745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14 原型 · Java 的克隆语义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克隆的七个坑，写之前先对一遍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kv-1"/>
          <p:cNvGrpSpPr/>
          <p:nvPr/>
        </p:nvGrpSpPr>
        <p:grpSpPr>
          <a:xfrm>
            <a:off x="525780" y="1548765"/>
            <a:ext cx="5417820" cy="3305175"/>
            <a:chOff x="525780" y="1548765"/>
            <a:chExt cx="5417820" cy="330517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432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忘了 Cloneable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149918" y="1548765"/>
              <a:ext cx="26441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编译一点问题没有，运行到</a:t>
              </a:r>
              <a:br/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super.clone()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才抛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CloneNotSupportedException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4326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2552700"/>
              <a:ext cx="24338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用 new 顶替 super.clone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149918" y="2552700"/>
              <a:ext cx="2682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子类克隆出来退回父类型，子类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新增的字段全丢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31546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327469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数组字段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49918" y="3274695"/>
              <a:ext cx="26822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arr.clone()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只复制一层，元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素是对象时两个数组里装的还是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同一批对象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41586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5780" y="42786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二维数组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49918" y="4278630"/>
              <a:ext cx="2682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外层数组是新的，每一行仍指向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原来那几行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4985385"/>
            <a:ext cx="5410200" cy="1335405"/>
            <a:chOff x="533400" y="4985385"/>
            <a:chExt cx="5410200" cy="1335405"/>
          </a:xfrm>
        </p:grpSpPr>
        <p:sp>
          <p:nvSpPr>
            <p:cNvPr id="19" name="Rectangle 19"/>
            <p:cNvSpPr/>
            <p:nvPr/>
          </p:nvSpPr>
          <p:spPr>
            <a:xfrm>
              <a:off x="533400" y="4985385"/>
              <a:ext cx="541020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5118735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81050" y="51949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1258" y="52306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提醒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82078" y="5230178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前两个坑编译器不会提醒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3430" y="5591175"/>
              <a:ext cx="4663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忘了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Cloneable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、用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顶替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super.clone()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，编译期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一行警告也没有，只能自己逐个字段对一遍。</a:t>
              </a:r>
            </a:p>
          </p:txBody>
        </p:sp>
      </p:grpSp>
      <p:grpSp>
        <p:nvGrpSpPr>
          <p:cNvPr id="34" name="c2-kv-1"/>
          <p:cNvGrpSpPr/>
          <p:nvPr/>
        </p:nvGrpSpPr>
        <p:grpSpPr>
          <a:xfrm>
            <a:off x="6240780" y="1548765"/>
            <a:ext cx="5417820" cy="2019300"/>
            <a:chOff x="6240780" y="1548765"/>
            <a:chExt cx="5417820" cy="2019300"/>
          </a:xfrm>
        </p:grpSpPr>
        <p:sp>
          <p:nvSpPr>
            <p:cNvPr id="26" name="TextBox 26"/>
            <p:cNvSpPr txBox="1"/>
            <p:nvPr/>
          </p:nvSpPr>
          <p:spPr>
            <a:xfrm>
              <a:off x="6240780" y="1548765"/>
              <a:ext cx="13636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final 引用字段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26705" y="1548765"/>
              <a:ext cx="35871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clone()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里不能给 final 字段重新赋值，要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深克隆只能改写成拷贝构造器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248400" y="21507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40780" y="227076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不可变对象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26705" y="2270760"/>
              <a:ext cx="35680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String、Integer、LocalDate 这类对象共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享没有风险，不必深复制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248400" y="287274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40780" y="2992755"/>
              <a:ext cx="14792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transient 字段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26705" y="2992755"/>
              <a:ext cx="34156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序列化深克隆后变成默认值，null 或 0，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容易被当成数据丢失</a:t>
              </a:r>
            </a:p>
          </p:txBody>
        </p:sp>
      </p:grpSp>
      <p:grpSp>
        <p:nvGrpSpPr>
          <p:cNvPr id="42" name="c2-card-2"/>
          <p:cNvGrpSpPr/>
          <p:nvPr/>
        </p:nvGrpSpPr>
        <p:grpSpPr>
          <a:xfrm>
            <a:off x="6248400" y="3699510"/>
            <a:ext cx="5410200" cy="2621280"/>
            <a:chOff x="6248400" y="3699510"/>
            <a:chExt cx="5410200" cy="2621280"/>
          </a:xfrm>
        </p:grpSpPr>
        <p:sp>
          <p:nvSpPr>
            <p:cNvPr id="35" name="Rectangle 35"/>
            <p:cNvSpPr/>
            <p:nvPr/>
          </p:nvSpPr>
          <p:spPr>
            <a:xfrm>
              <a:off x="6248400" y="3699510"/>
              <a:ext cx="5410200" cy="2621280"/>
            </a:xfrm>
            <a:prstGeom prst="roundRect">
              <a:avLst>
                <a:gd name="adj" fmla="val 50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3832860"/>
              <a:ext cx="47625" cy="235458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96050" y="390906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86258" y="39447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自检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97078" y="394430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一条够用的判断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88430" y="4305300"/>
              <a:ext cx="4644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把类的字段列出来，凡是 </a:t>
              </a: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可变的引用类型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，就问一句：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副本改了它，原件能不能接受。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88430" y="492633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答案是不能，这个字段就必须深复制。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原型模式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913632" cy="2997517"/>
            <a:chOff x="667512" y="1835468"/>
            <a:chExt cx="391363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课件中的三个实例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两位老师的例子各留最典型的一个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邮件复制的两张类图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地图图块的克隆接口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相似对象的复制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原型模式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14 原型 · 课件中的三个实例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实例一与实例二：邮件复制的两张类图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646670" cy="264033"/>
            <a:chOff x="526542" y="1545907"/>
            <a:chExt cx="764667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646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同一个邮件系统，浅克隆版只复制邮件，深克隆版连附件一起复制，类图上的差别集中在两处。</a:t>
              </a:r>
            </a:p>
          </p:txBody>
        </p:sp>
      </p:grpSp>
      <p:grpSp>
        <p:nvGrpSpPr>
          <p:cNvPr id="10" name="c1-text-1"/>
          <p:cNvGrpSpPr/>
          <p:nvPr/>
        </p:nvGrpSpPr>
        <p:grpSpPr>
          <a:xfrm>
            <a:off x="528066" y="1945957"/>
            <a:ext cx="1709547" cy="205359"/>
            <a:chOff x="528066" y="1945957"/>
            <a:chExt cx="1709547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528066" y="1945957"/>
              <a:ext cx="17095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浅克隆版：实现 Cloneable</a:t>
              </a:r>
            </a:p>
          </p:txBody>
        </p:sp>
      </p:grpSp>
      <p:grpSp>
        <p:nvGrpSpPr>
          <p:cNvPr id="36" name="c1-uml-2"/>
          <p:cNvGrpSpPr/>
          <p:nvPr/>
        </p:nvGrpSpPr>
        <p:grpSpPr>
          <a:xfrm>
            <a:off x="1314450" y="2558415"/>
            <a:ext cx="3848100" cy="1720215"/>
            <a:chOff x="1314450" y="2558415"/>
            <a:chExt cx="3848100" cy="1720215"/>
          </a:xfrm>
        </p:grpSpPr>
        <p:sp>
          <p:nvSpPr>
            <p:cNvPr id="11" name="Freeform 11"/>
            <p:cNvSpPr/>
            <p:nvPr/>
          </p:nvSpPr>
          <p:spPr>
            <a:xfrm>
              <a:off x="4591050" y="3217545"/>
              <a:ext cx="9525" cy="356235"/>
            </a:xfrm>
            <a:custGeom>
              <a:avLst/>
              <a:gdLst/>
              <a:ahLst/>
              <a:cxnLst/>
              <a:rect l="l" t="t" r="r" b="b"/>
              <a:pathLst>
                <a:path w="9525" h="356235">
                  <a:moveTo>
                    <a:pt x="0" y="35623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4517708" y="309181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457450" y="3926205"/>
              <a:ext cx="1352550" cy="9525"/>
            </a:xfrm>
            <a:custGeom>
              <a:avLst/>
              <a:gdLst/>
              <a:ahLst/>
              <a:cxnLst/>
              <a:rect l="l" t="t" r="r" b="b"/>
              <a:pathLst>
                <a:path w="1352550" h="9525">
                  <a:moveTo>
                    <a:pt x="0" y="0"/>
                  </a:moveTo>
                  <a:lnTo>
                    <a:pt x="13525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810000" y="3869055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209550" y="57150"/>
                  </a:moveTo>
                  <a:lnTo>
                    <a:pt x="104775" y="115253"/>
                  </a:lnTo>
                  <a:lnTo>
                    <a:pt x="0" y="5715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019550" y="2558415"/>
              <a:ext cx="1143000" cy="53340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027170" y="2566035"/>
              <a:ext cx="1128712" cy="33528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019550" y="289655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019550" y="299180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314450" y="3648075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322070" y="3655695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314450" y="386048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1314450" y="395573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019550" y="3573780"/>
              <a:ext cx="114300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027170" y="358140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019550" y="378618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019550" y="403002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293489" y="2606992"/>
              <a:ext cx="59512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01452" y="2735580"/>
              <a:ext cx="5791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Cloneable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16570" y="3699510"/>
              <a:ext cx="7387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Attachment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85888" y="4023836"/>
              <a:ext cx="101405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download(): void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28684" y="3625215"/>
              <a:ext cx="3247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Email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90988" y="3854291"/>
              <a:ext cx="73256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attachment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090988" y="4098131"/>
              <a:ext cx="8698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clone(): Email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865120" y="3729990"/>
              <a:ext cx="74676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888437" y="3752850"/>
              <a:ext cx="7001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attachment</a:t>
              </a:r>
            </a:p>
          </p:txBody>
        </p:sp>
      </p:grpSp>
      <p:grpSp>
        <p:nvGrpSpPr>
          <p:cNvPr id="43" name="c1-callout-3"/>
          <p:cNvGrpSpPr/>
          <p:nvPr/>
        </p:nvGrpSpPr>
        <p:grpSpPr>
          <a:xfrm>
            <a:off x="533400" y="4641532"/>
            <a:ext cx="5410200" cy="702945"/>
            <a:chOff x="533400" y="4641532"/>
            <a:chExt cx="5410200" cy="702945"/>
          </a:xfrm>
        </p:grpSpPr>
        <p:sp>
          <p:nvSpPr>
            <p:cNvPr id="37" name="Rectangle 37"/>
            <p:cNvSpPr/>
            <p:nvPr/>
          </p:nvSpPr>
          <p:spPr>
            <a:xfrm>
              <a:off x="533400" y="4641532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4892993"/>
              <a:ext cx="200026" cy="200025"/>
              <a:chOff x="738188" y="4892993"/>
              <a:chExt cx="200026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489299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77926" y="493744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12642" y="504856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1273" y="4903946"/>
              <a:ext cx="41458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clone()</a:t>
              </a: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 xml:space="preserve"> 只复制 Email 自己，两封邮件共用一个附件。</a:t>
              </a:r>
            </a:p>
          </p:txBody>
        </p:sp>
      </p:grpSp>
      <p:grpSp>
        <p:nvGrpSpPr>
          <p:cNvPr id="45" name="c2-text-1"/>
          <p:cNvGrpSpPr/>
          <p:nvPr/>
        </p:nvGrpSpPr>
        <p:grpSpPr>
          <a:xfrm>
            <a:off x="6243066" y="1945957"/>
            <a:ext cx="2445329" cy="205359"/>
            <a:chOff x="6243066" y="1945957"/>
            <a:chExt cx="2445329" cy="205359"/>
          </a:xfrm>
        </p:grpSpPr>
        <p:sp>
          <p:nvSpPr>
            <p:cNvPr id="44" name="TextBox 44"/>
            <p:cNvSpPr txBox="1"/>
            <p:nvPr/>
          </p:nvSpPr>
          <p:spPr>
            <a:xfrm>
              <a:off x="6243066" y="1945957"/>
              <a:ext cx="24453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深克隆版：两个类都实现 Serializable</a:t>
              </a:r>
            </a:p>
          </p:txBody>
        </p:sp>
      </p:grpSp>
      <p:grpSp>
        <p:nvGrpSpPr>
          <p:cNvPr id="73" name="c2-uml-2"/>
          <p:cNvGrpSpPr/>
          <p:nvPr/>
        </p:nvGrpSpPr>
        <p:grpSpPr>
          <a:xfrm>
            <a:off x="7029450" y="2558415"/>
            <a:ext cx="3870960" cy="1720215"/>
            <a:chOff x="7029450" y="2558415"/>
            <a:chExt cx="3870960" cy="1720215"/>
          </a:xfrm>
        </p:grpSpPr>
        <p:sp>
          <p:nvSpPr>
            <p:cNvPr id="46" name="Freeform 46"/>
            <p:cNvSpPr/>
            <p:nvPr/>
          </p:nvSpPr>
          <p:spPr>
            <a:xfrm>
              <a:off x="10306050" y="3217545"/>
              <a:ext cx="9525" cy="356235"/>
            </a:xfrm>
            <a:custGeom>
              <a:avLst/>
              <a:gdLst/>
              <a:ahLst/>
              <a:cxnLst/>
              <a:rect l="l" t="t" r="r" b="b"/>
              <a:pathLst>
                <a:path w="9525" h="356235">
                  <a:moveTo>
                    <a:pt x="0" y="35623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47" name="Freeform 47"/>
            <p:cNvSpPr/>
            <p:nvPr/>
          </p:nvSpPr>
          <p:spPr>
            <a:xfrm>
              <a:off x="10232708" y="309181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7600950" y="3217545"/>
              <a:ext cx="2705100" cy="430530"/>
            </a:xfrm>
            <a:custGeom>
              <a:avLst/>
              <a:gdLst/>
              <a:ahLst/>
              <a:cxnLst/>
              <a:rect l="l" t="t" r="r" b="b"/>
              <a:pathLst>
                <a:path w="2705100" h="430530">
                  <a:moveTo>
                    <a:pt x="0" y="430530"/>
                  </a:moveTo>
                  <a:lnTo>
                    <a:pt x="0" y="152400"/>
                  </a:lnTo>
                  <a:lnTo>
                    <a:pt x="2705100" y="152400"/>
                  </a:lnTo>
                  <a:lnTo>
                    <a:pt x="27051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49" name="Freeform 49"/>
            <p:cNvSpPr/>
            <p:nvPr/>
          </p:nvSpPr>
          <p:spPr>
            <a:xfrm>
              <a:off x="10232708" y="309181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8172450" y="3926205"/>
              <a:ext cx="1329690" cy="9525"/>
            </a:xfrm>
            <a:custGeom>
              <a:avLst/>
              <a:gdLst/>
              <a:ahLst/>
              <a:cxnLst/>
              <a:rect l="l" t="t" r="r" b="b"/>
              <a:pathLst>
                <a:path w="1329690" h="9525">
                  <a:moveTo>
                    <a:pt x="0" y="0"/>
                  </a:moveTo>
                  <a:lnTo>
                    <a:pt x="132969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9502140" y="3869055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209550" y="57150"/>
                  </a:moveTo>
                  <a:lnTo>
                    <a:pt x="104775" y="115253"/>
                  </a:lnTo>
                  <a:lnTo>
                    <a:pt x="0" y="5715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1F2937"/>
            </a:solidFill>
            <a:ln w="15240">
              <a:solidFill>
                <a:srgbClr val="1F2937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9734550" y="2558415"/>
              <a:ext cx="1143000" cy="53340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9742170" y="2566035"/>
              <a:ext cx="1128712" cy="33528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9734550" y="289655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9734550" y="299180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029450" y="3648075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7037070" y="3655695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029450" y="386048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029450" y="395573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9711690" y="3573780"/>
              <a:ext cx="118872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9719310" y="3581400"/>
              <a:ext cx="117443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9711690" y="3786188"/>
              <a:ext cx="118872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9711690" y="4030028"/>
              <a:ext cx="118872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0008489" y="2606992"/>
              <a:ext cx="59512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943403" y="2735580"/>
              <a:ext cx="7252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Serializable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231570" y="3699510"/>
              <a:ext cx="7387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Attachment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100888" y="4023836"/>
              <a:ext cx="101405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download(): void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143684" y="3625215"/>
              <a:ext cx="3247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Email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783128" y="3854291"/>
              <a:ext cx="73256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attachment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783128" y="4098131"/>
              <a:ext cx="11167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deepClone(): Email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8568690" y="3729990"/>
              <a:ext cx="74676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592007" y="3752850"/>
              <a:ext cx="7001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attachment</a:t>
              </a:r>
            </a:p>
          </p:txBody>
        </p:sp>
      </p:grpSp>
      <p:grpSp>
        <p:nvGrpSpPr>
          <p:cNvPr id="79" name="c2-callout-3"/>
          <p:cNvGrpSpPr/>
          <p:nvPr/>
        </p:nvGrpSpPr>
        <p:grpSpPr>
          <a:xfrm>
            <a:off x="6248400" y="4641532"/>
            <a:ext cx="5410200" cy="702945"/>
            <a:chOff x="6248400" y="4641532"/>
            <a:chExt cx="5410200" cy="702945"/>
          </a:xfrm>
        </p:grpSpPr>
        <p:sp>
          <p:nvSpPr>
            <p:cNvPr id="74" name="Rectangle 74"/>
            <p:cNvSpPr/>
            <p:nvPr/>
          </p:nvSpPr>
          <p:spPr>
            <a:xfrm>
              <a:off x="6248400" y="4641532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6453188" y="4892995"/>
              <a:ext cx="200023" cy="200023"/>
              <a:chOff x="6453188" y="4892995"/>
              <a:chExt cx="200023" cy="200023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6453188" y="489299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6586538" y="49596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6756273" y="4786789"/>
              <a:ext cx="44508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深克隆版要求附件也可序列化，所以 Attachment 也挂到了接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口上。</a:t>
              </a:r>
            </a:p>
          </p:txBody>
        </p:sp>
      </p:grpSp>
      <p:grpSp>
        <p:nvGrpSpPr>
          <p:cNvPr id="86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80" name="Rectangle 80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738188" y="5911215"/>
              <a:ext cx="200026" cy="200026"/>
              <a:chOff x="738188" y="5911215"/>
              <a:chExt cx="200026" cy="200026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738188" y="59112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838200" y="5977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27088" y="60112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1041273" y="5805011"/>
              <a:ext cx="100266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更正：原课件两张图都把菱形画成实心的组合。浅克隆时副本与原件共用同一个附件，整体并不独占部分，画成空心菱形的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聚合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才准确；深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克隆版每封邮件各有一份附件，用组合。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原型模式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14 原型 · 课件中的三个实例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实例三：给图块加一个克隆接口，地图就不认识具体地形了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169112" cy="264033"/>
            <a:chOff x="526542" y="1545907"/>
            <a:chExt cx="816911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1691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陈伟老师课件给 Block 加上纯虚的 clone()，每个子类返回自己的一份副本。下面按 Java 语义改写。</a:t>
              </a:r>
            </a:p>
          </p:txBody>
        </p:sp>
      </p:grpSp>
      <p:grpSp>
        <p:nvGrpSpPr>
          <p:cNvPr id="14" name="c1-code-1"/>
          <p:cNvGrpSpPr/>
          <p:nvPr/>
        </p:nvGrpSpPr>
        <p:grpSpPr>
          <a:xfrm>
            <a:off x="533400" y="1928812"/>
            <a:ext cx="6059805" cy="4374832"/>
            <a:chOff x="533400" y="1928812"/>
            <a:chExt cx="6059805" cy="437483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059805" cy="4374832"/>
            </a:xfrm>
            <a:prstGeom prst="roundRect">
              <a:avLst>
                <a:gd name="adj" fmla="val 217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4590098"/>
              <a:ext cx="602170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5644515"/>
              <a:ext cx="602170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797" y="2340769"/>
              <a:ext cx="4322445" cy="38911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Block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Cloneable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Block clone();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抽象原型：声明克隆自己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draw();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Ocean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Block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x, y;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texture;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准备贴图才是重活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Ocean(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x,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y, String t)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.x = x;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.y = y;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.texture = t;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Ocean(Ocean o) {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贴图照抄，坐标重置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.texture = o.texture;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.x = 0;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.y = 0;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Ocean clone()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Ocean(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draw() {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画出这一块海洋 */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GameMap {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只认识 Block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List&lt;Block&gt; blocks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ArrayList&lt;&gt;();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fill(Block sample,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 blocks.add(sample.clone());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2" name="c2-bullets-1"/>
          <p:cNvGrpSpPr/>
          <p:nvPr/>
        </p:nvGrpSpPr>
        <p:grpSpPr>
          <a:xfrm>
            <a:off x="6891147" y="1950720"/>
            <a:ext cx="4363591" cy="1198435"/>
            <a:chOff x="6891147" y="1950720"/>
            <a:chExt cx="4363591" cy="1198435"/>
          </a:xfrm>
        </p:grpSpPr>
        <p:sp>
          <p:nvSpPr>
            <p:cNvPr id="15" name="TextBox 15"/>
            <p:cNvSpPr txBox="1"/>
            <p:nvPr/>
          </p:nvSpPr>
          <p:spPr>
            <a:xfrm>
              <a:off x="6891147" y="195072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改完之后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6898005" y="2296478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8577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34987" y="2267902"/>
              <a:ext cx="41197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GameMap 里再也没有 Ocean、Mountain 这些名字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6898005" y="2605088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8577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134987" y="2576512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换一种地形只要换传进去的样本对象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6898005" y="2913698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8577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134987" y="2885122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运行中替换样本，后面铺出来的图块就跟着变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898005" y="3266122"/>
            <a:ext cx="4760595" cy="3037522"/>
            <a:chOff x="6898005" y="3266122"/>
            <a:chExt cx="4760595" cy="3037522"/>
          </a:xfrm>
        </p:grpSpPr>
        <p:sp>
          <p:nvSpPr>
            <p:cNvPr id="23" name="Rectangle 23"/>
            <p:cNvSpPr/>
            <p:nvPr/>
          </p:nvSpPr>
          <p:spPr>
            <a:xfrm>
              <a:off x="6898005" y="3266122"/>
              <a:ext cx="4760595" cy="3037522"/>
            </a:xfrm>
            <a:prstGeom prst="roundRect">
              <a:avLst>
                <a:gd name="adj" fmla="val 439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907530" y="3399472"/>
              <a:ext cx="47625" cy="277082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122795" y="345281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214514" y="348567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88389" y="348805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课件头文件里的返回类型写错了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15937" y="3813810"/>
              <a:ext cx="4133660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MoneyBlock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与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TripBlock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 clone() 在头文件中都声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明为返回 </a:t>
              </a:r>
              <a:r>
                <a:rPr lang="en-US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NormalBlock *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，而 .cpp 里定义的是返回各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自的类型。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15937" y="4628198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两者签名对不上，编译通不过。协变返回类型应各自写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成 </a:t>
              </a:r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MoneyBlock *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与 </a:t>
              </a:r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TripBlock *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原型模式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14 原型 · 课件中的三个实例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相似对象的复制：先克隆，再改那几个不一样的字段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373618" cy="264033"/>
            <a:chOff x="526542" y="1545907"/>
            <a:chExt cx="837361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3736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复制得到的对象与原型常常不完全相同。课件的说法是，先用原型模式拿到相同对象，再修改它的属性。</a:t>
              </a:r>
            </a:p>
          </p:txBody>
        </p:sp>
      </p:grpSp>
      <p:grpSp>
        <p:nvGrpSpPr>
          <p:cNvPr id="14" name="c1-code-1"/>
          <p:cNvGrpSpPr/>
          <p:nvPr/>
        </p:nvGrpSpPr>
        <p:grpSpPr>
          <a:xfrm>
            <a:off x="533400" y="1928812"/>
            <a:ext cx="5951220" cy="4198620"/>
            <a:chOff x="533400" y="1928812"/>
            <a:chExt cx="5951220" cy="419862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951220" cy="4198620"/>
            </a:xfrm>
            <a:prstGeom prst="roundRect">
              <a:avLst>
                <a:gd name="adj" fmla="val 226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5469255"/>
              <a:ext cx="591312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5644515"/>
              <a:ext cx="591312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797" y="2340769"/>
              <a:ext cx="4166870" cy="37149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Cloneable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school  =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"吉林大学"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这三项都一样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college =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"软件学院"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major   =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"软件工程"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name;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这三项因人而异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gender;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age;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 clone()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(Student)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.clone();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(CloneNotSupportedException e)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AssertionError(e);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Student proto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"张三"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"男"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20);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Student s2 = proto.clone();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s2.setName(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"李四"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只改不一样的那几个字段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s2.setAge(21);</a:t>
              </a:r>
            </a:p>
          </p:txBody>
        </p:sp>
      </p:grpSp>
      <p:grpSp>
        <p:nvGrpSpPr>
          <p:cNvPr id="22" name="c2-bullets-1"/>
          <p:cNvGrpSpPr/>
          <p:nvPr/>
        </p:nvGrpSpPr>
        <p:grpSpPr>
          <a:xfrm>
            <a:off x="6782562" y="1950720"/>
            <a:ext cx="4546854" cy="1198435"/>
            <a:chOff x="6782562" y="1950720"/>
            <a:chExt cx="4546854" cy="1198435"/>
          </a:xfrm>
        </p:grpSpPr>
        <p:sp>
          <p:nvSpPr>
            <p:cNvPr id="15" name="TextBox 15"/>
            <p:cNvSpPr txBox="1"/>
            <p:nvPr/>
          </p:nvSpPr>
          <p:spPr>
            <a:xfrm>
              <a:off x="6782562" y="195072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什么时候划算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6797992" y="232410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54012" y="226790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相同的字段多、不同的字段少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797992" y="263271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954012" y="2576512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相同的那部分算起来费时（查库、读配置、解析文件）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797992" y="294132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54012" y="2885122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字段全是基本类型或不可变对象时，浅克隆就够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789420" y="3266122"/>
            <a:ext cx="4869180" cy="2861310"/>
            <a:chOff x="6789420" y="3266122"/>
            <a:chExt cx="4869180" cy="2861310"/>
          </a:xfrm>
        </p:grpSpPr>
        <p:sp>
          <p:nvSpPr>
            <p:cNvPr id="23" name="Rectangle 23"/>
            <p:cNvSpPr/>
            <p:nvPr/>
          </p:nvSpPr>
          <p:spPr>
            <a:xfrm>
              <a:off x="6789420" y="3266122"/>
              <a:ext cx="4869180" cy="2861310"/>
            </a:xfrm>
            <a:prstGeom prst="roundRect">
              <a:avLst>
                <a:gd name="adj" fmla="val 46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798945" y="3399472"/>
              <a:ext cx="47625" cy="25946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014210" y="3452812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95680" y="348567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另一个例子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53184" y="348805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画图工具里的圆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07352" y="3813810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要画一个圆，把工具条上的画圆工具拖到绘图区就行，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不必一点一点画出来。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07352" y="4371022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需要不同大小和颜色的圆，复制几个再改大小和颜色即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原型模式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821424" cy="2997517"/>
            <a:chOff x="667512" y="1835468"/>
            <a:chExt cx="682142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8214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扩展：带原型管理器的原型模式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把样本收进一张表，按名字取出来再克隆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原型管理器的结构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002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登记式的 Java 写法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注册表带来的动态能力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原型模式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14 原型 · 扩展：带原型管理器的原型模式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原型管理器：一个专门负责克隆的工厂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438282" cy="308039"/>
            <a:chOff x="525399" y="1550194"/>
            <a:chExt cx="10438282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43828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原型管理器把多个原型对象存在一个集合里供客户端使用。需要某个原型的克隆时，复制集合中对应的那一个。</a:t>
              </a:r>
            </a:p>
          </p:txBody>
        </p:sp>
      </p:grpSp>
      <p:grpSp>
        <p:nvGrpSpPr>
          <p:cNvPr id="52" name="c1-uml-1"/>
          <p:cNvGrpSpPr/>
          <p:nvPr/>
        </p:nvGrpSpPr>
        <p:grpSpPr>
          <a:xfrm>
            <a:off x="1352550" y="2166938"/>
            <a:ext cx="9749790" cy="2269807"/>
            <a:chOff x="1352550" y="2166938"/>
            <a:chExt cx="9749790" cy="2269807"/>
          </a:xfrm>
        </p:grpSpPr>
        <p:sp>
          <p:nvSpPr>
            <p:cNvPr id="9" name="Freeform 9"/>
            <p:cNvSpPr/>
            <p:nvPr/>
          </p:nvSpPr>
          <p:spPr>
            <a:xfrm>
              <a:off x="2495550" y="2682240"/>
              <a:ext cx="1356360" cy="9525"/>
            </a:xfrm>
            <a:custGeom>
              <a:avLst/>
              <a:gdLst/>
              <a:ahLst/>
              <a:cxnLst/>
              <a:rect l="l" t="t" r="r" b="b"/>
              <a:pathLst>
                <a:path w="1356360" h="9525">
                  <a:moveTo>
                    <a:pt x="0" y="0"/>
                  </a:moveTo>
                  <a:lnTo>
                    <a:pt x="135636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3747135" y="2624138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0" y="115253"/>
                  </a:moveTo>
                  <a:lnTo>
                    <a:pt x="104775" y="58103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5767388" y="2682240"/>
              <a:ext cx="3740468" cy="9525"/>
            </a:xfrm>
            <a:custGeom>
              <a:avLst/>
              <a:gdLst/>
              <a:ahLst/>
              <a:cxnLst/>
              <a:rect l="l" t="t" r="r" b="b"/>
              <a:pathLst>
                <a:path w="3740468" h="9525">
                  <a:moveTo>
                    <a:pt x="3740468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557838" y="2624138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8103"/>
                  </a:moveTo>
                  <a:lnTo>
                    <a:pt x="104775" y="0"/>
                  </a:lnTo>
                  <a:lnTo>
                    <a:pt x="209550" y="58103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705350" y="3212782"/>
              <a:ext cx="5562600" cy="572452"/>
            </a:xfrm>
            <a:custGeom>
              <a:avLst/>
              <a:gdLst/>
              <a:ahLst/>
              <a:cxnLst/>
              <a:rect l="l" t="t" r="r" b="b"/>
              <a:pathLst>
                <a:path w="5562600" h="572452">
                  <a:moveTo>
                    <a:pt x="0" y="572452"/>
                  </a:moveTo>
                  <a:lnTo>
                    <a:pt x="0" y="223838"/>
                  </a:lnTo>
                  <a:lnTo>
                    <a:pt x="5562600" y="223838"/>
                  </a:lnTo>
                  <a:lnTo>
                    <a:pt x="55626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10194608" y="308705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0267950" y="3212782"/>
              <a:ext cx="9525" cy="572452"/>
            </a:xfrm>
            <a:custGeom>
              <a:avLst/>
              <a:gdLst/>
              <a:ahLst/>
              <a:cxnLst/>
              <a:rect l="l" t="t" r="r" b="b"/>
              <a:pathLst>
                <a:path w="9525" h="572452">
                  <a:moveTo>
                    <a:pt x="0" y="572452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10194608" y="308705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352550" y="2450782"/>
              <a:ext cx="1143000" cy="46196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360170" y="2458402"/>
              <a:ext cx="1128712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352550" y="271748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1352550" y="281273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851910" y="2166938"/>
              <a:ext cx="1705928" cy="10296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859530" y="2173605"/>
              <a:ext cx="1691640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3851910" y="2433638"/>
              <a:ext cx="170592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851910" y="2718435"/>
              <a:ext cx="170592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9507855" y="2276475"/>
              <a:ext cx="1519238" cy="81153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9515475" y="2283142"/>
              <a:ext cx="1504950" cy="423862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507855" y="2703195"/>
              <a:ext cx="151923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9507855" y="2798445"/>
              <a:ext cx="151923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870960" y="3785235"/>
              <a:ext cx="1668780" cy="65151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3877628" y="3791902"/>
              <a:ext cx="1654492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870960" y="4051935"/>
              <a:ext cx="166878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870960" y="4147185"/>
              <a:ext cx="166878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9433560" y="3785235"/>
              <a:ext cx="1668780" cy="65151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9440228" y="3791902"/>
              <a:ext cx="1654492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433560" y="4051935"/>
              <a:ext cx="166878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9433560" y="4147185"/>
              <a:ext cx="166878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694606" y="2515076"/>
              <a:ext cx="4588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Client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982185" y="2231231"/>
              <a:ext cx="14463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PrototypeManager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922776" y="2506028"/>
              <a:ext cx="12954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prototypes: Map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922776" y="2790825"/>
              <a:ext cx="1564196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add(key, proto): void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get(key): Prototype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880407" y="2337911"/>
              <a:ext cx="7750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67946" y="2500789"/>
              <a:ext cx="800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Prototype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578721" y="2870835"/>
              <a:ext cx="14653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clone(): Prototype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908592" y="3849529"/>
              <a:ext cx="15935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ConcretePrototypeA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941826" y="4219575"/>
              <a:ext cx="14653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clone(): Prototype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71192" y="3849529"/>
              <a:ext cx="15935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ConcretePrototypeB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504426" y="4219575"/>
              <a:ext cx="14653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clone(): Prototype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2832735" y="2466022"/>
              <a:ext cx="68199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857424" y="2492693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«create»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285672" y="2466022"/>
              <a:ext cx="4953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315962" y="2492693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原型表</a:t>
              </a:r>
            </a:p>
          </p:txBody>
        </p:sp>
      </p:grpSp>
      <p:grpSp>
        <p:nvGrpSpPr>
          <p:cNvPr id="58" name="c1-kv-2"/>
          <p:cNvGrpSpPr/>
          <p:nvPr/>
        </p:nvGrpSpPr>
        <p:grpSpPr>
          <a:xfrm>
            <a:off x="525780" y="5040630"/>
            <a:ext cx="11132820" cy="733425"/>
            <a:chOff x="525780" y="5040630"/>
            <a:chExt cx="11132820" cy="733425"/>
          </a:xfrm>
        </p:grpSpPr>
        <p:sp>
          <p:nvSpPr>
            <p:cNvPr id="53" name="TextBox 53"/>
            <p:cNvSpPr txBox="1"/>
            <p:nvPr/>
          </p:nvSpPr>
          <p:spPr>
            <a:xfrm>
              <a:off x="525780" y="504063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管理器存什么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964055" y="5040630"/>
              <a:ext cx="60933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存的是对象，不是类名，所以“加一种产品”等于往表里放一个新样本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536067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25780" y="548068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针对谁编程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964055" y="5480685"/>
              <a:ext cx="6275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表的值类型是抽象原型，管理器里不出现任何具体原型类名，便于扩展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原型模式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72686" cy="909257"/>
            <a:chOff x="520446" y="342900"/>
            <a:chExt cx="667268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14 原型 · 扩展：带原型管理器的原型模式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7268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登记式写法：按 key 取样本，取出来再克隆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6059805" cy="4762500"/>
            <a:chOff x="533400" y="1524000"/>
            <a:chExt cx="6059805" cy="4762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762500"/>
            </a:xfrm>
            <a:prstGeom prst="roundRect">
              <a:avLst>
                <a:gd name="adj" fmla="val 200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5344478"/>
              <a:ext cx="602170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5547360"/>
              <a:ext cx="602170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035" y="1937861"/>
              <a:ext cx="4961382" cy="427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PrototypeManager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PrototypeManager INSTANCE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PrototypeManager();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Map&lt;String, Shape&gt; prototypes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HashMap&lt;&gt;();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PrototypeManager()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prototypes.put(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"circle"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Circle());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登记样本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prototypes.put(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"rect"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Rectangle());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PrototypeManager getInstance()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INSTANCE;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register(String key, Shape sample)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prototypes.put(key, sample);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运行时换样本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Shape create(String key)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Shape proto = prototypes.get(key);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proto ==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?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: proto.clone();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2-bullets-1"/>
          <p:cNvGrpSpPr/>
          <p:nvPr/>
        </p:nvGrpSpPr>
        <p:grpSpPr>
          <a:xfrm>
            <a:off x="6890766" y="1547336"/>
            <a:ext cx="4773778" cy="1547432"/>
            <a:chOff x="6890766" y="1547336"/>
            <a:chExt cx="4773778" cy="1547432"/>
          </a:xfrm>
        </p:grpSpPr>
        <p:sp>
          <p:nvSpPr>
            <p:cNvPr id="13" name="TextBox 13"/>
            <p:cNvSpPr txBox="1"/>
            <p:nvPr/>
          </p:nvSpPr>
          <p:spPr>
            <a:xfrm>
              <a:off x="6890766" y="154733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注册表带来的三件事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6905625" y="1945958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062216" y="1886426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增删注册表就是动态增减产品，一行业务代码都不用改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6905625" y="227552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062216" y="2215039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换掉注册的样本对象，效果相当于新定义了一个产品类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905625" y="2605088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62216" y="2544604"/>
              <a:ext cx="433362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客户端只给一个 key，连抽象原型的子类有哪些都不必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知道</a:t>
              </a:r>
            </a:p>
          </p:txBody>
        </p:sp>
      </p:grpSp>
      <p:grpSp>
        <p:nvGrpSpPr>
          <p:cNvPr id="28" name="c2-card-2"/>
          <p:cNvGrpSpPr/>
          <p:nvPr/>
        </p:nvGrpSpPr>
        <p:grpSpPr>
          <a:xfrm>
            <a:off x="6898005" y="3224212"/>
            <a:ext cx="4760595" cy="3062288"/>
            <a:chOff x="6898005" y="3224212"/>
            <a:chExt cx="4760595" cy="3062288"/>
          </a:xfrm>
        </p:grpSpPr>
        <p:sp>
          <p:nvSpPr>
            <p:cNvPr id="21" name="Rectangle 21"/>
            <p:cNvSpPr/>
            <p:nvPr/>
          </p:nvSpPr>
          <p:spPr>
            <a:xfrm>
              <a:off x="6898005" y="3224212"/>
              <a:ext cx="4760595" cy="3062288"/>
            </a:xfrm>
            <a:prstGeom prst="roundRect">
              <a:avLst>
                <a:gd name="adj" fmla="val 43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907530" y="3357562"/>
              <a:ext cx="47625" cy="279558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139940" y="342804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230148" y="34637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40396" y="346757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课件登记式代码的两处问题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32701" y="3819049"/>
              <a:ext cx="377772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ShapeManager::create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里写作</a:t>
              </a:r>
              <a:br/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aCricle-&gt;clone()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，类名拼错，应为 </a:t>
              </a:r>
              <a:r>
                <a:rPr lang="en-US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aCircle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32701" y="4410551"/>
              <a:ext cx="4018026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class BlockProtoFactory : public</a:t>
              </a:r>
              <a:br/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Singleton&lt;BlockFactory&gt;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的模板参数写成了兄弟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类。这种单例基类要拿自身作参数，应为</a:t>
              </a:r>
              <a:br/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Singleton&lt;BlockProtoFactory&gt;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9" name="TextBox 2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原型模式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024884" cy="3351847"/>
            <a:chOff x="667512" y="1835468"/>
            <a:chExt cx="402488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效果、适用与辨析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什么时候克隆比构造划算，什么时候别用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优点与缺点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适用环境与真实应用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与相关模式的分工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105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道自测题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原型模式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14 原型 · 效果、适用与辨析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优点与缺点：省掉构造过程，代价是每个类都要配克隆方法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compare-1"/>
          <p:cNvGrpSpPr/>
          <p:nvPr/>
        </p:nvGrpSpPr>
        <p:grpSpPr>
          <a:xfrm>
            <a:off x="533400" y="1524000"/>
            <a:ext cx="11125200" cy="2609850"/>
            <a:chOff x="533400" y="1524000"/>
            <a:chExt cx="11125200" cy="26098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314950" cy="2609850"/>
            </a:xfrm>
            <a:prstGeom prst="roundRect">
              <a:avLst>
                <a:gd name="adj" fmla="val 51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431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3430" y="17583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6765" y="217551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4880" y="211264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创建复杂实例时，复制一份比重走构造过程快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51079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44792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客户端针对抽象原型编程，具体原型类可写进配置文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13182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06895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不需要与产品平行的工厂等级结构，类的总数比工厂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方法少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375285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368998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深克隆能保存对象的中间状态，辅助实现撤销操作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343650" y="1524000"/>
              <a:ext cx="5314950" cy="2609850"/>
            </a:xfrm>
            <a:prstGeom prst="roundRect">
              <a:avLst>
                <a:gd name="adj" fmla="val 51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353175" y="1657350"/>
              <a:ext cx="47625" cy="23431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83680" y="17583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597015" y="217551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55130" y="211264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每个类都要配一个克隆方法，且要通盘考虑全部字段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597015" y="251079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55130" y="244792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改造已有类必须修改源代码，违背开闭原则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597015" y="284607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55130" y="278320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深克隆代码复杂，嵌套引用时每一层类都得支持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597015" y="318135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55130" y="3118485"/>
              <a:ext cx="4377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clone() 不走构造器，构造器里的校验与初始化会被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绕过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5895975" y="2628900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949315" y="27632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权衡</a:t>
              </a:r>
            </a:p>
          </p:txBody>
        </p:sp>
      </p:grpSp>
      <p:grpSp>
        <p:nvGrpSpPr>
          <p:cNvPr id="40" name="c1-kv-2"/>
          <p:cNvGrpSpPr/>
          <p:nvPr/>
        </p:nvGrpSpPr>
        <p:grpSpPr>
          <a:xfrm>
            <a:off x="525780" y="4349115"/>
            <a:ext cx="11132820" cy="1173480"/>
            <a:chOff x="525780" y="4349115"/>
            <a:chExt cx="11132820" cy="1173480"/>
          </a:xfrm>
        </p:grpSpPr>
        <p:sp>
          <p:nvSpPr>
            <p:cNvPr id="32" name="TextBox 32"/>
            <p:cNvSpPr txBox="1"/>
            <p:nvPr/>
          </p:nvSpPr>
          <p:spPr>
            <a:xfrm>
              <a:off x="525780" y="43491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最后一条要特别留神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559368" y="4349115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构造器里做的参数检查、注册监听、计数自增，克隆出来的对象一样都没做过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66915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5780" y="478917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和工厂方法比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559368" y="4789170"/>
              <a:ext cx="7082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工厂方法要养一棵与产品平行的工厂树；原型只要留住样本，类的总数明显更少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510921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5780" y="52292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和建造者比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559368" y="5229225"/>
              <a:ext cx="7284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建造者从零开始分步装配；原型直接复制一个已经装好的对象，省掉的是装配过程</a:t>
              </a:r>
            </a:p>
          </p:txBody>
        </p:sp>
      </p:grpSp>
      <p:grpSp>
        <p:nvGrpSpPr>
          <p:cNvPr id="4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1" name="Rectangle 4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130" y="5991225"/>
              <a:ext cx="7082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只要类还在改，克隆方法就得跟着改。字段一加一漏，副本和原件就不一致了。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原型模式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14 原型 · 效果、适用与辨析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三种情况值得用，两种情况用了亏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bullets-1"/>
          <p:cNvGrpSpPr/>
          <p:nvPr/>
        </p:nvGrpSpPr>
        <p:grpSpPr>
          <a:xfrm>
            <a:off x="526161" y="1547336"/>
            <a:ext cx="5570791" cy="2558320"/>
            <a:chOff x="526161" y="1547336"/>
            <a:chExt cx="5570791" cy="2558320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课件给的适用环境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33400" y="1870710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1745" y="191104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4293" y="1883569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创建新对象成本较大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1532" y="2229802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15936" y="2161222"/>
              <a:ext cx="50810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构造函数复杂，执行时消耗较多 CPU 或内存，而其中大部分信息又不变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440305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1745" y="248064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4293" y="2453164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系统要保存对象的状态，且状态变化很小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31532" y="2799398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15936" y="2730818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对象本身占内存也不大时，配合备忘录模式使用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3010852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91745" y="305023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4293" y="3022759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要避免建立与产品类层次平行的工厂类层次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31532" y="3368992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15936" y="3301365"/>
              <a:ext cx="48585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类的实例只有几种固定的状态组合，建相应数目的原型再克隆更方便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33400" y="3580448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91745" y="361983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4293" y="3592354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要在运行时动态增减或替换产品种类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31532" y="3938588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15936" y="3870960"/>
              <a:ext cx="4373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样本放进注册表，换一个样本等于换一种产品，不必重新编译</a:t>
              </a:r>
            </a:p>
          </p:txBody>
        </p:sp>
      </p:grpSp>
      <p:grpSp>
        <p:nvGrpSpPr>
          <p:cNvPr id="36" name="c1-card-2"/>
          <p:cNvGrpSpPr/>
          <p:nvPr/>
        </p:nvGrpSpPr>
        <p:grpSpPr>
          <a:xfrm>
            <a:off x="533400" y="4238625"/>
            <a:ext cx="6059805" cy="2024062"/>
            <a:chOff x="533400" y="4238625"/>
            <a:chExt cx="6059805" cy="2024062"/>
          </a:xfrm>
        </p:grpSpPr>
        <p:sp>
          <p:nvSpPr>
            <p:cNvPr id="29" name="Rectangle 29"/>
            <p:cNvSpPr/>
            <p:nvPr/>
          </p:nvSpPr>
          <p:spPr>
            <a:xfrm>
              <a:off x="533400" y="4238625"/>
              <a:ext cx="6059805" cy="2024062"/>
            </a:xfrm>
            <a:prstGeom prst="roundRect">
              <a:avLst>
                <a:gd name="adj" fmla="val 658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371975"/>
              <a:ext cx="47625" cy="175736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69620" y="443674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1060" y="447103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别用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52931" y="447151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这两种情况用了亏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381" y="4815364"/>
              <a:ext cx="52443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对象里全是基本类型，构造器只有几句赋值。克隆方法反倒多出一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处要维护的代码。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2381" y="5404009"/>
              <a:ext cx="50639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类还在频繁增删字段。克隆方法漏掉新字段，副本和原件就不一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致，这类 bug 很难查。</a:t>
              </a:r>
            </a:p>
          </p:txBody>
        </p:sp>
      </p:grpSp>
      <p:grpSp>
        <p:nvGrpSpPr>
          <p:cNvPr id="39" name="c2-image-1"/>
          <p:cNvGrpSpPr/>
          <p:nvPr/>
        </p:nvGrpSpPr>
        <p:grpSpPr>
          <a:xfrm>
            <a:off x="6898005" y="1524000"/>
            <a:ext cx="4760595" cy="2178939"/>
            <a:chOff x="6898005" y="1524000"/>
            <a:chExt cx="4760595" cy="2178939"/>
          </a:xfrm>
        </p:grpSpPr>
        <p:pic>
          <p:nvPicPr>
            <p:cNvPr id="37" name="Image 37"/>
            <p:cNvPicPr>
              <a:picLocks noChangeAspect="1"/>
            </p:cNvPicPr>
            <p:nvPr/>
          </p:nvPicPr>
          <p:blipFill>
            <a:blip r:embed="rId2"/>
            <a:srcRect l="0" t="23670" r="0" b="23669"/>
            <a:stretch>
              <a:fillRect/>
            </a:stretch>
          </p:blipFill>
          <p:spPr>
            <a:xfrm>
              <a:off x="6898005" y="1524000"/>
              <a:ext cx="4760595" cy="1880235"/>
            </a:xfrm>
            <a:prstGeom prst="roundRect">
              <a:avLst>
                <a:gd name="adj" fmla="val 7092"/>
              </a:avLst>
            </a:prstGeom>
          </p:spPr>
        </p:pic>
        <p:sp>
          <p:nvSpPr>
            <p:cNvPr id="38" name="TextBox 38"/>
            <p:cNvSpPr txBox="1"/>
            <p:nvPr/>
          </p:nvSpPr>
          <p:spPr>
            <a:xfrm>
              <a:off x="7859459" y="3497580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每格放一个样本，要用哪种就取下来复制一份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898005" y="3861435"/>
            <a:ext cx="4760595" cy="2401252"/>
            <a:chOff x="6898005" y="3861435"/>
            <a:chExt cx="4760595" cy="2401252"/>
          </a:xfrm>
        </p:grpSpPr>
        <p:sp>
          <p:nvSpPr>
            <p:cNvPr id="40" name="Rectangle 40"/>
            <p:cNvSpPr/>
            <p:nvPr/>
          </p:nvSpPr>
          <p:spPr>
            <a:xfrm>
              <a:off x="6898005" y="3861435"/>
              <a:ext cx="4760595" cy="2401252"/>
            </a:xfrm>
            <a:prstGeom prst="roundRect">
              <a:avLst>
                <a:gd name="adj" fmla="val 55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907530" y="3994785"/>
              <a:ext cx="47625" cy="21345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134225" y="405955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225665" y="409384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17536" y="409432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课件这一句的说法要改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126986" y="4438174"/>
              <a:ext cx="408114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原课件写“如果对象的状态变化很大，或者对象占用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的内存很大，那么采用 </a:t>
              </a:r>
              <a:r>
                <a:rPr lang="zh-CN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状态模式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会比原型模式更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好”。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26986" y="5298281"/>
              <a:ext cx="416229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状态模式解决的是行为随状态改变的问题，与保存状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态无关。这里应说：改用 </a:t>
              </a: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备忘录模式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只记录必要的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增量，或者干脆不做快照。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原型模式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14 原型 · 效果、适用与辨析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真实系统里的原型模式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3830193" cy="264033"/>
            <a:chOff x="526542" y="1545907"/>
            <a:chExt cx="383019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课件列了三处，再补两处自学时容易对上号的。</a:t>
              </a:r>
            </a:p>
          </p:txBody>
        </p:sp>
      </p:grpSp>
      <p:grpSp>
        <p:nvGrpSpPr>
          <p:cNvPr id="23" name="c1-kv-1"/>
          <p:cNvGrpSpPr/>
          <p:nvPr/>
        </p:nvGrpSpPr>
        <p:grpSpPr>
          <a:xfrm>
            <a:off x="526923" y="1949291"/>
            <a:ext cx="5632895" cy="2944939"/>
            <a:chOff x="526923" y="1949291"/>
            <a:chExt cx="5632895" cy="2944939"/>
          </a:xfrm>
        </p:grpSpPr>
        <p:sp>
          <p:nvSpPr>
            <p:cNvPr id="9" name="TextBox 9"/>
            <p:cNvSpPr txBox="1"/>
            <p:nvPr/>
          </p:nvSpPr>
          <p:spPr>
            <a:xfrm>
              <a:off x="526923" y="194929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复制粘贴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277618" y="1949291"/>
              <a:ext cx="3621786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Ctrl + C 与 Ctrl + V 得到的是类型相同、内存地址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不同的对象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46126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6923" y="2563654"/>
              <a:ext cx="15550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Struts2 的 Action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77618" y="2563654"/>
              <a:ext cx="3694938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访问已有 Action 时克隆出一个新对象，成员变量无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须加锁，避开了 Struts1 用单例带来的并发问题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07467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6923" y="3177064"/>
              <a:ext cx="12494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Spring 的 bean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77618" y="3177064"/>
              <a:ext cx="358927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作用域声明为 prototype 时，每次 getBean 都返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回一个新实例，改它不影响别处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6890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6923" y="379047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图形与游戏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77618" y="3790474"/>
              <a:ext cx="358927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同一种怪物、同一种子弹成百上千个，按样本克隆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再改坐标和朝向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3024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6923" y="440483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配置与模板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77618" y="4404836"/>
              <a:ext cx="358927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读一次配置生成模板对象，之后每个请求克隆一份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自己改，省掉重复解析</a:t>
              </a:r>
            </a:p>
          </p:txBody>
        </p:sp>
      </p:grpSp>
      <p:grpSp>
        <p:nvGrpSpPr>
          <p:cNvPr id="29" name="c1-card-2"/>
          <p:cNvGrpSpPr/>
          <p:nvPr/>
        </p:nvGrpSpPr>
        <p:grpSpPr>
          <a:xfrm>
            <a:off x="533400" y="5008245"/>
            <a:ext cx="5626418" cy="1202055"/>
            <a:chOff x="533400" y="5008245"/>
            <a:chExt cx="5626418" cy="1202055"/>
          </a:xfrm>
        </p:grpSpPr>
        <p:sp>
          <p:nvSpPr>
            <p:cNvPr id="24" name="Rectangle 24"/>
            <p:cNvSpPr/>
            <p:nvPr/>
          </p:nvSpPr>
          <p:spPr>
            <a:xfrm>
              <a:off x="533400" y="5008245"/>
              <a:ext cx="5626418" cy="1202055"/>
            </a:xfrm>
            <a:prstGeom prst="roundRect">
              <a:avLst>
                <a:gd name="adj" fmla="val 11094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14375" y="5189220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2996" y="522208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05128" y="522874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语言本身就提供了原型支持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7898" y="5544979"/>
              <a:ext cx="49791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Cloneable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加 </a:t>
              </a:r>
              <a:r>
                <a:rPr lang="en-US" sz="128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Object.clone()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就是原型模式在 Java 里的内置实现，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所以讲义里的抽象原型类常常被省掉。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464618" y="1928812"/>
            <a:ext cx="5193982" cy="1406842"/>
            <a:chOff x="6464618" y="1928812"/>
            <a:chExt cx="5193982" cy="1406842"/>
          </a:xfrm>
        </p:grpSpPr>
        <p:sp>
          <p:nvSpPr>
            <p:cNvPr id="30" name="Rectangle 30"/>
            <p:cNvSpPr/>
            <p:nvPr/>
          </p:nvSpPr>
          <p:spPr>
            <a:xfrm>
              <a:off x="6464618" y="1928812"/>
              <a:ext cx="5193982" cy="1406842"/>
            </a:xfrm>
            <a:prstGeom prst="roundRect">
              <a:avLst>
                <a:gd name="adj" fmla="val 9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74142" y="2062162"/>
              <a:ext cx="47625" cy="11401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683692" y="210978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72313" y="21426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标准库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74446" y="2149316"/>
              <a:ext cx="15055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里现成的克隆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77216" y="2465546"/>
              <a:ext cx="44670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ArrayList.clone()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HashMap.clone()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Date.clone()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组的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clone()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78359" y="2989898"/>
              <a:ext cx="38695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它们 </a:t>
              </a:r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全是浅克隆</a:t>
              </a: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：复制出来的容器里装的还是同一批元素对象</a:t>
              </a:r>
            </a:p>
          </p:txBody>
        </p:sp>
      </p:grpSp>
      <p:grpSp>
        <p:nvGrpSpPr>
          <p:cNvPr id="42" name="c2-code-2"/>
          <p:cNvGrpSpPr/>
          <p:nvPr/>
        </p:nvGrpSpPr>
        <p:grpSpPr>
          <a:xfrm>
            <a:off x="6464618" y="3499485"/>
            <a:ext cx="5193982" cy="1384935"/>
            <a:chOff x="6464618" y="3499485"/>
            <a:chExt cx="5193982" cy="1384935"/>
          </a:xfrm>
        </p:grpSpPr>
        <p:sp>
          <p:nvSpPr>
            <p:cNvPr id="38" name="Rectangle 38"/>
            <p:cNvSpPr/>
            <p:nvPr/>
          </p:nvSpPr>
          <p:spPr>
            <a:xfrm>
              <a:off x="6464618" y="3499485"/>
              <a:ext cx="5193982" cy="1384935"/>
            </a:xfrm>
            <a:prstGeom prst="roundRect">
              <a:avLst>
                <a:gd name="adj" fmla="val 68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93015" y="365140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浅克隆容器的典型事故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83668" y="4227195"/>
              <a:ext cx="515588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93015" y="3912394"/>
              <a:ext cx="3332988" cy="895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ArrayList&lt;StringBuilder&gt; a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ArrayList&lt;&gt;();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a.add(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StringBuilder(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"x"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Object b = a.clone();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只复制了容器本身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a.get(0).append(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"y"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b 里第 0 个元素也成了 xy，两个表装着同一个对象 */</a:t>
              </a:r>
            </a:p>
          </p:txBody>
        </p:sp>
      </p:grpSp>
      <p:grpSp>
        <p:nvGrpSpPr>
          <p:cNvPr id="49" name="c2-card-3"/>
          <p:cNvGrpSpPr/>
          <p:nvPr/>
        </p:nvGrpSpPr>
        <p:grpSpPr>
          <a:xfrm>
            <a:off x="6464618" y="5050155"/>
            <a:ext cx="5193982" cy="1160145"/>
            <a:chOff x="6464618" y="5050155"/>
            <a:chExt cx="5193982" cy="1160145"/>
          </a:xfrm>
        </p:grpSpPr>
        <p:sp>
          <p:nvSpPr>
            <p:cNvPr id="43" name="Rectangle 43"/>
            <p:cNvSpPr/>
            <p:nvPr/>
          </p:nvSpPr>
          <p:spPr>
            <a:xfrm>
              <a:off x="6464618" y="5050155"/>
              <a:ext cx="5193982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74142" y="5183505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83692" y="523113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76364" y="526399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250620" y="527065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想要各改各的，就得自己复制元素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77216" y="5586889"/>
              <a:ext cx="45971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容器的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clone()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只管容器。元素要独立，得遍历一遍逐个克隆，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或者整体走序列化。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原型模式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14 原型 · 效果、适用与辨析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和相关模式的分工，放在一起对照着记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kv-1"/>
          <p:cNvGrpSpPr/>
          <p:nvPr/>
        </p:nvGrpSpPr>
        <p:grpSpPr>
          <a:xfrm>
            <a:off x="526923" y="1545431"/>
            <a:ext cx="5849112" cy="3557397"/>
            <a:chOff x="526923" y="1545431"/>
            <a:chExt cx="5849112" cy="3557397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16990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工厂方法（第 11 讲）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31923" y="1545431"/>
              <a:ext cx="358927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靠工厂子类决定造哪一个；原型靠样本对象自己克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隆，省掉与产品平行的工厂层次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05644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923" y="2158841"/>
              <a:ext cx="16990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抽象工厂（第 12 讲）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31923" y="2158841"/>
              <a:ext cx="3597402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两者常配合：工厂内部存一族样本，createXxx()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时取出来克隆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67081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923" y="2772251"/>
              <a:ext cx="15267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建造者（第 13 讲）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31923" y="2772251"/>
              <a:ext cx="375183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管的是分步骤装配一个复杂对象；原型管的是把装好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的对象整体复制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28422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923" y="3386614"/>
              <a:ext cx="13544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单例（第 15 讲）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31923" y="3386614"/>
              <a:ext cx="375183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单例保证全局只有一个实例，原型鼓励多份副本；原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型管理器本身常做成单例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89763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6923" y="4000024"/>
              <a:ext cx="15267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备忘录（第 35 讲）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31923" y="4000024"/>
              <a:ext cx="375183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备忘录负责保存与恢复状态，深克隆是实现它的常用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手段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5119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6923" y="4613434"/>
              <a:ext cx="13544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享元（第 25 讲）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431923" y="4613434"/>
              <a:ext cx="375183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享元让多个使用者共享同一个对象，方向与原型正好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相反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5216842"/>
            <a:ext cx="5842635" cy="945832"/>
            <a:chOff x="533400" y="5216842"/>
            <a:chExt cx="5842635" cy="945832"/>
          </a:xfrm>
        </p:grpSpPr>
        <p:sp>
          <p:nvSpPr>
            <p:cNvPr id="25" name="Rectangle 25"/>
            <p:cNvSpPr/>
            <p:nvPr/>
          </p:nvSpPr>
          <p:spPr>
            <a:xfrm>
              <a:off x="533400" y="5216842"/>
              <a:ext cx="5842635" cy="945832"/>
            </a:xfrm>
            <a:prstGeom prst="roundRect">
              <a:avLst>
                <a:gd name="adj" fmla="val 120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5590223"/>
              <a:ext cx="200026" cy="200025"/>
              <a:chOff x="738188" y="5590223"/>
              <a:chExt cx="200026" cy="20002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59022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77926" y="563467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12642" y="574579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1273" y="5484019"/>
              <a:ext cx="48897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口诀：工厂方法问造哪一个，建造者问怎么一步步装，原型问照着谁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复制。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6680835" y="1524000"/>
            <a:ext cx="4977765" cy="2258378"/>
            <a:chOff x="6680835" y="1524000"/>
            <a:chExt cx="4977765" cy="2258378"/>
          </a:xfrm>
        </p:grpSpPr>
        <p:sp>
          <p:nvSpPr>
            <p:cNvPr id="32" name="Rectangle 32"/>
            <p:cNvSpPr/>
            <p:nvPr/>
          </p:nvSpPr>
          <p:spPr>
            <a:xfrm>
              <a:off x="6680835" y="1524000"/>
              <a:ext cx="4977765" cy="2258378"/>
            </a:xfrm>
            <a:prstGeom prst="roundRect">
              <a:avLst>
                <a:gd name="adj" fmla="val 59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690360" y="1657350"/>
              <a:ext cx="47625" cy="199167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899910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992582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66838" y="174450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四个常考的判断点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900862" y="204978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952769" y="208540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70611" y="2061686"/>
              <a:ext cx="29939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原型是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对象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创建型模式，不是类模式。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900862" y="233553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52769" y="237020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70611" y="2346484"/>
              <a:ext cx="35195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克隆方法不能声明成 static，否则多态没了。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900862" y="262032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52769" y="265595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170611" y="2631281"/>
              <a:ext cx="40769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浅克隆由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Object.clone()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提供，深克隆要自己写或走序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列化。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900862" y="3148012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952769" y="318363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70611" y="3158966"/>
              <a:ext cx="40769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原型不在乎对象怎么造出来，只在乎已经有一个可复制的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样本。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6680835" y="3947160"/>
            <a:ext cx="4977765" cy="2216468"/>
            <a:chOff x="6680835" y="3947160"/>
            <a:chExt cx="4977765" cy="2216468"/>
          </a:xfrm>
        </p:grpSpPr>
        <p:sp>
          <p:nvSpPr>
            <p:cNvPr id="50" name="Rectangle 50"/>
            <p:cNvSpPr/>
            <p:nvPr/>
          </p:nvSpPr>
          <p:spPr>
            <a:xfrm>
              <a:off x="6680835" y="3947160"/>
              <a:ext cx="4977765" cy="2216468"/>
            </a:xfrm>
            <a:prstGeom prst="roundRect">
              <a:avLst>
                <a:gd name="adj" fmla="val 60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690360" y="4080510"/>
              <a:ext cx="47625" cy="194976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899910" y="412813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992582" y="41609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边界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466838" y="416766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这三种写法都不算原型模式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93433" y="4483894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逐字段抄一遍的拷贝构造器：它是构造器，不参与多态，调用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处仍要写出确切类型。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93433" y="5012531"/>
              <a:ext cx="43451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把克隆写成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static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工具方法：不能被覆盖，样本决定不了造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93433" y="5540216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只有一个具体原型类还要抽出抽象原型：抽象层没有第二个实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现，属于过度设计。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原型模式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原型模式按目的和范围各属哪类？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创建型 + 对象模式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模式的本质是什么？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克隆生成对象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没实现它就克隆会怎样？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36889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运行时抛 CloneNotSupportedException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原型模式的三个角色是什么？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抽象原型、具体原型、客户类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4966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里克隆要实现哪个接口？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26449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Cloneable，它没有任何方法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9445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Object.clone() 会调用构造器吗？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不会，它按字段逐个复制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6023610"/>
              <a:ext cx="44208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5 题常被写成“编译器报错”，注意它是运行期异常。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原型模式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浅克隆与深克隆的分界在哪？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引用类型字段是否也复制一份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深克隆常用哪两种写法？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逐层递归克隆，或序列化再读回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6034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transient 字段克隆后是什么？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27670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默认值，引用为 null 数值为 0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5439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``x.clone() == x`` 成立吗？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不成立，克隆出的是新对象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序列化深克隆有什么前提？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30901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对象图上每个类都要 Serializable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原型管理器解决什么问题？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2966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key 存样本，运行时增减产品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6023610"/>
              <a:ext cx="54022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把 </a:t>
              </a:r>
              <a:r>
                <a:rPr lang="en-US" sz="135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super.clone()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换成 </a:t>
              </a:r>
              <a:r>
                <a:rPr lang="en-US" sz="135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new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，是自己写克隆方法时最容易犯的错。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原型模式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760095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6139" y="407194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14 原型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5430"/>
            <a:ext cx="8624125" cy="1607916"/>
            <a:chOff x="533400" y="1535430"/>
            <a:chExt cx="8624125" cy="1607916"/>
          </a:xfrm>
        </p:grpSpPr>
        <p:sp>
          <p:nvSpPr>
            <p:cNvPr id="7" name="Ellipse 7"/>
            <p:cNvSpPr/>
            <p:nvPr/>
          </p:nvSpPr>
          <p:spPr>
            <a:xfrm>
              <a:off x="533400" y="1535430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1745" y="157481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4293" y="1547336"/>
              <a:ext cx="76608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原型模式用原型实例指定创建对象的种类，通过复制原型创建新对象，本质是克隆生成对象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64043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1745" y="190438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4293" y="1876901"/>
              <a:ext cx="82343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三个角色：抽象原型声明克隆接口，具体原型实现克隆并返回自己的副本，客户类只持有抽象原型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193608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1745" y="223394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4293" y="2206466"/>
              <a:ext cx="83332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里实现 Cloneable 并覆盖 clone()，得到的是浅克隆；深克隆要逐层补复制，或者借助序列化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523172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1745" y="256351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4293" y="2535079"/>
              <a:ext cx="67780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浅深之分只发生在可变的引用类型字段上，String 这类不可变对象共享没有风险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852738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1745" y="289212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4293" y="2864644"/>
              <a:ext cx="70874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收益是省掉复杂的构造过程和平行的工厂层次，代价是每个类都要维护一个克隆方法</a:t>
              </a:r>
            </a:p>
          </p:txBody>
        </p:sp>
      </p:grpSp>
      <p:grpSp>
        <p:nvGrpSpPr>
          <p:cNvPr id="43" name="c1-card-2"/>
          <p:cNvGrpSpPr/>
          <p:nvPr/>
        </p:nvGrpSpPr>
        <p:grpSpPr>
          <a:xfrm>
            <a:off x="533400" y="3272790"/>
            <a:ext cx="11125200" cy="2400300"/>
            <a:chOff x="533400" y="3272790"/>
            <a:chExt cx="11125200" cy="2400300"/>
          </a:xfrm>
        </p:grpSpPr>
        <p:sp>
          <p:nvSpPr>
            <p:cNvPr id="23" name="Rectangle 23"/>
            <p:cNvSpPr/>
            <p:nvPr/>
          </p:nvSpPr>
          <p:spPr>
            <a:xfrm>
              <a:off x="533400" y="3272790"/>
              <a:ext cx="11125200" cy="24003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3406140"/>
              <a:ext cx="47625" cy="21336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75335" y="347662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7644" y="35123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更正汇总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60588" y="3516154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本讲订正的源课件问题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75335" y="3855720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3680" y="389605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66228" y="3867626"/>
              <a:ext cx="7710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CloneNotSupportedException 由运行时的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Object.clone()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抛出，课件写成编译器抛出。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75335" y="4175760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3680" y="421609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66228" y="4187666"/>
              <a:ext cx="57492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邮件例的两张类图都用实心菱形，浅克隆版共用附件，应画成聚合。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75335" y="4495800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3680" y="453613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66228" y="4507706"/>
              <a:ext cx="74307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图块例头文件里 MoneyBlock、TripBlock 的 clone() 返回类型误写为 NormalBlock *。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75335" y="4815840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33680" y="485617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66228" y="4827746"/>
              <a:ext cx="55537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登记式代码里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aCricle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拼错；单例基类的模板参数应为自身类型。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75335" y="5135880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3680" y="51762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66228" y="5147786"/>
              <a:ext cx="67242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“状态变化很大时用状态模式更好”的说法不成立，该场景对应的是备忘录模式。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4" name="Rectangle 44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511" y="6004084"/>
              <a:ext cx="65330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遇到“同一种对象要造很多个、构造过程又贵又重复”的场景，先想原型模式。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原型模式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dp_14">
  <a:themeElements>
    <a:clrScheme name="sdp_1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dp_14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dp_1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2026-09-19T08:16:25Z</dcterms:created>
  <dcterms:modified xsi:type="dcterms:W3CDTF">2026-09-19T08:16:25Z</dcterms:modified>
  <cp:category/>
  <cp:contentStatus/>
</cp:coreProperties>
</file>