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1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1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0b053764a91d76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a0d10611a18b0e5.png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74de25fac10b61c.png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87166" cy="3437763"/>
            <a:chOff x="666750" y="1619250"/>
            <a:chExt cx="368716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第六讲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772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把“造哪一个”交给工厂子类去决定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简单工厂改不掉的那处分支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四个角色与标准类图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64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实现与配置化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优缺点与模式辨析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客户端直接 new，就被钉死在具体产品类上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四个角色、标准类图、模式的本质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0523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4850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支付方式从头写到配置化，去掉最后一处 new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电视机工厂、日志记录器、大富翁菜单、迷宫游戏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效果与扩展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优缺点、适用场景、框架里的真实用法、退化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辨析与自测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三种工厂的界线，12 道自测题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画出工厂方法的标准类图，四个角色齐全且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继承与依赖的箭头方向正确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写出抽象产品、具体产品、抽象工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厂、具体工厂，并让客户端只依赖抽象层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说清工厂方法相对简单工厂改进在哪一处：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选择分支从工厂类搬到了工厂子类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拿到一段代码，判断它属于简单工厂、工厂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方法还是已经退化，并给出判断依据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列出新增一种产品时各方案要改动的文件，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解释工厂方法为什么满足开闭原则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从简单工厂到工厂方法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4485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先看清客户端直接 new 到底痛在哪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使用者与具体产品硬编码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把实例化单独抽成一个方法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简单工厂改不掉的那处分支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66485" cy="909257"/>
            <a:chOff x="520446" y="342900"/>
            <a:chExt cx="76664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从简单工厂到工厂方法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664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动机：客户端里写一个 new，就认死了一个具体类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33943" cy="264033"/>
            <a:chOff x="526542" y="1545907"/>
            <a:chExt cx="743394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33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陈伟老师课件用一个卖宠物的 Client 开场。它只做两件事：造出动物，再调用它的 Sale()。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28812"/>
            <a:ext cx="6167438" cy="3670935"/>
            <a:chOff x="533400" y="1928812"/>
            <a:chExt cx="6167438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167438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最初的写法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183255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590098"/>
              <a:ext cx="612933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2340769"/>
              <a:ext cx="3893058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otherFuncs() {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其他业务 */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createAndUse()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Dog dog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写死了具体类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+= dog.sale();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System.out.println(sum);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把声明换成接口，也只改掉了一半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createAndUse2()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IAnimal ani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new 后面仍是具体类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+= ani.sale();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System.out.println(sum);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rd-1"/>
          <p:cNvGrpSpPr/>
          <p:nvPr/>
        </p:nvGrpSpPr>
        <p:grpSpPr>
          <a:xfrm>
            <a:off x="7005638" y="1928812"/>
            <a:ext cx="4652962" cy="1463992"/>
            <a:chOff x="7005638" y="1928812"/>
            <a:chExt cx="4652962" cy="1463992"/>
          </a:xfrm>
        </p:grpSpPr>
        <p:sp>
          <p:nvSpPr>
            <p:cNvPr id="15" name="Rectangle 15"/>
            <p:cNvSpPr/>
            <p:nvPr/>
          </p:nvSpPr>
          <p:spPr>
            <a:xfrm>
              <a:off x="7005638" y="1928812"/>
              <a:ext cx="4652962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015162" y="2062162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230428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23099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96974" y="2150745"/>
              <a:ext cx="1935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耦合发生在 new 的右边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23570" y="2476500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Dog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换成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IAnimal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只改善了调用侧：变量类型是抽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象的，但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Dog()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仍然让 Client 依赖具体类。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224712" y="3030379"/>
              <a:ext cx="26838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编译期 Client 就必须能看见 Dog 这个类</a:t>
              </a:r>
            </a:p>
          </p:txBody>
        </p:sp>
      </p:grpSp>
      <p:grpSp>
        <p:nvGrpSpPr>
          <p:cNvPr id="28" name="c2-bullets-2"/>
          <p:cNvGrpSpPr/>
          <p:nvPr/>
        </p:nvGrpSpPr>
        <p:grpSpPr>
          <a:xfrm>
            <a:off x="6998780" y="3584258"/>
            <a:ext cx="4149480" cy="889825"/>
            <a:chOff x="6998780" y="3584258"/>
            <a:chExt cx="4149480" cy="889825"/>
          </a:xfrm>
        </p:grpSpPr>
        <p:sp>
          <p:nvSpPr>
            <p:cNvPr id="23" name="TextBox 23"/>
            <p:cNvSpPr txBox="1"/>
            <p:nvPr/>
          </p:nvSpPr>
          <p:spPr>
            <a:xfrm>
              <a:off x="6998780" y="358425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两个方向的变化都扛不住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005638" y="393382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4999" y="3901440"/>
              <a:ext cx="3913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增加新产品 Rabbit：要回来改 createAndUse()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005638" y="424243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34999" y="4210050"/>
              <a:ext cx="3378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增加子类 BlackDog：同样要回来改这一行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29" name="Rectangle 2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6028373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判断标准：一个类里只要出现具体产品的类名，它就跟着那个产品一起变。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从简单工厂到工厂方法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分清稳定和变化，才知道该把哪一段抽出去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556248" cy="264033"/>
            <a:chOff x="526542" y="1545907"/>
            <a:chExt cx="655624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重构之前先做一次划分：哪些代码以后基本不动，哪些一定会随需求长出新分支。</a:t>
              </a:r>
            </a:p>
          </p:txBody>
        </p:sp>
      </p:grpSp>
      <p:grpSp>
        <p:nvGrpSpPr>
          <p:cNvPr id="29" name="c1-compare-1"/>
          <p:cNvGrpSpPr/>
          <p:nvPr/>
        </p:nvGrpSpPr>
        <p:grpSpPr>
          <a:xfrm>
            <a:off x="533400" y="1928812"/>
            <a:ext cx="5193030" cy="1696402"/>
            <a:chOff x="533400" y="1928812"/>
            <a:chExt cx="5193030" cy="169640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367915" cy="1696402"/>
            </a:xfrm>
            <a:prstGeom prst="roundRect">
              <a:avLst>
                <a:gd name="adj" fmla="val 7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4297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5998" y="21302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稳定的部分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432209"/>
              <a:ext cx="1413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 的其他功能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71700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总要实例化出若干产品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001804"/>
              <a:ext cx="16304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产品的访问接口（Sale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功能）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58515" y="1928812"/>
              <a:ext cx="2367915" cy="1696402"/>
            </a:xfrm>
            <a:prstGeom prst="roundRect">
              <a:avLst>
                <a:gd name="adj" fmla="val 7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368040" y="2062162"/>
              <a:ext cx="47625" cy="14297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71113" y="213026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变化的部分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587115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742563" y="24322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产品子类的种类会增加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587115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2563" y="2717006"/>
              <a:ext cx="1638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创建方式不同（参数、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过程）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587115" y="32975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42563" y="324469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一次用几种产品也会变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2948940" y="2595562"/>
              <a:ext cx="361950" cy="3619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03994" y="272034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3789998"/>
            <a:ext cx="5193982" cy="467678"/>
            <a:chOff x="533400" y="3789998"/>
            <a:chExt cx="5193982" cy="467678"/>
          </a:xfrm>
        </p:grpSpPr>
        <p:sp>
          <p:nvSpPr>
            <p:cNvPr id="30" name="Rectangle 30"/>
            <p:cNvSpPr/>
            <p:nvPr/>
          </p:nvSpPr>
          <p:spPr>
            <a:xfrm>
              <a:off x="533400" y="3789998"/>
              <a:ext cx="5193982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3923348"/>
              <a:ext cx="200026" cy="200025"/>
              <a:chOff x="738188" y="3923348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39233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39677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40789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1273" y="393430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稳定的留在原地，变化的抽成一个可以被覆盖的方法。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6032182" y="1928812"/>
            <a:ext cx="5626418" cy="1160145"/>
            <a:chOff x="6032182" y="1928812"/>
            <a:chExt cx="5626418" cy="1160145"/>
          </a:xfrm>
        </p:grpSpPr>
        <p:sp>
          <p:nvSpPr>
            <p:cNvPr id="37" name="Rectangle 37"/>
            <p:cNvSpPr/>
            <p:nvPr/>
          </p:nvSpPr>
          <p:spPr>
            <a:xfrm>
              <a:off x="6032182" y="1928812"/>
              <a:ext cx="5626418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1708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1258" y="2109788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9878" y="2142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42011" y="214931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把实例化抽成一个抽象方法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44780" y="2465546"/>
              <a:ext cx="5036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Dog()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换成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createAnimal()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，方法声明为抽象，留给子类实现。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它就叫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工厂方法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7" name="c2-code-2"/>
          <p:cNvGrpSpPr/>
          <p:nvPr/>
        </p:nvGrpSpPr>
        <p:grpSpPr>
          <a:xfrm>
            <a:off x="6032182" y="3253740"/>
            <a:ext cx="5626418" cy="2440305"/>
            <a:chOff x="6032182" y="3253740"/>
            <a:chExt cx="5626418" cy="2440305"/>
          </a:xfrm>
        </p:grpSpPr>
        <p:sp>
          <p:nvSpPr>
            <p:cNvPr id="44" name="Rectangle 44"/>
            <p:cNvSpPr/>
            <p:nvPr/>
          </p:nvSpPr>
          <p:spPr>
            <a:xfrm>
              <a:off x="6032182" y="3253740"/>
              <a:ext cx="5626418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60580" y="340566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60580" y="3666649"/>
              <a:ext cx="3980180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GoF 称 Creator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createAndUse()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IAnimal ani = createAnimal();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不再 new Dog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System.out.println(ani.sale());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工厂方法：自己不实现，留给子类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createAnimal();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DogClient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protected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createAnimal() {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79640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更正：陈伟课件第 6 页的 createAnimal 是普通虚函数且无函数体，C++ 链接会报错，应写成纯虚函数。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从简单工厂到工厂方法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第二步：把工厂方法从使用者身上搬到独立的工厂类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49577" cy="308039"/>
            <a:chOff x="525399" y="1550194"/>
            <a:chExt cx="1064957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4957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工厂方法留在 Client 里，意味着每换一种产品就要派生一个 Client 子类。把它搬出去，Client 就不用再派生了。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67865"/>
            <a:ext cx="5951220" cy="4153852"/>
            <a:chOff x="533400" y="1967865"/>
            <a:chExt cx="5951220" cy="41538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4153852"/>
            </a:xfrm>
            <a:prstGeom prst="roundRect">
              <a:avLst>
                <a:gd name="adj" fmla="val 229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773930"/>
              <a:ext cx="591312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035" y="2381726"/>
              <a:ext cx="4292854" cy="3669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抽象工厂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IAnimal createAnimal();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DogFactory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createAnimal()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只认识一种产品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不必再是抽象类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createAndUse(Factory fac)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sum = 0;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IAnimal ani = fac.createAnimal();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sum += ani.sale();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"Total Sale:"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sum);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table-1"/>
          <p:cNvGrpSpPr/>
          <p:nvPr/>
        </p:nvGrpSpPr>
        <p:grpSpPr>
          <a:xfrm>
            <a:off x="6783705" y="1967865"/>
            <a:ext cx="4874895" cy="2295048"/>
            <a:chOff x="6783705" y="1967865"/>
            <a:chExt cx="4874895" cy="2295048"/>
          </a:xfrm>
        </p:grpSpPr>
        <p:sp>
          <p:nvSpPr>
            <p:cNvPr id="14" name="Rectangle 14"/>
            <p:cNvSpPr/>
            <p:nvPr/>
          </p:nvSpPr>
          <p:spPr>
            <a:xfrm>
              <a:off x="6789420" y="1967865"/>
              <a:ext cx="486918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1356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3915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工厂方法放在哪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5404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换产品时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97243" y="2551271"/>
              <a:ext cx="67010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04061" y="2551271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使用者自己的抽象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59518" y="2551271"/>
              <a:ext cx="14759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派生一个新的使用者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子类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89420" y="308705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789420" y="3091815"/>
              <a:ext cx="486918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798945" y="3101340"/>
              <a:ext cx="1187768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97243" y="334089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独立工厂类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04061" y="3227546"/>
              <a:ext cx="13865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单独的 Factory 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59518" y="334089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传入另一个工厂对象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789420" y="1967865"/>
              <a:ext cx="486918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91475" y="196786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746932" y="196786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83705" y="3842861"/>
              <a:ext cx="45559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两种写法都算工厂方法模式，GoF 原书讲的是前者，课程和工程里多用后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</p:grpSp>
      <p:grpSp>
        <p:nvGrpSpPr>
          <p:cNvPr id="38" name="c2-bullets-2"/>
          <p:cNvGrpSpPr/>
          <p:nvPr/>
        </p:nvGrpSpPr>
        <p:grpSpPr>
          <a:xfrm>
            <a:off x="6789420" y="4433888"/>
            <a:ext cx="4219195" cy="982980"/>
            <a:chOff x="6789420" y="4433888"/>
            <a:chExt cx="4219195" cy="982980"/>
          </a:xfrm>
        </p:grpSpPr>
        <p:sp>
          <p:nvSpPr>
            <p:cNvPr id="32" name="Freeform 32"/>
            <p:cNvSpPr/>
            <p:nvPr/>
          </p:nvSpPr>
          <p:spPr>
            <a:xfrm>
              <a:off x="6789420" y="4465320"/>
              <a:ext cx="143828" cy="117158"/>
            </a:xfrm>
            <a:custGeom>
              <a:avLst/>
              <a:gdLst/>
              <a:ahLst/>
              <a:cxnLst/>
              <a:rect l="l" t="t" r="r" b="b"/>
              <a:pathLst>
                <a:path w="143828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39928" y="4433888"/>
              <a:ext cx="39686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 只认识 Factory 和 IAnimal 两个抽象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789420" y="4810125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39928" y="477869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工厂对象由调用方传进来，运行时才定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789420" y="5154930"/>
              <a:ext cx="143828" cy="117157"/>
            </a:xfrm>
            <a:custGeom>
              <a:avLst/>
              <a:gdLst/>
              <a:ahLst/>
              <a:cxnLst/>
              <a:rect l="l" t="t" r="r" b="b"/>
              <a:pathLst>
                <a:path w="143828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39928" y="5123498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本讲后面的类图与代码都按独立工厂类写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从简单工厂到工厂方法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简单工厂的天花板：新增一种按钮，还得回去改工厂类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192959" cy="293370"/>
            <a:chOff x="525780" y="1548765"/>
            <a:chExt cx="9192959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192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张欣佳老师课件用按钮工厂开场。简单工厂把散落的 new 收进了一个类，但那个类里的分支仍然要改。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4977765" cy="1574482"/>
            <a:chOff x="533400" y="1954530"/>
            <a:chExt cx="4977765" cy="157448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4977765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75335" y="21583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5543" y="21940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76744" y="219789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简单工厂做了什么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096" y="2550319"/>
              <a:ext cx="43426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一个工厂类处在实例化的中心位置，它知道每一个产品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的创建细节，按参数决定造哪一个。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239" y="3137535"/>
              <a:ext cx="3517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简单工厂本身在第 10 讲细讲，这里只取它的短板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714750"/>
            <a:ext cx="4977765" cy="1719262"/>
            <a:chOff x="533400" y="3714750"/>
            <a:chExt cx="4977765" cy="1719262"/>
          </a:xfrm>
        </p:grpSpPr>
        <p:sp>
          <p:nvSpPr>
            <p:cNvPr id="17" name="Rectangle 17"/>
            <p:cNvSpPr/>
            <p:nvPr/>
          </p:nvSpPr>
          <p:spPr>
            <a:xfrm>
              <a:off x="533400" y="3714750"/>
              <a:ext cx="497776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3866674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简单工厂里必须修改的那处分支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2450" y="4694872"/>
              <a:ext cx="493966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035" y="4128611"/>
              <a:ext cx="447065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Button create(String type)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"rect"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.equals(type))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RectButton();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"circle"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.equals(type))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CircleButton();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新增椭圆按钮，只能回来加一行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815965" y="1954530"/>
            <a:ext cx="5842635" cy="2581275"/>
            <a:chOff x="5815965" y="1954530"/>
            <a:chExt cx="5842635" cy="2581275"/>
          </a:xfrm>
        </p:grpSpPr>
        <p:sp>
          <p:nvSpPr>
            <p:cNvPr id="22" name="Rectangle 22"/>
            <p:cNvSpPr/>
            <p:nvPr/>
          </p:nvSpPr>
          <p:spPr>
            <a:xfrm>
              <a:off x="5815965" y="1954530"/>
              <a:ext cx="584263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6308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需求变化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61414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06431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21312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新增椭圆形按钮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73912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改工厂类的分支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18929" y="251555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新增一对产品类与工厂类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15965" y="281463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21312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工厂类职责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73912" y="294608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一个类知道全部产品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718929" y="294608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每个子类只知道一种产品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32404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1312" y="337661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是否违反开闭原则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578090" y="3254692"/>
              <a:ext cx="2025968" cy="41148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73912" y="33766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违反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623108" y="3254692"/>
              <a:ext cx="202596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718929" y="33766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6699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67474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21312" y="38061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客户端怎么选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73912" y="380619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传一个字符串参数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18929" y="380619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选一个具体工厂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41005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21312" y="423672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类的数量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73912" y="423672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18929" y="423672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每种产品多一个工厂类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1954530"/>
              <a:ext cx="5842635" cy="25812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63802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608820" y="1954530"/>
              <a:ext cx="9525" cy="25812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llout-2"/>
          <p:cNvGrpSpPr/>
          <p:nvPr/>
        </p:nvGrpSpPr>
        <p:grpSpPr>
          <a:xfrm>
            <a:off x="5815965" y="4720590"/>
            <a:ext cx="5842635" cy="756285"/>
            <a:chOff x="5815965" y="4720590"/>
            <a:chExt cx="5842635" cy="756285"/>
          </a:xfrm>
        </p:grpSpPr>
        <p:sp>
          <p:nvSpPr>
            <p:cNvPr id="53" name="Rectangle 53"/>
            <p:cNvSpPr/>
            <p:nvPr/>
          </p:nvSpPr>
          <p:spPr>
            <a:xfrm>
              <a:off x="5815965" y="4720590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020753" y="4998722"/>
              <a:ext cx="200023" cy="200023"/>
              <a:chOff x="6020753" y="4998722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020753" y="49987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154103" y="50653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323076" y="4867751"/>
              <a:ext cx="490169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改进只有一处：把“选哪个”的分支从工厂类里删掉，交给一个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个工厂子类去承担。</a:t>
              </a:r>
            </a:p>
          </p:txBody>
        </p:sp>
      </p:grpSp>
      <p:grpSp>
        <p:nvGrpSpPr>
          <p:cNvPr id="6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9" name="Rectangle 5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511" y="6004084"/>
              <a:ext cx="61382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简单工厂不在 GoF 的 23 个模式里，工厂方法是它的进一步抽象和推广。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定义、结构与四个角色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记住类图和箭头方向，写代码时就不会接错线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模式定义与三个别名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标准类图与四个角色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本质是延迟到子类选择实现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定义：工厂父类定接口，工厂子类定实例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6059805" cy="2252662"/>
            <a:chOff x="533400" y="1524000"/>
            <a:chExt cx="6059805" cy="22526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252662"/>
            </a:xfrm>
            <a:prstGeom prst="roundRect">
              <a:avLst>
                <a:gd name="adj" fmla="val 5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85962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41538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工厂方法模式（Factory Method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定义一个用于创建对象的接口，让子类决定将哪一个类实例化。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工厂方法使一个类的实例化延迟到其子类。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5215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工厂父类负责定义创建产品对象的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公共接口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，工厂子类负责生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具体的产品对象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36851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目的：把产品类的实例化操作推迟到工厂子类里完成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5780" y="3991928"/>
            <a:ext cx="6067425" cy="1455420"/>
            <a:chOff x="525780" y="3991928"/>
            <a:chExt cx="6067425" cy="1455420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9919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工厂模式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5935" y="3991928"/>
              <a:ext cx="30572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Factory Pattern，最常用的简称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3119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43198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虚拟构造器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765935" y="4431982"/>
              <a:ext cx="45300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Virtual Constructor，调用它像调构造器，真正造哪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个却不定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0339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515397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多态工厂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65935" y="5153978"/>
              <a:ext cx="4450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Polymorphic Factory，具体工厂共一个抽象父类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898005" y="1524000"/>
            <a:ext cx="4760595" cy="2252662"/>
            <a:chOff x="6898005" y="1524000"/>
            <a:chExt cx="4760595" cy="2252662"/>
          </a:xfrm>
        </p:grpSpPr>
        <p:sp>
          <p:nvSpPr>
            <p:cNvPr id="25" name="Rectangle 25"/>
            <p:cNvSpPr/>
            <p:nvPr/>
          </p:nvSpPr>
          <p:spPr>
            <a:xfrm>
              <a:off x="6898005" y="1524000"/>
              <a:ext cx="4760595" cy="2252662"/>
            </a:xfrm>
            <a:prstGeom prst="roundRect">
              <a:avLst>
                <a:gd name="adj" fmla="val 592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075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977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07630" y="1768792"/>
              <a:ext cx="2463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GoF 里唯一的类创建型模式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9935" y="2129790"/>
              <a:ext cx="4130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按目的属于 </a:t>
              </a:r>
              <a:r>
                <a:rPr lang="zh-CN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创建型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，按范围属于 </a:t>
              </a:r>
              <a:r>
                <a:rPr lang="zh-CN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类模式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：模式靠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继承在编译期确定关系。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9935" y="275082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其余四个创建型模式（抽象工厂、建造者、原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型、单例）都是对象模式。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01078" y="3368516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分类表见第 03 讲</a:t>
              </a:r>
            </a:p>
          </p:txBody>
        </p:sp>
      </p:grpSp>
      <p:grpSp>
        <p:nvGrpSpPr>
          <p:cNvPr id="40" name="c2-bullets-2"/>
          <p:cNvGrpSpPr/>
          <p:nvPr/>
        </p:nvGrpSpPr>
        <p:grpSpPr>
          <a:xfrm>
            <a:off x="6890385" y="3991928"/>
            <a:ext cx="3235833" cy="1337310"/>
            <a:chOff x="6890385" y="3991928"/>
            <a:chExt cx="3235833" cy="1337310"/>
          </a:xfrm>
        </p:grpSpPr>
        <p:sp>
          <p:nvSpPr>
            <p:cNvPr id="33" name="TextBox 33"/>
            <p:cNvSpPr txBox="1"/>
            <p:nvPr/>
          </p:nvSpPr>
          <p:spPr>
            <a:xfrm>
              <a:off x="6890385" y="399192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三句话记住它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903720" y="4409122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61835" y="4346258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抽象工厂只声明“我能造一个产品”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903720" y="4753928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61835" y="4691062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具体工厂回答“我造的是哪一个”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903720" y="5098733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61835" y="503586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客户端只挑工厂，不碰产品的类名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模式结构：两条平行的继承树，横向靠依赖连起来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322771" cy="278702"/>
            <a:chOff x="526161" y="1547336"/>
            <a:chExt cx="632277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左边是工厂的等级结构，右边是产品的等级结构，两棵树的层次逐级对应。</a:t>
              </a:r>
            </a:p>
          </p:txBody>
        </p:sp>
      </p:grpSp>
      <p:grpSp>
        <p:nvGrpSpPr>
          <p:cNvPr id="57" name="c1-uml-1"/>
          <p:cNvGrpSpPr/>
          <p:nvPr/>
        </p:nvGrpSpPr>
        <p:grpSpPr>
          <a:xfrm>
            <a:off x="1726882" y="2410778"/>
            <a:ext cx="8750618" cy="2441258"/>
            <a:chOff x="1726882" y="2410778"/>
            <a:chExt cx="8750618" cy="2441258"/>
          </a:xfrm>
        </p:grpSpPr>
        <p:sp>
          <p:nvSpPr>
            <p:cNvPr id="9" name="Freeform 9"/>
            <p:cNvSpPr/>
            <p:nvPr/>
          </p:nvSpPr>
          <p:spPr>
            <a:xfrm>
              <a:off x="3048952" y="2807970"/>
              <a:ext cx="2099310" cy="9525"/>
            </a:xfrm>
            <a:custGeom>
              <a:avLst/>
              <a:gdLst/>
              <a:ahLst/>
              <a:cxnLst/>
              <a:rect l="l" t="t" r="r" b="b"/>
              <a:pathLst>
                <a:path w="2099310" h="9525">
                  <a:moveTo>
                    <a:pt x="0" y="0"/>
                  </a:moveTo>
                  <a:lnTo>
                    <a:pt x="209931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5043488" y="275082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043738" y="2807970"/>
              <a:ext cx="2096453" cy="9525"/>
            </a:xfrm>
            <a:custGeom>
              <a:avLst/>
              <a:gdLst/>
              <a:ahLst/>
              <a:cxnLst/>
              <a:rect l="l" t="t" r="r" b="b"/>
              <a:pathLst>
                <a:path w="2096453" h="9525">
                  <a:moveTo>
                    <a:pt x="0" y="0"/>
                  </a:moveTo>
                  <a:lnTo>
                    <a:pt x="20964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9035415" y="275082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096000" y="3331845"/>
              <a:ext cx="9525" cy="900112"/>
            </a:xfrm>
            <a:custGeom>
              <a:avLst/>
              <a:gdLst/>
              <a:ahLst/>
              <a:cxnLst/>
              <a:rect l="l" t="t" r="r" b="b"/>
              <a:pathLst>
                <a:path w="9525" h="900112">
                  <a:moveTo>
                    <a:pt x="0" y="900112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022658" y="320611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9804082" y="3318510"/>
              <a:ext cx="9525" cy="913448"/>
            </a:xfrm>
            <a:custGeom>
              <a:avLst/>
              <a:gdLst/>
              <a:ahLst/>
              <a:cxnLst/>
              <a:rect l="l" t="t" r="r" b="b"/>
              <a:pathLst>
                <a:path w="9525" h="913448">
                  <a:moveTo>
                    <a:pt x="0" y="91344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9730740" y="3192780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043738" y="4541520"/>
              <a:ext cx="2087880" cy="9525"/>
            </a:xfrm>
            <a:custGeom>
              <a:avLst/>
              <a:gdLst/>
              <a:ahLst/>
              <a:cxnLst/>
              <a:rect l="l" t="t" r="r" b="b"/>
              <a:pathLst>
                <a:path w="2087880" h="9525">
                  <a:moveTo>
                    <a:pt x="0" y="0"/>
                  </a:moveTo>
                  <a:lnTo>
                    <a:pt x="208788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9026842" y="4484370"/>
              <a:ext cx="104775" cy="115252"/>
            </a:xfrm>
            <a:custGeom>
              <a:avLst/>
              <a:gdLst/>
              <a:ahLst/>
              <a:cxnLst/>
              <a:rect l="l" t="t" r="r" b="b"/>
              <a:pathLst>
                <a:path w="104775" h="115252">
                  <a:moveTo>
                    <a:pt x="0" y="115252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26882" y="2410778"/>
              <a:ext cx="1322070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733550" y="2417445"/>
              <a:ext cx="1307782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26882" y="2659380"/>
              <a:ext cx="13220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726882" y="2929890"/>
              <a:ext cx="132207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148262" y="2410778"/>
              <a:ext cx="1894522" cy="79533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155882" y="2417445"/>
              <a:ext cx="188023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148262" y="2659380"/>
              <a:ext cx="18945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48262" y="2754630"/>
              <a:ext cx="18945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40190" y="2424112"/>
              <a:ext cx="1328738" cy="7686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46858" y="2431732"/>
              <a:ext cx="1314450" cy="39433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40190" y="2821305"/>
              <a:ext cx="13287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140190" y="2916555"/>
              <a:ext cx="132873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48262" y="4231958"/>
              <a:ext cx="1894522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155882" y="4239578"/>
              <a:ext cx="1880235" cy="24574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48262" y="4480560"/>
              <a:ext cx="18945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148262" y="4575810"/>
              <a:ext cx="189452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31618" y="4231958"/>
              <a:ext cx="1345882" cy="62007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138285" y="4239578"/>
              <a:ext cx="1331595" cy="245745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31618" y="4480560"/>
              <a:ext cx="134588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31618" y="4575810"/>
              <a:ext cx="134588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72837" y="2470785"/>
              <a:ext cx="430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98130" y="2730341"/>
              <a:ext cx="1255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factory: Factory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798130" y="3000851"/>
              <a:ext cx="8542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use(): void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02650" y="2470785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Factory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19510" y="2825591"/>
              <a:ext cx="1752346" cy="3669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factoryMethod(): Product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anOperation(): void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47962" y="2481262"/>
              <a:ext cx="7122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10733" y="2632710"/>
              <a:ext cx="58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Product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11437" y="2987516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operation(): void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473819" y="4291965"/>
              <a:ext cx="1244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ConcreteFactory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19510" y="4646771"/>
              <a:ext cx="18673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factoryMethod(): Product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81901" y="4291965"/>
              <a:ext cx="1244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ConcreteProduct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02864" y="4646771"/>
              <a:ext cx="1256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operation(): void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26205" y="260223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61727" y="26265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920038" y="260223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954607" y="26265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765732" y="4335780"/>
              <a:ext cx="64293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92484" y="4360069"/>
              <a:ext cx="5903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«create»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58" name="Rectangle 5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897882"/>
              <a:ext cx="200023" cy="200023"/>
              <a:chOff x="738188" y="5897882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978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5779770"/>
              <a:ext cx="98806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读图口诀：空心三角从子类指向父类；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«create»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虚线只出现在具体工厂和具体产品之间；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anOperation()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 Factory 里调用工厂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方法的那个业务方法。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四个角色各写什么，对照电视机的例子记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492240" cy="3150870"/>
            <a:chOff x="533400" y="1524000"/>
            <a:chExt cx="6492240" cy="31508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329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角色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654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职责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4446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电视机例子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221706"/>
              <a:ext cx="1459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 抽象产品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58593" y="2108359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声明产品的公共接口，是工厂方法的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45633" y="2221706"/>
              <a:ext cx="612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TV 接口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783681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ConcreteProduct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58593" y="2783681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实现抽象产品接口，通常与具体工厂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成对出现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45633" y="2897029"/>
              <a:ext cx="648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HaierTV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333750"/>
              <a:ext cx="1798320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572351"/>
              <a:ext cx="1459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Factory 抽象工厂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58593" y="3459004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声明工厂方法返回一个产品，是模式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的核心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45633" y="3572351"/>
              <a:ext cx="882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TVFactory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9478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999548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134326"/>
              <a:ext cx="14211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ConcreteFactory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58593" y="4134326"/>
              <a:ext cx="2613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覆盖工厂方法，返回某一个具体产品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45633" y="4247674"/>
              <a:ext cx="13174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HaierTVFactory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492240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34600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3048" y="152400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9" name="c1-callout-2"/>
          <p:cNvGrpSpPr/>
          <p:nvPr/>
        </p:nvGrpSpPr>
        <p:grpSpPr>
          <a:xfrm>
            <a:off x="533400" y="4865370"/>
            <a:ext cx="6492240" cy="1253490"/>
            <a:chOff x="533400" y="4865370"/>
            <a:chExt cx="6492240" cy="1253490"/>
          </a:xfrm>
        </p:grpSpPr>
        <p:sp>
          <p:nvSpPr>
            <p:cNvPr id="33" name="Rectangle 33"/>
            <p:cNvSpPr/>
            <p:nvPr/>
          </p:nvSpPr>
          <p:spPr>
            <a:xfrm>
              <a:off x="533400" y="4865370"/>
              <a:ext cx="6492240" cy="1253490"/>
            </a:xfrm>
            <a:prstGeom prst="roundRect">
              <a:avLst>
                <a:gd name="adj" fmla="val 911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5388411"/>
              <a:ext cx="224134" cy="192560"/>
              <a:chOff x="726129" y="5388411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54587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53884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55365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249228"/>
              <a:ext cx="5539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工厂方法的返回类型必须写抽象产品。写成具体产品，客户端就又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被拉回去依赖具体类。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7330440" y="1524000"/>
            <a:ext cx="4328160" cy="2577465"/>
            <a:chOff x="7330440" y="1524000"/>
            <a:chExt cx="4328160" cy="2577465"/>
          </a:xfrm>
        </p:grpSpPr>
        <p:sp>
          <p:nvSpPr>
            <p:cNvPr id="40" name="Rectangle 40"/>
            <p:cNvSpPr/>
            <p:nvPr/>
          </p:nvSpPr>
          <p:spPr>
            <a:xfrm>
              <a:off x="7330440" y="1524000"/>
              <a:ext cx="432816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3996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7809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6039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接线规则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62962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三条写代码时的硬规定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57809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3993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9080" y="2129790"/>
              <a:ext cx="3409474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工厂方法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不能是 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，静态方法无法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被子类覆盖，多态就没了。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578090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3993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79080" y="2750820"/>
              <a:ext cx="3339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抽象工厂里不要写任何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具体产品的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语句。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578090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3993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79080" y="3371850"/>
              <a:ext cx="3253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客户端声明变量一律用抽象类型，只在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挑工厂那一处出现具体类名。</a:t>
              </a:r>
            </a:p>
          </p:txBody>
        </p:sp>
      </p:grpSp>
      <p:grpSp>
        <p:nvGrpSpPr>
          <p:cNvPr id="60" name="c2-kv-2"/>
          <p:cNvGrpSpPr/>
          <p:nvPr/>
        </p:nvGrpSpPr>
        <p:grpSpPr>
          <a:xfrm>
            <a:off x="7322820" y="4316730"/>
            <a:ext cx="4335780" cy="1861185"/>
            <a:chOff x="7322820" y="4316730"/>
            <a:chExt cx="4335780" cy="1861185"/>
          </a:xfrm>
        </p:grpSpPr>
        <p:sp>
          <p:nvSpPr>
            <p:cNvPr id="55" name="TextBox 55"/>
            <p:cNvSpPr txBox="1"/>
            <p:nvPr/>
          </p:nvSpPr>
          <p:spPr>
            <a:xfrm>
              <a:off x="7322820" y="431673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抽象工厂写成什么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356408" y="4316730"/>
              <a:ext cx="2110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抽象类或接口都可以，要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有额外的公共逻辑就用抽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象类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330440" y="5200650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322820" y="532066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成对出现是必须的吗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56408" y="5320665"/>
              <a:ext cx="2110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不是，一个具体工厂也可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以按参数造几种产品，代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价见第 30 页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85051" cy="909257"/>
            <a:chOff x="520446" y="342900"/>
            <a:chExt cx="488505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定义、结构与四个角色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850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本质：把“选择实现”延迟到子类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073140" cy="293370"/>
            <a:chOff x="525780" y="1548765"/>
            <a:chExt cx="60731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简单工厂和工厂方法做的是同一件事，区别只在这件事发生的位置。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626418" cy="2165985"/>
            <a:chOff x="533400" y="1954530"/>
            <a:chExt cx="5626418" cy="216598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2165985"/>
            </a:xfrm>
            <a:prstGeom prst="roundRect">
              <a:avLst>
                <a:gd name="adj" fmla="val 6157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37235" y="215836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9544" y="219408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模式本质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22488" y="219789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延迟到子类来选择实现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29996" y="255031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简单工厂直接在工厂类里面做选择；工厂方法把这项工作推迟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到子类，工厂类内部只依赖抽象。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29996" y="3141821"/>
              <a:ext cx="500989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所以工厂方法体现了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依赖倒置原则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：高层的 Client 和抽象工厂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都只依赖抽象，不依赖具体产品。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31139" y="3729038"/>
              <a:ext cx="17407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依赖倒置原则见第 02 讲</a:t>
              </a:r>
            </a:p>
          </p:txBody>
        </p:sp>
      </p:grpSp>
      <p:grpSp>
        <p:nvGrpSpPr>
          <p:cNvPr id="25" name="c1-kv-2"/>
          <p:cNvGrpSpPr/>
          <p:nvPr/>
        </p:nvGrpSpPr>
        <p:grpSpPr>
          <a:xfrm>
            <a:off x="526161" y="4329589"/>
            <a:ext cx="5633657" cy="1121664"/>
            <a:chOff x="526161" y="4329589"/>
            <a:chExt cx="5633657" cy="1121664"/>
          </a:xfrm>
        </p:grpSpPr>
        <p:sp>
          <p:nvSpPr>
            <p:cNvPr id="17" name="TextBox 17"/>
            <p:cNvSpPr txBox="1"/>
            <p:nvPr/>
          </p:nvSpPr>
          <p:spPr>
            <a:xfrm>
              <a:off x="526161" y="432958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谁做选择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12976" y="432958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简单工厂在工厂类里选，工厂方法由工厂子类选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463486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6161" y="475154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何时做选择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2976" y="475154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简单工厂按参数现场判断，工厂方法装配时定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50568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6161" y="517255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核心工厂类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12976" y="517255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工厂方法里它只给出子类必须实现的接口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580698"/>
            <a:ext cx="5626418" cy="756285"/>
            <a:chOff x="533400" y="5580698"/>
            <a:chExt cx="5626418" cy="756285"/>
          </a:xfrm>
        </p:grpSpPr>
        <p:sp>
          <p:nvSpPr>
            <p:cNvPr id="26" name="Rectangle 26"/>
            <p:cNvSpPr/>
            <p:nvPr/>
          </p:nvSpPr>
          <p:spPr>
            <a:xfrm>
              <a:off x="533400" y="5580698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858828"/>
              <a:ext cx="200026" cy="200026"/>
              <a:chOff x="738188" y="5858828"/>
              <a:chExt cx="200026" cy="20002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8588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38200" y="59255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27088" y="59588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511" y="572785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课件原话：核心的工厂类不再负责所有产品的创建，而是把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具体创建工作交给子类去做。</a:t>
              </a:r>
            </a:p>
          </p:txBody>
        </p:sp>
      </p:grpSp>
      <p:grpSp>
        <p:nvGrpSpPr>
          <p:cNvPr id="35" name="c2-image-1"/>
          <p:cNvGrpSpPr/>
          <p:nvPr/>
        </p:nvGrpSpPr>
        <p:grpSpPr>
          <a:xfrm>
            <a:off x="6464618" y="1954530"/>
            <a:ext cx="5193982" cy="2624614"/>
            <a:chOff x="6464618" y="1954530"/>
            <a:chExt cx="5193982" cy="2624614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2"/>
            <a:srcRect l="0" t="20352" r="0" b="20353"/>
            <a:stretch>
              <a:fillRect/>
            </a:stretch>
          </p:blipFill>
          <p:spPr>
            <a:xfrm>
              <a:off x="6464618" y="1954530"/>
              <a:ext cx="5193982" cy="2309812"/>
            </a:xfrm>
            <a:prstGeom prst="roundRect">
              <a:avLst>
                <a:gd name="adj" fmla="val 5773"/>
              </a:avLst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6862602" y="4359116"/>
              <a:ext cx="4398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三个窗口形状一样，喊的是同一句“来一份”，后面的厨房各做各的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464618" y="4739640"/>
            <a:ext cx="5193982" cy="1597342"/>
            <a:chOff x="6464618" y="4739640"/>
            <a:chExt cx="5193982" cy="1597342"/>
          </a:xfrm>
        </p:grpSpPr>
        <p:sp>
          <p:nvSpPr>
            <p:cNvPr id="36" name="Rectangle 36"/>
            <p:cNvSpPr/>
            <p:nvPr/>
          </p:nvSpPr>
          <p:spPr>
            <a:xfrm>
              <a:off x="6464618" y="4739640"/>
              <a:ext cx="5193982" cy="1597342"/>
            </a:xfrm>
            <a:prstGeom prst="roundRect">
              <a:avLst>
                <a:gd name="adj" fmla="val 715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437823"/>
              <a:ext cx="200026" cy="200025"/>
              <a:chOff x="6669405" y="5437823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543782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09144" y="548227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43859" y="559339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729" y="530780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客户端换一个窗口，就换了一整套做法，而窗口本身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的用法一个字都不用改。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29600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用支付方式这一个例子，从头写到配置化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抽象层与具体层各写什么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客户端只剩一行认得具体类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用配置文件和反射把这行也去掉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代码实现（一）：抽象产品、具体产品、抽象工厂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073140" cy="293370"/>
            <a:chOff x="525780" y="1548765"/>
            <a:chExt cx="60731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沿用张欣佳老师课件里的支付方式例子，把课件省略的产品类补全。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6276022" cy="4291012"/>
            <a:chOff x="533400" y="1954530"/>
            <a:chExt cx="6276022" cy="429101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276022" cy="4291012"/>
            </a:xfrm>
            <a:prstGeom prst="roundRect">
              <a:avLst>
                <a:gd name="adj" fmla="val 22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5735955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67915"/>
              <a:ext cx="4124516" cy="3806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抽象产品：声明产品的公共接口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具体产品一：现金支付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CashPay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"现金收款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amount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元"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具体产品二：微信支付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WeChatPay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amount)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"微信到账 "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+ amount +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 元"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抽象工厂：只声明工厂方法，不写 new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PayMethodFactory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getPayMethod();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1" name="c2-steps-1"/>
          <p:cNvGrpSpPr/>
          <p:nvPr/>
        </p:nvGrpSpPr>
        <p:grpSpPr>
          <a:xfrm>
            <a:off x="7114222" y="1964055"/>
            <a:ext cx="3825697" cy="2398776"/>
            <a:chOff x="7114222" y="1964055"/>
            <a:chExt cx="3825697" cy="2398776"/>
          </a:xfrm>
        </p:grpSpPr>
        <p:sp>
          <p:nvSpPr>
            <p:cNvPr id="14" name="Rectangle 14"/>
            <p:cNvSpPr/>
            <p:nvPr/>
          </p:nvSpPr>
          <p:spPr>
            <a:xfrm>
              <a:off x="7247572" y="210693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14222" y="196405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07846" y="20378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114222" y="2581275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07846" y="26550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14222" y="319754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07846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114222" y="381476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07846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6084" y="199691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先定产品接口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7226" y="2277428"/>
              <a:ext cx="3412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把客户端真正要用的方法挑出来，这里是 pay()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26084" y="261413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再写具体产品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27226" y="2894648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每种支付方式一个类，互不知道对方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6084" y="323040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然后写抽象工厂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7226" y="3510915"/>
              <a:ext cx="3310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只有一个抽象方法，返回类型是 AbstractPay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26084" y="384762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最后写具体工厂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7226" y="4128135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见下一页，每个只 new 一种产品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7114222" y="4533900"/>
            <a:ext cx="4544378" cy="1711642"/>
            <a:chOff x="7114222" y="4533900"/>
            <a:chExt cx="4544378" cy="1711642"/>
          </a:xfrm>
        </p:grpSpPr>
        <p:sp>
          <p:nvSpPr>
            <p:cNvPr id="32" name="Rectangle 32"/>
            <p:cNvSpPr/>
            <p:nvPr/>
          </p:nvSpPr>
          <p:spPr>
            <a:xfrm>
              <a:off x="7114222" y="4533900"/>
              <a:ext cx="4544378" cy="1711642"/>
            </a:xfrm>
            <a:prstGeom prst="roundRect">
              <a:avLst>
                <a:gd name="adj" fmla="val 667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19010" y="5290185"/>
              <a:ext cx="200026" cy="200026"/>
              <a:chOff x="7319010" y="529018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19010" y="52901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419023" y="53568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407910" y="53901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621334" y="5159216"/>
              <a:ext cx="35581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课件把 AbstractPay 画成抽象类。若产品没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有公共字段和公共实现，写成接口更省事。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代码实现（二）：具体工厂与客户端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4101465"/>
            <a:chOff x="533400" y="1524000"/>
            <a:chExt cx="6276022" cy="4101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101465"/>
            </a:xfrm>
            <a:prstGeom prst="roundRect">
              <a:avLst>
                <a:gd name="adj" fmla="val 23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548188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416" y="1937385"/>
              <a:ext cx="4117848" cy="36172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具体工厂一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CashPayFactory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PayMethodFactory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getPayMethod()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CashPay();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只认识一种产品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具体工厂二：新增支付方式时才写这个类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WeChatPayFactory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PayMethodFactory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AbstractPay getPayMethod()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WeChatPay();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PayMethodFactory factory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CashPayFactory();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AbstractPay payMethod = factory.getPayMethod();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payMethod.pay(128.0);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7114222" y="1524000"/>
            <a:ext cx="4544378" cy="2675572"/>
            <a:chOff x="7114222" y="1524000"/>
            <a:chExt cx="4544378" cy="2675572"/>
          </a:xfrm>
        </p:grpSpPr>
        <p:sp>
          <p:nvSpPr>
            <p:cNvPr id="12" name="Rectangle 12"/>
            <p:cNvSpPr/>
            <p:nvPr/>
          </p:nvSpPr>
          <p:spPr>
            <a:xfrm>
              <a:off x="7114222" y="1524000"/>
              <a:ext cx="4544378" cy="2675572"/>
            </a:xfrm>
            <a:prstGeom prst="roundRect">
              <a:avLst>
                <a:gd name="adj" fmla="val 49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23748" y="1657350"/>
              <a:ext cx="47625" cy="24088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50442" y="172212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33882" y="17564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00454" y="175688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手工推演一遍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350442" y="208883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08787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41336" y="2100739"/>
              <a:ext cx="39063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CashPayFactory()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得到一个具体工厂。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350442" y="2406015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8787" y="24463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41336" y="2418874"/>
              <a:ext cx="365734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getPayMethod()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动态绑定到子类版本，返回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CashPay 实例。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350442" y="2995612"/>
              <a:ext cx="201930" cy="20193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08787" y="30349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41336" y="3007519"/>
              <a:ext cx="33507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payMethod.pay(128.0)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打印：现金收款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128.0 元。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44347" y="3592830"/>
              <a:ext cx="3867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 WeChatPayFactory，只改高亮那一行，输出变成微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信到账</a:t>
              </a:r>
            </a:p>
          </p:txBody>
        </p:sp>
      </p:grpSp>
      <p:grpSp>
        <p:nvGrpSpPr>
          <p:cNvPr id="34" name="c2-bullets-2"/>
          <p:cNvGrpSpPr/>
          <p:nvPr/>
        </p:nvGrpSpPr>
        <p:grpSpPr>
          <a:xfrm>
            <a:off x="7114222" y="4403884"/>
            <a:ext cx="3698634" cy="932117"/>
            <a:chOff x="7114222" y="4403884"/>
            <a:chExt cx="3698634" cy="932117"/>
          </a:xfrm>
        </p:grpSpPr>
        <p:sp>
          <p:nvSpPr>
            <p:cNvPr id="28" name="Freeform 28"/>
            <p:cNvSpPr/>
            <p:nvPr/>
          </p:nvSpPr>
          <p:spPr>
            <a:xfrm>
              <a:off x="7114222" y="4433888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57491" y="440388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两个变量的类型都是抽象层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114222" y="4760595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2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7491" y="473059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全文只有一处出现具体类名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114222" y="5087302"/>
              <a:ext cx="136208" cy="110490"/>
            </a:xfrm>
            <a:custGeom>
              <a:avLst/>
              <a:gdLst/>
              <a:ahLst/>
              <a:cxnLst/>
              <a:rect l="l" t="t" r="r" b="b"/>
              <a:pathLst>
                <a:path w="136208" h="110490">
                  <a:moveTo>
                    <a:pt x="0" y="58103"/>
                  </a:moveTo>
                  <a:lnTo>
                    <a:pt x="52388" y="110490"/>
                  </a:lnTo>
                  <a:lnTo>
                    <a:pt x="13620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57491" y="505729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新增支付宝支付：加两个类，旧代码不动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5" name="Rectangle 3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511" y="6011704"/>
              <a:ext cx="6217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还剩一处硬编码：客户端里 new 具体工厂那一行。下一页把它也赶出去。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01494" cy="909257"/>
            <a:chOff x="520446" y="342900"/>
            <a:chExt cx="64014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014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把最后一处 new 赶走：类名写进配置文件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464791" cy="308039"/>
            <a:chOff x="525399" y="1550194"/>
            <a:chExt cx="846479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46479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工程里的常规做法是不直接 new 具体工厂，而是把类名写进 XML，运行时用反射造出来。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1313498"/>
            <a:chOff x="533400" y="1967865"/>
            <a:chExt cx="5410200" cy="1313498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7302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config.xml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81726"/>
              <a:ext cx="3218942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&lt;?xml version=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"1.0"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?&gt;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&lt;config&gt;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&lt;className&gt;CashPayFactory&lt;/className&gt;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&lt;/config&gt;</a:t>
              </a:r>
            </a:p>
          </p:txBody>
        </p:sp>
      </p:grpSp>
      <p:grpSp>
        <p:nvGrpSpPr>
          <p:cNvPr id="17" name="c1-code-2"/>
          <p:cNvGrpSpPr/>
          <p:nvPr/>
        </p:nvGrpSpPr>
        <p:grpSpPr>
          <a:xfrm>
            <a:off x="533400" y="3471862"/>
            <a:ext cx="5410200" cy="1719262"/>
            <a:chOff x="533400" y="3471862"/>
            <a:chExt cx="5410200" cy="1719262"/>
          </a:xfrm>
        </p:grpSpPr>
        <p:sp>
          <p:nvSpPr>
            <p:cNvPr id="13" name="Rectangle 13"/>
            <p:cNvSpPr/>
            <p:nvPr/>
          </p:nvSpPr>
          <p:spPr>
            <a:xfrm>
              <a:off x="533400" y="3471862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362378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客户端只改一行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2450" y="4451985"/>
              <a:ext cx="537210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1035" y="3885724"/>
              <a:ext cx="3688334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PayMethodFactory factory;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AbstractPay payMethod;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getBean() 返回 Object，需要强制类型转换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factory = (PayMethodFactory) XMLUtil.getBean();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payMethod = factory.getPayMethod();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payMethod.pay(128.0);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248400" y="1967865"/>
            <a:ext cx="5410200" cy="2242185"/>
            <a:chOff x="6248400" y="1967865"/>
            <a:chExt cx="5410200" cy="2242185"/>
          </a:xfrm>
        </p:grpSpPr>
        <p:sp>
          <p:nvSpPr>
            <p:cNvPr id="18" name="Rectangle 18"/>
            <p:cNvSpPr/>
            <p:nvPr/>
          </p:nvSpPr>
          <p:spPr>
            <a:xfrm>
              <a:off x="6248400" y="1967865"/>
              <a:ext cx="5410200" cy="2242185"/>
            </a:xfrm>
            <a:prstGeom prst="roundRect">
              <a:avLst>
                <a:gd name="adj" fmla="val 59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57925" y="2101215"/>
              <a:ext cx="47625" cy="197548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96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86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97078" y="2212658"/>
              <a:ext cx="29635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反射（Java Reflection）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430" y="257365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在程序运行时获取已知名称的类或已有对象的信息，包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括方法、属性、超类，也包括创建实例和判断实例类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3480435"/>
              <a:ext cx="4701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Class.forName(名字)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按类名拿到 Class 对象，再由它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创建实例。</a:t>
              </a:r>
            </a:p>
          </p:txBody>
        </p:sp>
      </p:grpSp>
      <p:grpSp>
        <p:nvGrpSpPr>
          <p:cNvPr id="32" name="c2-bullets-2"/>
          <p:cNvGrpSpPr/>
          <p:nvPr/>
        </p:nvGrpSpPr>
        <p:grpSpPr>
          <a:xfrm>
            <a:off x="6248400" y="4425315"/>
            <a:ext cx="4625150" cy="982980"/>
            <a:chOff x="6248400" y="4425315"/>
            <a:chExt cx="4625150" cy="982980"/>
          </a:xfrm>
        </p:grpSpPr>
        <p:sp>
          <p:nvSpPr>
            <p:cNvPr id="26" name="Freeform 26"/>
            <p:cNvSpPr/>
            <p:nvPr/>
          </p:nvSpPr>
          <p:spPr>
            <a:xfrm>
              <a:off x="6248400" y="445674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98908" y="4425315"/>
              <a:ext cx="43746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换支付方式只改 XML 里一个单词，源码一行不动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48400" y="480155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98908" y="47701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客户端从此不出现任何具体类名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248400" y="514635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5245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98908" y="51149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代价是编译器查不出配置里的拼写错误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3" name="Rectangle 33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130" y="5728335"/>
              <a:ext cx="9283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更正：课件示例写作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Class.forName("String")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，forName 要求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全限定名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，应写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java.lang.String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ClassNotFoundException。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09529" cy="909257"/>
            <a:chOff x="520446" y="342900"/>
            <a:chExt cx="580952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7452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793" y="407194"/>
              <a:ext cx="17237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Java 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095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XMLUtil：读出类名，再按名字造对象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ode-1"/>
          <p:cNvGrpSpPr/>
          <p:nvPr/>
        </p:nvGrpSpPr>
        <p:grpSpPr>
          <a:xfrm>
            <a:off x="533400" y="1524000"/>
            <a:ext cx="6492240" cy="4356735"/>
            <a:chOff x="533400" y="1524000"/>
            <a:chExt cx="6492240" cy="4356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356735"/>
            </a:xfrm>
            <a:prstGeom prst="roundRect">
              <a:avLst>
                <a:gd name="adj" fmla="val 218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938712"/>
              <a:ext cx="645414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5141595"/>
              <a:ext cx="6454140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1035" y="1937861"/>
              <a:ext cx="4783582" cy="3871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XMLUtil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Object getBean()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throws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Exception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1. 创建 DOM 文档对象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DocumentBuilderFactory dFactory =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DocumentBuilderFactory.newInstance();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DocumentBuilder builder =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dFactory.newDocumentBuilder();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Document doc = builder.parse(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"config.xml"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2. 取出 className 节点里的文本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NodeList nl = doc.getElementsByTagName(</a:t>
              </a:r>
              <a:r>
                <a:rPr lang="en-US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"className"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Node classNode = nl.item(0).getFirstChild();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cName = classNode.getNodeValue();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3. 按类名反射生成实例并返回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Class&lt;?&gt; c = Class.forName(cName);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c.getDeclaredConstructor().newInstance();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7330440" y="1524000"/>
            <a:ext cx="4328160" cy="2708910"/>
            <a:chOff x="7330440" y="1524000"/>
            <a:chExt cx="4328160" cy="2708910"/>
          </a:xfrm>
        </p:grpSpPr>
        <p:sp>
          <p:nvSpPr>
            <p:cNvPr id="13" name="Rectangle 13"/>
            <p:cNvSpPr/>
            <p:nvPr/>
          </p:nvSpPr>
          <p:spPr>
            <a:xfrm>
              <a:off x="7330440" y="1524000"/>
              <a:ext cx="4328160" cy="2708910"/>
            </a:xfrm>
            <a:prstGeom prst="roundRect">
              <a:avLst>
                <a:gd name="adj" fmla="val 49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339965" y="1657350"/>
              <a:ext cx="47625" cy="24422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7237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6258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73784" y="176736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课件里的反射写法要改两处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5136" y="2119789"/>
              <a:ext cx="364111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原课件用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c.newInstance()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。该方法自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Java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起已废弃，它会把构造器抛出的受检异常绕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过编译检查。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5136" y="2982754"/>
              <a:ext cx="372948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改用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c.getDeclaredConstructor().newInstance</a:t>
              </a:r>
              <a:br/>
              <a:r>
                <a:rPr lang="zh-CN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6279" y="3841432"/>
              <a:ext cx="3789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原课件的 Class 是裸类型，加上 </a:t>
              </a:r>
              <a:r>
                <a:rPr lang="zh-CN" sz="12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&lt;?&gt;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才没有编译警告</a:t>
              </a:r>
            </a:p>
          </p:txBody>
        </p:sp>
      </p:grpSp>
      <p:grpSp>
        <p:nvGrpSpPr>
          <p:cNvPr id="28" name="c2-callout-2"/>
          <p:cNvGrpSpPr/>
          <p:nvPr/>
        </p:nvGrpSpPr>
        <p:grpSpPr>
          <a:xfrm>
            <a:off x="7330440" y="4418648"/>
            <a:ext cx="4328160" cy="1543050"/>
            <a:chOff x="7330440" y="4418648"/>
            <a:chExt cx="4328160" cy="1543050"/>
          </a:xfrm>
        </p:grpSpPr>
        <p:sp>
          <p:nvSpPr>
            <p:cNvPr id="22" name="Rectangle 22"/>
            <p:cNvSpPr/>
            <p:nvPr/>
          </p:nvSpPr>
          <p:spPr>
            <a:xfrm>
              <a:off x="7330440" y="4418648"/>
              <a:ext cx="4328160" cy="1543050"/>
            </a:xfrm>
            <a:prstGeom prst="roundRect">
              <a:avLst>
                <a:gd name="adj" fmla="val 740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535228" y="5090160"/>
              <a:ext cx="200026" cy="200025"/>
              <a:chOff x="7535228" y="5090160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535228" y="50901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574966" y="51346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609682" y="52457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837551" y="4565809"/>
              <a:ext cx="3467989" cy="1330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顺带看一眼：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DocumentBuilderFactory.newInstance(</a:t>
              </a:r>
              <a:br/>
              <a:r>
                <a:rPr lang="zh-CN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)</a:t>
              </a: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是静态工厂，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dFactory.newDocumentBuilder()</a:t>
              </a: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 xml:space="preserve"> 才是真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正的工厂方法。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课件中的四个实例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两位老师的例子各留最典型的一个说法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电视机工厂与日志记录器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大富翁的菜单工厂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迷宫游戏里的多个工厂方法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实例一：电视机工厂，一个品牌一个子工厂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010144" cy="264033"/>
            <a:chOff x="526542" y="1545907"/>
            <a:chExt cx="801014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原来一个工厂生产所有品牌，现在把它切开，海尔工厂只管海尔电视机，海信工厂只管海信电视机。</a:t>
              </a:r>
            </a:p>
          </p:txBody>
        </p:sp>
      </p:grpSp>
      <p:grpSp>
        <p:nvGrpSpPr>
          <p:cNvPr id="10" name="c1-text-1"/>
          <p:cNvGrpSpPr/>
          <p:nvPr/>
        </p:nvGrpSpPr>
        <p:grpSpPr>
          <a:xfrm>
            <a:off x="527685" y="1947386"/>
            <a:ext cx="916076" cy="220028"/>
            <a:chOff x="527685" y="1947386"/>
            <a:chExt cx="916076" cy="220028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19473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工厂等级结构</a:t>
              </a:r>
            </a:p>
          </p:txBody>
        </p:sp>
      </p:grpSp>
      <p:grpSp>
        <p:nvGrpSpPr>
          <p:cNvPr id="33" name="c1-uml-2"/>
          <p:cNvGrpSpPr/>
          <p:nvPr/>
        </p:nvGrpSpPr>
        <p:grpSpPr>
          <a:xfrm>
            <a:off x="863918" y="2622232"/>
            <a:ext cx="4786312" cy="1771650"/>
            <a:chOff x="863918" y="2622232"/>
            <a:chExt cx="4786312" cy="1771650"/>
          </a:xfrm>
        </p:grpSpPr>
        <p:sp>
          <p:nvSpPr>
            <p:cNvPr id="11" name="Freeform 11"/>
            <p:cNvSpPr/>
            <p:nvPr/>
          </p:nvSpPr>
          <p:spPr>
            <a:xfrm>
              <a:off x="1435418" y="3304222"/>
              <a:ext cx="1803082" cy="533400"/>
            </a:xfrm>
            <a:custGeom>
              <a:avLst/>
              <a:gdLst/>
              <a:ahLst/>
              <a:cxnLst/>
              <a:rect l="l" t="t" r="r" b="b"/>
              <a:pathLst>
                <a:path w="1803082" h="533400">
                  <a:moveTo>
                    <a:pt x="0" y="533400"/>
                  </a:moveTo>
                  <a:lnTo>
                    <a:pt x="0" y="203835"/>
                  </a:lnTo>
                  <a:lnTo>
                    <a:pt x="1803082" y="203835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165158" y="317849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38500" y="3304222"/>
              <a:ext cx="1803082" cy="533400"/>
            </a:xfrm>
            <a:custGeom>
              <a:avLst/>
              <a:gdLst/>
              <a:ahLst/>
              <a:cxnLst/>
              <a:rect l="l" t="t" r="r" b="b"/>
              <a:pathLst>
                <a:path w="1803082" h="533400">
                  <a:moveTo>
                    <a:pt x="1803082" y="533400"/>
                  </a:moveTo>
                  <a:lnTo>
                    <a:pt x="1803082" y="203835"/>
                  </a:lnTo>
                  <a:lnTo>
                    <a:pt x="0" y="203835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65158" y="3178492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667000" y="262223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74620" y="262985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283464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67000" y="292989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63918" y="383762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70585" y="3845242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3918" y="40500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63918" y="41452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433888" y="3837622"/>
              <a:ext cx="121634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440555" y="3845242"/>
              <a:ext cx="120205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33888" y="4050030"/>
              <a:ext cx="12163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433888" y="4145280"/>
              <a:ext cx="121634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912937" y="2673668"/>
              <a:ext cx="6511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TVFactory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38438" y="2997994"/>
              <a:ext cx="10065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produceTV(): TV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9112" y="3889058"/>
              <a:ext cx="9726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HaierTVFactory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5355" y="4213384"/>
              <a:ext cx="10065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produceTV(): TV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85276" y="3889058"/>
              <a:ext cx="111261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HisenseTVFactory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05325" y="4213384"/>
              <a:ext cx="10065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produceTV(): TV</a:t>
              </a:r>
            </a:p>
          </p:txBody>
        </p:sp>
      </p:grpSp>
      <p:grpSp>
        <p:nvGrpSpPr>
          <p:cNvPr id="40" name="c1-callout-3"/>
          <p:cNvGrpSpPr/>
          <p:nvPr/>
        </p:nvGrpSpPr>
        <p:grpSpPr>
          <a:xfrm>
            <a:off x="533400" y="4893945"/>
            <a:ext cx="5410200" cy="729615"/>
            <a:chOff x="533400" y="4893945"/>
            <a:chExt cx="5410200" cy="729615"/>
          </a:xfrm>
        </p:grpSpPr>
        <p:sp>
          <p:nvSpPr>
            <p:cNvPr id="34" name="Rectangle 34"/>
            <p:cNvSpPr/>
            <p:nvPr/>
          </p:nvSpPr>
          <p:spPr>
            <a:xfrm>
              <a:off x="533400" y="48939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157788"/>
              <a:ext cx="200026" cy="200025"/>
              <a:chOff x="738188" y="515778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1577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77926" y="52022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12642" y="53133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892" y="5163502"/>
              <a:ext cx="4717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抽象工厂只声明 produceTV()，自己不 new 任何电视机。</a:t>
              </a:r>
            </a:p>
          </p:txBody>
        </p:sp>
      </p:grpSp>
      <p:grpSp>
        <p:nvGrpSpPr>
          <p:cNvPr id="42" name="c2-text-1"/>
          <p:cNvGrpSpPr/>
          <p:nvPr/>
        </p:nvGrpSpPr>
        <p:grpSpPr>
          <a:xfrm>
            <a:off x="6242685" y="1947386"/>
            <a:ext cx="916076" cy="220028"/>
            <a:chOff x="6242685" y="1947386"/>
            <a:chExt cx="916076" cy="220028"/>
          </a:xfrm>
        </p:grpSpPr>
        <p:sp>
          <p:nvSpPr>
            <p:cNvPr id="41" name="TextBox 41"/>
            <p:cNvSpPr txBox="1"/>
            <p:nvPr/>
          </p:nvSpPr>
          <p:spPr>
            <a:xfrm>
              <a:off x="6242685" y="194738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产品等级结构</a:t>
              </a:r>
            </a:p>
          </p:txBody>
        </p:sp>
      </p:grpSp>
      <p:grpSp>
        <p:nvGrpSpPr>
          <p:cNvPr id="66" name="c2-uml-2"/>
          <p:cNvGrpSpPr/>
          <p:nvPr/>
        </p:nvGrpSpPr>
        <p:grpSpPr>
          <a:xfrm>
            <a:off x="6578918" y="2559368"/>
            <a:ext cx="4749164" cy="1834514"/>
            <a:chOff x="6578918" y="2559368"/>
            <a:chExt cx="4749164" cy="1834514"/>
          </a:xfrm>
        </p:grpSpPr>
        <p:sp>
          <p:nvSpPr>
            <p:cNvPr id="43" name="Freeform 43"/>
            <p:cNvSpPr/>
            <p:nvPr/>
          </p:nvSpPr>
          <p:spPr>
            <a:xfrm>
              <a:off x="7150418" y="3367088"/>
              <a:ext cx="1803082" cy="470535"/>
            </a:xfrm>
            <a:custGeom>
              <a:avLst/>
              <a:gdLst/>
              <a:ahLst/>
              <a:cxnLst/>
              <a:rect l="l" t="t" r="r" b="b"/>
              <a:pathLst>
                <a:path w="1803082" h="470535">
                  <a:moveTo>
                    <a:pt x="0" y="470535"/>
                  </a:moveTo>
                  <a:lnTo>
                    <a:pt x="0" y="172403"/>
                  </a:lnTo>
                  <a:lnTo>
                    <a:pt x="1803082" y="172403"/>
                  </a:lnTo>
                  <a:lnTo>
                    <a:pt x="18030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8880158" y="324135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53500" y="3367088"/>
              <a:ext cx="1803082" cy="470535"/>
            </a:xfrm>
            <a:custGeom>
              <a:avLst/>
              <a:gdLst/>
              <a:ahLst/>
              <a:cxnLst/>
              <a:rect l="l" t="t" r="r" b="b"/>
              <a:pathLst>
                <a:path w="1803082" h="470535">
                  <a:moveTo>
                    <a:pt x="1803082" y="470535"/>
                  </a:moveTo>
                  <a:lnTo>
                    <a:pt x="1803082" y="172403"/>
                  </a:lnTo>
                  <a:lnTo>
                    <a:pt x="0" y="1724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  <a:custDash>
                <a:ds d="375000" sp="250000"/>
              </a:custDash>
            </a:ln>
          </p:spPr>
        </p:sp>
        <p:sp>
          <p:nvSpPr>
            <p:cNvPr id="46" name="Freeform 46"/>
            <p:cNvSpPr/>
            <p:nvPr/>
          </p:nvSpPr>
          <p:spPr>
            <a:xfrm>
              <a:off x="8880158" y="3241358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3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382000" y="2559368"/>
              <a:ext cx="114300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89620" y="2566988"/>
              <a:ext cx="112871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382000" y="289750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82000" y="299275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578918" y="383762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585585" y="3845242"/>
              <a:ext cx="11287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578918" y="40500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78918" y="41452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85082" y="3837622"/>
              <a:ext cx="1143000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192702" y="3845242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185082" y="40500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185082" y="41452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655939" y="2607945"/>
              <a:ext cx="59512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«interface»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74808" y="273653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53438" y="3060859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11111" y="3889058"/>
              <a:ext cx="4786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HaierTV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50355" y="4213384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447222" y="3889058"/>
              <a:ext cx="6187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HisenseTV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56520" y="4213384"/>
              <a:ext cx="7491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play(): void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6248400" y="4893945"/>
            <a:ext cx="5410200" cy="729615"/>
            <a:chOff x="6248400" y="4893945"/>
            <a:chExt cx="5410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6248400" y="489394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453188" y="5157790"/>
              <a:ext cx="200023" cy="200023"/>
              <a:chOff x="6453188" y="5157790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6453188" y="51577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586538" y="52244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755892" y="5039678"/>
              <a:ext cx="41970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两棵树逐个对应：HaierTVFactory 的 produceTV() 里</a:t>
              </a:r>
              <a:br/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的正是 HaierTV。</a:t>
              </a:r>
            </a:p>
          </p:txBody>
        </p:sp>
      </p:grpSp>
      <p:grpSp>
        <p:nvGrpSpPr>
          <p:cNvPr id="7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73" name="Rectangle 7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892" y="6028373"/>
              <a:ext cx="771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两棵树层次相同、个数相同。要生产 TCL 电视机，就在两棵树上各挂一个叶子，别的枝叶不碰。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实例一的代码骨架与一次真实的扩展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762500"/>
            <a:chOff x="533400" y="1524000"/>
            <a:chExt cx="6059805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762500"/>
            </a:xfrm>
            <a:prstGeom prst="roundRect">
              <a:avLst>
                <a:gd name="adj" fmla="val 200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23030" cy="427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HaierTV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play()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"海尔电视机播放中"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produceTV();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HaierTVFactory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TVFactory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TV produceTV()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System.out.println(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"海尔工厂生产电视机"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HaierTV();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客户端片段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TVFactory factory = (TVFactory) XMLUtil.getBean();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TV tv = factory.produceTV();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tv.play();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898005" y="1524000"/>
            <a:ext cx="4760595" cy="2587942"/>
            <a:chOff x="6898005" y="1524000"/>
            <a:chExt cx="4760595" cy="2587942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2587942"/>
            </a:xfrm>
            <a:prstGeom prst="roundRect">
              <a:avLst>
                <a:gd name="adj" fmla="val 51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907530" y="1657350"/>
              <a:ext cx="47625" cy="23212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145655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27011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扩展演练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0528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增加创维电视机要做什么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45655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07504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6645" y="2129790"/>
              <a:ext cx="3299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新建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SkyworthTV implements TV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145655" y="24517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07504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46645" y="2465070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新建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SkyworthTVFactory extends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TVFactory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45655" y="30727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07504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46645" y="3086100"/>
              <a:ext cx="2110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把配置文件里的类名改成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SkyworthTVFactory。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39178" y="3703796"/>
              <a:ext cx="4183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TV、TVFactory、客户端、其余品牌的类，一行都不改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898005" y="4302442"/>
            <a:ext cx="4760595" cy="1795462"/>
            <a:chOff x="6898005" y="4302442"/>
            <a:chExt cx="4760595" cy="1795462"/>
          </a:xfrm>
        </p:grpSpPr>
        <p:sp>
          <p:nvSpPr>
            <p:cNvPr id="27" name="Rectangle 27"/>
            <p:cNvSpPr/>
            <p:nvPr/>
          </p:nvSpPr>
          <p:spPr>
            <a:xfrm>
              <a:off x="6898005" y="4302442"/>
              <a:ext cx="4760595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279" y="44381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9123" y="44381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68356" y="443817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05828" y="488680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已有的工厂类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10612" y="4760595"/>
              <a:ext cx="145923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08910" y="488680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必须改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189845" y="4760595"/>
              <a:ext cx="145923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288143" y="48868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98005" y="51958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898005" y="520065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05828" y="53354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已有的产品类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08910" y="53354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288143" y="53354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898005" y="564451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05828" y="57840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新增文件数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08910" y="578405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288143" y="578405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898005" y="4302442"/>
              <a:ext cx="4760595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696325" y="430244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175558" y="430244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实例二：日志记录器，运行时才决定记到哪里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092440" cy="293370"/>
            <a:chOff x="525780" y="1548765"/>
            <a:chExt cx="809244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某系统的日志记录器要支持文件记录、数据库记录等多种方式，用户可以按需要动态选择。</a:t>
              </a:r>
            </a:p>
          </p:txBody>
        </p:sp>
      </p:grpSp>
      <p:grpSp>
        <p:nvGrpSpPr>
          <p:cNvPr id="27" name="c1-table-1"/>
          <p:cNvGrpSpPr/>
          <p:nvPr/>
        </p:nvGrpSpPr>
        <p:grpSpPr>
          <a:xfrm>
            <a:off x="533400" y="1954530"/>
            <a:ext cx="5193982" cy="2335530"/>
            <a:chOff x="533400" y="1954530"/>
            <a:chExt cx="5193982" cy="2335530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42481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72933" y="20831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8676" y="208311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本例中的类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5889" y="2506980"/>
              <a:ext cx="1367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Product 抽象产品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73324" y="2506980"/>
              <a:ext cx="23500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Log（接口，声明 writeLog()）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984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803208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931795"/>
              <a:ext cx="2119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ConcreteProduct 具体产品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73324" y="2931795"/>
              <a:ext cx="17110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FileLog、DatabaseLog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22326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889" y="3356610"/>
              <a:ext cx="1367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Factory 抽象工厂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3324" y="3356610"/>
              <a:ext cx="2589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LogFactory（声明 createLog()）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6471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651885"/>
              <a:ext cx="519398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3887152"/>
              <a:ext cx="2119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ConcreteFactory 具体工厂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73324" y="3780472"/>
              <a:ext cx="15209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FileLogFactory、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DatabaseLogFactory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54530"/>
              <a:ext cx="5193982" cy="2335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66072" y="1954530"/>
              <a:ext cx="9525" cy="2335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llout-2"/>
          <p:cNvGrpSpPr/>
          <p:nvPr/>
        </p:nvGrpSpPr>
        <p:grpSpPr>
          <a:xfrm>
            <a:off x="533400" y="4470082"/>
            <a:ext cx="5193982" cy="1207770"/>
            <a:chOff x="533400" y="4470082"/>
            <a:chExt cx="5193982" cy="1207770"/>
          </a:xfrm>
        </p:grpSpPr>
        <p:sp>
          <p:nvSpPr>
            <p:cNvPr id="28" name="Rectangle 28"/>
            <p:cNvSpPr/>
            <p:nvPr/>
          </p:nvSpPr>
          <p:spPr>
            <a:xfrm>
              <a:off x="533400" y="4470082"/>
              <a:ext cx="5193982" cy="1207770"/>
            </a:xfrm>
            <a:prstGeom prst="roundRect">
              <a:avLst>
                <a:gd name="adj" fmla="val 946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973955"/>
              <a:ext cx="200026" cy="200025"/>
              <a:chOff x="738188" y="497395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973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018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129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4842986"/>
              <a:ext cx="41622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和电视机例子的类图形状完全一样。认出角色对应关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系，比重画一遍类图更有用。</a:t>
              </a:r>
            </a:p>
          </p:txBody>
        </p:sp>
      </p:grpSp>
      <p:grpSp>
        <p:nvGrpSpPr>
          <p:cNvPr id="38" name="c2-code-1"/>
          <p:cNvGrpSpPr/>
          <p:nvPr/>
        </p:nvGrpSpPr>
        <p:grpSpPr>
          <a:xfrm>
            <a:off x="6032182" y="1954530"/>
            <a:ext cx="5626418" cy="3723322"/>
            <a:chOff x="6032182" y="1954530"/>
            <a:chExt cx="5626418" cy="3723322"/>
          </a:xfrm>
        </p:grpSpPr>
        <p:sp>
          <p:nvSpPr>
            <p:cNvPr id="35" name="Rectangle 35"/>
            <p:cNvSpPr/>
            <p:nvPr/>
          </p:nvSpPr>
          <p:spPr>
            <a:xfrm>
              <a:off x="6032182" y="1954530"/>
              <a:ext cx="5626418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60580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0198" y="2367915"/>
              <a:ext cx="3824478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writeLog(String msg);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FileLog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writeLog(String msg)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追加写入 app.log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abstract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 createLog();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FileLogFactory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Log createLog()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FileLog();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客户端片段：改配置文件即可换记录方式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LogFactory lf = (LogFactory) XMLUtil.getBean();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lf.createLog().writeLog(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"启动完成"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9" name="Rectangle 3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11704"/>
              <a:ext cx="7106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“动态选择”指的是不重新编译就能换，靠的是配置文件加反射，不是运行中途切换。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77925" cy="909257"/>
            <a:chOff x="520446" y="342900"/>
            <a:chExt cx="81779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779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实例三：大富翁的菜单，把 MenuMgr 里的 new 拆掉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176486" cy="278702"/>
            <a:chOff x="526161" y="1547336"/>
            <a:chExt cx="817648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176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陈伟老师课件里，MenuMgr 的构造过程直接 new 出每一种菜单，增加新菜单就要改 MenuMgr。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41195"/>
            <a:ext cx="5410200" cy="2397442"/>
            <a:chOff x="533400" y="1941195"/>
            <a:chExt cx="5410200" cy="239744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931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改造前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07276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26136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450908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416" y="2354580"/>
              <a:ext cx="3604451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MenuMgr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List&lt;Menu&gt; menus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initialize()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menus.add(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MainMenu());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硬编码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menus.add(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NewMenu());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menus.add(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LoadMenu());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setActivedMenu(MenuType.MAIN_MENU);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1-bullets-2"/>
          <p:cNvGrpSpPr/>
          <p:nvPr/>
        </p:nvGrpSpPr>
        <p:grpSpPr>
          <a:xfrm>
            <a:off x="533400" y="4536758"/>
            <a:ext cx="3658893" cy="886015"/>
            <a:chOff x="533400" y="4536758"/>
            <a:chExt cx="3658893" cy="886015"/>
          </a:xfrm>
        </p:grpSpPr>
        <p:sp>
          <p:nvSpPr>
            <p:cNvPr id="16" name="Freeform 16"/>
            <p:cNvSpPr/>
            <p:nvPr/>
          </p:nvSpPr>
          <p:spPr>
            <a:xfrm>
              <a:off x="533400" y="4569142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762" y="4536758"/>
              <a:ext cx="26713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MenuMgr 认识每一种具体菜单类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3400" y="488061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762" y="484727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加一个菜单就要改它的初始化代码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33400" y="519112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762" y="5158740"/>
              <a:ext cx="34295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Map、Player、Block 的构造有同样的毛病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5544502"/>
            <a:ext cx="5410200" cy="729615"/>
            <a:chOff x="533400" y="5544502"/>
            <a:chExt cx="5410200" cy="729615"/>
          </a:xfrm>
        </p:grpSpPr>
        <p:sp>
          <p:nvSpPr>
            <p:cNvPr id="23" name="Rectangle 23"/>
            <p:cNvSpPr/>
            <p:nvPr/>
          </p:nvSpPr>
          <p:spPr>
            <a:xfrm>
              <a:off x="533400" y="554450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809298"/>
              <a:ext cx="200026" cy="200026"/>
              <a:chOff x="738188" y="5809298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8092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8759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9093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691188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MenuMgr 本身是菜单管理器，它该管的是菜单的增删和切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换，不该管菜单怎么造出来。</a:t>
              </a:r>
            </a:p>
          </p:txBody>
        </p:sp>
      </p:grpSp>
      <p:grpSp>
        <p:nvGrpSpPr>
          <p:cNvPr id="33" name="c2-code-1"/>
          <p:cNvGrpSpPr/>
          <p:nvPr/>
        </p:nvGrpSpPr>
        <p:grpSpPr>
          <a:xfrm>
            <a:off x="6248400" y="1941195"/>
            <a:ext cx="5410200" cy="2776538"/>
            <a:chOff x="6248400" y="1941195"/>
            <a:chExt cx="5410200" cy="2776538"/>
          </a:xfrm>
        </p:grpSpPr>
        <p:sp>
          <p:nvSpPr>
            <p:cNvPr id="30" name="Rectangle 30"/>
            <p:cNvSpPr/>
            <p:nvPr/>
          </p:nvSpPr>
          <p:spPr>
            <a:xfrm>
              <a:off x="6248400" y="1941195"/>
              <a:ext cx="5410200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6797" y="209311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改造后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76416" y="2354580"/>
              <a:ext cx="3917823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IMenuFactory {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抽象工厂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Menu createMenu(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menuType);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MenuMgr 里新增的方法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createAllMenus(IMenuFactory fac)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MenuType.MAIN_MENU;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t &lt; MenuType.TOTAL_COUNT; t++)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menus.add(fac.createMenu(t));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工厂方法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setActivedMenu(MenuType.MAIN_MENU);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6248400" y="4892992"/>
            <a:ext cx="5410200" cy="1381125"/>
            <a:chOff x="6248400" y="4892992"/>
            <a:chExt cx="5410200" cy="1381125"/>
          </a:xfrm>
        </p:grpSpPr>
        <p:sp>
          <p:nvSpPr>
            <p:cNvPr id="34" name="Rectangle 34"/>
            <p:cNvSpPr/>
            <p:nvPr/>
          </p:nvSpPr>
          <p:spPr>
            <a:xfrm>
              <a:off x="6248400" y="4892992"/>
              <a:ext cx="5410200" cy="1381125"/>
            </a:xfrm>
            <a:prstGeom prst="roundRect">
              <a:avLst>
                <a:gd name="adj" fmla="val 8276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453188" y="5483545"/>
              <a:ext cx="200023" cy="200023"/>
              <a:chOff x="6453188" y="5483545"/>
              <a:chExt cx="200023" cy="20002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54835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86538" y="55502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755892" y="5365433"/>
              <a:ext cx="44199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MenuMgr 从此只认识 IMenuFactory 和 Menu 两个抽象类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具体工厂从哪来：课件给的四种接线方式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6536" cy="308039"/>
            <a:chOff x="525399" y="1550194"/>
            <a:chExt cx="7466536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65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抽象出工厂只解决了一半，另一半是“谁负责把具体工厂交到 MenuMgr 手上”。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67865"/>
            <a:ext cx="6708458" cy="2924175"/>
            <a:chOff x="533400" y="1967865"/>
            <a:chExt cx="6708458" cy="292417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708458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7517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68219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42841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课件标注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53777" y="2102644"/>
              <a:ext cx="1366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MenuMgr 依赖谁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6086" y="2551271"/>
              <a:ext cx="242697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具体工厂作参数传给 MenuMgr 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造函数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63580" y="266461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不推荐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39956" y="2664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8705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91815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275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46086" y="3227546"/>
              <a:ext cx="253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具体工厂作参数传给 initialize()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63580" y="32275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不推荐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39956" y="32275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53568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7895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46086" y="3676174"/>
              <a:ext cx="1906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initialize() 里直接取单例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MenuFactory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63580" y="378952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标注为简单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41658" y="3549968"/>
              <a:ext cx="1590675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39956" y="378952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1100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4215765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223" y="44648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方式四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46086" y="4351496"/>
              <a:ext cx="236194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 createAllMenus(fac)，客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户端调用时传工厂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63580" y="4351496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课件给了完整代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641658" y="4225290"/>
              <a:ext cx="159067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39956" y="44648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67865"/>
              <a:ext cx="6708458" cy="2924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33500" y="196786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4150995" y="196786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27370" y="1967865"/>
              <a:ext cx="9525" cy="2924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5082540"/>
            <a:ext cx="6708458" cy="782955"/>
            <a:chOff x="533400" y="5082540"/>
            <a:chExt cx="6708458" cy="782955"/>
          </a:xfrm>
        </p:grpSpPr>
        <p:sp>
          <p:nvSpPr>
            <p:cNvPr id="42" name="Rectangle 42"/>
            <p:cNvSpPr/>
            <p:nvPr/>
          </p:nvSpPr>
          <p:spPr>
            <a:xfrm>
              <a:off x="533400" y="5082540"/>
              <a:ext cx="670845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374005"/>
              <a:ext cx="200026" cy="200025"/>
              <a:chOff x="738188" y="5374005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3740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54184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55295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231130"/>
              <a:ext cx="5701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方式三最省事，但 MenuMgr 又写死了一个具体工厂的名字，等于把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耦合从菜单挪到了工厂。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7546658" y="1967865"/>
            <a:ext cx="4111942" cy="3897630"/>
            <a:chOff x="7546658" y="1967865"/>
            <a:chExt cx="4111942" cy="3897630"/>
          </a:xfrm>
        </p:grpSpPr>
        <p:sp>
          <p:nvSpPr>
            <p:cNvPr id="49" name="Rectangle 49"/>
            <p:cNvSpPr/>
            <p:nvPr/>
          </p:nvSpPr>
          <p:spPr>
            <a:xfrm>
              <a:off x="7546658" y="1967865"/>
              <a:ext cx="4111942" cy="3897630"/>
            </a:xfrm>
            <a:prstGeom prst="roundRect">
              <a:avLst>
                <a:gd name="adj" fmla="val 342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56182" y="2101215"/>
              <a:ext cx="47625" cy="36309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79430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88546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提醒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86688" y="2554605"/>
              <a:ext cx="33440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课件的 createMenu 里仍有 if-else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86688" y="2908935"/>
              <a:ext cx="3377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MenuFactory::createMenu(int</a:t>
              </a:r>
              <a:br/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menuType)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内部按 menuType 分支返回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MainMenu、NewMenu、LoadMenu。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86688" y="3815715"/>
              <a:ext cx="3501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新增菜单仍要改这个具体工厂，它属于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参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数化工厂方法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，不是严格意义上的开闭。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87830" y="4432459"/>
              <a:ext cx="2201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取舍与彻底的做法见第 30 页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课件中的四个实例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实例四：迷宫游戏，一个工厂里放好几个工厂方法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10894448" cy="293370"/>
            <a:chOff x="525780" y="1548765"/>
            <a:chExt cx="10894448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0894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GoF 原书的迷宫例子。MazeFactory 把 makeMaze、makeRoom、makeWall、makeDoor 四个工厂方法放在同一个类里。</a:t>
              </a:r>
            </a:p>
          </p:txBody>
        </p:sp>
      </p:grpSp>
      <p:grpSp>
        <p:nvGrpSpPr>
          <p:cNvPr id="14" name="c1-code-1"/>
          <p:cNvGrpSpPr/>
          <p:nvPr/>
        </p:nvGrpSpPr>
        <p:grpSpPr>
          <a:xfrm>
            <a:off x="533400" y="1954530"/>
            <a:ext cx="5951220" cy="3533775"/>
            <a:chOff x="533400" y="1954530"/>
            <a:chExt cx="5951220" cy="353377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3533775"/>
            </a:xfrm>
            <a:prstGeom prst="roundRect">
              <a:avLst>
                <a:gd name="adj" fmla="val 26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411028"/>
              <a:ext cx="591312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600575"/>
              <a:ext cx="591312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416" y="2367915"/>
              <a:ext cx="4044506" cy="30485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 makeMaze()     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Wall makeWall()     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Wall();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 makeRoom(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Room(n);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Door makeDoor(Room r1, Room r2)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Door(r1, r2);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子类只覆盖自己关心的那几个工厂方法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BombedMazeFactory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extends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MazeFactory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Wall makeWall()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BombedWall();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 makeRoom(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RoomWithABomb(n);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bullets-1"/>
          <p:cNvGrpSpPr/>
          <p:nvPr/>
        </p:nvGrpSpPr>
        <p:grpSpPr>
          <a:xfrm>
            <a:off x="6782181" y="1977866"/>
            <a:ext cx="4582617" cy="1268350"/>
            <a:chOff x="6782181" y="1977866"/>
            <a:chExt cx="4582617" cy="1268350"/>
          </a:xfrm>
        </p:grpSpPr>
        <p:sp>
          <p:nvSpPr>
            <p:cNvPr id="15" name="TextBox 15"/>
            <p:cNvSpPr txBox="1"/>
            <p:nvPr/>
          </p:nvSpPr>
          <p:spPr>
            <a:xfrm>
              <a:off x="6782181" y="19778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三点值得注意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6797040" y="2373630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53631" y="2314099"/>
              <a:ext cx="43517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createMaze(f) 一行不改，换个工厂就换整座迷宫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797040" y="2700338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53631" y="2640806"/>
              <a:ext cx="3760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EnchantedMazeFactory 让门必须念咒才开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6797040" y="3027045"/>
              <a:ext cx="60960" cy="609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53631" y="2967514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父类的工厂方法有默认实现，子类可以只覆盖一部分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789420" y="3369945"/>
            <a:ext cx="4869180" cy="2118360"/>
            <a:chOff x="6789420" y="3369945"/>
            <a:chExt cx="4869180" cy="2118360"/>
          </a:xfrm>
        </p:grpSpPr>
        <p:sp>
          <p:nvSpPr>
            <p:cNvPr id="23" name="Rectangle 23"/>
            <p:cNvSpPr/>
            <p:nvPr/>
          </p:nvSpPr>
          <p:spPr>
            <a:xfrm>
              <a:off x="6789420" y="3369945"/>
              <a:ext cx="4869180" cy="2118360"/>
            </a:xfrm>
            <a:prstGeom prst="roundRect">
              <a:avLst>
                <a:gd name="adj" fmla="val 6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98945" y="3503295"/>
              <a:ext cx="47625" cy="18516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25640" y="356806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17080" y="360235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08951" y="3602831"/>
              <a:ext cx="20761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课件第 30 页的两处笔误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8401" y="3946684"/>
              <a:ext cx="425246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Room * r1 = MakeRoom(2);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重复声明了 r1，第二个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应为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r2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18401" y="4536281"/>
              <a:ext cx="39404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 Wall * MakeRoom(int n) { return new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Room(n); }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返回类型写成了 Wall，应为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Room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1" name="Rectangle 3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11704"/>
              <a:ext cx="66477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一个工厂造一整族配套的产品，已经很接近抽象工厂了，界线在第 12 讲说清。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913632" cy="2997517"/>
            <a:chOff x="667512" y="1835468"/>
            <a:chExt cx="391363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效果、适用与扩展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什么时候值得付出多一倍类的代价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三种适用情况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参数化工厂方法与模式的退化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优点与缺点：收益是只加不改，代价是类成对增加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ompare-1"/>
          <p:cNvGrpSpPr/>
          <p:nvPr/>
        </p:nvGrpSpPr>
        <p:grpSpPr>
          <a:xfrm>
            <a:off x="533400" y="1524000"/>
            <a:ext cx="11125200" cy="2560320"/>
            <a:chOff x="533400" y="1524000"/>
            <a:chExt cx="11125200" cy="2560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314950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向客户隐藏了哪个具体产品被实例化，客户甚至不必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知道产品类名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工厂自主决定造什么，怎么造完全封装在具体工厂内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75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470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加新产品无须改抽象层、客户端和其他具体工厂，符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合开闭原则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43650" y="1524000"/>
              <a:ext cx="5314950" cy="2560320"/>
            </a:xfrm>
            <a:prstGeom prst="roundRect">
              <a:avLst>
                <a:gd name="adj" fmla="val 5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53175" y="1657350"/>
              <a:ext cx="47625" cy="229362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83680" y="17583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6597015" y="217551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55130" y="211264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每加一个产品要配一个工厂，类的个数成对增长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7015" y="25107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5130" y="24479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更多的类要编译和加载，带来额外开销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597015" y="28460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55130" y="2783205"/>
              <a:ext cx="4757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引入抽象层加上 DOM、反射，提高了理解和实现难度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895975" y="2604135"/>
              <a:ext cx="400050" cy="4000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49315" y="273843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权衡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33400" y="4274820"/>
            <a:ext cx="11125200" cy="1795462"/>
            <a:chOff x="533400" y="4274820"/>
            <a:chExt cx="11125200" cy="1795462"/>
          </a:xfrm>
        </p:grpSpPr>
        <p:sp>
          <p:nvSpPr>
            <p:cNvPr id="28" name="Rectangle 28"/>
            <p:cNvSpPr/>
            <p:nvPr/>
          </p:nvSpPr>
          <p:spPr>
            <a:xfrm>
              <a:off x="533400" y="4274820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690014" y="44105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82060" y="44105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新增一种产品要建的类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80491" y="44105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要修改的已有代码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06418" y="44105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开闭原则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1223" y="4859179"/>
              <a:ext cx="12635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客户端直接 new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311080" y="4859179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个产品类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03823" y="4859179"/>
              <a:ext cx="14690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每一处 new 都要改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665970" y="4732972"/>
              <a:ext cx="198310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64268" y="48591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违反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1673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51720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1223" y="53078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11080" y="5307806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个产品类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03823" y="53078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工厂类里的分支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65970" y="5181600"/>
              <a:ext cx="198310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64268" y="53078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违反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6168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1223" y="57564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11080" y="5756434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个产品类 + 1 个工厂类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203823" y="57564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配置文件里的一个类名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665970" y="5631180"/>
              <a:ext cx="198310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764268" y="57564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27482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3198495" y="42748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91238" y="42748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51682" y="427482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三种情况下值得用，另有两种情况用了亏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25780" y="1548765"/>
            <a:ext cx="5715127" cy="2337721"/>
            <a:chOff x="525780" y="1548765"/>
            <a:chExt cx="5715127" cy="2337721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课件给的适用环境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533400" y="1889760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95249" y="193205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4390" y="190309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一个类不知道它所需要对象的类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42010" y="2269808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26033" y="219694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客户端只需知道对应的工厂，具体产品由具体工厂创建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92692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534984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506028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一个类通过其子类来指定创建哪个对象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42010" y="2872740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6033" y="279987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抽象工厂只给接口，子类确定要造的对象，靠多态和里氏代换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309562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5249" y="31379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4390" y="310896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把创建任务委托给多个工厂子类中的某一个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42010" y="3475672"/>
              <a:ext cx="73342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6033" y="3402806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客户端不必关心是哪个子类，需要时再动态指定，类名可放配置文件或数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据库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027170"/>
            <a:ext cx="6059805" cy="1956435"/>
            <a:chOff x="533400" y="4027170"/>
            <a:chExt cx="6059805" cy="1956435"/>
          </a:xfrm>
        </p:grpSpPr>
        <p:sp>
          <p:nvSpPr>
            <p:cNvPr id="24" name="Rectangle 24"/>
            <p:cNvSpPr/>
            <p:nvPr/>
          </p:nvSpPr>
          <p:spPr>
            <a:xfrm>
              <a:off x="533400" y="4027170"/>
              <a:ext cx="605980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16052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2367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1258" y="42724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反面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82078" y="427196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两种情况用了反而亏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463296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产品只有一种且短期不会增加：多写的抽象工厂和具体工厂全是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空转。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430" y="5253990"/>
              <a:ext cx="5187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创建过程就是一句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，没有参数校验、没有初始化、没有注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册：包一层只是多一次跳转。</a:t>
              </a:r>
            </a:p>
          </p:txBody>
        </p:sp>
      </p:grpSp>
      <p:grpSp>
        <p:nvGrpSpPr>
          <p:cNvPr id="34" name="c2-image-1"/>
          <p:cNvGrpSpPr/>
          <p:nvPr/>
        </p:nvGrpSpPr>
        <p:grpSpPr>
          <a:xfrm>
            <a:off x="6898005" y="1524000"/>
            <a:ext cx="4760595" cy="3077052"/>
            <a:chOff x="6898005" y="1524000"/>
            <a:chExt cx="4760595" cy="3077052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rcRect l="0" t="11318" r="0" b="11318"/>
            <a:stretch>
              <a:fillRect/>
            </a:stretch>
          </p:blipFill>
          <p:spPr>
            <a:xfrm>
              <a:off x="6898005" y="1524000"/>
              <a:ext cx="4760595" cy="2762250"/>
            </a:xfrm>
            <a:prstGeom prst="roundRect">
              <a:avLst>
                <a:gd name="adj" fmla="val 4827"/>
              </a:avLst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915618" y="438102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接第五节轨道时，前四节一节都不用拆开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898005" y="4766310"/>
            <a:ext cx="4760595" cy="1217295"/>
            <a:chOff x="6898005" y="4766310"/>
            <a:chExt cx="4760595" cy="1217295"/>
          </a:xfrm>
        </p:grpSpPr>
        <p:sp>
          <p:nvSpPr>
            <p:cNvPr id="35" name="Rectangle 35"/>
            <p:cNvSpPr/>
            <p:nvPr/>
          </p:nvSpPr>
          <p:spPr>
            <a:xfrm>
              <a:off x="6898005" y="4766310"/>
              <a:ext cx="4760595" cy="1217295"/>
            </a:xfrm>
            <a:prstGeom prst="roundRect">
              <a:avLst>
                <a:gd name="adj" fmla="val 939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102793" y="5274947"/>
              <a:ext cx="200023" cy="200023"/>
              <a:chOff x="7102793" y="5274947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102793" y="52749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36143" y="53416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404735" y="5132070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一句自检：如果新增产品时还要打开旧文件，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那就不是工厂方法在起作用。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框架里的工厂方法：哪一句才算数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507660" cy="264033"/>
            <a:chOff x="526542" y="1545907"/>
            <a:chExt cx="55076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5076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课件举了 JMS 和 JDBC。把它们和真正的角色对上，比背结论管用。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28812"/>
            <a:ext cx="5842635" cy="3495675"/>
            <a:chOff x="533400" y="1928812"/>
            <a:chExt cx="5842635" cy="349567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495675"/>
            </a:xfrm>
            <a:prstGeom prst="roundRect">
              <a:avLst>
                <a:gd name="adj" fmla="val 27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183255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062412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4765358"/>
              <a:ext cx="580453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340769"/>
              <a:ext cx="3980180" cy="30100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JDBC：静态工厂，不是工厂方法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Connection conn =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DriverManager.getConnection(url, user, pwd);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/* 这一句才是工厂方法：由驱动的 Connection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实现类决定造哪种 Statement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Statement st = conn.createStatement();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ResultSet rs = st.executeQuery(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"select * from UserInfo"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集合框架里的经典工厂方法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List&lt;String&gt; list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ArrayList&lt;&gt;();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Iterator&lt;String&gt; it = list.iterator();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JMS：连接工厂造连接，连接造会话，会话造发送者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QueueConnection qConn = qConnFact.createQueueConnection();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QueueSession qSess = qConn.createQueueSession(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false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Session.AUTO_ACKNOWLEDGE);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QueueSender qSend = qSess.createSender(q);</a:t>
              </a:r>
            </a:p>
          </p:txBody>
        </p:sp>
      </p:grpSp>
      <p:grpSp>
        <p:nvGrpSpPr>
          <p:cNvPr id="35" name="c2-table-1"/>
          <p:cNvGrpSpPr/>
          <p:nvPr/>
        </p:nvGrpSpPr>
        <p:grpSpPr>
          <a:xfrm>
            <a:off x="6680835" y="1928812"/>
            <a:ext cx="4977765" cy="2466975"/>
            <a:chOff x="6680835" y="1928812"/>
            <a:chExt cx="4977765" cy="2466975"/>
          </a:xfrm>
        </p:grpSpPr>
        <p:sp>
          <p:nvSpPr>
            <p:cNvPr id="16" name="Rectangle 16"/>
            <p:cNvSpPr/>
            <p:nvPr/>
          </p:nvSpPr>
          <p:spPr>
            <a:xfrm>
              <a:off x="6680835" y="1928812"/>
              <a:ext cx="4977765" cy="38100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5758" y="2045970"/>
              <a:ext cx="559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框架 API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55911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扮演的角色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75514" y="2426970"/>
              <a:ext cx="134783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Connection /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createStatement()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5324" y="2520315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 / 工厂方法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680835" y="28736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80835" y="287845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75514" y="2995612"/>
              <a:ext cx="1670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Collection / iterator()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65324" y="299561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 / 工厂方法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680835" y="32546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514" y="3376612"/>
              <a:ext cx="154386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QueueConnection /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createQueueSession()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65324" y="346995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 / 工厂方法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80835" y="38223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80835" y="3827145"/>
              <a:ext cx="497776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5514" y="3945255"/>
              <a:ext cx="197091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DriverManager.getConnectio</a:t>
              </a:r>
              <a:br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80170" y="3836670"/>
              <a:ext cx="2668905" cy="54864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65324" y="40386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静态工厂方法，属简单工厂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1928812"/>
              <a:ext cx="4977765" cy="24669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965882" y="1928812"/>
              <a:ext cx="9525" cy="24669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2-card-2"/>
          <p:cNvGrpSpPr/>
          <p:nvPr/>
        </p:nvGrpSpPr>
        <p:grpSpPr>
          <a:xfrm>
            <a:off x="6680835" y="4560570"/>
            <a:ext cx="4977765" cy="1687830"/>
            <a:chOff x="6680835" y="4560570"/>
            <a:chExt cx="4977765" cy="1687830"/>
          </a:xfrm>
        </p:grpSpPr>
        <p:sp>
          <p:nvSpPr>
            <p:cNvPr id="36" name="Rectangle 36"/>
            <p:cNvSpPr/>
            <p:nvPr/>
          </p:nvSpPr>
          <p:spPr>
            <a:xfrm>
              <a:off x="6680835" y="4560570"/>
              <a:ext cx="4977765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690360" y="469392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899910" y="474154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92582" y="477440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6838" y="4781074"/>
              <a:ext cx="2788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课件把 JDBC 的入口当成了工厂方法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93433" y="5097304"/>
              <a:ext cx="42313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DriverManager.getConnection()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是静态方法，不能被覆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盖，按参数选驱动，属于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简单工厂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93433" y="5625941"/>
              <a:ext cx="4304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JDBC 里体现工厂方法的是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conn.createStatement()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这一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扩展一：一个工厂里可以声明多个工厂方法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64933" cy="264033"/>
            <a:chOff x="526542" y="1545907"/>
            <a:chExt cx="746493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陈伟老师课件先写了两个独立工厂，再把它们合并成一个，这一步正好走到抽象工厂的门口。</a:t>
              </a:r>
            </a:p>
          </p:txBody>
        </p:sp>
      </p:grpSp>
      <p:grpSp>
        <p:nvGrpSpPr>
          <p:cNvPr id="15" name="c1-code-1"/>
          <p:cNvGrpSpPr/>
          <p:nvPr/>
        </p:nvGrpSpPr>
        <p:grpSpPr>
          <a:xfrm>
            <a:off x="533400" y="1928812"/>
            <a:ext cx="6059805" cy="3670935"/>
            <a:chOff x="533400" y="1928812"/>
            <a:chExt cx="6059805" cy="367093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3670935"/>
            </a:xfrm>
            <a:prstGeom prst="roundRect">
              <a:avLst>
                <a:gd name="adj" fmla="val 259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765358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94157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5116830"/>
              <a:ext cx="6021705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2340769"/>
              <a:ext cx="4185539" cy="31863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写法 A：两个工厂，各有一个工厂方法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AniFactory   { IAnimal createAni(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t); }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PlaceFactory { IPlace  createPlace(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k);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AniFactory   aniFac  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MyAniFactory();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PlaceFactory placeFac 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PlaceFactory01();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useXxxx()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IAnimal ani   = aniFac.createAni(1);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IPlace  place = placeFac.createPlace(2);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写法 B：合并成一个工厂，声明两个工厂方法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interface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ProductFactory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IPlace  createPlace(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IAnimal createAni(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table-1"/>
          <p:cNvGrpSpPr/>
          <p:nvPr/>
        </p:nvGrpSpPr>
        <p:grpSpPr>
          <a:xfrm>
            <a:off x="6898005" y="1928812"/>
            <a:ext cx="4760595" cy="1600200"/>
            <a:chOff x="6898005" y="1928812"/>
            <a:chExt cx="4760595" cy="1600200"/>
          </a:xfrm>
        </p:grpSpPr>
        <p:sp>
          <p:nvSpPr>
            <p:cNvPr id="16" name="Rectangle 16"/>
            <p:cNvSpPr/>
            <p:nvPr/>
          </p:nvSpPr>
          <p:spPr>
            <a:xfrm>
              <a:off x="6898005" y="1928812"/>
              <a:ext cx="4760595" cy="4000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59561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50722" y="205025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 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37587" y="2050256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95160" y="24503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工厂对象个数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82025" y="245030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68890" y="245030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898005" y="27241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898005" y="2728912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5160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能否混搭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82025" y="28503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能，任意组合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68890" y="28503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不能，整套换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98005" y="312420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5160" y="32504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配套约束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82025" y="325040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不保证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081260" y="3138488"/>
              <a:ext cx="156781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168890" y="32504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由工厂保证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898005" y="1928812"/>
              <a:ext cx="476059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480108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066972" y="1928812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1" name="c2-bullets-2"/>
          <p:cNvGrpSpPr/>
          <p:nvPr/>
        </p:nvGrpSpPr>
        <p:grpSpPr>
          <a:xfrm>
            <a:off x="6906578" y="3721418"/>
            <a:ext cx="4481703" cy="1086992"/>
            <a:chOff x="6906578" y="3721418"/>
            <a:chExt cx="4481703" cy="1086992"/>
          </a:xfrm>
        </p:grpSpPr>
        <p:sp>
          <p:nvSpPr>
            <p:cNvPr id="37" name="Ellipse 37"/>
            <p:cNvSpPr/>
            <p:nvPr/>
          </p:nvSpPr>
          <p:spPr>
            <a:xfrm>
              <a:off x="6906578" y="377761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62597" y="3721418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写法 B 让动物和场地必然来自同一套实现，迷宫例子用的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就是它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906578" y="434340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062597" y="4287202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一个工厂负责创建一族相关产品，这正是抽象工厂的定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义，见第 12 讲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2" name="Rectangle 4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8373"/>
              <a:ext cx="99357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更正：课件把析构写成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virtual ~AniFactory() = 0;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却没有给出函数体，C++ 里链接会失败；应写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= default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或另行定义。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效果、适用与扩展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扩展二：参数化工厂方法，以及模式的退化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5626418" cy="2088832"/>
            <a:chOff x="533400" y="1524000"/>
            <a:chExt cx="5626418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189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954655"/>
              <a:ext cx="5588318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1935956"/>
              <a:ext cx="3494786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参数化工厂方法：一个工厂按参数造多种产品 */</a:t>
              </a:r>
              <a:br/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Factory1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implements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Factory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createAnimal(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type)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(type ==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'D'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Dog();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(type ==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'C'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Cat();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(type == </a:t>
              </a:r>
              <a:r>
                <a:rPr lang="en-US" sz="98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'F'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Fish();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新增 Rabbit 要改这里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5" name="c1-code-2"/>
          <p:cNvGrpSpPr/>
          <p:nvPr/>
        </p:nvGrpSpPr>
        <p:grpSpPr>
          <a:xfrm>
            <a:off x="533400" y="3782378"/>
            <a:ext cx="5626418" cy="1912620"/>
            <a:chOff x="533400" y="3782378"/>
            <a:chExt cx="5626418" cy="1912620"/>
          </a:xfrm>
        </p:grpSpPr>
        <p:sp>
          <p:nvSpPr>
            <p:cNvPr id="12" name="Rectangle 12"/>
            <p:cNvSpPr/>
            <p:nvPr/>
          </p:nvSpPr>
          <p:spPr>
            <a:xfrm>
              <a:off x="533400" y="3782378"/>
              <a:ext cx="5626418" cy="1912620"/>
            </a:xfrm>
            <a:prstGeom prst="roundRect">
              <a:avLst>
                <a:gd name="adj" fmla="val 49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97" y="393430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产品对象的重复使用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797" y="4195286"/>
              <a:ext cx="3370326" cy="14241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IAnimal createAnimal(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type)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IAnimal a = pool.get(type);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先查集合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(a ==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a = makeNew(type);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没有才新建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pool.put(type, a);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464618" y="1524000"/>
            <a:ext cx="5193982" cy="2317432"/>
            <a:chOff x="6464618" y="1524000"/>
            <a:chExt cx="5193982" cy="2317432"/>
          </a:xfrm>
        </p:grpSpPr>
        <p:sp>
          <p:nvSpPr>
            <p:cNvPr id="16" name="Rectangle 16"/>
            <p:cNvSpPr/>
            <p:nvPr/>
          </p:nvSpPr>
          <p:spPr>
            <a:xfrm>
              <a:off x="6464618" y="1524000"/>
              <a:ext cx="5193982" cy="2317432"/>
            </a:xfrm>
            <a:prstGeom prst="roundRect">
              <a:avLst>
                <a:gd name="adj" fmla="val 57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74142" y="1657350"/>
              <a:ext cx="47625" cy="20507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89408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9677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课件列的三种扩展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02714" y="174593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用多个工厂方法、复用产品、当心退化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82549" y="2071688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多个工厂方法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：抽象工厂里定义多个工厂方法，各自包含不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同的业务逻辑。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82549" y="262890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产品对象的重复使用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：工厂把造过的产品存进集合，先查后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造，查不到再新建并入集合。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82549" y="318611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多态性的丧失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：工厂只返回一个具体产品，就违背了工厂方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法的用意。</a:t>
              </a:r>
            </a:p>
          </p:txBody>
        </p:sp>
      </p:grpSp>
      <p:grpSp>
        <p:nvGrpSpPr>
          <p:cNvPr id="32" name="c2-bullets-2"/>
          <p:cNvGrpSpPr/>
          <p:nvPr/>
        </p:nvGrpSpPr>
        <p:grpSpPr>
          <a:xfrm>
            <a:off x="6457760" y="4033838"/>
            <a:ext cx="4879086" cy="1454657"/>
            <a:chOff x="6457760" y="4033838"/>
            <a:chExt cx="4879086" cy="1454657"/>
          </a:xfrm>
        </p:grpSpPr>
        <p:sp>
          <p:nvSpPr>
            <p:cNvPr id="25" name="TextBox 25"/>
            <p:cNvSpPr txBox="1"/>
            <p:nvPr/>
          </p:nvSpPr>
          <p:spPr>
            <a:xfrm>
              <a:off x="6457760" y="403383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三种退化信号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464618" y="438340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93980" y="43500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工厂等级里只剩一个具体工厂，抽象工厂可以省掉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464618" y="4692015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93980" y="4658678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一个具体工厂包办全部产品，且工厂方法设计成静态方法，就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退回简单工厂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464618" y="5257800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0" y="0"/>
                  </a:moveTo>
                  <a:lnTo>
                    <a:pt x="102870" y="102870"/>
                  </a:lnTo>
                  <a:moveTo>
                    <a:pt x="102870" y="0"/>
                  </a:moveTo>
                  <a:lnTo>
                    <a:pt x="0" y="102870"/>
                  </a:lnTo>
                </a:path>
              </a:pathLst>
            </a:custGeom>
            <a:noFill/>
            <a:ln w="24765" cap="rnd">
              <a:solidFill>
                <a:srgbClr val="B4231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93980" y="522446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工厂方法的返回类型写成了具体产品类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3" name="Rectangle 3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26129" y="6018966"/>
              <a:ext cx="224134" cy="192560"/>
              <a:chOff x="726129" y="6018966"/>
              <a:chExt cx="224134" cy="19256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8200" y="608933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26129" y="601896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16712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参数化工厂方法把分支又搬回了工厂内部。写法本身没错，但别再宣称它满足开闭原则。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模式辨析与回顾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三种工厂放在一张表里对照着记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简单工厂与工厂方法与抽象工厂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四个常见易错点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105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道自测题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模式辨析与回顾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简单工厂、工厂方法、抽象工厂的分界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三者的差别集中在两个问题上：选择发生在哪里，一个工厂负责几种产品。</a:t>
              </a:r>
            </a:p>
          </p:txBody>
        </p:sp>
      </p:grpSp>
      <p:grpSp>
        <p:nvGrpSpPr>
          <p:cNvPr id="53" name="c1-table-1"/>
          <p:cNvGrpSpPr/>
          <p:nvPr/>
        </p:nvGrpSpPr>
        <p:grpSpPr>
          <a:xfrm>
            <a:off x="533400" y="1967865"/>
            <a:ext cx="11125200" cy="3141345"/>
            <a:chOff x="533400" y="1967865"/>
            <a:chExt cx="11125200" cy="3141345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78572" y="21026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77699" y="2102644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简单工厂（第 10 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24231" y="21026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工厂方法（本讲）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3184" y="2102644"/>
              <a:ext cx="169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抽象工厂（第 12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5512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工厂类个数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89148" y="2551271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80938" y="255127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抽象工厂加每种产品一个子类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73680" y="255127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抽象工厂加每个产品族一个子类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选择发生在哪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9148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工厂类内部的分支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80938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客户端挑具体工厂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73680" y="300085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客户端挑具体工厂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30898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44947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一个工厂造几种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089148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全部产品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80938" y="34494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一种产品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73680" y="3449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一族相关产品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7576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76237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389810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工厂方法能否静态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89148" y="38981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常写成静态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80938" y="38981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不能，要被覆盖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73680" y="389810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不能，要被覆盖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2071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1223" y="43467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新增一种产品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90850" y="4221480"/>
              <a:ext cx="287369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89148" y="43467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改工厂类的分支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82640" y="4221480"/>
              <a:ext cx="28736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80938" y="43467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加一对类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775382" y="4221480"/>
              <a:ext cx="2873692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73680" y="43467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改抽象工厂及其全部子类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65582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660582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1223" y="4795361"/>
              <a:ext cx="13311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是否属于 GoF 23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89148" y="47953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80938" y="479536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是，唯一的类创建型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73680" y="479536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是，对象创建型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967865"/>
              <a:ext cx="11125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97656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68352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76109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7486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抽象工厂对新增产品族友好、对新增产品种类不友好，这一点和工厂方法正好互补。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 · 模式辨析与回顾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和其他模式的界线，以及四个常见错法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kv-1"/>
          <p:cNvGrpSpPr/>
          <p:nvPr/>
        </p:nvGrpSpPr>
        <p:grpSpPr>
          <a:xfrm>
            <a:off x="525780" y="1548765"/>
            <a:ext cx="5634038" cy="3745230"/>
            <a:chOff x="525780" y="1548765"/>
            <a:chExt cx="5634038" cy="374523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99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模板方法（第 39 讲）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13698" y="1548765"/>
              <a:ext cx="3063240" cy="11391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createAndUse() 是模板，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createAnimal() 是其中被子类填的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一步，工厂方法常以模板方法里的钩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子出现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71462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2834640"/>
              <a:ext cx="199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原型模式（第 14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13698" y="2834640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避开具体类名靠 clone() 复制样板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1546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3274695"/>
              <a:ext cx="21930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建造者模式（第 13 讲）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13698" y="327469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管的是分步骤装配一个复杂对象，工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厂方法只管造哪一个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8766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5780" y="3996690"/>
              <a:ext cx="199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单例模式（第 15 讲）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13698" y="3996690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具体工厂通常没有状态，做成单例可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以省掉反复创建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45986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718685"/>
              <a:ext cx="19911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抽象工厂（第 12 讲）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13698" y="4718685"/>
              <a:ext cx="3063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一个工厂里放一组工厂方法，负责一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整族配套产品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5425440"/>
            <a:ext cx="5626418" cy="782955"/>
            <a:chOff x="533400" y="5425440"/>
            <a:chExt cx="5626418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5425440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716905"/>
              <a:ext cx="200026" cy="200025"/>
              <a:chOff x="738188" y="571690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7169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7613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8724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574030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界线只看一件事：这个工厂负责造一种产品，还是造一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族配套产品。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912745"/>
            <a:chOff x="6464618" y="1524000"/>
            <a:chExt cx="5193982" cy="291274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13295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四个一写就错的地方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12267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74117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13258" y="2129790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工厂方法写成 </a:t>
              </a:r>
              <a:r>
                <a:rPr lang="en-US" sz="150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。静态方法不能被覆盖，多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态没了，模式也就没了。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2267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74117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13258" y="2750820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返回类型写成具体产品，客户端又依赖上具体类。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712267" y="307276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74117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13258" y="3086100"/>
              <a:ext cx="4196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具体工厂里继续写 if-else 选产品，实际退回了简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单工厂。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712267" y="369379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4117" y="37360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13258" y="370713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只写了一个具体工厂就说用了工厂方法，此时模式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已经退化。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464618" y="4627245"/>
            <a:ext cx="5193982" cy="1581150"/>
            <a:chOff x="6464618" y="4627245"/>
            <a:chExt cx="5193982" cy="1581150"/>
          </a:xfrm>
        </p:grpSpPr>
        <p:sp>
          <p:nvSpPr>
            <p:cNvPr id="47" name="Rectangle 47"/>
            <p:cNvSpPr/>
            <p:nvPr/>
          </p:nvSpPr>
          <p:spPr>
            <a:xfrm>
              <a:off x="6464618" y="4627245"/>
              <a:ext cx="5193982" cy="1581150"/>
            </a:xfrm>
            <a:prstGeom prst="roundRect">
              <a:avLst>
                <a:gd name="adj" fmla="val 72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669405" y="5317808"/>
              <a:ext cx="200026" cy="200025"/>
              <a:chOff x="6669405" y="5317808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69405" y="53178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09144" y="53622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43859" y="54733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971348" y="517493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考试判断题的落点几乎都在这四处，写代码时按顺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序自查一遍。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工厂方法按目的和范围各属哪类？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创建型 + 类模式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709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工厂方法可以声明成 static 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不能，静态方法无法被覆盖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谁决定实例化哪个具体产品？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客户端挑中的那个具体工厂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工厂方法的返回类型该写什么？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抽象产品，不写具体产品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新增一种产品要加几个类？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一对，具体产品加具体工厂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工厂方法的三个别名是什么？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工厂模式、虚拟构造器、多态工厂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答不上来的题，回到对应的正文页再读一遍那一页的类图或代码。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工厂方法比简单工厂改进在哪？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选择分支从工厂类移到工厂子类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怎么把这一行也去掉？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类名写进配置文件，用反射创建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只有一个具体工厂时模式如何？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抽象工厂可省，模式已退化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客户端还剩哪一处认得具体类？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new 具体工厂的那一行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84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具体工厂里写 if-else 会怎样？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退回简单工厂，加产品仍要改它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5168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JDBC 里哪一句才是工厂方法？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6192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conn.createStatement()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7110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第 12 题提醒：入口的 </a:t>
              </a:r>
              <a:r>
                <a:rPr lang="en-US" sz="1350" dirty="0">
                  <a:solidFill>
                    <a:srgbClr val="EEEAF7"/>
                  </a:solidFill>
                  <a:latin typeface="+mn-lt"/>
                  <a:ea typeface="+mn-ea"/>
                  <a:cs typeface="+mn-cs"/>
                </a:rPr>
                <a:t>DriverManager.getConnection()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是静态工厂，不是工厂方法。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04489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7287" y="407194"/>
              <a:ext cx="836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11 工厂方法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8361236" cy="1509903"/>
            <a:chOff x="533400" y="1534478"/>
            <a:chExt cx="8361236" cy="150990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工厂父类定义创建产品的公共接口，工厂子类决定实例化哪一个具体产品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8080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四个角色：Product、ConcreteProduct、Factory、ConcreteFactory，工厂树与产品树层次对应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和简单工厂的差别只有一处，选择分支从工厂类搬到了工厂子类，于是满足开闭原则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客户端配合配置文件加反射，可以做到源码里不出现任何具体类名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689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07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8034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代价是类成对增加；具体工厂里再写分支，或者只剩一个具体工厂，模式就退化了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161348"/>
            <a:ext cx="11125200" cy="1845945"/>
            <a:chOff x="533400" y="3161348"/>
            <a:chExt cx="11125200" cy="1845945"/>
          </a:xfrm>
        </p:grpSpPr>
        <p:sp>
          <p:nvSpPr>
            <p:cNvPr id="23" name="Rectangle 23"/>
            <p:cNvSpPr/>
            <p:nvPr/>
          </p:nvSpPr>
          <p:spPr>
            <a:xfrm>
              <a:off x="533400" y="3161348"/>
              <a:ext cx="11125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94698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348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759" y="3380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73340" y="33832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3696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37359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3709035"/>
              <a:ext cx="7502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反射示例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Class.forName("String")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要写全限定名；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newInstance()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自 Java 9 起已废弃。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190" y="39976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868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987" y="4009072"/>
              <a:ext cx="5893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把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DriverManager.getConnection()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当工厂方法，它其实是静态工厂。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8190" y="42976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868" y="43360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987" y="4310062"/>
              <a:ext cx="69862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迷宫例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Room * r1 = MakeRoom(2);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重复声明 r1；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MakeRoom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返回类型误写成 Wall。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45977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4636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4610100"/>
              <a:ext cx="7690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createAnimal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声明成无函数体的虚函数、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~AniFactory() = 0;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无定义，C++ 里都通不过链接。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177790"/>
            <a:ext cx="11125200" cy="481012"/>
            <a:chOff x="533400" y="5177790"/>
            <a:chExt cx="11125200" cy="481012"/>
          </a:xfrm>
        </p:grpSpPr>
        <p:sp>
          <p:nvSpPr>
            <p:cNvPr id="41" name="Rectangle 41"/>
            <p:cNvSpPr/>
            <p:nvPr/>
          </p:nvSpPr>
          <p:spPr>
            <a:xfrm>
              <a:off x="533400" y="5177790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317808"/>
              <a:ext cx="200026" cy="200025"/>
              <a:chOff x="738188" y="5317808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3178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3622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4733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5323523"/>
              <a:ext cx="61382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下一步：一个工厂负责一整族配套产品时，就该看第 12 讲的抽象工厂模式。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8" name="Rectangle 4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5120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遇到“创建逻辑会随产品种类不断增加”的场景，先想工厂方法。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744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工厂方法模式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11">
  <a:themeElements>
    <a:clrScheme name="sdp_1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1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1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2026-09-19T08:00:55Z</dcterms:created>
  <dcterms:modified xsi:type="dcterms:W3CDTF">2026-09-19T08:00:55Z</dcterms:modified>
  <cp:category/>
  <cp:contentStatus/>
</cp:coreProperties>
</file>