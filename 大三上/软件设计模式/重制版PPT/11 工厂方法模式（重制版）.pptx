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dp_11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dp_11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70b053764a91d76a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aa0d10611a18b0e5.png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d74de25fac10b61c.png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3687166" cy="3437763"/>
            <a:chOff x="666750" y="1619250"/>
            <a:chExt cx="3687166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898332" cy="3429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4866" y="1718310"/>
              <a:ext cx="16611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软件设计模式 · 第六讲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3430524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工厂方法模式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367726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把“造哪一个”交给工厂子类去决定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简单工厂改不掉的那处分支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四个角色与标准类图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5649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 实现与配置化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优缺点与模式辨析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5403209" cy="205359"/>
            <a:chOff x="680466" y="6192202"/>
            <a:chExt cx="5403209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54032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自学复习版｜据吉林大学《软件设计模式》张欣佳、陈伟老师课件合并整理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4489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7287" y="407194"/>
              <a:ext cx="8361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3127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客户端直接 new，就被钉死在具体产品类上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定义与结构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四个角色、标准类图、模式的本质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0523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实现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4850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支付方式从头写到配置化，去掉最后一处 new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课件实例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电视机工厂、日志记录器、大富翁菜单、迷宫游戏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效果与扩展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优缺点、适用场景、框架里的真实用法、退化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辨析与自测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23219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三种工厂的界线，12 道自测题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画出工厂方法的标准类图，四个角色齐全且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继承与依赖的箭头方向正确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596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Java 写出抽象产品、具体产品、抽象工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厂、具体工厂，并让客户端只依赖抽象层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说清工厂方法相对简单工厂改进在哪一处：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选择分支从工厂类搬到了工厂子类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拿到一段代码，判断它属于简单工厂、工厂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方法还是已经退化，并给出判断依据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列出新增一种产品时各方案要改动的文件，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解释工厂方法为什么满足开闭原则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882896" cy="2997517"/>
            <a:chOff x="667512" y="1835468"/>
            <a:chExt cx="488289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从简单工厂到工厂方法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44856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先看清客户端直接 new 到底痛在哪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使用者与具体产品硬编码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把实例化单独抽成一个方法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简单工厂改不掉的那处分支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66485" cy="909257"/>
            <a:chOff x="520446" y="342900"/>
            <a:chExt cx="76664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从简单工厂到工厂方法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664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动机：客户端里写一个 new，就认死了一个具体类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433943" cy="264033"/>
            <a:chOff x="526542" y="1545907"/>
            <a:chExt cx="743394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4339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陈伟老师课件用一个卖宠物的 Client 开场。它只做两件事：造出动物，再调用它的 Sale()。</a:t>
              </a:r>
            </a:p>
          </p:txBody>
        </p:sp>
      </p:grpSp>
      <p:grpSp>
        <p:nvGrpSpPr>
          <p:cNvPr id="14" name="c1-code-1"/>
          <p:cNvGrpSpPr/>
          <p:nvPr/>
        </p:nvGrpSpPr>
        <p:grpSpPr>
          <a:xfrm>
            <a:off x="533400" y="1928812"/>
            <a:ext cx="6167438" cy="3670935"/>
            <a:chOff x="533400" y="1928812"/>
            <a:chExt cx="6167438" cy="367093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167438" cy="3670935"/>
            </a:xfrm>
            <a:prstGeom prst="roundRect">
              <a:avLst>
                <a:gd name="adj" fmla="val 25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最初的写法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3183255"/>
              <a:ext cx="6129338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4590098"/>
              <a:ext cx="6129338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797" y="2340769"/>
              <a:ext cx="3893058" cy="31863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Client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otherFuncs() {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其他业务 */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createAndUse()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sum = 0;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Dog dog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Dog();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写死了具体类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sum += dog.sale();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System.out.println(sum);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把声明换成接口，也只改掉了一半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createAndUse2()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sum = 0;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IAnimal ani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Dog();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new 后面仍是具体类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sum += ani.sale();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System.out.println(sum);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2" name="c2-card-1"/>
          <p:cNvGrpSpPr/>
          <p:nvPr/>
        </p:nvGrpSpPr>
        <p:grpSpPr>
          <a:xfrm>
            <a:off x="7005638" y="1928812"/>
            <a:ext cx="4652962" cy="1463992"/>
            <a:chOff x="7005638" y="1928812"/>
            <a:chExt cx="4652962" cy="1463992"/>
          </a:xfrm>
        </p:grpSpPr>
        <p:sp>
          <p:nvSpPr>
            <p:cNvPr id="15" name="Rectangle 15"/>
            <p:cNvSpPr/>
            <p:nvPr/>
          </p:nvSpPr>
          <p:spPr>
            <a:xfrm>
              <a:off x="7005638" y="1928812"/>
              <a:ext cx="4652962" cy="1463992"/>
            </a:xfrm>
            <a:prstGeom prst="roundRect">
              <a:avLst>
                <a:gd name="adj" fmla="val 91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015162" y="2062162"/>
              <a:ext cx="47625" cy="119729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230428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323099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96974" y="2150745"/>
              <a:ext cx="19351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耦合发生在 new 的右边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223570" y="2476500"/>
              <a:ext cx="398278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把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Dog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换成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IAnimal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只改善了调用侧：变量类型是抽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象的，但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 Dog()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仍然让 Client 依赖具体类。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224712" y="3030379"/>
              <a:ext cx="26838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编译期 Client 就必须能看见 Dog 这个类</a:t>
              </a:r>
            </a:p>
          </p:txBody>
        </p:sp>
      </p:grpSp>
      <p:grpSp>
        <p:nvGrpSpPr>
          <p:cNvPr id="28" name="c2-bullets-2"/>
          <p:cNvGrpSpPr/>
          <p:nvPr/>
        </p:nvGrpSpPr>
        <p:grpSpPr>
          <a:xfrm>
            <a:off x="6998780" y="3584258"/>
            <a:ext cx="4149480" cy="889825"/>
            <a:chOff x="6998780" y="3584258"/>
            <a:chExt cx="4149480" cy="889825"/>
          </a:xfrm>
        </p:grpSpPr>
        <p:sp>
          <p:nvSpPr>
            <p:cNvPr id="23" name="TextBox 23"/>
            <p:cNvSpPr txBox="1"/>
            <p:nvPr/>
          </p:nvSpPr>
          <p:spPr>
            <a:xfrm>
              <a:off x="6998780" y="358425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两个方向的变化都扛不住</a:t>
              </a:r>
            </a:p>
          </p:txBody>
        </p:sp>
        <p:sp>
          <p:nvSpPr>
            <p:cNvPr id="24" name="Freeform 24"/>
            <p:cNvSpPr/>
            <p:nvPr/>
          </p:nvSpPr>
          <p:spPr>
            <a:xfrm>
              <a:off x="7005638" y="3933825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234999" y="3901440"/>
              <a:ext cx="39132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增加新产品 Rabbit：要回来改 createAndUse()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7005638" y="4242435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234999" y="4210050"/>
              <a:ext cx="33782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增加子类 BlackDog：同样要回来改这一行</a:t>
              </a:r>
            </a:p>
          </p:txBody>
        </p:sp>
      </p:grpSp>
      <p:grpSp>
        <p:nvGrpSpPr>
          <p:cNvPr id="34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29" name="Rectangle 29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892" y="6028373"/>
              <a:ext cx="60110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判断标准：一个类里只要出现具体产品的类名，它就跟着那个产品一起变。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从简单工厂到工厂方法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分清稳定和变化，才知道该把哪一段抽出去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556248" cy="264033"/>
            <a:chOff x="526542" y="1545907"/>
            <a:chExt cx="655624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5562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重构之前先做一次划分：哪些代码以后基本不动，哪些一定会随需求长出新分支。</a:t>
              </a:r>
            </a:p>
          </p:txBody>
        </p:sp>
      </p:grpSp>
      <p:grpSp>
        <p:nvGrpSpPr>
          <p:cNvPr id="29" name="c1-compare-1"/>
          <p:cNvGrpSpPr/>
          <p:nvPr/>
        </p:nvGrpSpPr>
        <p:grpSpPr>
          <a:xfrm>
            <a:off x="533400" y="1928812"/>
            <a:ext cx="5193030" cy="1696402"/>
            <a:chOff x="533400" y="1928812"/>
            <a:chExt cx="5193030" cy="169640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2367915" cy="1696402"/>
            </a:xfrm>
            <a:prstGeom prst="roundRect">
              <a:avLst>
                <a:gd name="adj" fmla="val 78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42970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45998" y="213026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稳定的部分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62000" y="2484120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17448" y="2432209"/>
              <a:ext cx="14137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Client 的其他功能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62000" y="2768918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17448" y="271700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总要实例化出若干产品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62000" y="3054668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17448" y="3001804"/>
              <a:ext cx="163042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产品的访问接口（Sale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358515" y="1928812"/>
              <a:ext cx="2367915" cy="1696402"/>
            </a:xfrm>
            <a:prstGeom prst="roundRect">
              <a:avLst>
                <a:gd name="adj" fmla="val 78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368040" y="2062162"/>
              <a:ext cx="47625" cy="142970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571113" y="213026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变化的部分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3587115" y="2484120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42563" y="243220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产品子类的种类会增加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3587115" y="2768918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42563" y="2717006"/>
              <a:ext cx="16385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创建方式不同（参数、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过程）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3587115" y="3297555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742563" y="324469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一次用几种产品也会变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2948940" y="2595562"/>
              <a:ext cx="361950" cy="3619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003994" y="2720340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划分</a:t>
              </a:r>
            </a:p>
          </p:txBody>
        </p:sp>
      </p:grpSp>
      <p:grpSp>
        <p:nvGrpSpPr>
          <p:cNvPr id="47" name="c1-table-2"/>
          <p:cNvGrpSpPr/>
          <p:nvPr/>
        </p:nvGrpSpPr>
        <p:grpSpPr>
          <a:xfrm>
            <a:off x="533400" y="3789998"/>
            <a:ext cx="5193982" cy="1143952"/>
            <a:chOff x="533400" y="3789998"/>
            <a:chExt cx="5193982" cy="1143952"/>
          </a:xfrm>
        </p:grpSpPr>
        <p:sp>
          <p:nvSpPr>
            <p:cNvPr id="30" name="Rectangle 30"/>
            <p:cNvSpPr/>
            <p:nvPr/>
          </p:nvSpPr>
          <p:spPr>
            <a:xfrm>
              <a:off x="533400" y="3789998"/>
              <a:ext cx="5193982" cy="38100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24509" y="390715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需求变化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686622" y="390715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抽出之前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503992" y="390715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抽出之后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28078" y="4288155"/>
              <a:ext cx="7952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 Rabbit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186368" y="4288155"/>
              <a:ext cx="12934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 createAndUse()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867150" y="4180522"/>
              <a:ext cx="1850708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952304" y="4288155"/>
              <a:ext cx="1170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 RabbitClient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454723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33400" y="4551998"/>
              <a:ext cx="519398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28078" y="4670108"/>
              <a:ext cx="12580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Dog 换成 BlackDog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186368" y="4670108"/>
              <a:ext cx="9223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 new 那一行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3867150" y="4561522"/>
              <a:ext cx="1850708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3952304" y="4670108"/>
              <a:ext cx="13305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 BlackDogClient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3789998"/>
              <a:ext cx="5193982" cy="11439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2086928" y="3789998"/>
              <a:ext cx="9525" cy="1143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3852862" y="3789998"/>
              <a:ext cx="9525" cy="1143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4" name="c1-callout-3"/>
          <p:cNvGrpSpPr/>
          <p:nvPr/>
        </p:nvGrpSpPr>
        <p:grpSpPr>
          <a:xfrm>
            <a:off x="533400" y="5098732"/>
            <a:ext cx="5193982" cy="595312"/>
            <a:chOff x="533400" y="5098732"/>
            <a:chExt cx="5193982" cy="595312"/>
          </a:xfrm>
        </p:grpSpPr>
        <p:sp>
          <p:nvSpPr>
            <p:cNvPr id="48" name="Rectangle 48"/>
            <p:cNvSpPr/>
            <p:nvPr/>
          </p:nvSpPr>
          <p:spPr>
            <a:xfrm>
              <a:off x="533400" y="5098732"/>
              <a:ext cx="5193982" cy="595312"/>
            </a:xfrm>
            <a:prstGeom prst="roundRect">
              <a:avLst>
                <a:gd name="adj" fmla="val 1920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738188" y="5295900"/>
              <a:ext cx="200026" cy="200025"/>
              <a:chOff x="738188" y="5295900"/>
              <a:chExt cx="200026" cy="20002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529590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77926" y="534035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12642" y="545147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1041273" y="5306854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稳定的留在原地，变化的抽成一个可以被覆盖的方法。</a:t>
              </a:r>
            </a:p>
          </p:txBody>
        </p:sp>
      </p:grpSp>
      <p:grpSp>
        <p:nvGrpSpPr>
          <p:cNvPr id="61" name="c2-card-1"/>
          <p:cNvGrpSpPr/>
          <p:nvPr/>
        </p:nvGrpSpPr>
        <p:grpSpPr>
          <a:xfrm>
            <a:off x="6032182" y="1928812"/>
            <a:ext cx="5626418" cy="1160145"/>
            <a:chOff x="6032182" y="1928812"/>
            <a:chExt cx="5626418" cy="1160145"/>
          </a:xfrm>
        </p:grpSpPr>
        <p:sp>
          <p:nvSpPr>
            <p:cNvPr id="55" name="Rectangle 55"/>
            <p:cNvSpPr/>
            <p:nvPr/>
          </p:nvSpPr>
          <p:spPr>
            <a:xfrm>
              <a:off x="6032182" y="1928812"/>
              <a:ext cx="5626418" cy="1160145"/>
            </a:xfrm>
            <a:prstGeom prst="roundRect">
              <a:avLst>
                <a:gd name="adj" fmla="val 114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6041708" y="2062162"/>
              <a:ext cx="47625" cy="89344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251258" y="2109788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339878" y="214264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第一步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942011" y="214931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把实例化抽成一个抽象方法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244780" y="2465546"/>
              <a:ext cx="503605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 Dog()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换成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createAnimal()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，方法声明为抽象，留给子类实现。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它就叫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工厂方法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65" name="c2-code-2"/>
          <p:cNvGrpSpPr/>
          <p:nvPr/>
        </p:nvGrpSpPr>
        <p:grpSpPr>
          <a:xfrm>
            <a:off x="6032182" y="3253740"/>
            <a:ext cx="5626418" cy="2440305"/>
            <a:chOff x="6032182" y="3253740"/>
            <a:chExt cx="5626418" cy="2440305"/>
          </a:xfrm>
        </p:grpSpPr>
        <p:sp>
          <p:nvSpPr>
            <p:cNvPr id="62" name="Rectangle 62"/>
            <p:cNvSpPr/>
            <p:nvPr/>
          </p:nvSpPr>
          <p:spPr>
            <a:xfrm>
              <a:off x="6032182" y="3253740"/>
              <a:ext cx="5626418" cy="2440305"/>
            </a:xfrm>
            <a:prstGeom prst="roundRect">
              <a:avLst>
                <a:gd name="adj" fmla="val 390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160580" y="340566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160580" y="3666649"/>
              <a:ext cx="3980180" cy="195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Client {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GoF 称 Creator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createAndUse()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IAnimal ani = createAnimal();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不再 new Dog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System.out.println(ani.sale());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工厂方法：自己不实现，留给子类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IAnimal createAnimal();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DogClient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Client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IAnimal createAnimal()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Dog();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72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66" name="Rectangle 66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38188" y="6028373"/>
              <a:ext cx="200026" cy="200026"/>
              <a:chOff x="738188" y="6028373"/>
              <a:chExt cx="200026" cy="200026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38188" y="6028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838200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27088" y="6128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041273" y="6039326"/>
              <a:ext cx="79640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更正：陈伟课件第 6 页的 createAnimal 是普通虚函数且无函数体，C++ 链接会报错，应写成纯虚函数。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从简单工厂到工厂方法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第二步：把工厂方法从使用者身上搬到独立的工厂类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649577" cy="308039"/>
            <a:chOff x="525399" y="1550194"/>
            <a:chExt cx="10649577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64957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工厂方法留在 Client 里，意味着每换一种产品就要派生一个 Client 子类。把它搬出去，Client 就不用再派生了。</a:t>
              </a:r>
            </a:p>
          </p:txBody>
        </p:sp>
      </p:grpSp>
      <p:grpSp>
        <p:nvGrpSpPr>
          <p:cNvPr id="13" name="c1-code-1"/>
          <p:cNvGrpSpPr/>
          <p:nvPr/>
        </p:nvGrpSpPr>
        <p:grpSpPr>
          <a:xfrm>
            <a:off x="533400" y="1967865"/>
            <a:ext cx="5951220" cy="4153852"/>
            <a:chOff x="533400" y="1967865"/>
            <a:chExt cx="5951220" cy="4153852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951220" cy="4153852"/>
            </a:xfrm>
            <a:prstGeom prst="roundRect">
              <a:avLst>
                <a:gd name="adj" fmla="val 229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4773930"/>
              <a:ext cx="5913120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035" y="2381726"/>
              <a:ext cx="4292854" cy="36690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Factory {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抽象工厂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IAnimal createAnimal();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DogFactory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Factory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IAnimal createAnimal()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Dog();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只认识一种产品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Client {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不必再是抽象类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createAndUse(Factory fac)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sum = 0;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IAnimal ani = fac.createAnimal();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sum += ani.sale();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"Total Sale:"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sum);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1" name="c2-table-1"/>
          <p:cNvGrpSpPr/>
          <p:nvPr/>
        </p:nvGrpSpPr>
        <p:grpSpPr>
          <a:xfrm>
            <a:off x="6783705" y="1967865"/>
            <a:ext cx="4874895" cy="2295048"/>
            <a:chOff x="6783705" y="1967865"/>
            <a:chExt cx="4874895" cy="2295048"/>
          </a:xfrm>
        </p:grpSpPr>
        <p:sp>
          <p:nvSpPr>
            <p:cNvPr id="14" name="Rectangle 14"/>
            <p:cNvSpPr/>
            <p:nvPr/>
          </p:nvSpPr>
          <p:spPr>
            <a:xfrm>
              <a:off x="6789420" y="1967865"/>
              <a:ext cx="4869180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21356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写法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263915" y="210264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工厂方法放在哪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54043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换产品时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897243" y="2551271"/>
              <a:ext cx="670103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派生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Creator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104061" y="2551271"/>
              <a:ext cx="1313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使用者自己的抽象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859518" y="2551271"/>
              <a:ext cx="14759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派生一个新的使用者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789420" y="308705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789420" y="3091815"/>
              <a:ext cx="486918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798945" y="3101340"/>
              <a:ext cx="1187768" cy="656272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897243" y="334089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独立工厂类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104061" y="3227546"/>
              <a:ext cx="138658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单独的 Factory 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口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859518" y="334089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传入另一个工厂对象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789420" y="1967865"/>
              <a:ext cx="4869180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991475" y="196786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9746932" y="196786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83705" y="3842861"/>
              <a:ext cx="455599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两种写法都算工厂方法模式，GoF 原书讲的是前者，课程和工程里多用后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者</a:t>
              </a:r>
            </a:p>
          </p:txBody>
        </p:sp>
      </p:grpSp>
      <p:grpSp>
        <p:nvGrpSpPr>
          <p:cNvPr id="38" name="c2-bullets-2"/>
          <p:cNvGrpSpPr/>
          <p:nvPr/>
        </p:nvGrpSpPr>
        <p:grpSpPr>
          <a:xfrm>
            <a:off x="6789420" y="4433888"/>
            <a:ext cx="4219195" cy="982980"/>
            <a:chOff x="6789420" y="4433888"/>
            <a:chExt cx="4219195" cy="982980"/>
          </a:xfrm>
        </p:grpSpPr>
        <p:sp>
          <p:nvSpPr>
            <p:cNvPr id="32" name="Freeform 32"/>
            <p:cNvSpPr/>
            <p:nvPr/>
          </p:nvSpPr>
          <p:spPr>
            <a:xfrm>
              <a:off x="6789420" y="4465320"/>
              <a:ext cx="143828" cy="117158"/>
            </a:xfrm>
            <a:custGeom>
              <a:avLst/>
              <a:gdLst/>
              <a:ahLst/>
              <a:cxnLst/>
              <a:rect l="l" t="t" r="r" b="b"/>
              <a:pathLst>
                <a:path w="143828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039928" y="4433888"/>
              <a:ext cx="39686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Client 只认识 Factory 和 IAnimal 两个抽象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6789420" y="4810125"/>
              <a:ext cx="143828" cy="117157"/>
            </a:xfrm>
            <a:custGeom>
              <a:avLst/>
              <a:gdLst/>
              <a:ahLst/>
              <a:cxnLst/>
              <a:rect l="l" t="t" r="r" b="b"/>
              <a:pathLst>
                <a:path w="143828" h="117157">
                  <a:moveTo>
                    <a:pt x="0" y="61912"/>
                  </a:moveTo>
                  <a:lnTo>
                    <a:pt x="55245" y="117157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039928" y="4778692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工厂对象由调用方传进来，运行时才定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6789420" y="5154930"/>
              <a:ext cx="143828" cy="117157"/>
            </a:xfrm>
            <a:custGeom>
              <a:avLst/>
              <a:gdLst/>
              <a:ahLst/>
              <a:cxnLst/>
              <a:rect l="l" t="t" r="r" b="b"/>
              <a:pathLst>
                <a:path w="143828" h="117157">
                  <a:moveTo>
                    <a:pt x="0" y="61912"/>
                  </a:moveTo>
                  <a:lnTo>
                    <a:pt x="55245" y="117157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039928" y="5123498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本讲后面的类图与代码都按独立工厂类写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从简单工厂到工厂方法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简单工厂的天花板：新增一种按钮，还得回去改工厂类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9192959" cy="293370"/>
            <a:chOff x="525780" y="1548765"/>
            <a:chExt cx="9192959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91929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张欣佳老师课件用按钮工厂开场。简单工厂把散落的 new 收进了一个类，但那个类里的分支仍然要改。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1954530"/>
            <a:ext cx="4977765" cy="1574482"/>
            <a:chOff x="533400" y="1954530"/>
            <a:chExt cx="4977765" cy="157448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4977765" cy="1574482"/>
            </a:xfrm>
            <a:prstGeom prst="roundRect">
              <a:avLst>
                <a:gd name="adj" fmla="val 84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130778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75335" y="21583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5543" y="21940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回顾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76744" y="2197894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简单工厂做了什么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8096" y="2550319"/>
              <a:ext cx="43426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一个工厂类处在实例化的中心位置，它知道每一个产品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的创建细节，按参数决定造哪一个。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9239" y="3137535"/>
              <a:ext cx="35176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简单工厂本身在第 10 讲细讲，这里只取它的短板</a:t>
              </a:r>
            </a:p>
          </p:txBody>
        </p:sp>
      </p:grpSp>
      <p:grpSp>
        <p:nvGrpSpPr>
          <p:cNvPr id="21" name="c1-code-2"/>
          <p:cNvGrpSpPr/>
          <p:nvPr/>
        </p:nvGrpSpPr>
        <p:grpSpPr>
          <a:xfrm>
            <a:off x="533400" y="3714750"/>
            <a:ext cx="4977765" cy="1719262"/>
            <a:chOff x="533400" y="3714750"/>
            <a:chExt cx="4977765" cy="1719262"/>
          </a:xfrm>
        </p:grpSpPr>
        <p:sp>
          <p:nvSpPr>
            <p:cNvPr id="17" name="Rectangle 17"/>
            <p:cNvSpPr/>
            <p:nvPr/>
          </p:nvSpPr>
          <p:spPr>
            <a:xfrm>
              <a:off x="533400" y="3714750"/>
              <a:ext cx="4977765" cy="1719262"/>
            </a:xfrm>
            <a:prstGeom prst="roundRect">
              <a:avLst>
                <a:gd name="adj" fmla="val 55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61797" y="3866674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简单工厂里必须修改的那处分支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52450" y="4694872"/>
              <a:ext cx="4939665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61035" y="4128611"/>
              <a:ext cx="4470654" cy="1234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Button create(String type)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"rect"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.equals(type))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RectButton();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"circle"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.equals(type))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CircleButton();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新增椭圆按钮，只能回来加一行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52" name="c2-table-1"/>
          <p:cNvGrpSpPr/>
          <p:nvPr/>
        </p:nvGrpSpPr>
        <p:grpSpPr>
          <a:xfrm>
            <a:off x="5815965" y="1954530"/>
            <a:ext cx="5842635" cy="2581275"/>
            <a:chOff x="5815965" y="1954530"/>
            <a:chExt cx="5842635" cy="2581275"/>
          </a:xfrm>
        </p:grpSpPr>
        <p:sp>
          <p:nvSpPr>
            <p:cNvPr id="22" name="Rectangle 22"/>
            <p:cNvSpPr/>
            <p:nvPr/>
          </p:nvSpPr>
          <p:spPr>
            <a:xfrm>
              <a:off x="5815965" y="1954530"/>
              <a:ext cx="5842635" cy="43053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63081" y="208597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需求变化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261414" y="208597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简单工厂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306431" y="208597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工厂方法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921312" y="251555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新增椭圆形按钮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73912" y="251555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改工厂类的分支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718929" y="2515552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新增一对产品类与工厂类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815965" y="280987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815965" y="2814638"/>
              <a:ext cx="584263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921312" y="294608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工厂类职责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73912" y="2946082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一个类知道全部产品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718929" y="2946082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每个子类只知道一种产品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815965" y="324040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921312" y="3376612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是否违反开闭原则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578090" y="3254692"/>
              <a:ext cx="2025968" cy="41148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673912" y="337661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违反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9623108" y="3254692"/>
              <a:ext cx="2025968" cy="41148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718929" y="337661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满足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815965" y="366998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815965" y="3674745"/>
              <a:ext cx="584263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921312" y="380619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客户端怎么选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673912" y="380619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传一个字符串参数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718929" y="380619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选一个具体工厂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815965" y="410051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921312" y="423672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类的数量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673912" y="423672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718929" y="423672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每种产品多一个工厂类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815965" y="1954530"/>
              <a:ext cx="5842635" cy="25812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563802" y="1954530"/>
              <a:ext cx="9525" cy="2581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9608820" y="1954530"/>
              <a:ext cx="9525" cy="2581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8" name="c2-callout-2"/>
          <p:cNvGrpSpPr/>
          <p:nvPr/>
        </p:nvGrpSpPr>
        <p:grpSpPr>
          <a:xfrm>
            <a:off x="5815965" y="4720590"/>
            <a:ext cx="5842635" cy="756285"/>
            <a:chOff x="5815965" y="4720590"/>
            <a:chExt cx="5842635" cy="756285"/>
          </a:xfrm>
        </p:grpSpPr>
        <p:sp>
          <p:nvSpPr>
            <p:cNvPr id="53" name="Rectangle 53"/>
            <p:cNvSpPr/>
            <p:nvPr/>
          </p:nvSpPr>
          <p:spPr>
            <a:xfrm>
              <a:off x="5815965" y="4720590"/>
              <a:ext cx="5842635" cy="756285"/>
            </a:xfrm>
            <a:prstGeom prst="roundRect">
              <a:avLst>
                <a:gd name="adj" fmla="val 15113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020753" y="4998722"/>
              <a:ext cx="200023" cy="200023"/>
              <a:chOff x="6020753" y="4998722"/>
              <a:chExt cx="200023" cy="200023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020753" y="499872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154103" y="50653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323076" y="4867751"/>
              <a:ext cx="490169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改进只有一处：把“选哪个”的分支从工厂类里删掉，交给一个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个工厂子类去承担。</a:t>
              </a:r>
            </a:p>
          </p:txBody>
        </p:sp>
      </p:grpSp>
      <p:grpSp>
        <p:nvGrpSpPr>
          <p:cNvPr id="65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9" name="Rectangle 59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38188" y="6003608"/>
              <a:ext cx="200026" cy="200025"/>
              <a:chOff x="738188" y="6003608"/>
              <a:chExt cx="200026" cy="200025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38188" y="60036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77926" y="60480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12642" y="61591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40511" y="6004084"/>
              <a:ext cx="613828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简单工厂不在 GoF 的 23 个模式里，工厂方法是它的进一步抽象和推广。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882896" cy="2997517"/>
            <a:chOff x="667512" y="1835468"/>
            <a:chExt cx="488289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定义、结构与四个角色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记住类图和箭头方向，写代码时就不会接错线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模式定义与三个别名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标准类图与四个角色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本质是延迟到子类选择实现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定义、结构与四个角色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定义：工厂父类定接口，工厂子类定实例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6059805" cy="2252662"/>
            <a:chOff x="533400" y="1524000"/>
            <a:chExt cx="6059805" cy="22526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2252662"/>
            </a:xfrm>
            <a:prstGeom prst="roundRect">
              <a:avLst>
                <a:gd name="adj" fmla="val 592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85962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415383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工厂方法模式（Factory Method Pattern）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5349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定义一个用于创建对象的接口，让子类决定将哪一个类实例化。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工厂方法使一个类的实例化延迟到其子类。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750820"/>
              <a:ext cx="5215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工厂父类负责定义创建产品对象的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公共接口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，工厂子类负责生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成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具体的产品对象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4573" y="3368516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目的：把产品类的实例化操作推迟到工厂子类里完成</a:t>
              </a:r>
            </a:p>
          </p:txBody>
        </p:sp>
      </p:grpSp>
      <p:grpSp>
        <p:nvGrpSpPr>
          <p:cNvPr id="24" name="c1-kv-2"/>
          <p:cNvGrpSpPr/>
          <p:nvPr/>
        </p:nvGrpSpPr>
        <p:grpSpPr>
          <a:xfrm>
            <a:off x="525780" y="3991928"/>
            <a:ext cx="6067425" cy="1455420"/>
            <a:chOff x="525780" y="3991928"/>
            <a:chExt cx="6067425" cy="1455420"/>
          </a:xfrm>
        </p:grpSpPr>
        <p:sp>
          <p:nvSpPr>
            <p:cNvPr id="16" name="TextBox 16"/>
            <p:cNvSpPr txBox="1"/>
            <p:nvPr/>
          </p:nvSpPr>
          <p:spPr>
            <a:xfrm>
              <a:off x="525780" y="399192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工厂模式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765935" y="3991928"/>
              <a:ext cx="30572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Factory Pattern，最常用的简称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431196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5780" y="443198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虚拟构造器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65935" y="4431982"/>
              <a:ext cx="45300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Virtual Constructor，调用它像调构造器，真正造哪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个却不定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503396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25780" y="515397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多态工厂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765935" y="5153978"/>
              <a:ext cx="44500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Polymorphic Factory，具体工厂共一个抽象父类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898005" y="1524000"/>
            <a:ext cx="4760595" cy="2252662"/>
            <a:chOff x="6898005" y="1524000"/>
            <a:chExt cx="4760595" cy="2252662"/>
          </a:xfrm>
        </p:grpSpPr>
        <p:sp>
          <p:nvSpPr>
            <p:cNvPr id="25" name="Rectangle 25"/>
            <p:cNvSpPr/>
            <p:nvPr/>
          </p:nvSpPr>
          <p:spPr>
            <a:xfrm>
              <a:off x="6898005" y="1524000"/>
              <a:ext cx="4760595" cy="2252662"/>
            </a:xfrm>
            <a:prstGeom prst="roundRect">
              <a:avLst>
                <a:gd name="adj" fmla="val 592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107555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197763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归类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707630" y="1768792"/>
              <a:ext cx="24635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GoF 里唯一的类创建型模式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099935" y="2129790"/>
              <a:ext cx="4130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按目的属于 </a:t>
              </a:r>
              <a:r>
                <a:rPr lang="zh-CN" sz="1500" b="1" dirty="0">
                  <a:solidFill>
                    <a:srgbClr val="A8EFD9"/>
                  </a:solidFill>
                  <a:latin typeface="+mn-lt"/>
                  <a:ea typeface="+mn-ea"/>
                  <a:cs typeface="+mn-cs"/>
                </a:rPr>
                <a:t>创建型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，按范围属于 </a:t>
              </a:r>
              <a:r>
                <a:rPr lang="zh-CN" sz="1500" b="1" dirty="0">
                  <a:solidFill>
                    <a:srgbClr val="A8EFD9"/>
                  </a:solidFill>
                  <a:latin typeface="+mn-lt"/>
                  <a:ea typeface="+mn-ea"/>
                  <a:cs typeface="+mn-cs"/>
                </a:rPr>
                <a:t>类模式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：模式靠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继承在编译期确定关系。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099935" y="275082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其余四个创建型模式（抽象工厂、建造者、原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型、单例）都是对象模式。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101078" y="3368516"/>
              <a:ext cx="13397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分类表见第 03 讲</a:t>
              </a:r>
            </a:p>
          </p:txBody>
        </p:sp>
      </p:grpSp>
      <p:grpSp>
        <p:nvGrpSpPr>
          <p:cNvPr id="40" name="c2-bullets-2"/>
          <p:cNvGrpSpPr/>
          <p:nvPr/>
        </p:nvGrpSpPr>
        <p:grpSpPr>
          <a:xfrm>
            <a:off x="6890385" y="3991928"/>
            <a:ext cx="3235833" cy="1337310"/>
            <a:chOff x="6890385" y="3991928"/>
            <a:chExt cx="3235833" cy="1337310"/>
          </a:xfrm>
        </p:grpSpPr>
        <p:sp>
          <p:nvSpPr>
            <p:cNvPr id="33" name="TextBox 33"/>
            <p:cNvSpPr txBox="1"/>
            <p:nvPr/>
          </p:nvSpPr>
          <p:spPr>
            <a:xfrm>
              <a:off x="6890385" y="3991928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三句话记住它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903720" y="4409122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061835" y="4346258"/>
              <a:ext cx="30643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抽象工厂只声明“我能造一个产品”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903720" y="4753928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061835" y="4691062"/>
              <a:ext cx="28624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具体工厂回答“我造的是哪一个”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903720" y="5098733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061835" y="5035868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客户端只挑工厂，不碰产品的类名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定义、结构与四个角色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模式结构：两条平行的继承树，横向靠依赖连起来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322771" cy="278702"/>
            <a:chOff x="526161" y="1547336"/>
            <a:chExt cx="6322771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32277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左边是工厂的等级结构，右边是产品的等级结构，两棵树的层次逐级对应。</a:t>
              </a:r>
            </a:p>
          </p:txBody>
        </p:sp>
      </p:grpSp>
      <p:grpSp>
        <p:nvGrpSpPr>
          <p:cNvPr id="57" name="c1-uml-1"/>
          <p:cNvGrpSpPr/>
          <p:nvPr/>
        </p:nvGrpSpPr>
        <p:grpSpPr>
          <a:xfrm>
            <a:off x="1726882" y="2424112"/>
            <a:ext cx="8750618" cy="2467928"/>
            <a:chOff x="1726882" y="2424112"/>
            <a:chExt cx="8750618" cy="2467928"/>
          </a:xfrm>
        </p:grpSpPr>
        <p:sp>
          <p:nvSpPr>
            <p:cNvPr id="9" name="Freeform 9"/>
            <p:cNvSpPr/>
            <p:nvPr/>
          </p:nvSpPr>
          <p:spPr>
            <a:xfrm>
              <a:off x="3048952" y="2821305"/>
              <a:ext cx="2099310" cy="9525"/>
            </a:xfrm>
            <a:custGeom>
              <a:avLst/>
              <a:gdLst/>
              <a:ahLst/>
              <a:cxnLst/>
              <a:rect l="l" t="t" r="r" b="b"/>
              <a:pathLst>
                <a:path w="2099310" h="9525">
                  <a:moveTo>
                    <a:pt x="0" y="0"/>
                  </a:moveTo>
                  <a:lnTo>
                    <a:pt x="209931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0" name="Freeform 10"/>
            <p:cNvSpPr/>
            <p:nvPr/>
          </p:nvSpPr>
          <p:spPr>
            <a:xfrm>
              <a:off x="5043488" y="2764155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0" y="115253"/>
                  </a:moveTo>
                  <a:lnTo>
                    <a:pt x="104775" y="5715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7043738" y="2821305"/>
              <a:ext cx="2096453" cy="9525"/>
            </a:xfrm>
            <a:custGeom>
              <a:avLst/>
              <a:gdLst/>
              <a:ahLst/>
              <a:cxnLst/>
              <a:rect l="l" t="t" r="r" b="b"/>
              <a:pathLst>
                <a:path w="2096453" h="9525">
                  <a:moveTo>
                    <a:pt x="0" y="0"/>
                  </a:moveTo>
                  <a:lnTo>
                    <a:pt x="2096453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2" name="Freeform 12"/>
            <p:cNvSpPr/>
            <p:nvPr/>
          </p:nvSpPr>
          <p:spPr>
            <a:xfrm>
              <a:off x="9035415" y="2764155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0" y="115253"/>
                  </a:moveTo>
                  <a:lnTo>
                    <a:pt x="104775" y="5715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6096000" y="3345180"/>
              <a:ext cx="9525" cy="926783"/>
            </a:xfrm>
            <a:custGeom>
              <a:avLst/>
              <a:gdLst/>
              <a:ahLst/>
              <a:cxnLst/>
              <a:rect l="l" t="t" r="r" b="b"/>
              <a:pathLst>
                <a:path w="9525" h="926783">
                  <a:moveTo>
                    <a:pt x="0" y="926783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6022658" y="321945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9804082" y="3331845"/>
              <a:ext cx="9525" cy="940117"/>
            </a:xfrm>
            <a:custGeom>
              <a:avLst/>
              <a:gdLst/>
              <a:ahLst/>
              <a:cxnLst/>
              <a:rect l="l" t="t" r="r" b="b"/>
              <a:pathLst>
                <a:path w="9525" h="940117">
                  <a:moveTo>
                    <a:pt x="0" y="940117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6" name="Freeform 16"/>
            <p:cNvSpPr/>
            <p:nvPr/>
          </p:nvSpPr>
          <p:spPr>
            <a:xfrm>
              <a:off x="9730740" y="320611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7043738" y="4581525"/>
              <a:ext cx="2087880" cy="9525"/>
            </a:xfrm>
            <a:custGeom>
              <a:avLst/>
              <a:gdLst/>
              <a:ahLst/>
              <a:cxnLst/>
              <a:rect l="l" t="t" r="r" b="b"/>
              <a:pathLst>
                <a:path w="2087880" h="9525">
                  <a:moveTo>
                    <a:pt x="0" y="0"/>
                  </a:moveTo>
                  <a:lnTo>
                    <a:pt x="208788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8" name="Freeform 18"/>
            <p:cNvSpPr/>
            <p:nvPr/>
          </p:nvSpPr>
          <p:spPr>
            <a:xfrm>
              <a:off x="9026842" y="4524375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0" y="115253"/>
                  </a:moveTo>
                  <a:lnTo>
                    <a:pt x="104775" y="5715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1726882" y="2424112"/>
              <a:ext cx="1322070" cy="79533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733550" y="2430780"/>
              <a:ext cx="130778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1726882" y="2672715"/>
              <a:ext cx="13220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1726882" y="2943225"/>
              <a:ext cx="13220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148262" y="2424112"/>
              <a:ext cx="1894522" cy="79533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155882" y="2430780"/>
              <a:ext cx="1880235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148262" y="2672715"/>
              <a:ext cx="189452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148262" y="2767965"/>
              <a:ext cx="189452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9140190" y="2437448"/>
              <a:ext cx="1328738" cy="7686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9146858" y="2445068"/>
              <a:ext cx="1314450" cy="39433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9140190" y="2834640"/>
              <a:ext cx="132873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9140190" y="2929890"/>
              <a:ext cx="132873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148262" y="4271962"/>
              <a:ext cx="1894522" cy="62007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5155882" y="4278630"/>
              <a:ext cx="1880235" cy="24574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148262" y="4520565"/>
              <a:ext cx="189452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148262" y="4615815"/>
              <a:ext cx="189452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9131618" y="4271962"/>
              <a:ext cx="1345882" cy="62007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9138285" y="4278630"/>
              <a:ext cx="1331595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131618" y="4520565"/>
              <a:ext cx="134588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131618" y="4615815"/>
              <a:ext cx="134588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2172837" y="2484120"/>
              <a:ext cx="4301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Client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798130" y="2743676"/>
              <a:ext cx="12550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factory: Factory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798130" y="3014186"/>
              <a:ext cx="8542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use(): void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802650" y="2484120"/>
              <a:ext cx="5867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Factory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219510" y="2838926"/>
              <a:ext cx="1752346" cy="3669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factoryMethod(): Product</a:t>
              </a:r>
              <a:br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anOperation(): void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447962" y="2494598"/>
              <a:ext cx="7122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510733" y="2646045"/>
              <a:ext cx="5867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Product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211437" y="3000851"/>
              <a:ext cx="125662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operation(): void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473819" y="4331970"/>
              <a:ext cx="124436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ConcreteFactory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219510" y="4686776"/>
              <a:ext cx="18673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factoryMethod(): Product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181901" y="4331970"/>
              <a:ext cx="124436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ConcreteProduct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202864" y="4686776"/>
              <a:ext cx="125662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operation(): void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3926205" y="2615565"/>
              <a:ext cx="34385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3961727" y="263985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7920038" y="2615565"/>
              <a:ext cx="34385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954607" y="263985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返回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765732" y="4375785"/>
              <a:ext cx="64293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792484" y="4400074"/>
              <a:ext cx="5903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«create»</a:t>
              </a:r>
            </a:p>
          </p:txBody>
        </p:sp>
      </p:grpSp>
      <p:grpSp>
        <p:nvGrpSpPr>
          <p:cNvPr id="63" name="takeaway"/>
          <p:cNvGrpSpPr/>
          <p:nvPr/>
        </p:nvGrpSpPr>
        <p:grpSpPr>
          <a:xfrm>
            <a:off x="533400" y="5633085"/>
            <a:ext cx="11125200" cy="729615"/>
            <a:chOff x="533400" y="5633085"/>
            <a:chExt cx="11125200" cy="729615"/>
          </a:xfrm>
        </p:grpSpPr>
        <p:sp>
          <p:nvSpPr>
            <p:cNvPr id="58" name="Rectangle 58"/>
            <p:cNvSpPr/>
            <p:nvPr/>
          </p:nvSpPr>
          <p:spPr>
            <a:xfrm>
              <a:off x="533400" y="5633085"/>
              <a:ext cx="11125200" cy="729615"/>
            </a:xfrm>
            <a:prstGeom prst="roundRect">
              <a:avLst>
                <a:gd name="adj" fmla="val 15666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5897882"/>
              <a:ext cx="200023" cy="200023"/>
              <a:chOff x="738188" y="5897882"/>
              <a:chExt cx="200023" cy="200023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589788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71538" y="59645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892" y="5779770"/>
              <a:ext cx="988066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读图口诀：空心三角从子类指向父类；</a:t>
              </a:r>
              <a:r>
                <a:rPr lang="en-US" sz="1350" dirty="0">
                  <a:solidFill>
                    <a:srgbClr val="EEEAF7"/>
                  </a:solidFill>
                  <a:latin typeface="+mn-lt"/>
                  <a:ea typeface="+mn-ea"/>
                  <a:cs typeface="+mn-cs"/>
                </a:rPr>
                <a:t>«create»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虚线只出现在具体工厂和具体产品之间；</a:t>
              </a:r>
              <a:r>
                <a:rPr lang="en-US" sz="1350" dirty="0">
                  <a:solidFill>
                    <a:srgbClr val="EEEAF7"/>
                  </a:solidFill>
                  <a:latin typeface="+mn-lt"/>
                  <a:ea typeface="+mn-ea"/>
                  <a:cs typeface="+mn-cs"/>
                </a:rPr>
                <a:t>anOperation()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是 Factory 里调用工厂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方法的那个业务方法。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定义、结构与四个角色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四个角色各写什么，对照电视机的例子记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c1-table-1"/>
          <p:cNvGrpSpPr/>
          <p:nvPr/>
        </p:nvGrpSpPr>
        <p:grpSpPr>
          <a:xfrm>
            <a:off x="533400" y="1524000"/>
            <a:ext cx="6492240" cy="3150870"/>
            <a:chOff x="533400" y="1524000"/>
            <a:chExt cx="6492240" cy="31508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6329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角色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6549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职责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744464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电视机例子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221706"/>
              <a:ext cx="14591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Product 抽象产品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58593" y="2108359"/>
              <a:ext cx="26139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声明产品的公共接口，是工厂方法的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返回类型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45633" y="2221706"/>
              <a:ext cx="6124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TV 接口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649224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783681"/>
              <a:ext cx="142113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ConcreteProduct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具体产品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58593" y="2783681"/>
              <a:ext cx="26139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实现抽象产品接口，通常与具体工厂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成对出现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445633" y="2897029"/>
              <a:ext cx="6483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HaierTV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31946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42925" y="3333750"/>
              <a:ext cx="1798320" cy="65627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572351"/>
              <a:ext cx="14591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Factory 抽象工厂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58593" y="3459004"/>
              <a:ext cx="26139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声明工厂方法返回一个产品，是模式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的核心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45633" y="3572351"/>
              <a:ext cx="8820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TVFactory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99478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3999548"/>
              <a:ext cx="649224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223" y="4134326"/>
              <a:ext cx="142113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ConcreteFactory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具体工厂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458593" y="4134326"/>
              <a:ext cx="26139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覆盖工厂方法，返回某一个具体产品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45633" y="4247674"/>
              <a:ext cx="13174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HaierTVFactory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1524000"/>
              <a:ext cx="6492240" cy="31508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2346008" y="1524000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3048" y="1524000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9" name="c1-callout-2"/>
          <p:cNvGrpSpPr/>
          <p:nvPr/>
        </p:nvGrpSpPr>
        <p:grpSpPr>
          <a:xfrm>
            <a:off x="533400" y="4865370"/>
            <a:ext cx="6492240" cy="971550"/>
            <a:chOff x="533400" y="4865370"/>
            <a:chExt cx="6492240" cy="971550"/>
          </a:xfrm>
        </p:grpSpPr>
        <p:sp>
          <p:nvSpPr>
            <p:cNvPr id="33" name="Rectangle 33"/>
            <p:cNvSpPr/>
            <p:nvPr/>
          </p:nvSpPr>
          <p:spPr>
            <a:xfrm>
              <a:off x="533400" y="4865370"/>
              <a:ext cx="6492240" cy="971550"/>
            </a:xfrm>
            <a:prstGeom prst="roundRect">
              <a:avLst>
                <a:gd name="adj" fmla="val 1176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26129" y="5247441"/>
              <a:ext cx="224134" cy="192560"/>
              <a:chOff x="726129" y="5247441"/>
              <a:chExt cx="224134" cy="19256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838200" y="531780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26129" y="524744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38200" y="539559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130" y="5108258"/>
              <a:ext cx="5539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工厂方法的返回类型必须写抽象产品。写成具体产品，客户端就又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被拉回去依赖具体类。</a:t>
              </a:r>
            </a:p>
          </p:txBody>
        </p:sp>
      </p:grpSp>
      <p:grpSp>
        <p:nvGrpSpPr>
          <p:cNvPr id="54" name="c2-card-1"/>
          <p:cNvGrpSpPr/>
          <p:nvPr/>
        </p:nvGrpSpPr>
        <p:grpSpPr>
          <a:xfrm>
            <a:off x="7330440" y="1524000"/>
            <a:ext cx="4328160" cy="2577465"/>
            <a:chOff x="7330440" y="1524000"/>
            <a:chExt cx="4328160" cy="2577465"/>
          </a:xfrm>
        </p:grpSpPr>
        <p:sp>
          <p:nvSpPr>
            <p:cNvPr id="40" name="Rectangle 40"/>
            <p:cNvSpPr/>
            <p:nvPr/>
          </p:nvSpPr>
          <p:spPr>
            <a:xfrm>
              <a:off x="7330440" y="1524000"/>
              <a:ext cx="4328160" cy="2577465"/>
            </a:xfrm>
            <a:prstGeom prst="roundRect">
              <a:avLst>
                <a:gd name="adj" fmla="val 51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7339965" y="1657350"/>
              <a:ext cx="47625" cy="231076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757809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66039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接线规则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462962" y="1768792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三条写代码时的硬规定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578090" y="211645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639939" y="215874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879080" y="2129790"/>
              <a:ext cx="3409474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工厂方法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不能是 static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，静态方法无法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被子类覆盖，多态就没了。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7578090" y="273748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639939" y="27797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879080" y="2750820"/>
              <a:ext cx="33394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抽象工厂里不要写任何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具体产品的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语句。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7578090" y="335851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639939" y="34008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879080" y="3371850"/>
              <a:ext cx="3253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客户端声明变量一律用抽象类型，只在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挑工厂那一处出现具体类名。</a:t>
              </a:r>
            </a:p>
          </p:txBody>
        </p:sp>
      </p:grpSp>
      <p:grpSp>
        <p:nvGrpSpPr>
          <p:cNvPr id="60" name="c2-kv-2"/>
          <p:cNvGrpSpPr/>
          <p:nvPr/>
        </p:nvGrpSpPr>
        <p:grpSpPr>
          <a:xfrm>
            <a:off x="7322820" y="4316730"/>
            <a:ext cx="4335780" cy="1579245"/>
            <a:chOff x="7322820" y="4316730"/>
            <a:chExt cx="4335780" cy="1579245"/>
          </a:xfrm>
        </p:grpSpPr>
        <p:sp>
          <p:nvSpPr>
            <p:cNvPr id="55" name="TextBox 55"/>
            <p:cNvSpPr txBox="1"/>
            <p:nvPr/>
          </p:nvSpPr>
          <p:spPr>
            <a:xfrm>
              <a:off x="7322820" y="4316730"/>
              <a:ext cx="1348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抽象工厂写成什</a:t>
              </a:r>
              <a:br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么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881110" y="4316730"/>
              <a:ext cx="2491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抽象类或接口都可以，要有额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外的公共逻辑就用抽象类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330440" y="4918710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322820" y="5038725"/>
              <a:ext cx="1348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成对出现是必须</a:t>
              </a:r>
              <a:br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的吗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881110" y="5038725"/>
              <a:ext cx="2567940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不是，一个具体工厂也可以按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参数造几种产品，代价见第 30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85051" cy="909257"/>
            <a:chOff x="520446" y="342900"/>
            <a:chExt cx="488505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定义、结构与四个角色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850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本质：把“选择实现”延迟到子类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073140" cy="293370"/>
            <a:chOff x="525780" y="1548765"/>
            <a:chExt cx="607314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0731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简单工厂和工厂方法做的是同一件事，区别只在这件事发生的位置。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1954530"/>
            <a:ext cx="5626418" cy="2165985"/>
            <a:chOff x="533400" y="1954530"/>
            <a:chExt cx="5626418" cy="2165985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626418" cy="2165985"/>
            </a:xfrm>
            <a:prstGeom prst="roundRect">
              <a:avLst>
                <a:gd name="adj" fmla="val 6157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37235" y="215836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19544" y="219408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模式本质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22488" y="2197894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延迟到子类来选择实现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29996" y="2550319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简单工厂直接在工厂类里面做选择；工厂方法把这项工作推迟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到子类，工厂类内部只依赖抽象。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29996" y="3141821"/>
              <a:ext cx="500989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所以工厂方法体现了 </a:t>
              </a:r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依赖倒置原则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：高层的 Client 和抽象工厂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都只依赖抽象，不依赖具体产品。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31139" y="3729038"/>
              <a:ext cx="1740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依赖倒置原则见第 02 讲</a:t>
              </a:r>
            </a:p>
          </p:txBody>
        </p:sp>
      </p:grpSp>
      <p:grpSp>
        <p:nvGrpSpPr>
          <p:cNvPr id="25" name="c1-kv-2"/>
          <p:cNvGrpSpPr/>
          <p:nvPr/>
        </p:nvGrpSpPr>
        <p:grpSpPr>
          <a:xfrm>
            <a:off x="526161" y="4329589"/>
            <a:ext cx="5633657" cy="1121664"/>
            <a:chOff x="526161" y="4329589"/>
            <a:chExt cx="5633657" cy="1121664"/>
          </a:xfrm>
        </p:grpSpPr>
        <p:sp>
          <p:nvSpPr>
            <p:cNvPr id="17" name="TextBox 17"/>
            <p:cNvSpPr txBox="1"/>
            <p:nvPr/>
          </p:nvSpPr>
          <p:spPr>
            <a:xfrm>
              <a:off x="526161" y="432958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谁做选择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712976" y="4329589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简单工厂在工厂类里选，工厂方法由工厂子类选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463486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6161" y="475154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何时做选择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712976" y="4751546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简单工厂按参数现场判断，工厂方法装配时定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505682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6161" y="517255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核心工厂类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12976" y="5172551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工厂方法里它只给出子类必须实现的接口</a:t>
              </a:r>
            </a:p>
          </p:txBody>
        </p:sp>
      </p:grpSp>
      <p:grpSp>
        <p:nvGrpSpPr>
          <p:cNvPr id="32" name="c1-callout-3"/>
          <p:cNvGrpSpPr/>
          <p:nvPr/>
        </p:nvGrpSpPr>
        <p:grpSpPr>
          <a:xfrm>
            <a:off x="533400" y="5580698"/>
            <a:ext cx="5626418" cy="756285"/>
            <a:chOff x="533400" y="5580698"/>
            <a:chExt cx="5626418" cy="756285"/>
          </a:xfrm>
        </p:grpSpPr>
        <p:sp>
          <p:nvSpPr>
            <p:cNvPr id="26" name="Rectangle 26"/>
            <p:cNvSpPr/>
            <p:nvPr/>
          </p:nvSpPr>
          <p:spPr>
            <a:xfrm>
              <a:off x="533400" y="5580698"/>
              <a:ext cx="5626418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5858828"/>
              <a:ext cx="200026" cy="200026"/>
              <a:chOff x="738188" y="5858828"/>
              <a:chExt cx="200026" cy="20002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738188" y="58588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38200" y="59255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27088" y="59588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511" y="5727859"/>
              <a:ext cx="470331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课件原话：核心的工厂类不再负责所有产品的创建，而是把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具体创建工作交给子类去做。</a:t>
              </a:r>
            </a:p>
          </p:txBody>
        </p:sp>
      </p:grpSp>
      <p:grpSp>
        <p:nvGrpSpPr>
          <p:cNvPr id="35" name="c2-image-1"/>
          <p:cNvGrpSpPr/>
          <p:nvPr/>
        </p:nvGrpSpPr>
        <p:grpSpPr>
          <a:xfrm>
            <a:off x="6464618" y="1954530"/>
            <a:ext cx="5193982" cy="2624614"/>
            <a:chOff x="6464618" y="1954530"/>
            <a:chExt cx="5193982" cy="2624614"/>
          </a:xfrm>
        </p:grpSpPr>
        <p:pic>
          <p:nvPicPr>
            <p:cNvPr id="33" name="Image 33"/>
            <p:cNvPicPr>
              <a:picLocks noChangeAspect="1"/>
            </p:cNvPicPr>
            <p:nvPr/>
          </p:nvPicPr>
          <p:blipFill>
            <a:blip r:embed="rId2"/>
            <a:srcRect l="0" t="20352" r="0" b="20353"/>
            <a:stretch>
              <a:fillRect/>
            </a:stretch>
          </p:blipFill>
          <p:spPr>
            <a:xfrm>
              <a:off x="6464618" y="1954530"/>
              <a:ext cx="5193982" cy="2309812"/>
            </a:xfrm>
            <a:prstGeom prst="roundRect">
              <a:avLst>
                <a:gd name="adj" fmla="val 5773"/>
              </a:avLst>
            </a:prstGeom>
          </p:spPr>
        </p:pic>
        <p:sp>
          <p:nvSpPr>
            <p:cNvPr id="34" name="TextBox 34"/>
            <p:cNvSpPr txBox="1"/>
            <p:nvPr/>
          </p:nvSpPr>
          <p:spPr>
            <a:xfrm>
              <a:off x="6862602" y="4359116"/>
              <a:ext cx="4398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三个窗口形状一样，喊的是同一句“来一份”，后面的厨房各做各的</a:t>
              </a:r>
            </a:p>
          </p:txBody>
        </p:sp>
      </p:grpSp>
      <p:grpSp>
        <p:nvGrpSpPr>
          <p:cNvPr id="42" name="c2-callout-2"/>
          <p:cNvGrpSpPr/>
          <p:nvPr/>
        </p:nvGrpSpPr>
        <p:grpSpPr>
          <a:xfrm>
            <a:off x="6464618" y="4739640"/>
            <a:ext cx="5193982" cy="1597342"/>
            <a:chOff x="6464618" y="4739640"/>
            <a:chExt cx="5193982" cy="1597342"/>
          </a:xfrm>
        </p:grpSpPr>
        <p:sp>
          <p:nvSpPr>
            <p:cNvPr id="36" name="Rectangle 36"/>
            <p:cNvSpPr/>
            <p:nvPr/>
          </p:nvSpPr>
          <p:spPr>
            <a:xfrm>
              <a:off x="6464618" y="4739640"/>
              <a:ext cx="5193982" cy="1597342"/>
            </a:xfrm>
            <a:prstGeom prst="roundRect">
              <a:avLst>
                <a:gd name="adj" fmla="val 715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6669405" y="5437823"/>
              <a:ext cx="200026" cy="200025"/>
              <a:chOff x="6669405" y="5437823"/>
              <a:chExt cx="200026" cy="200025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6669405" y="543782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709144" y="548227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743859" y="559339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6971729" y="5307806"/>
              <a:ext cx="41622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客户端换一个窗口，就换了一整套做法，而窗口本身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的用法一个字都不用改。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024884" cy="2997517"/>
            <a:chOff x="667512" y="1835468"/>
            <a:chExt cx="4024884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29600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实现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用支付方式这一个例子，从头写到配置化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抽象层与具体层各写什么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客户端只剩一行认得具体类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用配置文件和反射把这行也去掉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7452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793" y="407194"/>
              <a:ext cx="17237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Java 实现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代码实现（一）：抽象产品、具体产品、抽象工厂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073140" cy="293370"/>
            <a:chOff x="525780" y="1548765"/>
            <a:chExt cx="607314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0731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沿用张欣佳老师课件里的支付方式例子，把课件省略的产品类补全。</a:t>
              </a:r>
            </a:p>
          </p:txBody>
        </p:sp>
      </p:grpSp>
      <p:grpSp>
        <p:nvGrpSpPr>
          <p:cNvPr id="13" name="c1-code-1"/>
          <p:cNvGrpSpPr/>
          <p:nvPr/>
        </p:nvGrpSpPr>
        <p:grpSpPr>
          <a:xfrm>
            <a:off x="533400" y="1954530"/>
            <a:ext cx="6276022" cy="4291012"/>
            <a:chOff x="533400" y="1954530"/>
            <a:chExt cx="6276022" cy="429101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6276022" cy="4291012"/>
            </a:xfrm>
            <a:prstGeom prst="roundRect">
              <a:avLst>
                <a:gd name="adj" fmla="val 222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0645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5735955"/>
              <a:ext cx="6237922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416" y="2367915"/>
              <a:ext cx="4124516" cy="38067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抽象产品：声明产品的公共接口 */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AbstractPay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pay(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amount);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具体产品一：现金支付 */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CashPay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AbstractPay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pay(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amount)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105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"现金收款 "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amount + </a:t>
              </a:r>
              <a:r>
                <a:rPr lang="zh-CN" sz="105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 元"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具体产品二：微信支付 */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WeChatPay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AbstractPay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pay(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amount)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105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"微信到账 "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amount + </a:t>
              </a:r>
              <a:r>
                <a:rPr lang="zh-CN" sz="105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 元"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抽象工厂：只声明工厂方法，不写 new */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PayMethodFactory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AbstractPay getPayMethod();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1" name="c2-steps-1"/>
          <p:cNvGrpSpPr/>
          <p:nvPr/>
        </p:nvGrpSpPr>
        <p:grpSpPr>
          <a:xfrm>
            <a:off x="7114222" y="1964055"/>
            <a:ext cx="3825697" cy="2398776"/>
            <a:chOff x="7114222" y="1964055"/>
            <a:chExt cx="3825697" cy="2398776"/>
          </a:xfrm>
        </p:grpSpPr>
        <p:sp>
          <p:nvSpPr>
            <p:cNvPr id="14" name="Rectangle 14"/>
            <p:cNvSpPr/>
            <p:nvPr/>
          </p:nvSpPr>
          <p:spPr>
            <a:xfrm>
              <a:off x="7247572" y="2106930"/>
              <a:ext cx="19050" cy="18507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7114222" y="196405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207846" y="20378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114222" y="258127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207846" y="26550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114222" y="319754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207846" y="32713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114222" y="381476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207846" y="38885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526084" y="199691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先定产品接口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27226" y="2277428"/>
              <a:ext cx="34126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把客户端真正要用的方法挑出来，这里是 pay()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26084" y="261413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再写具体产品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27226" y="2894648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每种支付方式一个类，互不知道对方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26084" y="323040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然后写抽象工厂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527226" y="3510915"/>
              <a:ext cx="33101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只有一个抽象方法，返回类型是 AbstractPay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526084" y="384762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最后写具体工厂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27226" y="4128135"/>
              <a:ext cx="23465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见下一页，每个只 new 一种产品</a:t>
              </a:r>
            </a:p>
          </p:txBody>
        </p:sp>
      </p:grpSp>
      <p:grpSp>
        <p:nvGrpSpPr>
          <p:cNvPr id="38" name="c2-callout-2"/>
          <p:cNvGrpSpPr/>
          <p:nvPr/>
        </p:nvGrpSpPr>
        <p:grpSpPr>
          <a:xfrm>
            <a:off x="7114222" y="4533900"/>
            <a:ext cx="4544378" cy="1711642"/>
            <a:chOff x="7114222" y="4533900"/>
            <a:chExt cx="4544378" cy="1711642"/>
          </a:xfrm>
        </p:grpSpPr>
        <p:sp>
          <p:nvSpPr>
            <p:cNvPr id="32" name="Rectangle 32"/>
            <p:cNvSpPr/>
            <p:nvPr/>
          </p:nvSpPr>
          <p:spPr>
            <a:xfrm>
              <a:off x="7114222" y="4533900"/>
              <a:ext cx="4544378" cy="1711642"/>
            </a:xfrm>
            <a:prstGeom prst="roundRect">
              <a:avLst>
                <a:gd name="adj" fmla="val 6678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19010" y="5290185"/>
              <a:ext cx="200026" cy="200026"/>
              <a:chOff x="7319010" y="5290185"/>
              <a:chExt cx="200026" cy="200026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19010" y="529018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419023" y="535686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407910" y="539019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7621334" y="5159216"/>
              <a:ext cx="3558159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课件把 AbstractPay 画成抽象类。若产品没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有公共字段和公共实现，写成接口更省事。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7452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793" y="407194"/>
              <a:ext cx="17237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Java 实现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代码实现（二）：具体工厂与客户端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6276022" cy="4101465"/>
            <a:chOff x="533400" y="1524000"/>
            <a:chExt cx="6276022" cy="41014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101465"/>
            </a:xfrm>
            <a:prstGeom prst="roundRect">
              <a:avLst>
                <a:gd name="adj" fmla="val 232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4548188"/>
              <a:ext cx="6237922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416" y="1937385"/>
              <a:ext cx="4117848" cy="36172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具体工厂一 */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CashPayFactory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PayMethodFactory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AbstractPay getPayMethod()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CashPay();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只认识一种产品 */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具体工厂二：新增支付方式时才写这个类 */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WeChatPayFactory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PayMethodFactory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AbstractPay getPayMethod()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WeChatPay();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Client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PayMethodFactory factory =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CashPayFactory();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AbstractPay payMethod = factory.getPayMethod();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payMethod.pay(128.0);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7" name="c2-card-1"/>
          <p:cNvGrpSpPr/>
          <p:nvPr/>
        </p:nvGrpSpPr>
        <p:grpSpPr>
          <a:xfrm>
            <a:off x="7114222" y="1524000"/>
            <a:ext cx="4544378" cy="2675572"/>
            <a:chOff x="7114222" y="1524000"/>
            <a:chExt cx="4544378" cy="2675572"/>
          </a:xfrm>
        </p:grpSpPr>
        <p:sp>
          <p:nvSpPr>
            <p:cNvPr id="12" name="Rectangle 12"/>
            <p:cNvSpPr/>
            <p:nvPr/>
          </p:nvSpPr>
          <p:spPr>
            <a:xfrm>
              <a:off x="7114222" y="1524000"/>
              <a:ext cx="4544378" cy="2675572"/>
            </a:xfrm>
            <a:prstGeom prst="roundRect">
              <a:avLst>
                <a:gd name="adj" fmla="val 49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7123748" y="1657350"/>
              <a:ext cx="47625" cy="240887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50442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433882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运行结果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200454" y="175688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手工推演一遍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350442" y="2088832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408787" y="212821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41336" y="2100739"/>
              <a:ext cx="39063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 CashPayFactory()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得到一个具体工厂。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350442" y="2406015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408787" y="244635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41336" y="2418874"/>
              <a:ext cx="365734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getPayMethod()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动态绑定到子类版本，返回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CashPay 实例。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350442" y="2995612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408787" y="303499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41336" y="3007519"/>
              <a:ext cx="335076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payMethod.pay(128.0)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打印：现金收款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128.0 元。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44347" y="3592830"/>
              <a:ext cx="38679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换成 WeChatPayFactory，只改高亮那一行，输出变成微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信到账</a:t>
              </a:r>
            </a:p>
          </p:txBody>
        </p:sp>
      </p:grpSp>
      <p:grpSp>
        <p:nvGrpSpPr>
          <p:cNvPr id="34" name="c2-bullets-2"/>
          <p:cNvGrpSpPr/>
          <p:nvPr/>
        </p:nvGrpSpPr>
        <p:grpSpPr>
          <a:xfrm>
            <a:off x="7114222" y="4403884"/>
            <a:ext cx="3698634" cy="932117"/>
            <a:chOff x="7114222" y="4403884"/>
            <a:chExt cx="3698634" cy="932117"/>
          </a:xfrm>
        </p:grpSpPr>
        <p:sp>
          <p:nvSpPr>
            <p:cNvPr id="28" name="Freeform 28"/>
            <p:cNvSpPr/>
            <p:nvPr/>
          </p:nvSpPr>
          <p:spPr>
            <a:xfrm>
              <a:off x="7114222" y="4433888"/>
              <a:ext cx="136208" cy="110490"/>
            </a:xfrm>
            <a:custGeom>
              <a:avLst/>
              <a:gdLst/>
              <a:ahLst/>
              <a:cxnLst/>
              <a:rect l="l" t="t" r="r" b="b"/>
              <a:pathLst>
                <a:path w="136208" h="110490">
                  <a:moveTo>
                    <a:pt x="0" y="58103"/>
                  </a:moveTo>
                  <a:lnTo>
                    <a:pt x="52388" y="110490"/>
                  </a:lnTo>
                  <a:lnTo>
                    <a:pt x="13620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357491" y="4403884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两个变量的类型都是抽象层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7114222" y="4760595"/>
              <a:ext cx="136208" cy="110490"/>
            </a:xfrm>
            <a:custGeom>
              <a:avLst/>
              <a:gdLst/>
              <a:ahLst/>
              <a:cxnLst/>
              <a:rect l="l" t="t" r="r" b="b"/>
              <a:pathLst>
                <a:path w="136208" h="110490">
                  <a:moveTo>
                    <a:pt x="0" y="58102"/>
                  </a:moveTo>
                  <a:lnTo>
                    <a:pt x="52388" y="110490"/>
                  </a:lnTo>
                  <a:lnTo>
                    <a:pt x="13620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57491" y="473059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全文只有一处出现具体类名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7114222" y="5087302"/>
              <a:ext cx="136208" cy="110490"/>
            </a:xfrm>
            <a:custGeom>
              <a:avLst/>
              <a:gdLst/>
              <a:ahLst/>
              <a:cxnLst/>
              <a:rect l="l" t="t" r="r" b="b"/>
              <a:pathLst>
                <a:path w="136208" h="110490">
                  <a:moveTo>
                    <a:pt x="0" y="58103"/>
                  </a:moveTo>
                  <a:lnTo>
                    <a:pt x="52388" y="110490"/>
                  </a:lnTo>
                  <a:lnTo>
                    <a:pt x="13620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357491" y="5057299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新增支付宝支付：加两个类，旧代码不动</a:t>
              </a:r>
            </a:p>
          </p:txBody>
        </p:sp>
      </p:grpSp>
      <p:grpSp>
        <p:nvGrpSpPr>
          <p:cNvPr id="41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5" name="Rectangle 35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26129" y="6007536"/>
              <a:ext cx="224134" cy="192560"/>
              <a:chOff x="726129" y="6007536"/>
              <a:chExt cx="224134" cy="19256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838200" y="6077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726129" y="6007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38200" y="6155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511" y="6011704"/>
              <a:ext cx="62176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还剩一处硬编码：客户端里 new 具体工厂那一行。下一页把它也赶出去。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401494" cy="909257"/>
            <a:chOff x="520446" y="342900"/>
            <a:chExt cx="64014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7452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793" y="407194"/>
              <a:ext cx="17237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Java 实现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4014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把最后一处 new 赶走：类名写进配置文件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464791" cy="308039"/>
            <a:chOff x="525399" y="1550194"/>
            <a:chExt cx="846479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46479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工程里的常规做法是不直接 new 具体工厂，而是把类名写进 XML，运行时用反射造出来。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67865"/>
            <a:ext cx="5410200" cy="1313498"/>
            <a:chOff x="533400" y="1967865"/>
            <a:chExt cx="5410200" cy="1313498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410200" cy="1313498"/>
            </a:xfrm>
            <a:prstGeom prst="roundRect">
              <a:avLst>
                <a:gd name="adj" fmla="val 725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73023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config.xml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035" y="2381726"/>
              <a:ext cx="3218942" cy="8286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&lt;?xml version=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"1.0"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?&gt;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&lt;config&gt;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&lt;className&gt;CashPayFactory&lt;/className&gt;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&lt;/config&gt;</a:t>
              </a:r>
            </a:p>
          </p:txBody>
        </p:sp>
      </p:grpSp>
      <p:grpSp>
        <p:nvGrpSpPr>
          <p:cNvPr id="17" name="c1-code-2"/>
          <p:cNvGrpSpPr/>
          <p:nvPr/>
        </p:nvGrpSpPr>
        <p:grpSpPr>
          <a:xfrm>
            <a:off x="533400" y="3471862"/>
            <a:ext cx="5410200" cy="1719262"/>
            <a:chOff x="533400" y="3471862"/>
            <a:chExt cx="5410200" cy="1719262"/>
          </a:xfrm>
        </p:grpSpPr>
        <p:sp>
          <p:nvSpPr>
            <p:cNvPr id="13" name="Rectangle 13"/>
            <p:cNvSpPr/>
            <p:nvPr/>
          </p:nvSpPr>
          <p:spPr>
            <a:xfrm>
              <a:off x="533400" y="3471862"/>
              <a:ext cx="5410200" cy="1719262"/>
            </a:xfrm>
            <a:prstGeom prst="roundRect">
              <a:avLst>
                <a:gd name="adj" fmla="val 55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" y="3623786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客户端只改一行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52450" y="4451985"/>
              <a:ext cx="5372100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61035" y="3885724"/>
              <a:ext cx="3688334" cy="1234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PayMethodFactory factory;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AbstractPay payMethod;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getBean() 返回 Object，需要强制类型转换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factory = (PayMethodFactory) XMLUtil.getBean();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payMethod = factory.getPayMethod();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payMethod.pay(128.0);</a:t>
              </a:r>
            </a:p>
          </p:txBody>
        </p:sp>
      </p:grpSp>
      <p:grpSp>
        <p:nvGrpSpPr>
          <p:cNvPr id="25" name="c2-card-1"/>
          <p:cNvGrpSpPr/>
          <p:nvPr/>
        </p:nvGrpSpPr>
        <p:grpSpPr>
          <a:xfrm>
            <a:off x="6248400" y="1967865"/>
            <a:ext cx="5410200" cy="2242185"/>
            <a:chOff x="6248400" y="1967865"/>
            <a:chExt cx="5410200" cy="2242185"/>
          </a:xfrm>
        </p:grpSpPr>
        <p:sp>
          <p:nvSpPr>
            <p:cNvPr id="18" name="Rectangle 18"/>
            <p:cNvSpPr/>
            <p:nvPr/>
          </p:nvSpPr>
          <p:spPr>
            <a:xfrm>
              <a:off x="6248400" y="1967865"/>
              <a:ext cx="5410200" cy="2242185"/>
            </a:xfrm>
            <a:prstGeom prst="roundRect">
              <a:avLst>
                <a:gd name="adj" fmla="val 59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57925" y="2101215"/>
              <a:ext cx="47625" cy="197548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96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86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概念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97078" y="2212658"/>
              <a:ext cx="29635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反射（Java Reflection）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88430" y="2573655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在程序运行时获取已知名称的类或已有对象的信息，包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括方法、属性、超类，也包括创建实例和判断实例类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型。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8430" y="3480435"/>
              <a:ext cx="47015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Class.forName(名字)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按类名拿到 Class 对象，再由它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创建实例。</a:t>
              </a:r>
            </a:p>
          </p:txBody>
        </p:sp>
      </p:grpSp>
      <p:grpSp>
        <p:nvGrpSpPr>
          <p:cNvPr id="32" name="c2-bullets-2"/>
          <p:cNvGrpSpPr/>
          <p:nvPr/>
        </p:nvGrpSpPr>
        <p:grpSpPr>
          <a:xfrm>
            <a:off x="6248400" y="4425315"/>
            <a:ext cx="4625150" cy="982980"/>
            <a:chOff x="6248400" y="4425315"/>
            <a:chExt cx="4625150" cy="982980"/>
          </a:xfrm>
        </p:grpSpPr>
        <p:sp>
          <p:nvSpPr>
            <p:cNvPr id="26" name="Freeform 26"/>
            <p:cNvSpPr/>
            <p:nvPr/>
          </p:nvSpPr>
          <p:spPr>
            <a:xfrm>
              <a:off x="6248400" y="4456748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5245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8908" y="4425315"/>
              <a:ext cx="43746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换支付方式只改 XML 里一个单词，源码一行不动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248400" y="4801552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5245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8908" y="477012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客户端从此不出现任何具体类名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6248400" y="5146358"/>
              <a:ext cx="143828" cy="116205"/>
            </a:xfrm>
            <a:custGeom>
              <a:avLst/>
              <a:gdLst/>
              <a:ahLst/>
              <a:cxnLst/>
              <a:rect l="l" t="t" r="r" b="b"/>
              <a:pathLst>
                <a:path w="143828" h="116205">
                  <a:moveTo>
                    <a:pt x="0" y="61912"/>
                  </a:moveTo>
                  <a:lnTo>
                    <a:pt x="55245" y="116205"/>
                  </a:lnTo>
                  <a:lnTo>
                    <a:pt x="14382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8908" y="511492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代价是编译器查不出配置里的拼写错误</a:t>
              </a:r>
            </a:p>
          </p:txBody>
        </p:sp>
      </p:grpSp>
      <p:grpSp>
        <p:nvGrpSpPr>
          <p:cNvPr id="39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33" name="Rectangle 33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5871210"/>
              <a:ext cx="200026" cy="200026"/>
              <a:chOff x="738188" y="5871210"/>
              <a:chExt cx="200026" cy="200026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38200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27088" y="5971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130" y="5728335"/>
              <a:ext cx="92830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更正：课件示例写作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Class.forName("String")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，forName 要求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全限定名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，应写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java.lang.String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，否则抛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ClassNotFoundException。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09529" cy="909257"/>
            <a:chOff x="520446" y="342900"/>
            <a:chExt cx="580952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7452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793" y="407194"/>
              <a:ext cx="17237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Java 实现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095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XMLUtil：读出类名，再按名字造对象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6492240" cy="4356735"/>
            <a:chOff x="533400" y="1524000"/>
            <a:chExt cx="6492240" cy="43567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356735"/>
            </a:xfrm>
            <a:prstGeom prst="roundRect">
              <a:avLst>
                <a:gd name="adj" fmla="val 218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4938712"/>
              <a:ext cx="6454140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5141595"/>
              <a:ext cx="6454140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035" y="1937861"/>
              <a:ext cx="4783582" cy="38719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XMLUtil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Object getBean()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Exception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1. 创建 DOM 文档对象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DocumentBuilderFactory dFactory =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DocumentBuilderFactory.newInstance();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DocumentBuilder builder =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dFactory.newDocumentBuilder();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Document doc = builder.parse(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File(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"config.xml"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2. 取出 className 节点里的文本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NodeList nl = doc.getElementsByTagName(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"className"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Node classNode = nl.item(0).getFirstChild();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String cName = classNode.getNodeValue();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3. 按类名反射生成实例并返回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Class&lt;?&gt; c = Class.forName(cName);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c.getDeclaredConstructor().newInstance();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1" name="c2-card-1"/>
          <p:cNvGrpSpPr/>
          <p:nvPr/>
        </p:nvGrpSpPr>
        <p:grpSpPr>
          <a:xfrm>
            <a:off x="7330440" y="1524000"/>
            <a:ext cx="4328160" cy="2708910"/>
            <a:chOff x="7330440" y="1524000"/>
            <a:chExt cx="4328160" cy="2708910"/>
          </a:xfrm>
        </p:grpSpPr>
        <p:sp>
          <p:nvSpPr>
            <p:cNvPr id="13" name="Rectangle 13"/>
            <p:cNvSpPr/>
            <p:nvPr/>
          </p:nvSpPr>
          <p:spPr>
            <a:xfrm>
              <a:off x="7330440" y="1524000"/>
              <a:ext cx="4328160" cy="2708910"/>
            </a:xfrm>
            <a:prstGeom prst="roundRect">
              <a:avLst>
                <a:gd name="adj" fmla="val 49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39965" y="1657350"/>
              <a:ext cx="47625" cy="244221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57237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6258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173784" y="1767364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课件里的反射写法要改两处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65136" y="2119789"/>
              <a:ext cx="3641115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原课件用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c.newInstance()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。该方法自 </a:t>
              </a:r>
              <a:r>
                <a:rPr lang="en-US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Java</a:t>
              </a:r>
              <a:br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9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起已废弃，它会把构造器抛出的受检异常绕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过编译检查。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65136" y="2982754"/>
              <a:ext cx="3729482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改用</a:t>
              </a:r>
              <a:br/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c.getDeclaredConstructor().newInstance</a:t>
              </a:r>
              <a:br/>
              <a:r>
                <a:rPr lang="zh-CN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()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66279" y="3841432"/>
              <a:ext cx="37899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 xml:space="preserve">原课件的 Class 是裸类型，加上 </a:t>
              </a:r>
              <a:r>
                <a:rPr lang="zh-CN" sz="12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&lt;?&gt;</a:t>
              </a: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 xml:space="preserve"> 才没有编译警告</a:t>
              </a:r>
            </a:p>
          </p:txBody>
        </p:sp>
      </p:grpSp>
      <p:grpSp>
        <p:nvGrpSpPr>
          <p:cNvPr id="28" name="c2-callout-2"/>
          <p:cNvGrpSpPr/>
          <p:nvPr/>
        </p:nvGrpSpPr>
        <p:grpSpPr>
          <a:xfrm>
            <a:off x="7330440" y="4418648"/>
            <a:ext cx="4328160" cy="1543050"/>
            <a:chOff x="7330440" y="4418648"/>
            <a:chExt cx="4328160" cy="1543050"/>
          </a:xfrm>
        </p:grpSpPr>
        <p:sp>
          <p:nvSpPr>
            <p:cNvPr id="22" name="Rectangle 22"/>
            <p:cNvSpPr/>
            <p:nvPr/>
          </p:nvSpPr>
          <p:spPr>
            <a:xfrm>
              <a:off x="7330440" y="4418648"/>
              <a:ext cx="4328160" cy="1543050"/>
            </a:xfrm>
            <a:prstGeom prst="roundRect">
              <a:avLst>
                <a:gd name="adj" fmla="val 7407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535228" y="5090160"/>
              <a:ext cx="200026" cy="200025"/>
              <a:chOff x="7535228" y="5090160"/>
              <a:chExt cx="200026" cy="200025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7535228" y="509016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574966" y="513461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7609682" y="524573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7837551" y="4565809"/>
              <a:ext cx="3467989" cy="13302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顺带看一眼：</a:t>
              </a:r>
              <a:br/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DocumentBuilderFactory.newInstance(</a:t>
              </a:r>
              <a:br/>
              <a:r>
                <a:rPr lang="zh-CN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)</a:t>
              </a: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 xml:space="preserve"> 是静态工厂，</a:t>
              </a:r>
              <a:br/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dFactory.newDocumentBuilder()</a:t>
              </a: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 xml:space="preserve"> 才是真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正的工厂方法。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913632" cy="2997517"/>
            <a:chOff x="667512" y="1835468"/>
            <a:chExt cx="3913632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课件中的四个实例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两位老师的例子各留最典型的一个说法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电视机工厂与日志记录器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大富翁的菜单工厂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迷宫游戏里的多个工厂方法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课件中的四个实例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实例一：电视机工厂，一个品牌一个子工厂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8010144" cy="264033"/>
            <a:chOff x="526542" y="1545907"/>
            <a:chExt cx="8010144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80101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原来一个工厂生产所有品牌，现在把它切开，海尔工厂只管海尔电视机，海信工厂只管海信电视机。</a:t>
              </a:r>
            </a:p>
          </p:txBody>
        </p:sp>
      </p:grpSp>
      <p:grpSp>
        <p:nvGrpSpPr>
          <p:cNvPr id="10" name="c1-text-1"/>
          <p:cNvGrpSpPr/>
          <p:nvPr/>
        </p:nvGrpSpPr>
        <p:grpSpPr>
          <a:xfrm>
            <a:off x="527685" y="1947386"/>
            <a:ext cx="916076" cy="220028"/>
            <a:chOff x="527685" y="1947386"/>
            <a:chExt cx="916076" cy="220028"/>
          </a:xfrm>
        </p:grpSpPr>
        <p:sp>
          <p:nvSpPr>
            <p:cNvPr id="9" name="TextBox 9"/>
            <p:cNvSpPr txBox="1"/>
            <p:nvPr/>
          </p:nvSpPr>
          <p:spPr>
            <a:xfrm>
              <a:off x="527685" y="194738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工厂等级结构</a:t>
              </a:r>
            </a:p>
          </p:txBody>
        </p:sp>
      </p:grpSp>
      <p:grpSp>
        <p:nvGrpSpPr>
          <p:cNvPr id="33" name="c1-uml-2"/>
          <p:cNvGrpSpPr/>
          <p:nvPr/>
        </p:nvGrpSpPr>
        <p:grpSpPr>
          <a:xfrm>
            <a:off x="863918" y="2622232"/>
            <a:ext cx="4786312" cy="1771650"/>
            <a:chOff x="863918" y="2622232"/>
            <a:chExt cx="4786312" cy="1771650"/>
          </a:xfrm>
        </p:grpSpPr>
        <p:sp>
          <p:nvSpPr>
            <p:cNvPr id="11" name="Freeform 11"/>
            <p:cNvSpPr/>
            <p:nvPr/>
          </p:nvSpPr>
          <p:spPr>
            <a:xfrm>
              <a:off x="1435418" y="3304222"/>
              <a:ext cx="1707832" cy="533400"/>
            </a:xfrm>
            <a:custGeom>
              <a:avLst/>
              <a:gdLst/>
              <a:ahLst/>
              <a:cxnLst/>
              <a:rect l="l" t="t" r="r" b="b"/>
              <a:pathLst>
                <a:path w="1707832" h="533400">
                  <a:moveTo>
                    <a:pt x="0" y="533400"/>
                  </a:moveTo>
                  <a:lnTo>
                    <a:pt x="0" y="203835"/>
                  </a:lnTo>
                  <a:lnTo>
                    <a:pt x="1707832" y="203835"/>
                  </a:lnTo>
                  <a:lnTo>
                    <a:pt x="170783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069908" y="317849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333750" y="3304222"/>
              <a:ext cx="1707832" cy="533400"/>
            </a:xfrm>
            <a:custGeom>
              <a:avLst/>
              <a:gdLst/>
              <a:ahLst/>
              <a:cxnLst/>
              <a:rect l="l" t="t" r="r" b="b"/>
              <a:pathLst>
                <a:path w="1707832" h="533400">
                  <a:moveTo>
                    <a:pt x="1707832" y="533400"/>
                  </a:moveTo>
                  <a:lnTo>
                    <a:pt x="1707832" y="203835"/>
                  </a:lnTo>
                  <a:lnTo>
                    <a:pt x="0" y="203835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260408" y="317849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2667000" y="2622232"/>
              <a:ext cx="1143000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674620" y="2629852"/>
              <a:ext cx="112871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2667000" y="283464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667000" y="292989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863918" y="3837622"/>
              <a:ext cx="1143000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870585" y="3845242"/>
              <a:ext cx="1128712" cy="20955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63918" y="405003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863918" y="414528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4433888" y="3837622"/>
              <a:ext cx="1216342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440555" y="3845242"/>
              <a:ext cx="1202055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433888" y="4050030"/>
              <a:ext cx="121634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433888" y="4145280"/>
              <a:ext cx="121634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912937" y="2673668"/>
              <a:ext cx="65112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TVFactory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738438" y="2997994"/>
              <a:ext cx="10065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produceTV(): TV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9112" y="3889058"/>
              <a:ext cx="97261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HaierTVFactory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35355" y="4213384"/>
              <a:ext cx="10065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produceTV(): TV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485276" y="3889058"/>
              <a:ext cx="111261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HisenseTVFactory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505325" y="4213384"/>
              <a:ext cx="10065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produceTV(): TV</a:t>
              </a:r>
            </a:p>
          </p:txBody>
        </p:sp>
      </p:grpSp>
      <p:grpSp>
        <p:nvGrpSpPr>
          <p:cNvPr id="40" name="c1-callout-3"/>
          <p:cNvGrpSpPr/>
          <p:nvPr/>
        </p:nvGrpSpPr>
        <p:grpSpPr>
          <a:xfrm>
            <a:off x="533400" y="4893945"/>
            <a:ext cx="5410200" cy="729615"/>
            <a:chOff x="533400" y="4893945"/>
            <a:chExt cx="5410200" cy="729615"/>
          </a:xfrm>
        </p:grpSpPr>
        <p:sp>
          <p:nvSpPr>
            <p:cNvPr id="34" name="Rectangle 34"/>
            <p:cNvSpPr/>
            <p:nvPr/>
          </p:nvSpPr>
          <p:spPr>
            <a:xfrm>
              <a:off x="533400" y="4893945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5157788"/>
              <a:ext cx="200026" cy="200025"/>
              <a:chOff x="738188" y="5157788"/>
              <a:chExt cx="200026" cy="200025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38188" y="51577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777926" y="52022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12642" y="53133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892" y="5163502"/>
              <a:ext cx="47170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抽象工厂只声明 produceTV()，自己不 new 任何电视机。</a:t>
              </a:r>
            </a:p>
          </p:txBody>
        </p:sp>
      </p:grpSp>
      <p:grpSp>
        <p:nvGrpSpPr>
          <p:cNvPr id="42" name="c2-text-1"/>
          <p:cNvGrpSpPr/>
          <p:nvPr/>
        </p:nvGrpSpPr>
        <p:grpSpPr>
          <a:xfrm>
            <a:off x="6242685" y="1947386"/>
            <a:ext cx="916076" cy="220028"/>
            <a:chOff x="6242685" y="1947386"/>
            <a:chExt cx="916076" cy="220028"/>
          </a:xfrm>
        </p:grpSpPr>
        <p:sp>
          <p:nvSpPr>
            <p:cNvPr id="41" name="TextBox 41"/>
            <p:cNvSpPr txBox="1"/>
            <p:nvPr/>
          </p:nvSpPr>
          <p:spPr>
            <a:xfrm>
              <a:off x="6242685" y="194738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产品等级结构</a:t>
              </a:r>
            </a:p>
          </p:txBody>
        </p:sp>
      </p:grpSp>
      <p:grpSp>
        <p:nvGrpSpPr>
          <p:cNvPr id="66" name="c2-uml-2"/>
          <p:cNvGrpSpPr/>
          <p:nvPr/>
        </p:nvGrpSpPr>
        <p:grpSpPr>
          <a:xfrm>
            <a:off x="6578918" y="2559368"/>
            <a:ext cx="4749164" cy="1834514"/>
            <a:chOff x="6578918" y="2559368"/>
            <a:chExt cx="4749164" cy="1834514"/>
          </a:xfrm>
        </p:grpSpPr>
        <p:sp>
          <p:nvSpPr>
            <p:cNvPr id="43" name="Freeform 43"/>
            <p:cNvSpPr/>
            <p:nvPr/>
          </p:nvSpPr>
          <p:spPr>
            <a:xfrm>
              <a:off x="7150418" y="3367088"/>
              <a:ext cx="1707832" cy="470535"/>
            </a:xfrm>
            <a:custGeom>
              <a:avLst/>
              <a:gdLst/>
              <a:ahLst/>
              <a:cxnLst/>
              <a:rect l="l" t="t" r="r" b="b"/>
              <a:pathLst>
                <a:path w="1707832" h="470535">
                  <a:moveTo>
                    <a:pt x="0" y="470535"/>
                  </a:moveTo>
                  <a:lnTo>
                    <a:pt x="0" y="172403"/>
                  </a:lnTo>
                  <a:lnTo>
                    <a:pt x="1707832" y="172403"/>
                  </a:lnTo>
                  <a:lnTo>
                    <a:pt x="170783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44" name="Freeform 44"/>
            <p:cNvSpPr/>
            <p:nvPr/>
          </p:nvSpPr>
          <p:spPr>
            <a:xfrm>
              <a:off x="8784908" y="324135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9048750" y="3367088"/>
              <a:ext cx="1707832" cy="470535"/>
            </a:xfrm>
            <a:custGeom>
              <a:avLst/>
              <a:gdLst/>
              <a:ahLst/>
              <a:cxnLst/>
              <a:rect l="l" t="t" r="r" b="b"/>
              <a:pathLst>
                <a:path w="1707832" h="470535">
                  <a:moveTo>
                    <a:pt x="1707832" y="470535"/>
                  </a:moveTo>
                  <a:lnTo>
                    <a:pt x="1707832" y="172403"/>
                  </a:lnTo>
                  <a:lnTo>
                    <a:pt x="0" y="172403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46" name="Freeform 46"/>
            <p:cNvSpPr/>
            <p:nvPr/>
          </p:nvSpPr>
          <p:spPr>
            <a:xfrm>
              <a:off x="8975408" y="324135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382000" y="2559368"/>
              <a:ext cx="1143000" cy="68199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8389620" y="2566988"/>
              <a:ext cx="1128712" cy="33528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8382000" y="289750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8382000" y="299275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578918" y="3837622"/>
              <a:ext cx="1143000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6585585" y="3845242"/>
              <a:ext cx="1128712" cy="20955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578918" y="405003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578918" y="414528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10185082" y="3837622"/>
              <a:ext cx="1143000" cy="55626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10192702" y="3845242"/>
              <a:ext cx="112871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10185082" y="405003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10185082" y="414528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655939" y="2607945"/>
              <a:ext cx="59512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874808" y="2736532"/>
              <a:ext cx="1573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TV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453438" y="3060859"/>
              <a:ext cx="74912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play(): void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911111" y="3889058"/>
              <a:ext cx="47861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HaierTV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650355" y="4213384"/>
              <a:ext cx="74912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play(): void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447222" y="3889058"/>
              <a:ext cx="6187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HisenseTV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256520" y="4213384"/>
              <a:ext cx="74912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play(): void</a:t>
              </a:r>
            </a:p>
          </p:txBody>
        </p:sp>
      </p:grpSp>
      <p:grpSp>
        <p:nvGrpSpPr>
          <p:cNvPr id="72" name="c2-callout-3"/>
          <p:cNvGrpSpPr/>
          <p:nvPr/>
        </p:nvGrpSpPr>
        <p:grpSpPr>
          <a:xfrm>
            <a:off x="6248400" y="4893945"/>
            <a:ext cx="5410200" cy="729615"/>
            <a:chOff x="6248400" y="4893945"/>
            <a:chExt cx="5410200" cy="729615"/>
          </a:xfrm>
        </p:grpSpPr>
        <p:sp>
          <p:nvSpPr>
            <p:cNvPr id="67" name="Rectangle 67"/>
            <p:cNvSpPr/>
            <p:nvPr/>
          </p:nvSpPr>
          <p:spPr>
            <a:xfrm>
              <a:off x="6248400" y="4893945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6453188" y="5157790"/>
              <a:ext cx="200023" cy="200023"/>
              <a:chOff x="6453188" y="5157790"/>
              <a:chExt cx="200023" cy="200023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453188" y="51577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6586538" y="52244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6755892" y="5039678"/>
              <a:ext cx="419709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两棵树逐个对应：HaierTVFactory 的 produceTV() 里</a:t>
              </a:r>
              <a:br/>
              <a:r>
                <a:rPr lang="en-US" sz="1350" dirty="0">
                  <a:solidFill>
                    <a:srgbClr val="EEEAF7"/>
                  </a:solidFill>
                  <a:latin typeface="+mn-lt"/>
                  <a:ea typeface="+mn-ea"/>
                  <a:cs typeface="+mn-cs"/>
                </a:rPr>
                <a:t>new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的正是 HaierTV。</a:t>
              </a:r>
            </a:p>
          </p:txBody>
        </p:sp>
      </p:grpSp>
      <p:grpSp>
        <p:nvGrpSpPr>
          <p:cNvPr id="78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73" name="Rectangle 73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76" name="Group 76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7" name="TextBox 77"/>
            <p:cNvSpPr txBox="1"/>
            <p:nvPr/>
          </p:nvSpPr>
          <p:spPr>
            <a:xfrm>
              <a:off x="1040892" y="6028373"/>
              <a:ext cx="77152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两棵树层次相同、个数相同。要生产 TCL 电视机，就在两棵树上各挂一个叶子，别的枝叶不碰。</a:t>
              </a:r>
            </a:p>
          </p:txBody>
        </p:sp>
      </p:grpSp>
      <p:grpSp>
        <p:nvGrpSpPr>
          <p:cNvPr id="8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9" name="TextBox 79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课件中的四个实例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实例一的代码骨架与一次真实的扩展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6059805" cy="4762500"/>
            <a:chOff x="533400" y="1524000"/>
            <a:chExt cx="6059805" cy="47625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762500"/>
            </a:xfrm>
            <a:prstGeom prst="roundRect">
              <a:avLst>
                <a:gd name="adj" fmla="val 200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3923030" cy="42776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TV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play();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HaierTV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TV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play()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"海尔电视机播放中"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TVFactory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TV produceTV();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HaierTVFactory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TVFactory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TV produceTV()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"海尔工厂生产电视机"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HaierTV();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客户端片段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TVFactory factory = (TVFactory) XMLUtil.getBean();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TV tv = factory.produceTV();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tv.play();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6898005" y="1524000"/>
            <a:ext cx="4760595" cy="2587942"/>
            <a:chOff x="6898005" y="1524000"/>
            <a:chExt cx="4760595" cy="2587942"/>
          </a:xfrm>
        </p:grpSpPr>
        <p:sp>
          <p:nvSpPr>
            <p:cNvPr id="11" name="Rectangle 11"/>
            <p:cNvSpPr/>
            <p:nvPr/>
          </p:nvSpPr>
          <p:spPr>
            <a:xfrm>
              <a:off x="6898005" y="1524000"/>
              <a:ext cx="4760595" cy="2587942"/>
            </a:xfrm>
            <a:prstGeom prst="roundRect">
              <a:avLst>
                <a:gd name="adj" fmla="val 51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6907530" y="1657350"/>
              <a:ext cx="47625" cy="232124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145655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27011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扩展演练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030528" y="1768792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增加创维电视机要做什么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145655" y="211645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207504" y="215874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46645" y="2129790"/>
              <a:ext cx="32995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新建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SkyworthTV implements TV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145655" y="245173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207504" y="24940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446645" y="2465070"/>
              <a:ext cx="3063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新建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SkyworthTVFactory extends</a:t>
              </a:r>
              <a:br/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TVFactory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145655" y="307276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207504" y="31150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446645" y="3086100"/>
              <a:ext cx="2110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把配置文件里的类名改成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SkyworthTVFactory。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139178" y="3703796"/>
              <a:ext cx="41839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TV、TVFactory、客户端、其余品牌的类，一行都不改</a:t>
              </a:r>
            </a:p>
          </p:txBody>
        </p:sp>
      </p:grpSp>
      <p:grpSp>
        <p:nvGrpSpPr>
          <p:cNvPr id="48" name="c2-table-2"/>
          <p:cNvGrpSpPr/>
          <p:nvPr/>
        </p:nvGrpSpPr>
        <p:grpSpPr>
          <a:xfrm>
            <a:off x="6898005" y="4302442"/>
            <a:ext cx="4760595" cy="1795462"/>
            <a:chOff x="6898005" y="4302442"/>
            <a:chExt cx="4760595" cy="1795462"/>
          </a:xfrm>
        </p:grpSpPr>
        <p:sp>
          <p:nvSpPr>
            <p:cNvPr id="27" name="Rectangle 27"/>
            <p:cNvSpPr/>
            <p:nvPr/>
          </p:nvSpPr>
          <p:spPr>
            <a:xfrm>
              <a:off x="6898005" y="4302442"/>
              <a:ext cx="4760595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20279" y="443817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文件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089123" y="443817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简单工厂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568356" y="443817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工厂方法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005828" y="488680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已有的工厂类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710612" y="4760595"/>
              <a:ext cx="1459230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808910" y="488680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必须改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10189845" y="4760595"/>
              <a:ext cx="145923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0288143" y="488680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898005" y="519588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898005" y="5200650"/>
              <a:ext cx="476059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005828" y="533542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已有的产品类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808910" y="533542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288143" y="533542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898005" y="564451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005828" y="578405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新增文件数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808910" y="578405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288143" y="578405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898005" y="4302442"/>
              <a:ext cx="4760595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8696325" y="430244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10175558" y="430244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课件中的四个实例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实例二：日志记录器，运行时才决定记到哪里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092440" cy="293370"/>
            <a:chOff x="525780" y="1548765"/>
            <a:chExt cx="809244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0924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某系统的日志记录器要支持文件记录、数据库记录等多种方式，用户可以按需要动态选择。</a:t>
              </a:r>
            </a:p>
          </p:txBody>
        </p:sp>
      </p:grpSp>
      <p:grpSp>
        <p:nvGrpSpPr>
          <p:cNvPr id="27" name="c1-table-1"/>
          <p:cNvGrpSpPr/>
          <p:nvPr/>
        </p:nvGrpSpPr>
        <p:grpSpPr>
          <a:xfrm>
            <a:off x="533400" y="1954530"/>
            <a:ext cx="5193982" cy="2335530"/>
            <a:chOff x="533400" y="1954530"/>
            <a:chExt cx="5193982" cy="2335530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193982" cy="42481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72933" y="208311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模式角色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88676" y="208311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本例中的类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5889" y="2506980"/>
              <a:ext cx="13679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Product 抽象产品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3324" y="2506980"/>
              <a:ext cx="23500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Log（接口，声明 writeLog()）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79844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803208"/>
              <a:ext cx="519398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5889" y="2931795"/>
              <a:ext cx="21195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ConcreteProduct 具体产品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973324" y="2931795"/>
              <a:ext cx="17110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FileLog、DatabaseLog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22326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5889" y="3356610"/>
              <a:ext cx="13679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Factory 抽象工厂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973324" y="3356610"/>
              <a:ext cx="25891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LogFactory（声明 createLog()）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64712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651885"/>
              <a:ext cx="5193982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5889" y="3887152"/>
              <a:ext cx="21195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ConcreteFactory 具体工厂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973324" y="3780472"/>
              <a:ext cx="152095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FileLogFactory、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DatabaseLogFactory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1954530"/>
              <a:ext cx="5193982" cy="2335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2866072" y="1954530"/>
              <a:ext cx="9525" cy="2335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4" name="c1-callout-2"/>
          <p:cNvGrpSpPr/>
          <p:nvPr/>
        </p:nvGrpSpPr>
        <p:grpSpPr>
          <a:xfrm>
            <a:off x="533400" y="4470082"/>
            <a:ext cx="5193982" cy="1207770"/>
            <a:chOff x="533400" y="4470082"/>
            <a:chExt cx="5193982" cy="1207770"/>
          </a:xfrm>
        </p:grpSpPr>
        <p:sp>
          <p:nvSpPr>
            <p:cNvPr id="28" name="Rectangle 28"/>
            <p:cNvSpPr/>
            <p:nvPr/>
          </p:nvSpPr>
          <p:spPr>
            <a:xfrm>
              <a:off x="533400" y="4470082"/>
              <a:ext cx="5193982" cy="1207770"/>
            </a:xfrm>
            <a:prstGeom prst="roundRect">
              <a:avLst>
                <a:gd name="adj" fmla="val 946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4973955"/>
              <a:ext cx="200026" cy="200025"/>
              <a:chOff x="738188" y="4973955"/>
              <a:chExt cx="200026" cy="20002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497395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77926" y="501840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12642" y="512953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511" y="4842986"/>
              <a:ext cx="41622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和电视机例子的类图形状完全一样。认出角色对应关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系，比重画一遍类图更有用。</a:t>
              </a:r>
            </a:p>
          </p:txBody>
        </p:sp>
      </p:grpSp>
      <p:grpSp>
        <p:nvGrpSpPr>
          <p:cNvPr id="38" name="c2-code-1"/>
          <p:cNvGrpSpPr/>
          <p:nvPr/>
        </p:nvGrpSpPr>
        <p:grpSpPr>
          <a:xfrm>
            <a:off x="6032182" y="1954530"/>
            <a:ext cx="5626418" cy="3723322"/>
            <a:chOff x="6032182" y="1954530"/>
            <a:chExt cx="5626418" cy="3723322"/>
          </a:xfrm>
        </p:grpSpPr>
        <p:sp>
          <p:nvSpPr>
            <p:cNvPr id="35" name="Rectangle 35"/>
            <p:cNvSpPr/>
            <p:nvPr/>
          </p:nvSpPr>
          <p:spPr>
            <a:xfrm>
              <a:off x="6032182" y="1954530"/>
              <a:ext cx="5626418" cy="3723322"/>
            </a:xfrm>
            <a:prstGeom prst="roundRect">
              <a:avLst>
                <a:gd name="adj" fmla="val 255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160580" y="210645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160198" y="2367915"/>
              <a:ext cx="3824478" cy="32381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Log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writeLog(String msg);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FileLog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Log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writeLog(String msg)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追加写入 app.log */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LogFactory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Log createLog();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FileLogFactory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LogFactory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Log createLog() {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FileLog();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客户端片段：改配置文件即可换记录方式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LogFactory lf = (LogFactory) XMLUtil.getBean();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lf.createLog().writeLog(</a:t>
              </a:r>
              <a:r>
                <a:rPr lang="zh-CN" sz="105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"启动完成"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</a:p>
          </p:txBody>
        </p:sp>
      </p:grpSp>
      <p:grpSp>
        <p:nvGrpSpPr>
          <p:cNvPr id="45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9" name="Rectangle 39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511" y="6011704"/>
              <a:ext cx="71065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“动态选择”指的是不重新编译就能换，靠的是配置文件加反射，不是运行中途切换。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177925" cy="909257"/>
            <a:chOff x="520446" y="342900"/>
            <a:chExt cx="817792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课件中的四个实例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17792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实例三：大富翁的菜单，把 MenuMgr 里的 new 拆掉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8176486" cy="278702"/>
            <a:chOff x="526161" y="1547336"/>
            <a:chExt cx="8176486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81764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陈伟老师课件里，MenuMgr 的构造过程直接 new 出每一种菜单，增加新菜单就要改 MenuMgr。</a:t>
              </a:r>
            </a:p>
          </p:txBody>
        </p:sp>
      </p:grpSp>
      <p:grpSp>
        <p:nvGrpSpPr>
          <p:cNvPr id="15" name="c1-code-1"/>
          <p:cNvGrpSpPr/>
          <p:nvPr/>
        </p:nvGrpSpPr>
        <p:grpSpPr>
          <a:xfrm>
            <a:off x="533400" y="1941195"/>
            <a:ext cx="5410200" cy="2397442"/>
            <a:chOff x="533400" y="1941195"/>
            <a:chExt cx="5410200" cy="2397442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410200" cy="2397442"/>
            </a:xfrm>
            <a:prstGeom prst="roundRect">
              <a:avLst>
                <a:gd name="adj" fmla="val 397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9311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改造前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3072765"/>
              <a:ext cx="537210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3261360"/>
              <a:ext cx="537210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52450" y="3450908"/>
              <a:ext cx="537210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416" y="2354580"/>
              <a:ext cx="3604451" cy="19112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MenuMgr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List&lt;Menu&gt; menus =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ArrayList&lt;&gt;();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initialize()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menus.add(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MainMenu());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硬编码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menus.add(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NewMenu());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menus.add(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LoadMenu());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setActivedMenu(MenuType.MAIN_MENU);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2" name="c1-bullets-2"/>
          <p:cNvGrpSpPr/>
          <p:nvPr/>
        </p:nvGrpSpPr>
        <p:grpSpPr>
          <a:xfrm>
            <a:off x="533400" y="4536758"/>
            <a:ext cx="3658893" cy="886015"/>
            <a:chOff x="533400" y="4536758"/>
            <a:chExt cx="3658893" cy="886015"/>
          </a:xfrm>
        </p:grpSpPr>
        <p:sp>
          <p:nvSpPr>
            <p:cNvPr id="16" name="Freeform 16"/>
            <p:cNvSpPr/>
            <p:nvPr/>
          </p:nvSpPr>
          <p:spPr>
            <a:xfrm>
              <a:off x="533400" y="4569142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762" y="4536758"/>
              <a:ext cx="26713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MenuMgr 认识每一种具体菜单类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533400" y="4880610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62762" y="4847272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加一个菜单就要改它的初始化代码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533400" y="5191125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62762" y="5158740"/>
              <a:ext cx="34295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Map、Player、Block 的构造有同样的毛病</a:t>
              </a:r>
            </a:p>
          </p:txBody>
        </p:sp>
      </p:grpSp>
      <p:grpSp>
        <p:nvGrpSpPr>
          <p:cNvPr id="29" name="c1-callout-3"/>
          <p:cNvGrpSpPr/>
          <p:nvPr/>
        </p:nvGrpSpPr>
        <p:grpSpPr>
          <a:xfrm>
            <a:off x="533400" y="5544502"/>
            <a:ext cx="5410200" cy="729615"/>
            <a:chOff x="533400" y="5544502"/>
            <a:chExt cx="5410200" cy="729615"/>
          </a:xfrm>
        </p:grpSpPr>
        <p:sp>
          <p:nvSpPr>
            <p:cNvPr id="23" name="Rectangle 23"/>
            <p:cNvSpPr/>
            <p:nvPr/>
          </p:nvSpPr>
          <p:spPr>
            <a:xfrm>
              <a:off x="533400" y="5544502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38188" y="5809298"/>
              <a:ext cx="200026" cy="200026"/>
              <a:chOff x="738188" y="5809298"/>
              <a:chExt cx="200026" cy="200026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738188" y="580929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38200" y="58759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27088" y="590931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40892" y="5691188"/>
              <a:ext cx="439426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MenuMgr 本身是菜单管理器，它该管的是菜单的增删和切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换，不该管菜单怎么造出来。</a:t>
              </a:r>
            </a:p>
          </p:txBody>
        </p:sp>
      </p:grpSp>
      <p:grpSp>
        <p:nvGrpSpPr>
          <p:cNvPr id="33" name="c2-code-1"/>
          <p:cNvGrpSpPr/>
          <p:nvPr/>
        </p:nvGrpSpPr>
        <p:grpSpPr>
          <a:xfrm>
            <a:off x="6248400" y="1941195"/>
            <a:ext cx="5410200" cy="2776538"/>
            <a:chOff x="6248400" y="1941195"/>
            <a:chExt cx="5410200" cy="2776538"/>
          </a:xfrm>
        </p:grpSpPr>
        <p:sp>
          <p:nvSpPr>
            <p:cNvPr id="30" name="Rectangle 30"/>
            <p:cNvSpPr/>
            <p:nvPr/>
          </p:nvSpPr>
          <p:spPr>
            <a:xfrm>
              <a:off x="6248400" y="1941195"/>
              <a:ext cx="5410200" cy="2776538"/>
            </a:xfrm>
            <a:prstGeom prst="roundRect">
              <a:avLst>
                <a:gd name="adj" fmla="val 343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76797" y="209311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改造后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76416" y="2354580"/>
              <a:ext cx="3917823" cy="22903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IMenuFactory {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抽象工厂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Menu createMenu(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menuType);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MenuMgr 里新增的方法 */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createAllMenus(IMenuFactory fac)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 = MenuType.MAIN_MENU;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t &lt; MenuType.TOTAL_COUNT; t++)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menus.add(fac.createMenu(t));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工厂方法 */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setActivedMenu(MenuType.MAIN_MENU);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9" name="c2-callout-2"/>
          <p:cNvGrpSpPr/>
          <p:nvPr/>
        </p:nvGrpSpPr>
        <p:grpSpPr>
          <a:xfrm>
            <a:off x="6248400" y="4892992"/>
            <a:ext cx="5410200" cy="1381125"/>
            <a:chOff x="6248400" y="4892992"/>
            <a:chExt cx="5410200" cy="1381125"/>
          </a:xfrm>
        </p:grpSpPr>
        <p:sp>
          <p:nvSpPr>
            <p:cNvPr id="34" name="Rectangle 34"/>
            <p:cNvSpPr/>
            <p:nvPr/>
          </p:nvSpPr>
          <p:spPr>
            <a:xfrm>
              <a:off x="6248400" y="4892992"/>
              <a:ext cx="5410200" cy="1381125"/>
            </a:xfrm>
            <a:prstGeom prst="roundRect">
              <a:avLst>
                <a:gd name="adj" fmla="val 8276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6453188" y="5483545"/>
              <a:ext cx="200023" cy="200023"/>
              <a:chOff x="6453188" y="5483545"/>
              <a:chExt cx="200023" cy="200023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6453188" y="548354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586538" y="555021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6755892" y="5365433"/>
              <a:ext cx="441998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MenuMgr 从此只认识 IMenuFactory 和 Menu 两个抽象类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型。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课件中的四个实例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具体工厂从哪来：课件给的四种接线方式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466536" cy="308039"/>
            <a:chOff x="525399" y="1550194"/>
            <a:chExt cx="7466536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46653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抽象出工厂只解决了一半，另一半是“谁负责把具体工厂交到 MenuMgr 手上”。</a:t>
              </a:r>
            </a:p>
          </p:txBody>
        </p:sp>
      </p:grpSp>
      <p:grpSp>
        <p:nvGrpSpPr>
          <p:cNvPr id="41" name="c1-table-1"/>
          <p:cNvGrpSpPr/>
          <p:nvPr/>
        </p:nvGrpSpPr>
        <p:grpSpPr>
          <a:xfrm>
            <a:off x="533400" y="1967865"/>
            <a:ext cx="6708458" cy="2924175"/>
            <a:chOff x="533400" y="1967865"/>
            <a:chExt cx="6708458" cy="292417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6708458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57517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568219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542841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课件标注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53777" y="2102644"/>
              <a:ext cx="13664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MenuMgr 依赖谁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1223" y="266461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方式一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446086" y="2551271"/>
              <a:ext cx="242697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具体工厂作参数传给 MenuMgr 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造函数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263580" y="266461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不推荐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739956" y="266461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08705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3091815"/>
              <a:ext cx="670845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22754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方式二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46086" y="3227546"/>
              <a:ext cx="25373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具体工厂作参数传给 initialize()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263580" y="322754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不推荐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739956" y="322754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535680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378952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方式三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46086" y="3676174"/>
              <a:ext cx="190677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initialize() 里直接取单例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MenuFactory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263580" y="378952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标注为简单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641658" y="3549968"/>
              <a:ext cx="1590675" cy="656272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739956" y="378952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具体工厂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21100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4215765"/>
              <a:ext cx="670845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1223" y="44648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方式四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446086" y="4351496"/>
              <a:ext cx="236194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 createAllMenus(fac)，客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户端调用时传工厂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263580" y="4351496"/>
              <a:ext cx="11508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课件给了完整代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码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641658" y="4225290"/>
              <a:ext cx="1590675" cy="656272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739956" y="44648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1967865"/>
              <a:ext cx="6708458" cy="29241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333500" y="1967865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150995" y="1967865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627370" y="1967865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8" name="c1-callout-2"/>
          <p:cNvGrpSpPr/>
          <p:nvPr/>
        </p:nvGrpSpPr>
        <p:grpSpPr>
          <a:xfrm>
            <a:off x="533400" y="5082540"/>
            <a:ext cx="6708458" cy="782955"/>
            <a:chOff x="533400" y="5082540"/>
            <a:chExt cx="6708458" cy="782955"/>
          </a:xfrm>
        </p:grpSpPr>
        <p:sp>
          <p:nvSpPr>
            <p:cNvPr id="42" name="Rectangle 42"/>
            <p:cNvSpPr/>
            <p:nvPr/>
          </p:nvSpPr>
          <p:spPr>
            <a:xfrm>
              <a:off x="533400" y="5082540"/>
              <a:ext cx="6708458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5374005"/>
              <a:ext cx="200026" cy="200025"/>
              <a:chOff x="738188" y="5374005"/>
              <a:chExt cx="200026" cy="20002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738188" y="537400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77926" y="541845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12642" y="552958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130" y="5231130"/>
              <a:ext cx="57016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方式三最省事，但 MenuMgr 又写死了一个具体工厂的名字，等于把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耦合从菜单挪到了工厂。</a:t>
              </a:r>
            </a:p>
          </p:txBody>
        </p:sp>
      </p:grpSp>
      <p:grpSp>
        <p:nvGrpSpPr>
          <p:cNvPr id="57" name="c2-card-1"/>
          <p:cNvGrpSpPr/>
          <p:nvPr/>
        </p:nvGrpSpPr>
        <p:grpSpPr>
          <a:xfrm>
            <a:off x="7546658" y="1967865"/>
            <a:ext cx="4111942" cy="3897630"/>
            <a:chOff x="7546658" y="1967865"/>
            <a:chExt cx="4111942" cy="3897630"/>
          </a:xfrm>
        </p:grpSpPr>
        <p:sp>
          <p:nvSpPr>
            <p:cNvPr id="49" name="Rectangle 49"/>
            <p:cNvSpPr/>
            <p:nvPr/>
          </p:nvSpPr>
          <p:spPr>
            <a:xfrm>
              <a:off x="7546658" y="1967865"/>
              <a:ext cx="4111942" cy="3897630"/>
            </a:xfrm>
            <a:prstGeom prst="roundRect">
              <a:avLst>
                <a:gd name="adj" fmla="val 34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556182" y="2101215"/>
              <a:ext cx="47625" cy="363093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7794308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88546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提醒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786688" y="2554605"/>
              <a:ext cx="33440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课件的 createMenu 里仍有 if-else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786688" y="2908935"/>
              <a:ext cx="33775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MenuFactory::createMenu(int</a:t>
              </a:r>
              <a:br/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menuType)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内部按 menuType 分支返回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MainMenu、NewMenu、LoadMenu。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786688" y="3815715"/>
              <a:ext cx="35013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新增菜单仍要改这个具体工厂，它属于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参</a:t>
              </a:r>
              <a:br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数化工厂方法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，不是严格意义上的开闭。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787830" y="4432459"/>
              <a:ext cx="22013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取舍与彻底的做法见第 30 页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课件中的四个实例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实例四：迷宫游戏，一个工厂里放好几个工厂方法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894448" cy="293370"/>
            <a:chOff x="525780" y="1548765"/>
            <a:chExt cx="10894448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8944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GoF 原书的迷宫例子。MazeFactory 把 makeMaze、makeRoom、makeWall、makeDoor 四个工厂方法放在同一个类里。</a:t>
              </a:r>
            </a:p>
          </p:txBody>
        </p:sp>
      </p:grpSp>
      <p:grpSp>
        <p:nvGrpSpPr>
          <p:cNvPr id="14" name="c1-code-1"/>
          <p:cNvGrpSpPr/>
          <p:nvPr/>
        </p:nvGrpSpPr>
        <p:grpSpPr>
          <a:xfrm>
            <a:off x="533400" y="1954530"/>
            <a:ext cx="5951220" cy="3533775"/>
            <a:chOff x="533400" y="1954530"/>
            <a:chExt cx="5951220" cy="3533775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951220" cy="3533775"/>
            </a:xfrm>
            <a:prstGeom prst="roundRect">
              <a:avLst>
                <a:gd name="adj" fmla="val 26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0645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4411028"/>
              <a:ext cx="591312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4600575"/>
              <a:ext cx="591312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416" y="2367915"/>
              <a:ext cx="4044506" cy="30485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MazeFactory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Maze makeMaze()      {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Maze();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Wall makeWall()      {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Wall();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Room makeRoom(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n) {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Room(n);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Door makeDoor(Room r1, Room r2)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Door(r1, r2);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子类只覆盖自己关心的那几个工厂方法 */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BombedMazeFactory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MazeFactory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Wall makeWall() {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BombedWall();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Room makeRoom(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RoomWithABomb(n);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2" name="c2-bullets-1"/>
          <p:cNvGrpSpPr/>
          <p:nvPr/>
        </p:nvGrpSpPr>
        <p:grpSpPr>
          <a:xfrm>
            <a:off x="6782181" y="1977866"/>
            <a:ext cx="4582617" cy="1268350"/>
            <a:chOff x="6782181" y="1977866"/>
            <a:chExt cx="4582617" cy="1268350"/>
          </a:xfrm>
        </p:grpSpPr>
        <p:sp>
          <p:nvSpPr>
            <p:cNvPr id="15" name="TextBox 15"/>
            <p:cNvSpPr txBox="1"/>
            <p:nvPr/>
          </p:nvSpPr>
          <p:spPr>
            <a:xfrm>
              <a:off x="6782181" y="197786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三点值得注意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6797040" y="237363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953631" y="2314099"/>
              <a:ext cx="43517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createMaze(f) 一行不改，换个工厂就换整座迷宫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6797040" y="2700338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953631" y="2640806"/>
              <a:ext cx="376077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EnchantedMazeFactory 让门必须念咒才开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797040" y="302704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953631" y="2967514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父类的工厂方法有默认实现，子类可以只覆盖一部分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789420" y="3369945"/>
            <a:ext cx="4869180" cy="2118360"/>
            <a:chOff x="6789420" y="3369945"/>
            <a:chExt cx="4869180" cy="2118360"/>
          </a:xfrm>
        </p:grpSpPr>
        <p:sp>
          <p:nvSpPr>
            <p:cNvPr id="23" name="Rectangle 23"/>
            <p:cNvSpPr/>
            <p:nvPr/>
          </p:nvSpPr>
          <p:spPr>
            <a:xfrm>
              <a:off x="6789420" y="3369945"/>
              <a:ext cx="4869180" cy="2118360"/>
            </a:xfrm>
            <a:prstGeom prst="roundRect">
              <a:avLst>
                <a:gd name="adj" fmla="val 62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798945" y="3503295"/>
              <a:ext cx="47625" cy="185166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025640" y="356806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117080" y="360235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08951" y="3602831"/>
              <a:ext cx="207614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课件第 30 页的两处笔误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018401" y="3946684"/>
              <a:ext cx="425246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Room * r1 = MakeRoom(2);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重复声明了 r1，第二个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应为 </a:t>
              </a:r>
              <a:r>
                <a:rPr lang="en-US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r2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018401" y="4536281"/>
              <a:ext cx="394048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virtual Wall * MakeRoom(int n) { return new</a:t>
              </a:r>
              <a:br/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Room(n); }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返回类型写成了 Wall，应为 </a:t>
              </a:r>
              <a:r>
                <a:rPr lang="en-US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Room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37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1" name="Rectangle 31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511" y="6011704"/>
              <a:ext cx="66477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一个工厂造一整族配套的产品，已经很接近抽象工厂了，界线在第 12 讲说清。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913632" cy="2997517"/>
            <a:chOff x="667512" y="1835468"/>
            <a:chExt cx="3913632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效果、适用与扩展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什么时候值得付出多一倍类的代价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优点与缺点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三种适用情况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参数化工厂方法与模式的退化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效果、适用与扩展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优点与缺点：收益是只加不改，代价是类成对增加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compare-1"/>
          <p:cNvGrpSpPr/>
          <p:nvPr/>
        </p:nvGrpSpPr>
        <p:grpSpPr>
          <a:xfrm>
            <a:off x="533400" y="1524000"/>
            <a:ext cx="11125200" cy="2560320"/>
            <a:chOff x="533400" y="1524000"/>
            <a:chExt cx="11125200" cy="25603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314950" cy="2560320"/>
            </a:xfrm>
            <a:prstGeom prst="roundRect">
              <a:avLst>
                <a:gd name="adj" fmla="val 520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936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3430" y="17583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86765" y="217551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4880" y="211264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向客户隐藏了哪个具体产品被实例化，客户甚至不必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知道产品类名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79654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3367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工厂自主决定造什么，怎么造完全封装在具体工厂内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341757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335470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加新产品无须改抽象层、客户端和其他具体工厂，符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合开闭原则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43650" y="1524000"/>
              <a:ext cx="5314950" cy="2560320"/>
            </a:xfrm>
            <a:prstGeom prst="roundRect">
              <a:avLst>
                <a:gd name="adj" fmla="val 520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353175" y="1657350"/>
              <a:ext cx="47625" cy="229362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583680" y="17583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6597015" y="217551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755130" y="211264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每加一个产品要配一个工厂，类的个数成对增长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6597015" y="251079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755130" y="244792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更多的类要编译和加载，带来额外开销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597015" y="284607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55130" y="2783205"/>
              <a:ext cx="47571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引入抽象层加上 DOM、反射，提高了理解和实现难度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895975" y="2604135"/>
              <a:ext cx="400050" cy="4000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49315" y="273843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权衡</a:t>
              </a:r>
            </a:p>
          </p:txBody>
        </p:sp>
      </p:grpSp>
      <p:grpSp>
        <p:nvGrpSpPr>
          <p:cNvPr id="55" name="c1-table-2"/>
          <p:cNvGrpSpPr/>
          <p:nvPr/>
        </p:nvGrpSpPr>
        <p:grpSpPr>
          <a:xfrm>
            <a:off x="533400" y="4274820"/>
            <a:ext cx="11125200" cy="1795462"/>
            <a:chOff x="533400" y="4274820"/>
            <a:chExt cx="11125200" cy="1795462"/>
          </a:xfrm>
        </p:grpSpPr>
        <p:sp>
          <p:nvSpPr>
            <p:cNvPr id="28" name="Rectangle 28"/>
            <p:cNvSpPr/>
            <p:nvPr/>
          </p:nvSpPr>
          <p:spPr>
            <a:xfrm>
              <a:off x="533400" y="4274820"/>
              <a:ext cx="11125200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690014" y="441055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方案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782060" y="441055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新增一种产品要建的类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180491" y="441055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要修改的已有代码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306418" y="441055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开闭原则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1223" y="4859179"/>
              <a:ext cx="12635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客户端直接 new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311080" y="4859179"/>
              <a:ext cx="8486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个产品类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203823" y="4859179"/>
              <a:ext cx="14690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每一处 new 都要改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9665970" y="4732972"/>
              <a:ext cx="1983105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764268" y="485917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违反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51673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33400" y="517207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1223" y="53078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311080" y="5307806"/>
              <a:ext cx="8486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个产品类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203823" y="530780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工厂类里的分支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665970" y="5181600"/>
              <a:ext cx="1983105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764268" y="53078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违反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56168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1223" y="575643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311080" y="5756434"/>
              <a:ext cx="18825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个产品类 + 1 个工厂类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203823" y="575643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配置文件里的一个类名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9665970" y="5631180"/>
              <a:ext cx="198310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764268" y="575643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满足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3400" y="4274820"/>
              <a:ext cx="11125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3198495" y="427482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091238" y="427482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9651682" y="427482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效果、适用与扩展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三种情况下值得用，另有两种情况用了亏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bullets-1"/>
          <p:cNvGrpSpPr/>
          <p:nvPr/>
        </p:nvGrpSpPr>
        <p:grpSpPr>
          <a:xfrm>
            <a:off x="525780" y="1548765"/>
            <a:ext cx="5715127" cy="2337721"/>
            <a:chOff x="525780" y="1548765"/>
            <a:chExt cx="5715127" cy="2337721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课件给的适用环境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533400" y="188976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95249" y="19320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4390" y="190309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一个类不知道它所需要对象的类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42010" y="2269808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26033" y="2196941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客户端只需知道对应的工厂，具体产品由具体工厂创建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492692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5249" y="2534984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4390" y="2506028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一个类通过其子类来指定创建哪个对象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842010" y="2872740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26033" y="2799874"/>
              <a:ext cx="46654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抽象工厂只给接口，子类确定要造的对象，靠多态和里氏代换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309562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95249" y="313791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4390" y="310896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把创建任务委托给多个工厂子类中的某一个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42010" y="3475672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26033" y="3402806"/>
              <a:ext cx="52148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客户端不必关心是哪个子类，需要时再动态指定，类名可放配置文件或数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据库</a:t>
              </a:r>
            </a:p>
          </p:txBody>
        </p:sp>
      </p:grpSp>
      <p:grpSp>
        <p:nvGrpSpPr>
          <p:cNvPr id="31" name="c1-card-2"/>
          <p:cNvGrpSpPr/>
          <p:nvPr/>
        </p:nvGrpSpPr>
        <p:grpSpPr>
          <a:xfrm>
            <a:off x="533400" y="4027170"/>
            <a:ext cx="6059805" cy="1956435"/>
            <a:chOff x="533400" y="4027170"/>
            <a:chExt cx="6059805" cy="1956435"/>
          </a:xfrm>
        </p:grpSpPr>
        <p:sp>
          <p:nvSpPr>
            <p:cNvPr id="24" name="Rectangle 24"/>
            <p:cNvSpPr/>
            <p:nvPr/>
          </p:nvSpPr>
          <p:spPr>
            <a:xfrm>
              <a:off x="533400" y="4027170"/>
              <a:ext cx="6059805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42925" y="4160520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81050" y="423672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71258" y="427243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反面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382078" y="427196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两种情况用了反而亏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73430" y="4632960"/>
              <a:ext cx="5349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产品只有一种且短期不会增加：多写的抽象工厂和具体工厂全是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空转。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73430" y="5253990"/>
              <a:ext cx="5187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创建过程就是一句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，没有参数校验、没有初始化、没有注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册：包一层只是多一次跳转。</a:t>
              </a:r>
            </a:p>
          </p:txBody>
        </p:sp>
      </p:grpSp>
      <p:grpSp>
        <p:nvGrpSpPr>
          <p:cNvPr id="34" name="c2-image-1"/>
          <p:cNvGrpSpPr/>
          <p:nvPr/>
        </p:nvGrpSpPr>
        <p:grpSpPr>
          <a:xfrm>
            <a:off x="6898005" y="1524000"/>
            <a:ext cx="4760595" cy="3077052"/>
            <a:chOff x="6898005" y="1524000"/>
            <a:chExt cx="4760595" cy="3077052"/>
          </a:xfrm>
        </p:grpSpPr>
        <p:pic>
          <p:nvPicPr>
            <p:cNvPr id="32" name="Image 32"/>
            <p:cNvPicPr>
              <a:picLocks noChangeAspect="1"/>
            </p:cNvPicPr>
            <p:nvPr/>
          </p:nvPicPr>
          <p:blipFill>
            <a:blip r:embed="rId2"/>
            <a:srcRect l="0" t="11318" r="0" b="11318"/>
            <a:stretch>
              <a:fillRect/>
            </a:stretch>
          </p:blipFill>
          <p:spPr>
            <a:xfrm>
              <a:off x="6898005" y="1524000"/>
              <a:ext cx="4760595" cy="2762250"/>
            </a:xfrm>
            <a:prstGeom prst="roundRect">
              <a:avLst>
                <a:gd name="adj" fmla="val 4827"/>
              </a:avLst>
            </a:prstGeom>
          </p:spPr>
        </p:pic>
        <p:sp>
          <p:nvSpPr>
            <p:cNvPr id="33" name="TextBox 33"/>
            <p:cNvSpPr txBox="1"/>
            <p:nvPr/>
          </p:nvSpPr>
          <p:spPr>
            <a:xfrm>
              <a:off x="7915618" y="4381024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接第五节轨道时，前四节一节都不用拆开</a:t>
              </a:r>
            </a:p>
          </p:txBody>
        </p:sp>
      </p:grpSp>
      <p:grpSp>
        <p:nvGrpSpPr>
          <p:cNvPr id="40" name="c2-callout-2"/>
          <p:cNvGrpSpPr/>
          <p:nvPr/>
        </p:nvGrpSpPr>
        <p:grpSpPr>
          <a:xfrm>
            <a:off x="6898005" y="4766310"/>
            <a:ext cx="4760595" cy="1217295"/>
            <a:chOff x="6898005" y="4766310"/>
            <a:chExt cx="4760595" cy="1217295"/>
          </a:xfrm>
        </p:grpSpPr>
        <p:sp>
          <p:nvSpPr>
            <p:cNvPr id="35" name="Rectangle 35"/>
            <p:cNvSpPr/>
            <p:nvPr/>
          </p:nvSpPr>
          <p:spPr>
            <a:xfrm>
              <a:off x="6898005" y="4766310"/>
              <a:ext cx="4760595" cy="1217295"/>
            </a:xfrm>
            <a:prstGeom prst="roundRect">
              <a:avLst>
                <a:gd name="adj" fmla="val 939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102793" y="5274947"/>
              <a:ext cx="200023" cy="200023"/>
              <a:chOff x="7102793" y="5274947"/>
              <a:chExt cx="200023" cy="200023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102793" y="527494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7236143" y="53416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7404735" y="5132070"/>
              <a:ext cx="3825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一句自检：如果新增产品时还要打开旧文件，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那就不是工厂方法在起作用。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效果、适用与扩展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框架里的工厂方法：哪一句才算数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507660" cy="264033"/>
            <a:chOff x="526542" y="1545907"/>
            <a:chExt cx="550766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507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课件举了 JMS 和 JDBC。把它们和真正的角色对上，比背结论管用。</a:t>
              </a:r>
            </a:p>
          </p:txBody>
        </p:sp>
      </p:grpSp>
      <p:grpSp>
        <p:nvGrpSpPr>
          <p:cNvPr id="15" name="c1-code-1"/>
          <p:cNvGrpSpPr/>
          <p:nvPr/>
        </p:nvGrpSpPr>
        <p:grpSpPr>
          <a:xfrm>
            <a:off x="533400" y="1928812"/>
            <a:ext cx="5842635" cy="3495675"/>
            <a:chOff x="533400" y="1928812"/>
            <a:chExt cx="5842635" cy="349567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842635" cy="3495675"/>
            </a:xfrm>
            <a:prstGeom prst="roundRect">
              <a:avLst>
                <a:gd name="adj" fmla="val 272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3183255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4062412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52450" y="4765358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" y="2340769"/>
              <a:ext cx="3980180" cy="30100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JDBC：静态工厂，不是工厂方法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Connection conn =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DriverManager.getConnection(url, user, pwd);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/* 这一句才是工厂方法：由驱动的 Connection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实现类决定造哪种 Statement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Statement st = conn.createStatement();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ResultSet rs = st.executeQuery(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"select * from UserInfo"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集合框架里的经典工厂方法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List&lt;String&gt; list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ArrayList&lt;&gt;();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Iterator&lt;String&gt; it = list.iterator();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JMS：连接工厂造连接，连接造会话，会话造发送者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QueueConnection qConn = qConnFact.createQueueConnection();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QueueSession qSess = qConn.createQueueSession(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false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Session.AUTO_ACKNOWLEDGE);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QueueSender qSend = qSess.createSender(q);</a:t>
              </a:r>
            </a:p>
          </p:txBody>
        </p:sp>
      </p:grpSp>
      <p:grpSp>
        <p:nvGrpSpPr>
          <p:cNvPr id="35" name="c2-table-1"/>
          <p:cNvGrpSpPr/>
          <p:nvPr/>
        </p:nvGrpSpPr>
        <p:grpSpPr>
          <a:xfrm>
            <a:off x="6680835" y="1928812"/>
            <a:ext cx="4977765" cy="2466975"/>
            <a:chOff x="6680835" y="1928812"/>
            <a:chExt cx="4977765" cy="2466975"/>
          </a:xfrm>
        </p:grpSpPr>
        <p:sp>
          <p:nvSpPr>
            <p:cNvPr id="16" name="Rectangle 16"/>
            <p:cNvSpPr/>
            <p:nvPr/>
          </p:nvSpPr>
          <p:spPr>
            <a:xfrm>
              <a:off x="6680835" y="1928812"/>
              <a:ext cx="4977765" cy="38100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545758" y="2045970"/>
              <a:ext cx="5599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框架 API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955911" y="204597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扮演的角色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75514" y="2426970"/>
              <a:ext cx="1347835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Connection /</a:t>
              </a:r>
              <a:br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createStatement()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065324" y="2520315"/>
              <a:ext cx="13040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 / 工厂方法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680835" y="287369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680835" y="2878455"/>
              <a:ext cx="497776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775514" y="2995612"/>
              <a:ext cx="16707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Collection / iterator()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065324" y="2995612"/>
              <a:ext cx="13040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 / 工厂方法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680835" y="325469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75514" y="3376612"/>
              <a:ext cx="1543860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QueueConnection /</a:t>
              </a:r>
              <a:br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createQueueSession()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065324" y="3469958"/>
              <a:ext cx="13040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 / 工厂方法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680835" y="382238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680835" y="3827145"/>
              <a:ext cx="4977765" cy="5676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75514" y="3945255"/>
              <a:ext cx="1970913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DriverManager.getConnectio</a:t>
              </a:r>
              <a:br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n()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980170" y="3836670"/>
              <a:ext cx="2668905" cy="54864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5324" y="4038600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静态工厂方法，属简单工厂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680835" y="1928812"/>
              <a:ext cx="4977765" cy="24669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8965882" y="1928812"/>
              <a:ext cx="9525" cy="24669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3" name="c2-card-2"/>
          <p:cNvGrpSpPr/>
          <p:nvPr/>
        </p:nvGrpSpPr>
        <p:grpSpPr>
          <a:xfrm>
            <a:off x="6680835" y="4560570"/>
            <a:ext cx="4977765" cy="1687830"/>
            <a:chOff x="6680835" y="4560570"/>
            <a:chExt cx="4977765" cy="1687830"/>
          </a:xfrm>
        </p:grpSpPr>
        <p:sp>
          <p:nvSpPr>
            <p:cNvPr id="36" name="Rectangle 36"/>
            <p:cNvSpPr/>
            <p:nvPr/>
          </p:nvSpPr>
          <p:spPr>
            <a:xfrm>
              <a:off x="6680835" y="4560570"/>
              <a:ext cx="4977765" cy="1687830"/>
            </a:xfrm>
            <a:prstGeom prst="roundRect">
              <a:avLst>
                <a:gd name="adj" fmla="val 79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690360" y="4693920"/>
              <a:ext cx="47625" cy="14211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899910" y="474154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992582" y="477440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466838" y="4781074"/>
              <a:ext cx="27883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课件把 JDBC 的入口当成了工厂方法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893433" y="5097304"/>
              <a:ext cx="423138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DriverManager.getConnection()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是静态方法，不能被覆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盖，按参数选驱动，属于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简单工厂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893433" y="5625941"/>
              <a:ext cx="430453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JDBC 里体现工厂方法的是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conn.createStatement()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这一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效果、适用与扩展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扩展一：一个工厂里可以声明多个工厂方法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464933" cy="264033"/>
            <a:chOff x="526542" y="1545907"/>
            <a:chExt cx="746493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4649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陈伟老师课件先写了两个独立工厂，再把它们合并成一个，这一步正好走到抽象工厂的门口。</a:t>
              </a:r>
            </a:p>
          </p:txBody>
        </p:sp>
      </p:grpSp>
      <p:grpSp>
        <p:nvGrpSpPr>
          <p:cNvPr id="15" name="c1-code-1"/>
          <p:cNvGrpSpPr/>
          <p:nvPr/>
        </p:nvGrpSpPr>
        <p:grpSpPr>
          <a:xfrm>
            <a:off x="533400" y="1928812"/>
            <a:ext cx="6059805" cy="3670935"/>
            <a:chOff x="533400" y="1928812"/>
            <a:chExt cx="6059805" cy="367093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059805" cy="3670935"/>
            </a:xfrm>
            <a:prstGeom prst="roundRect">
              <a:avLst>
                <a:gd name="adj" fmla="val 25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4765358"/>
              <a:ext cx="602170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4941570"/>
              <a:ext cx="602170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52450" y="5116830"/>
              <a:ext cx="602170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" y="2340769"/>
              <a:ext cx="4185539" cy="31863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写法 A：两个工厂，各有一个工厂方法 */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AniFactory   { IAnimal createAni(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t); 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PlaceFactory { IPlace  createPlace(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Client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AniFactory   aniFac  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MyAniFactory();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PlaceFactory placeFac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PlaceFactory01();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useXxxx()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IAnimal ani   = aniFac.createAni(1);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IPlace  place = placeFac.createPlace(2);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写法 B：合并成一个工厂，声明两个工厂方法 */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ProductFactory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IPlace  createPlace(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IAnimal createAni(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6" name="c2-table-1"/>
          <p:cNvGrpSpPr/>
          <p:nvPr/>
        </p:nvGrpSpPr>
        <p:grpSpPr>
          <a:xfrm>
            <a:off x="6898005" y="1928812"/>
            <a:ext cx="4760595" cy="1600200"/>
            <a:chOff x="6898005" y="1928812"/>
            <a:chExt cx="4760595" cy="1600200"/>
          </a:xfrm>
        </p:grpSpPr>
        <p:sp>
          <p:nvSpPr>
            <p:cNvPr id="16" name="Rectangle 16"/>
            <p:cNvSpPr/>
            <p:nvPr/>
          </p:nvSpPr>
          <p:spPr>
            <a:xfrm>
              <a:off x="6898005" y="1928812"/>
              <a:ext cx="4760595" cy="40005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459561" y="20502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050722" y="2050256"/>
              <a:ext cx="4551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写法 A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637587" y="2050256"/>
              <a:ext cx="4551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写法 B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995160" y="245030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工厂对象个数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582025" y="2450306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个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168890" y="2450306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898005" y="272415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898005" y="2728912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995160" y="28503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能否混搭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82025" y="28503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能，任意组合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168890" y="28503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不能，整套换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98005" y="312420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995160" y="32504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配套约束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582025" y="32504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不保证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10081260" y="3138488"/>
              <a:ext cx="1567815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0168890" y="32504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由工厂保证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898005" y="1928812"/>
              <a:ext cx="4760595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8480108" y="1928812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10066972" y="1928812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1" name="c2-bullets-2"/>
          <p:cNvGrpSpPr/>
          <p:nvPr/>
        </p:nvGrpSpPr>
        <p:grpSpPr>
          <a:xfrm>
            <a:off x="6906578" y="3721418"/>
            <a:ext cx="4481703" cy="1086992"/>
            <a:chOff x="6906578" y="3721418"/>
            <a:chExt cx="4481703" cy="1086992"/>
          </a:xfrm>
        </p:grpSpPr>
        <p:sp>
          <p:nvSpPr>
            <p:cNvPr id="37" name="Ellipse 37"/>
            <p:cNvSpPr/>
            <p:nvPr/>
          </p:nvSpPr>
          <p:spPr>
            <a:xfrm>
              <a:off x="6906578" y="377761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062597" y="3721418"/>
              <a:ext cx="432568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写法 B 让动物和场地必然来自同一套实现，迷宫例子用的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就是它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906578" y="434340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062597" y="4287202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一个工厂负责创建一族相关产品，这正是抽象工厂的定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义，见第 12 讲</a:t>
              </a:r>
            </a:p>
          </p:txBody>
        </p:sp>
      </p:grpSp>
      <p:grpSp>
        <p:nvGrpSpPr>
          <p:cNvPr id="48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2" name="Rectangle 42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892" y="6028373"/>
              <a:ext cx="99357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更正：课件把析构写成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virtual ~AniFactory() = 0;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却没有给出函数体，C++ 里链接会失败；应写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= default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或另行定义。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效果、适用与扩展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扩展二：参数化工厂方法，以及模式的退化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5626418" cy="2088832"/>
            <a:chOff x="533400" y="1524000"/>
            <a:chExt cx="5626418" cy="20888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088832"/>
            </a:xfrm>
            <a:prstGeom prst="roundRect">
              <a:avLst>
                <a:gd name="adj" fmla="val 456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954655"/>
              <a:ext cx="5588318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1935956"/>
              <a:ext cx="3494786" cy="1600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参数化工厂方法：一个工厂按参数造多种产品 */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Factory1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Factory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IAnimal createAnimal(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type)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(type == 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'D'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Dog();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(type == 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'C'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Cat();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(type == 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'F'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Fish();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;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新增 Rabbit 要改这里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5" name="c1-code-2"/>
          <p:cNvGrpSpPr/>
          <p:nvPr/>
        </p:nvGrpSpPr>
        <p:grpSpPr>
          <a:xfrm>
            <a:off x="533400" y="3782378"/>
            <a:ext cx="5626418" cy="1912620"/>
            <a:chOff x="533400" y="3782378"/>
            <a:chExt cx="5626418" cy="1912620"/>
          </a:xfrm>
        </p:grpSpPr>
        <p:sp>
          <p:nvSpPr>
            <p:cNvPr id="12" name="Rectangle 12"/>
            <p:cNvSpPr/>
            <p:nvPr/>
          </p:nvSpPr>
          <p:spPr>
            <a:xfrm>
              <a:off x="533400" y="3782378"/>
              <a:ext cx="5626418" cy="1912620"/>
            </a:xfrm>
            <a:prstGeom prst="roundRect">
              <a:avLst>
                <a:gd name="adj" fmla="val 498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797" y="3934301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产品对象的重复使用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61797" y="4195286"/>
              <a:ext cx="3370326" cy="14241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IAnimal createAnimal(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type)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IAnimal a = pool.get(type);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先查集合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(a ==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a = makeNew(type);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没有才新建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pool.put(type, a);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464618" y="1524000"/>
            <a:ext cx="5193982" cy="2317432"/>
            <a:chOff x="6464618" y="1524000"/>
            <a:chExt cx="5193982" cy="2317432"/>
          </a:xfrm>
        </p:grpSpPr>
        <p:sp>
          <p:nvSpPr>
            <p:cNvPr id="16" name="Rectangle 16"/>
            <p:cNvSpPr/>
            <p:nvPr/>
          </p:nvSpPr>
          <p:spPr>
            <a:xfrm>
              <a:off x="6464618" y="1524000"/>
              <a:ext cx="5193982" cy="2317432"/>
            </a:xfrm>
            <a:prstGeom prst="roundRect">
              <a:avLst>
                <a:gd name="adj" fmla="val 575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474142" y="1657350"/>
              <a:ext cx="47625" cy="20507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6689408" y="1710690"/>
              <a:ext cx="120491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759677" y="1743551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课件列的三种扩展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002714" y="1745932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用多个工厂方法、复用产品、当心退化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82549" y="2071688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多个工厂方法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：抽象工厂里定义多个工厂方法，各自包含不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同的业务逻辑。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682549" y="2628900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产品对象的重复使用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：工厂把造过的产品存进集合，先查后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造，查不到再新建并入集合。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682549" y="3186112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多态性的丧失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：工厂只返回一个具体产品，就违背了工厂方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法的用意。</a:t>
              </a:r>
            </a:p>
          </p:txBody>
        </p:sp>
      </p:grpSp>
      <p:grpSp>
        <p:nvGrpSpPr>
          <p:cNvPr id="32" name="c2-bullets-2"/>
          <p:cNvGrpSpPr/>
          <p:nvPr/>
        </p:nvGrpSpPr>
        <p:grpSpPr>
          <a:xfrm>
            <a:off x="6457760" y="4033838"/>
            <a:ext cx="4879086" cy="1454657"/>
            <a:chOff x="6457760" y="4033838"/>
            <a:chExt cx="4879086" cy="1454657"/>
          </a:xfrm>
        </p:grpSpPr>
        <p:sp>
          <p:nvSpPr>
            <p:cNvPr id="25" name="TextBox 25"/>
            <p:cNvSpPr txBox="1"/>
            <p:nvPr/>
          </p:nvSpPr>
          <p:spPr>
            <a:xfrm>
              <a:off x="6457760" y="403383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三种退化信号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6464618" y="4383405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693980" y="4350068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工厂等级里只剩一个具体工厂，抽象工厂可以省掉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464618" y="4692015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693980" y="4658678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一个具体工厂包办全部产品，且工厂方法设计成静态方法，就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退回简单工厂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6464618" y="5257800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693980" y="5224462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工厂方法的返回类型写成了具体产品类</a:t>
              </a:r>
            </a:p>
          </p:txBody>
        </p:sp>
      </p:grpSp>
      <p:grpSp>
        <p:nvGrpSpPr>
          <p:cNvPr id="39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33" name="Rectangle 33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26129" y="6018966"/>
              <a:ext cx="224134" cy="192560"/>
              <a:chOff x="726129" y="6018966"/>
              <a:chExt cx="224134" cy="19256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838200" y="60893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26129" y="60189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38200" y="61671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892" y="6028373"/>
              <a:ext cx="71014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参数化工厂方法把分支又搬回了工厂内部。写法本身没错，但别再宣称它满足开闭原则。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429000" cy="2997517"/>
            <a:chOff x="667512" y="1835468"/>
            <a:chExt cx="3429000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模式辨析与回顾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三种工厂放在一张表里对照着记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简单工厂与工厂方法与抽象工厂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四个常见易错点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1056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 道自测题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模式辨析与回顾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简单工厂、工厂方法、抽象工厂的分界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035089" cy="308039"/>
            <a:chOff x="525399" y="1550194"/>
            <a:chExt cx="703508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03508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三者的差别集中在两个问题上：选择发生在哪里，一个工厂负责几种产品。</a:t>
              </a:r>
            </a:p>
          </p:txBody>
        </p:sp>
      </p:grpSp>
      <p:grpSp>
        <p:nvGrpSpPr>
          <p:cNvPr id="53" name="c1-table-1"/>
          <p:cNvGrpSpPr/>
          <p:nvPr/>
        </p:nvGrpSpPr>
        <p:grpSpPr>
          <a:xfrm>
            <a:off x="533400" y="1967865"/>
            <a:ext cx="11125200" cy="3141345"/>
            <a:chOff x="533400" y="1967865"/>
            <a:chExt cx="11125200" cy="314134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57857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维度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577699" y="2102644"/>
              <a:ext cx="16990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简单工厂（第 10 讲）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624231" y="210264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工厂方法（本讲）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363184" y="2102644"/>
              <a:ext cx="16990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抽象工厂（第 12 讲）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1223" y="255127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工厂类个数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89148" y="2551271"/>
              <a:ext cx="3317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个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980938" y="255127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抽象工厂加每种产品一个子类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873680" y="2551271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抽象工厂加每个产品族一个子类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00085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选择发生在哪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89148" y="300085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工厂类内部的分支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980938" y="300085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客户端挑具体工厂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873680" y="300085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客户端挑具体工厂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308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344947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一个工厂造几种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089148" y="344947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全部产品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980938" y="344947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一种产品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873680" y="344947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一族相关产品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7576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376237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1223" y="389810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工厂方法能否静态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089148" y="389810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常写成静态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980938" y="389810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不能，要被覆盖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73680" y="389810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不能，要被覆盖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42071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1223" y="434673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新增一种产品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2990850" y="4221480"/>
              <a:ext cx="2873692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3089148" y="434673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改工厂类的分支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882640" y="4221480"/>
              <a:ext cx="2873692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980938" y="434673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加一对类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775382" y="4221480"/>
              <a:ext cx="2873692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873680" y="434673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改抽象工厂及其全部子类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46558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33400" y="466058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41223" y="4795361"/>
              <a:ext cx="13311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是否属于 GoF 23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089148" y="479536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980938" y="479536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是，唯一的类创建型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873680" y="479536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是，对象创建型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33400" y="1967865"/>
              <a:ext cx="11125200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2976562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868352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8761095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9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4" name="Rectangle 5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040130" y="5991225"/>
              <a:ext cx="74866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抽象工厂对新增产品族友好、对新增产品种类不友好，这一点和工厂方法正好互补。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 · 模式辨析与回顾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和其他模式的界线，以及四个常见错法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kv-1"/>
          <p:cNvGrpSpPr/>
          <p:nvPr/>
        </p:nvGrpSpPr>
        <p:grpSpPr>
          <a:xfrm>
            <a:off x="525780" y="1548765"/>
            <a:ext cx="5634038" cy="3745230"/>
            <a:chOff x="525780" y="1548765"/>
            <a:chExt cx="5634038" cy="374523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43827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模板方法（第 39</a:t>
              </a:r>
              <a:br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讲）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326005" y="1548765"/>
              <a:ext cx="3577590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createAndUse() 是模板，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createAnimal() 是其中被子类填的一步，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工厂方法常以模板方法里的钩子出现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43268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2552700"/>
              <a:ext cx="143827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原型模式（第 14</a:t>
              </a:r>
              <a:br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讲）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326005" y="2552700"/>
              <a:ext cx="30845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避开具体类名靠 clone() 复制样板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315468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3274695"/>
              <a:ext cx="1348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建造者模式（第</a:t>
              </a:r>
              <a:br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13 讲）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326005" y="3274695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管的是分步骤装配一个复杂对象，工厂方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法只管造哪一个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387667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5780" y="3996690"/>
              <a:ext cx="143827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单例模式（第 15</a:t>
              </a:r>
              <a:br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讲）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326005" y="3996690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具体工厂通常没有状态，做成单例可以省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掉反复创建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459867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5780" y="4718685"/>
              <a:ext cx="143827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抽象工厂（第 12</a:t>
              </a:r>
              <a:br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讲）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326005" y="4718685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一个工厂里放一组工厂方法，负责一整族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配套产品</a:t>
              </a:r>
            </a:p>
          </p:txBody>
        </p:sp>
      </p:grpSp>
      <p:grpSp>
        <p:nvGrpSpPr>
          <p:cNvPr id="28" name="c1-callout-2"/>
          <p:cNvGrpSpPr/>
          <p:nvPr/>
        </p:nvGrpSpPr>
        <p:grpSpPr>
          <a:xfrm>
            <a:off x="533400" y="5425440"/>
            <a:ext cx="5626418" cy="782955"/>
            <a:chOff x="533400" y="5425440"/>
            <a:chExt cx="5626418" cy="782955"/>
          </a:xfrm>
        </p:grpSpPr>
        <p:sp>
          <p:nvSpPr>
            <p:cNvPr id="22" name="Rectangle 22"/>
            <p:cNvSpPr/>
            <p:nvPr/>
          </p:nvSpPr>
          <p:spPr>
            <a:xfrm>
              <a:off x="533400" y="5425440"/>
              <a:ext cx="5626418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5716905"/>
              <a:ext cx="200026" cy="200025"/>
              <a:chOff x="738188" y="5716905"/>
              <a:chExt cx="200026" cy="200025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738188" y="571690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77926" y="576135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12642" y="587248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130" y="5574030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界线只看一件事：这个工厂负责造一种产品，还是造一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族配套产品。</a:t>
              </a:r>
            </a:p>
          </p:txBody>
        </p:sp>
      </p:grpSp>
      <p:grpSp>
        <p:nvGrpSpPr>
          <p:cNvPr id="46" name="c2-card-1"/>
          <p:cNvGrpSpPr/>
          <p:nvPr/>
        </p:nvGrpSpPr>
        <p:grpSpPr>
          <a:xfrm>
            <a:off x="6464618" y="1524000"/>
            <a:ext cx="5193982" cy="2912745"/>
            <a:chOff x="6464618" y="1524000"/>
            <a:chExt cx="5193982" cy="2912745"/>
          </a:xfrm>
        </p:grpSpPr>
        <p:sp>
          <p:nvSpPr>
            <p:cNvPr id="29" name="Rectangle 29"/>
            <p:cNvSpPr/>
            <p:nvPr/>
          </p:nvSpPr>
          <p:spPr>
            <a:xfrm>
              <a:off x="6464618" y="1524000"/>
              <a:ext cx="5193982" cy="2912745"/>
            </a:xfrm>
            <a:prstGeom prst="roundRect">
              <a:avLst>
                <a:gd name="adj" fmla="val 45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74142" y="1657350"/>
              <a:ext cx="47625" cy="264604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712268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80342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313295" y="176879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四个一写就错的地方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712267" y="211645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774117" y="215874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013258" y="2129790"/>
              <a:ext cx="4082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工厂方法写成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static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。静态方法不能被覆盖，多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态没了，模式也就没了。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712267" y="273748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74117" y="27797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013258" y="2750820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返回类型写成具体产品，客户端又依赖上具体类。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712267" y="307276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74117" y="31150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013258" y="3086100"/>
              <a:ext cx="41967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具体工厂里继续写 if-else 选产品，实际退回了简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单工厂。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712267" y="369379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774117" y="37360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013258" y="370713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只写了一个具体工厂就说用了工厂方法，此时模式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已经退化。</a:t>
              </a:r>
            </a:p>
          </p:txBody>
        </p:sp>
      </p:grpSp>
      <p:grpSp>
        <p:nvGrpSpPr>
          <p:cNvPr id="53" name="c2-callout-2"/>
          <p:cNvGrpSpPr/>
          <p:nvPr/>
        </p:nvGrpSpPr>
        <p:grpSpPr>
          <a:xfrm>
            <a:off x="6464618" y="4627245"/>
            <a:ext cx="5193982" cy="1581150"/>
            <a:chOff x="6464618" y="4627245"/>
            <a:chExt cx="5193982" cy="1581150"/>
          </a:xfrm>
        </p:grpSpPr>
        <p:sp>
          <p:nvSpPr>
            <p:cNvPr id="47" name="Rectangle 47"/>
            <p:cNvSpPr/>
            <p:nvPr/>
          </p:nvSpPr>
          <p:spPr>
            <a:xfrm>
              <a:off x="6464618" y="4627245"/>
              <a:ext cx="5193982" cy="1581150"/>
            </a:xfrm>
            <a:prstGeom prst="roundRect">
              <a:avLst>
                <a:gd name="adj" fmla="val 72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6669405" y="5317808"/>
              <a:ext cx="200026" cy="200025"/>
              <a:chOff x="6669405" y="5317808"/>
              <a:chExt cx="200026" cy="20002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6669405" y="53178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709144" y="53622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743859" y="54733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6971348" y="5174932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考试判断题的落点几乎都在这四处，写代码时按顺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序自查一遍。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42313" cy="909257"/>
            <a:chOff x="520446" y="342900"/>
            <a:chExt cx="17423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254442"/>
            <a:chOff x="533400" y="1524000"/>
            <a:chExt cx="5410200" cy="12544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工厂方法按目的和范围各属哪类？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375535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 + 类模式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953702"/>
            <a:ext cx="5410200" cy="1254442"/>
            <a:chOff x="533400" y="2953702"/>
            <a:chExt cx="5410200" cy="1254442"/>
          </a:xfrm>
        </p:grpSpPr>
        <p:sp>
          <p:nvSpPr>
            <p:cNvPr id="13" name="Rectangle 13"/>
            <p:cNvSpPr/>
            <p:nvPr/>
          </p:nvSpPr>
          <p:spPr>
            <a:xfrm>
              <a:off x="533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3503295"/>
              <a:ext cx="27093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工厂方法可以声明成 static 吗？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380523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不能，静态方法无法被覆盖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383405"/>
            <a:ext cx="5410200" cy="1254442"/>
            <a:chOff x="533400" y="4383405"/>
            <a:chExt cx="5410200" cy="1254442"/>
          </a:xfrm>
        </p:grpSpPr>
        <p:sp>
          <p:nvSpPr>
            <p:cNvPr id="19" name="Rectangle 19"/>
            <p:cNvSpPr/>
            <p:nvPr/>
          </p:nvSpPr>
          <p:spPr>
            <a:xfrm>
              <a:off x="533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5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4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947" y="493299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谁决定实例化哪个具体产品？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8947" y="523494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客户端挑中的那个具体工厂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254442"/>
            <a:chOff x="6248400" y="1524000"/>
            <a:chExt cx="5410200" cy="125444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207264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工厂方法的返回类型该写什么？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237553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抽象产品，不写具体产品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953702"/>
            <a:ext cx="5410200" cy="1254442"/>
            <a:chOff x="6248400" y="2953702"/>
            <a:chExt cx="5410200" cy="1254442"/>
          </a:xfrm>
        </p:grpSpPr>
        <p:sp>
          <p:nvSpPr>
            <p:cNvPr id="31" name="Rectangle 31"/>
            <p:cNvSpPr/>
            <p:nvPr/>
          </p:nvSpPr>
          <p:spPr>
            <a:xfrm>
              <a:off x="6248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40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9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33947" y="350329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新增一种产品要加几个类？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947" y="380523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一对，具体产品加具体工厂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383405"/>
            <a:ext cx="5410200" cy="1254442"/>
            <a:chOff x="6248400" y="4383405"/>
            <a:chExt cx="5410200" cy="1254442"/>
          </a:xfrm>
        </p:grpSpPr>
        <p:sp>
          <p:nvSpPr>
            <p:cNvPr id="37" name="Rectangle 37"/>
            <p:cNvSpPr/>
            <p:nvPr/>
          </p:nvSpPr>
          <p:spPr>
            <a:xfrm>
              <a:off x="6248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40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9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33947" y="493299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工厂方法的三个别名是什么？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33947" y="523494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工厂模式、虚拟构造器、多态工厂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3" name="Rectangle 4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892" y="6023610"/>
              <a:ext cx="52840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答不上来的题，回到对应的正文页再读一遍那一页的类图或代码。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42313" cy="909257"/>
            <a:chOff x="520446" y="342900"/>
            <a:chExt cx="17423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254442"/>
            <a:chOff x="533400" y="1524000"/>
            <a:chExt cx="5410200" cy="12544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工厂方法比简单工厂改进在哪？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37553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选择分支从工厂类移到工厂子类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953702"/>
            <a:ext cx="5410200" cy="1254442"/>
            <a:chOff x="533400" y="2953702"/>
            <a:chExt cx="5410200" cy="1254442"/>
          </a:xfrm>
        </p:grpSpPr>
        <p:sp>
          <p:nvSpPr>
            <p:cNvPr id="13" name="Rectangle 13"/>
            <p:cNvSpPr/>
            <p:nvPr/>
          </p:nvSpPr>
          <p:spPr>
            <a:xfrm>
              <a:off x="533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350329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怎么把这一行也去掉？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380523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类名写进配置文件，用反射创建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383405"/>
            <a:ext cx="5410200" cy="1254442"/>
            <a:chOff x="533400" y="4383405"/>
            <a:chExt cx="5410200" cy="1254442"/>
          </a:xfrm>
        </p:grpSpPr>
        <p:sp>
          <p:nvSpPr>
            <p:cNvPr id="19" name="Rectangle 19"/>
            <p:cNvSpPr/>
            <p:nvPr/>
          </p:nvSpPr>
          <p:spPr>
            <a:xfrm>
              <a:off x="533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5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4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947" y="493299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只有一个具体工厂时模式如何？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8947" y="523494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抽象工厂可省，模式已退化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254442"/>
            <a:chOff x="6248400" y="1524000"/>
            <a:chExt cx="5410200" cy="125444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207264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客户端还剩哪一处认得具体类？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2375535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 具体工厂的那一行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953702"/>
            <a:ext cx="5410200" cy="1254442"/>
            <a:chOff x="6248400" y="2953702"/>
            <a:chExt cx="5410200" cy="1254442"/>
          </a:xfrm>
        </p:grpSpPr>
        <p:sp>
          <p:nvSpPr>
            <p:cNvPr id="31" name="Rectangle 31"/>
            <p:cNvSpPr/>
            <p:nvPr/>
          </p:nvSpPr>
          <p:spPr>
            <a:xfrm>
              <a:off x="6248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40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9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33947" y="3503295"/>
              <a:ext cx="25848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具体工厂里写 if-else 会怎样？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947" y="380523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退回简单工厂，加产品仍要改它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383405"/>
            <a:ext cx="5410200" cy="1254442"/>
            <a:chOff x="6248400" y="4383405"/>
            <a:chExt cx="5410200" cy="1254442"/>
          </a:xfrm>
        </p:grpSpPr>
        <p:sp>
          <p:nvSpPr>
            <p:cNvPr id="37" name="Rectangle 37"/>
            <p:cNvSpPr/>
            <p:nvPr/>
          </p:nvSpPr>
          <p:spPr>
            <a:xfrm>
              <a:off x="6248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40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9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33947" y="4932998"/>
              <a:ext cx="25168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JDBC 里哪一句才是工厂方法？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33947" y="5234940"/>
              <a:ext cx="26192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conn.createStatement()</a:t>
              </a:r>
            </a:p>
          </p:txBody>
        </p:sp>
      </p:grpSp>
      <p:grpSp>
        <p:nvGrpSpPr>
          <p:cNvPr id="48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3" name="Rectangle 4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892" y="6023610"/>
              <a:ext cx="71109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第 12 题提醒：入口的 </a:t>
              </a:r>
              <a:r>
                <a:rPr lang="en-US" sz="1350" dirty="0">
                  <a:solidFill>
                    <a:srgbClr val="EEEAF7"/>
                  </a:solidFill>
                  <a:latin typeface="+mn-lt"/>
                  <a:ea typeface="+mn-ea"/>
                  <a:cs typeface="+mn-cs"/>
                </a:rPr>
                <a:t>DriverManager.getConnection()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是静态工厂，不是工厂方法。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04489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7287" y="407194"/>
              <a:ext cx="8361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11 工厂方法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bullets-1"/>
          <p:cNvGrpSpPr/>
          <p:nvPr/>
        </p:nvGrpSpPr>
        <p:grpSpPr>
          <a:xfrm>
            <a:off x="533400" y="1534478"/>
            <a:ext cx="8361236" cy="1509903"/>
            <a:chOff x="533400" y="1534478"/>
            <a:chExt cx="8361236" cy="1509903"/>
          </a:xfrm>
        </p:grpSpPr>
        <p:sp>
          <p:nvSpPr>
            <p:cNvPr id="7" name="Ellipse 7"/>
            <p:cNvSpPr/>
            <p:nvPr/>
          </p:nvSpPr>
          <p:spPr>
            <a:xfrm>
              <a:off x="533400" y="153447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89078" y="15728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14197" y="1545907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工厂父类定义创建产品的公共接口，工厂子类决定实例化哪一个具体产品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184308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9078" y="188147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4197" y="1854518"/>
              <a:ext cx="80804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四个角色：Product、ConcreteProduct、Factory、ConcreteFactory，工厂树与产品树层次对应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15169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9078" y="219008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4197" y="2163128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和简单工厂的差别只有一处，选择分支从工厂类搬到了工厂子类，于是满足开闭原则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2460307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9078" y="249869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4197" y="2471738"/>
              <a:ext cx="52840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客户端配合配置文件加反射，可以做到源码里不出现任何具体类名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276891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89078" y="280730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14197" y="2780348"/>
              <a:ext cx="65562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代价是类成对增加；具体工厂里再写分支，或者只剩一个具体工厂，模式就退化了</a:t>
              </a:r>
            </a:p>
          </p:txBody>
        </p:sp>
      </p:grpSp>
      <p:grpSp>
        <p:nvGrpSpPr>
          <p:cNvPr id="40" name="c1-card-2"/>
          <p:cNvGrpSpPr/>
          <p:nvPr/>
        </p:nvGrpSpPr>
        <p:grpSpPr>
          <a:xfrm>
            <a:off x="533400" y="3161348"/>
            <a:ext cx="11125200" cy="1845945"/>
            <a:chOff x="533400" y="3161348"/>
            <a:chExt cx="11125200" cy="1845945"/>
          </a:xfrm>
        </p:grpSpPr>
        <p:sp>
          <p:nvSpPr>
            <p:cNvPr id="23" name="Rectangle 23"/>
            <p:cNvSpPr/>
            <p:nvPr/>
          </p:nvSpPr>
          <p:spPr>
            <a:xfrm>
              <a:off x="533400" y="3161348"/>
              <a:ext cx="11125200" cy="1845945"/>
            </a:xfrm>
            <a:prstGeom prst="roundRect">
              <a:avLst>
                <a:gd name="adj" fmla="val 72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3294698"/>
              <a:ext cx="47625" cy="15792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58190" y="334803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42759" y="338089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更正汇总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573340" y="338328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本讲订正的源课件问题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58190" y="3696652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13868" y="373599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8987" y="3709035"/>
              <a:ext cx="75021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反射示例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Class.forName("String")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要写全限定名；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newInstance()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自 Java 9 起已废弃。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58190" y="3997642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13868" y="403602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38987" y="4009072"/>
              <a:ext cx="58933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把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DriverManager.getConnection()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当工厂方法，它其实是静态工厂。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58190" y="4297680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13868" y="433606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38987" y="4310062"/>
              <a:ext cx="69862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迷宫例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Room * r1 = MakeRoom(2);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重复声明 r1；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MakeRoom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返回类型误写成 Wall。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58190" y="459771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13868" y="463610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38987" y="4610100"/>
              <a:ext cx="76909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createAnimal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声明成无函数体的虚函数、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~AniFactory() = 0;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无定义，C++ 里都通不过链接。</a:t>
              </a:r>
            </a:p>
          </p:txBody>
        </p:sp>
      </p:grpSp>
      <p:grpSp>
        <p:nvGrpSpPr>
          <p:cNvPr id="47" name="c1-callout-3"/>
          <p:cNvGrpSpPr/>
          <p:nvPr/>
        </p:nvGrpSpPr>
        <p:grpSpPr>
          <a:xfrm>
            <a:off x="533400" y="5177790"/>
            <a:ext cx="11125200" cy="533400"/>
            <a:chOff x="533400" y="5177790"/>
            <a:chExt cx="11125200" cy="533400"/>
          </a:xfrm>
        </p:grpSpPr>
        <p:sp>
          <p:nvSpPr>
            <p:cNvPr id="41" name="Rectangle 41"/>
            <p:cNvSpPr/>
            <p:nvPr/>
          </p:nvSpPr>
          <p:spPr>
            <a:xfrm>
              <a:off x="533400" y="517779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38188" y="5343525"/>
              <a:ext cx="200026" cy="200025"/>
              <a:chOff x="738188" y="5343525"/>
              <a:chExt cx="200026" cy="200025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8188" y="534352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77926" y="538797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12642" y="549910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0892" y="5349240"/>
              <a:ext cx="61382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下一步：一个工厂负责一整族配套产品时，就该看第 12 讲的抽象工厂模式。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8" name="Rectangle 48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892" y="6028373"/>
              <a:ext cx="51205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遇到“创建逻辑会随产品种类不断增加”的场景，先想工厂方法。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7447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工厂方法模式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dp_11">
  <a:themeElements>
    <a:clrScheme name="sdp_1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dp_11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dp_1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2026-09-23T06:06:29Z</dcterms:created>
  <dcterms:modified xsi:type="dcterms:W3CDTF">2026-09-23T06:06:29Z</dcterms:modified>
  <cp:category/>
  <cp:contentStatus/>
</cp:coreProperties>
</file>