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21233fc0e520c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94da1728658d3b5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d0f5b9ddbe2f21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44577" cy="3437763"/>
            <a:chOff x="666750" y="1619250"/>
            <a:chExt cx="5344577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34457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类图与类间关系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六种关系的画法、判别依据与代码形态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11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 UML 画法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依赖与关联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聚合与组合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泛化与实现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940342" cy="205359"/>
            <a:chOff x="680466" y="6192202"/>
            <a:chExt cx="59403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940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自学复习版｜据吉林大学《软件设计模式》张欣佳老师课件与 2018 年讲义合并整理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类的三栏矩形、可见性符号、六种关系速览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最弱的关系：用完就走，以及依赖抽象带来的好处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长期持有：单向、自身、双向与多重度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聚合与组合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整体与部分：菱形画在哪一端，生命周期谁管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泛化与实现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空心三角箭头的两种线型，继承与接口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辨别与运用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判别流程、看代码判关系、用关系适应变化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画出六种关系的标准符号，并说清箭头和菱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形各在哪一端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给一段代码，判断两个类之间是依赖、关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联、聚合还是组合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说出聚合与组合的唯一区别，并举出各自的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用依赖抽象改写重载爆炸的代码，并画出改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写后的类图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面对职责变化与实现变化，分别给出继承与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组合两种应对方案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类图基础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先把一个类怎么画清楚，再谈两个类之间怎么连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85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里类图的位置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三栏矩形与可见性符号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六种关系速览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类图基础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类图是设计模式的通用语言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247477" cy="308039"/>
            <a:chOff x="525399" y="1550194"/>
            <a:chExt cx="82474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2474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 23 个模式，每一个都用一张类图说明结构。看不懂类图，模式就只剩下文字描述。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4977765" cy="2291715"/>
            <a:chOff x="533400" y="1967865"/>
            <a:chExt cx="4977765" cy="229171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97776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235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类图（Class Diagram）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描述系统中的类、类的内部结构，以及类与类之间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静态关系的图。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2575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94685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静态结构图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，只画结构，不画运行时的先后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87858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81571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设计模式那一节的"结构"图，画的就是类图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5780" y="4474845"/>
            <a:ext cx="4985385" cy="1173480"/>
            <a:chOff x="525780" y="4474845"/>
            <a:chExt cx="4985385" cy="1173480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4748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8742" y="44748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画类、接口以及它们之间的六种关系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948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49149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对象图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8742" y="49149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画某一刻的具体对象和链接，是类图的快照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2349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53549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8742" y="53549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画对象之间消息的时间顺序，属于行为图</a:t>
              </a:r>
            </a:p>
          </p:txBody>
        </p:sp>
      </p:grpSp>
      <p:grpSp>
        <p:nvGrpSpPr>
          <p:cNvPr id="61" name="c2-tree-1"/>
          <p:cNvGrpSpPr/>
          <p:nvPr/>
        </p:nvGrpSpPr>
        <p:grpSpPr>
          <a:xfrm>
            <a:off x="5815965" y="1977390"/>
            <a:ext cx="5842635" cy="3123248"/>
            <a:chOff x="5815965" y="1977390"/>
            <a:chExt cx="5842635" cy="3123248"/>
          </a:xfrm>
        </p:grpSpPr>
        <p:sp>
          <p:nvSpPr>
            <p:cNvPr id="29" name="Freeform 29"/>
            <p:cNvSpPr/>
            <p:nvPr/>
          </p:nvSpPr>
          <p:spPr>
            <a:xfrm>
              <a:off x="9742170" y="2164080"/>
              <a:ext cx="419100" cy="589598"/>
            </a:xfrm>
            <a:custGeom>
              <a:avLst/>
              <a:gdLst/>
              <a:ahLst/>
              <a:cxnLst/>
              <a:rect l="l" t="t" r="r" b="b"/>
              <a:pathLst>
                <a:path w="419100" h="589598">
                  <a:moveTo>
                    <a:pt x="0" y="589598"/>
                  </a:moveTo>
                  <a:lnTo>
                    <a:pt x="209550" y="5895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42170" y="2556510"/>
              <a:ext cx="419100" cy="197168"/>
            </a:xfrm>
            <a:custGeom>
              <a:avLst/>
              <a:gdLst/>
              <a:ahLst/>
              <a:cxnLst/>
              <a:rect l="l" t="t" r="r" b="b"/>
              <a:pathLst>
                <a:path w="419100" h="197168">
                  <a:moveTo>
                    <a:pt x="0" y="197168"/>
                  </a:moveTo>
                  <a:lnTo>
                    <a:pt x="209550" y="19716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42170" y="2753678"/>
              <a:ext cx="419100" cy="196215"/>
            </a:xfrm>
            <a:custGeom>
              <a:avLst/>
              <a:gdLst/>
              <a:ahLst/>
              <a:cxnLst/>
              <a:rect l="l" t="t" r="r" b="b"/>
              <a:pathLst>
                <a:path w="419100" h="196215">
                  <a:moveTo>
                    <a:pt x="0" y="0"/>
                  </a:moveTo>
                  <a:lnTo>
                    <a:pt x="209550" y="0"/>
                  </a:lnTo>
                  <a:lnTo>
                    <a:pt x="209550" y="196215"/>
                  </a:lnTo>
                  <a:lnTo>
                    <a:pt x="419100" y="1962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42170" y="2753678"/>
              <a:ext cx="419100" cy="588645"/>
            </a:xfrm>
            <a:custGeom>
              <a:avLst/>
              <a:gdLst/>
              <a:ahLst/>
              <a:cxnLst/>
              <a:rect l="l" t="t" r="r" b="b"/>
              <a:pathLst>
                <a:path w="419100" h="588645">
                  <a:moveTo>
                    <a:pt x="0" y="0"/>
                  </a:moveTo>
                  <a:lnTo>
                    <a:pt x="209550" y="0"/>
                  </a:lnTo>
                  <a:lnTo>
                    <a:pt x="209550" y="588645"/>
                  </a:lnTo>
                  <a:lnTo>
                    <a:pt x="419100" y="5886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742170" y="3735705"/>
              <a:ext cx="419100" cy="589598"/>
            </a:xfrm>
            <a:custGeom>
              <a:avLst/>
              <a:gdLst/>
              <a:ahLst/>
              <a:cxnLst/>
              <a:rect l="l" t="t" r="r" b="b"/>
              <a:pathLst>
                <a:path w="419100" h="589598">
                  <a:moveTo>
                    <a:pt x="0" y="589598"/>
                  </a:moveTo>
                  <a:lnTo>
                    <a:pt x="209550" y="5895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42170" y="4128135"/>
              <a:ext cx="419100" cy="197168"/>
            </a:xfrm>
            <a:custGeom>
              <a:avLst/>
              <a:gdLst/>
              <a:ahLst/>
              <a:cxnLst/>
              <a:rect l="l" t="t" r="r" b="b"/>
              <a:pathLst>
                <a:path w="419100" h="197168">
                  <a:moveTo>
                    <a:pt x="0" y="197168"/>
                  </a:moveTo>
                  <a:lnTo>
                    <a:pt x="209550" y="19716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742170" y="4325302"/>
              <a:ext cx="419100" cy="196215"/>
            </a:xfrm>
            <a:custGeom>
              <a:avLst/>
              <a:gdLst/>
              <a:ahLst/>
              <a:cxnLst/>
              <a:rect l="l" t="t" r="r" b="b"/>
              <a:pathLst>
                <a:path w="419100" h="196215">
                  <a:moveTo>
                    <a:pt x="0" y="0"/>
                  </a:moveTo>
                  <a:lnTo>
                    <a:pt x="209550" y="0"/>
                  </a:lnTo>
                  <a:lnTo>
                    <a:pt x="209550" y="196215"/>
                  </a:lnTo>
                  <a:lnTo>
                    <a:pt x="419100" y="1962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742170" y="4325302"/>
              <a:ext cx="419100" cy="588645"/>
            </a:xfrm>
            <a:custGeom>
              <a:avLst/>
              <a:gdLst/>
              <a:ahLst/>
              <a:cxnLst/>
              <a:rect l="l" t="t" r="r" b="b"/>
              <a:pathLst>
                <a:path w="419100" h="588645">
                  <a:moveTo>
                    <a:pt x="0" y="0"/>
                  </a:moveTo>
                  <a:lnTo>
                    <a:pt x="209550" y="0"/>
                  </a:lnTo>
                  <a:lnTo>
                    <a:pt x="209550" y="588645"/>
                  </a:lnTo>
                  <a:lnTo>
                    <a:pt x="419100" y="5886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824788" y="2753678"/>
              <a:ext cx="419100" cy="785812"/>
            </a:xfrm>
            <a:custGeom>
              <a:avLst/>
              <a:gdLst/>
              <a:ahLst/>
              <a:cxnLst/>
              <a:rect l="l" t="t" r="r" b="b"/>
              <a:pathLst>
                <a:path w="419100" h="785812">
                  <a:moveTo>
                    <a:pt x="0" y="785812"/>
                  </a:moveTo>
                  <a:lnTo>
                    <a:pt x="209550" y="7858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24788" y="3539490"/>
              <a:ext cx="419100" cy="785812"/>
            </a:xfrm>
            <a:custGeom>
              <a:avLst/>
              <a:gdLst/>
              <a:ahLst/>
              <a:cxnLst/>
              <a:rect l="l" t="t" r="r" b="b"/>
              <a:pathLst>
                <a:path w="419100" h="785812">
                  <a:moveTo>
                    <a:pt x="0" y="0"/>
                  </a:moveTo>
                  <a:lnTo>
                    <a:pt x="209550" y="0"/>
                  </a:lnTo>
                  <a:lnTo>
                    <a:pt x="209550" y="785812"/>
                  </a:lnTo>
                  <a:lnTo>
                    <a:pt x="419100" y="7858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61270" y="1977390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61270" y="2370772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61270" y="2763202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61270" y="3156585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243888" y="2566988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61270" y="3549015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61270" y="3942398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61270" y="4334828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161270" y="4728210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243888" y="4138612"/>
              <a:ext cx="1497330" cy="372428"/>
            </a:xfrm>
            <a:prstGeom prst="roundRect">
              <a:avLst>
                <a:gd name="adj" fmla="val 25575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3352800"/>
              <a:ext cx="2009775" cy="372428"/>
            </a:xfrm>
            <a:prstGeom prst="roundRect">
              <a:avLst>
                <a:gd name="adj" fmla="val 2557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50043" y="20750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50043" y="24674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50043" y="28608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50043" y="32532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部署图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2661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结构图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50043" y="36466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50043" y="40390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50043" y="44324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50043" y="48248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32661" y="42362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行为图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04738" y="3450431"/>
              <a:ext cx="1103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UML 2 常用图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本讲只讲类图；类图里真正要记的是六种关系的线型、端点符号和方向。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类图基础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一个类画成三栏矩形：类名、属性、操作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1623060"/>
            <a:chOff x="533400" y="1524000"/>
            <a:chExt cx="5842635" cy="1623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45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718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5178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8768" y="205406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类名（接口加 «interface»）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39565" y="2054066"/>
              <a:ext cx="596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8768" y="245983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可见性 名称: 类型 = 默认值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39565" y="2459831"/>
              <a:ext cx="1095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name: String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68768" y="286559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可见性 名称(参数): 返回类型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39565" y="2865596"/>
              <a:ext cx="2113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enroll(c: Course): boolean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6399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3479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kv-2"/>
          <p:cNvGrpSpPr/>
          <p:nvPr/>
        </p:nvGrpSpPr>
        <p:grpSpPr>
          <a:xfrm>
            <a:off x="526542" y="3344227"/>
            <a:ext cx="5849493" cy="1457516"/>
            <a:chOff x="526542" y="3344227"/>
            <a:chExt cx="5849493" cy="1457516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334422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7062" y="3344227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public，任何类可访问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337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542" y="374237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7062" y="3742372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private，只有本类可访问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309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41405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7062" y="4140518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protected，本类与子类可访问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291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542" y="453771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7062" y="4537710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package，同包内可访问</a:t>
              </a:r>
            </a:p>
          </p:txBody>
        </p:sp>
      </p:grpSp>
      <p:grpSp>
        <p:nvGrpSpPr>
          <p:cNvPr id="43" name="c1-bullets-3"/>
          <p:cNvGrpSpPr/>
          <p:nvPr/>
        </p:nvGrpSpPr>
        <p:grpSpPr>
          <a:xfrm>
            <a:off x="542925" y="4942999"/>
            <a:ext cx="4102852" cy="491490"/>
            <a:chOff x="542925" y="4942999"/>
            <a:chExt cx="4102852" cy="491490"/>
          </a:xfrm>
        </p:grpSpPr>
        <p:sp>
          <p:nvSpPr>
            <p:cNvPr id="39" name="Ellipse 39"/>
            <p:cNvSpPr/>
            <p:nvPr/>
          </p:nvSpPr>
          <p:spPr>
            <a:xfrm>
              <a:off x="542925" y="498538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135" y="4942999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抽象类、抽象方法用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斜体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，也可以在名字后写 {abstract}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42925" y="525780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135" y="5214461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静态成员加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下划线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；属性栏、操作栏为空时可以整栏省略</a:t>
              </a:r>
            </a:p>
          </p:txBody>
        </p:sp>
      </p:grpSp>
      <p:grpSp>
        <p:nvGrpSpPr>
          <p:cNvPr id="60" name="c2-uml-1"/>
          <p:cNvGrpSpPr/>
          <p:nvPr/>
        </p:nvGrpSpPr>
        <p:grpSpPr>
          <a:xfrm>
            <a:off x="6984682" y="1641158"/>
            <a:ext cx="4001453" cy="1499235"/>
            <a:chOff x="6984682" y="1641158"/>
            <a:chExt cx="4001453" cy="1499235"/>
          </a:xfrm>
        </p:grpSpPr>
        <p:sp>
          <p:nvSpPr>
            <p:cNvPr id="44" name="Freeform 44"/>
            <p:cNvSpPr/>
            <p:nvPr/>
          </p:nvSpPr>
          <p:spPr>
            <a:xfrm>
              <a:off x="8866822" y="2390775"/>
              <a:ext cx="850583" cy="9525"/>
            </a:xfrm>
            <a:custGeom>
              <a:avLst/>
              <a:gdLst/>
              <a:ahLst/>
              <a:cxnLst/>
              <a:rect l="l" t="t" r="r" b="b"/>
              <a:pathLst>
                <a:path w="850583" h="9525">
                  <a:moveTo>
                    <a:pt x="0" y="0"/>
                  </a:moveTo>
                  <a:lnTo>
                    <a:pt x="85058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9717405" y="2317432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125730" y="73342"/>
                  </a:moveTo>
                  <a:lnTo>
                    <a:pt x="0" y="1466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84682" y="1641158"/>
              <a:ext cx="1882140" cy="149923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91350" y="1648778"/>
              <a:ext cx="186785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84682" y="1889760"/>
              <a:ext cx="18821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84682" y="2512695"/>
              <a:ext cx="18821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43135" y="2006918"/>
              <a:ext cx="114300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49802" y="2013585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43135" y="24041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843135" y="24993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32403" y="1701165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55930" y="1960721"/>
              <a:ext cx="899795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id: String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name: String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dorm: Dorm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55930" y="2583656"/>
              <a:ext cx="1739900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getName(): String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enroll(c: Course): boolean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onDropped(): void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58514" y="2064068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76993" y="2215515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Printable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14382" y="2570321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print(): void</a:t>
              </a:r>
            </a:p>
          </p:txBody>
        </p:sp>
      </p:grpSp>
      <p:grpSp>
        <p:nvGrpSpPr>
          <p:cNvPr id="75" name="c2-table-2"/>
          <p:cNvGrpSpPr/>
          <p:nvPr/>
        </p:nvGrpSpPr>
        <p:grpSpPr>
          <a:xfrm>
            <a:off x="6680835" y="3432810"/>
            <a:ext cx="4977765" cy="1823085"/>
            <a:chOff x="6680835" y="3432810"/>
            <a:chExt cx="4977765" cy="1823085"/>
          </a:xfrm>
        </p:grpSpPr>
        <p:sp>
          <p:nvSpPr>
            <p:cNvPr id="61" name="Rectangle 61"/>
            <p:cNvSpPr/>
            <p:nvPr/>
          </p:nvSpPr>
          <p:spPr>
            <a:xfrm>
              <a:off x="6680835" y="3432810"/>
              <a:ext cx="497776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93571" y="35571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类图里写的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6971" y="3557111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翻成 Java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80848" y="3962876"/>
              <a:ext cx="904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id: String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70670" y="3962876"/>
              <a:ext cx="1320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String id;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680835" y="42395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80835" y="424434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80848" y="4368641"/>
              <a:ext cx="22182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enroll(c: Course): boolean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70670" y="4368641"/>
              <a:ext cx="2285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boolean enroll(Course c)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680835" y="46453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80848" y="4874419"/>
              <a:ext cx="197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虚线空心三角指向 Printable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70670" y="4774406"/>
              <a:ext cx="1768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Student implements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Printable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80835" y="3432810"/>
              <a:ext cx="4977765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9065895" y="3432810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6" name="Rectangle 7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6023610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画模式结构图时属性栏常常省略，只留类名和关键方法，读图时不必当成"这个类没有属性"。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类图基础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六种关系速览：先记线型和端点，再记方向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3368040"/>
            <a:chOff x="533400" y="1524000"/>
            <a:chExt cx="11125200" cy="3368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1081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线型与端点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838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33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代码线索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235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221706"/>
              <a:ext cx="1406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 dependency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3378" y="222170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开放箭头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8418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使用者指向被使用者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1526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只出现在参数、局部变量、返回值或静态调用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5390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最弱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783681"/>
              <a:ext cx="1416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 association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3378" y="2783681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开放箭头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8418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持有方指向被持有方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71526" y="27836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成员字段，从外部获得，长期持有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390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232309"/>
              <a:ext cx="1461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 aggregation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45080" y="3107055"/>
              <a:ext cx="22059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43378" y="3232309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空心菱形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68418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菱形在整体一端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1526" y="32323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成员字段，部分由外部传入，整体不负责销毁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53903" y="32323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3680936"/>
              <a:ext cx="1452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 composition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45080" y="3555682"/>
              <a:ext cx="22059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43378" y="368093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实心菱形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68418" y="36809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菱形在整体一端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1526" y="36809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成员字段，部分由整体创建，随整体消亡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53903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4130516"/>
              <a:ext cx="1669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 generalization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43378" y="4130516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空心三角箭头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68418" y="41305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子类指向父类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1526" y="413051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53903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4579144"/>
              <a:ext cx="1370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realization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43378" y="457914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空心三角箭头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68418" y="45791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实现类指向接口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1526" y="4579144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53903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最强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53079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75583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5894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541318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1-callout-2"/>
          <p:cNvGrpSpPr/>
          <p:nvPr/>
        </p:nvGrpSpPr>
        <p:grpSpPr>
          <a:xfrm>
            <a:off x="533400" y="5082540"/>
            <a:ext cx="11125200" cy="575310"/>
            <a:chOff x="533400" y="5082540"/>
            <a:chExt cx="11125200" cy="575310"/>
          </a:xfrm>
        </p:grpSpPr>
        <p:sp>
          <p:nvSpPr>
            <p:cNvPr id="59" name="Rectangle 59"/>
            <p:cNvSpPr/>
            <p:nvPr/>
          </p:nvSpPr>
          <p:spPr>
            <a:xfrm>
              <a:off x="533400" y="5082540"/>
              <a:ext cx="11125200" cy="575310"/>
            </a:xfrm>
            <a:prstGeom prst="roundRect">
              <a:avLst>
                <a:gd name="adj" fmla="val 1986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5266491"/>
              <a:ext cx="224134" cy="192560"/>
              <a:chOff x="726129" y="5266491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53368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52664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54146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265420"/>
              <a:ext cx="99456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菱形不是箭头。聚合、组合的菱形画在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整体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那一端，线的另一端才是部分；三角箭头则画在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父类/接口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那一端。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6" name="Rectangle 6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130" y="5991225"/>
              <a:ext cx="7113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强弱顺序：泛化/实现 &gt; 组合 &gt; 聚合 &gt; 关联 &gt; 依赖。越强，两个类被绑得越死。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2914269" cy="3351847"/>
            <a:chOff x="667512" y="1835468"/>
            <a:chExt cx="291426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依赖关系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用一下就走，最弱的一种联系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四种代码形态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老鼠吃苹果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依赖抽象化解重载爆炸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自身依赖与双向依赖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2564" cy="909257"/>
            <a:chOff x="520446" y="342900"/>
            <a:chExt cx="58225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25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依赖：A 临时用到 B，用完就不再持有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005965"/>
            <a:chOff x="533400" y="1524000"/>
            <a:chExt cx="5626418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989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依赖（dependency）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两个相对独立的对象，一个负责构造另一个的实例，或者用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到另一个提供的服务，这种联系就是依赖。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339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使用关系是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偶然的、临时的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，但 B 变了会影响 A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8183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画法：虚线加开放箭头，由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使用者 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指向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被使用者 B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720465"/>
            <a:ext cx="5626418" cy="1719262"/>
            <a:chOff x="533400" y="3720465"/>
            <a:chExt cx="5626418" cy="1719262"/>
          </a:xfrm>
        </p:grpSpPr>
        <p:sp>
          <p:nvSpPr>
            <p:cNvPr id="18" name="Rectangle 18"/>
            <p:cNvSpPr/>
            <p:nvPr/>
          </p:nvSpPr>
          <p:spPr>
            <a:xfrm>
              <a:off x="533400" y="3720465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8723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四种典型写法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" y="4135279"/>
              <a:ext cx="355320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f1(B b) { b.use(); }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形参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f2() { B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B();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局部变量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    f3()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B(); }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f4() { B.staticUse(); }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静态调用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uml-1"/>
          <p:cNvGrpSpPr/>
          <p:nvPr/>
        </p:nvGrpSpPr>
        <p:grpSpPr>
          <a:xfrm>
            <a:off x="7046595" y="2103120"/>
            <a:ext cx="3885247" cy="651510"/>
            <a:chOff x="7046595" y="2103120"/>
            <a:chExt cx="3885247" cy="651510"/>
          </a:xfrm>
        </p:grpSpPr>
        <p:sp>
          <p:nvSpPr>
            <p:cNvPr id="22" name="Freeform 22"/>
            <p:cNvSpPr/>
            <p:nvPr/>
          </p:nvSpPr>
          <p:spPr>
            <a:xfrm>
              <a:off x="8479155" y="2428875"/>
              <a:ext cx="1309688" cy="9525"/>
            </a:xfrm>
            <a:custGeom>
              <a:avLst/>
              <a:gdLst/>
              <a:ahLst/>
              <a:cxnLst/>
              <a:rect l="l" t="t" r="r" b="b"/>
              <a:pathLst>
                <a:path w="1309688" h="9525">
                  <a:moveTo>
                    <a:pt x="0" y="0"/>
                  </a:moveTo>
                  <a:lnTo>
                    <a:pt x="130968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9684068" y="2370772"/>
              <a:ext cx="104775" cy="116205"/>
            </a:xfrm>
            <a:custGeom>
              <a:avLst/>
              <a:gdLst/>
              <a:ahLst/>
              <a:cxnLst/>
              <a:rect l="l" t="t" r="r" b="b"/>
              <a:pathLst>
                <a:path w="104775" h="116205">
                  <a:moveTo>
                    <a:pt x="0" y="116205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46595" y="2103120"/>
              <a:ext cx="143256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54215" y="2110740"/>
              <a:ext cx="141827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46595" y="2369820"/>
              <a:ext cx="1432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46595" y="2465070"/>
              <a:ext cx="1432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788842" y="2103120"/>
              <a:ext cx="114300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95510" y="2110740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788842" y="23698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788842" y="24650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3479" y="2167414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7461" y="2537460"/>
              <a:ext cx="1380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moveFast(c: Car)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21555" y="2167414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59709" y="253746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run()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86825" y="2212658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7114" y="22393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用一下</a:t>
              </a:r>
            </a:p>
          </p:txBody>
        </p:sp>
      </p:grpSp>
      <p:grpSp>
        <p:nvGrpSpPr>
          <p:cNvPr id="46" name="c2-bullets-2"/>
          <p:cNvGrpSpPr/>
          <p:nvPr/>
        </p:nvGrpSpPr>
        <p:grpSpPr>
          <a:xfrm>
            <a:off x="6456998" y="3549015"/>
            <a:ext cx="4513897" cy="1337310"/>
            <a:chOff x="6456998" y="3549015"/>
            <a:chExt cx="4513897" cy="1337310"/>
          </a:xfrm>
        </p:grpSpPr>
        <p:sp>
          <p:nvSpPr>
            <p:cNvPr id="39" name="TextBox 39"/>
            <p:cNvSpPr txBox="1"/>
            <p:nvPr/>
          </p:nvSpPr>
          <p:spPr>
            <a:xfrm>
              <a:off x="6456998" y="35490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常见的依赖例子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464618" y="393477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5" y="39033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人借助螺丝刀拧螺丝、人借船过河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427958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5125" y="42481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充电电池通过充电器充电、自行车用打气筒充气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64618" y="46243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5125" y="4592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学生读书、艺术家鉴赏艺术品、警察抓小偷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464618" y="5017770"/>
            <a:ext cx="5193982" cy="782955"/>
            <a:chOff x="6464618" y="5017770"/>
            <a:chExt cx="5193982" cy="782955"/>
          </a:xfrm>
        </p:grpSpPr>
        <p:sp>
          <p:nvSpPr>
            <p:cNvPr id="47" name="Rectangle 47"/>
            <p:cNvSpPr/>
            <p:nvPr/>
          </p:nvSpPr>
          <p:spPr>
            <a:xfrm>
              <a:off x="6464618" y="501777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69405" y="5309235"/>
              <a:ext cx="200026" cy="200025"/>
              <a:chOff x="6669405" y="530923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69405" y="53092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09144" y="53536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43859" y="54648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971348" y="516636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人要开车走得快，但人不必拥有这辆车。不拥有，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就是依赖而不是关联。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单向依赖例：老鼠每吃一个苹果就按能量长体重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335202" cy="293370"/>
            <a:chOff x="525780" y="1548765"/>
            <a:chExt cx="733520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335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老鼠只在 eat 方法的参数里见到苹果，吃完不再保存它，所以是依赖，不是关联。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059805" cy="3342322"/>
            <a:chOff x="533400" y="1954530"/>
            <a:chExt cx="6059805" cy="334232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3297174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power;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e) { power = e;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energy()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power;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weight;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w) { weight = w;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weight()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weight;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eat(Apple one)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weight += one.energy() / 2;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table-1"/>
          <p:cNvGrpSpPr/>
          <p:nvPr/>
        </p:nvGrpSpPr>
        <p:grpSpPr>
          <a:xfrm>
            <a:off x="6892290" y="1954530"/>
            <a:ext cx="4766310" cy="2015967"/>
            <a:chOff x="6892290" y="1954530"/>
            <a:chExt cx="4766310" cy="2015967"/>
          </a:xfrm>
        </p:grpSpPr>
        <p:sp>
          <p:nvSpPr>
            <p:cNvPr id="13" name="Rectangle 13"/>
            <p:cNvSpPr/>
            <p:nvPr/>
          </p:nvSpPr>
          <p:spPr>
            <a:xfrm>
              <a:off x="6898005" y="1954530"/>
              <a:ext cx="476059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87019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苹果能量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34462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29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吃完后体重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6815" y="251555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07157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23880" y="251555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28098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8005" y="281463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16815" y="29460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07157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23880" y="29460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98005" y="32404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16815" y="33766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07157" y="33766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880" y="33766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8005" y="1954530"/>
              <a:ext cx="476059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3059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864090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2290" y="3750469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初始体重 100 的老鼠连吃三个苹果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898005" y="4111942"/>
            <a:ext cx="4760595" cy="1545908"/>
            <a:chOff x="6898005" y="4111942"/>
            <a:chExt cx="4760595" cy="1545908"/>
          </a:xfrm>
        </p:grpSpPr>
        <p:sp>
          <p:nvSpPr>
            <p:cNvPr id="34" name="Rectangle 34"/>
            <p:cNvSpPr/>
            <p:nvPr/>
          </p:nvSpPr>
          <p:spPr>
            <a:xfrm>
              <a:off x="6898005" y="4111942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424529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39940" y="43157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0148" y="4351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2701" y="4688681"/>
              <a:ext cx="40991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weight += one-&gt;Energy() * 0.5;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weight 是整型，小数会被截断，能量 25 时只长 12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点。写成 </a:t>
              </a:r>
              <a:r>
                <a:rPr lang="zh-CN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/ 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结果一样但意图更清楚。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898005" y="5843588"/>
            <a:ext cx="4760595" cy="518160"/>
            <a:chOff x="6898005" y="5843588"/>
            <a:chExt cx="4760595" cy="518160"/>
          </a:xfrm>
        </p:grpSpPr>
        <p:sp>
          <p:nvSpPr>
            <p:cNvPr id="40" name="Rectangle 40"/>
            <p:cNvSpPr/>
            <p:nvPr/>
          </p:nvSpPr>
          <p:spPr>
            <a:xfrm>
              <a:off x="6898005" y="5843588"/>
              <a:ext cx="4760595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102793" y="6002657"/>
              <a:ext cx="200023" cy="200023"/>
              <a:chOff x="7102793" y="600265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102793" y="60026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36143" y="60693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5116" y="6003131"/>
              <a:ext cx="39183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判断依据：Mouse 里没有 Apple 类型的字段。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变化来了：老鼠还吃香蕉、葡萄、桃子怎么办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1529715"/>
            <a:chOff x="533400" y="1524000"/>
            <a:chExt cx="5193982" cy="1529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一种水果加一个重载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4596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eat(Apple)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eat(Banana)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eat(Grape)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一个也少不了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再来一种桃子还得加一个方法，用到 Mouse 的代码全要重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新编译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3228022"/>
            <a:ext cx="5193982" cy="2397442"/>
            <a:chOff x="533400" y="3228022"/>
            <a:chExt cx="5193982" cy="2397442"/>
          </a:xfrm>
        </p:grpSpPr>
        <p:sp>
          <p:nvSpPr>
            <p:cNvPr id="17" name="Rectangle 17"/>
            <p:cNvSpPr/>
            <p:nvPr/>
          </p:nvSpPr>
          <p:spPr>
            <a:xfrm>
              <a:off x="533400" y="3228022"/>
              <a:ext cx="5193982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3379946"/>
              <a:ext cx="19011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改法：让 eat 只认抽象的 Fruit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" y="3641408"/>
              <a:ext cx="279768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energy();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Peach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energy()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35;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Mouse 只留一个方法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eat(Fruit f)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weight += f.energy() / 2;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uml-1"/>
          <p:cNvGrpSpPr/>
          <p:nvPr/>
        </p:nvGrpSpPr>
        <p:grpSpPr>
          <a:xfrm>
            <a:off x="6397942" y="1972628"/>
            <a:ext cx="4893946" cy="2136458"/>
            <a:chOff x="6397942" y="1972628"/>
            <a:chExt cx="4893946" cy="2136458"/>
          </a:xfrm>
        </p:grpSpPr>
        <p:sp>
          <p:nvSpPr>
            <p:cNvPr id="21" name="Freeform 21"/>
            <p:cNvSpPr/>
            <p:nvPr/>
          </p:nvSpPr>
          <p:spPr>
            <a:xfrm>
              <a:off x="7540942" y="2282190"/>
              <a:ext cx="732472" cy="9525"/>
            </a:xfrm>
            <a:custGeom>
              <a:avLst/>
              <a:gdLst/>
              <a:ahLst/>
              <a:cxnLst/>
              <a:rect l="l" t="t" r="r" b="b"/>
              <a:pathLst>
                <a:path w="732472" h="9525">
                  <a:moveTo>
                    <a:pt x="0" y="0"/>
                  </a:moveTo>
                  <a:lnTo>
                    <a:pt x="73247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8168640" y="222504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749665" y="2718435"/>
              <a:ext cx="95250" cy="770573"/>
            </a:xfrm>
            <a:custGeom>
              <a:avLst/>
              <a:gdLst/>
              <a:ahLst/>
              <a:cxnLst/>
              <a:rect l="l" t="t" r="r" b="b"/>
              <a:pathLst>
                <a:path w="95250" h="770573">
                  <a:moveTo>
                    <a:pt x="95250" y="770573"/>
                  </a:moveTo>
                  <a:lnTo>
                    <a:pt x="95250" y="321945"/>
                  </a:lnTo>
                  <a:lnTo>
                    <a:pt x="0" y="32194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676322" y="25927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940165" y="2718435"/>
              <a:ext cx="1780222" cy="770573"/>
            </a:xfrm>
            <a:custGeom>
              <a:avLst/>
              <a:gdLst/>
              <a:ahLst/>
              <a:cxnLst/>
              <a:rect l="l" t="t" r="r" b="b"/>
              <a:pathLst>
                <a:path w="1780222" h="770573">
                  <a:moveTo>
                    <a:pt x="1780222" y="770573"/>
                  </a:moveTo>
                  <a:lnTo>
                    <a:pt x="1780222" y="321945"/>
                  </a:lnTo>
                  <a:lnTo>
                    <a:pt x="0" y="32194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866822" y="25927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97942" y="1972628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05562" y="197929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397942" y="22212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97942" y="23164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273415" y="1972628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281035" y="197929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273415" y="22212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73415" y="23164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73415" y="3489008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81035" y="349662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73415" y="37376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273415" y="38328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48888" y="3489008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56508" y="349662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48888" y="37376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48888" y="38328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2713" y="2032635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Mouse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9190" y="2387441"/>
              <a:ext cx="1005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eat(f: Fruit)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51958" y="2032635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Fruit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4662" y="2387441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energy(): int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51958" y="3549015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44662" y="3903821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energy(): int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67853" y="3549015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Banana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0134" y="3903821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energy(): int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757160" y="2076450"/>
              <a:ext cx="30099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93862" y="210073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eat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032182" y="4732972"/>
            <a:ext cx="5626418" cy="893445"/>
            <a:chOff x="6032182" y="4732972"/>
            <a:chExt cx="5626418" cy="893445"/>
          </a:xfrm>
        </p:grpSpPr>
        <p:sp>
          <p:nvSpPr>
            <p:cNvPr id="54" name="Rectangle 54"/>
            <p:cNvSpPr/>
            <p:nvPr/>
          </p:nvSpPr>
          <p:spPr>
            <a:xfrm>
              <a:off x="6032182" y="4732972"/>
              <a:ext cx="5626418" cy="893445"/>
            </a:xfrm>
            <a:prstGeom prst="roundRect">
              <a:avLst>
                <a:gd name="adj" fmla="val 1279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36970" y="5079685"/>
              <a:ext cx="200023" cy="200023"/>
              <a:chOff x="6236970" y="507968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236970" y="50796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70320" y="5146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9674" y="4960620"/>
              <a:ext cx="46257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虚线箭头指向的是抽象类 Fruit，具体水果挂在 Fruit 下面。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这就是后面"面向接口编程"的原型。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8361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面向对象设计要尽量预先看出哪里会变，这依赖领域知识：能预见到"水果会增加"，才会先抽出 Fruit。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再进一步：两端同时抽象，老鼠也可以有很多种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uml-1"/>
          <p:cNvGrpSpPr/>
          <p:nvPr/>
        </p:nvGrpSpPr>
        <p:grpSpPr>
          <a:xfrm>
            <a:off x="1026795" y="1976438"/>
            <a:ext cx="4553902" cy="3668076"/>
            <a:chOff x="1026795" y="1976438"/>
            <a:chExt cx="4553902" cy="3668076"/>
          </a:xfrm>
        </p:grpSpPr>
        <p:sp>
          <p:nvSpPr>
            <p:cNvPr id="7" name="Freeform 7"/>
            <p:cNvSpPr/>
            <p:nvPr/>
          </p:nvSpPr>
          <p:spPr>
            <a:xfrm>
              <a:off x="2478405" y="2302192"/>
              <a:ext cx="1389698" cy="9525"/>
            </a:xfrm>
            <a:custGeom>
              <a:avLst/>
              <a:gdLst/>
              <a:ahLst/>
              <a:cxnLst/>
              <a:rect l="l" t="t" r="r" b="b"/>
              <a:pathLst>
                <a:path w="1389698" h="9525">
                  <a:moveTo>
                    <a:pt x="0" y="0"/>
                  </a:moveTo>
                  <a:lnTo>
                    <a:pt x="138969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763328" y="224409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2753678"/>
              <a:ext cx="9525" cy="873442"/>
            </a:xfrm>
            <a:custGeom>
              <a:avLst/>
              <a:gdLst/>
              <a:ahLst/>
              <a:cxnLst/>
              <a:rect l="l" t="t" r="r" b="b"/>
              <a:pathLst>
                <a:path w="9525" h="873442">
                  <a:moveTo>
                    <a:pt x="0" y="87344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12608" y="26279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6795" y="2302192"/>
              <a:ext cx="287655" cy="3110865"/>
            </a:xfrm>
            <a:custGeom>
              <a:avLst/>
              <a:gdLst/>
              <a:ahLst/>
              <a:cxnLst/>
              <a:rect l="l" t="t" r="r" b="b"/>
              <a:pathLst>
                <a:path w="287655" h="3110865">
                  <a:moveTo>
                    <a:pt x="287655" y="3110865"/>
                  </a:moveTo>
                  <a:lnTo>
                    <a:pt x="0" y="3110865"/>
                  </a:lnTo>
                  <a:lnTo>
                    <a:pt x="0" y="0"/>
                  </a:lnTo>
                  <a:lnTo>
                    <a:pt x="1400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66812" y="2228850"/>
              <a:ext cx="126683" cy="146685"/>
            </a:xfrm>
            <a:custGeom>
              <a:avLst/>
              <a:gdLst/>
              <a:ahLst/>
              <a:cxnLst/>
              <a:rect l="l" t="t" r="r" b="b"/>
              <a:pathLst>
                <a:path w="126683" h="146685">
                  <a:moveTo>
                    <a:pt x="126683" y="73342"/>
                  </a:moveTo>
                  <a:lnTo>
                    <a:pt x="0" y="1466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91050" y="2753678"/>
              <a:ext cx="9525" cy="873442"/>
            </a:xfrm>
            <a:custGeom>
              <a:avLst/>
              <a:gdLst/>
              <a:ahLst/>
              <a:cxnLst/>
              <a:rect l="l" t="t" r="r" b="b"/>
              <a:pathLst>
                <a:path w="9525" h="873442">
                  <a:moveTo>
                    <a:pt x="0" y="87344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17708" y="26279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62550" y="2302192"/>
              <a:ext cx="418147" cy="3110865"/>
            </a:xfrm>
            <a:custGeom>
              <a:avLst/>
              <a:gdLst/>
              <a:ahLst/>
              <a:cxnLst/>
              <a:rect l="l" t="t" r="r" b="b"/>
              <a:pathLst>
                <a:path w="418147" h="3110865">
                  <a:moveTo>
                    <a:pt x="0" y="3110865"/>
                  </a:moveTo>
                  <a:lnTo>
                    <a:pt x="418147" y="3110865"/>
                  </a:lnTo>
                  <a:lnTo>
                    <a:pt x="418147" y="0"/>
                  </a:lnTo>
                  <a:lnTo>
                    <a:pt x="27717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313998" y="2228850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0" y="73342"/>
                  </a:moveTo>
                  <a:lnTo>
                    <a:pt x="125730" y="0"/>
                  </a:lnTo>
                  <a:lnTo>
                    <a:pt x="125730" y="14668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93495" y="1976438"/>
              <a:ext cx="1185862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00162" y="1983105"/>
              <a:ext cx="1171575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293495" y="2243138"/>
              <a:ext cx="11858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293495" y="2338388"/>
              <a:ext cx="118586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68102" y="1976438"/>
              <a:ext cx="144589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75722" y="1983105"/>
              <a:ext cx="143160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68102" y="2243138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68102" y="2338388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14450" y="3627120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22070" y="3633788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14450" y="38938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314450" y="39890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14450" y="5182552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22070" y="5189220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314450" y="5449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14450" y="5544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19550" y="3627120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27170" y="3633788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19550" y="38938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19550" y="39890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19550" y="5182552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027170" y="5189220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019550" y="5449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19550" y="5544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644080" y="2040731"/>
              <a:ext cx="483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Human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64361" y="2410778"/>
              <a:ext cx="1113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read(b: Book)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8726" y="204073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Book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38968" y="2410778"/>
              <a:ext cx="1387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content(): String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73018" y="3691414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60090" y="5246846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Robot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85203" y="3691414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Novel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78118" y="524684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Cartoon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79420" y="2085975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012910" y="211264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read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248400" y="1524000"/>
            <a:ext cx="5410200" cy="1653540"/>
            <a:chOff x="6248400" y="1524000"/>
            <a:chExt cx="5410200" cy="1653540"/>
          </a:xfrm>
        </p:grpSpPr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1653540"/>
            </a:xfrm>
            <a:prstGeom prst="roundRect">
              <a:avLst>
                <a:gd name="adj" fmla="val 806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0330" y="17583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这张图的形状要记住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0330" y="211264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虚线只连两个抽象类，两侧各自派生子类。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50330" y="2447925"/>
              <a:ext cx="464962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结果是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 × 2 种组合都能跑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，而 Human 与 Book 的代码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都不用改。</a:t>
              </a:r>
            </a:p>
          </p:txBody>
        </p:sp>
      </p:grpSp>
      <p:grpSp>
        <p:nvGrpSpPr>
          <p:cNvPr id="66" name="c2-bullets-2"/>
          <p:cNvGrpSpPr/>
          <p:nvPr/>
        </p:nvGrpSpPr>
        <p:grpSpPr>
          <a:xfrm>
            <a:off x="6240780" y="3392805"/>
            <a:ext cx="4845368" cy="1682115"/>
            <a:chOff x="6240780" y="3392805"/>
            <a:chExt cx="4845368" cy="1682115"/>
          </a:xfrm>
        </p:grpSpPr>
        <p:sp>
          <p:nvSpPr>
            <p:cNvPr id="57" name="TextBox 57"/>
            <p:cNvSpPr txBox="1"/>
            <p:nvPr/>
          </p:nvSpPr>
          <p:spPr>
            <a:xfrm>
              <a:off x="6240780" y="33928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同一个形状的其他例子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54115" y="38100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2230" y="3747135"/>
              <a:ext cx="4634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Mouse (eat) Fruit：大老鼠、小老鼠吃苹果、橘子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54115" y="41548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12230" y="4091940"/>
              <a:ext cx="4362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Student (do) Homework：不同学生做不同作业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54115" y="44996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2230" y="4436745"/>
              <a:ext cx="3695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Screen (draw) Shape：屏幕画各种图形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54115" y="48444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12230" y="4781550"/>
              <a:ext cx="4673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Printer (print) Date：打印机打印各种格式的日期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248400" y="5206365"/>
            <a:ext cx="5410200" cy="984885"/>
            <a:chOff x="6248400" y="5206365"/>
            <a:chExt cx="5410200" cy="984885"/>
          </a:xfrm>
        </p:grpSpPr>
        <p:sp>
          <p:nvSpPr>
            <p:cNvPr id="67" name="Rectangle 67"/>
            <p:cNvSpPr/>
            <p:nvPr/>
          </p:nvSpPr>
          <p:spPr>
            <a:xfrm>
              <a:off x="6248400" y="5206365"/>
              <a:ext cx="5410200" cy="984885"/>
            </a:xfrm>
            <a:prstGeom prst="roundRect">
              <a:avLst>
                <a:gd name="adj" fmla="val 116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453188" y="5598795"/>
              <a:ext cx="200026" cy="200025"/>
              <a:chOff x="6453188" y="5598795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598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92926" y="5643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27642" y="5754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755130" y="5455920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只抽象一端，是"一边可变"；两端都抽象，是桥接模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式的雏形，后面第八讲会再见到它。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自身依赖例：怪物之间一对一战斗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66010" cy="293370"/>
            <a:chOff x="525780" y="1548765"/>
            <a:chExt cx="84660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66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题目：每个怪物有速度、生命值、攻击力、防御力；两个怪物轮流攻击，直到一方生命值为 0。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54530"/>
            <a:ext cx="5410200" cy="2205038"/>
            <a:chOff x="533400" y="1954530"/>
            <a:chExt cx="5410200" cy="22050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先手与伤害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5335" y="253746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680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228" y="255031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先手：比速度，速度相同比生命值，再比攻击力，再比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防御力，都相同任选一方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312896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1693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141821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伤害：2 × 进攻方攻击力 − 防守方防御力，不足 1 按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372046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37608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3733324"/>
              <a:ext cx="3675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被打方生命值降到 0 即告负，不必考虑善后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344352"/>
            <a:ext cx="5410200" cy="1865948"/>
            <a:chOff x="533400" y="4344352"/>
            <a:chExt cx="5410200" cy="1865948"/>
          </a:xfrm>
        </p:grpSpPr>
        <p:sp>
          <p:nvSpPr>
            <p:cNvPr id="24" name="Rectangle 24"/>
            <p:cNvSpPr/>
            <p:nvPr/>
          </p:nvSpPr>
          <p:spPr>
            <a:xfrm>
              <a:off x="533400" y="4344352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477702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454818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9940" y="4583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为什么是自身依赖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096" y="4922044"/>
              <a:ext cx="47844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fight 的参数类型就是 Monster 自己，一个怪物在方法里临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时用到另一个怪物，用完不保存。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551354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画法仍是虚线箭头，只是起点和终点是同一个类，画成指向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自己的一条回线。</a:t>
              </a:r>
            </a:p>
          </p:txBody>
        </p:sp>
      </p:grpSp>
      <p:grpSp>
        <p:nvGrpSpPr>
          <p:cNvPr id="38" name="c2-uml-1"/>
          <p:cNvGrpSpPr/>
          <p:nvPr/>
        </p:nvGrpSpPr>
        <p:grpSpPr>
          <a:xfrm>
            <a:off x="7700962" y="2215515"/>
            <a:ext cx="2506028" cy="1787842"/>
            <a:chOff x="7700962" y="2215515"/>
            <a:chExt cx="2506028" cy="1787842"/>
          </a:xfrm>
        </p:grpSpPr>
        <p:sp>
          <p:nvSpPr>
            <p:cNvPr id="31" name="Rectangle 31"/>
            <p:cNvSpPr/>
            <p:nvPr/>
          </p:nvSpPr>
          <p:spPr>
            <a:xfrm>
              <a:off x="7700962" y="2215515"/>
              <a:ext cx="2506028" cy="178784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707630" y="2223135"/>
              <a:ext cx="2491740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700962" y="2482215"/>
              <a:ext cx="25060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00962" y="3334702"/>
              <a:ext cx="25060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24609" y="2279809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Monster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71829" y="2554605"/>
              <a:ext cx="94411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speed: int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hitpoint: int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damage: int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defense: int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71829" y="3407093"/>
              <a:ext cx="236429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fight(other: Monster): boolean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harmTo(other: Monster): int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priorTo(other: Monster): boolean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248400" y="4450080"/>
            <a:ext cx="5410200" cy="1761172"/>
            <a:chOff x="6248400" y="4450080"/>
            <a:chExt cx="5410200" cy="1761172"/>
          </a:xfrm>
        </p:grpSpPr>
        <p:sp>
          <p:nvSpPr>
            <p:cNvPr id="39" name="Rectangle 39"/>
            <p:cNvSpPr/>
            <p:nvPr/>
          </p:nvSpPr>
          <p:spPr>
            <a:xfrm>
              <a:off x="6248400" y="4450080"/>
              <a:ext cx="5410200" cy="1761172"/>
            </a:xfrm>
            <a:prstGeom prst="roundRect">
              <a:avLst>
                <a:gd name="adj" fmla="val 649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5230180"/>
              <a:ext cx="200023" cy="200023"/>
              <a:chOff x="6453188" y="523018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52301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86538" y="5296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511" y="509920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成员方法的参数是本类类型，就是自身依赖；成员字段是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本类类型，才是自身关联（下一节的链表节点）。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怪物战斗的完整实现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559618"/>
            <a:chOff x="533400" y="1524000"/>
            <a:chExt cx="6276022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77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Monster.java（构造函数从略）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470654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Monster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speed;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hitpoint;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damage, defense;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fight(Monster other)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(priorTo(other) &amp;&amp; attack(other) == 0)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(other.attack(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== 0)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(attack(other) == 0)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harmTo(Monster o) {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子类改这里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Math.max(1, damage * 2 - o.defense);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attack(Monster o)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o.hitpoint = Math.max(0, o.hitpoint - harmTo(o));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o.hitpoint;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2327910"/>
            <a:chOff x="7114222" y="1524000"/>
            <a:chExt cx="4544378" cy="2327910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先手判定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1858" y="1937861"/>
              <a:ext cx="290601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priorTo(Monster o)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(speed != o.speed)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speed &gt; o.speed;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(hitpoint != o.hitpoint)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hitpoint &gt; o.hitpoint;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(damage != o.damage)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damage &gt; o.damage;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defense &gt;= o.defense;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steps-2"/>
          <p:cNvGrpSpPr/>
          <p:nvPr/>
        </p:nvGrpSpPr>
        <p:grpSpPr>
          <a:xfrm>
            <a:off x="7114222" y="4051935"/>
            <a:ext cx="4449101" cy="1878615"/>
            <a:chOff x="7114222" y="4051935"/>
            <a:chExt cx="4449101" cy="1878615"/>
          </a:xfrm>
        </p:grpSpPr>
        <p:sp>
          <p:nvSpPr>
            <p:cNvPr id="15" name="Rectangle 15"/>
            <p:cNvSpPr/>
            <p:nvPr/>
          </p:nvSpPr>
          <p:spPr>
            <a:xfrm>
              <a:off x="7247572" y="419481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114222" y="405193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7846" y="41257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14222" y="47024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7846" y="4776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4222" y="53530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07846" y="54268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5702" y="4086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先手先打一下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846" y="4380071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一击打到 0 就直接获胜，否则进入循环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5702" y="473678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轮流攻击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6846" y="5030629"/>
              <a:ext cx="4036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循环里固定 other 先打再轮到自己，与先手那击接上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5702" y="53873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伤害单独封装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6846" y="5681186"/>
              <a:ext cx="3586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子类覆盖 harmTo 即可换公式，attack 不必改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56225" cy="909257"/>
            <a:chOff x="520446" y="342900"/>
            <a:chExt cx="74562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562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复核一遍：a(10,200,7,8) 打 b(10,150,8,7)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965603" cy="264033"/>
            <a:chOff x="526542" y="1545907"/>
            <a:chExt cx="59656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965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两个怪物速度都是 10，比生命值，a 的 200 大于 b 的 150，所以 a 先手。</a:t>
              </a:r>
            </a:p>
          </p:txBody>
        </p:sp>
      </p:grpSp>
      <p:grpSp>
        <p:nvGrpSpPr>
          <p:cNvPr id="25" name="c1-table-1"/>
          <p:cNvGrpSpPr/>
          <p:nvPr/>
        </p:nvGrpSpPr>
        <p:grpSpPr>
          <a:xfrm>
            <a:off x="528447" y="1928812"/>
            <a:ext cx="5415153" cy="1407509"/>
            <a:chOff x="528447" y="1928812"/>
            <a:chExt cx="5415153" cy="1407509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1860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进攻方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54464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4306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每次伤害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7055" y="2426970"/>
              <a:ext cx="404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打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87323" y="242697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7 − 7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689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77055" y="2808923"/>
              <a:ext cx="404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打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7323" y="2808923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8 − 8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8689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28812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21230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12895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447" y="314563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每次攻击的固定伤害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28447" y="3463290"/>
            <a:ext cx="5415153" cy="2933414"/>
            <a:chOff x="528447" y="3463290"/>
            <a:chExt cx="5415153" cy="2933414"/>
          </a:xfrm>
        </p:grpSpPr>
        <p:sp>
          <p:nvSpPr>
            <p:cNvPr id="26" name="Rectangle 26"/>
            <p:cNvSpPr/>
            <p:nvPr/>
          </p:nvSpPr>
          <p:spPr>
            <a:xfrm>
              <a:off x="533400" y="3463290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4979" y="35804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出手序号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9162" y="358044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出手方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65972" y="358044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生命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77565" y="358044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生命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6866" y="39614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12317" y="396144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53786" y="396144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65379" y="396144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21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262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6866" y="4343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12317" y="43434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53786" y="434340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65379" y="434340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602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16866" y="4724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12317" y="47244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53786" y="472440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65379" y="472440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83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9882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16866" y="5106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12317" y="5106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31529" y="5106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43122" y="5106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365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76051" y="5487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12317" y="5487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892658" y="5487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43122" y="5487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746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7511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76051" y="5868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612317" y="5868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92658" y="58683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641532" y="5760720"/>
              <a:ext cx="129254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43122" y="5868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346329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988820" y="346329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314700" y="346329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627245" y="346329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447" y="6206014"/>
              <a:ext cx="23252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战斗过程（a 先出手，之后 b、a 交替）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6248400" y="1928812"/>
            <a:ext cx="5410200" cy="1168718"/>
            <a:chOff x="6248400" y="1928812"/>
            <a:chExt cx="5410200" cy="1168718"/>
          </a:xfrm>
        </p:grpSpPr>
        <p:sp>
          <p:nvSpPr>
            <p:cNvPr id="70" name="Rectangle 70"/>
            <p:cNvSpPr/>
            <p:nvPr/>
          </p:nvSpPr>
          <p:spPr>
            <a:xfrm>
              <a:off x="6248400" y="1928812"/>
              <a:ext cx="5410200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2062162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60998" y="2130266"/>
              <a:ext cx="985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结论：A Win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60998" y="2432209"/>
              <a:ext cx="4820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共出手 22 次，累计打掉 b 的 154 点生命（150 点即告负）。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60998" y="2717006"/>
              <a:ext cx="3899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b 共出手 21 次，打掉 a 的 168 点，a 还剩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点。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248400" y="3261360"/>
            <a:ext cx="5410200" cy="1730692"/>
            <a:chOff x="6248400" y="3261360"/>
            <a:chExt cx="5410200" cy="1730692"/>
          </a:xfrm>
        </p:grpSpPr>
        <p:sp>
          <p:nvSpPr>
            <p:cNvPr id="76" name="Rectangle 76"/>
            <p:cNvSpPr/>
            <p:nvPr/>
          </p:nvSpPr>
          <p:spPr>
            <a:xfrm>
              <a:off x="6248400" y="3261360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7925" y="339471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67475" y="34423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60147" y="34751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33451" y="3482816"/>
              <a:ext cx="2178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的生命改成 180 会怎样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60998" y="3799046"/>
              <a:ext cx="5078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仍然先手（200 &gt; 180）。b 需要挨 26 次打，a 只能挨 25 次打。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60998" y="408384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50 次出手时 b 打出第 25 击，a 的生命恰好 200 − 8 × 25 = 0，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判负，b 还剩 5 点。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60998" y="4611529"/>
              <a:ext cx="2817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结果：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Lose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，与原课件注释一致。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6248400" y="5156835"/>
            <a:ext cx="5410200" cy="1201102"/>
            <a:chOff x="6248400" y="5156835"/>
            <a:chExt cx="5410200" cy="1201102"/>
          </a:xfrm>
        </p:grpSpPr>
        <p:sp>
          <p:nvSpPr>
            <p:cNvPr id="85" name="Rectangle 85"/>
            <p:cNvSpPr/>
            <p:nvPr/>
          </p:nvSpPr>
          <p:spPr>
            <a:xfrm>
              <a:off x="6248400" y="5156835"/>
              <a:ext cx="5410200" cy="1201102"/>
            </a:xfrm>
            <a:prstGeom prst="roundRect">
              <a:avLst>
                <a:gd name="adj" fmla="val 95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6453188" y="5657850"/>
              <a:ext cx="200026" cy="200025"/>
              <a:chOff x="6453188" y="5657850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453188" y="56578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492926" y="57023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527642" y="58134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6756273" y="555069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这类题的快速算法：先算双方每击伤害，再算各自能挨几击，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最后按先手顺序比一比谁先耗完。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怪物变多了：猫和狗的攻击效果各不相同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626418" cy="1525905"/>
            <a:chOff x="533400" y="1524000"/>
            <a:chExt cx="5626418" cy="1525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01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怪物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859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伤害公式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1020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61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Monster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3981" y="2023110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攻击力 − 对方防御力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48631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33981" y="2404110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攻击力 − 对方防御力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48631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48828" y="2677478"/>
              <a:ext cx="289560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33981" y="2785110"/>
              <a:ext cx="2024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（攻击力 − 对方防御力 + 5）×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8631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3454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4919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3214688"/>
            <a:ext cx="5626418" cy="702945"/>
            <a:chOff x="533400" y="3214688"/>
            <a:chExt cx="5626418" cy="702945"/>
          </a:xfrm>
        </p:grpSpPr>
        <p:sp>
          <p:nvSpPr>
            <p:cNvPr id="28" name="Rectangle 28"/>
            <p:cNvSpPr/>
            <p:nvPr/>
          </p:nvSpPr>
          <p:spPr>
            <a:xfrm>
              <a:off x="533400" y="321468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3465195"/>
              <a:ext cx="200026" cy="200026"/>
              <a:chOff x="738188" y="3465195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34651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35318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35652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1273" y="3358991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按原课件给的公式，猫的伤害算法与基类一模一样，Cat 其实不必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覆盖；真正变了的只有狗。</a:t>
              </a:r>
            </a:p>
          </p:txBody>
        </p:sp>
      </p:grpSp>
      <p:grpSp>
        <p:nvGrpSpPr>
          <p:cNvPr id="38" name="c1-code-3"/>
          <p:cNvGrpSpPr/>
          <p:nvPr/>
        </p:nvGrpSpPr>
        <p:grpSpPr>
          <a:xfrm>
            <a:off x="533400" y="4081462"/>
            <a:ext cx="5626418" cy="1561148"/>
            <a:chOff x="533400" y="4081462"/>
            <a:chExt cx="5626418" cy="1561148"/>
          </a:xfrm>
        </p:grpSpPr>
        <p:sp>
          <p:nvSpPr>
            <p:cNvPr id="35" name="Rectangle 35"/>
            <p:cNvSpPr/>
            <p:nvPr/>
          </p:nvSpPr>
          <p:spPr>
            <a:xfrm>
              <a:off x="533400" y="4081462"/>
              <a:ext cx="5626418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1797" y="423338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1797" y="4494371"/>
              <a:ext cx="3911727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Monster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harmTo(Monster o)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Math.max(2, (damage - o.defense + 5) * 2);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9" name="c2-uml-1"/>
          <p:cNvGrpSpPr/>
          <p:nvPr/>
        </p:nvGrpSpPr>
        <p:grpSpPr>
          <a:xfrm>
            <a:off x="6631305" y="1634490"/>
            <a:ext cx="4860607" cy="1722120"/>
            <a:chOff x="6631305" y="1634490"/>
            <a:chExt cx="4860607" cy="1722120"/>
          </a:xfrm>
        </p:grpSpPr>
        <p:sp>
          <p:nvSpPr>
            <p:cNvPr id="39" name="Freeform 39"/>
            <p:cNvSpPr/>
            <p:nvPr/>
          </p:nvSpPr>
          <p:spPr>
            <a:xfrm>
              <a:off x="7330440" y="2510790"/>
              <a:ext cx="1541145" cy="176212"/>
            </a:xfrm>
            <a:custGeom>
              <a:avLst/>
              <a:gdLst/>
              <a:ahLst/>
              <a:cxnLst/>
              <a:rect l="l" t="t" r="r" b="b"/>
              <a:pathLst>
                <a:path w="1541145" h="176212">
                  <a:moveTo>
                    <a:pt x="0" y="176212"/>
                  </a:moveTo>
                  <a:lnTo>
                    <a:pt x="0" y="25717"/>
                  </a:lnTo>
                  <a:lnTo>
                    <a:pt x="1541145" y="25717"/>
                  </a:lnTo>
                  <a:lnTo>
                    <a:pt x="154114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798242" y="23850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62085" y="2510790"/>
              <a:ext cx="9525" cy="176212"/>
            </a:xfrm>
            <a:custGeom>
              <a:avLst/>
              <a:gdLst/>
              <a:ahLst/>
              <a:cxnLst/>
              <a:rect l="l" t="t" r="r" b="b"/>
              <a:pathLst>
                <a:path w="9525" h="176212">
                  <a:moveTo>
                    <a:pt x="0" y="176212"/>
                  </a:moveTo>
                  <a:lnTo>
                    <a:pt x="0" y="25717"/>
                  </a:lnTo>
                  <a:lnTo>
                    <a:pt x="0" y="2571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88742" y="23850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252585" y="2495550"/>
              <a:ext cx="1540192" cy="110490"/>
            </a:xfrm>
            <a:custGeom>
              <a:avLst/>
              <a:gdLst/>
              <a:ahLst/>
              <a:cxnLst/>
              <a:rect l="l" t="t" r="r" b="b"/>
              <a:pathLst>
                <a:path w="1540192" h="110490">
                  <a:moveTo>
                    <a:pt x="1540192" y="110490"/>
                  </a:moveTo>
                  <a:lnTo>
                    <a:pt x="1540192" y="0"/>
                  </a:lnTo>
                  <a:lnTo>
                    <a:pt x="0" y="0"/>
                  </a:lnTo>
                  <a:lnTo>
                    <a:pt x="0" y="1524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79242" y="23850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362950" y="1634490"/>
              <a:ext cx="139827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69618" y="1642110"/>
              <a:ext cx="13839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62950" y="1864995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62950" y="1960245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31305" y="2687002"/>
              <a:ext cx="139827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38925" y="2694622"/>
              <a:ext cx="13839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31305" y="2917508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31305" y="3012758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62950" y="2687002"/>
              <a:ext cx="139827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69618" y="2694622"/>
              <a:ext cx="13839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62950" y="2917508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62950" y="3012758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93642" y="2606040"/>
              <a:ext cx="139827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101262" y="2613660"/>
              <a:ext cx="138398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93642" y="2836545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93642" y="2931795"/>
              <a:ext cx="13982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74353" y="1690211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Monster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34388" y="2029778"/>
              <a:ext cx="125539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fight(o: Monster)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harmTo(o: Monster)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09048" y="274272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2742" y="3082290"/>
              <a:ext cx="13408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harmTo(o: Monster)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0693" y="274272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34388" y="3082290"/>
              <a:ext cx="13408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harmTo(o: Monster)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77670" y="2661761"/>
              <a:ext cx="630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Crocodile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65080" y="3001328"/>
              <a:ext cx="125539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harmTo(o: Monster)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kill(o: Monster)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464618" y="3631882"/>
            <a:ext cx="5193982" cy="2010728"/>
            <a:chOff x="6464618" y="3631882"/>
            <a:chExt cx="5193982" cy="2010728"/>
          </a:xfrm>
        </p:grpSpPr>
        <p:sp>
          <p:nvSpPr>
            <p:cNvPr id="70" name="Rectangle 70"/>
            <p:cNvSpPr/>
            <p:nvPr/>
          </p:nvSpPr>
          <p:spPr>
            <a:xfrm>
              <a:off x="6464618" y="3631882"/>
              <a:ext cx="5193982" cy="2010728"/>
            </a:xfrm>
            <a:prstGeom prst="roundRect">
              <a:avLst>
                <a:gd name="adj" fmla="val 6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3765232"/>
              <a:ext cx="47625" cy="17440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683692" y="38128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76364" y="38457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77216" y="4153376"/>
              <a:ext cx="44914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原课件基类声明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int Attacked(Monster&amp;) const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，Cat、Dog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里却覆盖成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bool Attack(Monster&amp;)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，名字和返回类型都对不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上，C++ 里只是新增了一个函数，调用仍走基类版本。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77216" y="492394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覆盖必须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同名、同参数、返回类型兼容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，Java 里写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@Override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让编译器替你查。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1273" y="6039326"/>
              <a:ext cx="9117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鳄鱼多出的 kill 是新接口，用 Monster 引用调不到它，要么向下转型，要么把"吃掉对方"提升成所有怪物都有的行为。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依赖关系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双向依赖例：警察抓人，谁来决定加多少分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01057" cy="264033"/>
            <a:chOff x="526542" y="1545907"/>
            <a:chExt cx="800105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01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题目：抓小偷得小偷经验分的一半再加 50 分，抓行人扣 500 分，将来还要加海盗、议员等新角色。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4198620"/>
            <a:chOff x="533400" y="1928812"/>
            <a:chExt cx="5842635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569462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beCaught(Police cop);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Thief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beCaught(Police cop)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cop.addAward(exp / 2 + 50);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Walker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beCaught(Police cop)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cop.addAward(-500);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Police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totalAward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catchSomeone(Person p)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p.beCaught(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奖惩交给对方决定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addAward(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d) { totalAward += d;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5" name="c2-uml-1"/>
          <p:cNvGrpSpPr/>
          <p:nvPr/>
        </p:nvGrpSpPr>
        <p:grpSpPr>
          <a:xfrm>
            <a:off x="6757035" y="1995488"/>
            <a:ext cx="4671338" cy="1472565"/>
            <a:chOff x="6757035" y="1995488"/>
            <a:chExt cx="4671338" cy="1472565"/>
          </a:xfrm>
        </p:grpSpPr>
        <p:sp>
          <p:nvSpPr>
            <p:cNvPr id="13" name="Freeform 13"/>
            <p:cNvSpPr/>
            <p:nvPr/>
          </p:nvSpPr>
          <p:spPr>
            <a:xfrm>
              <a:off x="8263890" y="2370772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60" h="9525">
                  <a:moveTo>
                    <a:pt x="0" y="0"/>
                  </a:move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0125075" y="231362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510462" y="2665095"/>
              <a:ext cx="3128010" cy="347662"/>
            </a:xfrm>
            <a:custGeom>
              <a:avLst/>
              <a:gdLst/>
              <a:ahLst/>
              <a:cxnLst/>
              <a:rect l="l" t="t" r="r" b="b"/>
              <a:pathLst>
                <a:path w="3128010" h="347662">
                  <a:moveTo>
                    <a:pt x="3128010" y="0"/>
                  </a:moveTo>
                  <a:lnTo>
                    <a:pt x="3128010" y="347662"/>
                  </a:lnTo>
                  <a:lnTo>
                    <a:pt x="0" y="347662"/>
                  </a:lnTo>
                  <a:lnTo>
                    <a:pt x="0" y="80962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7453312" y="274605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169718" y="2790825"/>
              <a:ext cx="1659255" cy="251460"/>
            </a:xfrm>
            <a:custGeom>
              <a:avLst/>
              <a:gdLst/>
              <a:ahLst/>
              <a:cxnLst/>
              <a:rect l="l" t="t" r="r" b="b"/>
              <a:pathLst>
                <a:path w="1659255" h="251460">
                  <a:moveTo>
                    <a:pt x="0" y="251460"/>
                  </a:moveTo>
                  <a:lnTo>
                    <a:pt x="0" y="62865"/>
                  </a:lnTo>
                  <a:lnTo>
                    <a:pt x="1659255" y="62865"/>
                  </a:lnTo>
                  <a:lnTo>
                    <a:pt x="165925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755630" y="26650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828972" y="2790825"/>
              <a:ext cx="190500" cy="251460"/>
            </a:xfrm>
            <a:custGeom>
              <a:avLst/>
              <a:gdLst/>
              <a:ahLst/>
              <a:cxnLst/>
              <a:rect l="l" t="t" r="r" b="b"/>
              <a:pathLst>
                <a:path w="190500" h="251460">
                  <a:moveTo>
                    <a:pt x="0" y="251460"/>
                  </a:moveTo>
                  <a:lnTo>
                    <a:pt x="0" y="62865"/>
                  </a:lnTo>
                  <a:lnTo>
                    <a:pt x="190500" y="62865"/>
                  </a:lnTo>
                  <a:lnTo>
                    <a:pt x="190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946130" y="26650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57035" y="1995488"/>
              <a:ext cx="150685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64655" y="2003108"/>
              <a:ext cx="149256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57035" y="2225992"/>
              <a:ext cx="15068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57035" y="2321242"/>
              <a:ext cx="15068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229850" y="2076450"/>
              <a:ext cx="119824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237470" y="2084070"/>
              <a:ext cx="118395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229850" y="2306955"/>
              <a:ext cx="11982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229850" y="2402205"/>
              <a:ext cx="119824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598218" y="304228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605838" y="304990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598218" y="32727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98218" y="3368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257472" y="304228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265092" y="304990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57472" y="32727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57472" y="3368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9746" y="2051209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Police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28472" y="2390775"/>
              <a:ext cx="138684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catchSomeone(Person)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addAward(int)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93299" y="2132171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01288" y="2471738"/>
              <a:ext cx="1127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beCaught(Police)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89649" y="3098006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Thief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96794" y="3098006"/>
              <a:ext cx="464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Walker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675370" y="2816542"/>
              <a:ext cx="7981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97144" y="2839402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抓 / 回调加分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680835" y="3867150"/>
            <a:ext cx="4977765" cy="1181100"/>
            <a:chOff x="6680835" y="3867150"/>
            <a:chExt cx="4977765" cy="1181100"/>
          </a:xfrm>
        </p:grpSpPr>
        <p:sp>
          <p:nvSpPr>
            <p:cNvPr id="46" name="Rectangle 46"/>
            <p:cNvSpPr/>
            <p:nvPr/>
          </p:nvSpPr>
          <p:spPr>
            <a:xfrm>
              <a:off x="6680835" y="3867150"/>
              <a:ext cx="4977765" cy="1181100"/>
            </a:xfrm>
            <a:prstGeom prst="roundRect">
              <a:avLst>
                <a:gd name="adj" fmla="val 1129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60667" y="40767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双向依赖的用处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60667" y="4393882"/>
              <a:ext cx="4320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警察不写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if-else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判断抓到的是谁，奖惩规则写在各角色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自己身上；新增海盗只要再写一个子类。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680835" y="5217795"/>
            <a:ext cx="4977765" cy="908685"/>
            <a:chOff x="6680835" y="5217795"/>
            <a:chExt cx="4977765" cy="908685"/>
          </a:xfrm>
        </p:grpSpPr>
        <p:sp>
          <p:nvSpPr>
            <p:cNvPr id="50" name="Rectangle 50"/>
            <p:cNvSpPr/>
            <p:nvPr/>
          </p:nvSpPr>
          <p:spPr>
            <a:xfrm>
              <a:off x="6680835" y="5217795"/>
              <a:ext cx="4977765" cy="908685"/>
            </a:xfrm>
            <a:prstGeom prst="roundRect">
              <a:avLst>
                <a:gd name="adj" fmla="val 1257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885623" y="5573078"/>
              <a:ext cx="200026" cy="200025"/>
              <a:chOff x="6885623" y="557307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885623" y="55730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25361" y="56175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60077" y="57286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188327" y="5454015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警察调用对方的 beCaught、对方再回调警察加分，这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种两次分派的写法是访问者模式的核心手法。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136392" cy="2997517"/>
            <a:chOff x="667512" y="1835468"/>
            <a:chExt cx="31363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关联关系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长期持有对方的引用，地位平等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单向、自身、双向三种形态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多重度怎么标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双向关联的维护代价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6661" cy="909257"/>
            <a:chOff x="520446" y="342900"/>
            <a:chExt cx="6966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6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关联：A 的实例与 B 的某些特定实例长期对应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60258"/>
            <a:chOff x="533400" y="1524000"/>
            <a:chExt cx="5410200" cy="2060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799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关联（association）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两个相对独立的对象，一个的实例与另一个的一些特定实例存在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固定对应关系，这种语义级别的强依赖就是关联。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关系是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长期的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，不是临时的，双方地位一般平等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画法：实线加开放箭头，由持有方指向被持有方；双向关联画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双箭头或不画箭头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753802"/>
            <a:ext cx="5410200" cy="1384935"/>
            <a:chOff x="533400" y="3753802"/>
            <a:chExt cx="5410200" cy="1384935"/>
          </a:xfrm>
        </p:grpSpPr>
        <p:sp>
          <p:nvSpPr>
            <p:cNvPr id="18" name="Rectangle 18"/>
            <p:cNvSpPr/>
            <p:nvPr/>
          </p:nvSpPr>
          <p:spPr>
            <a:xfrm>
              <a:off x="533400" y="3753802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90572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797" y="4166711"/>
              <a:ext cx="297205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b;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长期持有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afun1() { b.bfun1();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afun2() { b.bfun2();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1-bullets-3"/>
          <p:cNvGrpSpPr/>
          <p:nvPr/>
        </p:nvGrpSpPr>
        <p:grpSpPr>
          <a:xfrm>
            <a:off x="526542" y="5331142"/>
            <a:ext cx="3679144" cy="803435"/>
            <a:chOff x="526542" y="5331142"/>
            <a:chExt cx="3679144" cy="803435"/>
          </a:xfrm>
        </p:grpSpPr>
        <p:sp>
          <p:nvSpPr>
            <p:cNvPr id="22" name="TextBox 22"/>
            <p:cNvSpPr txBox="1"/>
            <p:nvPr/>
          </p:nvSpPr>
          <p:spPr>
            <a:xfrm>
              <a:off x="526542" y="5331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典型例子与多重度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2925" y="568737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35" y="5644991"/>
              <a:ext cx="3506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客户与订单 1:N，公司与员工 1:N，主人与汽车 1:N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42925" y="595693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135" y="5914549"/>
              <a:ext cx="3489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丈夫与妻子 1:1，飞机与航班 1:N，学生与课程 N:N</a:t>
              </a:r>
            </a:p>
          </p:txBody>
        </p:sp>
      </p:grpSp>
      <p:grpSp>
        <p:nvGrpSpPr>
          <p:cNvPr id="43" name="c2-uml-1"/>
          <p:cNvGrpSpPr/>
          <p:nvPr/>
        </p:nvGrpSpPr>
        <p:grpSpPr>
          <a:xfrm>
            <a:off x="7029450" y="1984058"/>
            <a:ext cx="3848100" cy="587692"/>
            <a:chOff x="7029450" y="1984058"/>
            <a:chExt cx="3848100" cy="587692"/>
          </a:xfrm>
        </p:grpSpPr>
        <p:sp>
          <p:nvSpPr>
            <p:cNvPr id="28" name="Freeform 28"/>
            <p:cNvSpPr/>
            <p:nvPr/>
          </p:nvSpPr>
          <p:spPr>
            <a:xfrm>
              <a:off x="8172450" y="227838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629775" y="222027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29450" y="198405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37070" y="199167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29450" y="22145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29450" y="24726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734550" y="206502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42170" y="207264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34550" y="22955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34550" y="23907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27182" y="2039779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00888" y="2284095"/>
              <a:ext cx="10198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course: Course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70376" y="212169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Course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651558" y="2082165"/>
              <a:ext cx="60388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79161" y="210502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── 1..*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243447" y="3202305"/>
            <a:ext cx="5415153" cy="2264759"/>
            <a:chOff x="6243447" y="3202305"/>
            <a:chExt cx="5415153" cy="2264759"/>
          </a:xfrm>
        </p:grpSpPr>
        <p:sp>
          <p:nvSpPr>
            <p:cNvPr id="44" name="Rectangle 44"/>
            <p:cNvSpPr/>
            <p:nvPr/>
          </p:nvSpPr>
          <p:spPr>
            <a:xfrm>
              <a:off x="6248400" y="3202305"/>
              <a:ext cx="541020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4856" y="33237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99956" y="33237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45555" y="37237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52398" y="37237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恰好一个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9976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400240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412384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0..1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52398" y="41238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零个或一个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397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5555" y="45238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52398" y="452389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任意多个（含零个）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797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480250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5555" y="492394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52398" y="49239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至少一个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3202305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50480" y="320230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3447" y="52763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多重度写在靠近类的那一端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248400" y="5598795"/>
            <a:ext cx="5410200" cy="729615"/>
            <a:chOff x="6248400" y="5598795"/>
            <a:chExt cx="5410200" cy="729615"/>
          </a:xfrm>
        </p:grpSpPr>
        <p:sp>
          <p:nvSpPr>
            <p:cNvPr id="64" name="Rectangle 64"/>
            <p:cNvSpPr/>
            <p:nvPr/>
          </p:nvSpPr>
          <p:spPr>
            <a:xfrm>
              <a:off x="6248400" y="559879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453188" y="5862640"/>
              <a:ext cx="200023" cy="200023"/>
              <a:chOff x="6453188" y="586264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453188" y="58626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86538" y="59293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755892" y="574452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关联还可以标角色名（写在线的端点旁）和关联名（写在线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的中间），用来说清"谁对谁扮演什么角色"。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依赖与关联的分界：用完就忘，还是一直记着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5410200" cy="4120515"/>
            <a:chOff x="533400" y="1524000"/>
            <a:chExt cx="5410200" cy="4120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324100" cy="4120515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538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只出现在方法的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参数、局部变量、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返回值里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22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9425"/>
              <a:ext cx="1510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方法结束，A 就再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也找不到那个 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33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40455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 B 的接口会波及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A，但波及面小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3243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426148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例：人开一下租来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19500" y="1524000"/>
              <a:ext cx="2324100" cy="4120515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29025" y="1657350"/>
              <a:ext cx="47625" cy="38538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5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8728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30980" y="2112645"/>
              <a:ext cx="1653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是 A 的成员字段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7286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30980" y="2447925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A 活着，就能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随时找到那个 B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72865" y="31318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30980" y="3068955"/>
              <a:ext cx="156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 B 的接口会波及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的多个方法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72865" y="37528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30980" y="36899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例：人有自己的车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905125" y="3250882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50464" y="35185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关键区别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248400" y="1524000"/>
            <a:ext cx="5410200" cy="3172302"/>
            <a:chOff x="6248400" y="1524000"/>
            <a:chExt cx="5410200" cy="3172302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14788" r="0" b="14789"/>
            <a:stretch>
              <a:fillRect/>
            </a:stretch>
          </p:blipFill>
          <p:spPr>
            <a:xfrm>
              <a:off x="6248400" y="1524000"/>
              <a:ext cx="5410200" cy="2857500"/>
            </a:xfrm>
            <a:prstGeom prst="roundRect">
              <a:avLst>
                <a:gd name="adj" fmla="val 4666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987718" y="447627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从公共工具架上借电钻是依赖；自己工具箱里的锤子是关联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4861560"/>
            <a:ext cx="5410200" cy="782955"/>
            <a:chOff x="6248400" y="4861560"/>
            <a:chExt cx="5410200" cy="782955"/>
          </a:xfrm>
        </p:grpSpPr>
        <p:sp>
          <p:nvSpPr>
            <p:cNvPr id="35" name="Rectangle 35"/>
            <p:cNvSpPr/>
            <p:nvPr/>
          </p:nvSpPr>
          <p:spPr>
            <a:xfrm>
              <a:off x="6248400" y="48615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41129" y="5149333"/>
              <a:ext cx="224134" cy="192560"/>
              <a:chOff x="6441129" y="5149333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53200" y="52197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41129" y="51493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53200" y="5297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130" y="5010150"/>
              <a:ext cx="4395311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光看"A 的方法里出现了 B"判断不了关系，要看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有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没有成为 A 的字段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单向关联例一：英雄最多带五件宝物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099673" cy="264033"/>
            <a:chOff x="526542" y="1545907"/>
            <a:chExt cx="1109967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996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题目：英雄有魅力、声望、攻击、防御、法力五项能力；每件宝物固定提升某一项；要能查能力、在指定位置放宝物、丢掉该位置的宝物。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4022408"/>
            <a:chOff x="533400" y="1928812"/>
            <a:chExt cx="6059805" cy="402240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253992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Ability { CHARM, REPUTE, ATTACK, DEFENSE, POWER 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Goods 只有两个字段：提升哪一项 target、提升多少 bonus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Hero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raw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[5];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基础能力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cur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[5];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当前能力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Goods[] bags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Goods[5];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5 个宝物袋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addGood(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bagId, Goods 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bags[bagId] = g; recalculate();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removeGood(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bagId)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bags[bagId]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recalculate();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ability(Ability w)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cur[w.ordinal()];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recalculate()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System.arraycopy(raw, 0, cur, 0, raw.length);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(Goods g : bags)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(g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cur[g.target().ordinal()] += g.bonus();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893052" y="1928812"/>
            <a:ext cx="4765548" cy="2263807"/>
            <a:chOff x="6893052" y="1928812"/>
            <a:chExt cx="4765548" cy="2263807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072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142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魅力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5156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声望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95160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19277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19414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27241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8005" y="272891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5160" y="2850356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号袋放宝物 1（魅力 +2）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19277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19414" y="28503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98005" y="31242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5160" y="3250406"/>
              <a:ext cx="1859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号袋放宝物 2（声望 +3）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19277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19414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8005" y="35242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8005" y="352901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5160" y="365045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 0 号袋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19277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19414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1928812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452610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55274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3052" y="4001929"/>
              <a:ext cx="2529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基础魅力 10、声望 20 的英雄放入两件宝物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898005" y="4324350"/>
            <a:ext cx="4760595" cy="1738312"/>
            <a:chOff x="6898005" y="4324350"/>
            <a:chExt cx="4760595" cy="1738312"/>
          </a:xfrm>
        </p:grpSpPr>
        <p:sp>
          <p:nvSpPr>
            <p:cNvPr id="39" name="Rectangle 39"/>
            <p:cNvSpPr/>
            <p:nvPr/>
          </p:nvSpPr>
          <p:spPr>
            <a:xfrm>
              <a:off x="6898005" y="4324350"/>
              <a:ext cx="4760595" cy="1738312"/>
            </a:xfrm>
            <a:prstGeom prst="roundRect">
              <a:avLst>
                <a:gd name="adj" fmla="val 767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7837" y="45329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为什么要整体重算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77837" y="485013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拿掉宝物时只做减法，中途换过宝物就会算错；每次变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动都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从 raw 重算 cur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，状态只有一个来源。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77837" y="5407342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英雄长期持有 5 个宝物槽，宝物并不知道英雄，这是单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向关联，多重度 1 对 0..5。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单向关联例二：学生持有自己的宿舍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545205"/>
            <a:chOff x="533400" y="1524000"/>
            <a:chExt cx="5626418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01694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building, floor, room;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floor()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floor;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 dorm;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关联：长期持有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Student(String name, Dorm d)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.name = name;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.dorm = 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dormFloor()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dorm.floor();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一路问过去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5254942"/>
            <a:ext cx="5626418" cy="882015"/>
            <a:chOff x="533400" y="5254942"/>
            <a:chExt cx="5626418" cy="882015"/>
          </a:xfrm>
        </p:grpSpPr>
        <p:sp>
          <p:nvSpPr>
            <p:cNvPr id="11" name="Rectangle 11"/>
            <p:cNvSpPr/>
            <p:nvPr/>
          </p:nvSpPr>
          <p:spPr>
            <a:xfrm>
              <a:off x="533400" y="5254942"/>
              <a:ext cx="5626418" cy="882015"/>
            </a:xfrm>
            <a:prstGeom prst="roundRect">
              <a:avLst>
                <a:gd name="adj" fmla="val 129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595940"/>
              <a:ext cx="200023" cy="200023"/>
              <a:chOff x="738188" y="5595940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959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662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546496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学生不自己存楼层，要用的时候向宿舍要。同一份信息只留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一个出处，宿舍调整楼层时学生这边不会过期。</a:t>
              </a:r>
            </a:p>
          </p:txBody>
        </p:sp>
      </p:grpSp>
      <p:grpSp>
        <p:nvGrpSpPr>
          <p:cNvPr id="35" name="c2-uml-1"/>
          <p:cNvGrpSpPr/>
          <p:nvPr/>
        </p:nvGrpSpPr>
        <p:grpSpPr>
          <a:xfrm>
            <a:off x="7079932" y="1794510"/>
            <a:ext cx="3851910" cy="1029652"/>
            <a:chOff x="7079932" y="1794510"/>
            <a:chExt cx="3851910" cy="1029652"/>
          </a:xfrm>
        </p:grpSpPr>
        <p:sp>
          <p:nvSpPr>
            <p:cNvPr id="17" name="Freeform 17"/>
            <p:cNvSpPr/>
            <p:nvPr/>
          </p:nvSpPr>
          <p:spPr>
            <a:xfrm>
              <a:off x="8445818" y="2308860"/>
              <a:ext cx="1343025" cy="9525"/>
            </a:xfrm>
            <a:custGeom>
              <a:avLst/>
              <a:gdLst/>
              <a:ahLst/>
              <a:cxnLst/>
              <a:rect l="l" t="t" r="r" b="b"/>
              <a:pathLst>
                <a:path w="1343025" h="9525">
                  <a:moveTo>
                    <a:pt x="0" y="0"/>
                  </a:moveTo>
                  <a:lnTo>
                    <a:pt x="134302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684068" y="225171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9932" y="1794510"/>
              <a:ext cx="1365885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87552" y="1801178"/>
              <a:ext cx="135159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79932" y="2061210"/>
              <a:ext cx="13658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79932" y="2534602"/>
              <a:ext cx="13658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788842" y="1888808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95510" y="1896428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88842" y="21555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88842" y="24403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49943" y="1858804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50798" y="2133600"/>
              <a:ext cx="96412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name: String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dorm: Dorm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0798" y="2606993"/>
              <a:ext cx="1303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dormFloor(): int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61963" y="1953101"/>
              <a:ext cx="39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Dorm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9709" y="2227898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floor: 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59709" y="2512695"/>
              <a:ext cx="95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floor(): int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860155" y="2093595"/>
              <a:ext cx="51530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10571" y="2119312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住在 1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3280410"/>
            <a:ext cx="5193982" cy="1914525"/>
            <a:chOff x="6464618" y="3280410"/>
            <a:chExt cx="5193982" cy="1914525"/>
          </a:xfrm>
        </p:grpSpPr>
        <p:sp>
          <p:nvSpPr>
            <p:cNvPr id="36" name="Rectangle 36"/>
            <p:cNvSpPr/>
            <p:nvPr/>
          </p:nvSpPr>
          <p:spPr>
            <a:xfrm>
              <a:off x="6464618" y="3280410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341376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06552" y="348424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6060" y="35199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两个方向不要混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314" y="3857149"/>
              <a:ext cx="3845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学生里放 Dorm 字段，是学生单向关联宿舍。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4177189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宿舍里放 Student 数组，含义变成"宿舍由学生组成"，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那就是下一节的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9314" y="4768691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如果两边都放，就是双向关联，学生退宿时两边都要改。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464618" y="5380672"/>
            <a:ext cx="5193982" cy="756285"/>
            <a:chOff x="6464618" y="5380672"/>
            <a:chExt cx="5193982" cy="756285"/>
          </a:xfrm>
        </p:grpSpPr>
        <p:sp>
          <p:nvSpPr>
            <p:cNvPr id="44" name="Rectangle 44"/>
            <p:cNvSpPr/>
            <p:nvPr/>
          </p:nvSpPr>
          <p:spPr>
            <a:xfrm>
              <a:off x="6464618" y="538067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658803"/>
              <a:ext cx="200026" cy="200025"/>
              <a:chOff x="6669405" y="565880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56588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09144" y="57032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43859" y="58143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729" y="552783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若宿舍还分四人间、双人间、单人间，就把 Dorm 抽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象成父类，Student 仍然只认 Dorm。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自身关联：字段的类型就是自己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4153852"/>
            <a:chOff x="533400" y="1524000"/>
            <a:chExt cx="5410200" cy="4153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74974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Node&lt;T&gt;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data;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Node&lt;T&gt; next;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自身关联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Node(T item, Node&lt;T&gt; next)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.data = item;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.next = next;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insertAfter(Node&lt;T&gt; p)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p.next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.next;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.next = 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Node&lt;T&gt; deleteAfter()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Node&lt;T&gt; p = next;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next = p.next;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Node&lt;T&gt; next()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1-cells-2"/>
          <p:cNvGrpSpPr/>
          <p:nvPr/>
        </p:nvGrpSpPr>
        <p:grpSpPr>
          <a:xfrm>
            <a:off x="527304" y="5863590"/>
            <a:ext cx="4563808" cy="406718"/>
            <a:chOff x="527304" y="5863590"/>
            <a:chExt cx="4563808" cy="406718"/>
          </a:xfrm>
        </p:grpSpPr>
        <p:sp>
          <p:nvSpPr>
            <p:cNvPr id="11" name="TextBox 11"/>
            <p:cNvSpPr txBox="1"/>
            <p:nvPr/>
          </p:nvSpPr>
          <p:spPr>
            <a:xfrm>
              <a:off x="527304" y="599217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19175" y="5863590"/>
              <a:ext cx="932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5560" y="599217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50720" y="5863590"/>
              <a:ext cx="209550" cy="406718"/>
            </a:xfrm>
            <a:prstGeom prst="rect">
              <a:avLst/>
            </a:prstGeom>
            <a:solidFill>
              <a:srgbClr val="EEEAF7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026920" y="603789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055495" y="606647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98395" y="602361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84120" y="5863590"/>
              <a:ext cx="932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50505" y="599217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16618" y="5863590"/>
              <a:ext cx="209550" cy="406718"/>
            </a:xfrm>
            <a:prstGeom prst="rect">
              <a:avLst/>
            </a:prstGeom>
            <a:solidFill>
              <a:srgbClr val="EEEAF7"/>
            </a:solidFill>
            <a:ln w="15240">
              <a:solidFill>
                <a:srgbClr val="5B3FA0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492818" y="6037898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521392" y="6066472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64292" y="602361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50018" y="5863590"/>
              <a:ext cx="93249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16402" y="599217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81562" y="5863590"/>
              <a:ext cx="209550" cy="406718"/>
            </a:xfrm>
            <a:prstGeom prst="rect">
              <a:avLst/>
            </a:prstGeom>
            <a:solidFill>
              <a:srgbClr val="EEEAF7"/>
            </a:solidFill>
            <a:ln w="15240">
              <a:solidFill>
                <a:srgbClr val="5B3FA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42132" y="59988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49" name="c2-uml-1"/>
          <p:cNvGrpSpPr/>
          <p:nvPr/>
        </p:nvGrpSpPr>
        <p:grpSpPr>
          <a:xfrm>
            <a:off x="6717982" y="1660208"/>
            <a:ext cx="4216718" cy="1480184"/>
            <a:chOff x="6717982" y="1660208"/>
            <a:chExt cx="4216718" cy="1480184"/>
          </a:xfrm>
        </p:grpSpPr>
        <p:sp>
          <p:nvSpPr>
            <p:cNvPr id="29" name="Freeform 29"/>
            <p:cNvSpPr/>
            <p:nvPr/>
          </p:nvSpPr>
          <p:spPr>
            <a:xfrm>
              <a:off x="7505700" y="2437448"/>
              <a:ext cx="95250" cy="240982"/>
            </a:xfrm>
            <a:custGeom>
              <a:avLst/>
              <a:gdLst/>
              <a:ahLst/>
              <a:cxnLst/>
              <a:rect l="l" t="t" r="r" b="b"/>
              <a:pathLst>
                <a:path w="95250" h="240982">
                  <a:moveTo>
                    <a:pt x="95250" y="240982"/>
                  </a:moveTo>
                  <a:lnTo>
                    <a:pt x="95250" y="58102"/>
                  </a:lnTo>
                  <a:lnTo>
                    <a:pt x="0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432358" y="23117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96200" y="2437448"/>
              <a:ext cx="2609850" cy="240982"/>
            </a:xfrm>
            <a:custGeom>
              <a:avLst/>
              <a:gdLst/>
              <a:ahLst/>
              <a:cxnLst/>
              <a:rect l="l" t="t" r="r" b="b"/>
              <a:pathLst>
                <a:path w="2609850" h="240982">
                  <a:moveTo>
                    <a:pt x="2609850" y="240982"/>
                  </a:moveTo>
                  <a:lnTo>
                    <a:pt x="2609850" y="58102"/>
                  </a:lnTo>
                  <a:lnTo>
                    <a:pt x="0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22858" y="23117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17982" y="1660208"/>
              <a:ext cx="176593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1667828"/>
              <a:ext cx="175164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17982" y="1926908"/>
              <a:ext cx="17659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17982" y="2211705"/>
              <a:ext cx="17659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57060" y="2678430"/>
              <a:ext cx="128778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63728" y="2686050"/>
              <a:ext cx="127349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57060" y="2945130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57060" y="3040380"/>
              <a:ext cx="1287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76448" y="2678430"/>
              <a:ext cx="1258252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84068" y="2686050"/>
              <a:ext cx="1243965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76448" y="2945130"/>
              <a:ext cx="12582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76448" y="3040380"/>
              <a:ext cx="12582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88018" y="1724501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8848" y="1999298"/>
              <a:ext cx="172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classmates: Student[]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08368" y="2743676"/>
              <a:ext cx="118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MasterStudent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29437" y="2743676"/>
              <a:ext cx="1153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DoctorStudent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557588"/>
            <a:ext cx="5410200" cy="1855470"/>
            <a:chOff x="6248400" y="3557588"/>
            <a:chExt cx="5410200" cy="1855470"/>
          </a:xfrm>
        </p:grpSpPr>
        <p:sp>
          <p:nvSpPr>
            <p:cNvPr id="50" name="Rectangle 50"/>
            <p:cNvSpPr/>
            <p:nvPr/>
          </p:nvSpPr>
          <p:spPr>
            <a:xfrm>
              <a:off x="6248400" y="3557588"/>
              <a:ext cx="5410200" cy="1855470"/>
            </a:xfrm>
            <a:prstGeom prst="roundRect">
              <a:avLst>
                <a:gd name="adj" fmla="val 718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44996" y="378475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与自身依赖的区别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4996" y="4122896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自身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依赖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：本类类型只出现在方法参数里，例如怪物的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fight(Monster)。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996" y="4714399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自身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关联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：本类类型是字段，例如节点的 next、学生的同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学名单。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5597842"/>
            <a:ext cx="5410200" cy="756285"/>
            <a:chOff x="6248400" y="5597842"/>
            <a:chExt cx="5410200" cy="756285"/>
          </a:xfrm>
        </p:grpSpPr>
        <p:sp>
          <p:nvSpPr>
            <p:cNvPr id="55" name="Rectangle 55"/>
            <p:cNvSpPr/>
            <p:nvPr/>
          </p:nvSpPr>
          <p:spPr>
            <a:xfrm>
              <a:off x="6248400" y="559784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875973"/>
              <a:ext cx="200026" cy="200025"/>
              <a:chOff x="6453188" y="587597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8759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92926" y="59204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27642" y="60315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574500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自身关联画成从类回到自己的一条线，线上写角色名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（next、同学、上级）说明这条边的含义。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关联关系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双向关联：两边都存着对方，就要两边一起维护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950970"/>
            <a:chOff x="533400" y="1524000"/>
            <a:chExt cx="5842635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76656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Husband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Wife wife;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Wife wife()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wife;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marry(Wife w)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.wife = w;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(w.husband() !=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w.marry(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Wife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Husband husband;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Husband husband()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husband;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marry(Husband h)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.husband = h;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(h.wife() !=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h.marry(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665470"/>
            <a:ext cx="5842635" cy="697230"/>
            <a:chOff x="533400" y="5665470"/>
            <a:chExt cx="5842635" cy="697230"/>
          </a:xfrm>
        </p:grpSpPr>
        <p:sp>
          <p:nvSpPr>
            <p:cNvPr id="11" name="Rectangle 11"/>
            <p:cNvSpPr/>
            <p:nvPr/>
          </p:nvSpPr>
          <p:spPr>
            <a:xfrm>
              <a:off x="533400" y="5665470"/>
              <a:ext cx="5842635" cy="697230"/>
            </a:xfrm>
            <a:prstGeom prst="roundRect">
              <a:avLst>
                <a:gd name="adj" fmla="val 163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910381"/>
              <a:ext cx="224134" cy="192560"/>
              <a:chOff x="726129" y="5910381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9807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9103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60585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909310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先赋值再回调，否则两个 marry 会无限互相调用。</a:t>
              </a:r>
            </a:p>
          </p:txBody>
        </p:sp>
      </p:grpSp>
      <p:grpSp>
        <p:nvGrpSpPr>
          <p:cNvPr id="34" name="c2-uml-1"/>
          <p:cNvGrpSpPr/>
          <p:nvPr/>
        </p:nvGrpSpPr>
        <p:grpSpPr>
          <a:xfrm>
            <a:off x="7354252" y="1960245"/>
            <a:ext cx="3773044" cy="651510"/>
            <a:chOff x="7354252" y="1960245"/>
            <a:chExt cx="3773044" cy="651510"/>
          </a:xfrm>
        </p:grpSpPr>
        <p:sp>
          <p:nvSpPr>
            <p:cNvPr id="18" name="Freeform 18"/>
            <p:cNvSpPr/>
            <p:nvPr/>
          </p:nvSpPr>
          <p:spPr>
            <a:xfrm>
              <a:off x="8497252" y="2286000"/>
              <a:ext cx="1214438" cy="9525"/>
            </a:xfrm>
            <a:custGeom>
              <a:avLst/>
              <a:gdLst/>
              <a:ahLst/>
              <a:cxnLst/>
              <a:rect l="l" t="t" r="r" b="b"/>
              <a:pathLst>
                <a:path w="1214438" h="9525">
                  <a:moveTo>
                    <a:pt x="0" y="0"/>
                  </a:moveTo>
                  <a:lnTo>
                    <a:pt x="121443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606915" y="2227898"/>
              <a:ext cx="104775" cy="116205"/>
            </a:xfrm>
            <a:custGeom>
              <a:avLst/>
              <a:gdLst/>
              <a:ahLst/>
              <a:cxnLst/>
              <a:rect l="l" t="t" r="r" b="b"/>
              <a:pathLst>
                <a:path w="104775" h="116205">
                  <a:moveTo>
                    <a:pt x="0" y="116205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54252" y="1960245"/>
              <a:ext cx="114300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60920" y="1967865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54252" y="22269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54252" y="25117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11690" y="1960245"/>
              <a:ext cx="140589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18358" y="1967865"/>
              <a:ext cx="139160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11690" y="2226945"/>
              <a:ext cx="14058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711690" y="2511742"/>
              <a:ext cx="14058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12820" y="2024539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Husband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5119" y="2299335"/>
              <a:ext cx="864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wife: Wife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36325" y="2024539"/>
              <a:ext cx="356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Wife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82556" y="2299335"/>
              <a:ext cx="1344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husband: Husband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69680" y="2069782"/>
              <a:ext cx="46863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00770" y="20964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── 1</a:t>
              </a:r>
            </a:p>
          </p:txBody>
        </p:sp>
      </p:grpSp>
      <p:grpSp>
        <p:nvGrpSpPr>
          <p:cNvPr id="42" name="c2-bullets-2"/>
          <p:cNvGrpSpPr/>
          <p:nvPr/>
        </p:nvGrpSpPr>
        <p:grpSpPr>
          <a:xfrm>
            <a:off x="6673215" y="3263265"/>
            <a:ext cx="4907280" cy="1908810"/>
            <a:chOff x="6673215" y="3263265"/>
            <a:chExt cx="4907280" cy="1908810"/>
          </a:xfrm>
        </p:grpSpPr>
        <p:sp>
          <p:nvSpPr>
            <p:cNvPr id="35" name="TextBox 35"/>
            <p:cNvSpPr txBox="1"/>
            <p:nvPr/>
          </p:nvSpPr>
          <p:spPr>
            <a:xfrm>
              <a:off x="6673215" y="32632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双向关联的三笔账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680835" y="36537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20865" y="36175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一致性：改一边必须同步另一边，否则丈夫认得妻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子、妻子不认得丈夫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680835" y="428434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20865" y="42481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解除关系：离婚要把两个字段都置空，漏一个就留下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悬空引用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680835" y="4914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0865" y="487870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耦合：两个类互相编译依赖，很难单独复用其中一个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680835" y="5303520"/>
            <a:ext cx="4977765" cy="1059180"/>
            <a:chOff x="6680835" y="5303520"/>
            <a:chExt cx="4977765" cy="1059180"/>
          </a:xfrm>
        </p:grpSpPr>
        <p:sp>
          <p:nvSpPr>
            <p:cNvPr id="43" name="Rectangle 43"/>
            <p:cNvSpPr/>
            <p:nvPr/>
          </p:nvSpPr>
          <p:spPr>
            <a:xfrm>
              <a:off x="6680835" y="530352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885623" y="5733100"/>
              <a:ext cx="200023" cy="200023"/>
              <a:chOff x="6885623" y="573310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885623" y="57331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018973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187565" y="5452110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能用单向就别用双向。确实要双向时，把维护工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作集中到一个方法里，不要让调用者分两次赋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聚合与组合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整体与部分的两种强度，菱形都画在整体端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 has-a 可分离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08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 contains-a 同生共死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9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宿舍、Grid 两个完整例题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聚合：部分可以离开整体单独存在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912745"/>
            <a:chOff x="533400" y="1524000"/>
            <a:chExt cx="5626418" cy="2912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052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聚合（aggregation）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B 被加入到对象 A 中成为 A 的组成部分，A 与 B 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聚合关系，体现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has-a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聚合是关联的特例：两个类不再平等，一个是整体，一个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是部分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整体与部分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可以分离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，各有各的生命周期，部分还能被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多个整体共享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0557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99288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画法：实线，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空心菱形画在整体一端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（可以不画箭头）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25780" y="4652010"/>
            <a:ext cx="2942565" cy="1517618"/>
            <a:chOff x="525780" y="4652010"/>
            <a:chExt cx="2942565" cy="1517618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6520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2925" y="5054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373" y="50030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自行车与车把、响铃、轮胎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2925" y="536067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8373" y="5308759"/>
              <a:ext cx="2553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计算机与主板、CPU、内存、硬盘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42925" y="566642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373" y="56145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航母编队与航母、驱护舰艇、舰载机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42925" y="597312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373" y="59202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课题组与科研人员，雁群与大雁</a:t>
              </a:r>
            </a:p>
          </p:txBody>
        </p:sp>
      </p:grpSp>
      <p:grpSp>
        <p:nvGrpSpPr>
          <p:cNvPr id="45" name="c2-uml-1"/>
          <p:cNvGrpSpPr/>
          <p:nvPr/>
        </p:nvGrpSpPr>
        <p:grpSpPr>
          <a:xfrm>
            <a:off x="7133272" y="2055495"/>
            <a:ext cx="3798570" cy="651510"/>
            <a:chOff x="7133272" y="2055495"/>
            <a:chExt cx="3798570" cy="651510"/>
          </a:xfrm>
        </p:grpSpPr>
        <p:sp>
          <p:nvSpPr>
            <p:cNvPr id="30" name="Freeform 30"/>
            <p:cNvSpPr/>
            <p:nvPr/>
          </p:nvSpPr>
          <p:spPr>
            <a:xfrm>
              <a:off x="8602028" y="2381250"/>
              <a:ext cx="1186815" cy="9525"/>
            </a:xfrm>
            <a:custGeom>
              <a:avLst/>
              <a:gdLst/>
              <a:ahLst/>
              <a:cxnLst/>
              <a:rect l="l" t="t" r="r" b="b"/>
              <a:pathLst>
                <a:path w="1186815" h="9525">
                  <a:moveTo>
                    <a:pt x="118681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392478" y="2323148"/>
              <a:ext cx="209550" cy="116205"/>
            </a:xfrm>
            <a:custGeom>
              <a:avLst/>
              <a:gdLst/>
              <a:ahLst/>
              <a:cxnLst/>
              <a:rect l="l" t="t" r="r" b="b"/>
              <a:pathLst>
                <a:path w="209550" h="116205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620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33272" y="2055495"/>
              <a:ext cx="125920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0892" y="2063115"/>
              <a:ext cx="124491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33272" y="2322195"/>
              <a:ext cx="12592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33272" y="2606992"/>
              <a:ext cx="12592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88842" y="2150745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95510" y="2157412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788842" y="2417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88842" y="2512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4087" y="2119789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4138" y="2394585"/>
              <a:ext cx="1191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tyres: Tyre[4]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78019" y="221408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Tyre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6345" y="2165032"/>
              <a:ext cx="46863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87435" y="219170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── 4</a:t>
              </a:r>
            </a:p>
          </p:txBody>
        </p:sp>
      </p:grpSp>
      <p:grpSp>
        <p:nvGrpSpPr>
          <p:cNvPr id="49" name="c2-code-2"/>
          <p:cNvGrpSpPr/>
          <p:nvPr/>
        </p:nvGrpSpPr>
        <p:grpSpPr>
          <a:xfrm>
            <a:off x="6464618" y="3429000"/>
            <a:ext cx="5193982" cy="1313498"/>
            <a:chOff x="6464618" y="3429000"/>
            <a:chExt cx="5193982" cy="1313498"/>
          </a:xfrm>
        </p:grpSpPr>
        <p:sp>
          <p:nvSpPr>
            <p:cNvPr id="46" name="Rectangle 46"/>
            <p:cNvSpPr/>
            <p:nvPr/>
          </p:nvSpPr>
          <p:spPr>
            <a:xfrm>
              <a:off x="6464618" y="3429000"/>
              <a:ext cx="5193982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93015" y="3580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2252" y="3842861"/>
              <a:ext cx="404393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Tyre[] tyres;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轮胎从外面装上来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Car(Tyre[] ts) { tyres = ts;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464618" y="4932998"/>
            <a:ext cx="5193982" cy="1186815"/>
            <a:chOff x="6464618" y="4932998"/>
            <a:chExt cx="5193982" cy="1186815"/>
          </a:xfrm>
        </p:grpSpPr>
        <p:sp>
          <p:nvSpPr>
            <p:cNvPr id="50" name="Rectangle 50"/>
            <p:cNvSpPr/>
            <p:nvPr/>
          </p:nvSpPr>
          <p:spPr>
            <a:xfrm>
              <a:off x="6464618" y="4932998"/>
              <a:ext cx="5193982" cy="1186815"/>
            </a:xfrm>
            <a:prstGeom prst="roundRect">
              <a:avLst>
                <a:gd name="adj" fmla="val 963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57347" y="5422701"/>
              <a:ext cx="224134" cy="192560"/>
              <a:chOff x="6657347" y="5422701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69418" y="54930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57347" y="54227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55708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1348" y="5283518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在代码层面聚合与关联写法一致，只能从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语义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上区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分：两个类是不是整体与部分的关系。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聚合例：宿舍管理程序中的宿舍与学生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题目：宿舍有多个学生，建立宿舍时可以指定也可以不指定学生，以后能随时增删。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4374832"/>
            <a:chOff x="533400" y="1928812"/>
            <a:chExt cx="6059805" cy="4374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911727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maxCount;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Student[] students;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Dorm(Student[] init,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maxCount)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.maxCount = maxCount;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.students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Student[maxCount];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Math.min(init.length, maxCount);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System.arraycopy(init, 0, students, 0,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boolean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addStudent(Student s,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index)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(index &lt; 0 || index &gt;= maxCount)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(students[index]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students[index] = 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removeStudent(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index)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students[index]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只是搬出去，学生还活着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6898005" y="1928812"/>
            <a:ext cx="4760595" cy="2038350"/>
            <a:chOff x="6898005" y="1928812"/>
            <a:chExt cx="4760595" cy="2038350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2038350"/>
            </a:xfrm>
            <a:prstGeom prst="roundRect">
              <a:avLst>
                <a:gd name="adj" fmla="val 654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77837" y="2137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哪里体现了聚合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77837" y="245459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学生由外部造好传进来，宿舍只是把引用放进数组。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7837" y="2754630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removeStudent 只把槽位置空，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不销毁学生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；宿舍拆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了学生照样在。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7837" y="3311842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原课件 C++ 版析构只写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delete[] mStudents;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，删的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是指针数组而非学生对象，这正是聚合该有的写法。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6898005" y="4136708"/>
            <a:ext cx="4760595" cy="2165985"/>
            <a:chOff x="6898005" y="4136708"/>
            <a:chExt cx="4760595" cy="2165985"/>
          </a:xfrm>
        </p:grpSpPr>
        <p:sp>
          <p:nvSpPr>
            <p:cNvPr id="19" name="Rectangle 19"/>
            <p:cNvSpPr/>
            <p:nvPr/>
          </p:nvSpPr>
          <p:spPr>
            <a:xfrm>
              <a:off x="6898005" y="4136708"/>
              <a:ext cx="4760595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4270058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2795" y="43233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14514" y="43562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5937" y="4668202"/>
              <a:ext cx="41885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if ( mStudents[index] == NULL))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右括号多了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一个，编译通不过。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5937" y="5225415"/>
              <a:ext cx="40256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原课件也没查 index 越界；C++ 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Student*[maxCount]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不会自动置空，多余槽位是野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聚合的四种常见形状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50727" cy="278702"/>
            <a:chOff x="526161" y="1547336"/>
            <a:chExt cx="61507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50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整体聚合的"部分"可以是抽象类，可以是两条继承树，也可以是它自己。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863918" y="2152650"/>
            <a:ext cx="4749164" cy="1310640"/>
            <a:chOff x="863918" y="2152650"/>
            <a:chExt cx="4749164" cy="1310640"/>
          </a:xfrm>
        </p:grpSpPr>
        <p:sp>
          <p:nvSpPr>
            <p:cNvPr id="9" name="Freeform 9"/>
            <p:cNvSpPr/>
            <p:nvPr/>
          </p:nvSpPr>
          <p:spPr>
            <a:xfrm>
              <a:off x="2216468" y="2374582"/>
              <a:ext cx="450533" cy="9525"/>
            </a:xfrm>
            <a:custGeom>
              <a:avLst/>
              <a:gdLst/>
              <a:ahLst/>
              <a:cxnLst/>
              <a:rect l="l" t="t" r="r" b="b"/>
              <a:pathLst>
                <a:path w="450533" h="9525">
                  <a:moveTo>
                    <a:pt x="45053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06918" y="231743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43250" y="2722245"/>
              <a:ext cx="95250" cy="297180"/>
            </a:xfrm>
            <a:custGeom>
              <a:avLst/>
              <a:gdLst/>
              <a:ahLst/>
              <a:cxnLst/>
              <a:rect l="l" t="t" r="r" b="b"/>
              <a:pathLst>
                <a:path w="95250" h="297180">
                  <a:moveTo>
                    <a:pt x="95250" y="297180"/>
                  </a:moveTo>
                  <a:lnTo>
                    <a:pt x="95250" y="85725"/>
                  </a:lnTo>
                  <a:lnTo>
                    <a:pt x="0" y="8572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69908" y="25965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2722245"/>
              <a:ext cx="1707832" cy="297180"/>
            </a:xfrm>
            <a:custGeom>
              <a:avLst/>
              <a:gdLst/>
              <a:ahLst/>
              <a:cxnLst/>
              <a:rect l="l" t="t" r="r" b="b"/>
              <a:pathLst>
                <a:path w="1707832" h="297180">
                  <a:moveTo>
                    <a:pt x="1707832" y="297180"/>
                  </a:moveTo>
                  <a:lnTo>
                    <a:pt x="1707832" y="85725"/>
                  </a:lnTo>
                  <a:lnTo>
                    <a:pt x="0" y="8572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60408" y="25965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3918" y="21526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70585" y="216027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3918" y="2401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63918" y="2496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67000" y="21526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74620" y="216027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2401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67000" y="2496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7000" y="301942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74620" y="302704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7000" y="3268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67000" y="3363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0082" y="301942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77702" y="302704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70082" y="3268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70082" y="3363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88732" y="22126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果篮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91815" y="22126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水果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91815" y="30794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苹果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94898" y="30794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香蕉</a:t>
              </a:r>
            </a:p>
          </p:txBody>
        </p:sp>
      </p:grpSp>
      <p:grpSp>
        <p:nvGrpSpPr>
          <p:cNvPr id="64" name="c1-uml-2"/>
          <p:cNvGrpSpPr/>
          <p:nvPr/>
        </p:nvGrpSpPr>
        <p:grpSpPr>
          <a:xfrm>
            <a:off x="1314450" y="4061460"/>
            <a:ext cx="3848100" cy="1310640"/>
            <a:chOff x="1314450" y="4061460"/>
            <a:chExt cx="3848100" cy="1310640"/>
          </a:xfrm>
        </p:grpSpPr>
        <p:sp>
          <p:nvSpPr>
            <p:cNvPr id="36" name="Freeform 36"/>
            <p:cNvSpPr/>
            <p:nvPr/>
          </p:nvSpPr>
          <p:spPr>
            <a:xfrm>
              <a:off x="2667000" y="4283392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13525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457450" y="422624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885950" y="4631055"/>
              <a:ext cx="2609850" cy="297180"/>
            </a:xfrm>
            <a:custGeom>
              <a:avLst/>
              <a:gdLst/>
              <a:ahLst/>
              <a:cxnLst/>
              <a:rect l="l" t="t" r="r" b="b"/>
              <a:pathLst>
                <a:path w="2609850" h="297180">
                  <a:moveTo>
                    <a:pt x="0" y="297180"/>
                  </a:moveTo>
                  <a:lnTo>
                    <a:pt x="0" y="85725"/>
                  </a:lnTo>
                  <a:lnTo>
                    <a:pt x="2609850" y="85725"/>
                  </a:lnTo>
                  <a:lnTo>
                    <a:pt x="2609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422458" y="45053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591050" y="4631055"/>
              <a:ext cx="95250" cy="297180"/>
            </a:xfrm>
            <a:custGeom>
              <a:avLst/>
              <a:gdLst/>
              <a:ahLst/>
              <a:cxnLst/>
              <a:rect l="l" t="t" r="r" b="b"/>
              <a:pathLst>
                <a:path w="95250" h="297180">
                  <a:moveTo>
                    <a:pt x="0" y="297180"/>
                  </a:moveTo>
                  <a:lnTo>
                    <a:pt x="0" y="85725"/>
                  </a:lnTo>
                  <a:lnTo>
                    <a:pt x="95250" y="8572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612958" y="45053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14450" y="406146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322070" y="406908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314450" y="43100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314450" y="44053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019550" y="406146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27170" y="406908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019550" y="43100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019550" y="44053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314450" y="492823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322070" y="493585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14450" y="51768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314450" y="52720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019550" y="492823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027170" y="493585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019550" y="51768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019550" y="52720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668590" y="4121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防盗门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5040" y="41214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68590" y="498824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机械锁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73690" y="498824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指纹锁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016568" y="4077652"/>
              <a:ext cx="44386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48848" y="4101941"/>
              <a:ext cx="379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── 1</a:t>
              </a:r>
            </a:p>
          </p:txBody>
        </p:sp>
      </p:grpSp>
      <p:grpSp>
        <p:nvGrpSpPr>
          <p:cNvPr id="91" name="c2-uml-1"/>
          <p:cNvGrpSpPr/>
          <p:nvPr/>
        </p:nvGrpSpPr>
        <p:grpSpPr>
          <a:xfrm>
            <a:off x="7029450" y="2152650"/>
            <a:ext cx="3848100" cy="1310640"/>
            <a:chOff x="7029450" y="2152650"/>
            <a:chExt cx="3848100" cy="1310640"/>
          </a:xfrm>
        </p:grpSpPr>
        <p:sp>
          <p:nvSpPr>
            <p:cNvPr id="65" name="Freeform 65"/>
            <p:cNvSpPr/>
            <p:nvPr/>
          </p:nvSpPr>
          <p:spPr>
            <a:xfrm>
              <a:off x="8382000" y="2374582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13525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172450" y="231743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600950" y="2722245"/>
              <a:ext cx="9525" cy="297180"/>
            </a:xfrm>
            <a:custGeom>
              <a:avLst/>
              <a:gdLst/>
              <a:ahLst/>
              <a:cxnLst/>
              <a:rect l="l" t="t" r="r" b="b"/>
              <a:pathLst>
                <a:path w="9525" h="297180">
                  <a:moveTo>
                    <a:pt x="0" y="29718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527608" y="25965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306050" y="2722245"/>
              <a:ext cx="9525" cy="297180"/>
            </a:xfrm>
            <a:custGeom>
              <a:avLst/>
              <a:gdLst/>
              <a:ahLst/>
              <a:cxnLst/>
              <a:rect l="l" t="t" r="r" b="b"/>
              <a:pathLst>
                <a:path w="9525" h="297180">
                  <a:moveTo>
                    <a:pt x="0" y="29718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232708" y="25965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029450" y="21526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037070" y="216027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029450" y="2401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029450" y="2496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734550" y="215265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742170" y="2160270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734550" y="24012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734550" y="24965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29450" y="301942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037070" y="302704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029450" y="3268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029450" y="3363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734550" y="301942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9742170" y="302704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734550" y="3268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734550" y="33632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383590" y="2212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防盗门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088690" y="2212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报警器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83590" y="30794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木质门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47339" y="30794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声光报警器</a:t>
              </a:r>
            </a:p>
          </p:txBody>
        </p:sp>
      </p:grpSp>
      <p:grpSp>
        <p:nvGrpSpPr>
          <p:cNvPr id="112" name="c2-uml-2"/>
          <p:cNvGrpSpPr/>
          <p:nvPr/>
        </p:nvGrpSpPr>
        <p:grpSpPr>
          <a:xfrm>
            <a:off x="7029450" y="3973830"/>
            <a:ext cx="3848100" cy="1398270"/>
            <a:chOff x="7029450" y="3973830"/>
            <a:chExt cx="3848100" cy="1398270"/>
          </a:xfrm>
        </p:grpSpPr>
        <p:sp>
          <p:nvSpPr>
            <p:cNvPr id="92" name="Freeform 92"/>
            <p:cNvSpPr/>
            <p:nvPr/>
          </p:nvSpPr>
          <p:spPr>
            <a:xfrm>
              <a:off x="7505700" y="4719638"/>
              <a:ext cx="95250" cy="208597"/>
            </a:xfrm>
            <a:custGeom>
              <a:avLst/>
              <a:gdLst/>
              <a:ahLst/>
              <a:cxnLst/>
              <a:rect l="l" t="t" r="r" b="b"/>
              <a:pathLst>
                <a:path w="95250" h="208597">
                  <a:moveTo>
                    <a:pt x="95250" y="208597"/>
                  </a:moveTo>
                  <a:lnTo>
                    <a:pt x="95250" y="40958"/>
                  </a:lnTo>
                  <a:lnTo>
                    <a:pt x="0" y="4095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7432358" y="45939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7696200" y="4719638"/>
              <a:ext cx="2609850" cy="208597"/>
            </a:xfrm>
            <a:custGeom>
              <a:avLst/>
              <a:gdLst/>
              <a:ahLst/>
              <a:cxnLst/>
              <a:rect l="l" t="t" r="r" b="b"/>
              <a:pathLst>
                <a:path w="2609850" h="208597">
                  <a:moveTo>
                    <a:pt x="2609850" y="208597"/>
                  </a:moveTo>
                  <a:lnTo>
                    <a:pt x="2609850" y="40958"/>
                  </a:lnTo>
                  <a:lnTo>
                    <a:pt x="0" y="4095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7622858" y="45939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7029450" y="3973830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7037070" y="39804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029450" y="42224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029450" y="44938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029450" y="492823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037070" y="493585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029450" y="51768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029450" y="52720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734550" y="492823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742170" y="493585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734550" y="51768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734550" y="52720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454265" y="4033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套娃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100697" y="4293394"/>
              <a:ext cx="972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inner: 套娃[]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312914" y="49882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情侣套娃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018014" y="49882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收纳套娃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3" name="Rectangle 11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0892" y="6023610"/>
              <a:ext cx="9827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第四种是自身聚合：套娃里装着套娃，画法是从类连回自己的一条线、菱形在起点端，这正是组合模式（第十讲）的骨架。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组合：部分离开整体就活不了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103120"/>
            <a:chOff x="533400" y="1524000"/>
            <a:chExt cx="5626418" cy="2103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306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组合/合成（composition）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0050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同样是整体与部分，但整体与部分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不可分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，体现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contains-a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叫强聚合。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整体的生命周期结束，部分也随之结束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整体负责部分对象的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创建与销毁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，部分不被别人共享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2861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22992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画法：实线，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实心菱形画在整体一端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6542" y="3819525"/>
            <a:ext cx="2294865" cy="802482"/>
            <a:chOff x="526542" y="3819525"/>
            <a:chExt cx="2294865" cy="802482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38195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2925" y="417576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135" y="413242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公司与部门，人与大脑、四肢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2925" y="44453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135" y="440197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窗口与标题栏、菜单栏、状态栏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748212"/>
            <a:ext cx="5626418" cy="1486852"/>
            <a:chOff x="533400" y="4748212"/>
            <a:chExt cx="5626418" cy="1486852"/>
          </a:xfrm>
        </p:grpSpPr>
        <p:sp>
          <p:nvSpPr>
            <p:cNvPr id="26" name="Rectangle 26"/>
            <p:cNvSpPr/>
            <p:nvPr/>
          </p:nvSpPr>
          <p:spPr>
            <a:xfrm>
              <a:off x="533400" y="4748212"/>
              <a:ext cx="5626418" cy="1486852"/>
            </a:xfrm>
            <a:prstGeom prst="roundRect">
              <a:avLst>
                <a:gd name="adj" fmla="val 89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881562"/>
              <a:ext cx="47625" cy="12201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49349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0862" y="49677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332" y="5278755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2018 年讲义写"尾部为实心菱形的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实现箭头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"，应为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实线箭头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聚合那一句的表述保持一致。</a:t>
              </a:r>
            </a:p>
          </p:txBody>
        </p:sp>
      </p:grpSp>
      <p:grpSp>
        <p:nvGrpSpPr>
          <p:cNvPr id="47" name="c2-uml-1"/>
          <p:cNvGrpSpPr/>
          <p:nvPr/>
        </p:nvGrpSpPr>
        <p:grpSpPr>
          <a:xfrm>
            <a:off x="7043738" y="1942148"/>
            <a:ext cx="3888104" cy="587692"/>
            <a:chOff x="7043738" y="1942148"/>
            <a:chExt cx="3888104" cy="587692"/>
          </a:xfrm>
        </p:grpSpPr>
        <p:sp>
          <p:nvSpPr>
            <p:cNvPr id="32" name="Freeform 32"/>
            <p:cNvSpPr/>
            <p:nvPr/>
          </p:nvSpPr>
          <p:spPr>
            <a:xfrm>
              <a:off x="8691562" y="2236470"/>
              <a:ext cx="1097280" cy="9525"/>
            </a:xfrm>
            <a:custGeom>
              <a:avLst/>
              <a:gdLst/>
              <a:ahLst/>
              <a:cxnLst/>
              <a:rect l="l" t="t" r="r" b="b"/>
              <a:pathLst>
                <a:path w="1097280" h="9525">
                  <a:moveTo>
                    <a:pt x="109728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82012" y="217932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43738" y="1942148"/>
              <a:ext cx="143827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51358" y="1949768"/>
              <a:ext cx="142398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43738" y="2172652"/>
              <a:ext cx="14382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43738" y="2430780"/>
              <a:ext cx="14382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788842" y="202311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95510" y="203073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788842" y="225361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88842" y="234886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75143" y="1997869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5175" y="2242185"/>
              <a:ext cx="13776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depts: Department[]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58361" y="2078831"/>
              <a:ext cx="8039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Department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833485" y="2040255"/>
              <a:ext cx="60388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61088" y="206311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── 1..*</a:t>
              </a:r>
            </a:p>
          </p:txBody>
        </p:sp>
      </p:grpSp>
      <p:grpSp>
        <p:nvGrpSpPr>
          <p:cNvPr id="51" name="c2-code-2"/>
          <p:cNvGrpSpPr/>
          <p:nvPr/>
        </p:nvGrpSpPr>
        <p:grpSpPr>
          <a:xfrm>
            <a:off x="6464618" y="3118485"/>
            <a:ext cx="5193982" cy="1912620"/>
            <a:chOff x="6464618" y="3118485"/>
            <a:chExt cx="5193982" cy="1912620"/>
          </a:xfrm>
        </p:grpSpPr>
        <p:sp>
          <p:nvSpPr>
            <p:cNvPr id="48" name="Rectangle 48"/>
            <p:cNvSpPr/>
            <p:nvPr/>
          </p:nvSpPr>
          <p:spPr>
            <a:xfrm>
              <a:off x="6464618" y="3118485"/>
              <a:ext cx="5193982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3015" y="327040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93015" y="3531394"/>
              <a:ext cx="366280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Company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Department[] depts;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Company(String[] names)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depts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Department[names.length];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names.length; i++)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depts[i]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Department(names[i]);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 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自己造，别人拿不到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5" name="c2-code-3"/>
          <p:cNvGrpSpPr/>
          <p:nvPr/>
        </p:nvGrpSpPr>
        <p:grpSpPr>
          <a:xfrm>
            <a:off x="6464618" y="5201602"/>
            <a:ext cx="5193982" cy="1033462"/>
            <a:chOff x="6464618" y="5201602"/>
            <a:chExt cx="5193982" cy="1033462"/>
          </a:xfrm>
        </p:grpSpPr>
        <p:sp>
          <p:nvSpPr>
            <p:cNvPr id="52" name="Rectangle 52"/>
            <p:cNvSpPr/>
            <p:nvPr/>
          </p:nvSpPr>
          <p:spPr>
            <a:xfrm>
              <a:off x="6464618" y="5201602"/>
              <a:ext cx="5193982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3015" y="5353526"/>
              <a:ext cx="1086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 里的三种写法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3015" y="5614511"/>
              <a:ext cx="4029964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  { Engine engine; };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组合：值成员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Bus   { unique_ptr&lt;Engine&gt; e;   };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组合：独占指针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Team  { vector&lt;Player*&gt; players; };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聚合：只存指针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聚合还是组合：问三个问题就够了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412798" cy="1693069"/>
            <a:chOff x="533400" y="1533525"/>
            <a:chExt cx="4412798" cy="169306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一问：部分是谁造的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3999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外部造好传进来 → 聚合；整体在构造函数里自己 new → 组合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526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二问：整体没了部分还在吗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982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还在 → 聚合；一起消失 → 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3939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三问：部分能同时属于几个整体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0656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能被多个整体共享 → 聚合；只属于一个 → 组合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33400" y="3395662"/>
            <a:ext cx="5410200" cy="2434590"/>
            <a:chOff x="533400" y="3395662"/>
            <a:chExt cx="5410200" cy="2434590"/>
          </a:xfrm>
        </p:grpSpPr>
        <p:sp>
          <p:nvSpPr>
            <p:cNvPr id="21" name="Rectangle 21"/>
            <p:cNvSpPr/>
            <p:nvPr/>
          </p:nvSpPr>
          <p:spPr>
            <a:xfrm>
              <a:off x="533400" y="3395662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5898" y="35199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8631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8403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3412" y="39257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63115" y="3925729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has-a（拥有）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66198" y="3925729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contains-a（包含）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024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0719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331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可分离性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63115" y="4331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可分离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66198" y="4331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081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737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生命周期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63115" y="4737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各自独立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66198" y="47372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部分随整体消亡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0139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01872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51430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能否共享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63115" y="51430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6198" y="51430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4197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5548789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符号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63115" y="55487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775710" y="5434012"/>
              <a:ext cx="215836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66198" y="55487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实心菱形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395662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958340" y="339566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761422" y="339566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image-1"/>
          <p:cNvGrpSpPr/>
          <p:nvPr/>
        </p:nvGrpSpPr>
        <p:grpSpPr>
          <a:xfrm>
            <a:off x="6248400" y="1524000"/>
            <a:ext cx="5410200" cy="2812352"/>
            <a:chOff x="6248400" y="1524000"/>
            <a:chExt cx="5410200" cy="2812352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rcRect l="0" t="19026" r="0" b="19026"/>
            <a:stretch>
              <a:fillRect/>
            </a:stretch>
          </p:blipFill>
          <p:spPr>
            <a:xfrm>
              <a:off x="6248400" y="1524000"/>
              <a:ext cx="5410200" cy="2513648"/>
            </a:xfrm>
            <a:prstGeom prst="roundRect">
              <a:avLst>
                <a:gd name="adj" fmla="val 5305"/>
              </a:avLst>
            </a:prstGeom>
          </p:spPr>
        </p:pic>
        <p:sp>
          <p:nvSpPr>
            <p:cNvPr id="52" name="TextBox 52"/>
            <p:cNvSpPr txBox="1"/>
            <p:nvPr/>
          </p:nvSpPr>
          <p:spPr>
            <a:xfrm>
              <a:off x="6757226" y="4130993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苹果换个篮子照样是苹果（聚合）；齿轮离开表壳就没有意义（组合）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4489132"/>
            <a:ext cx="5410200" cy="1814512"/>
            <a:chOff x="6248400" y="4489132"/>
            <a:chExt cx="5410200" cy="1814512"/>
          </a:xfrm>
        </p:grpSpPr>
        <p:sp>
          <p:nvSpPr>
            <p:cNvPr id="54" name="Rectangle 54"/>
            <p:cNvSpPr/>
            <p:nvPr/>
          </p:nvSpPr>
          <p:spPr>
            <a:xfrm>
              <a:off x="6248400" y="4489132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622482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8905" y="468153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2344" y="4715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常见误判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2047" y="50387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大学与学生看起来是整体与部分，但学生毕业后仍然存在，应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当是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2047" y="5597842"/>
              <a:ext cx="4429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订单与订单项：订单删除后订单项没有意义，是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72047" y="590073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判断时想的是业务语义，而不是代码里用了数组还是列表。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0703" cy="909257"/>
            <a:chOff x="520446" y="342900"/>
            <a:chExt cx="5420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0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综合例：给绘图程序增加 Grid 图元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515261" cy="264033"/>
            <a:chOff x="526542" y="1545907"/>
            <a:chExt cx="951526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515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题目：绘图程序已有矩形、椭圆等图元。Grid 本身是一个矩形，文本为空，同时包含多个矩形，个数由创建参数指定。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4977765" cy="1970722"/>
            <a:chOff x="533400" y="1928812"/>
            <a:chExt cx="4977765" cy="197072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970722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040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1721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身上有两种关系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8190" y="24641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868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8987" y="2476500"/>
              <a:ext cx="336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Grid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一个矩形：从 Rect 继承，用泛化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" y="27641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868" y="28025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87" y="2776538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Grid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含有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若干矩形：这些矩形在 Grid 构造时创建、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 Grid 销毁，用组合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475" y="3330416"/>
              <a:ext cx="42644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内部元素声明成 Shape 类型，将来换成椭圆格子也不必改 Grid 的绘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制代码。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4070032"/>
            <a:ext cx="4977765" cy="1200150"/>
            <a:chOff x="533400" y="4070032"/>
            <a:chExt cx="4977765" cy="1200150"/>
          </a:xfrm>
        </p:grpSpPr>
        <p:sp>
          <p:nvSpPr>
            <p:cNvPr id="22" name="Rectangle 22"/>
            <p:cNvSpPr/>
            <p:nvPr/>
          </p:nvSpPr>
          <p:spPr>
            <a:xfrm>
              <a:off x="533400" y="4070032"/>
              <a:ext cx="4977765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8283" y="41914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这对类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8576" y="41914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59924" y="41914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0555" y="4591526"/>
              <a:ext cx="862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→ Rect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24075" y="45915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20365" y="4591526"/>
              <a:ext cx="1561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本身就是一个矩形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8653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87013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991576"/>
              <a:ext cx="949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→ Shape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4075" y="4991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20365" y="4991576"/>
              <a:ext cx="1846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格子随 Grid 生、随 Grid 灭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70032"/>
              <a:ext cx="4977765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22158" y="407003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18448" y="4070032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3"/>
          <p:cNvGrpSpPr/>
          <p:nvPr/>
        </p:nvGrpSpPr>
        <p:grpSpPr>
          <a:xfrm>
            <a:off x="533400" y="5439728"/>
            <a:ext cx="4977765" cy="847725"/>
            <a:chOff x="533400" y="5439728"/>
            <a:chExt cx="4977765" cy="847725"/>
          </a:xfrm>
        </p:grpSpPr>
        <p:sp>
          <p:nvSpPr>
            <p:cNvPr id="38" name="Rectangle 38"/>
            <p:cNvSpPr/>
            <p:nvPr/>
          </p:nvSpPr>
          <p:spPr>
            <a:xfrm>
              <a:off x="533400" y="5439728"/>
              <a:ext cx="4977765" cy="847725"/>
            </a:xfrm>
            <a:prstGeom prst="roundRect">
              <a:avLst>
                <a:gd name="adj" fmla="val 1348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763580"/>
              <a:ext cx="200023" cy="200023"/>
              <a:chOff x="738188" y="576358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7635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5830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644515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一个类之间同时存在两种关系时，两条线都要画出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来，不能只画继承。</a:t>
              </a:r>
            </a:p>
          </p:txBody>
        </p:sp>
      </p:grpSp>
      <p:grpSp>
        <p:nvGrpSpPr>
          <p:cNvPr id="80" name="c2-uml-1"/>
          <p:cNvGrpSpPr/>
          <p:nvPr/>
        </p:nvGrpSpPr>
        <p:grpSpPr>
          <a:xfrm>
            <a:off x="6217920" y="2724150"/>
            <a:ext cx="5038725" cy="2848928"/>
            <a:chOff x="6217920" y="2724150"/>
            <a:chExt cx="5038725" cy="2848928"/>
          </a:xfrm>
        </p:grpSpPr>
        <p:sp>
          <p:nvSpPr>
            <p:cNvPr id="44" name="Freeform 44"/>
            <p:cNvSpPr/>
            <p:nvPr/>
          </p:nvSpPr>
          <p:spPr>
            <a:xfrm>
              <a:off x="6789420" y="3437572"/>
              <a:ext cx="1757362" cy="1465897"/>
            </a:xfrm>
            <a:custGeom>
              <a:avLst/>
              <a:gdLst/>
              <a:ahLst/>
              <a:cxnLst/>
              <a:rect l="l" t="t" r="r" b="b"/>
              <a:pathLst>
                <a:path w="1757362" h="1465897">
                  <a:moveTo>
                    <a:pt x="0" y="1465897"/>
                  </a:moveTo>
                  <a:lnTo>
                    <a:pt x="0" y="670560"/>
                  </a:lnTo>
                  <a:lnTo>
                    <a:pt x="1757362" y="670560"/>
                  </a:lnTo>
                  <a:lnTo>
                    <a:pt x="17573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473440" y="33127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2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737282" y="3437572"/>
              <a:ext cx="9525" cy="1384935"/>
            </a:xfrm>
            <a:custGeom>
              <a:avLst/>
              <a:gdLst/>
              <a:ahLst/>
              <a:cxnLst/>
              <a:rect l="l" t="t" r="r" b="b"/>
              <a:pathLst>
                <a:path w="9525" h="1384935">
                  <a:moveTo>
                    <a:pt x="0" y="1384935"/>
                  </a:moveTo>
                  <a:lnTo>
                    <a:pt x="0" y="629603"/>
                  </a:lnTo>
                  <a:lnTo>
                    <a:pt x="0" y="6296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663940" y="33127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2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434512" y="5197792"/>
              <a:ext cx="679132" cy="9525"/>
            </a:xfrm>
            <a:custGeom>
              <a:avLst/>
              <a:gdLst/>
              <a:ahLst/>
              <a:cxnLst/>
              <a:rect l="l" t="t" r="r" b="b"/>
              <a:pathLst>
                <a:path w="679132" h="9525">
                  <a:moveTo>
                    <a:pt x="67913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308782" y="5124450"/>
              <a:ext cx="125730" cy="146685"/>
            </a:xfrm>
            <a:custGeom>
              <a:avLst/>
              <a:gdLst/>
              <a:ahLst/>
              <a:cxnLst/>
              <a:rect l="l" t="t" r="r" b="b"/>
              <a:pathLst>
                <a:path w="125730" h="146685">
                  <a:moveTo>
                    <a:pt x="0" y="73343"/>
                  </a:moveTo>
                  <a:lnTo>
                    <a:pt x="125730" y="0"/>
                  </a:lnTo>
                  <a:lnTo>
                    <a:pt x="125730" y="14668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927782" y="3312795"/>
              <a:ext cx="1757362" cy="1300162"/>
            </a:xfrm>
            <a:custGeom>
              <a:avLst/>
              <a:gdLst/>
              <a:ahLst/>
              <a:cxnLst/>
              <a:rect l="l" t="t" r="r" b="b"/>
              <a:pathLst>
                <a:path w="1757362" h="1300162">
                  <a:moveTo>
                    <a:pt x="0" y="0"/>
                  </a:moveTo>
                  <a:lnTo>
                    <a:pt x="0" y="754380"/>
                  </a:lnTo>
                  <a:lnTo>
                    <a:pt x="1757362" y="754380"/>
                  </a:lnTo>
                  <a:lnTo>
                    <a:pt x="1757362" y="130016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627042" y="4612958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8102" y="209550"/>
                  </a:moveTo>
                  <a:lnTo>
                    <a:pt x="0" y="104775"/>
                  </a:lnTo>
                  <a:lnTo>
                    <a:pt x="58102" y="0"/>
                  </a:lnTo>
                  <a:lnTo>
                    <a:pt x="115252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65782" y="272415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72450" y="273177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65782" y="29546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65782" y="30499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17920" y="4903470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24588" y="491109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17920" y="51339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17920" y="52292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65782" y="482250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72450" y="482917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65782" y="50530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65782" y="53101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113645" y="4822508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20312" y="4829175"/>
              <a:ext cx="112871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113645" y="50530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113645" y="53101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39703" y="2779871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37220" y="3119438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68019" y="4959191"/>
              <a:ext cx="442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Ellipse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89358" y="5298758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77797" y="487822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37220" y="5122545"/>
              <a:ext cx="8563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text: String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37220" y="5379720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543220" y="4878229"/>
              <a:ext cx="2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Grid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85082" y="5122545"/>
              <a:ext cx="959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cells: Shape[]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185082" y="5379720"/>
              <a:ext cx="536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726930" y="3870960"/>
              <a:ext cx="158115" cy="165735"/>
            </a:xfrm>
            <a:prstGeom prst="roundRect">
              <a:avLst>
                <a:gd name="adj" fmla="val 240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67907" y="38938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0725" cy="909257"/>
            <a:chOff x="520446" y="342900"/>
            <a:chExt cx="73707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聚合与组合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07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的实现：先画自己这个框，再画里面的格子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480560"/>
            <a:chOff x="533400" y="1524000"/>
            <a:chExt cx="6276022" cy="44805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0560"/>
            </a:xfrm>
            <a:prstGeom prst="roundRect">
              <a:avLst>
                <a:gd name="adj" fmla="val 212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4191191" cy="3996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Ellipse 同理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text;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Rect(String text)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.text = text;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画边框与文字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Shape[] cells;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Grid(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自己也是矩形，文本为空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cells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Shape[n];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cells[i]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.draw();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先画外框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(Shape c : cells) c.draw();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card-1"/>
          <p:cNvGrpSpPr/>
          <p:nvPr/>
        </p:nvGrpSpPr>
        <p:grpSpPr>
          <a:xfrm>
            <a:off x="7114222" y="1524000"/>
            <a:ext cx="4544378" cy="2025968"/>
            <a:chOff x="7114222" y="1524000"/>
            <a:chExt cx="4544378" cy="2025968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23748" y="1657350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447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361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37870" y="2072640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 Ellipse:public Shape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，class 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写成大写 C 开头，编译通不过。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37870" y="2632710"/>
              <a:ext cx="396563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Grid::Draw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只循环画内部矩形，没有调用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Rect::Draw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，按题图 Grid 外面应当有一圈边框，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这里补上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super.draw()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114222" y="3725228"/>
            <a:ext cx="4544378" cy="1466850"/>
            <a:chOff x="7114222" y="3725228"/>
            <a:chExt cx="4544378" cy="1466850"/>
          </a:xfrm>
        </p:grpSpPr>
        <p:sp>
          <p:nvSpPr>
            <p:cNvPr id="18" name="Rectangle 18"/>
            <p:cNvSpPr/>
            <p:nvPr/>
          </p:nvSpPr>
          <p:spPr>
            <a:xfrm>
              <a:off x="7114222" y="3725228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23748" y="385857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44728" y="3917632"/>
              <a:ext cx="128301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3474" y="3951923"/>
              <a:ext cx="1164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 版要额外注意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37870" y="4274820"/>
              <a:ext cx="38713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内部矩形是 new 出来的，析构里要逐个 delete 再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delete[]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，否则内存泄漏；基类 Shape 的析构函数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还要声明为虚函数。</a:t>
              </a:r>
            </a:p>
          </p:txBody>
        </p:sp>
      </p:grpSp>
      <p:grpSp>
        <p:nvGrpSpPr>
          <p:cNvPr id="30" name="c2-callout-3"/>
          <p:cNvGrpSpPr/>
          <p:nvPr/>
        </p:nvGrpSpPr>
        <p:grpSpPr>
          <a:xfrm>
            <a:off x="7114222" y="5367338"/>
            <a:ext cx="4544378" cy="978218"/>
            <a:chOff x="7114222" y="5367338"/>
            <a:chExt cx="4544378" cy="978218"/>
          </a:xfrm>
        </p:grpSpPr>
        <p:sp>
          <p:nvSpPr>
            <p:cNvPr id="24" name="Rectangle 24"/>
            <p:cNvSpPr/>
            <p:nvPr/>
          </p:nvSpPr>
          <p:spPr>
            <a:xfrm>
              <a:off x="7114222" y="5367338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19010" y="5755958"/>
              <a:ext cx="200026" cy="200025"/>
              <a:chOff x="7319010" y="5755958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19010" y="57559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358749" y="58004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93464" y="59115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621714" y="5513070"/>
              <a:ext cx="358844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字段声明成 Shape 而不是 Rect，将来放椭圆格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子也不用改 Grid，这是针对接口编程带来的余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358515" cy="2997517"/>
            <a:chOff x="667512" y="1835468"/>
            <a:chExt cx="335851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泛化与实现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两种空心三角箭头，区别只在线型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泛化就是继承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实现是类与接口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箭头一律指向父类或接口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泛化与实现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泛化：一般与特殊，代码里就是继承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33575"/>
            <a:chOff x="533400" y="1524000"/>
            <a:chExt cx="5410200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741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泛化（generalization）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一般与特殊、一般与具体之间的关系。具体描述建立在一般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描述之上，并对它进行扩展。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狗是对动物的具体描述，所以把狗设计成动物的子类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画法：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实线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加空心三角箭头，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子类指向父类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642360"/>
            <a:ext cx="5410200" cy="1922145"/>
            <a:chOff x="533400" y="3642360"/>
            <a:chExt cx="5410200" cy="1922145"/>
          </a:xfrm>
        </p:grpSpPr>
        <p:sp>
          <p:nvSpPr>
            <p:cNvPr id="18" name="Rectangle 18"/>
            <p:cNvSpPr/>
            <p:nvPr/>
          </p:nvSpPr>
          <p:spPr>
            <a:xfrm>
              <a:off x="533400" y="3642360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79428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" y="4057174"/>
              <a:ext cx="42857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eatSomething() {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有实现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Tiger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eatSomething() {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吃肉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2-uml-1"/>
          <p:cNvGrpSpPr/>
          <p:nvPr/>
        </p:nvGrpSpPr>
        <p:grpSpPr>
          <a:xfrm>
            <a:off x="6958012" y="1660208"/>
            <a:ext cx="3919538" cy="1575434"/>
            <a:chOff x="6958012" y="1660208"/>
            <a:chExt cx="3919538" cy="1575434"/>
          </a:xfrm>
        </p:grpSpPr>
        <p:sp>
          <p:nvSpPr>
            <p:cNvPr id="22" name="Freeform 22"/>
            <p:cNvSpPr/>
            <p:nvPr/>
          </p:nvSpPr>
          <p:spPr>
            <a:xfrm>
              <a:off x="7505700" y="2437448"/>
              <a:ext cx="95250" cy="146685"/>
            </a:xfrm>
            <a:custGeom>
              <a:avLst/>
              <a:gdLst/>
              <a:ahLst/>
              <a:cxnLst/>
              <a:rect l="l" t="t" r="r" b="b"/>
              <a:pathLst>
                <a:path w="95250" h="146685">
                  <a:moveTo>
                    <a:pt x="95250" y="146685"/>
                  </a:moveTo>
                  <a:lnTo>
                    <a:pt x="95250" y="10477"/>
                  </a:lnTo>
                  <a:lnTo>
                    <a:pt x="0" y="1047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432358" y="23117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696200" y="2437448"/>
              <a:ext cx="2609850" cy="240982"/>
            </a:xfrm>
            <a:custGeom>
              <a:avLst/>
              <a:gdLst/>
              <a:ahLst/>
              <a:cxnLst/>
              <a:rect l="l" t="t" r="r" b="b"/>
              <a:pathLst>
                <a:path w="2609850" h="240982">
                  <a:moveTo>
                    <a:pt x="2609850" y="240982"/>
                  </a:moveTo>
                  <a:lnTo>
                    <a:pt x="2609850" y="58102"/>
                  </a:lnTo>
                  <a:lnTo>
                    <a:pt x="0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22858" y="23117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58012" y="1660208"/>
              <a:ext cx="128587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64680" y="1667828"/>
              <a:ext cx="127158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58012" y="1926908"/>
              <a:ext cx="12858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58012" y="2022158"/>
              <a:ext cx="12858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58012" y="2584132"/>
              <a:ext cx="1285875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64680" y="2591752"/>
              <a:ext cx="127158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58012" y="2850832"/>
              <a:ext cx="12858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58012" y="2946082"/>
              <a:ext cx="12858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734550" y="2678430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42170" y="2686050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34550" y="29451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34550" y="30403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55525" y="1724501"/>
              <a:ext cx="490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28879" y="2094548"/>
              <a:ext cx="1217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eatSomething()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95103" y="2648426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Tiger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8879" y="3018473"/>
              <a:ext cx="1217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eatSomething()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67262" y="2743676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3557588"/>
            <a:ext cx="5410200" cy="1855470"/>
            <a:chOff x="6248400" y="3557588"/>
            <a:chExt cx="5410200" cy="185547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57588"/>
              <a:ext cx="5410200" cy="1855470"/>
            </a:xfrm>
            <a:prstGeom prst="roundRect">
              <a:avLst>
                <a:gd name="adj" fmla="val 718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44996" y="378475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用继承前先自问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996" y="4122896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子类能不能在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所有用到父类的地方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顶替父类？不能就不该继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承（里氏替换原则）。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4996" y="471439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继承是编译期绑定的，一旦定下就改不了；需要运行时更换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行为时，改用组合。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248400" y="5597842"/>
            <a:ext cx="5410200" cy="756285"/>
            <a:chOff x="6248400" y="5597842"/>
            <a:chExt cx="5410200" cy="756285"/>
          </a:xfrm>
        </p:grpSpPr>
        <p:sp>
          <p:nvSpPr>
            <p:cNvPr id="49" name="Rectangle 49"/>
            <p:cNvSpPr/>
            <p:nvPr/>
          </p:nvSpPr>
          <p:spPr>
            <a:xfrm>
              <a:off x="6248400" y="559784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5872281"/>
              <a:ext cx="224134" cy="192560"/>
              <a:chOff x="6441129" y="587228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59426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58722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60204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511" y="5745004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不要为了复用几行代码就继承。"正方形继承长方形"这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类反例，问题就出在替换不成立。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泛化与实现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实现：类兑现接口许下的承诺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444942"/>
            <a:chOff x="533400" y="1524000"/>
            <a:chExt cx="5410200" cy="1444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66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实现（realization）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类与接口之间的关系，表示类实现了接口的全部特征和行为。广义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上说，类模板与模板类也是一种实现关系。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画法：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虚线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加空心三角箭头，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实现类指向接口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133725"/>
            <a:ext cx="5410200" cy="2088832"/>
            <a:chOff x="533400" y="3133725"/>
            <a:chExt cx="5410200" cy="2088832"/>
          </a:xfrm>
        </p:grpSpPr>
        <p:sp>
          <p:nvSpPr>
            <p:cNvPr id="16" name="Rectangle 16"/>
            <p:cNvSpPr/>
            <p:nvPr/>
          </p:nvSpPr>
          <p:spPr>
            <a:xfrm>
              <a:off x="533400" y="3133725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28564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97" y="3546634"/>
              <a:ext cx="3040507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eatSomething();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只有签名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eatSomething()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由实现类给出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387340"/>
            <a:ext cx="5410200" cy="816292"/>
            <a:chOff x="533400" y="5387340"/>
            <a:chExt cx="5410200" cy="816292"/>
          </a:xfrm>
        </p:grpSpPr>
        <p:sp>
          <p:nvSpPr>
            <p:cNvPr id="20" name="Rectangle 20"/>
            <p:cNvSpPr/>
            <p:nvPr/>
          </p:nvSpPr>
          <p:spPr>
            <a:xfrm>
              <a:off x="533400" y="5387340"/>
              <a:ext cx="5410200" cy="816292"/>
            </a:xfrm>
            <a:prstGeom prst="roundRect">
              <a:avLst>
                <a:gd name="adj" fmla="val 1400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695950"/>
              <a:ext cx="200026" cy="200026"/>
              <a:chOff x="738188" y="5695950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6959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762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7959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558879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接口的方法必须全部实现，漏一个就只能声明成抽象类；一个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类只能 extends 一个父类，却可以 implements 多个接口。</a:t>
              </a:r>
            </a:p>
          </p:txBody>
        </p:sp>
      </p:grpSp>
      <p:grpSp>
        <p:nvGrpSpPr>
          <p:cNvPr id="50" name="c2-uml-1"/>
          <p:cNvGrpSpPr/>
          <p:nvPr/>
        </p:nvGrpSpPr>
        <p:grpSpPr>
          <a:xfrm>
            <a:off x="6578918" y="1596390"/>
            <a:ext cx="4749164" cy="1526857"/>
            <a:chOff x="6578918" y="1596390"/>
            <a:chExt cx="4749164" cy="1526857"/>
          </a:xfrm>
        </p:grpSpPr>
        <p:sp>
          <p:nvSpPr>
            <p:cNvPr id="27" name="Freeform 27"/>
            <p:cNvSpPr/>
            <p:nvPr/>
          </p:nvSpPr>
          <p:spPr>
            <a:xfrm>
              <a:off x="7150418" y="2428875"/>
              <a:ext cx="1707832" cy="106680"/>
            </a:xfrm>
            <a:custGeom>
              <a:avLst/>
              <a:gdLst/>
              <a:ahLst/>
              <a:cxnLst/>
              <a:rect l="l" t="t" r="r" b="b"/>
              <a:pathLst>
                <a:path w="1707832" h="106680">
                  <a:moveTo>
                    <a:pt x="0" y="106680"/>
                  </a:moveTo>
                  <a:lnTo>
                    <a:pt x="0" y="0"/>
                  </a:lnTo>
                  <a:lnTo>
                    <a:pt x="1707832" y="0"/>
                  </a:lnTo>
                  <a:lnTo>
                    <a:pt x="1707832" y="1905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8784908" y="23221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48750" y="2428875"/>
              <a:ext cx="1707832" cy="106680"/>
            </a:xfrm>
            <a:custGeom>
              <a:avLst/>
              <a:gdLst/>
              <a:ahLst/>
              <a:cxnLst/>
              <a:rect l="l" t="t" r="r" b="b"/>
              <a:pathLst>
                <a:path w="1707832" h="106680">
                  <a:moveTo>
                    <a:pt x="1707832" y="106680"/>
                  </a:moveTo>
                  <a:lnTo>
                    <a:pt x="1707832" y="0"/>
                  </a:lnTo>
                  <a:lnTo>
                    <a:pt x="0" y="0"/>
                  </a:lnTo>
                  <a:lnTo>
                    <a:pt x="0" y="1905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8975408" y="23221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159639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89620" y="1604010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382000" y="19640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82000" y="20593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78918" y="253555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85585" y="254222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78918" y="27660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78918" y="28613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85082" y="253555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92702" y="254222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85082" y="27660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185082" y="28613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28611" y="164925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6286" y="1789271"/>
              <a:ext cx="474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IAnimal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3438" y="2128838"/>
              <a:ext cx="1044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eatSomething()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35718" y="2591276"/>
              <a:ext cx="429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0355" y="2930842"/>
              <a:ext cx="1044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eatSomething()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44994" y="2591276"/>
              <a:ext cx="423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Mouse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56520" y="2930842"/>
              <a:ext cx="1044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eatSomething()</a:t>
              </a:r>
            </a:p>
          </p:txBody>
        </p:sp>
      </p:grpSp>
      <p:grpSp>
        <p:nvGrpSpPr>
          <p:cNvPr id="77" name="c2-table-2"/>
          <p:cNvGrpSpPr/>
          <p:nvPr/>
        </p:nvGrpSpPr>
        <p:grpSpPr>
          <a:xfrm>
            <a:off x="6248400" y="3429952"/>
            <a:ext cx="5410200" cy="1906905"/>
            <a:chOff x="6248400" y="3429952"/>
            <a:chExt cx="5410200" cy="1906905"/>
          </a:xfrm>
        </p:grpSpPr>
        <p:sp>
          <p:nvSpPr>
            <p:cNvPr id="51" name="Rectangle 51"/>
            <p:cNvSpPr/>
            <p:nvPr/>
          </p:nvSpPr>
          <p:spPr>
            <a:xfrm>
              <a:off x="6248400" y="342995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42798" y="3547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62072" y="3547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26090" y="3547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43079" y="3928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26196" y="3928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80676" y="3928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187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191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079" y="4310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父类型里有实现吗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41042" y="4201478"/>
              <a:ext cx="153638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26196" y="4310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895522" y="4201478"/>
              <a:ext cx="175355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980676" y="4310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569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3079" y="4691062"/>
              <a:ext cx="811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关键字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26196" y="469106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80676" y="4691062"/>
              <a:ext cx="773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4950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4954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3079" y="5072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能有几个父类型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26196" y="5072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只能一个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980676" y="5072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可以多个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42995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326755" y="34299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881235" y="34299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allout-3"/>
          <p:cNvGrpSpPr/>
          <p:nvPr/>
        </p:nvGrpSpPr>
        <p:grpSpPr>
          <a:xfrm>
            <a:off x="6248400" y="5501640"/>
            <a:ext cx="5410200" cy="702945"/>
            <a:chOff x="6248400" y="5501640"/>
            <a:chExt cx="5410200" cy="702945"/>
          </a:xfrm>
        </p:grpSpPr>
        <p:sp>
          <p:nvSpPr>
            <p:cNvPr id="78" name="Rectangle 78"/>
            <p:cNvSpPr/>
            <p:nvPr/>
          </p:nvSpPr>
          <p:spPr>
            <a:xfrm>
              <a:off x="6248400" y="550164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53188" y="5752150"/>
              <a:ext cx="200023" cy="200023"/>
              <a:chOff x="6453188" y="5752150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453188" y="57521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86538" y="58188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6273" y="564594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泛化与实现的分界，就是子类是否继承了父类的实现：有实现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可继承是泛化，只继承了一纸约定是实现。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辨别与运用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看图会读，看代码会判，遇到变化知道改哪里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判别流程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看代码判关系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用关系模型适应变化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六种关系总对照表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11125200" cy="3368040"/>
            <a:chOff x="533400" y="1524000"/>
            <a:chExt cx="11125200" cy="3368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08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82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1284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起点与终点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574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339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3743" y="222170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开放箭头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55898" y="222170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使用者 → 被使用者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59006" y="2108359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方法参数、局部变量、返回值、静态调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3680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人开车、老鼠吃苹果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3743" y="2783681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开放箭头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5898" y="2783681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持有方 → 被持有方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59006" y="27836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字段，由外部赋值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3680" y="278368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学生与宿舍、英雄与宝物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53743" y="3232309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空心菱形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5898" y="32323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菱形在整体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59006" y="323230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字段，部分从外部传入，整体不销毁它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3680" y="323230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宿舍与学生、雁群与大雁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53743" y="368093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实心菱形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5898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菱形在整体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59006" y="36809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字段，整体在构造时创建部分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73680" y="3680936"/>
              <a:ext cx="1956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公司与部门、Grid 与格子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3743" y="413051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空心三角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55898" y="4130516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→ 父类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59006" y="413051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73680" y="41305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老虎与动物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53743" y="457914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空心三角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55898" y="457914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 → 接口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59006" y="4579144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73680" y="4579144"/>
              <a:ext cx="1389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Animal 与 IAnimal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11125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641158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4331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4642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761095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callout-2"/>
          <p:cNvGrpSpPr/>
          <p:nvPr/>
        </p:nvGrpSpPr>
        <p:grpSpPr>
          <a:xfrm>
            <a:off x="533400" y="5082540"/>
            <a:ext cx="11125200" cy="575310"/>
            <a:chOff x="533400" y="5082540"/>
            <a:chExt cx="11125200" cy="575310"/>
          </a:xfrm>
        </p:grpSpPr>
        <p:sp>
          <p:nvSpPr>
            <p:cNvPr id="57" name="Rectangle 57"/>
            <p:cNvSpPr/>
            <p:nvPr/>
          </p:nvSpPr>
          <p:spPr>
            <a:xfrm>
              <a:off x="533400" y="5082540"/>
              <a:ext cx="11125200" cy="575310"/>
            </a:xfrm>
            <a:prstGeom prst="roundRect">
              <a:avLst>
                <a:gd name="adj" fmla="val 1986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5266491"/>
              <a:ext cx="224134" cy="192560"/>
              <a:chOff x="726129" y="5266491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53368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52664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4146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265420"/>
              <a:ext cx="8112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考试最容易丢分的三处：三角箭头画反、菱形画在部分端、把"方法参数里出现"当成关联。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聚合与组合在代码上都是字段，区别写在注释与文档里，靠的是谁创建、谁销毁、能否共享。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拿到两个类，按这条路走一遍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flow-1"/>
          <p:cNvGrpSpPr/>
          <p:nvPr/>
        </p:nvGrpSpPr>
        <p:grpSpPr>
          <a:xfrm>
            <a:off x="816292" y="1707832"/>
            <a:ext cx="5635943" cy="4465320"/>
            <a:chOff x="816292" y="1707832"/>
            <a:chExt cx="5635943" cy="4465320"/>
          </a:xfrm>
        </p:grpSpPr>
        <p:sp>
          <p:nvSpPr>
            <p:cNvPr id="7" name="Freeform 7"/>
            <p:cNvSpPr/>
            <p:nvPr/>
          </p:nvSpPr>
          <p:spPr>
            <a:xfrm>
              <a:off x="2553652" y="2145982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01265" y="23269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90060" y="2732722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10100" y="26803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53652" y="3032760"/>
              <a:ext cx="9525" cy="100012"/>
            </a:xfrm>
            <a:custGeom>
              <a:avLst/>
              <a:gdLst/>
              <a:ahLst/>
              <a:cxnLst/>
              <a:rect l="l" t="t" r="r" b="b"/>
              <a:pathLst>
                <a:path w="9525" h="100012">
                  <a:moveTo>
                    <a:pt x="0" y="0"/>
                  </a:moveTo>
                  <a:lnTo>
                    <a:pt x="0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01265" y="31327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90060" y="3537585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10100" y="34851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53652" y="3838575"/>
              <a:ext cx="9525" cy="99060"/>
            </a:xfrm>
            <a:custGeom>
              <a:avLst/>
              <a:gdLst/>
              <a:ahLst/>
              <a:cxnLst/>
              <a:rect l="l" t="t" r="r" b="b"/>
              <a:pathLst>
                <a:path w="9525" h="99060">
                  <a:moveTo>
                    <a:pt x="0" y="0"/>
                  </a:moveTo>
                  <a:lnTo>
                    <a:pt x="0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01265" y="39376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90060" y="4343400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10100" y="4291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553652" y="4643438"/>
              <a:ext cx="9525" cy="100012"/>
            </a:xfrm>
            <a:custGeom>
              <a:avLst/>
              <a:gdLst/>
              <a:ahLst/>
              <a:cxnLst/>
              <a:rect l="l" t="t" r="r" b="b"/>
              <a:pathLst>
                <a:path w="9525" h="100012">
                  <a:moveTo>
                    <a:pt x="0" y="0"/>
                  </a:moveTo>
                  <a:lnTo>
                    <a:pt x="0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501265" y="4743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290060" y="5148262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610100" y="50958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553652" y="5449252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501265" y="5630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6292" y="1707832"/>
              <a:ext cx="3473768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16292" y="2431732"/>
              <a:ext cx="3473768" cy="601027"/>
            </a:xfrm>
            <a:custGeom>
              <a:avLst/>
              <a:gdLst/>
              <a:ahLst/>
              <a:cxnLst/>
              <a:rect l="l" t="t" r="r" b="b"/>
              <a:pathLst>
                <a:path w="3473768" h="601027">
                  <a:moveTo>
                    <a:pt x="1737360" y="0"/>
                  </a:moveTo>
                  <a:lnTo>
                    <a:pt x="3473768" y="300990"/>
                  </a:lnTo>
                  <a:lnTo>
                    <a:pt x="173736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14875" y="2513648"/>
              <a:ext cx="1737360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16292" y="3237548"/>
              <a:ext cx="3473768" cy="601028"/>
            </a:xfrm>
            <a:custGeom>
              <a:avLst/>
              <a:gdLst/>
              <a:ahLst/>
              <a:cxnLst/>
              <a:rect l="l" t="t" r="r" b="b"/>
              <a:pathLst>
                <a:path w="3473768" h="601028">
                  <a:moveTo>
                    <a:pt x="1737360" y="0"/>
                  </a:moveTo>
                  <a:lnTo>
                    <a:pt x="3473768" y="300038"/>
                  </a:lnTo>
                  <a:lnTo>
                    <a:pt x="173736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14875" y="3318510"/>
              <a:ext cx="1737360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16292" y="4042410"/>
              <a:ext cx="3473768" cy="601028"/>
            </a:xfrm>
            <a:custGeom>
              <a:avLst/>
              <a:gdLst/>
              <a:ahLst/>
              <a:cxnLst/>
              <a:rect l="l" t="t" r="r" b="b"/>
              <a:pathLst>
                <a:path w="3473768" h="601028">
                  <a:moveTo>
                    <a:pt x="1737360" y="0"/>
                  </a:moveTo>
                  <a:lnTo>
                    <a:pt x="3473768" y="300990"/>
                  </a:lnTo>
                  <a:lnTo>
                    <a:pt x="1737360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14875" y="4124325"/>
              <a:ext cx="1737360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16292" y="4848225"/>
              <a:ext cx="3473768" cy="601028"/>
            </a:xfrm>
            <a:custGeom>
              <a:avLst/>
              <a:gdLst/>
              <a:ahLst/>
              <a:cxnLst/>
              <a:rect l="l" t="t" r="r" b="b"/>
              <a:pathLst>
                <a:path w="3473768" h="601028">
                  <a:moveTo>
                    <a:pt x="1737360" y="0"/>
                  </a:moveTo>
                  <a:lnTo>
                    <a:pt x="3473768" y="300038"/>
                  </a:lnTo>
                  <a:lnTo>
                    <a:pt x="173736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714875" y="4929188"/>
              <a:ext cx="1737360" cy="43815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6292" y="5735002"/>
              <a:ext cx="3473768" cy="438150"/>
            </a:xfrm>
            <a:prstGeom prst="roundRect">
              <a:avLst>
                <a:gd name="adj" fmla="val 2173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11378" y="1837849"/>
              <a:ext cx="1084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与 B 有联系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48168" y="2642711"/>
              <a:ext cx="1410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是 A 的父类型？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27464" y="264366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泛化 / 实现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34324" y="3448526"/>
              <a:ext cx="123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是 A 的字段？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3812" y="34485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75854" y="4254341"/>
              <a:ext cx="1755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是整体与部分？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03812" y="4254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62011" y="5059204"/>
              <a:ext cx="1583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销毁时 B 也销毁？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03812" y="50592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74862" y="58650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88168" y="251650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26458" y="25422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82228" y="30432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05468" y="30699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88168" y="332136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26458" y="33480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582228" y="38481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05468" y="38747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388168" y="412718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426458" y="41538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582228" y="4653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05468" y="4680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88168" y="493204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426458" y="49587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582228" y="55006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605468" y="55273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6898005" y="1524000"/>
            <a:ext cx="4760595" cy="2274570"/>
            <a:chOff x="6898005" y="1524000"/>
            <a:chExt cx="4760595" cy="2274570"/>
          </a:xfrm>
        </p:grpSpPr>
        <p:sp>
          <p:nvSpPr>
            <p:cNvPr id="62" name="Rectangle 62"/>
            <p:cNvSpPr/>
            <p:nvPr/>
          </p:nvSpPr>
          <p:spPr>
            <a:xfrm>
              <a:off x="6898005" y="1524000"/>
              <a:ext cx="4760595" cy="2274570"/>
            </a:xfrm>
            <a:prstGeom prst="roundRect">
              <a:avLst>
                <a:gd name="adj" fmla="val 586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99935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三个判断点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9935" y="2112645"/>
              <a:ext cx="3396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第一刀砍在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继承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上：extends 是泛化，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implements 是实现，后面都不用问了。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99935" y="2733675"/>
              <a:ext cx="3771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第二刀砍在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字段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上：不是字段就是依赖。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9935" y="3068955"/>
              <a:ext cx="4130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第三刀砍在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语义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上：整体与部分，以及生命周期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是否绑定。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898005" y="3989070"/>
            <a:ext cx="4760595" cy="2367915"/>
            <a:chOff x="6898005" y="3989070"/>
            <a:chExt cx="4760595" cy="2367915"/>
          </a:xfrm>
        </p:grpSpPr>
        <p:sp>
          <p:nvSpPr>
            <p:cNvPr id="68" name="Rectangle 68"/>
            <p:cNvSpPr/>
            <p:nvPr/>
          </p:nvSpPr>
          <p:spPr>
            <a:xfrm>
              <a:off x="6898005" y="3989070"/>
              <a:ext cx="4760595" cy="2367915"/>
            </a:xfrm>
            <a:prstGeom prst="roundRect">
              <a:avLst>
                <a:gd name="adj" fmla="val 56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07530" y="4122420"/>
              <a:ext cx="47625" cy="21012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145655" y="419862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19112" y="42343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两个特殊情况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38035" y="4575810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两个类之间可以同时有多种关系，例如 Grid 既继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 Rect 又组合 Shape，两条线都要画。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38035" y="51968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起点与终点是同一个类时叫自身关系，依赖、关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联、聚合都可以自反。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看代码判关系：六道小题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4559618"/>
            <a:chOff x="533400" y="1524000"/>
            <a:chExt cx="5626418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831" y="1937861"/>
              <a:ext cx="167894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19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0595" y="1937861"/>
              <a:ext cx="4627118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① A 与 B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B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B(); b.g(); }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② C 与 D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d; C(D d)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 = d; }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③ Team 与 Player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Team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List&lt;Player&gt; ps;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Team(List&lt;Player&gt; ps)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.ps = ps; }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④ House 与 Room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House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Room[] rs;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House(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rs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Room[n];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i=0;i&lt;n;i++) rs[i]=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Room(); }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⑤ Cat 与 Animal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⑥ Timer 与 Runnable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Timer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Runnable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run() { } }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464618" y="1524000"/>
            <a:ext cx="5193982" cy="3141346"/>
            <a:chOff x="6464618" y="1524000"/>
            <a:chExt cx="5193982" cy="3141346"/>
          </a:xfrm>
        </p:grpSpPr>
        <p:sp>
          <p:nvSpPr>
            <p:cNvPr id="12" name="Rectangle 12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972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50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3773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1985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5004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6908" y="2108359"/>
              <a:ext cx="2580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只是局部变量，方法结束就没了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1985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25004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26908" y="2556986"/>
              <a:ext cx="2580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是字段，由外部传入，地位平等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985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5004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26908" y="30056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球员从外部传入，球队解散球员还在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985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5004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6908" y="3454241"/>
              <a:ext cx="31814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房间由 House 自己创建，房子拆了就没了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985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5004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26908" y="3903821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extends，子类指向父类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4211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421671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985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5004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6908" y="4352449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implements，虚线三角指向接口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8374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91432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llout-2"/>
          <p:cNvGrpSpPr/>
          <p:nvPr/>
        </p:nvGrpSpPr>
        <p:grpSpPr>
          <a:xfrm>
            <a:off x="6464618" y="4855845"/>
            <a:ext cx="5193982" cy="1227772"/>
            <a:chOff x="6464618" y="4855845"/>
            <a:chExt cx="5193982" cy="1227772"/>
          </a:xfrm>
        </p:grpSpPr>
        <p:sp>
          <p:nvSpPr>
            <p:cNvPr id="46" name="Rectangle 46"/>
            <p:cNvSpPr/>
            <p:nvPr/>
          </p:nvSpPr>
          <p:spPr>
            <a:xfrm>
              <a:off x="6464618" y="4855845"/>
              <a:ext cx="5193982" cy="1227772"/>
            </a:xfrm>
            <a:prstGeom prst="roundRect">
              <a:avLst>
                <a:gd name="adj" fmla="val 931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5370195"/>
              <a:ext cx="200026" cy="200025"/>
              <a:chOff x="6669405" y="537019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5370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09144" y="5414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43859" y="5525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5227320"/>
              <a:ext cx="4282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②③ 的代码形态完全一样，差别只在语义：球队与球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员是整体与部分，C 与 D 不是。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2096" cy="909257"/>
            <a:chOff x="520446" y="342900"/>
            <a:chExt cx="6162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2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用关系模型适应变化：Some 类会怎么变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10312" cy="264033"/>
            <a:chOff x="526542" y="1545907"/>
            <a:chExt cx="77103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10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假设已有 Some 类，它有 operA、operB 两个方法和一个 myData 字段，使用者已经在用它了。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912620"/>
            <a:chOff x="533400" y="1928812"/>
            <a:chExt cx="5410200" cy="1912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1858137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myData;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使用者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Some p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p.operA();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6215"/>
            <a:ext cx="5410200" cy="1687830"/>
            <a:chOff x="533400" y="4006215"/>
            <a:chExt cx="5410200" cy="1687830"/>
          </a:xfrm>
        </p:grpSpPr>
        <p:sp>
          <p:nvSpPr>
            <p:cNvPr id="13" name="Rectangle 13"/>
            <p:cNvSpPr/>
            <p:nvPr/>
          </p:nvSpPr>
          <p:spPr>
            <a:xfrm>
              <a:off x="533400" y="4006215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13956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1871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42200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8450" y="42267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54390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职责变化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：改的是对外的接口，增删方法、改名、改参数、改返回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类型都算。使用者必须跟着改。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50715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实现变化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：接口原样不动，只换内部的数据表示或算法。使用者一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行不用动。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5858828"/>
            <a:ext cx="5410200" cy="467678"/>
            <a:chOff x="533400" y="5858828"/>
            <a:chExt cx="5410200" cy="467678"/>
          </a:xfrm>
        </p:grpSpPr>
        <p:sp>
          <p:nvSpPr>
            <p:cNvPr id="21" name="Rectangle 21"/>
            <p:cNvSpPr/>
            <p:nvPr/>
          </p:nvSpPr>
          <p:spPr>
            <a:xfrm>
              <a:off x="533400" y="5858828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993130"/>
              <a:ext cx="200026" cy="200025"/>
              <a:chOff x="738188" y="5993130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9931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7926" y="60375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2642" y="61487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600408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先问一句：这次要改的东西使用者看得见吗？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243447" y="1928812"/>
            <a:ext cx="5415153" cy="3314414"/>
            <a:chOff x="6243447" y="1928812"/>
            <a:chExt cx="5415153" cy="3314414"/>
          </a:xfrm>
        </p:grpSpPr>
        <p:sp>
          <p:nvSpPr>
            <p:cNvPr id="28" name="Rectangle 28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4273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495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具体改动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1768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使用者要改吗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3079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5119" y="2426970"/>
              <a:ext cx="1153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增加新功能 operC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30218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3079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25119" y="2808923"/>
              <a:ext cx="729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 operA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30218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25119" y="3189923"/>
              <a:ext cx="1524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 改名为 myOperA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30218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25119" y="3571875"/>
              <a:ext cx="1012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operB 增加形参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30218" y="3571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5119" y="3952875"/>
              <a:ext cx="1153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operB 改返回类型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30218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4333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5119" y="43338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换一种数据表示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045065" y="4226242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130218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3079" y="4715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5119" y="4715828"/>
              <a:ext cx="1436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换一种算法实现 operA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045065" y="4608195"/>
              <a:ext cx="16040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130218" y="4715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1928812"/>
              <a:ext cx="5410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25678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030778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3447" y="50525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一个类身上可能发生的变化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6248400" y="5370195"/>
            <a:ext cx="5410200" cy="957262"/>
            <a:chOff x="6248400" y="5370195"/>
            <a:chExt cx="5410200" cy="957262"/>
          </a:xfrm>
        </p:grpSpPr>
        <p:sp>
          <p:nvSpPr>
            <p:cNvPr id="69" name="Rectangle 69"/>
            <p:cNvSpPr/>
            <p:nvPr/>
          </p:nvSpPr>
          <p:spPr>
            <a:xfrm>
              <a:off x="6248400" y="5370195"/>
              <a:ext cx="5410200" cy="957262"/>
            </a:xfrm>
            <a:prstGeom prst="roundRect">
              <a:avLst>
                <a:gd name="adj" fmla="val 119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748340"/>
              <a:ext cx="200023" cy="200023"/>
              <a:chOff x="6453188" y="574834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7483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86538" y="5815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5642134"/>
              <a:ext cx="4499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分界线在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对外可见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四个字：改了接口是职责变化，只改内部是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实现变化。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两条路：派生子类，还是包一层委托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uml-1"/>
          <p:cNvGrpSpPr/>
          <p:nvPr/>
        </p:nvGrpSpPr>
        <p:grpSpPr>
          <a:xfrm>
            <a:off x="863918" y="1709738"/>
            <a:ext cx="4749164" cy="2403157"/>
            <a:chOff x="863918" y="1709738"/>
            <a:chExt cx="4749164" cy="2403157"/>
          </a:xfrm>
        </p:grpSpPr>
        <p:sp>
          <p:nvSpPr>
            <p:cNvPr id="7" name="Freeform 7"/>
            <p:cNvSpPr/>
            <p:nvPr/>
          </p:nvSpPr>
          <p:spPr>
            <a:xfrm>
              <a:off x="1435418" y="2807018"/>
              <a:ext cx="1707832" cy="421958"/>
            </a:xfrm>
            <a:custGeom>
              <a:avLst/>
              <a:gdLst/>
              <a:ahLst/>
              <a:cxnLst/>
              <a:rect l="l" t="t" r="r" b="b"/>
              <a:pathLst>
                <a:path w="1707832" h="421958">
                  <a:moveTo>
                    <a:pt x="0" y="421958"/>
                  </a:moveTo>
                  <a:lnTo>
                    <a:pt x="0" y="148590"/>
                  </a:lnTo>
                  <a:lnTo>
                    <a:pt x="1707832" y="148590"/>
                  </a:lnTo>
                  <a:lnTo>
                    <a:pt x="1707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69908" y="26812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33750" y="2681288"/>
              <a:ext cx="1707832" cy="141922"/>
            </a:xfrm>
            <a:custGeom>
              <a:avLst/>
              <a:gdLst/>
              <a:ahLst/>
              <a:cxnLst/>
              <a:rect l="l" t="t" r="r" b="b"/>
              <a:pathLst>
                <a:path w="1707832" h="141922">
                  <a:moveTo>
                    <a:pt x="0" y="0"/>
                  </a:moveTo>
                  <a:lnTo>
                    <a:pt x="0" y="141922"/>
                  </a:lnTo>
                  <a:lnTo>
                    <a:pt x="1707832" y="141922"/>
                  </a:lnTo>
                  <a:lnTo>
                    <a:pt x="1707832" y="75247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984432" y="2756535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667000" y="1709738"/>
              <a:ext cx="1143000" cy="9715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74620" y="171735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19583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67000" y="2229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3918" y="3228975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70585" y="323659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3918" y="34775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63918" y="35728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70082" y="2966085"/>
              <a:ext cx="1143000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7702" y="2972752"/>
              <a:ext cx="1128712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70082" y="32146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0082" y="3485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2543" y="1769745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38247" y="2029301"/>
              <a:ext cx="886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myData: int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8247" y="2300764"/>
              <a:ext cx="59486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0670" y="3288982"/>
              <a:ext cx="709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SomeChild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5165" y="3643789"/>
              <a:ext cx="6369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operC()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5758" y="3026093"/>
              <a:ext cx="651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SomeNew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1330" y="3285649"/>
              <a:ext cx="873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some: Some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1330" y="3556159"/>
              <a:ext cx="594868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operC()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15740" y="261747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51262" y="26417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委托</a:t>
              </a:r>
            </a:p>
          </p:txBody>
        </p:sp>
      </p:grpSp>
      <p:grpSp>
        <p:nvGrpSpPr>
          <p:cNvPr id="37" name="c1-code-2"/>
          <p:cNvGrpSpPr/>
          <p:nvPr/>
        </p:nvGrpSpPr>
        <p:grpSpPr>
          <a:xfrm>
            <a:off x="533400" y="4386262"/>
            <a:ext cx="5410200" cy="1640205"/>
            <a:chOff x="533400" y="4386262"/>
            <a:chExt cx="5410200" cy="1640205"/>
          </a:xfrm>
        </p:grpSpPr>
        <p:sp>
          <p:nvSpPr>
            <p:cNvPr id="34" name="Rectangle 34"/>
            <p:cNvSpPr/>
            <p:nvPr/>
          </p:nvSpPr>
          <p:spPr>
            <a:xfrm>
              <a:off x="533400" y="4386262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1797" y="453818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416" y="4799648"/>
              <a:ext cx="312439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SomeNew {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组合版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some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operA() { some.operA();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operB() { some.operB();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operC()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新功能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248400" y="1524000"/>
            <a:ext cx="5410200" cy="2840355"/>
            <a:chOff x="6248400" y="1524000"/>
            <a:chExt cx="5410200" cy="2840355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914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807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286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48412" y="2054066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operC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62888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子类里新增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10750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新类里新增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2459831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 operA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2888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做不到，只能不用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10750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不转发即可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8412" y="2865596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 改名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2888" y="2865596"/>
              <a:ext cx="1357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 myOperA 转调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10750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只暴露新名字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8412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改形参或返回类型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2888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重载或新方法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10750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新签名只写在外层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8412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换数据表示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2888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子类另给一套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10750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新类另给一套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8412" y="40828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换算法实现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62888" y="40828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覆盖虚方法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10750" y="40828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新类自己实现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75811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70597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rd-2"/>
          <p:cNvGrpSpPr/>
          <p:nvPr/>
        </p:nvGrpSpPr>
        <p:grpSpPr>
          <a:xfrm>
            <a:off x="6248400" y="4539615"/>
            <a:ext cx="5410200" cy="1754505"/>
            <a:chOff x="6248400" y="4539615"/>
            <a:chExt cx="5410200" cy="1754505"/>
          </a:xfrm>
        </p:grpSpPr>
        <p:sp>
          <p:nvSpPr>
            <p:cNvPr id="72" name="Rectangle 72"/>
            <p:cNvSpPr/>
            <p:nvPr/>
          </p:nvSpPr>
          <p:spPr>
            <a:xfrm>
              <a:off x="6248400" y="4539615"/>
              <a:ext cx="5410200" cy="1754505"/>
            </a:xfrm>
            <a:prstGeom prst="roundRect">
              <a:avLst>
                <a:gd name="adj" fmla="val 76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33947" y="475392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33947" y="5073968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继承版仍然是 Some，可以传给只认 Some 的老代码；组合版不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Some，接不上。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33947" y="563403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组合版能挡住不想暴露的方法，继承版挡不住（子类删不掉父类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的接口）。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 · 辨别与运用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多种变化同时出现时，组合优先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586865"/>
            <a:chOff x="533400" y="1524000"/>
            <a:chExt cx="5626418" cy="1586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只用继承会发生什么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 有 3 种实现，operB 有 4 种实现，全靠派生子类就要写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× 4 = 12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个子类。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690336"/>
              <a:ext cx="4810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再加一种 operA 的实现，子类数量按乘法增长到 16 个。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290888"/>
            <a:ext cx="5626418" cy="1838325"/>
            <a:chOff x="533400" y="3290888"/>
            <a:chExt cx="5626418" cy="1838325"/>
          </a:xfrm>
        </p:grpSpPr>
        <p:sp>
          <p:nvSpPr>
            <p:cNvPr id="15" name="Rectangle 15"/>
            <p:cNvSpPr/>
            <p:nvPr/>
          </p:nvSpPr>
          <p:spPr>
            <a:xfrm>
              <a:off x="533400" y="3290888"/>
              <a:ext cx="5626418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24238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381" y="351234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改成委托：两个维度各自独立变化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3848576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operA 的实现抽成接口 IOperA，operB 的实现抽成接口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IOperB。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437221"/>
              <a:ext cx="48796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Some 持有这两个接口，3 + 4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个实现类就够，新增一种只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加一个类。</a:t>
              </a:r>
            </a:p>
          </p:txBody>
        </p:sp>
      </p:grpSp>
      <p:grpSp>
        <p:nvGrpSpPr>
          <p:cNvPr id="28" name="c1-bullets-3"/>
          <p:cNvGrpSpPr/>
          <p:nvPr/>
        </p:nvGrpSpPr>
        <p:grpSpPr>
          <a:xfrm>
            <a:off x="526161" y="5333524"/>
            <a:ext cx="4135818" cy="940689"/>
            <a:chOff x="526161" y="5333524"/>
            <a:chExt cx="4135818" cy="940689"/>
          </a:xfrm>
        </p:grpSpPr>
        <p:sp>
          <p:nvSpPr>
            <p:cNvPr id="21" name="TextBox 21"/>
            <p:cNvSpPr txBox="1"/>
            <p:nvPr/>
          </p:nvSpPr>
          <p:spPr>
            <a:xfrm>
              <a:off x="526161" y="533352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65689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1745" y="56962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293" y="566880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综合使用组合与继承，参照前面那些扩展形状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98360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1745" y="60229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4293" y="599551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组合优先：先想能不能委托出去，再考虑派生</a:t>
              </a:r>
            </a:p>
          </p:txBody>
        </p:sp>
      </p:grpSp>
      <p:grpSp>
        <p:nvGrpSpPr>
          <p:cNvPr id="66" name="c2-uml-1"/>
          <p:cNvGrpSpPr/>
          <p:nvPr/>
        </p:nvGrpSpPr>
        <p:grpSpPr>
          <a:xfrm>
            <a:off x="7191375" y="1595438"/>
            <a:ext cx="3740467" cy="3376612"/>
            <a:chOff x="7191375" y="1595438"/>
            <a:chExt cx="3740467" cy="3376612"/>
          </a:xfrm>
        </p:grpSpPr>
        <p:sp>
          <p:nvSpPr>
            <p:cNvPr id="29" name="Freeform 29"/>
            <p:cNvSpPr/>
            <p:nvPr/>
          </p:nvSpPr>
          <p:spPr>
            <a:xfrm>
              <a:off x="7762875" y="2952750"/>
              <a:ext cx="1203960" cy="210503"/>
            </a:xfrm>
            <a:custGeom>
              <a:avLst/>
              <a:gdLst/>
              <a:ahLst/>
              <a:cxnLst/>
              <a:rect l="l" t="t" r="r" b="b"/>
              <a:pathLst>
                <a:path w="1203960" h="210503">
                  <a:moveTo>
                    <a:pt x="0" y="210503"/>
                  </a:moveTo>
                  <a:lnTo>
                    <a:pt x="0" y="0"/>
                  </a:lnTo>
                  <a:lnTo>
                    <a:pt x="1203960" y="0"/>
                  </a:lnTo>
                  <a:lnTo>
                    <a:pt x="12039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908732" y="2743200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0"/>
                  </a:moveTo>
                  <a:lnTo>
                    <a:pt x="115253" y="104775"/>
                  </a:lnTo>
                  <a:lnTo>
                    <a:pt x="58103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157335" y="2952750"/>
              <a:ext cx="1203008" cy="210503"/>
            </a:xfrm>
            <a:custGeom>
              <a:avLst/>
              <a:gdLst/>
              <a:ahLst/>
              <a:cxnLst/>
              <a:rect l="l" t="t" r="r" b="b"/>
              <a:pathLst>
                <a:path w="1203008" h="210503">
                  <a:moveTo>
                    <a:pt x="1203008" y="210503"/>
                  </a:moveTo>
                  <a:lnTo>
                    <a:pt x="120300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99232" y="2743200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0"/>
                  </a:moveTo>
                  <a:lnTo>
                    <a:pt x="115253" y="104775"/>
                  </a:lnTo>
                  <a:lnTo>
                    <a:pt x="58103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762875" y="3881438"/>
              <a:ext cx="9525" cy="646747"/>
            </a:xfrm>
            <a:custGeom>
              <a:avLst/>
              <a:gdLst/>
              <a:ahLst/>
              <a:cxnLst/>
              <a:rect l="l" t="t" r="r" b="b"/>
              <a:pathLst>
                <a:path w="9525" h="646747">
                  <a:moveTo>
                    <a:pt x="0" y="64674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7689532" y="37557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360342" y="3881438"/>
              <a:ext cx="9525" cy="646747"/>
            </a:xfrm>
            <a:custGeom>
              <a:avLst/>
              <a:gdLst/>
              <a:ahLst/>
              <a:cxnLst/>
              <a:rect l="l" t="t" r="r" b="b"/>
              <a:pathLst>
                <a:path w="9525" h="646747">
                  <a:moveTo>
                    <a:pt x="0" y="64674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87000" y="375570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490585" y="1595438"/>
              <a:ext cx="1143000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497252" y="160305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490585" y="1844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490585" y="22907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91375" y="3163252"/>
              <a:ext cx="1143000" cy="5924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98995" y="3170872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91375" y="3560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91375" y="3655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788842" y="3163252"/>
              <a:ext cx="1143000" cy="5924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95510" y="3170872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88842" y="3560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88842" y="3655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91375" y="452818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98995" y="4534852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91375" y="47767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91375" y="48720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788842" y="452818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95510" y="4534852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88842" y="47767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88842" y="48720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76128" y="1655445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Some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1832" y="1915001"/>
              <a:ext cx="69443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a: IOperA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b: IOperB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1832" y="2361724"/>
              <a:ext cx="594868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operB()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6754" y="322040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09535" y="3371850"/>
              <a:ext cx="50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IOperA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4222" y="322040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07003" y="3371850"/>
              <a:ext cx="506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IOperB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91928" y="4588192"/>
              <a:ext cx="54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OperA1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89395" y="4588192"/>
              <a:ext cx="54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OperB1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6464618" y="5575935"/>
            <a:ext cx="5193982" cy="756285"/>
            <a:chOff x="6464618" y="5575935"/>
            <a:chExt cx="5193982" cy="756285"/>
          </a:xfrm>
        </p:grpSpPr>
        <p:sp>
          <p:nvSpPr>
            <p:cNvPr id="67" name="Rectangle 67"/>
            <p:cNvSpPr/>
            <p:nvPr/>
          </p:nvSpPr>
          <p:spPr>
            <a:xfrm>
              <a:off x="6464618" y="557593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669405" y="5854067"/>
              <a:ext cx="200023" cy="200023"/>
              <a:chOff x="6669405" y="585406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69405" y="58540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802755" y="5920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971729" y="5723096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谁来决定装配哪个实现？交给使用者或容器，Some 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己不 new，这就是依赖注入的雏形。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自测（一）：画法与方向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739771" cy="264033"/>
            <a:chOff x="526542" y="1545907"/>
            <a:chExt cx="27397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先自己在纸上画一遍，再看答案。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28750"/>
            <a:chOff x="533400" y="1928812"/>
            <a:chExt cx="5410200" cy="14287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实现关系的空心三角箭头指向哪一端？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指向接口。虚线从实现类出发，箭头落在接口上；泛化同理，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箭头落在父类上。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22345"/>
            <a:ext cx="5410200" cy="1185862"/>
            <a:chOff x="533400" y="3522345"/>
            <a:chExt cx="5410200" cy="1185862"/>
          </a:xfrm>
        </p:grpSpPr>
        <p:sp>
          <p:nvSpPr>
            <p:cNvPr id="15" name="Rectangle 15"/>
            <p:cNvSpPr/>
            <p:nvPr/>
          </p:nvSpPr>
          <p:spPr>
            <a:xfrm>
              <a:off x="533400" y="35223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04383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泛化与实现在图上怎么区分？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32863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只看线型。实线是泛化，虚线是实现，箭头都是空心三角。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873942"/>
            <a:ext cx="5410200" cy="1428750"/>
            <a:chOff x="533400" y="487394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533400" y="487394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" y="50549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3832" y="50877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7898" y="5394484"/>
              <a:ext cx="2623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关联线上写的 1 和 1..* 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7898" y="567928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多重度，写在靠近对应类的那一端，表示这一端可以对应几个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28812"/>
            <a:ext cx="5410200" cy="1185862"/>
            <a:chOff x="6248400" y="1928812"/>
            <a:chExt cx="5410200" cy="1185862"/>
          </a:xfrm>
        </p:grpSpPr>
        <p:sp>
          <p:nvSpPr>
            <p:cNvPr id="27" name="Rectangle 27"/>
            <p:cNvSpPr/>
            <p:nvPr/>
          </p:nvSpPr>
          <p:spPr>
            <a:xfrm>
              <a:off x="6248400" y="192881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24493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聚合的空心菱形画在整体端还是部分端？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273510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整体端。菱形不是箭头，线的另一端才是部分。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279458"/>
            <a:ext cx="5410200" cy="1185862"/>
            <a:chOff x="6248400" y="3279458"/>
            <a:chExt cx="5410200" cy="1185862"/>
          </a:xfrm>
        </p:grpSpPr>
        <p:sp>
          <p:nvSpPr>
            <p:cNvPr id="33" name="Rectangle 33"/>
            <p:cNvSpPr/>
            <p:nvPr/>
          </p:nvSpPr>
          <p:spPr>
            <a:xfrm>
              <a:off x="6248400" y="327945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29375" y="34604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8832" y="34932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2898" y="38009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六种关系由弱到强怎么排？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2898" y="4085749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 &lt; 关联 &lt; 聚合 &lt; 组合 &lt; 泛化/实现。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631055"/>
            <a:ext cx="5410200" cy="1671638"/>
            <a:chOff x="6248400" y="4631055"/>
            <a:chExt cx="5410200" cy="1671638"/>
          </a:xfrm>
        </p:grpSpPr>
        <p:sp>
          <p:nvSpPr>
            <p:cNvPr id="39" name="Rectangle 39"/>
            <p:cNvSpPr/>
            <p:nvPr/>
          </p:nvSpPr>
          <p:spPr>
            <a:xfrm>
              <a:off x="6248400" y="4631055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29375" y="481203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18832" y="48448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2898" y="515159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一个类既继承另一个类又把它当成员，图上怎么画？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2898" y="5436394"/>
              <a:ext cx="46702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两条线都画，例如 Grid 与 Rect 之间是泛化，Grid 与 Shape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之间是组合。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自测（二）：判别与例题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4793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A { void f(B b) { b.g(); } } 中 A 与 B 是什么关系？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3995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依赖。B 只是形参，方法结束后 A 不再持有它。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74645"/>
            <a:ext cx="5410200" cy="1428750"/>
            <a:chOff x="533400" y="2874645"/>
            <a:chExt cx="5410200" cy="1428750"/>
          </a:xfrm>
        </p:grpSpPr>
        <p:sp>
          <p:nvSpPr>
            <p:cNvPr id="13" name="Rectangle 13"/>
            <p:cNvSpPr/>
            <p:nvPr/>
          </p:nvSpPr>
          <p:spPr>
            <a:xfrm>
              <a:off x="533400" y="2874645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396139"/>
              <a:ext cx="2493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Grid 内部的矩形为什么算组合？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680936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它们在 Grid 的构造函数里创建，随 Grid 一起销毁，也不被别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的图元共享。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69130"/>
            <a:ext cx="5410200" cy="1185862"/>
            <a:chOff x="533400" y="4469130"/>
            <a:chExt cx="5410200" cy="1185862"/>
          </a:xfrm>
        </p:grpSpPr>
        <p:sp>
          <p:nvSpPr>
            <p:cNvPr id="19" name="Rectangle 19"/>
            <p:cNvSpPr/>
            <p:nvPr/>
          </p:nvSpPr>
          <p:spPr>
            <a:xfrm>
              <a:off x="533400" y="446913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98967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双向关联多出哪些负担？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27542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两端要同步维护，解除关系要清空两边，两个类还互相依赖。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28750"/>
            <a:chOff x="6248400" y="1524000"/>
            <a:chExt cx="54102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480969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Dorm 里存着 Student 数组，删除宿舍时不销毁学生，是聚合还是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57317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聚合。学生由外部创建，宿舍拆了学生仍在。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17532"/>
            <a:ext cx="5410200" cy="1185862"/>
            <a:chOff x="6248400" y="3117532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311753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639026"/>
              <a:ext cx="3452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a(10,200,7,8) 打 b(10,180,8,7) 谁赢？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923824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赢。b 要挨 26 击，a 只能挨 25 击。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469130"/>
            <a:ext cx="5410200" cy="1185862"/>
            <a:chOff x="6248400" y="4469130"/>
            <a:chExt cx="5410200" cy="1185862"/>
          </a:xfrm>
        </p:grpSpPr>
        <p:sp>
          <p:nvSpPr>
            <p:cNvPr id="37" name="Rectangle 37"/>
            <p:cNvSpPr/>
            <p:nvPr/>
          </p:nvSpPr>
          <p:spPr>
            <a:xfrm>
              <a:off x="6248400" y="446913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989671"/>
              <a:ext cx="4819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 有 3 种实现、operB 有 4 种，继承和组合各要几个类？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27542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 12 个子类，组合 7 个实现类。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第四题的快算法：先算每击伤害，再算各自能挨几击，最后按先手顺序比谁先耗完。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 类图与关系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3525"/>
            <a:ext cx="5193640" cy="1726215"/>
            <a:chOff x="533400" y="1533525"/>
            <a:chExt cx="5193640" cy="172621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类画成三栏矩形，可见性 + - # ~，接口 «interface»，抽象斜体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依赖最弱，只出现在参数、局部变量、返回值和静态调用里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关联是长期持有的字段，分单向、自身、双向三种形态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聚合与组合都是整体与部分，菱形一律画在整体端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泛化与实现的箭头都指向父类型，实线是泛化，虚线是实现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9942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350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1037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变化分职责与实现两类，继承与组合各有适用面，优先组合</a:t>
              </a:r>
            </a:p>
          </p:txBody>
        </p:sp>
      </p:grpSp>
      <p:grpSp>
        <p:nvGrpSpPr>
          <p:cNvPr id="43" name="c1-kv-2"/>
          <p:cNvGrpSpPr/>
          <p:nvPr/>
        </p:nvGrpSpPr>
        <p:grpSpPr>
          <a:xfrm>
            <a:off x="526923" y="3395186"/>
            <a:ext cx="5632895" cy="2120074"/>
            <a:chOff x="526923" y="3395186"/>
            <a:chExt cx="5632895" cy="212007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3395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3663" y="339518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方法参数、局部变量、返回值、静态调用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71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23" y="37695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关联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3663" y="376951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字段，从外部获得，长期持有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0414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923" y="4143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663" y="41438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字段，整体不负责销毁部分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157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923" y="4517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3663" y="45172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字段，整体创建并销毁部分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891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923" y="48915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3663" y="4891564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extends，父类里有实现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1635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923" y="5265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3663" y="5265896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implements，接口里只有签名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464618" y="1524000"/>
            <a:ext cx="5193982" cy="2669858"/>
            <a:chOff x="6464618" y="1524000"/>
            <a:chExt cx="5193982" cy="2669858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22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3069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5929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90829" y="2023110"/>
              <a:ext cx="3459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虚线管"临时"和"只有约定"，实线管"长期"和"有实现"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9296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90829" y="240411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开放箭头指使用者的对象，三角指父类型，菱形指整体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9296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90829" y="278511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先看继承，再看字段，最后看语义和生命周期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9296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90829" y="316706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三角画反、菱形画在部分端、把方法参数当成关联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296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90829" y="354806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依赖与关联的箭头指向被用的一方，泛化与实现指向父类型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3807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64618" y="3811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9296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90829" y="3930015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1、0..1、*、1..* 写在靠近对应类的那一端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1524000"/>
              <a:ext cx="5193982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29138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464618" y="4358640"/>
            <a:ext cx="5193982" cy="1125855"/>
            <a:chOff x="6464618" y="4358640"/>
            <a:chExt cx="5193982" cy="1125855"/>
          </a:xfrm>
        </p:grpSpPr>
        <p:sp>
          <p:nvSpPr>
            <p:cNvPr id="70" name="Rectangle 70"/>
            <p:cNvSpPr/>
            <p:nvPr/>
          </p:nvSpPr>
          <p:spPr>
            <a:xfrm>
              <a:off x="6464618" y="4358640"/>
              <a:ext cx="5193982" cy="1125855"/>
            </a:xfrm>
            <a:prstGeom prst="roundRect">
              <a:avLst>
                <a:gd name="adj" fmla="val 11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4142" y="4491990"/>
              <a:ext cx="47625" cy="859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77216" y="45600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77216" y="486203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第三讲的面向对象设计原则，讲的就是这六种关系该怎么挑：什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么时候用继承，什么时候改成组合，什么时候只留一条依赖。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464618" y="5649278"/>
            <a:ext cx="5193982" cy="702945"/>
            <a:chOff x="6464618" y="5649278"/>
            <a:chExt cx="5193982" cy="702945"/>
          </a:xfrm>
        </p:grpSpPr>
        <p:sp>
          <p:nvSpPr>
            <p:cNvPr id="75" name="Rectangle 75"/>
            <p:cNvSpPr/>
            <p:nvPr/>
          </p:nvSpPr>
          <p:spPr>
            <a:xfrm>
              <a:off x="6464618" y="564927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669405" y="5900740"/>
              <a:ext cx="200023" cy="200023"/>
              <a:chOff x="6669405" y="590074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669405" y="59007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802755" y="59674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972491" y="5794534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后面每学一个模式，先看它的类图用了哪几种关系，模式的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结构就记住了一半。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84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UML 类图与类间关系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01">
  <a:themeElements>
    <a:clrScheme name="sdp_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0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2026-09-23T06:10:21Z</dcterms:created>
  <dcterms:modified xsi:type="dcterms:W3CDTF">2026-09-23T06:10:21Z</dcterms:modified>
  <cp:category/>
  <cp:contentStatus/>
</cp:coreProperties>
</file>