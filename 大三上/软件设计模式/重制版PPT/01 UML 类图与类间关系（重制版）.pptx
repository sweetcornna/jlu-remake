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sdp_01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sdp_01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8c21233fc0e520ce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b94da1728658d3b5.png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06d0f5b9ddbe2f21.png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6750" y="1619250"/>
            <a:ext cx="5344577" cy="3437763"/>
            <a:chOff x="666750" y="1619250"/>
            <a:chExt cx="5344577" cy="3437763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1898332" cy="3429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804866" y="1718310"/>
              <a:ext cx="16611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软件设计模式 · 第二讲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2407920"/>
              <a:ext cx="5344577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UML 类图与类间关系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147060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3467100"/>
              <a:ext cx="413766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六种关系的画法、判别依据与代码形态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397668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3921442"/>
              <a:ext cx="12111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类的 UML 画法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26720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21195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依赖与关联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455771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4502468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聚合与组合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484822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479298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泛化与实现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5940342" cy="205359"/>
            <a:chOff x="680466" y="6192202"/>
            <a:chExt cx="5940342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59403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自学复习版｜据吉林大学《软件设计模式》张欣佳老师课件与 2018 年讲义合并整理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186815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3337" y="407194"/>
              <a:ext cx="9869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01 类图与关系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本讲学习路线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0" name="c1-agenda-1"/>
          <p:cNvGrpSpPr/>
          <p:nvPr/>
        </p:nvGrpSpPr>
        <p:grpSpPr>
          <a:xfrm>
            <a:off x="521970" y="1515428"/>
            <a:ext cx="6287453" cy="4461795"/>
            <a:chOff x="521970" y="1515428"/>
            <a:chExt cx="6287453" cy="4461795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151542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65086" y="155162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类图基础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66990" y="1868329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类的三栏矩形、可见性符号、六种关系速览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73468" y="218122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1970" y="2286952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5086" y="2323148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6990" y="2639854"/>
              <a:ext cx="38038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最弱的关系：用完就走，以及依赖抽象带来的好处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73468" y="2953702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1970" y="305847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5086" y="3094673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关联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6990" y="3412331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长期持有：单向、自身、双向与多重度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73468" y="3725228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1970" y="3830955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5086" y="3867150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聚合与组合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6990" y="4183856"/>
              <a:ext cx="34592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整体与部分：菱形画在哪一端，生命周期谁管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73468" y="449770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1970" y="4602480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5086" y="463867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泛化与实现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6990" y="4955381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空心三角箭头的两种线型，继承与接口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1073468" y="5269230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21970" y="537495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65086" y="541115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辨别与运用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66990" y="5727859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判别流程、看代码判关系、用关系适应变化</a:t>
              </a:r>
            </a:p>
          </p:txBody>
        </p:sp>
      </p:grpSp>
      <p:grpSp>
        <p:nvGrpSpPr>
          <p:cNvPr id="45" name="c2-card-1"/>
          <p:cNvGrpSpPr/>
          <p:nvPr/>
        </p:nvGrpSpPr>
        <p:grpSpPr>
          <a:xfrm>
            <a:off x="7114222" y="1524000"/>
            <a:ext cx="4544378" cy="4402455"/>
            <a:chOff x="7114222" y="1524000"/>
            <a:chExt cx="4544378" cy="4402455"/>
          </a:xfrm>
        </p:grpSpPr>
        <p:sp>
          <p:nvSpPr>
            <p:cNvPr id="31" name="Rectangle 31"/>
            <p:cNvSpPr/>
            <p:nvPr/>
          </p:nvSpPr>
          <p:spPr>
            <a:xfrm>
              <a:off x="7114222" y="1524000"/>
              <a:ext cx="4544378" cy="4402455"/>
            </a:xfrm>
            <a:prstGeom prst="roundRect">
              <a:avLst>
                <a:gd name="adj" fmla="val 302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123748" y="1657350"/>
              <a:ext cx="47625" cy="4135755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25702" y="211074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画出六种关系的标准符号，并说清箭头和菱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形各在哪一端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67588" y="279463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25702" y="2731770"/>
              <a:ext cx="3444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给一段代码，判断两个类之间是依赖、关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联、聚合还是组合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67588" y="341566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25702" y="335280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说出聚合与组合的唯一区别，并举出各自的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例子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7367588" y="403669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525702" y="397383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用依赖抽象改写重载爆炸的代码，并画出改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写后的类图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367588" y="465772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525702" y="459486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面对职责变化与实现变化，分别给出继承与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组合两种应对方案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21849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UML 类图与类间关系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4691253" cy="2997517"/>
            <a:chOff x="667512" y="1835468"/>
            <a:chExt cx="4691253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第一部分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197510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类图基础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68134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先把一个类怎么画清楚，再谈两个类之间怎么连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68554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UML 里类图的位置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三栏矩形与可见性符号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六种关系速览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1849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UML 类图与类间关系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145280" cy="909257"/>
            <a:chOff x="520446" y="342900"/>
            <a:chExt cx="41452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2786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1281" y="407194"/>
              <a:ext cx="17720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01 类图与关系 · 类图基础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1452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类图是设计模式的通用语言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8247477" cy="308039"/>
            <a:chOff x="525399" y="1550194"/>
            <a:chExt cx="8247477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8247477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后面 23 个模式，每一个都用一张类图说明结构。看不懂类图，模式就只剩下文字描述。</a:t>
              </a:r>
            </a:p>
          </p:txBody>
        </p:sp>
      </p:grpSp>
      <p:grpSp>
        <p:nvGrpSpPr>
          <p:cNvPr id="19" name="c1-card-1"/>
          <p:cNvGrpSpPr/>
          <p:nvPr/>
        </p:nvGrpSpPr>
        <p:grpSpPr>
          <a:xfrm>
            <a:off x="533400" y="1967865"/>
            <a:ext cx="4977765" cy="2291715"/>
            <a:chOff x="533400" y="1967865"/>
            <a:chExt cx="4977765" cy="2291715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4977765" cy="2291715"/>
            </a:xfrm>
            <a:prstGeom prst="roundRect">
              <a:avLst>
                <a:gd name="adj" fmla="val 581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101215"/>
              <a:ext cx="47625" cy="2025015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81050" y="217741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71258" y="221313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2078" y="2212658"/>
              <a:ext cx="223553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类图（Class Diagram）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73430" y="2573655"/>
              <a:ext cx="4206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描述系统中的类、类的内部结构，以及类与类之间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静态关系的图。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6765" y="3257550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4880" y="3194685"/>
              <a:ext cx="40728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它是 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静态结构图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，只画结构，不画运行时的先后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顺序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86765" y="3878580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44880" y="3815715"/>
              <a:ext cx="387210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设计模式那一节的"结构"图，画的就是类图</a:t>
              </a:r>
            </a:p>
          </p:txBody>
        </p:sp>
      </p:grpSp>
      <p:grpSp>
        <p:nvGrpSpPr>
          <p:cNvPr id="28" name="c1-kv-2"/>
          <p:cNvGrpSpPr/>
          <p:nvPr/>
        </p:nvGrpSpPr>
        <p:grpSpPr>
          <a:xfrm>
            <a:off x="525780" y="4474845"/>
            <a:ext cx="4985385" cy="1173480"/>
            <a:chOff x="525780" y="4474845"/>
            <a:chExt cx="4985385" cy="1173480"/>
          </a:xfrm>
        </p:grpSpPr>
        <p:sp>
          <p:nvSpPr>
            <p:cNvPr id="20" name="TextBox 20"/>
            <p:cNvSpPr txBox="1"/>
            <p:nvPr/>
          </p:nvSpPr>
          <p:spPr>
            <a:xfrm>
              <a:off x="525780" y="447484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类图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68742" y="4474845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画类、接口以及它们之间的六种关系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4794885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5780" y="491490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对象图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368742" y="4914900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画某一刻的具体对象和链接，是类图的快照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5234940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25780" y="535495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顺序图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368742" y="5354955"/>
              <a:ext cx="36499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画对象之间消息的时间顺序，属于行为图</a:t>
              </a:r>
            </a:p>
          </p:txBody>
        </p:sp>
      </p:grpSp>
      <p:grpSp>
        <p:nvGrpSpPr>
          <p:cNvPr id="61" name="c2-tree-1"/>
          <p:cNvGrpSpPr/>
          <p:nvPr/>
        </p:nvGrpSpPr>
        <p:grpSpPr>
          <a:xfrm>
            <a:off x="5815965" y="1977390"/>
            <a:ext cx="5842635" cy="3123248"/>
            <a:chOff x="5815965" y="1977390"/>
            <a:chExt cx="5842635" cy="3123248"/>
          </a:xfrm>
        </p:grpSpPr>
        <p:sp>
          <p:nvSpPr>
            <p:cNvPr id="29" name="Freeform 29"/>
            <p:cNvSpPr/>
            <p:nvPr/>
          </p:nvSpPr>
          <p:spPr>
            <a:xfrm>
              <a:off x="9742170" y="2164080"/>
              <a:ext cx="419100" cy="589598"/>
            </a:xfrm>
            <a:custGeom>
              <a:avLst/>
              <a:gdLst/>
              <a:ahLst/>
              <a:cxnLst/>
              <a:rect l="l" t="t" r="r" b="b"/>
              <a:pathLst>
                <a:path w="419100" h="589598">
                  <a:moveTo>
                    <a:pt x="0" y="589598"/>
                  </a:moveTo>
                  <a:lnTo>
                    <a:pt x="209550" y="589598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9742170" y="2556510"/>
              <a:ext cx="419100" cy="197168"/>
            </a:xfrm>
            <a:custGeom>
              <a:avLst/>
              <a:gdLst/>
              <a:ahLst/>
              <a:cxnLst/>
              <a:rect l="l" t="t" r="r" b="b"/>
              <a:pathLst>
                <a:path w="419100" h="197168">
                  <a:moveTo>
                    <a:pt x="0" y="197168"/>
                  </a:moveTo>
                  <a:lnTo>
                    <a:pt x="209550" y="197168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9742170" y="2753678"/>
              <a:ext cx="419100" cy="196215"/>
            </a:xfrm>
            <a:custGeom>
              <a:avLst/>
              <a:gdLst/>
              <a:ahLst/>
              <a:cxnLst/>
              <a:rect l="l" t="t" r="r" b="b"/>
              <a:pathLst>
                <a:path w="419100" h="196215">
                  <a:moveTo>
                    <a:pt x="0" y="0"/>
                  </a:moveTo>
                  <a:lnTo>
                    <a:pt x="209550" y="0"/>
                  </a:lnTo>
                  <a:lnTo>
                    <a:pt x="209550" y="196215"/>
                  </a:lnTo>
                  <a:lnTo>
                    <a:pt x="419100" y="196215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9742170" y="2753678"/>
              <a:ext cx="419100" cy="588645"/>
            </a:xfrm>
            <a:custGeom>
              <a:avLst/>
              <a:gdLst/>
              <a:ahLst/>
              <a:cxnLst/>
              <a:rect l="l" t="t" r="r" b="b"/>
              <a:pathLst>
                <a:path w="419100" h="588645">
                  <a:moveTo>
                    <a:pt x="0" y="0"/>
                  </a:moveTo>
                  <a:lnTo>
                    <a:pt x="209550" y="0"/>
                  </a:lnTo>
                  <a:lnTo>
                    <a:pt x="209550" y="588645"/>
                  </a:lnTo>
                  <a:lnTo>
                    <a:pt x="419100" y="588645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9742170" y="3735705"/>
              <a:ext cx="419100" cy="589598"/>
            </a:xfrm>
            <a:custGeom>
              <a:avLst/>
              <a:gdLst/>
              <a:ahLst/>
              <a:cxnLst/>
              <a:rect l="l" t="t" r="r" b="b"/>
              <a:pathLst>
                <a:path w="419100" h="589598">
                  <a:moveTo>
                    <a:pt x="0" y="589598"/>
                  </a:moveTo>
                  <a:lnTo>
                    <a:pt x="209550" y="589598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9742170" y="4128135"/>
              <a:ext cx="419100" cy="197168"/>
            </a:xfrm>
            <a:custGeom>
              <a:avLst/>
              <a:gdLst/>
              <a:ahLst/>
              <a:cxnLst/>
              <a:rect l="l" t="t" r="r" b="b"/>
              <a:pathLst>
                <a:path w="419100" h="197168">
                  <a:moveTo>
                    <a:pt x="0" y="197168"/>
                  </a:moveTo>
                  <a:lnTo>
                    <a:pt x="209550" y="197168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9742170" y="4325302"/>
              <a:ext cx="419100" cy="196215"/>
            </a:xfrm>
            <a:custGeom>
              <a:avLst/>
              <a:gdLst/>
              <a:ahLst/>
              <a:cxnLst/>
              <a:rect l="l" t="t" r="r" b="b"/>
              <a:pathLst>
                <a:path w="419100" h="196215">
                  <a:moveTo>
                    <a:pt x="0" y="0"/>
                  </a:moveTo>
                  <a:lnTo>
                    <a:pt x="209550" y="0"/>
                  </a:lnTo>
                  <a:lnTo>
                    <a:pt x="209550" y="196215"/>
                  </a:lnTo>
                  <a:lnTo>
                    <a:pt x="419100" y="196215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9742170" y="4325302"/>
              <a:ext cx="419100" cy="588645"/>
            </a:xfrm>
            <a:custGeom>
              <a:avLst/>
              <a:gdLst/>
              <a:ahLst/>
              <a:cxnLst/>
              <a:rect l="l" t="t" r="r" b="b"/>
              <a:pathLst>
                <a:path w="419100" h="588645">
                  <a:moveTo>
                    <a:pt x="0" y="0"/>
                  </a:moveTo>
                  <a:lnTo>
                    <a:pt x="209550" y="0"/>
                  </a:lnTo>
                  <a:lnTo>
                    <a:pt x="209550" y="588645"/>
                  </a:lnTo>
                  <a:lnTo>
                    <a:pt x="419100" y="588645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7824788" y="2753678"/>
              <a:ext cx="419100" cy="785812"/>
            </a:xfrm>
            <a:custGeom>
              <a:avLst/>
              <a:gdLst/>
              <a:ahLst/>
              <a:cxnLst/>
              <a:rect l="l" t="t" r="r" b="b"/>
              <a:pathLst>
                <a:path w="419100" h="785812">
                  <a:moveTo>
                    <a:pt x="0" y="785812"/>
                  </a:moveTo>
                  <a:lnTo>
                    <a:pt x="209550" y="785812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7824788" y="3539490"/>
              <a:ext cx="419100" cy="785812"/>
            </a:xfrm>
            <a:custGeom>
              <a:avLst/>
              <a:gdLst/>
              <a:ahLst/>
              <a:cxnLst/>
              <a:rect l="l" t="t" r="r" b="b"/>
              <a:pathLst>
                <a:path w="419100" h="785812">
                  <a:moveTo>
                    <a:pt x="0" y="0"/>
                  </a:moveTo>
                  <a:lnTo>
                    <a:pt x="209550" y="0"/>
                  </a:lnTo>
                  <a:lnTo>
                    <a:pt x="209550" y="785812"/>
                  </a:lnTo>
                  <a:lnTo>
                    <a:pt x="419100" y="785812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10161270" y="1977390"/>
              <a:ext cx="1497330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10161270" y="2370772"/>
              <a:ext cx="1497330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10161270" y="2763202"/>
              <a:ext cx="1497330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10161270" y="3156585"/>
              <a:ext cx="1497330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8243888" y="2566988"/>
              <a:ext cx="1497330" cy="372428"/>
            </a:xfrm>
            <a:prstGeom prst="roundRect">
              <a:avLst>
                <a:gd name="adj" fmla="val 25575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10161270" y="3549015"/>
              <a:ext cx="1497330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10161270" y="3942398"/>
              <a:ext cx="1497330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10161270" y="4334828"/>
              <a:ext cx="1497330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10161270" y="4728210"/>
              <a:ext cx="1497330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8243888" y="4138612"/>
              <a:ext cx="1497330" cy="372428"/>
            </a:xfrm>
            <a:prstGeom prst="roundRect">
              <a:avLst>
                <a:gd name="adj" fmla="val 25575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5815965" y="3352800"/>
              <a:ext cx="2009775" cy="372428"/>
            </a:xfrm>
            <a:prstGeom prst="roundRect">
              <a:avLst>
                <a:gd name="adj" fmla="val 25575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10250043" y="207502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类图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0250043" y="246745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对象图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0250043" y="286083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构件图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0250043" y="325326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部署图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332661" y="2664619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结构图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0250043" y="3646646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用例图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0250043" y="4039076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顺序图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0250043" y="4432459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状态图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0250043" y="4824889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活动图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332661" y="423624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行为图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5904738" y="3450431"/>
              <a:ext cx="11034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UML 2 常用图</a:t>
              </a:r>
            </a:p>
          </p:txBody>
        </p:sp>
      </p:grpSp>
      <p:grpSp>
        <p:nvGrpSpPr>
          <p:cNvPr id="67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62" name="Rectangle 62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65" name="Group 65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6" name="TextBox 66"/>
            <p:cNvSpPr txBox="1"/>
            <p:nvPr/>
          </p:nvSpPr>
          <p:spPr>
            <a:xfrm>
              <a:off x="1040130" y="5991225"/>
              <a:ext cx="64770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本讲只讲类图；类图里真正要记的是六种关系的线型、端点符号和方向。</a:t>
              </a:r>
            </a:p>
          </p:txBody>
        </p:sp>
      </p:grpSp>
      <p:grpSp>
        <p:nvGrpSpPr>
          <p:cNvPr id="7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8" name="TextBox 68"/>
            <p:cNvSpPr txBox="1"/>
            <p:nvPr/>
          </p:nvSpPr>
          <p:spPr>
            <a:xfrm>
              <a:off x="528447" y="6581299"/>
              <a:ext cx="21849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UML 类图与类间关系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2786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1281" y="407194"/>
              <a:ext cx="17720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01 类图与关系 · 类图基础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一个类画成三栏矩形：类名、属性、操作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6" name="c1-table-1"/>
          <p:cNvGrpSpPr/>
          <p:nvPr/>
        </p:nvGrpSpPr>
        <p:grpSpPr>
          <a:xfrm>
            <a:off x="533400" y="1524000"/>
            <a:ext cx="5842635" cy="1623060"/>
            <a:chOff x="533400" y="1524000"/>
            <a:chExt cx="5842635" cy="162306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40576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44588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位置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597188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写法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051781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例子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3412" y="205406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第一栏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568768" y="2054066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类名（接口加 «interface»）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39565" y="2054066"/>
              <a:ext cx="5966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Student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33076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335530"/>
              <a:ext cx="584263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3412" y="245983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第二栏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568768" y="2459831"/>
              <a:ext cx="18659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可见性 名称: 类型 = 默认值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139565" y="2459831"/>
              <a:ext cx="10955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name: String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73653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3412" y="286559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第三栏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568768" y="2865596"/>
              <a:ext cx="2009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可见性 名称(参数): 返回类型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139565" y="2865596"/>
              <a:ext cx="2113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enroll(c: Course): boolean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1524000"/>
              <a:ext cx="5842635" cy="162306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1463992" y="1524000"/>
              <a:ext cx="9525" cy="16230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4034790" y="1524000"/>
              <a:ext cx="9525" cy="16230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8" name="c1-kv-2"/>
          <p:cNvGrpSpPr/>
          <p:nvPr/>
        </p:nvGrpSpPr>
        <p:grpSpPr>
          <a:xfrm>
            <a:off x="526542" y="3344227"/>
            <a:ext cx="5849493" cy="1457516"/>
            <a:chOff x="526542" y="3344227"/>
            <a:chExt cx="5849493" cy="1457516"/>
          </a:xfrm>
        </p:grpSpPr>
        <p:sp>
          <p:nvSpPr>
            <p:cNvPr id="27" name="TextBox 27"/>
            <p:cNvSpPr txBox="1"/>
            <p:nvPr/>
          </p:nvSpPr>
          <p:spPr>
            <a:xfrm>
              <a:off x="526542" y="3344227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+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77062" y="3344227"/>
              <a:ext cx="17947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public，任何类可访问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363378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526542" y="3742372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-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77062" y="3742372"/>
              <a:ext cx="212186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private，只有本类可访问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403098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26542" y="4140518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#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77062" y="4140518"/>
              <a:ext cx="254894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protected，本类与子类可访问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3400" y="442912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26542" y="4537710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~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77062" y="4537710"/>
              <a:ext cx="19855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package，同包内可访问</a:t>
              </a:r>
            </a:p>
          </p:txBody>
        </p:sp>
      </p:grpSp>
      <p:grpSp>
        <p:nvGrpSpPr>
          <p:cNvPr id="43" name="c1-bullets-3"/>
          <p:cNvGrpSpPr/>
          <p:nvPr/>
        </p:nvGrpSpPr>
        <p:grpSpPr>
          <a:xfrm>
            <a:off x="542925" y="4942999"/>
            <a:ext cx="4102852" cy="491490"/>
            <a:chOff x="542925" y="4942999"/>
            <a:chExt cx="4102852" cy="491490"/>
          </a:xfrm>
        </p:grpSpPr>
        <p:sp>
          <p:nvSpPr>
            <p:cNvPr id="39" name="Ellipse 39"/>
            <p:cNvSpPr/>
            <p:nvPr/>
          </p:nvSpPr>
          <p:spPr>
            <a:xfrm>
              <a:off x="542925" y="4985385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99135" y="4942999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抽象类、抽象方法用 </a:t>
              </a:r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斜体</a:t>
              </a: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，也可以在名字后写 {abstract}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542925" y="5257800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99135" y="5214461"/>
              <a:ext cx="38260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静态成员加 </a:t>
              </a:r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下划线</a:t>
              </a: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；属性栏、操作栏为空时可以整栏省略</a:t>
              </a:r>
            </a:p>
          </p:txBody>
        </p:sp>
      </p:grpSp>
      <p:grpSp>
        <p:nvGrpSpPr>
          <p:cNvPr id="60" name="c2-uml-1"/>
          <p:cNvGrpSpPr/>
          <p:nvPr/>
        </p:nvGrpSpPr>
        <p:grpSpPr>
          <a:xfrm>
            <a:off x="8228648" y="1593532"/>
            <a:ext cx="1882140" cy="2770824"/>
            <a:chOff x="8228648" y="1593532"/>
            <a:chExt cx="1882140" cy="2770824"/>
          </a:xfrm>
        </p:grpSpPr>
        <p:sp>
          <p:nvSpPr>
            <p:cNvPr id="44" name="Freeform 44"/>
            <p:cNvSpPr/>
            <p:nvPr/>
          </p:nvSpPr>
          <p:spPr>
            <a:xfrm>
              <a:off x="9169718" y="3091815"/>
              <a:ext cx="9525" cy="378142"/>
            </a:xfrm>
            <a:custGeom>
              <a:avLst/>
              <a:gdLst/>
              <a:ahLst/>
              <a:cxnLst/>
              <a:rect l="l" t="t" r="r" b="b"/>
              <a:pathLst>
                <a:path w="9525" h="378142">
                  <a:moveTo>
                    <a:pt x="0" y="0"/>
                  </a:moveTo>
                  <a:lnTo>
                    <a:pt x="0" y="378142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45" name="Freeform 45"/>
            <p:cNvSpPr/>
            <p:nvPr/>
          </p:nvSpPr>
          <p:spPr>
            <a:xfrm>
              <a:off x="9096375" y="3469958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125730"/>
                  </a:moveTo>
                  <a:lnTo>
                    <a:pt x="0" y="0"/>
                  </a:lnTo>
                  <a:lnTo>
                    <a:pt x="146685" y="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8228648" y="1593532"/>
              <a:ext cx="1882140" cy="1499235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8236268" y="1600200"/>
              <a:ext cx="1867852" cy="24574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8228648" y="1842135"/>
              <a:ext cx="188214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8228648" y="2465070"/>
              <a:ext cx="188214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8598218" y="3595688"/>
              <a:ext cx="1143000" cy="76866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8605838" y="3603308"/>
              <a:ext cx="1128712" cy="39433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8598218" y="399288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8598218" y="408813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8876368" y="1653540"/>
              <a:ext cx="58670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Student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299894" y="1913096"/>
              <a:ext cx="899795" cy="5431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id: String</a:t>
              </a:r>
            </a:p>
            <a:p>
              <a:pPr algn="l">
                <a:lnSpc>
                  <a:spcPts val="1388"/>
                </a:lnSpc>
              </a:pPr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name: String</a:t>
              </a:r>
              <a:br/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# dorm: Dorm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299894" y="2536031"/>
              <a:ext cx="1739900" cy="5431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getName(): String</a:t>
              </a:r>
              <a:br/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enroll(c: Course): boolean</a:t>
              </a:r>
              <a:br/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# onDropped(): void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813597" y="3652838"/>
              <a:ext cx="7122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«interface»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832075" y="3804285"/>
              <a:ext cx="67528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Printable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669464" y="4159091"/>
              <a:ext cx="96638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print(): void</a:t>
              </a:r>
            </a:p>
          </p:txBody>
        </p:sp>
      </p:grpSp>
      <p:grpSp>
        <p:nvGrpSpPr>
          <p:cNvPr id="67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61" name="Rectangle 61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5" name="Group 65"/>
            <p:cNvGrpSpPr/>
            <p:nvPr/>
          </p:nvGrpSpPr>
          <p:grpSpPr>
            <a:xfrm>
              <a:off x="738188" y="6017895"/>
              <a:ext cx="200026" cy="200025"/>
              <a:chOff x="738188" y="6017895"/>
              <a:chExt cx="200026" cy="200025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738188" y="601789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777926" y="606234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812642" y="617347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6" name="TextBox 66"/>
            <p:cNvSpPr txBox="1"/>
            <p:nvPr/>
          </p:nvSpPr>
          <p:spPr>
            <a:xfrm>
              <a:off x="1040892" y="6023610"/>
              <a:ext cx="748310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画模式结构图时属性栏常常省略，只留类名和关键方法，读图时不必当成"这个类没有属性"。</a:t>
              </a:r>
            </a:p>
          </p:txBody>
        </p:sp>
      </p:grpSp>
      <p:grpSp>
        <p:nvGrpSpPr>
          <p:cNvPr id="7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8" name="TextBox 68"/>
            <p:cNvSpPr txBox="1"/>
            <p:nvPr/>
          </p:nvSpPr>
          <p:spPr>
            <a:xfrm>
              <a:off x="528447" y="6581299"/>
              <a:ext cx="21849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UML 类图与类间关系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2786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1281" y="407194"/>
              <a:ext cx="17720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01 类图与关系 · 类图基础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六种关系速览：先记线型和端点，再记方向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58" name="c1-table-1"/>
          <p:cNvGrpSpPr/>
          <p:nvPr/>
        </p:nvGrpSpPr>
        <p:grpSpPr>
          <a:xfrm>
            <a:off x="533400" y="1524000"/>
            <a:ext cx="11125200" cy="3368040"/>
            <a:chOff x="533400" y="1524000"/>
            <a:chExt cx="11125200" cy="336804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4862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35568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关系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210814" y="165973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线型与端点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58383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方向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303311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代码线索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923549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强度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41223" y="2221706"/>
              <a:ext cx="14069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 dependency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643378" y="2221706"/>
              <a:ext cx="124499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虚线 + 开放箭头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868418" y="2221706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使用者指向被使用者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871526" y="2108359"/>
              <a:ext cx="32641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只出现在参数、局部变量、返回值或静态调用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53903" y="222170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最弱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264318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2647950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1223" y="2783681"/>
              <a:ext cx="14160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关联 association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643378" y="2783681"/>
              <a:ext cx="124499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实线 + 开放箭头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868418" y="2783681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持有方指向被持有方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871526" y="2783681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成员字段，从外部获得，长期持有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53903" y="278368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较强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309276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1223" y="3232309"/>
              <a:ext cx="14612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聚合 aggregation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2545080" y="3107055"/>
              <a:ext cx="2205990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2643378" y="3232309"/>
              <a:ext cx="124499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实线 + 空心菱形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868418" y="3232309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菱形在整体一端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871526" y="3232309"/>
              <a:ext cx="34592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成员字段，部分由外部传入，整体不负责销毁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653903" y="3232309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强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354139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33400" y="3546158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1223" y="3680936"/>
              <a:ext cx="145220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组合 composition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2545080" y="3555682"/>
              <a:ext cx="2205990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2643378" y="3680936"/>
              <a:ext cx="124499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实线 + 实心菱形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868418" y="3680936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菱形在整体一端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871526" y="3680936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成员字段，部分由整体创建，随整体消亡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0653903" y="368093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更强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33400" y="399002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41223" y="4130516"/>
              <a:ext cx="166931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泛化 generalization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2643378" y="4130516"/>
              <a:ext cx="158962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实线 + 空心三角箭头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868418" y="4130516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子类指向父类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871526" y="4130516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extends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0653903" y="413051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最强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33400" y="443865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533400" y="4443412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41223" y="4579144"/>
              <a:ext cx="13707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 realization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2643378" y="4579144"/>
              <a:ext cx="158962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虚线 + 空心三角箭头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4868418" y="4579144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实现类指向接口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871526" y="4579144"/>
              <a:ext cx="94344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implements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0653903" y="45791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最强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533400" y="1524000"/>
              <a:ext cx="11125200" cy="336804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2530792" y="1524000"/>
              <a:ext cx="9525" cy="336804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4755832" y="1524000"/>
              <a:ext cx="9525" cy="336804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6758940" y="1524000"/>
              <a:ext cx="9525" cy="336804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10541318" y="1524000"/>
              <a:ext cx="9525" cy="336804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5" name="c1-callout-2"/>
          <p:cNvGrpSpPr/>
          <p:nvPr/>
        </p:nvGrpSpPr>
        <p:grpSpPr>
          <a:xfrm>
            <a:off x="533400" y="5082540"/>
            <a:ext cx="11125200" cy="533400"/>
            <a:chOff x="533400" y="5082540"/>
            <a:chExt cx="11125200" cy="533400"/>
          </a:xfrm>
        </p:grpSpPr>
        <p:sp>
          <p:nvSpPr>
            <p:cNvPr id="59" name="Rectangle 59"/>
            <p:cNvSpPr/>
            <p:nvPr/>
          </p:nvSpPr>
          <p:spPr>
            <a:xfrm>
              <a:off x="533400" y="508254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726129" y="5245536"/>
              <a:ext cx="224134" cy="192560"/>
              <a:chOff x="726129" y="5245536"/>
              <a:chExt cx="224134" cy="192560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838200" y="531590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726129" y="524553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838200" y="539369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1040130" y="5244465"/>
              <a:ext cx="994565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 xml:space="preserve">菱形不是箭头。聚合、组合的菱形画在 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整体</a:t>
              </a: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 xml:space="preserve">那一端，线的另一端才是部分；三角箭头则画在 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父类/接口</a:t>
              </a: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那一端。</a:t>
              </a:r>
            </a:p>
          </p:txBody>
        </p:sp>
      </p:grpSp>
      <p:grpSp>
        <p:nvGrpSpPr>
          <p:cNvPr id="71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66" name="Rectangle 66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69" name="Group 69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8" name="Freeform 68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0" name="TextBox 70"/>
            <p:cNvSpPr txBox="1"/>
            <p:nvPr/>
          </p:nvSpPr>
          <p:spPr>
            <a:xfrm>
              <a:off x="1040130" y="5991225"/>
              <a:ext cx="71130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强弱顺序：泛化/实现 &gt; 组合 &gt; 聚合 &gt; 关联 &gt; 依赖。越强，两个类被绑得越死。</a:t>
              </a:r>
            </a:p>
          </p:txBody>
        </p:sp>
      </p:grpSp>
      <p:grpSp>
        <p:nvGrpSpPr>
          <p:cNvPr id="7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2" name="TextBox 72"/>
            <p:cNvSpPr txBox="1"/>
            <p:nvPr/>
          </p:nvSpPr>
          <p:spPr>
            <a:xfrm>
              <a:off x="528447" y="6581299"/>
              <a:ext cx="21849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UML 类图与类间关系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2914269" cy="3351847"/>
            <a:chOff x="667512" y="1835468"/>
            <a:chExt cx="2914269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第二部分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197510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依赖关系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290436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用一下就走，最弱的一种联系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四种代码形态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老鼠吃苹果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依赖抽象化解重载爆炸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自身依赖与双向依赖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21849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UML 类图与类间关系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22564" cy="909257"/>
            <a:chOff x="520446" y="342900"/>
            <a:chExt cx="582256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2786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1281" y="407194"/>
              <a:ext cx="17720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01 类图与关系 · 依赖关系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2256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依赖：A 临时用到 B，用完就不再持有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5626418" cy="2005965"/>
            <a:chOff x="533400" y="1524000"/>
            <a:chExt cx="5626418" cy="200596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2005965"/>
            </a:xfrm>
            <a:prstGeom prst="roundRect">
              <a:avLst>
                <a:gd name="adj" fmla="val 664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739265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198910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依赖（dependency）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968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两个相对独立的对象，一个负责构造另一个的实例，或者用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到另一个提供的服务，这种联系就是依赖。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86765" y="281368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44880" y="2750820"/>
              <a:ext cx="433920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使用关系是 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偶然的、临时的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，但 B 变了会影响 A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6765" y="314896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4880" y="3086100"/>
              <a:ext cx="48183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画法：虚线加开放箭头，由 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使用者 A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指向 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被使用者 B</a:t>
              </a:r>
            </a:p>
          </p:txBody>
        </p:sp>
      </p:grpSp>
      <p:grpSp>
        <p:nvGrpSpPr>
          <p:cNvPr id="21" name="c1-code-2"/>
          <p:cNvGrpSpPr/>
          <p:nvPr/>
        </p:nvGrpSpPr>
        <p:grpSpPr>
          <a:xfrm>
            <a:off x="533400" y="3720465"/>
            <a:ext cx="5626418" cy="1719262"/>
            <a:chOff x="533400" y="3720465"/>
            <a:chExt cx="5626418" cy="1719262"/>
          </a:xfrm>
        </p:grpSpPr>
        <p:sp>
          <p:nvSpPr>
            <p:cNvPr id="18" name="Rectangle 18"/>
            <p:cNvSpPr/>
            <p:nvPr/>
          </p:nvSpPr>
          <p:spPr>
            <a:xfrm>
              <a:off x="533400" y="3720465"/>
              <a:ext cx="5626418" cy="1719262"/>
            </a:xfrm>
            <a:prstGeom prst="roundRect">
              <a:avLst>
                <a:gd name="adj" fmla="val 554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61797" y="3872389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四种典型写法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61035" y="4135279"/>
              <a:ext cx="3553206" cy="1234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f1(B b) { b.use(); }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形参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f2() { B b =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B(); }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局部变量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B    f3() {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B(); }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返回值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f4() { B.staticUse(); }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静态调用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38" name="c2-uml-1"/>
          <p:cNvGrpSpPr/>
          <p:nvPr/>
        </p:nvGrpSpPr>
        <p:grpSpPr>
          <a:xfrm>
            <a:off x="7046595" y="2103120"/>
            <a:ext cx="3885247" cy="651510"/>
            <a:chOff x="7046595" y="2103120"/>
            <a:chExt cx="3885247" cy="651510"/>
          </a:xfrm>
        </p:grpSpPr>
        <p:sp>
          <p:nvSpPr>
            <p:cNvPr id="22" name="Freeform 22"/>
            <p:cNvSpPr/>
            <p:nvPr/>
          </p:nvSpPr>
          <p:spPr>
            <a:xfrm>
              <a:off x="8479155" y="2428875"/>
              <a:ext cx="1309688" cy="9525"/>
            </a:xfrm>
            <a:custGeom>
              <a:avLst/>
              <a:gdLst/>
              <a:ahLst/>
              <a:cxnLst/>
              <a:rect l="l" t="t" r="r" b="b"/>
              <a:pathLst>
                <a:path w="1309688" h="9525">
                  <a:moveTo>
                    <a:pt x="0" y="0"/>
                  </a:moveTo>
                  <a:lnTo>
                    <a:pt x="1309688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23" name="Freeform 23"/>
            <p:cNvSpPr/>
            <p:nvPr/>
          </p:nvSpPr>
          <p:spPr>
            <a:xfrm>
              <a:off x="9684068" y="2370772"/>
              <a:ext cx="104775" cy="116205"/>
            </a:xfrm>
            <a:custGeom>
              <a:avLst/>
              <a:gdLst/>
              <a:ahLst/>
              <a:cxnLst/>
              <a:rect l="l" t="t" r="r" b="b"/>
              <a:pathLst>
                <a:path w="104775" h="116205">
                  <a:moveTo>
                    <a:pt x="0" y="116205"/>
                  </a:moveTo>
                  <a:lnTo>
                    <a:pt x="104775" y="58102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7046595" y="2103120"/>
              <a:ext cx="1432560" cy="65151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7054215" y="2110740"/>
              <a:ext cx="1418272" cy="26479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7046595" y="2369820"/>
              <a:ext cx="143256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7046595" y="2465070"/>
              <a:ext cx="143256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9788842" y="2103120"/>
              <a:ext cx="1143000" cy="65151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9795510" y="2110740"/>
              <a:ext cx="1128712" cy="26479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9788842" y="236982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9788842" y="246507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493479" y="2167414"/>
              <a:ext cx="5387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Person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117461" y="2537460"/>
              <a:ext cx="138043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moveFast(c: Car)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0221555" y="2167414"/>
              <a:ext cx="277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Car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859709" y="2537460"/>
              <a:ext cx="5195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run()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886825" y="2212658"/>
              <a:ext cx="4953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917114" y="2239328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用一下</a:t>
              </a:r>
            </a:p>
          </p:txBody>
        </p:sp>
      </p:grpSp>
      <p:grpSp>
        <p:nvGrpSpPr>
          <p:cNvPr id="46" name="c2-bullets-2"/>
          <p:cNvGrpSpPr/>
          <p:nvPr/>
        </p:nvGrpSpPr>
        <p:grpSpPr>
          <a:xfrm>
            <a:off x="6456998" y="3549015"/>
            <a:ext cx="4513897" cy="1337310"/>
            <a:chOff x="6456998" y="3549015"/>
            <a:chExt cx="4513897" cy="1337310"/>
          </a:xfrm>
        </p:grpSpPr>
        <p:sp>
          <p:nvSpPr>
            <p:cNvPr id="39" name="TextBox 39"/>
            <p:cNvSpPr txBox="1"/>
            <p:nvPr/>
          </p:nvSpPr>
          <p:spPr>
            <a:xfrm>
              <a:off x="6456998" y="354901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常见的依赖例子</a:t>
              </a:r>
            </a:p>
          </p:txBody>
        </p:sp>
        <p:sp>
          <p:nvSpPr>
            <p:cNvPr id="40" name="Freeform 40"/>
            <p:cNvSpPr/>
            <p:nvPr/>
          </p:nvSpPr>
          <p:spPr>
            <a:xfrm>
              <a:off x="6464618" y="3934778"/>
              <a:ext cx="143827" cy="117157"/>
            </a:xfrm>
            <a:custGeom>
              <a:avLst/>
              <a:gdLst/>
              <a:ahLst/>
              <a:cxnLst/>
              <a:rect l="l" t="t" r="r" b="b"/>
              <a:pathLst>
                <a:path w="143827" h="117157">
                  <a:moveTo>
                    <a:pt x="0" y="61912"/>
                  </a:moveTo>
                  <a:lnTo>
                    <a:pt x="55245" y="117157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715125" y="3903345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人借助螺丝刀拧螺丝、人借船过河</a:t>
              </a:r>
            </a:p>
          </p:txBody>
        </p:sp>
        <p:sp>
          <p:nvSpPr>
            <p:cNvPr id="42" name="Freeform 42"/>
            <p:cNvSpPr/>
            <p:nvPr/>
          </p:nvSpPr>
          <p:spPr>
            <a:xfrm>
              <a:off x="6464618" y="4279582"/>
              <a:ext cx="143827" cy="117158"/>
            </a:xfrm>
            <a:custGeom>
              <a:avLst/>
              <a:gdLst/>
              <a:ahLst/>
              <a:cxnLst/>
              <a:rect l="l" t="t" r="r" b="b"/>
              <a:pathLst>
                <a:path w="143827" h="117158">
                  <a:moveTo>
                    <a:pt x="0" y="61912"/>
                  </a:moveTo>
                  <a:lnTo>
                    <a:pt x="55245" y="117158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715125" y="4248150"/>
              <a:ext cx="42557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充电电池通过充电器充电、自行车用打气筒充气</a:t>
              </a:r>
            </a:p>
          </p:txBody>
        </p:sp>
        <p:sp>
          <p:nvSpPr>
            <p:cNvPr id="44" name="Freeform 44"/>
            <p:cNvSpPr/>
            <p:nvPr/>
          </p:nvSpPr>
          <p:spPr>
            <a:xfrm>
              <a:off x="6464618" y="4624388"/>
              <a:ext cx="143827" cy="117158"/>
            </a:xfrm>
            <a:custGeom>
              <a:avLst/>
              <a:gdLst/>
              <a:ahLst/>
              <a:cxnLst/>
              <a:rect l="l" t="t" r="r" b="b"/>
              <a:pathLst>
                <a:path w="143827" h="117158">
                  <a:moveTo>
                    <a:pt x="0" y="61912"/>
                  </a:moveTo>
                  <a:lnTo>
                    <a:pt x="55245" y="117158"/>
                  </a:lnTo>
                  <a:lnTo>
                    <a:pt x="143827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715125" y="4592955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学生读书、艺术家鉴赏艺术品、警察抓小偷</a:t>
              </a:r>
            </a:p>
          </p:txBody>
        </p:sp>
      </p:grpSp>
      <p:grpSp>
        <p:nvGrpSpPr>
          <p:cNvPr id="53" name="c2-callout-3"/>
          <p:cNvGrpSpPr/>
          <p:nvPr/>
        </p:nvGrpSpPr>
        <p:grpSpPr>
          <a:xfrm>
            <a:off x="6464618" y="5017770"/>
            <a:ext cx="5193982" cy="782955"/>
            <a:chOff x="6464618" y="5017770"/>
            <a:chExt cx="5193982" cy="782955"/>
          </a:xfrm>
        </p:grpSpPr>
        <p:sp>
          <p:nvSpPr>
            <p:cNvPr id="47" name="Rectangle 47"/>
            <p:cNvSpPr/>
            <p:nvPr/>
          </p:nvSpPr>
          <p:spPr>
            <a:xfrm>
              <a:off x="6464618" y="5017770"/>
              <a:ext cx="5193982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6669405" y="5309235"/>
              <a:ext cx="200026" cy="200025"/>
              <a:chOff x="6669405" y="5309235"/>
              <a:chExt cx="200026" cy="200025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6669405" y="530923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6709144" y="535368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6743859" y="546481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6971348" y="5166360"/>
              <a:ext cx="4206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人要开车走得快，但人不必拥有这辆车。不拥有，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就是依赖而不是关联。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21849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UML 类图与类间关系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2786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1281" y="407194"/>
              <a:ext cx="17720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01 类图与关系 · 依赖关系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单向依赖例：老鼠每吃一个苹果就按能量长体重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7335202" cy="293370"/>
            <a:chOff x="525780" y="1548765"/>
            <a:chExt cx="7335202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73352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老鼠只在 eat 方法的参数里见到苹果，吃完不再保存它，所以是依赖，不是关联。</a:t>
              </a:r>
            </a:p>
          </p:txBody>
        </p:sp>
      </p:grpSp>
      <p:grpSp>
        <p:nvGrpSpPr>
          <p:cNvPr id="12" name="c1-code-1"/>
          <p:cNvGrpSpPr/>
          <p:nvPr/>
        </p:nvGrpSpPr>
        <p:grpSpPr>
          <a:xfrm>
            <a:off x="533400" y="1954530"/>
            <a:ext cx="6059805" cy="3342322"/>
            <a:chOff x="533400" y="1954530"/>
            <a:chExt cx="6059805" cy="3342322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6059805" cy="3342322"/>
            </a:xfrm>
            <a:prstGeom prst="roundRect">
              <a:avLst>
                <a:gd name="adj" fmla="val 285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106454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61035" y="2368391"/>
              <a:ext cx="3297174" cy="2857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Apple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power;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Apple(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e) { power = e;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energy() {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power;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Mouse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weight;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Mouse(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w) { weight = w;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weight() {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weight;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eat(Apple one) {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weight += one.energy() / 2;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33" name="c2-table-1"/>
          <p:cNvGrpSpPr/>
          <p:nvPr/>
        </p:nvGrpSpPr>
        <p:grpSpPr>
          <a:xfrm>
            <a:off x="6892290" y="1954530"/>
            <a:ext cx="4766310" cy="2015967"/>
            <a:chOff x="6892290" y="1954530"/>
            <a:chExt cx="4766310" cy="2015967"/>
          </a:xfrm>
        </p:grpSpPr>
        <p:sp>
          <p:nvSpPr>
            <p:cNvPr id="13" name="Rectangle 13"/>
            <p:cNvSpPr/>
            <p:nvPr/>
          </p:nvSpPr>
          <p:spPr>
            <a:xfrm>
              <a:off x="6898005" y="1954530"/>
              <a:ext cx="4760595" cy="430530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387019" y="208597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苹果能量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034462" y="208597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增重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353294" y="2085975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吃完后体重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16815" y="2515552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107157" y="2515552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623880" y="2515552"/>
              <a:ext cx="2787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115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898005" y="2809875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6898005" y="2814638"/>
              <a:ext cx="4760595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616815" y="2946082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107157" y="2946082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23880" y="2946082"/>
              <a:ext cx="2787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127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898005" y="3240405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616815" y="3376612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107157" y="3376612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623880" y="3376612"/>
              <a:ext cx="2787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147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898005" y="1954530"/>
              <a:ext cx="4760595" cy="172021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8530590" y="1954530"/>
              <a:ext cx="9525" cy="17202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9864090" y="1954530"/>
              <a:ext cx="9525" cy="17202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892290" y="3750469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初始体重 100 的老鼠连吃三个苹果</a:t>
              </a:r>
            </a:p>
          </p:txBody>
        </p:sp>
      </p:grpSp>
      <p:grpSp>
        <p:nvGrpSpPr>
          <p:cNvPr id="39" name="c2-card-2"/>
          <p:cNvGrpSpPr/>
          <p:nvPr/>
        </p:nvGrpSpPr>
        <p:grpSpPr>
          <a:xfrm>
            <a:off x="6898005" y="4111942"/>
            <a:ext cx="4760595" cy="1545908"/>
            <a:chOff x="6898005" y="4111942"/>
            <a:chExt cx="4760595" cy="1545908"/>
          </a:xfrm>
        </p:grpSpPr>
        <p:sp>
          <p:nvSpPr>
            <p:cNvPr id="34" name="Rectangle 34"/>
            <p:cNvSpPr/>
            <p:nvPr/>
          </p:nvSpPr>
          <p:spPr>
            <a:xfrm>
              <a:off x="6898005" y="4111942"/>
              <a:ext cx="4760595" cy="1545908"/>
            </a:xfrm>
            <a:prstGeom prst="roundRect">
              <a:avLst>
                <a:gd name="adj" fmla="val 86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6907530" y="4245292"/>
              <a:ext cx="47625" cy="127920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7139940" y="4315778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230148" y="43514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132701" y="4688681"/>
              <a:ext cx="4099179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原课件写作 </a:t>
              </a:r>
              <a:r>
                <a:rPr lang="en-US" sz="14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weight += one-&gt;Energy() * 0.5;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weight 是整型，小数会被截断，能量 25 时只长 12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点。写成 </a:t>
              </a:r>
              <a:r>
                <a:rPr lang="zh-CN" sz="14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/ 2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结果一样但意图更清楚。</a:t>
              </a:r>
            </a:p>
          </p:txBody>
        </p:sp>
      </p:grpSp>
      <p:grpSp>
        <p:nvGrpSpPr>
          <p:cNvPr id="45" name="c2-callout-3"/>
          <p:cNvGrpSpPr/>
          <p:nvPr/>
        </p:nvGrpSpPr>
        <p:grpSpPr>
          <a:xfrm>
            <a:off x="6898005" y="5843588"/>
            <a:ext cx="4760595" cy="518160"/>
            <a:chOff x="6898005" y="5843588"/>
            <a:chExt cx="4760595" cy="518160"/>
          </a:xfrm>
        </p:grpSpPr>
        <p:sp>
          <p:nvSpPr>
            <p:cNvPr id="40" name="Rectangle 40"/>
            <p:cNvSpPr/>
            <p:nvPr/>
          </p:nvSpPr>
          <p:spPr>
            <a:xfrm>
              <a:off x="6898005" y="5843588"/>
              <a:ext cx="4760595" cy="518160"/>
            </a:xfrm>
            <a:prstGeom prst="roundRect">
              <a:avLst>
                <a:gd name="adj" fmla="val 22059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7102793" y="6002657"/>
              <a:ext cx="200023" cy="200023"/>
              <a:chOff x="7102793" y="6002657"/>
              <a:chExt cx="200023" cy="200023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7102793" y="600265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7236143" y="606933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7405116" y="6003131"/>
              <a:ext cx="391833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判断依据：Mouse 里没有 Apple 类型的字段。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21849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UML 类图与类间关系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2786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1281" y="407194"/>
              <a:ext cx="17720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01 类图与关系 · 依赖关系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变化来了：老鼠还吃香蕉、葡萄、桃子怎么办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card-1"/>
          <p:cNvGrpSpPr/>
          <p:nvPr/>
        </p:nvGrpSpPr>
        <p:grpSpPr>
          <a:xfrm>
            <a:off x="533400" y="1524000"/>
            <a:ext cx="5193982" cy="1529715"/>
            <a:chOff x="533400" y="1524000"/>
            <a:chExt cx="5193982" cy="152971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1529715"/>
            </a:xfrm>
            <a:prstGeom prst="roundRect">
              <a:avLst>
                <a:gd name="adj" fmla="val 871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26301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5345" y="175069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问题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47597" y="175641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一种水果加一个重载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72478" y="2146935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28497" y="2090738"/>
              <a:ext cx="45960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eat(Apple)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、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eat(Banana)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、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eat(Grape)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一个也少不了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72478" y="2448877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28497" y="2392680"/>
              <a:ext cx="439426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再来一种桃子还得加一个方法，用到 Mouse 的代码全要重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新编译</a:t>
              </a:r>
            </a:p>
          </p:txBody>
        </p:sp>
      </p:grpSp>
      <p:grpSp>
        <p:nvGrpSpPr>
          <p:cNvPr id="20" name="c1-code-2"/>
          <p:cNvGrpSpPr/>
          <p:nvPr/>
        </p:nvGrpSpPr>
        <p:grpSpPr>
          <a:xfrm>
            <a:off x="533400" y="3228022"/>
            <a:ext cx="5193982" cy="2397442"/>
            <a:chOff x="533400" y="3228022"/>
            <a:chExt cx="5193982" cy="2397442"/>
          </a:xfrm>
        </p:grpSpPr>
        <p:sp>
          <p:nvSpPr>
            <p:cNvPr id="17" name="Rectangle 17"/>
            <p:cNvSpPr/>
            <p:nvPr/>
          </p:nvSpPr>
          <p:spPr>
            <a:xfrm>
              <a:off x="533400" y="3228022"/>
              <a:ext cx="5193982" cy="2397442"/>
            </a:xfrm>
            <a:prstGeom prst="roundRect">
              <a:avLst>
                <a:gd name="adj" fmla="val 3973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61797" y="3379946"/>
              <a:ext cx="190119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改法：让 eat 只认抽象的 Fruit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61416" y="3641408"/>
              <a:ext cx="2797683" cy="19112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Fruit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energy();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Peach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Fruit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energy() {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35;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Mouse 只留一个方法</a:t>
              </a:r>
              <a:br/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eat(Fruit f) {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weight += f.energy() / 2;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53" name="c2-uml-1"/>
          <p:cNvGrpSpPr/>
          <p:nvPr/>
        </p:nvGrpSpPr>
        <p:grpSpPr>
          <a:xfrm>
            <a:off x="6397942" y="1972628"/>
            <a:ext cx="4893946" cy="2136458"/>
            <a:chOff x="6397942" y="1972628"/>
            <a:chExt cx="4893946" cy="2136458"/>
          </a:xfrm>
        </p:grpSpPr>
        <p:sp>
          <p:nvSpPr>
            <p:cNvPr id="21" name="Freeform 21"/>
            <p:cNvSpPr/>
            <p:nvPr/>
          </p:nvSpPr>
          <p:spPr>
            <a:xfrm>
              <a:off x="7540942" y="2282190"/>
              <a:ext cx="732472" cy="9525"/>
            </a:xfrm>
            <a:custGeom>
              <a:avLst/>
              <a:gdLst/>
              <a:ahLst/>
              <a:cxnLst/>
              <a:rect l="l" t="t" r="r" b="b"/>
              <a:pathLst>
                <a:path w="732472" h="9525">
                  <a:moveTo>
                    <a:pt x="0" y="0"/>
                  </a:moveTo>
                  <a:lnTo>
                    <a:pt x="732472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22" name="Freeform 22"/>
            <p:cNvSpPr/>
            <p:nvPr/>
          </p:nvSpPr>
          <p:spPr>
            <a:xfrm>
              <a:off x="8168640" y="2225040"/>
              <a:ext cx="104775" cy="115252"/>
            </a:xfrm>
            <a:custGeom>
              <a:avLst/>
              <a:gdLst/>
              <a:ahLst/>
              <a:cxnLst/>
              <a:rect l="l" t="t" r="r" b="b"/>
              <a:pathLst>
                <a:path w="104775" h="115252">
                  <a:moveTo>
                    <a:pt x="0" y="115252"/>
                  </a:moveTo>
                  <a:lnTo>
                    <a:pt x="104775" y="57150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8844915" y="2718435"/>
              <a:ext cx="9525" cy="770573"/>
            </a:xfrm>
            <a:custGeom>
              <a:avLst/>
              <a:gdLst/>
              <a:ahLst/>
              <a:cxnLst/>
              <a:rect l="l" t="t" r="r" b="b"/>
              <a:pathLst>
                <a:path w="9525" h="770573">
                  <a:moveTo>
                    <a:pt x="0" y="770573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8771572" y="2592705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8844915" y="2718435"/>
              <a:ext cx="1875472" cy="770573"/>
            </a:xfrm>
            <a:custGeom>
              <a:avLst/>
              <a:gdLst/>
              <a:ahLst/>
              <a:cxnLst/>
              <a:rect l="l" t="t" r="r" b="b"/>
              <a:pathLst>
                <a:path w="1875472" h="770573">
                  <a:moveTo>
                    <a:pt x="1875472" y="770573"/>
                  </a:moveTo>
                  <a:lnTo>
                    <a:pt x="1875472" y="321945"/>
                  </a:lnTo>
                  <a:lnTo>
                    <a:pt x="0" y="321945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8771572" y="2592705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6397942" y="1972628"/>
              <a:ext cx="1143000" cy="62007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05562" y="1979295"/>
              <a:ext cx="1128712" cy="24574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6397942" y="222123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6397942" y="231648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8273415" y="1972628"/>
              <a:ext cx="1143000" cy="62007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8281035" y="1979295"/>
              <a:ext cx="1128712" cy="24574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8273415" y="222123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8273415" y="231648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8273415" y="3489008"/>
              <a:ext cx="1143000" cy="62007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8281035" y="3496628"/>
              <a:ext cx="1128712" cy="24574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8273415" y="373761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8273415" y="383286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10148888" y="3489008"/>
              <a:ext cx="1143000" cy="62007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10156508" y="3496628"/>
              <a:ext cx="1128712" cy="24574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10148888" y="373761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10148888" y="383286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742713" y="2032635"/>
              <a:ext cx="4534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Mouse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469190" y="2387441"/>
              <a:ext cx="10055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eat(f: Fruit)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651958" y="2032635"/>
              <a:ext cx="38591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i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Fruit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344662" y="2387441"/>
              <a:ext cx="99936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energy(): int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651958" y="3549015"/>
              <a:ext cx="38591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Apple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344662" y="3903821"/>
              <a:ext cx="99936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energy(): int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467853" y="3549015"/>
              <a:ext cx="5050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Banana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220134" y="3903821"/>
              <a:ext cx="99936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energy(): int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7757160" y="2076450"/>
              <a:ext cx="300990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793862" y="2100739"/>
              <a:ext cx="2275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eat</a:t>
              </a:r>
            </a:p>
          </p:txBody>
        </p:sp>
      </p:grpSp>
      <p:grpSp>
        <p:nvGrpSpPr>
          <p:cNvPr id="59" name="c2-callout-2"/>
          <p:cNvGrpSpPr/>
          <p:nvPr/>
        </p:nvGrpSpPr>
        <p:grpSpPr>
          <a:xfrm>
            <a:off x="6032182" y="4732972"/>
            <a:ext cx="5626418" cy="893445"/>
            <a:chOff x="6032182" y="4732972"/>
            <a:chExt cx="5626418" cy="893445"/>
          </a:xfrm>
        </p:grpSpPr>
        <p:sp>
          <p:nvSpPr>
            <p:cNvPr id="54" name="Rectangle 54"/>
            <p:cNvSpPr/>
            <p:nvPr/>
          </p:nvSpPr>
          <p:spPr>
            <a:xfrm>
              <a:off x="6032182" y="4732972"/>
              <a:ext cx="5626418" cy="893445"/>
            </a:xfrm>
            <a:prstGeom prst="roundRect">
              <a:avLst>
                <a:gd name="adj" fmla="val 12793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57" name="Group 57"/>
            <p:cNvGrpSpPr/>
            <p:nvPr/>
          </p:nvGrpSpPr>
          <p:grpSpPr>
            <a:xfrm>
              <a:off x="6236970" y="5079685"/>
              <a:ext cx="200023" cy="200023"/>
              <a:chOff x="6236970" y="5079685"/>
              <a:chExt cx="200023" cy="200023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6236970" y="507968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6370320" y="514635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8" name="TextBox 58"/>
            <p:cNvSpPr txBox="1"/>
            <p:nvPr/>
          </p:nvSpPr>
          <p:spPr>
            <a:xfrm>
              <a:off x="6539674" y="4960620"/>
              <a:ext cx="4625721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虚线箭头指向的是抽象类 Fruit，具体水果挂在 Fruit 下面。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这就是后面"面向接口编程"的原型。</a:t>
              </a:r>
            </a:p>
          </p:txBody>
        </p:sp>
      </p:grpSp>
      <p:grpSp>
        <p:nvGrpSpPr>
          <p:cNvPr id="66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60" name="Rectangle 60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64" name="Group 64"/>
            <p:cNvGrpSpPr/>
            <p:nvPr/>
          </p:nvGrpSpPr>
          <p:grpSpPr>
            <a:xfrm>
              <a:off x="738188" y="6017895"/>
              <a:ext cx="200026" cy="200026"/>
              <a:chOff x="738188" y="6017895"/>
              <a:chExt cx="200026" cy="200026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738188" y="601789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838200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827088" y="611790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5" name="TextBox 65"/>
            <p:cNvSpPr txBox="1"/>
            <p:nvPr/>
          </p:nvSpPr>
          <p:spPr>
            <a:xfrm>
              <a:off x="1040892" y="6023610"/>
              <a:ext cx="836120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面向对象设计要尽量预先看出哪里会变，这依赖领域知识：能预见到"水果会增加"，才会先抽出 Fruit。</a:t>
              </a:r>
            </a:p>
          </p:txBody>
        </p:sp>
      </p:grpSp>
      <p:grpSp>
        <p:nvGrpSpPr>
          <p:cNvPr id="6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7" name="TextBox 67"/>
            <p:cNvSpPr txBox="1"/>
            <p:nvPr/>
          </p:nvSpPr>
          <p:spPr>
            <a:xfrm>
              <a:off x="528447" y="6581299"/>
              <a:ext cx="21849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UML 类图与类间关系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2786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1281" y="407194"/>
              <a:ext cx="17720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01 类图与关系 · 依赖关系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再进一步：两端同时抽象，老鼠也可以有很多种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51" name="c1-uml-1"/>
          <p:cNvGrpSpPr/>
          <p:nvPr/>
        </p:nvGrpSpPr>
        <p:grpSpPr>
          <a:xfrm>
            <a:off x="1293495" y="1976438"/>
            <a:ext cx="4033216" cy="3668076"/>
            <a:chOff x="1293495" y="1976438"/>
            <a:chExt cx="4033216" cy="3668076"/>
          </a:xfrm>
        </p:grpSpPr>
        <p:sp>
          <p:nvSpPr>
            <p:cNvPr id="7" name="Freeform 7"/>
            <p:cNvSpPr/>
            <p:nvPr/>
          </p:nvSpPr>
          <p:spPr>
            <a:xfrm>
              <a:off x="2478405" y="2302192"/>
              <a:ext cx="1389698" cy="9525"/>
            </a:xfrm>
            <a:custGeom>
              <a:avLst/>
              <a:gdLst/>
              <a:ahLst/>
              <a:cxnLst/>
              <a:rect l="l" t="t" r="r" b="b"/>
              <a:pathLst>
                <a:path w="1389698" h="9525">
                  <a:moveTo>
                    <a:pt x="0" y="0"/>
                  </a:moveTo>
                  <a:lnTo>
                    <a:pt x="1389698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8" name="Freeform 8"/>
            <p:cNvSpPr/>
            <p:nvPr/>
          </p:nvSpPr>
          <p:spPr>
            <a:xfrm>
              <a:off x="3763328" y="2244090"/>
              <a:ext cx="104775" cy="115252"/>
            </a:xfrm>
            <a:custGeom>
              <a:avLst/>
              <a:gdLst/>
              <a:ahLst/>
              <a:cxnLst/>
              <a:rect l="l" t="t" r="r" b="b"/>
              <a:pathLst>
                <a:path w="104775" h="115252">
                  <a:moveTo>
                    <a:pt x="0" y="115252"/>
                  </a:moveTo>
                  <a:lnTo>
                    <a:pt x="104775" y="58102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1885950" y="2753678"/>
              <a:ext cx="9525" cy="873442"/>
            </a:xfrm>
            <a:custGeom>
              <a:avLst/>
              <a:gdLst/>
              <a:ahLst/>
              <a:cxnLst/>
              <a:rect l="l" t="t" r="r" b="b"/>
              <a:pathLst>
                <a:path w="9525" h="873442">
                  <a:moveTo>
                    <a:pt x="0" y="873442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812608" y="2627948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2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1885950" y="2753678"/>
              <a:ext cx="9525" cy="2428875"/>
            </a:xfrm>
            <a:custGeom>
              <a:avLst/>
              <a:gdLst/>
              <a:ahLst/>
              <a:cxnLst/>
              <a:rect l="l" t="t" r="r" b="b"/>
              <a:pathLst>
                <a:path w="9525" h="2428875">
                  <a:moveTo>
                    <a:pt x="0" y="2428875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1812608" y="2627948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2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4591050" y="2753678"/>
              <a:ext cx="9525" cy="873442"/>
            </a:xfrm>
            <a:custGeom>
              <a:avLst/>
              <a:gdLst/>
              <a:ahLst/>
              <a:cxnLst/>
              <a:rect l="l" t="t" r="r" b="b"/>
              <a:pathLst>
                <a:path w="9525" h="873442">
                  <a:moveTo>
                    <a:pt x="0" y="873442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4517708" y="2627948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2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4591050" y="2753678"/>
              <a:ext cx="9525" cy="2428875"/>
            </a:xfrm>
            <a:custGeom>
              <a:avLst/>
              <a:gdLst/>
              <a:ahLst/>
              <a:cxnLst/>
              <a:rect l="l" t="t" r="r" b="b"/>
              <a:pathLst>
                <a:path w="9525" h="2428875">
                  <a:moveTo>
                    <a:pt x="0" y="2428875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4517708" y="2627948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2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1293495" y="1976438"/>
              <a:ext cx="1185862" cy="65151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1300162" y="1983105"/>
              <a:ext cx="1171575" cy="26479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1293495" y="2243138"/>
              <a:ext cx="1185862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1293495" y="2338388"/>
              <a:ext cx="1185862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3868102" y="1976438"/>
              <a:ext cx="1445895" cy="65151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3875722" y="1983105"/>
              <a:ext cx="1431608" cy="26479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3868102" y="2243138"/>
              <a:ext cx="1445895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3868102" y="2338388"/>
              <a:ext cx="1445895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1314450" y="3627120"/>
              <a:ext cx="1143000" cy="46196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1322070" y="3633788"/>
              <a:ext cx="1128712" cy="26479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1314450" y="389382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1314450" y="398907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1314450" y="5182552"/>
              <a:ext cx="1143000" cy="46196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1322070" y="5189220"/>
              <a:ext cx="1128712" cy="26479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1314450" y="544925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1314450" y="554450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4019550" y="3627120"/>
              <a:ext cx="1143000" cy="46196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4027170" y="3633788"/>
              <a:ext cx="1128712" cy="26479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4019550" y="389382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4019550" y="398907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019550" y="5182552"/>
              <a:ext cx="1143000" cy="46196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4027170" y="5189220"/>
              <a:ext cx="1128712" cy="26479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4019550" y="544925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019550" y="554450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1644080" y="2040731"/>
              <a:ext cx="4837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i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Human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364361" y="2410778"/>
              <a:ext cx="11130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read(b: Book)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408726" y="2040731"/>
              <a:ext cx="364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i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Book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3938968" y="2410778"/>
              <a:ext cx="138774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content(): String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573018" y="3691414"/>
              <a:ext cx="6258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Student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660090" y="5246846"/>
              <a:ext cx="4517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Robot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4385203" y="3691414"/>
              <a:ext cx="411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Novel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4278118" y="5246846"/>
              <a:ext cx="6258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Cartoon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2979420" y="2085975"/>
              <a:ext cx="38862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3012910" y="2112645"/>
              <a:ext cx="3216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read</a:t>
              </a:r>
            </a:p>
          </p:txBody>
        </p:sp>
      </p:grpSp>
      <p:grpSp>
        <p:nvGrpSpPr>
          <p:cNvPr id="56" name="c2-card-1"/>
          <p:cNvGrpSpPr/>
          <p:nvPr/>
        </p:nvGrpSpPr>
        <p:grpSpPr>
          <a:xfrm>
            <a:off x="6248400" y="1524000"/>
            <a:ext cx="5410200" cy="1653540"/>
            <a:chOff x="6248400" y="1524000"/>
            <a:chExt cx="5410200" cy="1653540"/>
          </a:xfrm>
        </p:grpSpPr>
        <p:sp>
          <p:nvSpPr>
            <p:cNvPr id="52" name="Rectangle 52"/>
            <p:cNvSpPr/>
            <p:nvPr/>
          </p:nvSpPr>
          <p:spPr>
            <a:xfrm>
              <a:off x="6248400" y="1524000"/>
              <a:ext cx="5410200" cy="1653540"/>
            </a:xfrm>
            <a:prstGeom prst="roundRect">
              <a:avLst>
                <a:gd name="adj" fmla="val 8065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450330" y="175831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这张图的形状要记住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450330" y="2112645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虚线只连两个抽象类，两侧各自派生子类。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450330" y="2447925"/>
              <a:ext cx="4649629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结果是 </a:t>
              </a:r>
              <a:r>
                <a:rPr lang="zh-CN" sz="150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2 × 2 种组合都能跑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，而 Human 与 Book 的代码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都不用改。</a:t>
              </a:r>
            </a:p>
          </p:txBody>
        </p:sp>
      </p:grpSp>
      <p:grpSp>
        <p:nvGrpSpPr>
          <p:cNvPr id="66" name="c2-bullets-2"/>
          <p:cNvGrpSpPr/>
          <p:nvPr/>
        </p:nvGrpSpPr>
        <p:grpSpPr>
          <a:xfrm>
            <a:off x="6240780" y="3392805"/>
            <a:ext cx="4845368" cy="1682115"/>
            <a:chOff x="6240780" y="3392805"/>
            <a:chExt cx="4845368" cy="1682115"/>
          </a:xfrm>
        </p:grpSpPr>
        <p:sp>
          <p:nvSpPr>
            <p:cNvPr id="57" name="TextBox 57"/>
            <p:cNvSpPr txBox="1"/>
            <p:nvPr/>
          </p:nvSpPr>
          <p:spPr>
            <a:xfrm>
              <a:off x="6240780" y="339280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同一个形状的其他例子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6254115" y="3810000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412230" y="3747135"/>
              <a:ext cx="463471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Mouse (eat) Fruit：大老鼠、小老鼠吃苹果、橘子</a:t>
              </a:r>
            </a:p>
          </p:txBody>
        </p:sp>
        <p:sp>
          <p:nvSpPr>
            <p:cNvPr id="60" name="Ellipse 60"/>
            <p:cNvSpPr/>
            <p:nvPr/>
          </p:nvSpPr>
          <p:spPr>
            <a:xfrm>
              <a:off x="6254115" y="415480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6412230" y="4091940"/>
              <a:ext cx="436203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Student (do) Homework：不同学生做不同作业</a:t>
              </a:r>
            </a:p>
          </p:txBody>
        </p:sp>
        <p:sp>
          <p:nvSpPr>
            <p:cNvPr id="62" name="Ellipse 62"/>
            <p:cNvSpPr/>
            <p:nvPr/>
          </p:nvSpPr>
          <p:spPr>
            <a:xfrm>
              <a:off x="6254115" y="4499610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6412230" y="4436745"/>
              <a:ext cx="369573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Screen (draw) Shape：屏幕画各种图形</a:t>
              </a:r>
            </a:p>
          </p:txBody>
        </p:sp>
        <p:sp>
          <p:nvSpPr>
            <p:cNvPr id="64" name="Ellipse 64"/>
            <p:cNvSpPr/>
            <p:nvPr/>
          </p:nvSpPr>
          <p:spPr>
            <a:xfrm>
              <a:off x="6254115" y="484441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412230" y="4781550"/>
              <a:ext cx="467391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Printer (print) Date：打印机打印各种格式的日期</a:t>
              </a:r>
            </a:p>
          </p:txBody>
        </p:sp>
      </p:grpSp>
      <p:grpSp>
        <p:nvGrpSpPr>
          <p:cNvPr id="73" name="c2-callout-3"/>
          <p:cNvGrpSpPr/>
          <p:nvPr/>
        </p:nvGrpSpPr>
        <p:grpSpPr>
          <a:xfrm>
            <a:off x="6248400" y="5206365"/>
            <a:ext cx="5410200" cy="984885"/>
            <a:chOff x="6248400" y="5206365"/>
            <a:chExt cx="5410200" cy="984885"/>
          </a:xfrm>
        </p:grpSpPr>
        <p:sp>
          <p:nvSpPr>
            <p:cNvPr id="67" name="Rectangle 67"/>
            <p:cNvSpPr/>
            <p:nvPr/>
          </p:nvSpPr>
          <p:spPr>
            <a:xfrm>
              <a:off x="6248400" y="5206365"/>
              <a:ext cx="5410200" cy="984885"/>
            </a:xfrm>
            <a:prstGeom prst="roundRect">
              <a:avLst>
                <a:gd name="adj" fmla="val 11605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71" name="Group 71"/>
            <p:cNvGrpSpPr/>
            <p:nvPr/>
          </p:nvGrpSpPr>
          <p:grpSpPr>
            <a:xfrm>
              <a:off x="6453188" y="5598795"/>
              <a:ext cx="200026" cy="200025"/>
              <a:chOff x="6453188" y="5598795"/>
              <a:chExt cx="200026" cy="200025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6453188" y="559879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9" name="Freeform 69"/>
              <p:cNvSpPr/>
              <p:nvPr/>
            </p:nvSpPr>
            <p:spPr>
              <a:xfrm>
                <a:off x="6492926" y="564324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0" name="Freeform 70"/>
              <p:cNvSpPr/>
              <p:nvPr/>
            </p:nvSpPr>
            <p:spPr>
              <a:xfrm>
                <a:off x="6527642" y="575437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72" name="TextBox 72"/>
            <p:cNvSpPr txBox="1"/>
            <p:nvPr/>
          </p:nvSpPr>
          <p:spPr>
            <a:xfrm>
              <a:off x="6755130" y="5455920"/>
              <a:ext cx="44157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只抽象一端，是"一边可变"；两端都抽象，是桥接模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式的雏形，后面第八讲会再见到它。</a:t>
              </a:r>
            </a:p>
          </p:txBody>
        </p:sp>
      </p:grpSp>
      <p:grpSp>
        <p:nvGrpSpPr>
          <p:cNvPr id="7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4" name="TextBox 74"/>
            <p:cNvSpPr txBox="1"/>
            <p:nvPr/>
          </p:nvSpPr>
          <p:spPr>
            <a:xfrm>
              <a:off x="528447" y="6581299"/>
              <a:ext cx="21849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UML 类图与类间关系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2786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1281" y="407194"/>
              <a:ext cx="17720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01 类图与关系 · 依赖关系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自身依赖例：怪物之间一对一战斗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8466010" cy="293370"/>
            <a:chOff x="525780" y="1548765"/>
            <a:chExt cx="846601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84660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题目：每个怪物有速度、生命值、攻击力、防御力；两个怪物轮流攻击，直到一方生命值为 0。</a:t>
              </a:r>
            </a:p>
          </p:txBody>
        </p:sp>
      </p:grpSp>
      <p:grpSp>
        <p:nvGrpSpPr>
          <p:cNvPr id="23" name="c1-card-1"/>
          <p:cNvGrpSpPr/>
          <p:nvPr/>
        </p:nvGrpSpPr>
        <p:grpSpPr>
          <a:xfrm>
            <a:off x="533400" y="1954530"/>
            <a:ext cx="5410200" cy="2205038"/>
            <a:chOff x="533400" y="1954530"/>
            <a:chExt cx="5410200" cy="2205038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5410200" cy="2205038"/>
            </a:xfrm>
            <a:prstGeom prst="roundRect">
              <a:avLst>
                <a:gd name="adj" fmla="val 604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87880"/>
              <a:ext cx="47625" cy="193833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75335" y="215836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5543" y="219408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规则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76744" y="2197894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先手与伤害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75335" y="2537460"/>
              <a:ext cx="201930" cy="20193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33680" y="257779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6228" y="2550319"/>
              <a:ext cx="434263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先手：比速度，速度相同比生命值，再比攻击力，再比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防御力，都相同任选一方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75335" y="3128962"/>
              <a:ext cx="201930" cy="20193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33680" y="3169301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66228" y="3141821"/>
              <a:ext cx="4315587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伤害：2 × 进攻方攻击力 − 防守方防御力，不足 1 按 1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75335" y="3720465"/>
              <a:ext cx="201930" cy="20193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33680" y="3760803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66228" y="3733324"/>
              <a:ext cx="367520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被打方生命值降到 0 即告负，不必考虑善后</a:t>
              </a:r>
            </a:p>
          </p:txBody>
        </p:sp>
      </p:grpSp>
      <p:grpSp>
        <p:nvGrpSpPr>
          <p:cNvPr id="30" name="c1-card-2"/>
          <p:cNvGrpSpPr/>
          <p:nvPr/>
        </p:nvGrpSpPr>
        <p:grpSpPr>
          <a:xfrm>
            <a:off x="533400" y="4344352"/>
            <a:ext cx="5410200" cy="1865948"/>
            <a:chOff x="533400" y="4344352"/>
            <a:chExt cx="5410200" cy="1865948"/>
          </a:xfrm>
        </p:grpSpPr>
        <p:sp>
          <p:nvSpPr>
            <p:cNvPr id="24" name="Rectangle 24"/>
            <p:cNvSpPr/>
            <p:nvPr/>
          </p:nvSpPr>
          <p:spPr>
            <a:xfrm>
              <a:off x="533400" y="4344352"/>
              <a:ext cx="5410200" cy="1865948"/>
            </a:xfrm>
            <a:prstGeom prst="roundRect">
              <a:avLst>
                <a:gd name="adj" fmla="val 714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542925" y="4477702"/>
              <a:ext cx="47625" cy="159924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775335" y="4548188"/>
              <a:ext cx="134778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39940" y="4583906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为什么是自身依赖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68096" y="4922044"/>
              <a:ext cx="4784471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fight 的参数类型就是 Monster 自己，一个怪物在方法里临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时用到另一个怪物，用完不保存。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68096" y="5513546"/>
              <a:ext cx="47033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画法仍是虚线箭头，只是起点和终点是同一个类，画成指向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自己的一条回线。</a:t>
              </a:r>
            </a:p>
          </p:txBody>
        </p:sp>
      </p:grpSp>
      <p:grpSp>
        <p:nvGrpSpPr>
          <p:cNvPr id="38" name="c2-uml-1"/>
          <p:cNvGrpSpPr/>
          <p:nvPr/>
        </p:nvGrpSpPr>
        <p:grpSpPr>
          <a:xfrm>
            <a:off x="7700962" y="2215515"/>
            <a:ext cx="2506028" cy="1787842"/>
            <a:chOff x="7700962" y="2215515"/>
            <a:chExt cx="2506028" cy="1787842"/>
          </a:xfrm>
        </p:grpSpPr>
        <p:sp>
          <p:nvSpPr>
            <p:cNvPr id="31" name="Rectangle 31"/>
            <p:cNvSpPr/>
            <p:nvPr/>
          </p:nvSpPr>
          <p:spPr>
            <a:xfrm>
              <a:off x="7700962" y="2215515"/>
              <a:ext cx="2506028" cy="178784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707630" y="2223135"/>
              <a:ext cx="2491740" cy="26479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700962" y="2482215"/>
              <a:ext cx="2506028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7700962" y="3334702"/>
              <a:ext cx="2506028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624609" y="2279809"/>
              <a:ext cx="657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Monster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771829" y="2554605"/>
              <a:ext cx="944118" cy="77400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speed: int</a:t>
              </a:r>
            </a:p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hitpoint: int</a:t>
              </a:r>
              <a:br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# damage: int</a:t>
              </a:r>
              <a:br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# defense: int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771829" y="3407093"/>
              <a:ext cx="2364296" cy="5844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fight(other: Monster): boolean</a:t>
              </a:r>
              <a:br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# harmTo(other: Monster): int</a:t>
              </a:r>
            </a:p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priorTo(other: Monster): boolean</a:t>
              </a:r>
            </a:p>
          </p:txBody>
        </p:sp>
      </p:grpSp>
      <p:grpSp>
        <p:nvGrpSpPr>
          <p:cNvPr id="44" name="c2-callout-2"/>
          <p:cNvGrpSpPr/>
          <p:nvPr/>
        </p:nvGrpSpPr>
        <p:grpSpPr>
          <a:xfrm>
            <a:off x="6248400" y="4450080"/>
            <a:ext cx="5410200" cy="1761172"/>
            <a:chOff x="6248400" y="4450080"/>
            <a:chExt cx="5410200" cy="1761172"/>
          </a:xfrm>
        </p:grpSpPr>
        <p:sp>
          <p:nvSpPr>
            <p:cNvPr id="39" name="Rectangle 39"/>
            <p:cNvSpPr/>
            <p:nvPr/>
          </p:nvSpPr>
          <p:spPr>
            <a:xfrm>
              <a:off x="6248400" y="4450080"/>
              <a:ext cx="5410200" cy="1761172"/>
            </a:xfrm>
            <a:prstGeom prst="roundRect">
              <a:avLst>
                <a:gd name="adj" fmla="val 6490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42" name="Group 42"/>
            <p:cNvGrpSpPr/>
            <p:nvPr/>
          </p:nvGrpSpPr>
          <p:grpSpPr>
            <a:xfrm>
              <a:off x="6453188" y="5230180"/>
              <a:ext cx="200023" cy="200023"/>
              <a:chOff x="6453188" y="5230180"/>
              <a:chExt cx="200023" cy="200023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6453188" y="523018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6586538" y="529685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3" name="TextBox 43"/>
            <p:cNvSpPr txBox="1"/>
            <p:nvPr/>
          </p:nvSpPr>
          <p:spPr>
            <a:xfrm>
              <a:off x="6755511" y="5099209"/>
              <a:ext cx="452297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成员方法的参数是本类类型，就是自身依赖；成员字段是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本类类型，才是自身关联（下一节的链表节点）。</a:t>
              </a:r>
            </a:p>
          </p:txBody>
        </p:sp>
      </p:grpSp>
      <p:grpSp>
        <p:nvGrpSpPr>
          <p:cNvPr id="4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5" name="TextBox 45"/>
            <p:cNvSpPr txBox="1"/>
            <p:nvPr/>
          </p:nvSpPr>
          <p:spPr>
            <a:xfrm>
              <a:off x="528447" y="6581299"/>
              <a:ext cx="21849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UML 类图与类间关系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115437" cy="909257"/>
            <a:chOff x="520446" y="342900"/>
            <a:chExt cx="311543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2786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1281" y="407194"/>
              <a:ext cx="17720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01 类图与关系 · 依赖关系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11543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怪物战斗的完整实现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6276022" cy="4559618"/>
            <a:chOff x="533400" y="1524000"/>
            <a:chExt cx="6276022" cy="455961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276022" cy="4559618"/>
            </a:xfrm>
            <a:prstGeom prst="roundRect">
              <a:avLst>
                <a:gd name="adj" fmla="val 2089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97732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Monster.java（构造函数从略）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035" y="1937861"/>
              <a:ext cx="4470654" cy="40747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Monster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speed;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hitpoint;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protected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damage, defense;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boolean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fight(Monster other)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(priorTo(other) &amp;&amp; attack(other) == 0)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true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while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true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(other.attack(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) == 0)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false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(attack(other) == 0)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true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protected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harmTo(Monster o) {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子类改这里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Math.max(1, damage * 2 - o.defense);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attack(Monster o) {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o.hitpoint = Math.max(0, o.hitpoint - harmTo(o));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o.hitpoint;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4" name="c2-code-1"/>
          <p:cNvGrpSpPr/>
          <p:nvPr/>
        </p:nvGrpSpPr>
        <p:grpSpPr>
          <a:xfrm>
            <a:off x="7114222" y="1524000"/>
            <a:ext cx="4544378" cy="2327910"/>
            <a:chOff x="7114222" y="1524000"/>
            <a:chExt cx="4544378" cy="2327910"/>
          </a:xfrm>
        </p:grpSpPr>
        <p:sp>
          <p:nvSpPr>
            <p:cNvPr id="11" name="Rectangle 11"/>
            <p:cNvSpPr/>
            <p:nvPr/>
          </p:nvSpPr>
          <p:spPr>
            <a:xfrm>
              <a:off x="7114222" y="1524000"/>
              <a:ext cx="4544378" cy="2327910"/>
            </a:xfrm>
            <a:prstGeom prst="roundRect">
              <a:avLst>
                <a:gd name="adj" fmla="val 409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242620" y="16759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先手判定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241858" y="1937861"/>
              <a:ext cx="2906014" cy="1843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boolean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priorTo(Monster o)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(speed != o.speed)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speed &gt; o.speed;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(hitpoint != o.hitpoint)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hitpoint &gt; o.hitpoint;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(damage != o.damage)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damage &gt; o.damage;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defense &gt;= o.defense;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8" name="c2-steps-2"/>
          <p:cNvGrpSpPr/>
          <p:nvPr/>
        </p:nvGrpSpPr>
        <p:grpSpPr>
          <a:xfrm>
            <a:off x="7114222" y="4051935"/>
            <a:ext cx="4449101" cy="1878615"/>
            <a:chOff x="7114222" y="4051935"/>
            <a:chExt cx="4449101" cy="1878615"/>
          </a:xfrm>
        </p:grpSpPr>
        <p:sp>
          <p:nvSpPr>
            <p:cNvPr id="15" name="Rectangle 15"/>
            <p:cNvSpPr/>
            <p:nvPr/>
          </p:nvSpPr>
          <p:spPr>
            <a:xfrm>
              <a:off x="7247572" y="4194810"/>
              <a:ext cx="19050" cy="13011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7114222" y="4051935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207846" y="412575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114222" y="4702492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207846" y="477631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114222" y="5353050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207846" y="54268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525702" y="408622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先手先打一下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526846" y="4380071"/>
              <a:ext cx="29681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一击打到 0 就直接获胜，否则进入循环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525702" y="4736782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轮流攻击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526846" y="5030629"/>
              <a:ext cx="403647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循环里固定 other 先打再轮到自己，与先手那击接上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525702" y="5387340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伤害单独封装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526846" y="5681186"/>
              <a:ext cx="35865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子类覆盖 harmTo 即可换公式，attack 不必改</a:t>
              </a:r>
            </a:p>
          </p:txBody>
        </p:sp>
      </p:grpSp>
      <p:grpSp>
        <p:nvGrpSpPr>
          <p:cNvPr id="3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9" name="TextBox 29"/>
            <p:cNvSpPr txBox="1"/>
            <p:nvPr/>
          </p:nvSpPr>
          <p:spPr>
            <a:xfrm>
              <a:off x="528447" y="6581299"/>
              <a:ext cx="21849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UML 类图与类间关系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456225" cy="909257"/>
            <a:chOff x="520446" y="342900"/>
            <a:chExt cx="745622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2786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1281" y="407194"/>
              <a:ext cx="17720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01 类图与关系 · 依赖关系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45622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复核一遍：a(10,200,7,8) 打 b(10,150,8,7)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5965603" cy="264033"/>
            <a:chOff x="526542" y="1545907"/>
            <a:chExt cx="5965603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596560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两个怪物速度都是 10，比生命值，a 的 200 大于 b 的 150，所以 a 先手。</a:t>
              </a:r>
            </a:p>
          </p:txBody>
        </p:sp>
      </p:grpSp>
      <p:grpSp>
        <p:nvGrpSpPr>
          <p:cNvPr id="25" name="c1-table-1"/>
          <p:cNvGrpSpPr/>
          <p:nvPr/>
        </p:nvGrpSpPr>
        <p:grpSpPr>
          <a:xfrm>
            <a:off x="528447" y="1928812"/>
            <a:ext cx="5415153" cy="1407509"/>
            <a:chOff x="528447" y="1928812"/>
            <a:chExt cx="5415153" cy="1407509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410200" cy="381000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161860" y="2045970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进攻方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954464" y="2045970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计算式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743069" y="204597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每次伤害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77055" y="2426970"/>
              <a:ext cx="40433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打 b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887323" y="2426970"/>
              <a:ext cx="56900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× 7 − 7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986899" y="242697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68700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691765"/>
              <a:ext cx="5410200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177055" y="2808923"/>
              <a:ext cx="40433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打 a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887323" y="2808923"/>
              <a:ext cx="56900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× 8 − 8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986899" y="2808923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1928812"/>
              <a:ext cx="5410200" cy="114395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2221230" y="1928812"/>
              <a:ext cx="9525" cy="11439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4112895" y="1928812"/>
              <a:ext cx="9525" cy="11439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28447" y="3145631"/>
              <a:ext cx="11972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每次攻击的固定伤害</a:t>
              </a:r>
            </a:p>
          </p:txBody>
        </p:sp>
      </p:grpSp>
      <p:grpSp>
        <p:nvGrpSpPr>
          <p:cNvPr id="69" name="c1-table-2"/>
          <p:cNvGrpSpPr/>
          <p:nvPr/>
        </p:nvGrpSpPr>
        <p:grpSpPr>
          <a:xfrm>
            <a:off x="528447" y="3463290"/>
            <a:ext cx="5415153" cy="2933414"/>
            <a:chOff x="528447" y="3463290"/>
            <a:chExt cx="5415153" cy="2933414"/>
          </a:xfrm>
        </p:grpSpPr>
        <p:sp>
          <p:nvSpPr>
            <p:cNvPr id="26" name="Rectangle 26"/>
            <p:cNvSpPr/>
            <p:nvPr/>
          </p:nvSpPr>
          <p:spPr>
            <a:xfrm>
              <a:off x="533400" y="3463290"/>
              <a:ext cx="5410200" cy="381000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74979" y="358044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出手序号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439162" y="3580448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出手方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765972" y="3580448"/>
              <a:ext cx="4195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 生命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077565" y="3580448"/>
              <a:ext cx="4195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 生命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216866" y="396144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612317" y="3961448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853786" y="3961448"/>
              <a:ext cx="24389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200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5165379" y="3961448"/>
              <a:ext cx="24389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143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3400" y="422148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533400" y="4226242"/>
              <a:ext cx="5410200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1216866" y="434340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2612317" y="434340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3853786" y="4343400"/>
              <a:ext cx="24389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192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5165379" y="4343400"/>
              <a:ext cx="24389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143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33400" y="460248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1216866" y="472440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2612317" y="472440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3853786" y="4724400"/>
              <a:ext cx="24389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192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5165379" y="4724400"/>
              <a:ext cx="24389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136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33400" y="498348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533400" y="4988242"/>
              <a:ext cx="5410200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1216866" y="510635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⋯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2612317" y="5106352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⋯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3931529" y="5106352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⋯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5243122" y="5106352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⋯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533400" y="536543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1176051" y="548735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42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2612317" y="5487352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3892658" y="54873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5243122" y="5487352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533400" y="574643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533400" y="5751195"/>
              <a:ext cx="5410200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1176051" y="586835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43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2612317" y="5868352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3892658" y="586835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4641532" y="5760720"/>
              <a:ext cx="1292542" cy="36195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5243122" y="5868352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533400" y="3463290"/>
              <a:ext cx="5410200" cy="266985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5" name="Rectangle 65"/>
            <p:cNvSpPr/>
            <p:nvPr/>
          </p:nvSpPr>
          <p:spPr>
            <a:xfrm>
              <a:off x="1988820" y="3463290"/>
              <a:ext cx="9525" cy="266985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3314700" y="3463290"/>
              <a:ext cx="9525" cy="266985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7" name="Rectangle 67"/>
            <p:cNvSpPr/>
            <p:nvPr/>
          </p:nvSpPr>
          <p:spPr>
            <a:xfrm>
              <a:off x="4627245" y="3463290"/>
              <a:ext cx="9525" cy="266985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528447" y="6206014"/>
              <a:ext cx="232523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战斗过程（a 先出手，之后 b、a 交替）</a:t>
              </a:r>
            </a:p>
          </p:txBody>
        </p:sp>
      </p:grpSp>
      <p:grpSp>
        <p:nvGrpSpPr>
          <p:cNvPr id="75" name="c2-card-1"/>
          <p:cNvGrpSpPr/>
          <p:nvPr/>
        </p:nvGrpSpPr>
        <p:grpSpPr>
          <a:xfrm>
            <a:off x="6248400" y="1928812"/>
            <a:ext cx="5410200" cy="1168718"/>
            <a:chOff x="6248400" y="1928812"/>
            <a:chExt cx="5410200" cy="1168718"/>
          </a:xfrm>
        </p:grpSpPr>
        <p:sp>
          <p:nvSpPr>
            <p:cNvPr id="70" name="Rectangle 70"/>
            <p:cNvSpPr/>
            <p:nvPr/>
          </p:nvSpPr>
          <p:spPr>
            <a:xfrm>
              <a:off x="6248400" y="1928812"/>
              <a:ext cx="5410200" cy="1168718"/>
            </a:xfrm>
            <a:prstGeom prst="roundRect">
              <a:avLst>
                <a:gd name="adj" fmla="val 1141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1" name="Rectangle 71"/>
            <p:cNvSpPr/>
            <p:nvPr/>
          </p:nvSpPr>
          <p:spPr>
            <a:xfrm>
              <a:off x="6257925" y="2062162"/>
              <a:ext cx="47625" cy="90201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6460998" y="2130266"/>
              <a:ext cx="985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结论：A Win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6460998" y="2432209"/>
              <a:ext cx="482050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共出手 22 次，累计打掉 b 的 154 点生命（150 点即告负）。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6460998" y="2717006"/>
              <a:ext cx="38994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b 共出手 21 次，打掉 a 的 168 点，a 还剩 </a:t>
              </a: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32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点。</a:t>
              </a:r>
            </a:p>
          </p:txBody>
        </p:sp>
      </p:grpSp>
      <p:grpSp>
        <p:nvGrpSpPr>
          <p:cNvPr id="84" name="c2-card-2"/>
          <p:cNvGrpSpPr/>
          <p:nvPr/>
        </p:nvGrpSpPr>
        <p:grpSpPr>
          <a:xfrm>
            <a:off x="6248400" y="3261360"/>
            <a:ext cx="5410200" cy="1730692"/>
            <a:chOff x="6248400" y="3261360"/>
            <a:chExt cx="5410200" cy="1730692"/>
          </a:xfrm>
        </p:grpSpPr>
        <p:sp>
          <p:nvSpPr>
            <p:cNvPr id="76" name="Rectangle 76"/>
            <p:cNvSpPr/>
            <p:nvPr/>
          </p:nvSpPr>
          <p:spPr>
            <a:xfrm>
              <a:off x="6248400" y="3261360"/>
              <a:ext cx="5410200" cy="1730692"/>
            </a:xfrm>
            <a:prstGeom prst="roundRect">
              <a:avLst>
                <a:gd name="adj" fmla="val 770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7" name="Rectangle 77"/>
            <p:cNvSpPr/>
            <p:nvPr/>
          </p:nvSpPr>
          <p:spPr>
            <a:xfrm>
              <a:off x="6257925" y="3394710"/>
              <a:ext cx="47625" cy="146399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78" name="Rectangle 78"/>
            <p:cNvSpPr/>
            <p:nvPr/>
          </p:nvSpPr>
          <p:spPr>
            <a:xfrm>
              <a:off x="6467475" y="344233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6560147" y="347519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变式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7033451" y="3482816"/>
              <a:ext cx="21789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 b 的生命改成 180 会怎样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6460998" y="3799046"/>
              <a:ext cx="507897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仍然先手（200 &gt; 180）。b 需要挨 26 次打，a 只能挨 25 次打。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6460998" y="4083844"/>
              <a:ext cx="472719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50 次出手时 b 打出第 25 击，a 的生命恰好 200 − 8 × 25 = 0，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判负，b 还剩 5 点。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6460998" y="4611529"/>
              <a:ext cx="281735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结果：</a:t>
              </a:r>
              <a:r>
                <a:rPr lang="en-US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A Lose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，与原课件注释一致。</a:t>
              </a:r>
            </a:p>
          </p:txBody>
        </p:sp>
      </p:grpSp>
      <p:grpSp>
        <p:nvGrpSpPr>
          <p:cNvPr id="91" name="c2-callout-3"/>
          <p:cNvGrpSpPr/>
          <p:nvPr/>
        </p:nvGrpSpPr>
        <p:grpSpPr>
          <a:xfrm>
            <a:off x="6248400" y="5156835"/>
            <a:ext cx="5410200" cy="1201102"/>
            <a:chOff x="6248400" y="5156835"/>
            <a:chExt cx="5410200" cy="1201102"/>
          </a:xfrm>
        </p:grpSpPr>
        <p:sp>
          <p:nvSpPr>
            <p:cNvPr id="85" name="Rectangle 85"/>
            <p:cNvSpPr/>
            <p:nvPr/>
          </p:nvSpPr>
          <p:spPr>
            <a:xfrm>
              <a:off x="6248400" y="5156835"/>
              <a:ext cx="5410200" cy="1201102"/>
            </a:xfrm>
            <a:prstGeom prst="roundRect">
              <a:avLst>
                <a:gd name="adj" fmla="val 951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89" name="Group 89"/>
            <p:cNvGrpSpPr/>
            <p:nvPr/>
          </p:nvGrpSpPr>
          <p:grpSpPr>
            <a:xfrm>
              <a:off x="6453188" y="5657850"/>
              <a:ext cx="200026" cy="200025"/>
              <a:chOff x="6453188" y="5657850"/>
              <a:chExt cx="200026" cy="200025"/>
            </a:xfrm>
          </p:grpSpPr>
          <p:sp>
            <p:nvSpPr>
              <p:cNvPr id="86" name="Freeform 86"/>
              <p:cNvSpPr/>
              <p:nvPr/>
            </p:nvSpPr>
            <p:spPr>
              <a:xfrm>
                <a:off x="6453188" y="565785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87" name="Freeform 87"/>
              <p:cNvSpPr/>
              <p:nvPr/>
            </p:nvSpPr>
            <p:spPr>
              <a:xfrm>
                <a:off x="6492926" y="570230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88" name="Freeform 88"/>
              <p:cNvSpPr/>
              <p:nvPr/>
            </p:nvSpPr>
            <p:spPr>
              <a:xfrm>
                <a:off x="6527642" y="581342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90" name="TextBox 90"/>
            <p:cNvSpPr txBox="1"/>
            <p:nvPr/>
          </p:nvSpPr>
          <p:spPr>
            <a:xfrm>
              <a:off x="6756273" y="5550694"/>
              <a:ext cx="440207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这类题的快速算法：先算双方每击伤害，再算各自能挨几击，</a:t>
              </a:r>
              <a:br/>
              <a:r>
                <a:rPr lang="zh-CN" sz="12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最后按先手顺序比一比谁先耗完。</a:t>
              </a:r>
            </a:p>
          </p:txBody>
        </p:sp>
      </p:grpSp>
      <p:grpSp>
        <p:nvGrpSpPr>
          <p:cNvPr id="9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2" name="TextBox 92"/>
            <p:cNvSpPr txBox="1"/>
            <p:nvPr/>
          </p:nvSpPr>
          <p:spPr>
            <a:xfrm>
              <a:off x="528447" y="6581299"/>
              <a:ext cx="21849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UML 类图与类间关系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2786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1281" y="407194"/>
              <a:ext cx="17720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01 类图与关系 · 依赖关系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怪物变多了：猫和狗的攻击效果各不相同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7" name="c1-table-1"/>
          <p:cNvGrpSpPr/>
          <p:nvPr/>
        </p:nvGrpSpPr>
        <p:grpSpPr>
          <a:xfrm>
            <a:off x="533400" y="1524000"/>
            <a:ext cx="5626418" cy="1525905"/>
            <a:chOff x="533400" y="1524000"/>
            <a:chExt cx="5626418" cy="152590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381000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140142" y="1641157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怪物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208592" y="1641157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伤害公式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410200" y="1641157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下限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28078" y="2023110"/>
              <a:ext cx="61662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Monster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133981" y="2023110"/>
              <a:ext cx="15443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× 攻击力 − 对方防御力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048631" y="202311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28219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286952"/>
              <a:ext cx="5626418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28078" y="2404110"/>
              <a:ext cx="26017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Cat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133981" y="2404110"/>
              <a:ext cx="15443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× 攻击力 − 对方防御力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048631" y="240411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66319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28078" y="2785110"/>
              <a:ext cx="26017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Dog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2048828" y="2677478"/>
              <a:ext cx="2895600" cy="36195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2133981" y="2785110"/>
              <a:ext cx="20249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（攻击力 − 对方防御力 + 5）× 2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048631" y="2785110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1524000"/>
              <a:ext cx="5626418" cy="152590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2034540" y="1524000"/>
              <a:ext cx="9525" cy="1525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4949190" y="1524000"/>
              <a:ext cx="9525" cy="1525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4" name="c1-callout-2"/>
          <p:cNvGrpSpPr/>
          <p:nvPr/>
        </p:nvGrpSpPr>
        <p:grpSpPr>
          <a:xfrm>
            <a:off x="533400" y="3214688"/>
            <a:ext cx="5626418" cy="702945"/>
            <a:chOff x="533400" y="3214688"/>
            <a:chExt cx="5626418" cy="702945"/>
          </a:xfrm>
        </p:grpSpPr>
        <p:sp>
          <p:nvSpPr>
            <p:cNvPr id="28" name="Rectangle 28"/>
            <p:cNvSpPr/>
            <p:nvPr/>
          </p:nvSpPr>
          <p:spPr>
            <a:xfrm>
              <a:off x="533400" y="3214688"/>
              <a:ext cx="5626418" cy="702945"/>
            </a:xfrm>
            <a:prstGeom prst="roundRect">
              <a:avLst>
                <a:gd name="adj" fmla="val 16260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738188" y="3465195"/>
              <a:ext cx="200026" cy="200026"/>
              <a:chOff x="738188" y="3465195"/>
              <a:chExt cx="200026" cy="200026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738188" y="346519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838200" y="35318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827088" y="356520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1041273" y="3358991"/>
              <a:ext cx="4719066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按原课件给的公式，猫的伤害算法与基类一模一样，Cat 其实不必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覆盖；真正变了的只有狗。</a:t>
              </a:r>
            </a:p>
          </p:txBody>
        </p:sp>
      </p:grpSp>
      <p:grpSp>
        <p:nvGrpSpPr>
          <p:cNvPr id="38" name="c1-code-3"/>
          <p:cNvGrpSpPr/>
          <p:nvPr/>
        </p:nvGrpSpPr>
        <p:grpSpPr>
          <a:xfrm>
            <a:off x="533400" y="4081462"/>
            <a:ext cx="5626418" cy="1561148"/>
            <a:chOff x="533400" y="4081462"/>
            <a:chExt cx="5626418" cy="1561148"/>
          </a:xfrm>
        </p:grpSpPr>
        <p:sp>
          <p:nvSpPr>
            <p:cNvPr id="35" name="Rectangle 35"/>
            <p:cNvSpPr/>
            <p:nvPr/>
          </p:nvSpPr>
          <p:spPr>
            <a:xfrm>
              <a:off x="533400" y="4081462"/>
              <a:ext cx="5626418" cy="1561148"/>
            </a:xfrm>
            <a:prstGeom prst="roundRect">
              <a:avLst>
                <a:gd name="adj" fmla="val 610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61797" y="4233386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61797" y="4494371"/>
              <a:ext cx="3911727" cy="10717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Dog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Monster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@Override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protected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harmTo(Monster o)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Math.max(2, (damage - o.defense + 5) * 2);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69" name="c2-uml-1"/>
          <p:cNvGrpSpPr/>
          <p:nvPr/>
        </p:nvGrpSpPr>
        <p:grpSpPr>
          <a:xfrm>
            <a:off x="6631305" y="1634490"/>
            <a:ext cx="4860607" cy="1722120"/>
            <a:chOff x="6631305" y="1634490"/>
            <a:chExt cx="4860607" cy="1722120"/>
          </a:xfrm>
        </p:grpSpPr>
        <p:sp>
          <p:nvSpPr>
            <p:cNvPr id="39" name="Freeform 39"/>
            <p:cNvSpPr/>
            <p:nvPr/>
          </p:nvSpPr>
          <p:spPr>
            <a:xfrm>
              <a:off x="7330440" y="2510790"/>
              <a:ext cx="1731645" cy="176212"/>
            </a:xfrm>
            <a:custGeom>
              <a:avLst/>
              <a:gdLst/>
              <a:ahLst/>
              <a:cxnLst/>
              <a:rect l="l" t="t" r="r" b="b"/>
              <a:pathLst>
                <a:path w="1731645" h="176212">
                  <a:moveTo>
                    <a:pt x="0" y="176212"/>
                  </a:moveTo>
                  <a:lnTo>
                    <a:pt x="0" y="25717"/>
                  </a:lnTo>
                  <a:lnTo>
                    <a:pt x="1731645" y="25717"/>
                  </a:lnTo>
                  <a:lnTo>
                    <a:pt x="1731645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8988742" y="2385060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2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9062085" y="2510790"/>
              <a:ext cx="9525" cy="176212"/>
            </a:xfrm>
            <a:custGeom>
              <a:avLst/>
              <a:gdLst/>
              <a:ahLst/>
              <a:cxnLst/>
              <a:rect l="l" t="t" r="r" b="b"/>
              <a:pathLst>
                <a:path w="9525" h="176212">
                  <a:moveTo>
                    <a:pt x="0" y="176212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8988742" y="2385060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2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9062085" y="2495550"/>
              <a:ext cx="1730692" cy="110490"/>
            </a:xfrm>
            <a:custGeom>
              <a:avLst/>
              <a:gdLst/>
              <a:ahLst/>
              <a:cxnLst/>
              <a:rect l="l" t="t" r="r" b="b"/>
              <a:pathLst>
                <a:path w="1730692" h="110490">
                  <a:moveTo>
                    <a:pt x="1730692" y="110490"/>
                  </a:moveTo>
                  <a:lnTo>
                    <a:pt x="1730692" y="0"/>
                  </a:lnTo>
                  <a:lnTo>
                    <a:pt x="0" y="0"/>
                  </a:lnTo>
                  <a:lnTo>
                    <a:pt x="0" y="1524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8988742" y="2385060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2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8362950" y="1634490"/>
              <a:ext cx="1398270" cy="75057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8369618" y="1642110"/>
              <a:ext cx="138398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8362950" y="1864995"/>
              <a:ext cx="139827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8362950" y="1960245"/>
              <a:ext cx="139827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6631305" y="2687002"/>
              <a:ext cx="1398270" cy="58769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6638925" y="2694622"/>
              <a:ext cx="138398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6631305" y="2917508"/>
              <a:ext cx="139827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6631305" y="3012758"/>
              <a:ext cx="139827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8362950" y="2687002"/>
              <a:ext cx="1398270" cy="58769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8369618" y="2694622"/>
              <a:ext cx="138398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8362950" y="2917508"/>
              <a:ext cx="139827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8362950" y="3012758"/>
              <a:ext cx="139827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10093642" y="2606040"/>
              <a:ext cx="1398270" cy="75057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10101262" y="2613660"/>
              <a:ext cx="1383982" cy="22764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10093642" y="2836545"/>
              <a:ext cx="139827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10093642" y="2931795"/>
              <a:ext cx="139827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8774353" y="1690211"/>
              <a:ext cx="5754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Monster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434388" y="2029778"/>
              <a:ext cx="1255395" cy="3381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75"/>
                </a:lnSpc>
              </a:pPr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fight(o: Monster)</a:t>
              </a:r>
              <a:br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# harmTo(o: Monster)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209048" y="2742724"/>
              <a:ext cx="24278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Dog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6702742" y="3082290"/>
              <a:ext cx="134082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# harmTo(o: Monster)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940693" y="2742724"/>
              <a:ext cx="24278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Cat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8434388" y="3082290"/>
              <a:ext cx="134082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# harmTo(o: Monster)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0477670" y="2661761"/>
              <a:ext cx="63021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Crocodile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0165080" y="3001328"/>
              <a:ext cx="1255395" cy="3381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75"/>
                </a:lnSpc>
              </a:pPr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# harmTo(o: Monster)</a:t>
              </a:r>
              <a:br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kill(o: Monster)</a:t>
              </a:r>
            </a:p>
          </p:txBody>
        </p:sp>
      </p:grpSp>
      <p:grpSp>
        <p:nvGrpSpPr>
          <p:cNvPr id="76" name="c2-card-2"/>
          <p:cNvGrpSpPr/>
          <p:nvPr/>
        </p:nvGrpSpPr>
        <p:grpSpPr>
          <a:xfrm>
            <a:off x="6464618" y="3631882"/>
            <a:ext cx="5193982" cy="2010728"/>
            <a:chOff x="6464618" y="3631882"/>
            <a:chExt cx="5193982" cy="2010728"/>
          </a:xfrm>
        </p:grpSpPr>
        <p:sp>
          <p:nvSpPr>
            <p:cNvPr id="70" name="Rectangle 70"/>
            <p:cNvSpPr/>
            <p:nvPr/>
          </p:nvSpPr>
          <p:spPr>
            <a:xfrm>
              <a:off x="6464618" y="3631882"/>
              <a:ext cx="5193982" cy="2010728"/>
            </a:xfrm>
            <a:prstGeom prst="roundRect">
              <a:avLst>
                <a:gd name="adj" fmla="val 663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1" name="Rectangle 71"/>
            <p:cNvSpPr/>
            <p:nvPr/>
          </p:nvSpPr>
          <p:spPr>
            <a:xfrm>
              <a:off x="6474142" y="3765232"/>
              <a:ext cx="47625" cy="1744028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72" name="Rectangle 72"/>
            <p:cNvSpPr/>
            <p:nvPr/>
          </p:nvSpPr>
          <p:spPr>
            <a:xfrm>
              <a:off x="6683692" y="381285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6776364" y="384571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6677216" y="4153376"/>
              <a:ext cx="4491482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原课件基类声明 </a:t>
              </a: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int Attacked(Monster&amp;) const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，Cat、Dog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里却覆盖成 </a:t>
              </a: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bool Attack(Monster&amp;)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，名字和返回类型都对不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上，C++ 里只是新增了一个函数，调用仍走基类版本。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6677216" y="4923949"/>
              <a:ext cx="456463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覆盖必须 </a:t>
              </a: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同名、同参数、返回类型兼容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，Java 里写 </a:t>
              </a:r>
              <a:r>
                <a:rPr lang="en-US" sz="128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@Override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让编译器替你查。</a:t>
              </a:r>
            </a:p>
          </p:txBody>
        </p:sp>
      </p:grpSp>
      <p:grpSp>
        <p:nvGrpSpPr>
          <p:cNvPr id="82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77" name="Rectangle 77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80" name="Group 80"/>
            <p:cNvGrpSpPr/>
            <p:nvPr/>
          </p:nvGrpSpPr>
          <p:grpSpPr>
            <a:xfrm>
              <a:off x="738188" y="6028375"/>
              <a:ext cx="200023" cy="200023"/>
              <a:chOff x="738188" y="6028375"/>
              <a:chExt cx="200023" cy="200023"/>
            </a:xfrm>
          </p:grpSpPr>
          <p:sp>
            <p:nvSpPr>
              <p:cNvPr id="78" name="Freeform 78"/>
              <p:cNvSpPr/>
              <p:nvPr/>
            </p:nvSpPr>
            <p:spPr>
              <a:xfrm>
                <a:off x="738188" y="602837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79" name="Freeform 79"/>
              <p:cNvSpPr/>
              <p:nvPr/>
            </p:nvSpPr>
            <p:spPr>
              <a:xfrm>
                <a:off x="871538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81" name="TextBox 81"/>
            <p:cNvSpPr txBox="1"/>
            <p:nvPr/>
          </p:nvSpPr>
          <p:spPr>
            <a:xfrm>
              <a:off x="1041273" y="6039326"/>
              <a:ext cx="911759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鳄鱼多出的 kill 是新接口，用 Monster 引用调不到它，要么向下转型，要么把"吃掉对方"提升成所有怪物都有的行为。</a:t>
              </a:r>
            </a:p>
          </p:txBody>
        </p:sp>
      </p:grpSp>
      <p:grpSp>
        <p:nvGrpSpPr>
          <p:cNvPr id="8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3" name="TextBox 83"/>
            <p:cNvSpPr txBox="1"/>
            <p:nvPr/>
          </p:nvSpPr>
          <p:spPr>
            <a:xfrm>
              <a:off x="528447" y="6581299"/>
              <a:ext cx="21849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UML 类图与类间关系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2786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1281" y="407194"/>
              <a:ext cx="17720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01 类图与关系 · 依赖关系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双向依赖例：警察抓人，谁来决定加多少分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8001057" cy="264033"/>
            <a:chOff x="526542" y="1545907"/>
            <a:chExt cx="8001057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800105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题目：抓小偷得小偷经验分的一半再加 50 分，抓行人扣 500 分，将来还要加海盗、议员等新角色。</a:t>
              </a:r>
            </a:p>
          </p:txBody>
        </p:sp>
      </p:grpSp>
      <p:grpSp>
        <p:nvGrpSpPr>
          <p:cNvPr id="12" name="c1-code-1"/>
          <p:cNvGrpSpPr/>
          <p:nvPr/>
        </p:nvGrpSpPr>
        <p:grpSpPr>
          <a:xfrm>
            <a:off x="533400" y="1928812"/>
            <a:ext cx="5842635" cy="4198620"/>
            <a:chOff x="533400" y="1928812"/>
            <a:chExt cx="5842635" cy="4198620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842635" cy="4198620"/>
            </a:xfrm>
            <a:prstGeom prst="roundRect">
              <a:avLst>
                <a:gd name="adj" fmla="val 2269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080736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61797" y="2340769"/>
              <a:ext cx="3569462" cy="37149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Person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beCaught(Police cop);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Thief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Person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exp;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@Override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beCaught(Police cop)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cop.addAward(exp / 2 + 50);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Walker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Person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@Override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beCaught(Police cop)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cop.addAward(-500);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Police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totalAward = 0;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catchSomeone(Person p)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p.beCaught(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);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奖惩交给对方决定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addAward(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d) { totalAward += d;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45" name="c2-uml-1"/>
          <p:cNvGrpSpPr/>
          <p:nvPr/>
        </p:nvGrpSpPr>
        <p:grpSpPr>
          <a:xfrm>
            <a:off x="6757035" y="1995488"/>
            <a:ext cx="4671338" cy="1472565"/>
            <a:chOff x="6757035" y="1995488"/>
            <a:chExt cx="4671338" cy="1472565"/>
          </a:xfrm>
        </p:grpSpPr>
        <p:sp>
          <p:nvSpPr>
            <p:cNvPr id="13" name="Freeform 13"/>
            <p:cNvSpPr/>
            <p:nvPr/>
          </p:nvSpPr>
          <p:spPr>
            <a:xfrm>
              <a:off x="8263890" y="2370772"/>
              <a:ext cx="1965960" cy="9525"/>
            </a:xfrm>
            <a:custGeom>
              <a:avLst/>
              <a:gdLst/>
              <a:ahLst/>
              <a:cxnLst/>
              <a:rect l="l" t="t" r="r" b="b"/>
              <a:pathLst>
                <a:path w="1965960" h="9525">
                  <a:moveTo>
                    <a:pt x="0" y="0"/>
                  </a:moveTo>
                  <a:lnTo>
                    <a:pt x="196596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14" name="Freeform 14"/>
            <p:cNvSpPr/>
            <p:nvPr/>
          </p:nvSpPr>
          <p:spPr>
            <a:xfrm>
              <a:off x="10125075" y="2313622"/>
              <a:ext cx="104775" cy="115252"/>
            </a:xfrm>
            <a:custGeom>
              <a:avLst/>
              <a:gdLst/>
              <a:ahLst/>
              <a:cxnLst/>
              <a:rect l="l" t="t" r="r" b="b"/>
              <a:pathLst>
                <a:path w="104775" h="115252">
                  <a:moveTo>
                    <a:pt x="0" y="115252"/>
                  </a:moveTo>
                  <a:lnTo>
                    <a:pt x="104775" y="57150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8263890" y="2370772"/>
              <a:ext cx="1965960" cy="9525"/>
            </a:xfrm>
            <a:custGeom>
              <a:avLst/>
              <a:gdLst/>
              <a:ahLst/>
              <a:cxnLst/>
              <a:rect l="l" t="t" r="r" b="b"/>
              <a:pathLst>
                <a:path w="1965960" h="9525">
                  <a:moveTo>
                    <a:pt x="1965960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16" name="Freeform 16"/>
            <p:cNvSpPr/>
            <p:nvPr/>
          </p:nvSpPr>
          <p:spPr>
            <a:xfrm>
              <a:off x="8263890" y="2313622"/>
              <a:ext cx="104775" cy="115252"/>
            </a:xfrm>
            <a:custGeom>
              <a:avLst/>
              <a:gdLst/>
              <a:ahLst/>
              <a:cxnLst/>
              <a:rect l="l" t="t" r="r" b="b"/>
              <a:pathLst>
                <a:path w="104775" h="115252">
                  <a:moveTo>
                    <a:pt x="104775" y="0"/>
                  </a:moveTo>
                  <a:lnTo>
                    <a:pt x="0" y="57150"/>
                  </a:lnTo>
                  <a:lnTo>
                    <a:pt x="104775" y="115252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9169718" y="2790825"/>
              <a:ext cx="1659255" cy="251460"/>
            </a:xfrm>
            <a:custGeom>
              <a:avLst/>
              <a:gdLst/>
              <a:ahLst/>
              <a:cxnLst/>
              <a:rect l="l" t="t" r="r" b="b"/>
              <a:pathLst>
                <a:path w="1659255" h="251460">
                  <a:moveTo>
                    <a:pt x="0" y="251460"/>
                  </a:moveTo>
                  <a:lnTo>
                    <a:pt x="0" y="62865"/>
                  </a:lnTo>
                  <a:lnTo>
                    <a:pt x="1659255" y="62865"/>
                  </a:lnTo>
                  <a:lnTo>
                    <a:pt x="1659255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10755630" y="2665095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10828972" y="2790825"/>
              <a:ext cx="9525" cy="251460"/>
            </a:xfrm>
            <a:custGeom>
              <a:avLst/>
              <a:gdLst/>
              <a:ahLst/>
              <a:cxnLst/>
              <a:rect l="l" t="t" r="r" b="b"/>
              <a:pathLst>
                <a:path w="9525" h="251460">
                  <a:moveTo>
                    <a:pt x="0" y="25146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10755630" y="2665095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6757035" y="1995488"/>
              <a:ext cx="1506855" cy="75057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6764655" y="2003108"/>
              <a:ext cx="1492568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757035" y="2225992"/>
              <a:ext cx="1506855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6757035" y="2321242"/>
              <a:ext cx="1506855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10229850" y="2076450"/>
              <a:ext cx="1198245" cy="58769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10237470" y="2084070"/>
              <a:ext cx="1183958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10229850" y="2306955"/>
              <a:ext cx="1198245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10229850" y="2402205"/>
              <a:ext cx="1198245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8598218" y="3042285"/>
              <a:ext cx="1143000" cy="42576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8605838" y="3049905"/>
              <a:ext cx="112871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8598218" y="327279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8598218" y="336804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10257472" y="3042285"/>
              <a:ext cx="1143000" cy="42576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10265092" y="3049905"/>
              <a:ext cx="112871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10257472" y="327279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10257472" y="336804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309746" y="2051209"/>
              <a:ext cx="40143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Police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828472" y="2390775"/>
              <a:ext cx="1386840" cy="3381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75"/>
                </a:lnSpc>
              </a:pPr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catchSomeone(Person)</a:t>
              </a:r>
              <a:br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addAward(int)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0593299" y="2132171"/>
              <a:ext cx="4713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i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Person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301288" y="2471738"/>
              <a:ext cx="112708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beCaught(Police)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989649" y="3098006"/>
              <a:ext cx="36013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Thief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596794" y="3098006"/>
              <a:ext cx="46435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Walker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8847772" y="2174558"/>
              <a:ext cx="798195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8869547" y="2197418"/>
              <a:ext cx="75464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抓 / 回调加分</a:t>
              </a:r>
            </a:p>
          </p:txBody>
        </p:sp>
      </p:grpSp>
      <p:grpSp>
        <p:nvGrpSpPr>
          <p:cNvPr id="49" name="c2-card-2"/>
          <p:cNvGrpSpPr/>
          <p:nvPr/>
        </p:nvGrpSpPr>
        <p:grpSpPr>
          <a:xfrm>
            <a:off x="6680835" y="3867150"/>
            <a:ext cx="4977765" cy="1181100"/>
            <a:chOff x="6680835" y="3867150"/>
            <a:chExt cx="4977765" cy="1181100"/>
          </a:xfrm>
        </p:grpSpPr>
        <p:sp>
          <p:nvSpPr>
            <p:cNvPr id="46" name="Rectangle 46"/>
            <p:cNvSpPr/>
            <p:nvPr/>
          </p:nvSpPr>
          <p:spPr>
            <a:xfrm>
              <a:off x="6680835" y="3867150"/>
              <a:ext cx="4977765" cy="1181100"/>
            </a:xfrm>
            <a:prstGeom prst="roundRect">
              <a:avLst>
                <a:gd name="adj" fmla="val 1129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860667" y="40767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双向依赖的用处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860667" y="4393882"/>
              <a:ext cx="432011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警察不写 </a:t>
              </a:r>
              <a:r>
                <a:rPr lang="en-US" sz="135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if-else</a:t>
              </a: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判断抓到的是谁，奖惩规则写在各角色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自己身上；新增海盗只要再写一个子类。</a:t>
              </a:r>
            </a:p>
          </p:txBody>
        </p:sp>
      </p:grpSp>
      <p:grpSp>
        <p:nvGrpSpPr>
          <p:cNvPr id="56" name="c2-callout-3"/>
          <p:cNvGrpSpPr/>
          <p:nvPr/>
        </p:nvGrpSpPr>
        <p:grpSpPr>
          <a:xfrm>
            <a:off x="6680835" y="5217795"/>
            <a:ext cx="4977765" cy="908685"/>
            <a:chOff x="6680835" y="5217795"/>
            <a:chExt cx="4977765" cy="908685"/>
          </a:xfrm>
        </p:grpSpPr>
        <p:sp>
          <p:nvSpPr>
            <p:cNvPr id="50" name="Rectangle 50"/>
            <p:cNvSpPr/>
            <p:nvPr/>
          </p:nvSpPr>
          <p:spPr>
            <a:xfrm>
              <a:off x="6680835" y="5217795"/>
              <a:ext cx="4977765" cy="908685"/>
            </a:xfrm>
            <a:prstGeom prst="roundRect">
              <a:avLst>
                <a:gd name="adj" fmla="val 1257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6885623" y="5573078"/>
              <a:ext cx="200026" cy="200025"/>
              <a:chOff x="6885623" y="5573078"/>
              <a:chExt cx="200026" cy="200025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6885623" y="557307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6925361" y="561752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6960077" y="572865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7188327" y="5454015"/>
              <a:ext cx="4077081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警察调用对方的 beCaught、对方再回调警察加分，这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种两次分派的写法是访问者模式的核心手法。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7" name="TextBox 57"/>
            <p:cNvSpPr txBox="1"/>
            <p:nvPr/>
          </p:nvSpPr>
          <p:spPr>
            <a:xfrm>
              <a:off x="528447" y="6581299"/>
              <a:ext cx="21849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UML 类图与类间关系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3136392" cy="2997517"/>
            <a:chOff x="667512" y="1835468"/>
            <a:chExt cx="3136392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第三部分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197510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关联关系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12648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长期持有对方的引用，地位平等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单向、自身、双向三种形态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多重度怎么标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双向关联的维护代价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1849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UML 类图与类间关系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966661" cy="909257"/>
            <a:chOff x="520446" y="342900"/>
            <a:chExt cx="69666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2786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1281" y="407194"/>
              <a:ext cx="17720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01 类图与关系 · 关联关系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9666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关联：A 的实例与 B 的某些特定实例长期对应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5410200" cy="2060258"/>
            <a:chOff x="533400" y="1524000"/>
            <a:chExt cx="5410200" cy="206025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060258"/>
            </a:xfrm>
            <a:prstGeom prst="roundRect">
              <a:avLst>
                <a:gd name="adj" fmla="val 647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793558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0862" y="17435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23784" y="1745932"/>
              <a:ext cx="17997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关联（association）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1332" y="2071688"/>
              <a:ext cx="4814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两个相对独立的对象，一个的实例与另一个的一些特定实例存在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固定对应关系，这种语义级别的强依赖就是关联。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66762" y="2685098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22782" y="2628900"/>
              <a:ext cx="388471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关系是 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长期的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，不是临时的，双方地位一般平等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66762" y="2985135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22782" y="2928938"/>
              <a:ext cx="46428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画法：实线加开放箭头，由持有方指向被持有方；双向关联画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双箭头或不画箭头</a:t>
              </a:r>
            </a:p>
          </p:txBody>
        </p:sp>
      </p:grpSp>
      <p:grpSp>
        <p:nvGrpSpPr>
          <p:cNvPr id="21" name="c1-code-2"/>
          <p:cNvGrpSpPr/>
          <p:nvPr/>
        </p:nvGrpSpPr>
        <p:grpSpPr>
          <a:xfrm>
            <a:off x="533400" y="3753802"/>
            <a:ext cx="5410200" cy="1384935"/>
            <a:chOff x="533400" y="3753802"/>
            <a:chExt cx="5410200" cy="1384935"/>
          </a:xfrm>
        </p:grpSpPr>
        <p:sp>
          <p:nvSpPr>
            <p:cNvPr id="18" name="Rectangle 18"/>
            <p:cNvSpPr/>
            <p:nvPr/>
          </p:nvSpPr>
          <p:spPr>
            <a:xfrm>
              <a:off x="533400" y="3753802"/>
              <a:ext cx="5410200" cy="1384935"/>
            </a:xfrm>
            <a:prstGeom prst="roundRect">
              <a:avLst>
                <a:gd name="adj" fmla="val 6878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61797" y="3905726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61797" y="4166711"/>
              <a:ext cx="2972054" cy="8955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 b;           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长期持有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afun1() { b.bfun1();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afun2() { b.bfun2();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7" name="c1-bullets-3"/>
          <p:cNvGrpSpPr/>
          <p:nvPr/>
        </p:nvGrpSpPr>
        <p:grpSpPr>
          <a:xfrm>
            <a:off x="526542" y="5331142"/>
            <a:ext cx="3679144" cy="803435"/>
            <a:chOff x="526542" y="5331142"/>
            <a:chExt cx="3679144" cy="803435"/>
          </a:xfrm>
        </p:grpSpPr>
        <p:sp>
          <p:nvSpPr>
            <p:cNvPr id="22" name="TextBox 22"/>
            <p:cNvSpPr txBox="1"/>
            <p:nvPr/>
          </p:nvSpPr>
          <p:spPr>
            <a:xfrm>
              <a:off x="526542" y="5331142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典型例子与多重度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542925" y="5687378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99135" y="5644991"/>
              <a:ext cx="35065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客户与订单 1:N，公司与员工 1:N，主人与汽车 1:N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542925" y="5956935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99135" y="5914549"/>
              <a:ext cx="34899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丈夫与妻子 1:1，飞机与航班 1:N，学生与课程 N:N</a:t>
              </a:r>
            </a:p>
          </p:txBody>
        </p:sp>
      </p:grpSp>
      <p:grpSp>
        <p:nvGrpSpPr>
          <p:cNvPr id="43" name="c2-uml-1"/>
          <p:cNvGrpSpPr/>
          <p:nvPr/>
        </p:nvGrpSpPr>
        <p:grpSpPr>
          <a:xfrm>
            <a:off x="7029450" y="1984058"/>
            <a:ext cx="3848100" cy="587692"/>
            <a:chOff x="7029450" y="1984058"/>
            <a:chExt cx="3848100" cy="587692"/>
          </a:xfrm>
        </p:grpSpPr>
        <p:sp>
          <p:nvSpPr>
            <p:cNvPr id="28" name="Freeform 28"/>
            <p:cNvSpPr/>
            <p:nvPr/>
          </p:nvSpPr>
          <p:spPr>
            <a:xfrm>
              <a:off x="8172450" y="2278380"/>
              <a:ext cx="1562100" cy="9525"/>
            </a:xfrm>
            <a:custGeom>
              <a:avLst/>
              <a:gdLst/>
              <a:ahLst/>
              <a:cxnLst/>
              <a:rect l="l" t="t" r="r" b="b"/>
              <a:pathLst>
                <a:path w="1562100" h="9525">
                  <a:moveTo>
                    <a:pt x="0" y="0"/>
                  </a:moveTo>
                  <a:lnTo>
                    <a:pt x="15621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9629775" y="2220278"/>
              <a:ext cx="104775" cy="115252"/>
            </a:xfrm>
            <a:custGeom>
              <a:avLst/>
              <a:gdLst/>
              <a:ahLst/>
              <a:cxnLst/>
              <a:rect l="l" t="t" r="r" b="b"/>
              <a:pathLst>
                <a:path w="104775" h="115252">
                  <a:moveTo>
                    <a:pt x="0" y="115252"/>
                  </a:moveTo>
                  <a:lnTo>
                    <a:pt x="104775" y="58102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7029450" y="1984058"/>
              <a:ext cx="1143000" cy="58769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7037070" y="1991678"/>
              <a:ext cx="112871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7029450" y="221456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029450" y="247269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9734550" y="2065020"/>
              <a:ext cx="1143000" cy="42576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9742170" y="2072640"/>
              <a:ext cx="112871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9734550" y="229552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9734550" y="239077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327182" y="2039779"/>
              <a:ext cx="54753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Teacher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100888" y="2284095"/>
              <a:ext cx="101988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course: Course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070376" y="2121694"/>
              <a:ext cx="4713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Course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651558" y="2082165"/>
              <a:ext cx="603885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8679161" y="2105025"/>
              <a:ext cx="54867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 ── 1..*</a:t>
              </a:r>
            </a:p>
          </p:txBody>
        </p:sp>
      </p:grpSp>
      <p:grpSp>
        <p:nvGrpSpPr>
          <p:cNvPr id="63" name="c2-table-2"/>
          <p:cNvGrpSpPr/>
          <p:nvPr/>
        </p:nvGrpSpPr>
        <p:grpSpPr>
          <a:xfrm>
            <a:off x="6243447" y="3202305"/>
            <a:ext cx="5415153" cy="2264759"/>
            <a:chOff x="6243447" y="3202305"/>
            <a:chExt cx="5415153" cy="2264759"/>
          </a:xfrm>
        </p:grpSpPr>
        <p:sp>
          <p:nvSpPr>
            <p:cNvPr id="44" name="Rectangle 44"/>
            <p:cNvSpPr/>
            <p:nvPr/>
          </p:nvSpPr>
          <p:spPr>
            <a:xfrm>
              <a:off x="6248400" y="3202305"/>
              <a:ext cx="5410200" cy="400050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794856" y="332374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写法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499956" y="332374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含义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345555" y="372379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752398" y="372379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恰好一个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248400" y="399764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6248400" y="4002405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345555" y="4123849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0..1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752398" y="4123849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零个或一个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6248400" y="439769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345555" y="452389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*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752398" y="4523899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任意多个（含零个）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6248400" y="479774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6248400" y="4802505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345555" y="4923949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1..*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7752398" y="492394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至少一个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6248400" y="3202305"/>
              <a:ext cx="5410200" cy="20002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7650480" y="3202305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243447" y="5276374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多重度写在靠近类的那一端</a:t>
              </a:r>
            </a:p>
          </p:txBody>
        </p:sp>
      </p:grpSp>
      <p:grpSp>
        <p:nvGrpSpPr>
          <p:cNvPr id="69" name="c2-callout-3"/>
          <p:cNvGrpSpPr/>
          <p:nvPr/>
        </p:nvGrpSpPr>
        <p:grpSpPr>
          <a:xfrm>
            <a:off x="6248400" y="5598795"/>
            <a:ext cx="5410200" cy="729615"/>
            <a:chOff x="6248400" y="5598795"/>
            <a:chExt cx="5410200" cy="729615"/>
          </a:xfrm>
        </p:grpSpPr>
        <p:sp>
          <p:nvSpPr>
            <p:cNvPr id="64" name="Rectangle 64"/>
            <p:cNvSpPr/>
            <p:nvPr/>
          </p:nvSpPr>
          <p:spPr>
            <a:xfrm>
              <a:off x="6248400" y="5598795"/>
              <a:ext cx="5410200" cy="729615"/>
            </a:xfrm>
            <a:prstGeom prst="roundRect">
              <a:avLst>
                <a:gd name="adj" fmla="val 15666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67" name="Group 67"/>
            <p:cNvGrpSpPr/>
            <p:nvPr/>
          </p:nvGrpSpPr>
          <p:grpSpPr>
            <a:xfrm>
              <a:off x="6453188" y="5862640"/>
              <a:ext cx="200023" cy="200023"/>
              <a:chOff x="6453188" y="5862640"/>
              <a:chExt cx="200023" cy="200023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6453188" y="586264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6586538" y="59293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8" name="TextBox 68"/>
            <p:cNvSpPr txBox="1"/>
            <p:nvPr/>
          </p:nvSpPr>
          <p:spPr>
            <a:xfrm>
              <a:off x="6755892" y="5744528"/>
              <a:ext cx="447141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关联还可以标角色名（写在线的端点旁）和关联名（写在线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的中间），用来说清"谁对谁扮演什么角色"。</a:t>
              </a:r>
            </a:p>
          </p:txBody>
        </p:sp>
      </p:grpSp>
      <p:grpSp>
        <p:nvGrpSpPr>
          <p:cNvPr id="7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0" name="TextBox 70"/>
            <p:cNvSpPr txBox="1"/>
            <p:nvPr/>
          </p:nvSpPr>
          <p:spPr>
            <a:xfrm>
              <a:off x="528447" y="6581299"/>
              <a:ext cx="21849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UML 类图与类间关系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2786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1281" y="407194"/>
              <a:ext cx="17720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01 类图与关系 · 关联关系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依赖与关联的分界：用完就忘，还是一直记着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1" name="c1-compare-1"/>
          <p:cNvGrpSpPr/>
          <p:nvPr/>
        </p:nvGrpSpPr>
        <p:grpSpPr>
          <a:xfrm>
            <a:off x="533400" y="1524000"/>
            <a:ext cx="5410200" cy="4120515"/>
            <a:chOff x="533400" y="1524000"/>
            <a:chExt cx="5410200" cy="412051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2533650" cy="4120515"/>
            </a:xfrm>
            <a:prstGeom prst="roundRect">
              <a:avLst>
                <a:gd name="adj" fmla="val 52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385381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73430" y="175831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86765" y="2175510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44880" y="2112645"/>
              <a:ext cx="1729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只出现在方法的参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数、局部变量、返回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值里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86765" y="3082290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44880" y="3019425"/>
              <a:ext cx="17011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方法结束，A 就再也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找不到那个 B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86765" y="3703320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44880" y="3640455"/>
              <a:ext cx="15678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 B 的接口会波及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A，但波及面小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86765" y="4324350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44880" y="4261485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例：人开一下租来的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车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409950" y="1524000"/>
              <a:ext cx="2533650" cy="4120515"/>
            </a:xfrm>
            <a:prstGeom prst="roundRect">
              <a:avLst>
                <a:gd name="adj" fmla="val 52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3419475" y="1657350"/>
              <a:ext cx="47625" cy="385381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649980" y="175831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关联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3663315" y="2175510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3821430" y="2112645"/>
              <a:ext cx="1653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是 A 的成员字段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3663315" y="2510790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821430" y="2447925"/>
              <a:ext cx="17583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只要 A 活着，就能随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时找到那个 B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3663315" y="3131820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3821430" y="3068955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 B 的接口会波及 A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的多个方法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3663315" y="3752850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3821430" y="368998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例：人有自己的车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3076575" y="3422332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2950464" y="351853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关键区别</a:t>
              </a:r>
            </a:p>
          </p:txBody>
        </p:sp>
      </p:grpSp>
      <p:grpSp>
        <p:nvGrpSpPr>
          <p:cNvPr id="34" name="c2-image-1"/>
          <p:cNvGrpSpPr/>
          <p:nvPr/>
        </p:nvGrpSpPr>
        <p:grpSpPr>
          <a:xfrm>
            <a:off x="6248400" y="1524000"/>
            <a:ext cx="5410200" cy="3172302"/>
            <a:chOff x="6248400" y="1524000"/>
            <a:chExt cx="5410200" cy="3172302"/>
          </a:xfrm>
        </p:grpSpPr>
        <p:pic>
          <p:nvPicPr>
            <p:cNvPr id="32" name="Image 32"/>
            <p:cNvPicPr>
              <a:picLocks noChangeAspect="1"/>
            </p:cNvPicPr>
            <p:nvPr/>
          </p:nvPicPr>
          <p:blipFill>
            <a:blip r:embed="rId2"/>
            <a:srcRect l="0" t="14788" r="0" b="14789"/>
            <a:stretch>
              <a:fillRect/>
            </a:stretch>
          </p:blipFill>
          <p:spPr>
            <a:xfrm>
              <a:off x="6248400" y="1524000"/>
              <a:ext cx="5410200" cy="2857500"/>
            </a:xfrm>
            <a:prstGeom prst="roundRect">
              <a:avLst>
                <a:gd name="adj" fmla="val 4666"/>
              </a:avLst>
            </a:prstGeom>
          </p:spPr>
        </p:pic>
        <p:sp>
          <p:nvSpPr>
            <p:cNvPr id="33" name="TextBox 33"/>
            <p:cNvSpPr txBox="1"/>
            <p:nvPr/>
          </p:nvSpPr>
          <p:spPr>
            <a:xfrm>
              <a:off x="6987718" y="4476274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从公共工具架上借电钻是依赖；自己工具箱里的锤子是关联</a:t>
              </a:r>
            </a:p>
          </p:txBody>
        </p:sp>
      </p:grpSp>
      <p:grpSp>
        <p:nvGrpSpPr>
          <p:cNvPr id="41" name="c2-callout-2"/>
          <p:cNvGrpSpPr/>
          <p:nvPr/>
        </p:nvGrpSpPr>
        <p:grpSpPr>
          <a:xfrm>
            <a:off x="6248400" y="4861560"/>
            <a:ext cx="5410200" cy="782955"/>
            <a:chOff x="6248400" y="4861560"/>
            <a:chExt cx="5410200" cy="782955"/>
          </a:xfrm>
        </p:grpSpPr>
        <p:sp>
          <p:nvSpPr>
            <p:cNvPr id="35" name="Rectangle 35"/>
            <p:cNvSpPr/>
            <p:nvPr/>
          </p:nvSpPr>
          <p:spPr>
            <a:xfrm>
              <a:off x="6248400" y="4861560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6441129" y="5149333"/>
              <a:ext cx="224134" cy="192560"/>
              <a:chOff x="6441129" y="5149333"/>
              <a:chExt cx="224134" cy="192560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6553200" y="521970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6441129" y="514933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6553200" y="529748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6755130" y="5010150"/>
              <a:ext cx="4395311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 xml:space="preserve">光看"A 的方法里出现了 B"判断不了关系，要看 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B 有</a:t>
              </a:r>
              <a:br/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没有成为 A 的字段</a:t>
              </a: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4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2" name="TextBox 42"/>
            <p:cNvSpPr txBox="1"/>
            <p:nvPr/>
          </p:nvSpPr>
          <p:spPr>
            <a:xfrm>
              <a:off x="528447" y="6581299"/>
              <a:ext cx="21849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UML 类图与类间关系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2786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1281" y="407194"/>
              <a:ext cx="17720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01 类图与关系 · 关联关系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单向关联例一：英雄最多带五件宝物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11099673" cy="264033"/>
            <a:chOff x="526542" y="1545907"/>
            <a:chExt cx="11099673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110996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题目：英雄有魅力、声望、攻击、防御、法力五项能力；每件宝物固定提升某一项；要能查能力、在指定位置放宝物、丢掉该位置的宝物。</a:t>
              </a:r>
            </a:p>
          </p:txBody>
        </p:sp>
      </p:grpSp>
      <p:grpSp>
        <p:nvGrpSpPr>
          <p:cNvPr id="12" name="c1-code-1"/>
          <p:cNvGrpSpPr/>
          <p:nvPr/>
        </p:nvGrpSpPr>
        <p:grpSpPr>
          <a:xfrm>
            <a:off x="533400" y="1928812"/>
            <a:ext cx="6059805" cy="4022408"/>
            <a:chOff x="533400" y="1928812"/>
            <a:chExt cx="6059805" cy="4022408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6059805" cy="4022408"/>
            </a:xfrm>
            <a:prstGeom prst="roundRect">
              <a:avLst>
                <a:gd name="adj" fmla="val 2368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080736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61797" y="2340769"/>
              <a:ext cx="4253992" cy="35387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enum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Ability { CHARM, REPUTE, ATTACK, DEFENSE, POWER }</a:t>
              </a:r>
              <a:br/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Goods 只有两个字段：提升哪一项 target、提升多少 bonus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Hero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[] raw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[5];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基础能力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[] cur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[5];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当前能力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Goods[] bags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Goods[5];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5 个宝物袋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addGood(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bagId, Goods g)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bags[bagId] = g; recalculate();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removeGood(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bagId)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bags[bagId]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null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; recalculate();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ability(Ability w) {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cur[w.ordinal()];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recalculate()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System.arraycopy(raw, 0, cur, 0, raw.length);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(Goods g : bags)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(g !=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null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    cur[g.target().ordinal()] += g.bonus();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38" name="c2-table-1"/>
          <p:cNvGrpSpPr/>
          <p:nvPr/>
        </p:nvGrpSpPr>
        <p:grpSpPr>
          <a:xfrm>
            <a:off x="6893052" y="1928812"/>
            <a:ext cx="4765548" cy="2263807"/>
            <a:chOff x="6893052" y="1928812"/>
            <a:chExt cx="4765548" cy="2263807"/>
          </a:xfrm>
        </p:grpSpPr>
        <p:sp>
          <p:nvSpPr>
            <p:cNvPr id="13" name="Rectangle 13"/>
            <p:cNvSpPr/>
            <p:nvPr/>
          </p:nvSpPr>
          <p:spPr>
            <a:xfrm>
              <a:off x="6898005" y="1928812"/>
              <a:ext cx="4760595" cy="400050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020723" y="20502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操作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51428" y="20502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魅力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951566" y="20502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声望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995160" y="245030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初始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919277" y="245030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1019414" y="245030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898005" y="2724150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6898005" y="2728912"/>
              <a:ext cx="476059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995160" y="2850356"/>
              <a:ext cx="18591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号袋放宝物 1（魅力 +2）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919277" y="285035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1019414" y="285035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898005" y="3124200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995160" y="3250406"/>
              <a:ext cx="18591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号袋放宝物 2（声望 +3）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919277" y="325040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1019414" y="325040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898005" y="3524250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6898005" y="3529012"/>
              <a:ext cx="476059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995160" y="3650456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丢掉 0 号袋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919277" y="365045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1019414" y="365045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898005" y="1928812"/>
              <a:ext cx="4760595" cy="20002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9452610" y="1928812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10552748" y="1928812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893052" y="4001929"/>
              <a:ext cx="252972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基础魅力 10、声望 20 的英雄放入两件宝物</a:t>
              </a:r>
            </a:p>
          </p:txBody>
        </p:sp>
      </p:grpSp>
      <p:grpSp>
        <p:nvGrpSpPr>
          <p:cNvPr id="43" name="c2-card-2"/>
          <p:cNvGrpSpPr/>
          <p:nvPr/>
        </p:nvGrpSpPr>
        <p:grpSpPr>
          <a:xfrm>
            <a:off x="6898005" y="4324350"/>
            <a:ext cx="4760595" cy="1738312"/>
            <a:chOff x="6898005" y="4324350"/>
            <a:chExt cx="4760595" cy="1738312"/>
          </a:xfrm>
        </p:grpSpPr>
        <p:sp>
          <p:nvSpPr>
            <p:cNvPr id="39" name="Rectangle 39"/>
            <p:cNvSpPr/>
            <p:nvPr/>
          </p:nvSpPr>
          <p:spPr>
            <a:xfrm>
              <a:off x="6898005" y="4324350"/>
              <a:ext cx="4760595" cy="1738312"/>
            </a:xfrm>
            <a:prstGeom prst="roundRect">
              <a:avLst>
                <a:gd name="adj" fmla="val 7671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077837" y="453294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为什么要整体重算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077837" y="4850130"/>
              <a:ext cx="41285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拿掉宝物时只做减法，中途换过宝物就会算错；每次变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动都 </a:t>
              </a:r>
              <a:r>
                <a:rPr lang="zh-CN" sz="135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从 raw 重算 cur</a:t>
              </a: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，状态只有一个来源。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077837" y="5407342"/>
              <a:ext cx="415423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英雄长期持有 5 个宝物槽，宝物并不知道英雄，这是单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向关联，多重度 1 对 0..5。</a:t>
              </a:r>
            </a:p>
          </p:txBody>
        </p:sp>
      </p:grpSp>
      <p:grpSp>
        <p:nvGrpSpPr>
          <p:cNvPr id="4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4" name="TextBox 44"/>
            <p:cNvSpPr txBox="1"/>
            <p:nvPr/>
          </p:nvSpPr>
          <p:spPr>
            <a:xfrm>
              <a:off x="528447" y="6581299"/>
              <a:ext cx="21849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UML 类图与类间关系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2786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1281" y="407194"/>
              <a:ext cx="17720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01 类图与关系 · 关联关系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单向关联例二：学生持有自己的宿舍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626418" cy="3545205"/>
            <a:chOff x="533400" y="1524000"/>
            <a:chExt cx="5626418" cy="354520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3545205"/>
            </a:xfrm>
            <a:prstGeom prst="roundRect">
              <a:avLst>
                <a:gd name="adj" fmla="val 2687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035" y="1937861"/>
              <a:ext cx="3901694" cy="3060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Dorm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building, floor, room;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floor() {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floor;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Student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name;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Dorm dorm;  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关联：长期持有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Student(String name, Dorm d)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.name = name;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.dorm = d;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dormFloor()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dorm.floor();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一路问过去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6" name="c1-callout-2"/>
          <p:cNvGrpSpPr/>
          <p:nvPr/>
        </p:nvGrpSpPr>
        <p:grpSpPr>
          <a:xfrm>
            <a:off x="533400" y="5254942"/>
            <a:ext cx="5626418" cy="882015"/>
            <a:chOff x="533400" y="5254942"/>
            <a:chExt cx="5626418" cy="882015"/>
          </a:xfrm>
        </p:grpSpPr>
        <p:sp>
          <p:nvSpPr>
            <p:cNvPr id="11" name="Rectangle 11"/>
            <p:cNvSpPr/>
            <p:nvPr/>
          </p:nvSpPr>
          <p:spPr>
            <a:xfrm>
              <a:off x="533400" y="5254942"/>
              <a:ext cx="5626418" cy="882015"/>
            </a:xfrm>
            <a:prstGeom prst="roundRect">
              <a:avLst>
                <a:gd name="adj" fmla="val 12959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738188" y="5595940"/>
              <a:ext cx="200023" cy="200023"/>
              <a:chOff x="738188" y="5595940"/>
              <a:chExt cx="200023" cy="200023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738188" y="559594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871538" y="56626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1040511" y="5464969"/>
              <a:ext cx="470331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学生不自己存楼层，要用的时候向宿舍要。同一份信息只留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一个出处，宿舍调整楼层时学生这边不会过期。</a:t>
              </a:r>
            </a:p>
          </p:txBody>
        </p:sp>
      </p:grpSp>
      <p:grpSp>
        <p:nvGrpSpPr>
          <p:cNvPr id="35" name="c2-uml-1"/>
          <p:cNvGrpSpPr/>
          <p:nvPr/>
        </p:nvGrpSpPr>
        <p:grpSpPr>
          <a:xfrm>
            <a:off x="7079932" y="1794510"/>
            <a:ext cx="3851910" cy="1029652"/>
            <a:chOff x="7079932" y="1794510"/>
            <a:chExt cx="3851910" cy="1029652"/>
          </a:xfrm>
        </p:grpSpPr>
        <p:sp>
          <p:nvSpPr>
            <p:cNvPr id="17" name="Freeform 17"/>
            <p:cNvSpPr/>
            <p:nvPr/>
          </p:nvSpPr>
          <p:spPr>
            <a:xfrm>
              <a:off x="8445818" y="2308860"/>
              <a:ext cx="1343025" cy="9525"/>
            </a:xfrm>
            <a:custGeom>
              <a:avLst/>
              <a:gdLst/>
              <a:ahLst/>
              <a:cxnLst/>
              <a:rect l="l" t="t" r="r" b="b"/>
              <a:pathLst>
                <a:path w="1343025" h="9525">
                  <a:moveTo>
                    <a:pt x="0" y="0"/>
                  </a:moveTo>
                  <a:lnTo>
                    <a:pt x="1343025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9684068" y="2251710"/>
              <a:ext cx="104775" cy="115252"/>
            </a:xfrm>
            <a:custGeom>
              <a:avLst/>
              <a:gdLst/>
              <a:ahLst/>
              <a:cxnLst/>
              <a:rect l="l" t="t" r="r" b="b"/>
              <a:pathLst>
                <a:path w="104775" h="115252">
                  <a:moveTo>
                    <a:pt x="0" y="115252"/>
                  </a:moveTo>
                  <a:lnTo>
                    <a:pt x="104775" y="57150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079932" y="1794510"/>
              <a:ext cx="1365885" cy="102965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087552" y="1801178"/>
              <a:ext cx="1351598" cy="26479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7079932" y="2061210"/>
              <a:ext cx="1365885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7079932" y="2534602"/>
              <a:ext cx="1365885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9788842" y="1888808"/>
              <a:ext cx="1143000" cy="84105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9795510" y="1896428"/>
              <a:ext cx="1128712" cy="26479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9788842" y="215550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9788842" y="244030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449943" y="1858804"/>
              <a:ext cx="6258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Student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150798" y="2133600"/>
              <a:ext cx="964121" cy="3949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name: String</a:t>
              </a:r>
            </a:p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dorm: Dorm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150798" y="2606993"/>
              <a:ext cx="13030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dormFloor(): int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161963" y="1953101"/>
              <a:ext cx="3967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Dorm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859709" y="2227898"/>
              <a:ext cx="80223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floor: int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859709" y="2512695"/>
              <a:ext cx="95772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floor(): int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860155" y="2093595"/>
              <a:ext cx="515302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910571" y="2119312"/>
              <a:ext cx="41351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住在 1</a:t>
              </a:r>
            </a:p>
          </p:txBody>
        </p:sp>
      </p:grpSp>
      <p:grpSp>
        <p:nvGrpSpPr>
          <p:cNvPr id="43" name="c2-card-2"/>
          <p:cNvGrpSpPr/>
          <p:nvPr/>
        </p:nvGrpSpPr>
        <p:grpSpPr>
          <a:xfrm>
            <a:off x="6464618" y="3280410"/>
            <a:ext cx="5193982" cy="1914525"/>
            <a:chOff x="6464618" y="3280410"/>
            <a:chExt cx="5193982" cy="1914525"/>
          </a:xfrm>
        </p:grpSpPr>
        <p:sp>
          <p:nvSpPr>
            <p:cNvPr id="36" name="Rectangle 36"/>
            <p:cNvSpPr/>
            <p:nvPr/>
          </p:nvSpPr>
          <p:spPr>
            <a:xfrm>
              <a:off x="6464618" y="3280410"/>
              <a:ext cx="5193982" cy="1914525"/>
            </a:xfrm>
            <a:prstGeom prst="roundRect">
              <a:avLst>
                <a:gd name="adj" fmla="val 696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6474142" y="3413760"/>
              <a:ext cx="47625" cy="164782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706552" y="3484245"/>
              <a:ext cx="120491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776060" y="3519964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两个方向不要混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699314" y="3857149"/>
              <a:ext cx="38458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学生里放 Dorm 字段，是学生单向关联宿舍。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699314" y="4177189"/>
              <a:ext cx="4441825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宿舍里放 Student 数组，含义变成"宿舍由学生组成"，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那就是下一节的 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聚合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699314" y="4768691"/>
              <a:ext cx="479348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如果两边都放，就是双向关联，学生退宿时两边都要改。</a:t>
              </a:r>
            </a:p>
          </p:txBody>
        </p:sp>
      </p:grpSp>
      <p:grpSp>
        <p:nvGrpSpPr>
          <p:cNvPr id="50" name="c2-callout-3"/>
          <p:cNvGrpSpPr/>
          <p:nvPr/>
        </p:nvGrpSpPr>
        <p:grpSpPr>
          <a:xfrm>
            <a:off x="6464618" y="5380672"/>
            <a:ext cx="5193982" cy="756285"/>
            <a:chOff x="6464618" y="5380672"/>
            <a:chExt cx="5193982" cy="756285"/>
          </a:xfrm>
        </p:grpSpPr>
        <p:sp>
          <p:nvSpPr>
            <p:cNvPr id="44" name="Rectangle 44"/>
            <p:cNvSpPr/>
            <p:nvPr/>
          </p:nvSpPr>
          <p:spPr>
            <a:xfrm>
              <a:off x="6464618" y="5380672"/>
              <a:ext cx="5193982" cy="756285"/>
            </a:xfrm>
            <a:prstGeom prst="roundRect">
              <a:avLst>
                <a:gd name="adj" fmla="val 1511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6669405" y="5658803"/>
              <a:ext cx="200026" cy="200025"/>
              <a:chOff x="6669405" y="5658803"/>
              <a:chExt cx="200026" cy="200025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6669405" y="565880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6709144" y="570325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6743859" y="581437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6971729" y="5527834"/>
              <a:ext cx="416229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若宿舍还分四人间、双人间、单人间，就把 Dorm 抽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象成父类，Student 仍然只认 Dorm。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21849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UML 类图与类间关系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2786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1281" y="407194"/>
              <a:ext cx="17720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01 类图与关系 · 关联关系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自身关联：字段的类型就是自己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410200" cy="4153852"/>
            <a:chOff x="533400" y="1524000"/>
            <a:chExt cx="5410200" cy="415385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4153852"/>
            </a:xfrm>
            <a:prstGeom prst="roundRect">
              <a:avLst>
                <a:gd name="adj" fmla="val 2293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链表节点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035" y="1937861"/>
              <a:ext cx="3474974" cy="366903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Node&lt;T&gt;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 data;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Node&lt;T&gt; next;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自身关联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Node(T item, Node&lt;T&gt; next)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.data = item;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.next = next;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insertAfter(Node&lt;T&gt; p) {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p.next =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.next;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.next = p;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Node&lt;T&gt; deleteAfter() {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Node&lt;T&gt; p = next;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(p !=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null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 next = p.next;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Node&lt;T&gt; next() {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next;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8" name="c1-cells-2"/>
          <p:cNvGrpSpPr/>
          <p:nvPr/>
        </p:nvGrpSpPr>
        <p:grpSpPr>
          <a:xfrm>
            <a:off x="527304" y="5863590"/>
            <a:ext cx="3038856" cy="406718"/>
            <a:chOff x="527304" y="5863590"/>
            <a:chExt cx="3038856" cy="406718"/>
          </a:xfrm>
        </p:grpSpPr>
        <p:sp>
          <p:nvSpPr>
            <p:cNvPr id="11" name="TextBox 11"/>
            <p:cNvSpPr txBox="1"/>
            <p:nvPr/>
          </p:nvSpPr>
          <p:spPr>
            <a:xfrm>
              <a:off x="527304" y="5992178"/>
              <a:ext cx="3853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head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1019175" y="5863590"/>
              <a:ext cx="423862" cy="4067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131242" y="5992178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a1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442085" y="5863590"/>
              <a:ext cx="209550" cy="406718"/>
            </a:xfrm>
            <a:prstGeom prst="rect">
              <a:avLst/>
            </a:prstGeom>
            <a:solidFill>
              <a:srgbClr val="EEEAF7"/>
            </a:solidFill>
            <a:ln w="15240">
              <a:solidFill>
                <a:srgbClr val="5B3FA0"/>
              </a:solidFill>
            </a:ln>
          </p:spPr>
        </p:sp>
        <p:sp>
          <p:nvSpPr>
            <p:cNvPr id="15" name="Ellipse 15"/>
            <p:cNvSpPr/>
            <p:nvPr/>
          </p:nvSpPr>
          <p:spPr>
            <a:xfrm>
              <a:off x="1518285" y="6037898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6" name="Freeform 16"/>
            <p:cNvSpPr/>
            <p:nvPr/>
          </p:nvSpPr>
          <p:spPr>
            <a:xfrm>
              <a:off x="1546860" y="6066472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1889760" y="6023610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1975485" y="5863590"/>
              <a:ext cx="423862" cy="4067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2088505" y="5992178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a2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2399348" y="5863590"/>
              <a:ext cx="209550" cy="406718"/>
            </a:xfrm>
            <a:prstGeom prst="rect">
              <a:avLst/>
            </a:prstGeom>
            <a:solidFill>
              <a:srgbClr val="EEEAF7"/>
            </a:solidFill>
            <a:ln w="15240">
              <a:solidFill>
                <a:srgbClr val="5B3FA0"/>
              </a:solidFill>
            </a:ln>
          </p:spPr>
        </p:sp>
        <p:sp>
          <p:nvSpPr>
            <p:cNvPr id="21" name="Ellipse 21"/>
            <p:cNvSpPr/>
            <p:nvPr/>
          </p:nvSpPr>
          <p:spPr>
            <a:xfrm>
              <a:off x="2475548" y="6037898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22" name="Freeform 22"/>
            <p:cNvSpPr/>
            <p:nvPr/>
          </p:nvSpPr>
          <p:spPr>
            <a:xfrm>
              <a:off x="2504122" y="6066472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2847022" y="6023610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2932748" y="5863590"/>
              <a:ext cx="423862" cy="406718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5B3FA0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3045767" y="5992178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a3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356610" y="5863590"/>
              <a:ext cx="209550" cy="406718"/>
            </a:xfrm>
            <a:prstGeom prst="rect">
              <a:avLst/>
            </a:prstGeom>
            <a:solidFill>
              <a:srgbClr val="EEEAF7"/>
            </a:solidFill>
            <a:ln w="15240">
              <a:solidFill>
                <a:srgbClr val="5B3FA0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3417179" y="5998845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∧</a:t>
              </a:r>
            </a:p>
          </p:txBody>
        </p:sp>
      </p:grpSp>
      <p:grpSp>
        <p:nvGrpSpPr>
          <p:cNvPr id="49" name="c2-uml-1"/>
          <p:cNvGrpSpPr/>
          <p:nvPr/>
        </p:nvGrpSpPr>
        <p:grpSpPr>
          <a:xfrm>
            <a:off x="6717982" y="1660208"/>
            <a:ext cx="4216718" cy="1480184"/>
            <a:chOff x="6717982" y="1660208"/>
            <a:chExt cx="4216718" cy="1480184"/>
          </a:xfrm>
        </p:grpSpPr>
        <p:sp>
          <p:nvSpPr>
            <p:cNvPr id="29" name="Freeform 29"/>
            <p:cNvSpPr/>
            <p:nvPr/>
          </p:nvSpPr>
          <p:spPr>
            <a:xfrm>
              <a:off x="7600950" y="2437448"/>
              <a:ext cx="9525" cy="240982"/>
            </a:xfrm>
            <a:custGeom>
              <a:avLst/>
              <a:gdLst/>
              <a:ahLst/>
              <a:cxnLst/>
              <a:rect l="l" t="t" r="r" b="b"/>
              <a:pathLst>
                <a:path w="9525" h="240982">
                  <a:moveTo>
                    <a:pt x="0" y="240982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7527608" y="2311718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7600950" y="2437448"/>
              <a:ext cx="2705100" cy="240982"/>
            </a:xfrm>
            <a:custGeom>
              <a:avLst/>
              <a:gdLst/>
              <a:ahLst/>
              <a:cxnLst/>
              <a:rect l="l" t="t" r="r" b="b"/>
              <a:pathLst>
                <a:path w="2705100" h="240982">
                  <a:moveTo>
                    <a:pt x="2705100" y="240982"/>
                  </a:moveTo>
                  <a:lnTo>
                    <a:pt x="2705100" y="58102"/>
                  </a:lnTo>
                  <a:lnTo>
                    <a:pt x="0" y="58102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7527608" y="2311718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6717982" y="1660208"/>
              <a:ext cx="1765935" cy="65151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6724650" y="1667828"/>
              <a:ext cx="1751648" cy="26479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6717982" y="1926908"/>
              <a:ext cx="1765935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6717982" y="2211705"/>
              <a:ext cx="1765935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6957060" y="2678430"/>
              <a:ext cx="1287780" cy="46196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6963728" y="2686050"/>
              <a:ext cx="1273492" cy="26479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957060" y="2945130"/>
              <a:ext cx="128778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957060" y="3040380"/>
              <a:ext cx="128778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9676448" y="2678430"/>
              <a:ext cx="1258252" cy="46196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9684068" y="2686050"/>
              <a:ext cx="1243965" cy="26479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9676448" y="2945130"/>
              <a:ext cx="1258252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9676448" y="3040380"/>
              <a:ext cx="1258252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288018" y="1724501"/>
              <a:ext cx="6258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Student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788848" y="1999298"/>
              <a:ext cx="172671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classmates: Student[]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008368" y="2743676"/>
              <a:ext cx="11851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MasterStudent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729437" y="2743676"/>
              <a:ext cx="11532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DoctorStudent</a:t>
              </a:r>
            </a:p>
          </p:txBody>
        </p:sp>
      </p:grpSp>
      <p:grpSp>
        <p:nvGrpSpPr>
          <p:cNvPr id="54" name="c2-card-2"/>
          <p:cNvGrpSpPr/>
          <p:nvPr/>
        </p:nvGrpSpPr>
        <p:grpSpPr>
          <a:xfrm>
            <a:off x="6248400" y="3557588"/>
            <a:ext cx="5410200" cy="1855470"/>
            <a:chOff x="6248400" y="3557588"/>
            <a:chExt cx="5410200" cy="1855470"/>
          </a:xfrm>
        </p:grpSpPr>
        <p:sp>
          <p:nvSpPr>
            <p:cNvPr id="50" name="Rectangle 50"/>
            <p:cNvSpPr/>
            <p:nvPr/>
          </p:nvSpPr>
          <p:spPr>
            <a:xfrm>
              <a:off x="6248400" y="3557588"/>
              <a:ext cx="5410200" cy="1855470"/>
            </a:xfrm>
            <a:prstGeom prst="roundRect">
              <a:avLst>
                <a:gd name="adj" fmla="val 7187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444996" y="3784759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与自身依赖的区别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444996" y="4122896"/>
              <a:ext cx="4396740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自身 </a:t>
              </a:r>
              <a:r>
                <a:rPr lang="zh-CN" sz="142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依赖</a:t>
              </a: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：本类类型只出现在方法参数里，例如怪物的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fight(Monster)。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444996" y="4714399"/>
              <a:ext cx="4667250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自身 </a:t>
              </a:r>
              <a:r>
                <a:rPr lang="zh-CN" sz="142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关联</a:t>
              </a: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：本类类型是字段，例如节点的 next、学生的同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学名单。</a:t>
              </a:r>
            </a:p>
          </p:txBody>
        </p:sp>
      </p:grpSp>
      <p:grpSp>
        <p:nvGrpSpPr>
          <p:cNvPr id="61" name="c2-callout-3"/>
          <p:cNvGrpSpPr/>
          <p:nvPr/>
        </p:nvGrpSpPr>
        <p:grpSpPr>
          <a:xfrm>
            <a:off x="6248400" y="5597842"/>
            <a:ext cx="5410200" cy="756285"/>
            <a:chOff x="6248400" y="5597842"/>
            <a:chExt cx="5410200" cy="756285"/>
          </a:xfrm>
        </p:grpSpPr>
        <p:sp>
          <p:nvSpPr>
            <p:cNvPr id="55" name="Rectangle 55"/>
            <p:cNvSpPr/>
            <p:nvPr/>
          </p:nvSpPr>
          <p:spPr>
            <a:xfrm>
              <a:off x="6248400" y="5597842"/>
              <a:ext cx="5410200" cy="756285"/>
            </a:xfrm>
            <a:prstGeom prst="roundRect">
              <a:avLst>
                <a:gd name="adj" fmla="val 1511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9" name="Group 59"/>
            <p:cNvGrpSpPr/>
            <p:nvPr/>
          </p:nvGrpSpPr>
          <p:grpSpPr>
            <a:xfrm>
              <a:off x="6453188" y="5875973"/>
              <a:ext cx="200026" cy="200025"/>
              <a:chOff x="6453188" y="5875973"/>
              <a:chExt cx="200026" cy="200025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6453188" y="587597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6492926" y="592042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6527642" y="603154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0" name="TextBox 60"/>
            <p:cNvSpPr txBox="1"/>
            <p:nvPr/>
          </p:nvSpPr>
          <p:spPr>
            <a:xfrm>
              <a:off x="6755511" y="5745004"/>
              <a:ext cx="416229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自身关联画成从类回到自己的一条线，线上写角色名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（next、同学、上级）说明这条边的含义。</a:t>
              </a:r>
            </a:p>
          </p:txBody>
        </p:sp>
      </p:grpSp>
      <p:grpSp>
        <p:nvGrpSpPr>
          <p:cNvPr id="6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2" name="TextBox 62"/>
            <p:cNvSpPr txBox="1"/>
            <p:nvPr/>
          </p:nvSpPr>
          <p:spPr>
            <a:xfrm>
              <a:off x="528447" y="6581299"/>
              <a:ext cx="21849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UML 类图与类间关系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27860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1281" y="407194"/>
              <a:ext cx="17720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01 类图与关系 · 关联关系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双向关联：两边都存着对方，就要两边一起维护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842635" cy="3950970"/>
            <a:chOff x="533400" y="1524000"/>
            <a:chExt cx="5842635" cy="395097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3950970"/>
            </a:xfrm>
            <a:prstGeom prst="roundRect">
              <a:avLst>
                <a:gd name="adj" fmla="val 241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035" y="1937861"/>
              <a:ext cx="3766566" cy="346614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Husband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Wife wife;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Wife wife() {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wife;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marry(Wife w)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.wife = w;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(w.husband() !=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 w.marry(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Wife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Husband husband;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Husband husband() {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husband;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marry(Husband h)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.husband = h;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(h.wife() !=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 h.marry(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7" name="c1-callout-2"/>
          <p:cNvGrpSpPr/>
          <p:nvPr/>
        </p:nvGrpSpPr>
        <p:grpSpPr>
          <a:xfrm>
            <a:off x="533400" y="5665470"/>
            <a:ext cx="5842635" cy="697230"/>
            <a:chOff x="533400" y="5665470"/>
            <a:chExt cx="5842635" cy="697230"/>
          </a:xfrm>
        </p:grpSpPr>
        <p:sp>
          <p:nvSpPr>
            <p:cNvPr id="11" name="Rectangle 11"/>
            <p:cNvSpPr/>
            <p:nvPr/>
          </p:nvSpPr>
          <p:spPr>
            <a:xfrm>
              <a:off x="533400" y="5665470"/>
              <a:ext cx="5842635" cy="697230"/>
            </a:xfrm>
            <a:prstGeom prst="roundRect">
              <a:avLst>
                <a:gd name="adj" fmla="val 16393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15" name="Group 15"/>
            <p:cNvGrpSpPr/>
            <p:nvPr/>
          </p:nvGrpSpPr>
          <p:grpSpPr>
            <a:xfrm>
              <a:off x="726129" y="5910381"/>
              <a:ext cx="224134" cy="192560"/>
              <a:chOff x="726129" y="5910381"/>
              <a:chExt cx="224134" cy="19256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838200" y="598074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726129" y="591038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838200" y="605853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1040130" y="5909310"/>
              <a:ext cx="456876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先赋值再回调，否则两个 marry 会无限互相调用。</a:t>
              </a:r>
            </a:p>
          </p:txBody>
        </p:sp>
      </p:grpSp>
      <p:grpSp>
        <p:nvGrpSpPr>
          <p:cNvPr id="34" name="c2-uml-1"/>
          <p:cNvGrpSpPr/>
          <p:nvPr/>
        </p:nvGrpSpPr>
        <p:grpSpPr>
          <a:xfrm>
            <a:off x="7354252" y="1960245"/>
            <a:ext cx="3773044" cy="651510"/>
            <a:chOff x="7354252" y="1960245"/>
            <a:chExt cx="3773044" cy="651510"/>
          </a:xfrm>
        </p:grpSpPr>
        <p:sp>
          <p:nvSpPr>
            <p:cNvPr id="18" name="Freeform 18"/>
            <p:cNvSpPr/>
            <p:nvPr/>
          </p:nvSpPr>
          <p:spPr>
            <a:xfrm>
              <a:off x="8497252" y="2286000"/>
              <a:ext cx="1214438" cy="9525"/>
            </a:xfrm>
            <a:custGeom>
              <a:avLst/>
              <a:gdLst/>
              <a:ahLst/>
              <a:cxnLst/>
              <a:rect l="l" t="t" r="r" b="b"/>
              <a:pathLst>
                <a:path w="1214438" h="9525">
                  <a:moveTo>
                    <a:pt x="0" y="0"/>
                  </a:moveTo>
                  <a:lnTo>
                    <a:pt x="1214438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9606915" y="2227898"/>
              <a:ext cx="104775" cy="116205"/>
            </a:xfrm>
            <a:custGeom>
              <a:avLst/>
              <a:gdLst/>
              <a:ahLst/>
              <a:cxnLst/>
              <a:rect l="l" t="t" r="r" b="b"/>
              <a:pathLst>
                <a:path w="104775" h="116205">
                  <a:moveTo>
                    <a:pt x="0" y="116205"/>
                  </a:moveTo>
                  <a:lnTo>
                    <a:pt x="104775" y="58102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354252" y="1960245"/>
              <a:ext cx="1143000" cy="65151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7360920" y="1967865"/>
              <a:ext cx="1128712" cy="26479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7354252" y="222694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7354252" y="251174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9711690" y="1960245"/>
              <a:ext cx="1405890" cy="65151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9718358" y="1967865"/>
              <a:ext cx="1391602" cy="26479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9711690" y="2226945"/>
              <a:ext cx="140589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9711690" y="2511742"/>
              <a:ext cx="140589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612820" y="2024539"/>
              <a:ext cx="6258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Husband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425119" y="2299335"/>
              <a:ext cx="8647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wife: Wife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236325" y="2024539"/>
              <a:ext cx="3566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Wife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782556" y="2299335"/>
              <a:ext cx="13447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husband: Husband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869680" y="2069782"/>
              <a:ext cx="46863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900770" y="2096452"/>
              <a:ext cx="40645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 ── 1</a:t>
              </a:r>
            </a:p>
          </p:txBody>
        </p:sp>
      </p:grpSp>
      <p:grpSp>
        <p:nvGrpSpPr>
          <p:cNvPr id="42" name="c2-bullets-2"/>
          <p:cNvGrpSpPr/>
          <p:nvPr/>
        </p:nvGrpSpPr>
        <p:grpSpPr>
          <a:xfrm>
            <a:off x="6673215" y="3263265"/>
            <a:ext cx="4907280" cy="1908810"/>
            <a:chOff x="6673215" y="3263265"/>
            <a:chExt cx="4907280" cy="1908810"/>
          </a:xfrm>
        </p:grpSpPr>
        <p:sp>
          <p:nvSpPr>
            <p:cNvPr id="35" name="TextBox 35"/>
            <p:cNvSpPr txBox="1"/>
            <p:nvPr/>
          </p:nvSpPr>
          <p:spPr>
            <a:xfrm>
              <a:off x="6673215" y="326326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双向关联的三笔账</a:t>
              </a:r>
            </a:p>
          </p:txBody>
        </p:sp>
        <p:sp>
          <p:nvSpPr>
            <p:cNvPr id="36" name="Freeform 36"/>
            <p:cNvSpPr/>
            <p:nvPr/>
          </p:nvSpPr>
          <p:spPr>
            <a:xfrm>
              <a:off x="6680835" y="3653790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0"/>
                  </a:moveTo>
                  <a:lnTo>
                    <a:pt x="114300" y="114300"/>
                  </a:lnTo>
                  <a:moveTo>
                    <a:pt x="114300" y="0"/>
                  </a:moveTo>
                  <a:lnTo>
                    <a:pt x="0" y="11430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920865" y="3617595"/>
              <a:ext cx="4206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一致性：改一边必须同步另一边，否则丈夫认得妻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子、妻子不认得丈夫</a:t>
              </a:r>
            </a:p>
          </p:txBody>
        </p:sp>
        <p:sp>
          <p:nvSpPr>
            <p:cNvPr id="38" name="Freeform 38"/>
            <p:cNvSpPr/>
            <p:nvPr/>
          </p:nvSpPr>
          <p:spPr>
            <a:xfrm>
              <a:off x="6680835" y="4284345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0"/>
                  </a:moveTo>
                  <a:lnTo>
                    <a:pt x="114300" y="114300"/>
                  </a:lnTo>
                  <a:moveTo>
                    <a:pt x="114300" y="0"/>
                  </a:moveTo>
                  <a:lnTo>
                    <a:pt x="0" y="11430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920865" y="4248150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解除关系：离婚要把两个字段都置空，漏一个就留下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悬空引用</a:t>
              </a:r>
            </a:p>
          </p:txBody>
        </p:sp>
        <p:sp>
          <p:nvSpPr>
            <p:cNvPr id="40" name="Freeform 40"/>
            <p:cNvSpPr/>
            <p:nvPr/>
          </p:nvSpPr>
          <p:spPr>
            <a:xfrm>
              <a:off x="6680835" y="4914900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0"/>
                  </a:moveTo>
                  <a:lnTo>
                    <a:pt x="114300" y="114300"/>
                  </a:lnTo>
                  <a:moveTo>
                    <a:pt x="114300" y="0"/>
                  </a:moveTo>
                  <a:lnTo>
                    <a:pt x="0" y="11430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920865" y="4878705"/>
              <a:ext cx="46596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耦合：两个类互相编译依赖，很难单独复用其中一个</a:t>
              </a:r>
            </a:p>
          </p:txBody>
        </p:sp>
      </p:grpSp>
      <p:grpSp>
        <p:nvGrpSpPr>
          <p:cNvPr id="48" name="c2-callout-3"/>
          <p:cNvGrpSpPr/>
          <p:nvPr/>
        </p:nvGrpSpPr>
        <p:grpSpPr>
          <a:xfrm>
            <a:off x="6680835" y="5303520"/>
            <a:ext cx="4977765" cy="1059180"/>
            <a:chOff x="6680835" y="5303520"/>
            <a:chExt cx="4977765" cy="1059180"/>
          </a:xfrm>
        </p:grpSpPr>
        <p:sp>
          <p:nvSpPr>
            <p:cNvPr id="43" name="Rectangle 43"/>
            <p:cNvSpPr/>
            <p:nvPr/>
          </p:nvSpPr>
          <p:spPr>
            <a:xfrm>
              <a:off x="6680835" y="5303520"/>
              <a:ext cx="4977765" cy="1059180"/>
            </a:xfrm>
            <a:prstGeom prst="roundRect">
              <a:avLst>
                <a:gd name="adj" fmla="val 10791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46" name="Group 46"/>
            <p:cNvGrpSpPr/>
            <p:nvPr/>
          </p:nvGrpSpPr>
          <p:grpSpPr>
            <a:xfrm>
              <a:off x="6885623" y="5733100"/>
              <a:ext cx="200023" cy="200023"/>
              <a:chOff x="6885623" y="5733100"/>
              <a:chExt cx="200023" cy="200023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6885623" y="573310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7018973" y="579977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7187565" y="5452110"/>
              <a:ext cx="40157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能用单向就别用双向。确实要双向时，把维护工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作集中到一个方法里，不要让调用者分两次赋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值。</a:t>
              </a:r>
            </a:p>
          </p:txBody>
        </p:sp>
      </p:grpSp>
      <p:grpSp>
        <p:nvGrpSpPr>
          <p:cNvPr id="5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9" name="TextBox 49"/>
            <p:cNvSpPr txBox="1"/>
            <p:nvPr/>
          </p:nvSpPr>
          <p:spPr>
            <a:xfrm>
              <a:off x="528447" y="6581299"/>
              <a:ext cx="21849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UML 类图与类间关系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4247007" cy="2997517"/>
            <a:chOff x="667512" y="1835468"/>
            <a:chExt cx="4247007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第四部分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45973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聚合与组合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23710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整体与部分的两种强度，菱形都画在整体端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70135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聚合 has-a 可分离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4081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组合 contains-a 同生共死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29338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宿舍、Grid 两个完整例题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1849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UML 类图与类间关系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01 类图与关系 · 聚合与组合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聚合：部分可以离开整体单独存在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9" name="c1-card-1"/>
          <p:cNvGrpSpPr/>
          <p:nvPr/>
        </p:nvGrpSpPr>
        <p:grpSpPr>
          <a:xfrm>
            <a:off x="533400" y="1524000"/>
            <a:ext cx="5626418" cy="2912745"/>
            <a:chOff x="533400" y="1524000"/>
            <a:chExt cx="5626418" cy="291274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2912745"/>
            </a:xfrm>
            <a:prstGeom prst="roundRect">
              <a:avLst>
                <a:gd name="adj" fmla="val 457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646045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205271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聚合（aggregation）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8634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 B 被加入到对象 A 中成为 A 的组成部分，A 与 B 就是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聚合关系，体现 </a:t>
              </a:r>
              <a:r>
                <a:rPr lang="en-US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has-a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86765" y="281368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44880" y="2750820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聚合是关联的特例：两个类不再平等，一个是整体，一个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是部分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6765" y="343471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4880" y="3371850"/>
              <a:ext cx="46443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整体与部分 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可以分离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，各有各的生命周期，部分还能被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多个整体共享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86765" y="4055745"/>
              <a:ext cx="64770" cy="6477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44880" y="3992880"/>
              <a:ext cx="48615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画法：实线，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空心菱形画在整体一端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（可以不画箭头）</a:t>
              </a:r>
            </a:p>
          </p:txBody>
        </p:sp>
      </p:grpSp>
      <p:grpSp>
        <p:nvGrpSpPr>
          <p:cNvPr id="29" name="c1-bullets-2"/>
          <p:cNvGrpSpPr/>
          <p:nvPr/>
        </p:nvGrpSpPr>
        <p:grpSpPr>
          <a:xfrm>
            <a:off x="525780" y="4652010"/>
            <a:ext cx="2942565" cy="1517618"/>
            <a:chOff x="525780" y="4652010"/>
            <a:chExt cx="2942565" cy="1517618"/>
          </a:xfrm>
        </p:grpSpPr>
        <p:sp>
          <p:nvSpPr>
            <p:cNvPr id="20" name="TextBox 20"/>
            <p:cNvSpPr txBox="1"/>
            <p:nvPr/>
          </p:nvSpPr>
          <p:spPr>
            <a:xfrm>
              <a:off x="525780" y="465201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例子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542925" y="5054918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98373" y="5003006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自行车与车把、响铃、轮胎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542925" y="5360670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98373" y="5308759"/>
              <a:ext cx="25534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计算机与主板、CPU、内存、硬盘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542925" y="5666422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98373" y="5614511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航母编队与航母、驱护舰艇、舰载机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542925" y="5973128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98373" y="5920264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课题组与科研人员，雁群与大雁</a:t>
              </a:r>
            </a:p>
          </p:txBody>
        </p:sp>
      </p:grpSp>
      <p:grpSp>
        <p:nvGrpSpPr>
          <p:cNvPr id="45" name="c2-uml-1"/>
          <p:cNvGrpSpPr/>
          <p:nvPr/>
        </p:nvGrpSpPr>
        <p:grpSpPr>
          <a:xfrm>
            <a:off x="7133272" y="2055495"/>
            <a:ext cx="3798570" cy="651510"/>
            <a:chOff x="7133272" y="2055495"/>
            <a:chExt cx="3798570" cy="651510"/>
          </a:xfrm>
        </p:grpSpPr>
        <p:sp>
          <p:nvSpPr>
            <p:cNvPr id="30" name="Freeform 30"/>
            <p:cNvSpPr/>
            <p:nvPr/>
          </p:nvSpPr>
          <p:spPr>
            <a:xfrm>
              <a:off x="8602028" y="2381250"/>
              <a:ext cx="1186815" cy="9525"/>
            </a:xfrm>
            <a:custGeom>
              <a:avLst/>
              <a:gdLst/>
              <a:ahLst/>
              <a:cxnLst/>
              <a:rect l="l" t="t" r="r" b="b"/>
              <a:pathLst>
                <a:path w="1186815" h="9525">
                  <a:moveTo>
                    <a:pt x="1186815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8392478" y="2323148"/>
              <a:ext cx="209550" cy="116205"/>
            </a:xfrm>
            <a:custGeom>
              <a:avLst/>
              <a:gdLst/>
              <a:ahLst/>
              <a:cxnLst/>
              <a:rect l="l" t="t" r="r" b="b"/>
              <a:pathLst>
                <a:path w="209550" h="116205">
                  <a:moveTo>
                    <a:pt x="0" y="58102"/>
                  </a:moveTo>
                  <a:lnTo>
                    <a:pt x="104775" y="0"/>
                  </a:lnTo>
                  <a:lnTo>
                    <a:pt x="209550" y="58102"/>
                  </a:lnTo>
                  <a:lnTo>
                    <a:pt x="104775" y="116205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133272" y="2055495"/>
              <a:ext cx="1259205" cy="65151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7140892" y="2063115"/>
              <a:ext cx="1244918" cy="26479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7133272" y="2322195"/>
              <a:ext cx="1259205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7133272" y="2606992"/>
              <a:ext cx="1259205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9788842" y="2150745"/>
              <a:ext cx="1143000" cy="46196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9795510" y="2157412"/>
              <a:ext cx="1128712" cy="26479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9788842" y="241744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9788842" y="251269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624087" y="2119789"/>
              <a:ext cx="277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Car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204138" y="2394585"/>
              <a:ext cx="119126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tyres: Tyre[4]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178019" y="2214086"/>
              <a:ext cx="364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Tyre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8856345" y="2165032"/>
              <a:ext cx="46863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8887435" y="2191702"/>
              <a:ext cx="40645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 ── 4</a:t>
              </a:r>
            </a:p>
          </p:txBody>
        </p:sp>
      </p:grpSp>
      <p:grpSp>
        <p:nvGrpSpPr>
          <p:cNvPr id="49" name="c2-code-2"/>
          <p:cNvGrpSpPr/>
          <p:nvPr/>
        </p:nvGrpSpPr>
        <p:grpSpPr>
          <a:xfrm>
            <a:off x="6464618" y="3429000"/>
            <a:ext cx="5193982" cy="1313498"/>
            <a:chOff x="6464618" y="3429000"/>
            <a:chExt cx="5193982" cy="1313498"/>
          </a:xfrm>
        </p:grpSpPr>
        <p:sp>
          <p:nvSpPr>
            <p:cNvPr id="46" name="Rectangle 46"/>
            <p:cNvSpPr/>
            <p:nvPr/>
          </p:nvSpPr>
          <p:spPr>
            <a:xfrm>
              <a:off x="6464618" y="3429000"/>
              <a:ext cx="5193982" cy="1313498"/>
            </a:xfrm>
            <a:prstGeom prst="roundRect">
              <a:avLst>
                <a:gd name="adj" fmla="val 725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593015" y="3580924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592252" y="3842861"/>
              <a:ext cx="4043934" cy="8286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Car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Tyre[] tyres;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轮胎从外面装上来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Car(Tyre[] ts) { tyres = ts;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56" name="c2-callout-3"/>
          <p:cNvGrpSpPr/>
          <p:nvPr/>
        </p:nvGrpSpPr>
        <p:grpSpPr>
          <a:xfrm>
            <a:off x="6464618" y="4932998"/>
            <a:ext cx="5193982" cy="1186815"/>
            <a:chOff x="6464618" y="4932998"/>
            <a:chExt cx="5193982" cy="1186815"/>
          </a:xfrm>
        </p:grpSpPr>
        <p:sp>
          <p:nvSpPr>
            <p:cNvPr id="50" name="Rectangle 50"/>
            <p:cNvSpPr/>
            <p:nvPr/>
          </p:nvSpPr>
          <p:spPr>
            <a:xfrm>
              <a:off x="6464618" y="4932998"/>
              <a:ext cx="5193982" cy="1186815"/>
            </a:xfrm>
            <a:prstGeom prst="roundRect">
              <a:avLst>
                <a:gd name="adj" fmla="val 9631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6657347" y="5422701"/>
              <a:ext cx="224134" cy="192560"/>
              <a:chOff x="6657347" y="5422701"/>
              <a:chExt cx="224134" cy="192560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6769418" y="549306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6657347" y="542270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6769418" y="557085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6971348" y="5283518"/>
              <a:ext cx="43205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 xml:space="preserve">在代码层面聚合与关联写法一致，只能从 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语义</a:t>
              </a: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 xml:space="preserve"> 上区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分：两个类是不是整体与部分的关系。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7" name="TextBox 57"/>
            <p:cNvSpPr txBox="1"/>
            <p:nvPr/>
          </p:nvSpPr>
          <p:spPr>
            <a:xfrm>
              <a:off x="528447" y="6581299"/>
              <a:ext cx="21849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UML 类图与类间关系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01 类图与关系 · 聚合与组合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聚合例：宿舍管理程序中的宿舍与学生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6737985" cy="264033"/>
            <a:chOff x="526542" y="1545907"/>
            <a:chExt cx="6737985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67379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题目：宿舍有多个学生，建立宿舍时可以指定也可以不指定学生，以后能随时增删。</a:t>
              </a:r>
            </a:p>
          </p:txBody>
        </p:sp>
      </p:grpSp>
      <p:grpSp>
        <p:nvGrpSpPr>
          <p:cNvPr id="12" name="c1-code-1"/>
          <p:cNvGrpSpPr/>
          <p:nvPr/>
        </p:nvGrpSpPr>
        <p:grpSpPr>
          <a:xfrm>
            <a:off x="533400" y="1928812"/>
            <a:ext cx="6059805" cy="4374832"/>
            <a:chOff x="533400" y="1928812"/>
            <a:chExt cx="6059805" cy="4374832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6059805" cy="4374832"/>
            </a:xfrm>
            <a:prstGeom prst="roundRect">
              <a:avLst>
                <a:gd name="adj" fmla="val 2177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080736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61797" y="2340769"/>
              <a:ext cx="3911727" cy="38911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Dorm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maxCount;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Student[] students;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Dorm(Student[] init,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maxCount)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.maxCount = maxCount;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.students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Student[maxCount];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n = Math.min(init.length, maxCount);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System.arraycopy(init, 0, students, 0, n);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boolean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addStudent(Student s,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index)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(index &lt; 0 || index &gt;= maxCount)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false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if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(students[index] !=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null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)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false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students[index] = s;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return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true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removeStudent(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index)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students[index]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null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;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只是搬出去，学生还活着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8" name="c2-card-1"/>
          <p:cNvGrpSpPr/>
          <p:nvPr/>
        </p:nvGrpSpPr>
        <p:grpSpPr>
          <a:xfrm>
            <a:off x="6898005" y="1928812"/>
            <a:ext cx="4760595" cy="2038350"/>
            <a:chOff x="6898005" y="1928812"/>
            <a:chExt cx="4760595" cy="2038350"/>
          </a:xfrm>
        </p:grpSpPr>
        <p:sp>
          <p:nvSpPr>
            <p:cNvPr id="13" name="Rectangle 13"/>
            <p:cNvSpPr/>
            <p:nvPr/>
          </p:nvSpPr>
          <p:spPr>
            <a:xfrm>
              <a:off x="6898005" y="1928812"/>
              <a:ext cx="4760595" cy="2038350"/>
            </a:xfrm>
            <a:prstGeom prst="roundRect">
              <a:avLst>
                <a:gd name="adj" fmla="val 6542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077837" y="213741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哪里体现了聚合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077837" y="2454592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学生由外部造好传进来，宿舍只是把引用放进数组。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077837" y="2754630"/>
              <a:ext cx="406850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removeStudent 只把槽位置空，</a:t>
              </a:r>
              <a:r>
                <a:rPr lang="zh-CN" sz="135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不销毁学生</a:t>
              </a: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；宿舍拆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了学生照样在。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077837" y="3311842"/>
              <a:ext cx="407708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原课件 C++ 版析构只写 </a:t>
              </a:r>
              <a:r>
                <a:rPr lang="en-US" sz="1350" dirty="0">
                  <a:solidFill>
                    <a:srgbClr val="EEEAF7"/>
                  </a:solidFill>
                  <a:latin typeface="+mn-lt"/>
                  <a:ea typeface="+mn-ea"/>
                  <a:cs typeface="+mn-cs"/>
                </a:rPr>
                <a:t>delete[] mStudents;</a:t>
              </a: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，删的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是指针数组而非学生对象，这正是聚合该有的写法。</a:t>
              </a:r>
            </a:p>
          </p:txBody>
        </p:sp>
      </p:grpSp>
      <p:grpSp>
        <p:nvGrpSpPr>
          <p:cNvPr id="25" name="c2-card-2"/>
          <p:cNvGrpSpPr/>
          <p:nvPr/>
        </p:nvGrpSpPr>
        <p:grpSpPr>
          <a:xfrm>
            <a:off x="6898005" y="4136708"/>
            <a:ext cx="4760595" cy="2165985"/>
            <a:chOff x="6898005" y="4136708"/>
            <a:chExt cx="4760595" cy="2165985"/>
          </a:xfrm>
        </p:grpSpPr>
        <p:sp>
          <p:nvSpPr>
            <p:cNvPr id="19" name="Rectangle 19"/>
            <p:cNvSpPr/>
            <p:nvPr/>
          </p:nvSpPr>
          <p:spPr>
            <a:xfrm>
              <a:off x="6898005" y="4136708"/>
              <a:ext cx="4760595" cy="2165985"/>
            </a:xfrm>
            <a:prstGeom prst="roundRect">
              <a:avLst>
                <a:gd name="adj" fmla="val 615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6907530" y="4270058"/>
              <a:ext cx="47625" cy="189928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7122795" y="432339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214514" y="435625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115937" y="4668202"/>
              <a:ext cx="418852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原课件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if ( mStudents[index] == NULL))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右括号多了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一个，编译通不过。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115937" y="5225415"/>
              <a:ext cx="402564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原课件也没查 index 越界；C++ 里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new</a:t>
              </a:r>
              <a:br/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Student*[maxCount]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不会自动置空，多余槽位是野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指针。</a:t>
              </a:r>
            </a:p>
          </p:txBody>
        </p:sp>
      </p:grpSp>
      <p:grpSp>
        <p:nvGrpSpPr>
          <p:cNvPr id="2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6" name="TextBox 26"/>
            <p:cNvSpPr txBox="1"/>
            <p:nvPr/>
          </p:nvSpPr>
          <p:spPr>
            <a:xfrm>
              <a:off x="528447" y="6581299"/>
              <a:ext cx="21849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UML 类图与类间关系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115437" cy="909257"/>
            <a:chOff x="520446" y="342900"/>
            <a:chExt cx="311543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01 类图与关系 · 聚合与组合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11543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聚合的四种常见形状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6150727" cy="278702"/>
            <a:chOff x="526161" y="1547336"/>
            <a:chExt cx="6150727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615072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整体聚合的"部分"可以是抽象类，可以是两条继承树，也可以是它自己。</a:t>
              </a:r>
            </a:p>
          </p:txBody>
        </p:sp>
      </p:grpSp>
      <p:grpSp>
        <p:nvGrpSpPr>
          <p:cNvPr id="35" name="c1-uml-1"/>
          <p:cNvGrpSpPr/>
          <p:nvPr/>
        </p:nvGrpSpPr>
        <p:grpSpPr>
          <a:xfrm>
            <a:off x="863918" y="2152650"/>
            <a:ext cx="4749164" cy="1310640"/>
            <a:chOff x="863918" y="2152650"/>
            <a:chExt cx="4749164" cy="1310640"/>
          </a:xfrm>
        </p:grpSpPr>
        <p:sp>
          <p:nvSpPr>
            <p:cNvPr id="9" name="Freeform 9"/>
            <p:cNvSpPr/>
            <p:nvPr/>
          </p:nvSpPr>
          <p:spPr>
            <a:xfrm>
              <a:off x="2216468" y="2374582"/>
              <a:ext cx="450533" cy="9525"/>
            </a:xfrm>
            <a:custGeom>
              <a:avLst/>
              <a:gdLst/>
              <a:ahLst/>
              <a:cxnLst/>
              <a:rect l="l" t="t" r="r" b="b"/>
              <a:pathLst>
                <a:path w="450533" h="9525">
                  <a:moveTo>
                    <a:pt x="450533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006918" y="2317432"/>
              <a:ext cx="209550" cy="115252"/>
            </a:xfrm>
            <a:custGeom>
              <a:avLst/>
              <a:gdLst/>
              <a:ahLst/>
              <a:cxnLst/>
              <a:rect l="l" t="t" r="r" b="b"/>
              <a:pathLst>
                <a:path w="209550" h="115252">
                  <a:moveTo>
                    <a:pt x="0" y="57150"/>
                  </a:moveTo>
                  <a:lnTo>
                    <a:pt x="104775" y="0"/>
                  </a:lnTo>
                  <a:lnTo>
                    <a:pt x="209550" y="57150"/>
                  </a:lnTo>
                  <a:lnTo>
                    <a:pt x="104775" y="115252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3238500" y="2722245"/>
              <a:ext cx="9525" cy="297180"/>
            </a:xfrm>
            <a:custGeom>
              <a:avLst/>
              <a:gdLst/>
              <a:ahLst/>
              <a:cxnLst/>
              <a:rect l="l" t="t" r="r" b="b"/>
              <a:pathLst>
                <a:path w="9525" h="297180">
                  <a:moveTo>
                    <a:pt x="0" y="29718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3165158" y="2596515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2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3238500" y="2722245"/>
              <a:ext cx="1803082" cy="297180"/>
            </a:xfrm>
            <a:custGeom>
              <a:avLst/>
              <a:gdLst/>
              <a:ahLst/>
              <a:cxnLst/>
              <a:rect l="l" t="t" r="r" b="b"/>
              <a:pathLst>
                <a:path w="1803082" h="297180">
                  <a:moveTo>
                    <a:pt x="1803082" y="297180"/>
                  </a:moveTo>
                  <a:lnTo>
                    <a:pt x="1803082" y="85725"/>
                  </a:lnTo>
                  <a:lnTo>
                    <a:pt x="0" y="85725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3165158" y="2596515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2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863918" y="2152650"/>
              <a:ext cx="1143000" cy="443865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870585" y="2160270"/>
              <a:ext cx="1128712" cy="24574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863918" y="240125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863918" y="249650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2667000" y="2152650"/>
              <a:ext cx="1143000" cy="443865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2674620" y="2160270"/>
              <a:ext cx="1128712" cy="24574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2667000" y="240125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2667000" y="249650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2667000" y="3019425"/>
              <a:ext cx="1143000" cy="443865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2674620" y="3027045"/>
              <a:ext cx="1128712" cy="24574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2667000" y="326802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2667000" y="336327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4470082" y="3019425"/>
              <a:ext cx="1143000" cy="443865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4477702" y="3027045"/>
              <a:ext cx="1128712" cy="24574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4470082" y="326802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4470082" y="336327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288732" y="221265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果篮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091815" y="221265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i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水果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091815" y="307943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苹果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894898" y="307943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香蕉</a:t>
              </a:r>
            </a:p>
          </p:txBody>
        </p:sp>
      </p:grpSp>
      <p:grpSp>
        <p:nvGrpSpPr>
          <p:cNvPr id="64" name="c1-uml-2"/>
          <p:cNvGrpSpPr/>
          <p:nvPr/>
        </p:nvGrpSpPr>
        <p:grpSpPr>
          <a:xfrm>
            <a:off x="1314450" y="4061460"/>
            <a:ext cx="3848100" cy="1310640"/>
            <a:chOff x="1314450" y="4061460"/>
            <a:chExt cx="3848100" cy="1310640"/>
          </a:xfrm>
        </p:grpSpPr>
        <p:sp>
          <p:nvSpPr>
            <p:cNvPr id="36" name="Freeform 36"/>
            <p:cNvSpPr/>
            <p:nvPr/>
          </p:nvSpPr>
          <p:spPr>
            <a:xfrm>
              <a:off x="2667000" y="4283392"/>
              <a:ext cx="1352550" cy="9525"/>
            </a:xfrm>
            <a:custGeom>
              <a:avLst/>
              <a:gdLst/>
              <a:ahLst/>
              <a:cxnLst/>
              <a:rect l="l" t="t" r="r" b="b"/>
              <a:pathLst>
                <a:path w="1352550" h="9525">
                  <a:moveTo>
                    <a:pt x="1352550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2457450" y="4226242"/>
              <a:ext cx="209550" cy="115253"/>
            </a:xfrm>
            <a:custGeom>
              <a:avLst/>
              <a:gdLst/>
              <a:ahLst/>
              <a:cxnLst/>
              <a:rect l="l" t="t" r="r" b="b"/>
              <a:pathLst>
                <a:path w="209550" h="115253">
                  <a:moveTo>
                    <a:pt x="0" y="57150"/>
                  </a:moveTo>
                  <a:lnTo>
                    <a:pt x="104775" y="0"/>
                  </a:lnTo>
                  <a:lnTo>
                    <a:pt x="209550" y="57150"/>
                  </a:lnTo>
                  <a:lnTo>
                    <a:pt x="104775" y="115253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1885950" y="4631055"/>
              <a:ext cx="2705100" cy="297180"/>
            </a:xfrm>
            <a:custGeom>
              <a:avLst/>
              <a:gdLst/>
              <a:ahLst/>
              <a:cxnLst/>
              <a:rect l="l" t="t" r="r" b="b"/>
              <a:pathLst>
                <a:path w="2705100" h="297180">
                  <a:moveTo>
                    <a:pt x="0" y="297180"/>
                  </a:moveTo>
                  <a:lnTo>
                    <a:pt x="0" y="85725"/>
                  </a:lnTo>
                  <a:lnTo>
                    <a:pt x="2705100" y="85725"/>
                  </a:lnTo>
                  <a:lnTo>
                    <a:pt x="27051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4517708" y="4505325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2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4591050" y="4631055"/>
              <a:ext cx="9525" cy="297180"/>
            </a:xfrm>
            <a:custGeom>
              <a:avLst/>
              <a:gdLst/>
              <a:ahLst/>
              <a:cxnLst/>
              <a:rect l="l" t="t" r="r" b="b"/>
              <a:pathLst>
                <a:path w="9525" h="297180">
                  <a:moveTo>
                    <a:pt x="0" y="29718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4517708" y="4505325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2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1314450" y="4061460"/>
              <a:ext cx="1143000" cy="443865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1322070" y="4069080"/>
              <a:ext cx="1128712" cy="24574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1314450" y="431006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1314450" y="440531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4019550" y="4061460"/>
              <a:ext cx="1143000" cy="443865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4027170" y="4069080"/>
              <a:ext cx="1128712" cy="24574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4019550" y="431006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4019550" y="440531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1314450" y="4928235"/>
              <a:ext cx="1143000" cy="443865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1322070" y="4935855"/>
              <a:ext cx="1128712" cy="24574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1314450" y="517683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1314450" y="527208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4019550" y="4928235"/>
              <a:ext cx="1143000" cy="443865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4027170" y="4935855"/>
              <a:ext cx="1128712" cy="24574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4019550" y="517683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4019550" y="527208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1668590" y="4121468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防盗门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4515040" y="4121468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i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锁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668590" y="4988242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机械锁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4373690" y="4988242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指纹锁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3016568" y="4077652"/>
              <a:ext cx="443865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3048848" y="4101941"/>
              <a:ext cx="3793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 ── 1</a:t>
              </a:r>
            </a:p>
          </p:txBody>
        </p:sp>
      </p:grpSp>
      <p:grpSp>
        <p:nvGrpSpPr>
          <p:cNvPr id="91" name="c2-uml-1"/>
          <p:cNvGrpSpPr/>
          <p:nvPr/>
        </p:nvGrpSpPr>
        <p:grpSpPr>
          <a:xfrm>
            <a:off x="7029450" y="2152650"/>
            <a:ext cx="3848100" cy="1310640"/>
            <a:chOff x="7029450" y="2152650"/>
            <a:chExt cx="3848100" cy="1310640"/>
          </a:xfrm>
        </p:grpSpPr>
        <p:sp>
          <p:nvSpPr>
            <p:cNvPr id="65" name="Freeform 65"/>
            <p:cNvSpPr/>
            <p:nvPr/>
          </p:nvSpPr>
          <p:spPr>
            <a:xfrm>
              <a:off x="8382000" y="2374582"/>
              <a:ext cx="1352550" cy="9525"/>
            </a:xfrm>
            <a:custGeom>
              <a:avLst/>
              <a:gdLst/>
              <a:ahLst/>
              <a:cxnLst/>
              <a:rect l="l" t="t" r="r" b="b"/>
              <a:pathLst>
                <a:path w="1352550" h="9525">
                  <a:moveTo>
                    <a:pt x="1352550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66" name="Freeform 66"/>
            <p:cNvSpPr/>
            <p:nvPr/>
          </p:nvSpPr>
          <p:spPr>
            <a:xfrm>
              <a:off x="8172450" y="2317432"/>
              <a:ext cx="209550" cy="115252"/>
            </a:xfrm>
            <a:custGeom>
              <a:avLst/>
              <a:gdLst/>
              <a:ahLst/>
              <a:cxnLst/>
              <a:rect l="l" t="t" r="r" b="b"/>
              <a:pathLst>
                <a:path w="209550" h="115252">
                  <a:moveTo>
                    <a:pt x="0" y="57150"/>
                  </a:moveTo>
                  <a:lnTo>
                    <a:pt x="104775" y="0"/>
                  </a:lnTo>
                  <a:lnTo>
                    <a:pt x="209550" y="57150"/>
                  </a:lnTo>
                  <a:lnTo>
                    <a:pt x="104775" y="115252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67" name="Freeform 67"/>
            <p:cNvSpPr/>
            <p:nvPr/>
          </p:nvSpPr>
          <p:spPr>
            <a:xfrm>
              <a:off x="7600950" y="2722245"/>
              <a:ext cx="9525" cy="297180"/>
            </a:xfrm>
            <a:custGeom>
              <a:avLst/>
              <a:gdLst/>
              <a:ahLst/>
              <a:cxnLst/>
              <a:rect l="l" t="t" r="r" b="b"/>
              <a:pathLst>
                <a:path w="9525" h="297180">
                  <a:moveTo>
                    <a:pt x="0" y="29718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68" name="Freeform 68"/>
            <p:cNvSpPr/>
            <p:nvPr/>
          </p:nvSpPr>
          <p:spPr>
            <a:xfrm>
              <a:off x="7527608" y="2596515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69" name="Freeform 69"/>
            <p:cNvSpPr/>
            <p:nvPr/>
          </p:nvSpPr>
          <p:spPr>
            <a:xfrm>
              <a:off x="10306050" y="2722245"/>
              <a:ext cx="9525" cy="297180"/>
            </a:xfrm>
            <a:custGeom>
              <a:avLst/>
              <a:gdLst/>
              <a:ahLst/>
              <a:cxnLst/>
              <a:rect l="l" t="t" r="r" b="b"/>
              <a:pathLst>
                <a:path w="9525" h="297180">
                  <a:moveTo>
                    <a:pt x="0" y="29718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70" name="Freeform 70"/>
            <p:cNvSpPr/>
            <p:nvPr/>
          </p:nvSpPr>
          <p:spPr>
            <a:xfrm>
              <a:off x="10232708" y="2596515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71" name="Rectangle 71"/>
            <p:cNvSpPr/>
            <p:nvPr/>
          </p:nvSpPr>
          <p:spPr>
            <a:xfrm>
              <a:off x="7029450" y="2152650"/>
              <a:ext cx="1143000" cy="443865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72" name="Rectangle 72"/>
            <p:cNvSpPr/>
            <p:nvPr/>
          </p:nvSpPr>
          <p:spPr>
            <a:xfrm>
              <a:off x="7037070" y="2160270"/>
              <a:ext cx="1128712" cy="24574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73" name="Rectangle 73"/>
            <p:cNvSpPr/>
            <p:nvPr/>
          </p:nvSpPr>
          <p:spPr>
            <a:xfrm>
              <a:off x="7029450" y="240125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74" name="Rectangle 74"/>
            <p:cNvSpPr/>
            <p:nvPr/>
          </p:nvSpPr>
          <p:spPr>
            <a:xfrm>
              <a:off x="7029450" y="249650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75" name="Rectangle 75"/>
            <p:cNvSpPr/>
            <p:nvPr/>
          </p:nvSpPr>
          <p:spPr>
            <a:xfrm>
              <a:off x="9734550" y="2152650"/>
              <a:ext cx="1143000" cy="443865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76" name="Rectangle 76"/>
            <p:cNvSpPr/>
            <p:nvPr/>
          </p:nvSpPr>
          <p:spPr>
            <a:xfrm>
              <a:off x="9742170" y="2160270"/>
              <a:ext cx="1128712" cy="24574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77" name="Rectangle 77"/>
            <p:cNvSpPr/>
            <p:nvPr/>
          </p:nvSpPr>
          <p:spPr>
            <a:xfrm>
              <a:off x="9734550" y="240125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78" name="Rectangle 78"/>
            <p:cNvSpPr/>
            <p:nvPr/>
          </p:nvSpPr>
          <p:spPr>
            <a:xfrm>
              <a:off x="9734550" y="249650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79" name="Rectangle 79"/>
            <p:cNvSpPr/>
            <p:nvPr/>
          </p:nvSpPr>
          <p:spPr>
            <a:xfrm>
              <a:off x="7029450" y="3019425"/>
              <a:ext cx="1143000" cy="443865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80" name="Rectangle 80"/>
            <p:cNvSpPr/>
            <p:nvPr/>
          </p:nvSpPr>
          <p:spPr>
            <a:xfrm>
              <a:off x="7037070" y="3027045"/>
              <a:ext cx="1128712" cy="24574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81" name="Rectangle 81"/>
            <p:cNvSpPr/>
            <p:nvPr/>
          </p:nvSpPr>
          <p:spPr>
            <a:xfrm>
              <a:off x="7029450" y="326802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82" name="Rectangle 82"/>
            <p:cNvSpPr/>
            <p:nvPr/>
          </p:nvSpPr>
          <p:spPr>
            <a:xfrm>
              <a:off x="7029450" y="336327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83" name="Rectangle 83"/>
            <p:cNvSpPr/>
            <p:nvPr/>
          </p:nvSpPr>
          <p:spPr>
            <a:xfrm>
              <a:off x="9734550" y="3019425"/>
              <a:ext cx="1143000" cy="443865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84" name="Rectangle 84"/>
            <p:cNvSpPr/>
            <p:nvPr/>
          </p:nvSpPr>
          <p:spPr>
            <a:xfrm>
              <a:off x="9742170" y="3027045"/>
              <a:ext cx="1128712" cy="24574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85" name="Rectangle 85"/>
            <p:cNvSpPr/>
            <p:nvPr/>
          </p:nvSpPr>
          <p:spPr>
            <a:xfrm>
              <a:off x="9734550" y="326802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86" name="Rectangle 86"/>
            <p:cNvSpPr/>
            <p:nvPr/>
          </p:nvSpPr>
          <p:spPr>
            <a:xfrm>
              <a:off x="9734550" y="336327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87" name="TextBox 87"/>
            <p:cNvSpPr txBox="1"/>
            <p:nvPr/>
          </p:nvSpPr>
          <p:spPr>
            <a:xfrm>
              <a:off x="7383590" y="2212658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i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防盗门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10088690" y="2212658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i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报警器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7383590" y="3079432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木质门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9947339" y="3079432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声光报警器</a:t>
              </a:r>
            </a:p>
          </p:txBody>
        </p:sp>
      </p:grpSp>
      <p:grpSp>
        <p:nvGrpSpPr>
          <p:cNvPr id="112" name="c2-uml-2"/>
          <p:cNvGrpSpPr/>
          <p:nvPr/>
        </p:nvGrpSpPr>
        <p:grpSpPr>
          <a:xfrm>
            <a:off x="7029450" y="3973830"/>
            <a:ext cx="3848100" cy="1398270"/>
            <a:chOff x="7029450" y="3973830"/>
            <a:chExt cx="3848100" cy="1398270"/>
          </a:xfrm>
        </p:grpSpPr>
        <p:sp>
          <p:nvSpPr>
            <p:cNvPr id="92" name="Freeform 92"/>
            <p:cNvSpPr/>
            <p:nvPr/>
          </p:nvSpPr>
          <p:spPr>
            <a:xfrm>
              <a:off x="7600950" y="4719638"/>
              <a:ext cx="9525" cy="208597"/>
            </a:xfrm>
            <a:custGeom>
              <a:avLst/>
              <a:gdLst/>
              <a:ahLst/>
              <a:cxnLst/>
              <a:rect l="l" t="t" r="r" b="b"/>
              <a:pathLst>
                <a:path w="9525" h="208597">
                  <a:moveTo>
                    <a:pt x="0" y="208597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93" name="Freeform 93"/>
            <p:cNvSpPr/>
            <p:nvPr/>
          </p:nvSpPr>
          <p:spPr>
            <a:xfrm>
              <a:off x="7527608" y="4593908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94" name="Freeform 94"/>
            <p:cNvSpPr/>
            <p:nvPr/>
          </p:nvSpPr>
          <p:spPr>
            <a:xfrm>
              <a:off x="7600950" y="4719638"/>
              <a:ext cx="2705100" cy="208597"/>
            </a:xfrm>
            <a:custGeom>
              <a:avLst/>
              <a:gdLst/>
              <a:ahLst/>
              <a:cxnLst/>
              <a:rect l="l" t="t" r="r" b="b"/>
              <a:pathLst>
                <a:path w="2705100" h="208597">
                  <a:moveTo>
                    <a:pt x="2705100" y="208597"/>
                  </a:moveTo>
                  <a:lnTo>
                    <a:pt x="2705100" y="40958"/>
                  </a:lnTo>
                  <a:lnTo>
                    <a:pt x="0" y="40958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95" name="Freeform 95"/>
            <p:cNvSpPr/>
            <p:nvPr/>
          </p:nvSpPr>
          <p:spPr>
            <a:xfrm>
              <a:off x="7527608" y="4593908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96" name="Rectangle 96"/>
            <p:cNvSpPr/>
            <p:nvPr/>
          </p:nvSpPr>
          <p:spPr>
            <a:xfrm>
              <a:off x="7029450" y="3973830"/>
              <a:ext cx="1143000" cy="62007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97" name="Rectangle 97"/>
            <p:cNvSpPr/>
            <p:nvPr/>
          </p:nvSpPr>
          <p:spPr>
            <a:xfrm>
              <a:off x="7037070" y="3980498"/>
              <a:ext cx="1128712" cy="24574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98" name="Rectangle 98"/>
            <p:cNvSpPr/>
            <p:nvPr/>
          </p:nvSpPr>
          <p:spPr>
            <a:xfrm>
              <a:off x="7029450" y="422243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99" name="Rectangle 99"/>
            <p:cNvSpPr/>
            <p:nvPr/>
          </p:nvSpPr>
          <p:spPr>
            <a:xfrm>
              <a:off x="7029450" y="449389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00" name="Rectangle 100"/>
            <p:cNvSpPr/>
            <p:nvPr/>
          </p:nvSpPr>
          <p:spPr>
            <a:xfrm>
              <a:off x="7029450" y="4928235"/>
              <a:ext cx="1143000" cy="443865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101" name="Rectangle 101"/>
            <p:cNvSpPr/>
            <p:nvPr/>
          </p:nvSpPr>
          <p:spPr>
            <a:xfrm>
              <a:off x="7037070" y="4935855"/>
              <a:ext cx="1128712" cy="24574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02" name="Rectangle 102"/>
            <p:cNvSpPr/>
            <p:nvPr/>
          </p:nvSpPr>
          <p:spPr>
            <a:xfrm>
              <a:off x="7029450" y="517683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03" name="Rectangle 103"/>
            <p:cNvSpPr/>
            <p:nvPr/>
          </p:nvSpPr>
          <p:spPr>
            <a:xfrm>
              <a:off x="7029450" y="527208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04" name="Rectangle 104"/>
            <p:cNvSpPr/>
            <p:nvPr/>
          </p:nvSpPr>
          <p:spPr>
            <a:xfrm>
              <a:off x="9734550" y="4928235"/>
              <a:ext cx="1143000" cy="443865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105" name="Rectangle 105"/>
            <p:cNvSpPr/>
            <p:nvPr/>
          </p:nvSpPr>
          <p:spPr>
            <a:xfrm>
              <a:off x="9742170" y="4935855"/>
              <a:ext cx="1128712" cy="24574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06" name="Rectangle 106"/>
            <p:cNvSpPr/>
            <p:nvPr/>
          </p:nvSpPr>
          <p:spPr>
            <a:xfrm>
              <a:off x="9734550" y="517683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07" name="Rectangle 107"/>
            <p:cNvSpPr/>
            <p:nvPr/>
          </p:nvSpPr>
          <p:spPr>
            <a:xfrm>
              <a:off x="9734550" y="527208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08" name="TextBox 108"/>
            <p:cNvSpPr txBox="1"/>
            <p:nvPr/>
          </p:nvSpPr>
          <p:spPr>
            <a:xfrm>
              <a:off x="7454265" y="403383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i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套娃</a:t>
              </a:r>
            </a:p>
          </p:txBody>
        </p:sp>
        <p:sp>
          <p:nvSpPr>
            <p:cNvPr id="109" name="TextBox 109"/>
            <p:cNvSpPr txBox="1"/>
            <p:nvPr/>
          </p:nvSpPr>
          <p:spPr>
            <a:xfrm>
              <a:off x="7100697" y="4293394"/>
              <a:ext cx="97297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inner: 套娃[]</a:t>
              </a:r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7312914" y="498824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情侣套娃</a:t>
              </a:r>
            </a:p>
          </p:txBody>
        </p:sp>
        <p:sp>
          <p:nvSpPr>
            <p:cNvPr id="111" name="TextBox 111"/>
            <p:cNvSpPr txBox="1"/>
            <p:nvPr/>
          </p:nvSpPr>
          <p:spPr>
            <a:xfrm>
              <a:off x="10018014" y="498824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收纳套娃</a:t>
              </a:r>
            </a:p>
          </p:txBody>
        </p:sp>
      </p:grpSp>
      <p:grpSp>
        <p:nvGrpSpPr>
          <p:cNvPr id="118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113" name="Rectangle 113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116" name="Group 116"/>
            <p:cNvGrpSpPr/>
            <p:nvPr/>
          </p:nvGrpSpPr>
          <p:grpSpPr>
            <a:xfrm>
              <a:off x="738188" y="6017897"/>
              <a:ext cx="200023" cy="200023"/>
              <a:chOff x="738188" y="6017897"/>
              <a:chExt cx="200023" cy="200023"/>
            </a:xfrm>
          </p:grpSpPr>
          <p:sp>
            <p:nvSpPr>
              <p:cNvPr id="114" name="Freeform 114"/>
              <p:cNvSpPr/>
              <p:nvPr/>
            </p:nvSpPr>
            <p:spPr>
              <a:xfrm>
                <a:off x="738188" y="60178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115" name="Freeform 115"/>
              <p:cNvSpPr/>
              <p:nvPr/>
            </p:nvSpPr>
            <p:spPr>
              <a:xfrm>
                <a:off x="871538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117" name="TextBox 117"/>
            <p:cNvSpPr txBox="1"/>
            <p:nvPr/>
          </p:nvSpPr>
          <p:spPr>
            <a:xfrm>
              <a:off x="1040892" y="6023610"/>
              <a:ext cx="982751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第四种是自身聚合：套娃里装着套娃，画法是从类连回自己的一条线、菱形在起点端，这正是组合模式（第十讲）的骨架。</a:t>
              </a:r>
            </a:p>
          </p:txBody>
        </p:sp>
      </p:grpSp>
      <p:grpSp>
        <p:nvGrpSpPr>
          <p:cNvPr id="1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19" name="TextBox 119"/>
            <p:cNvSpPr txBox="1"/>
            <p:nvPr/>
          </p:nvSpPr>
          <p:spPr>
            <a:xfrm>
              <a:off x="528447" y="6581299"/>
              <a:ext cx="21849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UML 类图与类间关系</a:t>
              </a:r>
            </a:p>
          </p:txBody>
        </p:sp>
        <p:sp>
          <p:nvSpPr>
            <p:cNvPr id="120" name="TextBox 1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01 类图与关系 · 聚合与组合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组合：部分离开整体就活不了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9" name="c1-card-1"/>
          <p:cNvGrpSpPr/>
          <p:nvPr/>
        </p:nvGrpSpPr>
        <p:grpSpPr>
          <a:xfrm>
            <a:off x="533400" y="1524000"/>
            <a:ext cx="5626418" cy="2103120"/>
            <a:chOff x="533400" y="1524000"/>
            <a:chExt cx="5626418" cy="210312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2103120"/>
            </a:xfrm>
            <a:prstGeom prst="roundRect">
              <a:avLst>
                <a:gd name="adj" fmla="val 634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836420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0862" y="17435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23784" y="1745932"/>
              <a:ext cx="230632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组合/合成（composition）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1332" y="2071688"/>
              <a:ext cx="500505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同样是整体与部分，但整体与部分 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不可分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，体现 </a:t>
              </a:r>
              <a:r>
                <a:rPr lang="en-US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contains-a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，也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叫强聚合。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66762" y="2685098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22782" y="26289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整体的生命周期结束，部分也随之结束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66762" y="2985135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22782" y="2928938"/>
              <a:ext cx="42481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整体负责部分对象的 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创建与销毁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，部分不被别人共享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66762" y="3286125"/>
              <a:ext cx="59055" cy="5905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22782" y="3229927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画法：实线，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实心菱形画在整体一端</a:t>
              </a:r>
            </a:p>
          </p:txBody>
        </p:sp>
      </p:grpSp>
      <p:grpSp>
        <p:nvGrpSpPr>
          <p:cNvPr id="25" name="c1-bullets-2"/>
          <p:cNvGrpSpPr/>
          <p:nvPr/>
        </p:nvGrpSpPr>
        <p:grpSpPr>
          <a:xfrm>
            <a:off x="526542" y="3819525"/>
            <a:ext cx="2294865" cy="802482"/>
            <a:chOff x="526542" y="3819525"/>
            <a:chExt cx="2294865" cy="802482"/>
          </a:xfrm>
        </p:grpSpPr>
        <p:sp>
          <p:nvSpPr>
            <p:cNvPr id="20" name="TextBox 20"/>
            <p:cNvSpPr txBox="1"/>
            <p:nvPr/>
          </p:nvSpPr>
          <p:spPr>
            <a:xfrm>
              <a:off x="526542" y="381952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例子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542925" y="4175760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99135" y="4132421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公司与部门，人与大脑、四肢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542925" y="4445318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99135" y="4401979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窗口与标题栏、菜单栏、状态栏</a:t>
              </a:r>
            </a:p>
          </p:txBody>
        </p:sp>
      </p:grpSp>
      <p:grpSp>
        <p:nvGrpSpPr>
          <p:cNvPr id="31" name="c1-card-3"/>
          <p:cNvGrpSpPr/>
          <p:nvPr/>
        </p:nvGrpSpPr>
        <p:grpSpPr>
          <a:xfrm>
            <a:off x="533400" y="4748212"/>
            <a:ext cx="5626418" cy="1486852"/>
            <a:chOff x="533400" y="4748212"/>
            <a:chExt cx="5626418" cy="1486852"/>
          </a:xfrm>
        </p:grpSpPr>
        <p:sp>
          <p:nvSpPr>
            <p:cNvPr id="26" name="Rectangle 26"/>
            <p:cNvSpPr/>
            <p:nvPr/>
          </p:nvSpPr>
          <p:spPr>
            <a:xfrm>
              <a:off x="533400" y="4748212"/>
              <a:ext cx="5626418" cy="1486852"/>
            </a:xfrm>
            <a:prstGeom prst="roundRect">
              <a:avLst>
                <a:gd name="adj" fmla="val 896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542925" y="4881562"/>
              <a:ext cx="47625" cy="1220152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758190" y="493490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50862" y="496776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51332" y="5278755"/>
              <a:ext cx="502005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2018 年讲义写"尾部为实心菱形的 </a:t>
              </a:r>
              <a:r>
                <a:rPr lang="zh-CN" sz="13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实现箭头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"，应为 </a:t>
              </a: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实线箭头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，与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聚合那一句的表述保持一致。</a:t>
              </a:r>
            </a:p>
          </p:txBody>
        </p:sp>
      </p:grpSp>
      <p:grpSp>
        <p:nvGrpSpPr>
          <p:cNvPr id="47" name="c2-uml-1"/>
          <p:cNvGrpSpPr/>
          <p:nvPr/>
        </p:nvGrpSpPr>
        <p:grpSpPr>
          <a:xfrm>
            <a:off x="7043738" y="1942148"/>
            <a:ext cx="3888104" cy="587692"/>
            <a:chOff x="7043738" y="1942148"/>
            <a:chExt cx="3888104" cy="587692"/>
          </a:xfrm>
        </p:grpSpPr>
        <p:sp>
          <p:nvSpPr>
            <p:cNvPr id="32" name="Freeform 32"/>
            <p:cNvSpPr/>
            <p:nvPr/>
          </p:nvSpPr>
          <p:spPr>
            <a:xfrm>
              <a:off x="8691562" y="2236470"/>
              <a:ext cx="1097280" cy="9525"/>
            </a:xfrm>
            <a:custGeom>
              <a:avLst/>
              <a:gdLst/>
              <a:ahLst/>
              <a:cxnLst/>
              <a:rect l="l" t="t" r="r" b="b"/>
              <a:pathLst>
                <a:path w="1097280" h="9525">
                  <a:moveTo>
                    <a:pt x="1097280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8482012" y="2179320"/>
              <a:ext cx="209550" cy="115252"/>
            </a:xfrm>
            <a:custGeom>
              <a:avLst/>
              <a:gdLst/>
              <a:ahLst/>
              <a:cxnLst/>
              <a:rect l="l" t="t" r="r" b="b"/>
              <a:pathLst>
                <a:path w="209550" h="115252">
                  <a:moveTo>
                    <a:pt x="0" y="57150"/>
                  </a:moveTo>
                  <a:lnTo>
                    <a:pt x="104775" y="0"/>
                  </a:lnTo>
                  <a:lnTo>
                    <a:pt x="209550" y="57150"/>
                  </a:lnTo>
                  <a:lnTo>
                    <a:pt x="104775" y="115252"/>
                  </a:lnTo>
                  <a:close/>
                </a:path>
              </a:pathLst>
            </a:custGeom>
            <a:solidFill>
              <a:srgbClr val="1F2937"/>
            </a:solidFill>
            <a:ln w="15240">
              <a:solidFill>
                <a:srgbClr val="1F2937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7043738" y="1942148"/>
              <a:ext cx="1438275" cy="58769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7051358" y="1949768"/>
              <a:ext cx="1423988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7043738" y="2172652"/>
              <a:ext cx="1438275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7043738" y="2430780"/>
              <a:ext cx="1438275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9788842" y="2023110"/>
              <a:ext cx="1143000" cy="42576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9795510" y="2030730"/>
              <a:ext cx="112871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9788842" y="225361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9788842" y="234886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475143" y="1997869"/>
              <a:ext cx="5754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Company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115175" y="2242185"/>
              <a:ext cx="137769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depts: Department[]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958361" y="2078831"/>
              <a:ext cx="80396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Department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8833485" y="2040255"/>
              <a:ext cx="603885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8861088" y="2063115"/>
              <a:ext cx="54867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 ── 1..*</a:t>
              </a:r>
            </a:p>
          </p:txBody>
        </p:sp>
      </p:grpSp>
      <p:grpSp>
        <p:nvGrpSpPr>
          <p:cNvPr id="51" name="c2-code-2"/>
          <p:cNvGrpSpPr/>
          <p:nvPr/>
        </p:nvGrpSpPr>
        <p:grpSpPr>
          <a:xfrm>
            <a:off x="6464618" y="3118485"/>
            <a:ext cx="5193982" cy="1912620"/>
            <a:chOff x="6464618" y="3118485"/>
            <a:chExt cx="5193982" cy="1912620"/>
          </a:xfrm>
        </p:grpSpPr>
        <p:sp>
          <p:nvSpPr>
            <p:cNvPr id="48" name="Rectangle 48"/>
            <p:cNvSpPr/>
            <p:nvPr/>
          </p:nvSpPr>
          <p:spPr>
            <a:xfrm>
              <a:off x="6464618" y="3118485"/>
              <a:ext cx="5193982" cy="1912620"/>
            </a:xfrm>
            <a:prstGeom prst="roundRect">
              <a:avLst>
                <a:gd name="adj" fmla="val 498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593015" y="3270409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593015" y="3531394"/>
              <a:ext cx="3662807" cy="14241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Company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Department[] depts;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Company(String[] names)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depts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Department[names.length];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 = 0; i &lt; names.length; i++)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depts[i]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Department(names[i]);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                       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自己造，别人拿不到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55" name="c2-code-3"/>
          <p:cNvGrpSpPr/>
          <p:nvPr/>
        </p:nvGrpSpPr>
        <p:grpSpPr>
          <a:xfrm>
            <a:off x="6464618" y="5201602"/>
            <a:ext cx="5193982" cy="1033462"/>
            <a:chOff x="6464618" y="5201602"/>
            <a:chExt cx="5193982" cy="1033462"/>
          </a:xfrm>
        </p:grpSpPr>
        <p:sp>
          <p:nvSpPr>
            <p:cNvPr id="52" name="Rectangle 52"/>
            <p:cNvSpPr/>
            <p:nvPr/>
          </p:nvSpPr>
          <p:spPr>
            <a:xfrm>
              <a:off x="6464618" y="5201602"/>
              <a:ext cx="5193982" cy="1033462"/>
            </a:xfrm>
            <a:prstGeom prst="roundRect">
              <a:avLst>
                <a:gd name="adj" fmla="val 9217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593015" y="5353526"/>
              <a:ext cx="108688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C++ 里的三种写法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593015" y="5614511"/>
              <a:ext cx="4029964" cy="5431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Car   { Engine engine; };      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组合：值成员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Bus   { unique_ptr&lt;Engine&gt; e;   };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组合：独占指针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Team  { vector&lt;Player*&gt; players; };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聚合：只存指针</a:t>
              </a:r>
            </a:p>
          </p:txBody>
        </p:sp>
      </p:grpSp>
      <p:grpSp>
        <p:nvGrpSpPr>
          <p:cNvPr id="5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6" name="TextBox 56"/>
            <p:cNvSpPr txBox="1"/>
            <p:nvPr/>
          </p:nvSpPr>
          <p:spPr>
            <a:xfrm>
              <a:off x="528447" y="6581299"/>
              <a:ext cx="21849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UML 类图与类间关系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01 类图与关系 · 聚合与组合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聚合还是组合：问三个问题就够了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c1-steps-1"/>
          <p:cNvGrpSpPr/>
          <p:nvPr/>
        </p:nvGrpSpPr>
        <p:grpSpPr>
          <a:xfrm>
            <a:off x="533400" y="1533525"/>
            <a:ext cx="4412798" cy="1693069"/>
            <a:chOff x="533400" y="1533525"/>
            <a:chExt cx="4412798" cy="1693069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11734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20265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19408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707005"/>
              <a:ext cx="285750" cy="2857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78082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45642" y="1564957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一问：部分是谁造的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46785" y="1833086"/>
              <a:ext cx="39994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外部造好传进来 → 聚合；整体在构造函数里自己 new → 组合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5642" y="215265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二问：整体没了部分还在吗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785" y="2419826"/>
              <a:ext cx="20167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还在 → 聚合；一起消失 → 组合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5642" y="273939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三问：部分能同时属于几个整体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785" y="3006566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能被多个整体共享 → 聚合；只属于一个 → 组合</a:t>
              </a:r>
            </a:p>
          </p:txBody>
        </p:sp>
      </p:grpSp>
      <p:grpSp>
        <p:nvGrpSpPr>
          <p:cNvPr id="50" name="c1-table-2"/>
          <p:cNvGrpSpPr/>
          <p:nvPr/>
        </p:nvGrpSpPr>
        <p:grpSpPr>
          <a:xfrm>
            <a:off x="533400" y="3395662"/>
            <a:ext cx="5410200" cy="2434590"/>
            <a:chOff x="533400" y="3395662"/>
            <a:chExt cx="5410200" cy="2434590"/>
          </a:xfrm>
        </p:grpSpPr>
        <p:sp>
          <p:nvSpPr>
            <p:cNvPr id="21" name="Rectangle 21"/>
            <p:cNvSpPr/>
            <p:nvPr/>
          </p:nvSpPr>
          <p:spPr>
            <a:xfrm>
              <a:off x="533400" y="3395662"/>
              <a:ext cx="5410200" cy="40576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15898" y="351996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对比项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708631" y="351996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聚合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698403" y="351996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组合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33412" y="392572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语义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063115" y="3925729"/>
              <a:ext cx="10291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has-a（拥有）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866198" y="3925729"/>
              <a:ext cx="14060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contains-a（包含）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420243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533400" y="4207192"/>
              <a:ext cx="5410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33412" y="433149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可分离性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063115" y="433149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可分离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866198" y="433149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不可分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460819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33412" y="473725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生命周期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063115" y="473725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各自独立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3866198" y="4737259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部分随整体消亡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501396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533400" y="5018722"/>
              <a:ext cx="5410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33412" y="514302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能否共享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2063115" y="514302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3866198" y="514302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不能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533400" y="541972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33412" y="5548789"/>
              <a:ext cx="6726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UML 符号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2063115" y="554878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空心菱形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3775710" y="5434012"/>
              <a:ext cx="2158365" cy="38671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3866198" y="554878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实心菱形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33400" y="3395662"/>
              <a:ext cx="5410200" cy="24345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1958340" y="3395662"/>
              <a:ext cx="9525" cy="24345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3761422" y="3395662"/>
              <a:ext cx="9525" cy="24345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3" name="c2-image-1"/>
          <p:cNvGrpSpPr/>
          <p:nvPr/>
        </p:nvGrpSpPr>
        <p:grpSpPr>
          <a:xfrm>
            <a:off x="6248400" y="1524000"/>
            <a:ext cx="5410200" cy="2812352"/>
            <a:chOff x="6248400" y="1524000"/>
            <a:chExt cx="5410200" cy="2812352"/>
          </a:xfrm>
        </p:grpSpPr>
        <p:pic>
          <p:nvPicPr>
            <p:cNvPr id="51" name="Image 51"/>
            <p:cNvPicPr>
              <a:picLocks noChangeAspect="1"/>
            </p:cNvPicPr>
            <p:nvPr/>
          </p:nvPicPr>
          <p:blipFill>
            <a:blip r:embed="rId2"/>
            <a:srcRect l="0" t="19026" r="0" b="19026"/>
            <a:stretch>
              <a:fillRect/>
            </a:stretch>
          </p:blipFill>
          <p:spPr>
            <a:xfrm>
              <a:off x="6248400" y="1524000"/>
              <a:ext cx="5410200" cy="2513648"/>
            </a:xfrm>
            <a:prstGeom prst="roundRect">
              <a:avLst>
                <a:gd name="adj" fmla="val 5305"/>
              </a:avLst>
            </a:prstGeom>
          </p:spPr>
        </p:pic>
        <p:sp>
          <p:nvSpPr>
            <p:cNvPr id="52" name="TextBox 52"/>
            <p:cNvSpPr txBox="1"/>
            <p:nvPr/>
          </p:nvSpPr>
          <p:spPr>
            <a:xfrm>
              <a:off x="6757226" y="4130993"/>
              <a:ext cx="439254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苹果换个篮子照样是苹果（聚合）；齿轮离开表壳就没有意义（组合）</a:t>
              </a:r>
            </a:p>
          </p:txBody>
        </p:sp>
      </p:grpSp>
      <p:grpSp>
        <p:nvGrpSpPr>
          <p:cNvPr id="61" name="c2-card-2"/>
          <p:cNvGrpSpPr/>
          <p:nvPr/>
        </p:nvGrpSpPr>
        <p:grpSpPr>
          <a:xfrm>
            <a:off x="6248400" y="4489132"/>
            <a:ext cx="5410200" cy="1814512"/>
            <a:chOff x="6248400" y="4489132"/>
            <a:chExt cx="5410200" cy="1814512"/>
          </a:xfrm>
        </p:grpSpPr>
        <p:sp>
          <p:nvSpPr>
            <p:cNvPr id="54" name="Rectangle 54"/>
            <p:cNvSpPr/>
            <p:nvPr/>
          </p:nvSpPr>
          <p:spPr>
            <a:xfrm>
              <a:off x="6248400" y="4489132"/>
              <a:ext cx="5410200" cy="1814512"/>
            </a:xfrm>
            <a:prstGeom prst="roundRect">
              <a:avLst>
                <a:gd name="adj" fmla="val 734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6257925" y="4622482"/>
              <a:ext cx="47625" cy="154781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6478905" y="4681538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562344" y="471582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常见误判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472047" y="5038725"/>
              <a:ext cx="46428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大学与学生看起来是整体与部分，但学生毕业后仍然存在，应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当是 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聚合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472047" y="5597842"/>
              <a:ext cx="442992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订单与订单项：订单删除后订单项没有意义，是 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组合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472047" y="5900738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判断时想的是业务语义，而不是代码里用了数组还是列表。</a:t>
              </a:r>
            </a:p>
          </p:txBody>
        </p:sp>
      </p:grpSp>
      <p:grpSp>
        <p:nvGrpSpPr>
          <p:cNvPr id="6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2" name="TextBox 62"/>
            <p:cNvSpPr txBox="1"/>
            <p:nvPr/>
          </p:nvSpPr>
          <p:spPr>
            <a:xfrm>
              <a:off x="528447" y="6581299"/>
              <a:ext cx="21849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UML 类图与类间关系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420703" cy="909257"/>
            <a:chOff x="520446" y="342900"/>
            <a:chExt cx="542070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01 类图与关系 · 聚合与组合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42070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综合例：给绘图程序增加 Grid 图元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9515261" cy="264033"/>
            <a:chOff x="526542" y="1545907"/>
            <a:chExt cx="9515261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951526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题目：绘图程序已有矩形、椭圆等图元。Grid 本身是一个矩形，文本为空，同时包含多个矩形，个数由创建参数指定。</a:t>
              </a:r>
            </a:p>
          </p:txBody>
        </p:sp>
      </p:grpSp>
      <p:grpSp>
        <p:nvGrpSpPr>
          <p:cNvPr id="21" name="c1-card-1"/>
          <p:cNvGrpSpPr/>
          <p:nvPr/>
        </p:nvGrpSpPr>
        <p:grpSpPr>
          <a:xfrm>
            <a:off x="533400" y="1928812"/>
            <a:ext cx="4977765" cy="1970722"/>
            <a:chOff x="533400" y="1928812"/>
            <a:chExt cx="4977765" cy="1970722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4977765" cy="1970722"/>
            </a:xfrm>
            <a:prstGeom prst="roundRect">
              <a:avLst>
                <a:gd name="adj" fmla="val 676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62162"/>
              <a:ext cx="47625" cy="170402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58190" y="211550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50862" y="214836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分析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23784" y="2150745"/>
              <a:ext cx="17213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Grid 身上有两种关系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58190" y="2464118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13868" y="250250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38987" y="2476500"/>
              <a:ext cx="336157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Grid 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是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一个矩形：从 Rect 继承，用泛化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58190" y="2764155"/>
              <a:ext cx="192405" cy="19240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13868" y="280254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38987" y="2776538"/>
              <a:ext cx="397421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Grid 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含有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若干矩形：这些矩形在 Grid 构造时创建、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随 Grid 销毁，用组合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2475" y="3330416"/>
              <a:ext cx="4264406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内部元素声明成 Shape 类型，将来换成椭圆格子也不必改 Grid 的绘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制代码。</a:t>
              </a:r>
            </a:p>
          </p:txBody>
        </p:sp>
      </p:grpSp>
      <p:grpSp>
        <p:nvGrpSpPr>
          <p:cNvPr id="37" name="c1-table-2"/>
          <p:cNvGrpSpPr/>
          <p:nvPr/>
        </p:nvGrpSpPr>
        <p:grpSpPr>
          <a:xfrm>
            <a:off x="533400" y="4070032"/>
            <a:ext cx="4977765" cy="1200150"/>
            <a:chOff x="533400" y="4070032"/>
            <a:chExt cx="4977765" cy="1200150"/>
          </a:xfrm>
        </p:grpSpPr>
        <p:sp>
          <p:nvSpPr>
            <p:cNvPr id="22" name="Rectangle 22"/>
            <p:cNvSpPr/>
            <p:nvPr/>
          </p:nvSpPr>
          <p:spPr>
            <a:xfrm>
              <a:off x="533400" y="4070032"/>
              <a:ext cx="4977765" cy="400050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048283" y="419147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这对类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268576" y="419147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关系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859924" y="419147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判断依据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0555" y="4591526"/>
              <a:ext cx="862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Grid → Rect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124075" y="459152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泛化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920365" y="4591526"/>
              <a:ext cx="15616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Grid 本身就是一个矩形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4865370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533400" y="4870132"/>
              <a:ext cx="497776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30555" y="4991576"/>
              <a:ext cx="949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Grid → Shape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124075" y="499157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组合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920365" y="4991576"/>
              <a:ext cx="1846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格子随 Grid 生、随 Grid 灭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4070032"/>
              <a:ext cx="4977765" cy="12001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2022158" y="4070032"/>
              <a:ext cx="9525" cy="12001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2818448" y="4070032"/>
              <a:ext cx="9525" cy="12001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3" name="c1-callout-3"/>
          <p:cNvGrpSpPr/>
          <p:nvPr/>
        </p:nvGrpSpPr>
        <p:grpSpPr>
          <a:xfrm>
            <a:off x="533400" y="5439728"/>
            <a:ext cx="4977765" cy="847725"/>
            <a:chOff x="533400" y="5439728"/>
            <a:chExt cx="4977765" cy="847725"/>
          </a:xfrm>
        </p:grpSpPr>
        <p:sp>
          <p:nvSpPr>
            <p:cNvPr id="38" name="Rectangle 38"/>
            <p:cNvSpPr/>
            <p:nvPr/>
          </p:nvSpPr>
          <p:spPr>
            <a:xfrm>
              <a:off x="533400" y="5439728"/>
              <a:ext cx="4977765" cy="847725"/>
            </a:xfrm>
            <a:prstGeom prst="roundRect">
              <a:avLst>
                <a:gd name="adj" fmla="val 13483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738188" y="5763580"/>
              <a:ext cx="200023" cy="200023"/>
              <a:chOff x="738188" y="5763580"/>
              <a:chExt cx="200023" cy="200023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738188" y="576358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871538" y="583025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1040892" y="5644515"/>
              <a:ext cx="378561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一个类之间同时存在两种关系时，两条线都要画出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来，不能只画继承。</a:t>
              </a:r>
            </a:p>
          </p:txBody>
        </p:sp>
      </p:grpSp>
      <p:grpSp>
        <p:nvGrpSpPr>
          <p:cNvPr id="80" name="c2-uml-1"/>
          <p:cNvGrpSpPr/>
          <p:nvPr/>
        </p:nvGrpSpPr>
        <p:grpSpPr>
          <a:xfrm>
            <a:off x="6217920" y="2724150"/>
            <a:ext cx="5038725" cy="2848928"/>
            <a:chOff x="6217920" y="2724150"/>
            <a:chExt cx="5038725" cy="2848928"/>
          </a:xfrm>
        </p:grpSpPr>
        <p:sp>
          <p:nvSpPr>
            <p:cNvPr id="44" name="Freeform 44"/>
            <p:cNvSpPr/>
            <p:nvPr/>
          </p:nvSpPr>
          <p:spPr>
            <a:xfrm>
              <a:off x="6789420" y="3437572"/>
              <a:ext cx="1947862" cy="1465897"/>
            </a:xfrm>
            <a:custGeom>
              <a:avLst/>
              <a:gdLst/>
              <a:ahLst/>
              <a:cxnLst/>
              <a:rect l="l" t="t" r="r" b="b"/>
              <a:pathLst>
                <a:path w="1947862" h="1465897">
                  <a:moveTo>
                    <a:pt x="0" y="1465897"/>
                  </a:moveTo>
                  <a:lnTo>
                    <a:pt x="0" y="670560"/>
                  </a:lnTo>
                  <a:lnTo>
                    <a:pt x="1947862" y="670560"/>
                  </a:lnTo>
                  <a:lnTo>
                    <a:pt x="1947862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8663940" y="3312795"/>
              <a:ext cx="146685" cy="124777"/>
            </a:xfrm>
            <a:custGeom>
              <a:avLst/>
              <a:gdLst/>
              <a:ahLst/>
              <a:cxnLst/>
              <a:rect l="l" t="t" r="r" b="b"/>
              <a:pathLst>
                <a:path w="146685" h="124777">
                  <a:moveTo>
                    <a:pt x="73342" y="0"/>
                  </a:moveTo>
                  <a:lnTo>
                    <a:pt x="146685" y="124777"/>
                  </a:lnTo>
                  <a:lnTo>
                    <a:pt x="0" y="124777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8737282" y="3437572"/>
              <a:ext cx="9525" cy="1384935"/>
            </a:xfrm>
            <a:custGeom>
              <a:avLst/>
              <a:gdLst/>
              <a:ahLst/>
              <a:cxnLst/>
              <a:rect l="l" t="t" r="r" b="b"/>
              <a:pathLst>
                <a:path w="9525" h="1384935">
                  <a:moveTo>
                    <a:pt x="0" y="1384935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8663940" y="3312795"/>
              <a:ext cx="146685" cy="124777"/>
            </a:xfrm>
            <a:custGeom>
              <a:avLst/>
              <a:gdLst/>
              <a:ahLst/>
              <a:cxnLst/>
              <a:rect l="l" t="t" r="r" b="b"/>
              <a:pathLst>
                <a:path w="146685" h="124777">
                  <a:moveTo>
                    <a:pt x="73342" y="0"/>
                  </a:moveTo>
                  <a:lnTo>
                    <a:pt x="146685" y="124777"/>
                  </a:lnTo>
                  <a:lnTo>
                    <a:pt x="0" y="124777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48" name="Freeform 48"/>
            <p:cNvSpPr/>
            <p:nvPr/>
          </p:nvSpPr>
          <p:spPr>
            <a:xfrm>
              <a:off x="9434512" y="5197792"/>
              <a:ext cx="679132" cy="9525"/>
            </a:xfrm>
            <a:custGeom>
              <a:avLst/>
              <a:gdLst/>
              <a:ahLst/>
              <a:cxnLst/>
              <a:rect l="l" t="t" r="r" b="b"/>
              <a:pathLst>
                <a:path w="679132" h="9525">
                  <a:moveTo>
                    <a:pt x="679132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49" name="Freeform 49"/>
            <p:cNvSpPr/>
            <p:nvPr/>
          </p:nvSpPr>
          <p:spPr>
            <a:xfrm>
              <a:off x="9308782" y="5124450"/>
              <a:ext cx="125730" cy="146685"/>
            </a:xfrm>
            <a:custGeom>
              <a:avLst/>
              <a:gdLst/>
              <a:ahLst/>
              <a:cxnLst/>
              <a:rect l="l" t="t" r="r" b="b"/>
              <a:pathLst>
                <a:path w="125730" h="146685">
                  <a:moveTo>
                    <a:pt x="0" y="73343"/>
                  </a:moveTo>
                  <a:lnTo>
                    <a:pt x="125730" y="0"/>
                  </a:lnTo>
                  <a:lnTo>
                    <a:pt x="125730" y="146685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50" name="Freeform 50"/>
            <p:cNvSpPr/>
            <p:nvPr/>
          </p:nvSpPr>
          <p:spPr>
            <a:xfrm>
              <a:off x="8737282" y="3312795"/>
              <a:ext cx="1947862" cy="1300162"/>
            </a:xfrm>
            <a:custGeom>
              <a:avLst/>
              <a:gdLst/>
              <a:ahLst/>
              <a:cxnLst/>
              <a:rect l="l" t="t" r="r" b="b"/>
              <a:pathLst>
                <a:path w="1947862" h="1300162">
                  <a:moveTo>
                    <a:pt x="0" y="0"/>
                  </a:moveTo>
                  <a:lnTo>
                    <a:pt x="0" y="754380"/>
                  </a:lnTo>
                  <a:lnTo>
                    <a:pt x="1947862" y="754380"/>
                  </a:lnTo>
                  <a:lnTo>
                    <a:pt x="1947862" y="1300162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51" name="Freeform 51"/>
            <p:cNvSpPr/>
            <p:nvPr/>
          </p:nvSpPr>
          <p:spPr>
            <a:xfrm>
              <a:off x="10627042" y="4612958"/>
              <a:ext cx="115252" cy="209550"/>
            </a:xfrm>
            <a:custGeom>
              <a:avLst/>
              <a:gdLst/>
              <a:ahLst/>
              <a:cxnLst/>
              <a:rect l="l" t="t" r="r" b="b"/>
              <a:pathLst>
                <a:path w="115252" h="209550">
                  <a:moveTo>
                    <a:pt x="58102" y="209550"/>
                  </a:moveTo>
                  <a:lnTo>
                    <a:pt x="0" y="104775"/>
                  </a:lnTo>
                  <a:lnTo>
                    <a:pt x="58102" y="0"/>
                  </a:lnTo>
                  <a:lnTo>
                    <a:pt x="115252" y="104775"/>
                  </a:lnTo>
                  <a:close/>
                </a:path>
              </a:pathLst>
            </a:custGeom>
            <a:solidFill>
              <a:srgbClr val="1F2937"/>
            </a:solidFill>
            <a:ln w="15240">
              <a:solidFill>
                <a:srgbClr val="1F2937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8165782" y="2724150"/>
              <a:ext cx="1143000" cy="58769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8172450" y="2731770"/>
              <a:ext cx="112871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8165782" y="295465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8165782" y="304990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6217920" y="4903470"/>
              <a:ext cx="1143000" cy="58769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6224588" y="4911090"/>
              <a:ext cx="112871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6217920" y="513397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6217920" y="522922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8165782" y="4822508"/>
              <a:ext cx="1143000" cy="75057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8172450" y="4829175"/>
              <a:ext cx="112871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8165782" y="505301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8165782" y="531018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4" name="Rectangle 64"/>
            <p:cNvSpPr/>
            <p:nvPr/>
          </p:nvSpPr>
          <p:spPr>
            <a:xfrm>
              <a:off x="10113645" y="4822508"/>
              <a:ext cx="1143000" cy="75057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65" name="Rectangle 65"/>
            <p:cNvSpPr/>
            <p:nvPr/>
          </p:nvSpPr>
          <p:spPr>
            <a:xfrm>
              <a:off x="10120312" y="4829175"/>
              <a:ext cx="1128712" cy="22764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10113645" y="505301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7" name="Rectangle 67"/>
            <p:cNvSpPr/>
            <p:nvPr/>
          </p:nvSpPr>
          <p:spPr>
            <a:xfrm>
              <a:off x="10113645" y="531018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8539703" y="2779871"/>
              <a:ext cx="39515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i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Shape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8237220" y="3119438"/>
              <a:ext cx="5365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draw()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6568019" y="4959191"/>
              <a:ext cx="4428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Ellipse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6289358" y="5298758"/>
              <a:ext cx="5365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draw()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8577797" y="4878229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Rect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8237220" y="5122545"/>
              <a:ext cx="85633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text: String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8237220" y="5379720"/>
              <a:ext cx="5365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draw()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0543220" y="4878229"/>
              <a:ext cx="28385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Grid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10185082" y="5122545"/>
              <a:ext cx="95990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cells: Shape[]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10185082" y="5379720"/>
              <a:ext cx="5365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draw()</a:t>
              </a:r>
            </a:p>
          </p:txBody>
        </p:sp>
        <p:sp>
          <p:nvSpPr>
            <p:cNvPr id="78" name="Rectangle 78"/>
            <p:cNvSpPr/>
            <p:nvPr/>
          </p:nvSpPr>
          <p:spPr>
            <a:xfrm>
              <a:off x="9631680" y="3870960"/>
              <a:ext cx="158115" cy="165735"/>
            </a:xfrm>
            <a:prstGeom prst="roundRect">
              <a:avLst>
                <a:gd name="adj" fmla="val 24096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9672657" y="3893820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</p:grpSp>
      <p:grpSp>
        <p:nvGrpSpPr>
          <p:cNvPr id="8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1" name="TextBox 81"/>
            <p:cNvSpPr txBox="1"/>
            <p:nvPr/>
          </p:nvSpPr>
          <p:spPr>
            <a:xfrm>
              <a:off x="528447" y="6581299"/>
              <a:ext cx="21849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UML 类图与类间关系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370725" cy="909257"/>
            <a:chOff x="520446" y="342900"/>
            <a:chExt cx="737072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01 类图与关系 · 聚合与组合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37072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Grid 的实现：先画自己这个框，再画里面的格子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6276022" cy="4480560"/>
            <a:chOff x="533400" y="1524000"/>
            <a:chExt cx="6276022" cy="448056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276022" cy="4480560"/>
            </a:xfrm>
            <a:prstGeom prst="roundRect">
              <a:avLst>
                <a:gd name="adj" fmla="val 2126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416" y="1937385"/>
              <a:ext cx="4191191" cy="39963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Shape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abstract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draw();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Rect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Shape {    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Ellipse 同理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String text;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Rect(String text) {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.text = text; }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@Override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draw() {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画边框与文字 */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Grid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Rect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Shape[] cells;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Grid(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n)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super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(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null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);           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自己也是矩形，文本为空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cells =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Shape[n];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 = 0; i &lt; n; i++)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cells[i] =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Rect(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null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@Override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draw() {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super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.draw();          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先画外框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(Shape c : cells) c.draw();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7" name="c2-card-1"/>
          <p:cNvGrpSpPr/>
          <p:nvPr/>
        </p:nvGrpSpPr>
        <p:grpSpPr>
          <a:xfrm>
            <a:off x="7114222" y="1524000"/>
            <a:ext cx="4544378" cy="2025968"/>
            <a:chOff x="7114222" y="1524000"/>
            <a:chExt cx="4544378" cy="2025968"/>
          </a:xfrm>
        </p:grpSpPr>
        <p:sp>
          <p:nvSpPr>
            <p:cNvPr id="11" name="Rectangle 11"/>
            <p:cNvSpPr/>
            <p:nvPr/>
          </p:nvSpPr>
          <p:spPr>
            <a:xfrm>
              <a:off x="7114222" y="1524000"/>
              <a:ext cx="4544378" cy="2025968"/>
            </a:xfrm>
            <a:prstGeom prst="roundRect">
              <a:avLst>
                <a:gd name="adj" fmla="val 658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123748" y="1657350"/>
              <a:ext cx="47625" cy="1759268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7344728" y="171640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436168" y="175069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337870" y="2072640"/>
              <a:ext cx="385419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原课件写成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Class Ellipse:public Shape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，class 被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写成大写 C 开头，编译通不过。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337870" y="2632710"/>
              <a:ext cx="3965639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原课件的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Grid::Draw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只循环画内部矩形，没有调用</a:t>
              </a:r>
              <a:br/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Rect::Draw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，按题图 Grid 外面应当有一圈边框，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这里补上 </a:t>
              </a:r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super.draw()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23" name="c2-card-2"/>
          <p:cNvGrpSpPr/>
          <p:nvPr/>
        </p:nvGrpSpPr>
        <p:grpSpPr>
          <a:xfrm>
            <a:off x="7114222" y="3725228"/>
            <a:ext cx="4544378" cy="1466850"/>
            <a:chOff x="7114222" y="3725228"/>
            <a:chExt cx="4544378" cy="1466850"/>
          </a:xfrm>
        </p:grpSpPr>
        <p:sp>
          <p:nvSpPr>
            <p:cNvPr id="18" name="Rectangle 18"/>
            <p:cNvSpPr/>
            <p:nvPr/>
          </p:nvSpPr>
          <p:spPr>
            <a:xfrm>
              <a:off x="7114222" y="3725228"/>
              <a:ext cx="4544378" cy="1466850"/>
            </a:xfrm>
            <a:prstGeom prst="roundRect">
              <a:avLst>
                <a:gd name="adj" fmla="val 909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123748" y="3858578"/>
              <a:ext cx="47625" cy="120015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344728" y="3917632"/>
              <a:ext cx="1283018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403474" y="3951923"/>
              <a:ext cx="11645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C++ 版要额外注意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337870" y="4274820"/>
              <a:ext cx="3871341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内部矩形是 new 出来的，析构里要逐个 delete 再</a:t>
              </a:r>
              <a:br/>
              <a:r>
                <a:rPr lang="en-US" sz="135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delete[]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，否则内存泄漏；基类 Shape 的析构函数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还要声明为虚函数。</a:t>
              </a:r>
            </a:p>
          </p:txBody>
        </p:sp>
      </p:grpSp>
      <p:grpSp>
        <p:nvGrpSpPr>
          <p:cNvPr id="30" name="c2-callout-3"/>
          <p:cNvGrpSpPr/>
          <p:nvPr/>
        </p:nvGrpSpPr>
        <p:grpSpPr>
          <a:xfrm>
            <a:off x="7114222" y="5367338"/>
            <a:ext cx="4544378" cy="978218"/>
            <a:chOff x="7114222" y="5367338"/>
            <a:chExt cx="4544378" cy="978218"/>
          </a:xfrm>
        </p:grpSpPr>
        <p:sp>
          <p:nvSpPr>
            <p:cNvPr id="24" name="Rectangle 24"/>
            <p:cNvSpPr/>
            <p:nvPr/>
          </p:nvSpPr>
          <p:spPr>
            <a:xfrm>
              <a:off x="7114222" y="5367338"/>
              <a:ext cx="4544378" cy="978218"/>
            </a:xfrm>
            <a:prstGeom prst="roundRect">
              <a:avLst>
                <a:gd name="adj" fmla="val 11685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8" name="Group 28"/>
            <p:cNvGrpSpPr/>
            <p:nvPr/>
          </p:nvGrpSpPr>
          <p:grpSpPr>
            <a:xfrm>
              <a:off x="7319010" y="5755958"/>
              <a:ext cx="200026" cy="200025"/>
              <a:chOff x="7319010" y="5755958"/>
              <a:chExt cx="200026" cy="200025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7319010" y="575595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7358749" y="580040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7393464" y="591153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9" name="TextBox 29"/>
            <p:cNvSpPr txBox="1"/>
            <p:nvPr/>
          </p:nvSpPr>
          <p:spPr>
            <a:xfrm>
              <a:off x="7621714" y="5513070"/>
              <a:ext cx="3588448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字段声明成 Shape 而不是 Rect，将来放椭圆格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子也不用改 Grid，这是针对接口编程带来的余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地。</a:t>
              </a:r>
            </a:p>
          </p:txBody>
        </p:sp>
      </p:grpSp>
      <p:grpSp>
        <p:nvGrpSpPr>
          <p:cNvPr id="3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1" name="TextBox 31"/>
            <p:cNvSpPr txBox="1"/>
            <p:nvPr/>
          </p:nvSpPr>
          <p:spPr>
            <a:xfrm>
              <a:off x="528447" y="6581299"/>
              <a:ext cx="21849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UML 类图与类间关系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3358515" cy="2997517"/>
            <a:chOff x="667512" y="1835468"/>
            <a:chExt cx="3358515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第五部分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45973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泛化与实现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3486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两种空心三角箭头，区别只在线型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泛化就是继承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实现是类与接口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箭头一律指向父类或接口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1849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UML 类图与类间关系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01 类图与关系 · 泛化与实现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泛化：一般与特殊，代码里就是继承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5410200" cy="1933575"/>
            <a:chOff x="533400" y="1524000"/>
            <a:chExt cx="5410200" cy="193357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933575"/>
            </a:xfrm>
            <a:prstGeom prst="roundRect">
              <a:avLst>
                <a:gd name="adj" fmla="val 689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666875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5543" y="17635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76744" y="1767364"/>
              <a:ext cx="217411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泛化（generalization）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8096" y="2119789"/>
              <a:ext cx="47033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一般与特殊、一般与具体之间的关系。具体描述建立在一般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描述之上，并对它进行扩展。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82955" y="2770823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39546" y="2711291"/>
              <a:ext cx="441116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狗是对动物的具体描述，所以把狗设计成动物的子类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2955" y="3090862"/>
              <a:ext cx="60960" cy="6096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39546" y="3031331"/>
              <a:ext cx="37038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画法：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实线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加空心三角箭头，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子类指向父类</a:t>
              </a:r>
            </a:p>
          </p:txBody>
        </p:sp>
      </p:grpSp>
      <p:grpSp>
        <p:nvGrpSpPr>
          <p:cNvPr id="21" name="c1-code-2"/>
          <p:cNvGrpSpPr/>
          <p:nvPr/>
        </p:nvGrpSpPr>
        <p:grpSpPr>
          <a:xfrm>
            <a:off x="533400" y="3642360"/>
            <a:ext cx="5410200" cy="1922145"/>
            <a:chOff x="533400" y="3642360"/>
            <a:chExt cx="5410200" cy="1922145"/>
          </a:xfrm>
        </p:grpSpPr>
        <p:sp>
          <p:nvSpPr>
            <p:cNvPr id="18" name="Rectangle 18"/>
            <p:cNvSpPr/>
            <p:nvPr/>
          </p:nvSpPr>
          <p:spPr>
            <a:xfrm>
              <a:off x="533400" y="3642360"/>
              <a:ext cx="5410200" cy="1922145"/>
            </a:xfrm>
            <a:prstGeom prst="roundRect">
              <a:avLst>
                <a:gd name="adj" fmla="val 495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61797" y="3794284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61035" y="4057174"/>
              <a:ext cx="4285742" cy="14373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Animal {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eatSomething() {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有实现 */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Tiger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Animal {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@Override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eatSomething() {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吃肉 */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43" name="c2-uml-1"/>
          <p:cNvGrpSpPr/>
          <p:nvPr/>
        </p:nvGrpSpPr>
        <p:grpSpPr>
          <a:xfrm>
            <a:off x="6958012" y="1660208"/>
            <a:ext cx="3919538" cy="1575434"/>
            <a:chOff x="6958012" y="1660208"/>
            <a:chExt cx="3919538" cy="1575434"/>
          </a:xfrm>
        </p:grpSpPr>
        <p:sp>
          <p:nvSpPr>
            <p:cNvPr id="22" name="Freeform 22"/>
            <p:cNvSpPr/>
            <p:nvPr/>
          </p:nvSpPr>
          <p:spPr>
            <a:xfrm>
              <a:off x="7600950" y="2437448"/>
              <a:ext cx="9525" cy="146685"/>
            </a:xfrm>
            <a:custGeom>
              <a:avLst/>
              <a:gdLst/>
              <a:ahLst/>
              <a:cxnLst/>
              <a:rect l="l" t="t" r="r" b="b"/>
              <a:pathLst>
                <a:path w="9525" h="146685">
                  <a:moveTo>
                    <a:pt x="0" y="146685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7527608" y="2311718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7600950" y="2437448"/>
              <a:ext cx="2705100" cy="240982"/>
            </a:xfrm>
            <a:custGeom>
              <a:avLst/>
              <a:gdLst/>
              <a:ahLst/>
              <a:cxnLst/>
              <a:rect l="l" t="t" r="r" b="b"/>
              <a:pathLst>
                <a:path w="2705100" h="240982">
                  <a:moveTo>
                    <a:pt x="2705100" y="240982"/>
                  </a:moveTo>
                  <a:lnTo>
                    <a:pt x="2705100" y="58102"/>
                  </a:lnTo>
                  <a:lnTo>
                    <a:pt x="0" y="58102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7527608" y="2311718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958012" y="1660208"/>
              <a:ext cx="1285875" cy="65151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6964680" y="1667828"/>
              <a:ext cx="1271588" cy="26479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958012" y="1926908"/>
              <a:ext cx="1285875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6958012" y="2022158"/>
              <a:ext cx="1285875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6958012" y="2584132"/>
              <a:ext cx="1285875" cy="65151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6964680" y="2591752"/>
              <a:ext cx="1271588" cy="26479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958012" y="2850832"/>
              <a:ext cx="1285875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6958012" y="2946082"/>
              <a:ext cx="1285875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9734550" y="2678430"/>
              <a:ext cx="1143000" cy="46196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9742170" y="2686050"/>
              <a:ext cx="1128712" cy="26479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9734550" y="294513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9734550" y="304038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355525" y="1724501"/>
              <a:ext cx="4908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Animal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028879" y="2094548"/>
              <a:ext cx="12178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eatSomething()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395103" y="2648426"/>
              <a:ext cx="411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Tiger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028879" y="3018473"/>
              <a:ext cx="12178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eatSomething()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167262" y="2743676"/>
              <a:ext cx="277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Dog</a:t>
              </a:r>
            </a:p>
          </p:txBody>
        </p:sp>
      </p:grpSp>
      <p:grpSp>
        <p:nvGrpSpPr>
          <p:cNvPr id="48" name="c2-card-2"/>
          <p:cNvGrpSpPr/>
          <p:nvPr/>
        </p:nvGrpSpPr>
        <p:grpSpPr>
          <a:xfrm>
            <a:off x="6248400" y="3557588"/>
            <a:ext cx="5410200" cy="1855470"/>
            <a:chOff x="6248400" y="3557588"/>
            <a:chExt cx="5410200" cy="1855470"/>
          </a:xfrm>
        </p:grpSpPr>
        <p:sp>
          <p:nvSpPr>
            <p:cNvPr id="44" name="Rectangle 44"/>
            <p:cNvSpPr/>
            <p:nvPr/>
          </p:nvSpPr>
          <p:spPr>
            <a:xfrm>
              <a:off x="6248400" y="3557588"/>
              <a:ext cx="5410200" cy="1855470"/>
            </a:xfrm>
            <a:prstGeom prst="roundRect">
              <a:avLst>
                <a:gd name="adj" fmla="val 7187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444996" y="3784759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用继承前先自问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444996" y="4122896"/>
              <a:ext cx="4811522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子类能不能在 </a:t>
              </a:r>
              <a:r>
                <a:rPr lang="zh-CN" sz="142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所有用到父类的地方</a:t>
              </a: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顶替父类？不能就不该继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承（里氏替换原则）。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44996" y="4714399"/>
              <a:ext cx="47033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继承是编译期绑定的，一旦定下就改不了；需要运行时更换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行为时，改用组合。</a:t>
              </a:r>
            </a:p>
          </p:txBody>
        </p:sp>
      </p:grpSp>
      <p:grpSp>
        <p:nvGrpSpPr>
          <p:cNvPr id="55" name="c2-callout-3"/>
          <p:cNvGrpSpPr/>
          <p:nvPr/>
        </p:nvGrpSpPr>
        <p:grpSpPr>
          <a:xfrm>
            <a:off x="6248400" y="5597842"/>
            <a:ext cx="5410200" cy="756285"/>
            <a:chOff x="6248400" y="5597842"/>
            <a:chExt cx="5410200" cy="756285"/>
          </a:xfrm>
        </p:grpSpPr>
        <p:sp>
          <p:nvSpPr>
            <p:cNvPr id="49" name="Rectangle 49"/>
            <p:cNvSpPr/>
            <p:nvPr/>
          </p:nvSpPr>
          <p:spPr>
            <a:xfrm>
              <a:off x="6248400" y="5597842"/>
              <a:ext cx="5410200" cy="756285"/>
            </a:xfrm>
            <a:prstGeom prst="roundRect">
              <a:avLst>
                <a:gd name="adj" fmla="val 15113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6441129" y="5872281"/>
              <a:ext cx="224134" cy="192560"/>
              <a:chOff x="6441129" y="5872281"/>
              <a:chExt cx="224134" cy="19256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6553200" y="594264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6441129" y="587228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6553200" y="602043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6755511" y="5745004"/>
              <a:ext cx="4360672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不要为了复用几行代码就继承。"正方形继承长方形"这</a:t>
              </a:r>
              <a:br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类反例，问题就出在替换不成立。</a:t>
              </a:r>
            </a:p>
          </p:txBody>
        </p:sp>
      </p:grpSp>
      <p:grpSp>
        <p:nvGrpSpPr>
          <p:cNvPr id="5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6" name="TextBox 56"/>
            <p:cNvSpPr txBox="1"/>
            <p:nvPr/>
          </p:nvSpPr>
          <p:spPr>
            <a:xfrm>
              <a:off x="528447" y="6581299"/>
              <a:ext cx="21849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UML 类图与类间关系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01 类图与关系 · 泛化与实现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实现：类兑现接口许下的承诺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5410200" cy="1444942"/>
            <a:chOff x="533400" y="1524000"/>
            <a:chExt cx="5410200" cy="144494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444942"/>
            </a:xfrm>
            <a:prstGeom prst="roundRect">
              <a:avLst>
                <a:gd name="adj" fmla="val 922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178242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2475" y="170497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5147" y="173783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18450" y="1744504"/>
              <a:ext cx="166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实现（realization）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45998" y="2061686"/>
              <a:ext cx="472719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类与接口之间的关系，表示类实现了接口的全部特征和行为。广义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上说，类模板与模板类也是一种实现关系。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62000" y="2641282"/>
              <a:ext cx="57150" cy="5715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17448" y="2589371"/>
              <a:ext cx="351092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画法：</a:t>
              </a: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虚线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加空心三角箭头，</a:t>
              </a: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实现类指向接口</a:t>
              </a:r>
            </a:p>
          </p:txBody>
        </p:sp>
      </p:grpSp>
      <p:grpSp>
        <p:nvGrpSpPr>
          <p:cNvPr id="19" name="c1-code-2"/>
          <p:cNvGrpSpPr/>
          <p:nvPr/>
        </p:nvGrpSpPr>
        <p:grpSpPr>
          <a:xfrm>
            <a:off x="533400" y="3133725"/>
            <a:ext cx="5410200" cy="2088832"/>
            <a:chOff x="533400" y="3133725"/>
            <a:chExt cx="5410200" cy="2088832"/>
          </a:xfrm>
        </p:grpSpPr>
        <p:sp>
          <p:nvSpPr>
            <p:cNvPr id="16" name="Rectangle 16"/>
            <p:cNvSpPr/>
            <p:nvPr/>
          </p:nvSpPr>
          <p:spPr>
            <a:xfrm>
              <a:off x="533400" y="3133725"/>
              <a:ext cx="5410200" cy="2088832"/>
            </a:xfrm>
            <a:prstGeom prst="roundRect">
              <a:avLst>
                <a:gd name="adj" fmla="val 456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61797" y="3285649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61797" y="3546634"/>
              <a:ext cx="3040507" cy="16003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interface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IAnimal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eatSomething();    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只有签名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Animal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IAnimal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@Override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eatSomething()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由实现类给出 */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6" name="c1-callout-3"/>
          <p:cNvGrpSpPr/>
          <p:nvPr/>
        </p:nvGrpSpPr>
        <p:grpSpPr>
          <a:xfrm>
            <a:off x="533400" y="5387340"/>
            <a:ext cx="5410200" cy="816292"/>
            <a:chOff x="533400" y="5387340"/>
            <a:chExt cx="5410200" cy="816292"/>
          </a:xfrm>
        </p:grpSpPr>
        <p:sp>
          <p:nvSpPr>
            <p:cNvPr id="20" name="Rectangle 20"/>
            <p:cNvSpPr/>
            <p:nvPr/>
          </p:nvSpPr>
          <p:spPr>
            <a:xfrm>
              <a:off x="533400" y="5387340"/>
              <a:ext cx="5410200" cy="816292"/>
            </a:xfrm>
            <a:prstGeom prst="roundRect">
              <a:avLst>
                <a:gd name="adj" fmla="val 1400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738188" y="5695950"/>
              <a:ext cx="200026" cy="200026"/>
              <a:chOff x="738188" y="5695950"/>
              <a:chExt cx="200026" cy="200026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738188" y="569595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38200" y="57626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827088" y="579596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1041273" y="5588794"/>
              <a:ext cx="440207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接口的方法必须全部实现，漏一个就只能声明成抽象类；一个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类只能 extends 一个父类，却可以 implements 多个接口。</a:t>
              </a:r>
            </a:p>
          </p:txBody>
        </p:sp>
      </p:grpSp>
      <p:grpSp>
        <p:nvGrpSpPr>
          <p:cNvPr id="50" name="c2-uml-1"/>
          <p:cNvGrpSpPr/>
          <p:nvPr/>
        </p:nvGrpSpPr>
        <p:grpSpPr>
          <a:xfrm>
            <a:off x="6578918" y="1596390"/>
            <a:ext cx="4749164" cy="1526857"/>
            <a:chOff x="6578918" y="1596390"/>
            <a:chExt cx="4749164" cy="1526857"/>
          </a:xfrm>
        </p:grpSpPr>
        <p:sp>
          <p:nvSpPr>
            <p:cNvPr id="27" name="Freeform 27"/>
            <p:cNvSpPr/>
            <p:nvPr/>
          </p:nvSpPr>
          <p:spPr>
            <a:xfrm>
              <a:off x="7150418" y="2428875"/>
              <a:ext cx="1803082" cy="106680"/>
            </a:xfrm>
            <a:custGeom>
              <a:avLst/>
              <a:gdLst/>
              <a:ahLst/>
              <a:cxnLst/>
              <a:rect l="l" t="t" r="r" b="b"/>
              <a:pathLst>
                <a:path w="1803082" h="106680">
                  <a:moveTo>
                    <a:pt x="0" y="106680"/>
                  </a:moveTo>
                  <a:lnTo>
                    <a:pt x="0" y="0"/>
                  </a:lnTo>
                  <a:lnTo>
                    <a:pt x="1803082" y="0"/>
                  </a:lnTo>
                  <a:lnTo>
                    <a:pt x="1803082" y="1905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28" name="Freeform 28"/>
            <p:cNvSpPr/>
            <p:nvPr/>
          </p:nvSpPr>
          <p:spPr>
            <a:xfrm>
              <a:off x="8880158" y="2322195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8953500" y="2428875"/>
              <a:ext cx="1803082" cy="106680"/>
            </a:xfrm>
            <a:custGeom>
              <a:avLst/>
              <a:gdLst/>
              <a:ahLst/>
              <a:cxnLst/>
              <a:rect l="l" t="t" r="r" b="b"/>
              <a:pathLst>
                <a:path w="1803082" h="106680">
                  <a:moveTo>
                    <a:pt x="1803082" y="106680"/>
                  </a:moveTo>
                  <a:lnTo>
                    <a:pt x="1803082" y="0"/>
                  </a:lnTo>
                  <a:lnTo>
                    <a:pt x="0" y="0"/>
                  </a:lnTo>
                  <a:lnTo>
                    <a:pt x="0" y="1905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30" name="Freeform 30"/>
            <p:cNvSpPr/>
            <p:nvPr/>
          </p:nvSpPr>
          <p:spPr>
            <a:xfrm>
              <a:off x="8880158" y="2322195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8382000" y="1596390"/>
              <a:ext cx="1143000" cy="72485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8389620" y="1604010"/>
              <a:ext cx="1128712" cy="36480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8382000" y="196405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8382000" y="205930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6578918" y="2535555"/>
              <a:ext cx="1143000" cy="58769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6585585" y="2542222"/>
              <a:ext cx="112871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6578918" y="276606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578918" y="286131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10185082" y="2535555"/>
              <a:ext cx="1143000" cy="58769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10192702" y="2542222"/>
              <a:ext cx="1128712" cy="227648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10185082" y="276606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10185082" y="286131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628611" y="1649254"/>
              <a:ext cx="64977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«interface»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716286" y="1789271"/>
              <a:ext cx="47442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IAnimal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453438" y="2128838"/>
              <a:ext cx="104422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eatSomething()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935718" y="2591276"/>
              <a:ext cx="42939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Animal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650355" y="2930842"/>
              <a:ext cx="104422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eatSomething()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0544994" y="2591276"/>
              <a:ext cx="42317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Mouse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256520" y="2930842"/>
              <a:ext cx="104422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eatSomething()</a:t>
              </a:r>
            </a:p>
          </p:txBody>
        </p:sp>
      </p:grpSp>
      <p:grpSp>
        <p:nvGrpSpPr>
          <p:cNvPr id="77" name="c2-table-2"/>
          <p:cNvGrpSpPr/>
          <p:nvPr/>
        </p:nvGrpSpPr>
        <p:grpSpPr>
          <a:xfrm>
            <a:off x="6248400" y="3429952"/>
            <a:ext cx="5410200" cy="1906905"/>
            <a:chOff x="6248400" y="3429952"/>
            <a:chExt cx="5410200" cy="1906905"/>
          </a:xfrm>
        </p:grpSpPr>
        <p:sp>
          <p:nvSpPr>
            <p:cNvPr id="51" name="Rectangle 51"/>
            <p:cNvSpPr/>
            <p:nvPr/>
          </p:nvSpPr>
          <p:spPr>
            <a:xfrm>
              <a:off x="6248400" y="3429952"/>
              <a:ext cx="5410200" cy="381000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142798" y="35471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看点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962072" y="35471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泛化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0626090" y="35471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实现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343079" y="39281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线型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426196" y="39281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实线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9980676" y="39281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虚线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6248400" y="418719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6248400" y="4191952"/>
              <a:ext cx="5410200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343079" y="431006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父类型里有实现吗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8341042" y="4201478"/>
              <a:ext cx="1536382" cy="36195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8426196" y="4310062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9895522" y="4201478"/>
              <a:ext cx="1753552" cy="36195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9980676" y="431006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6248400" y="456914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6343079" y="4691062"/>
              <a:ext cx="81101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关键字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8426196" y="4691062"/>
              <a:ext cx="55486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extends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9980676" y="4691062"/>
              <a:ext cx="77396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implements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6248400" y="495014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0" name="Rectangle 70"/>
            <p:cNvSpPr/>
            <p:nvPr/>
          </p:nvSpPr>
          <p:spPr>
            <a:xfrm>
              <a:off x="6248400" y="4954905"/>
              <a:ext cx="5410200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6343079" y="5072062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能有几个父类型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8426196" y="507206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只能一个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9980676" y="507206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可以多个</a:t>
              </a:r>
            </a:p>
          </p:txBody>
        </p:sp>
        <p:sp>
          <p:nvSpPr>
            <p:cNvPr id="74" name="Rectangle 74"/>
            <p:cNvSpPr/>
            <p:nvPr/>
          </p:nvSpPr>
          <p:spPr>
            <a:xfrm>
              <a:off x="6248400" y="3429952"/>
              <a:ext cx="5410200" cy="190690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5" name="Rectangle 75"/>
            <p:cNvSpPr/>
            <p:nvPr/>
          </p:nvSpPr>
          <p:spPr>
            <a:xfrm>
              <a:off x="8326755" y="3429952"/>
              <a:ext cx="9525" cy="1906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6" name="Rectangle 76"/>
            <p:cNvSpPr/>
            <p:nvPr/>
          </p:nvSpPr>
          <p:spPr>
            <a:xfrm>
              <a:off x="9881235" y="3429952"/>
              <a:ext cx="9525" cy="19069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83" name="c2-callout-3"/>
          <p:cNvGrpSpPr/>
          <p:nvPr/>
        </p:nvGrpSpPr>
        <p:grpSpPr>
          <a:xfrm>
            <a:off x="6248400" y="5501640"/>
            <a:ext cx="5410200" cy="702945"/>
            <a:chOff x="6248400" y="5501640"/>
            <a:chExt cx="5410200" cy="702945"/>
          </a:xfrm>
        </p:grpSpPr>
        <p:sp>
          <p:nvSpPr>
            <p:cNvPr id="78" name="Rectangle 78"/>
            <p:cNvSpPr/>
            <p:nvPr/>
          </p:nvSpPr>
          <p:spPr>
            <a:xfrm>
              <a:off x="6248400" y="5501640"/>
              <a:ext cx="5410200" cy="702945"/>
            </a:xfrm>
            <a:prstGeom prst="roundRect">
              <a:avLst>
                <a:gd name="adj" fmla="val 16260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81" name="Group 81"/>
            <p:cNvGrpSpPr/>
            <p:nvPr/>
          </p:nvGrpSpPr>
          <p:grpSpPr>
            <a:xfrm>
              <a:off x="6453188" y="5752150"/>
              <a:ext cx="200023" cy="200023"/>
              <a:chOff x="6453188" y="5752150"/>
              <a:chExt cx="200023" cy="200023"/>
            </a:xfrm>
          </p:grpSpPr>
          <p:sp>
            <p:nvSpPr>
              <p:cNvPr id="79" name="Freeform 79"/>
              <p:cNvSpPr/>
              <p:nvPr/>
            </p:nvSpPr>
            <p:spPr>
              <a:xfrm>
                <a:off x="6453188" y="575215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80" name="Freeform 80"/>
              <p:cNvSpPr/>
              <p:nvPr/>
            </p:nvSpPr>
            <p:spPr>
              <a:xfrm>
                <a:off x="6586538" y="581882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82" name="TextBox 82"/>
            <p:cNvSpPr txBox="1"/>
            <p:nvPr/>
          </p:nvSpPr>
          <p:spPr>
            <a:xfrm>
              <a:off x="6756273" y="5645944"/>
              <a:ext cx="440207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泛化与实现的分界，就是子类是否继承了父类的实现：有实现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可继承是泛化，只继承了一纸约定是实现。</a:t>
              </a:r>
            </a:p>
          </p:txBody>
        </p:sp>
      </p:grpSp>
      <p:grpSp>
        <p:nvGrpSpPr>
          <p:cNvPr id="8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4" name="TextBox 84"/>
            <p:cNvSpPr txBox="1"/>
            <p:nvPr/>
          </p:nvSpPr>
          <p:spPr>
            <a:xfrm>
              <a:off x="528447" y="6581299"/>
              <a:ext cx="21849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UML 类图与类间关系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5B3FA0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EEAF7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4469130" cy="2997517"/>
            <a:chOff x="667512" y="1835468"/>
            <a:chExt cx="4469130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第六部分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45973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辨别与运用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45922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看图会读，看代码会判，遇到变化知道改哪里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判别流程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看代码判关系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用关系模型适应变化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1849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UML 类图与类间关系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772156" cy="909257"/>
            <a:chOff x="520446" y="342900"/>
            <a:chExt cx="277215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01 类图与关系 · 辨别与运用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77215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六种关系总对照表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56" name="c1-table-1"/>
          <p:cNvGrpSpPr/>
          <p:nvPr/>
        </p:nvGrpSpPr>
        <p:grpSpPr>
          <a:xfrm>
            <a:off x="533400" y="1524000"/>
            <a:ext cx="11125200" cy="3368040"/>
            <a:chOff x="533400" y="1524000"/>
            <a:chExt cx="11125200" cy="336804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4862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10869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关系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46820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符号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212844" y="165973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起点与终点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857416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典型代码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03391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例子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41223" y="222170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753743" y="2221706"/>
              <a:ext cx="124499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虚线 + 开放箭头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755898" y="2221706"/>
              <a:ext cx="14173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使用者 → 被使用者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759006" y="2108359"/>
              <a:ext cx="277647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方法参数、局部变量、返回值、静态调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873680" y="2221706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人开车、老鼠吃苹果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264318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2647950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1223" y="278368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关联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753743" y="2783681"/>
              <a:ext cx="124499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实线 + 开放箭头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755898" y="2783681"/>
              <a:ext cx="14173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持有方 → 被持有方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759006" y="2783681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字段，由外部赋值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873680" y="2783681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学生与宿舍、英雄与宝物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309276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1223" y="323230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聚合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753743" y="3232309"/>
              <a:ext cx="124499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实线 + 空心菱形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755898" y="3232309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菱形在整体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759006" y="3232309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字段，部分从外部传入，整体不销毁它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873680" y="3232309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宿舍与学生、雁群与大雁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354139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533400" y="3546158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41223" y="368093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753743" y="3680936"/>
              <a:ext cx="124499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实线 + 实心菱形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755898" y="368093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菱形在整体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759006" y="3680936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字段，整体在构造时创建部分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873680" y="3680936"/>
              <a:ext cx="19569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公司与部门、Grid 与格子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33400" y="399002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41223" y="413051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泛化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753743" y="4130516"/>
              <a:ext cx="124499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实线 + 空心三角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3755898" y="4130516"/>
              <a:ext cx="90036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子类 → 父类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5759006" y="4130516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extends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873680" y="413051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老虎与动物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533400" y="443865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533400" y="4443412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41223" y="45791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753743" y="4579144"/>
              <a:ext cx="124499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虚线 + 空心三角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3755898" y="4579144"/>
              <a:ext cx="107268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实现类 → 接口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759006" y="4579144"/>
              <a:ext cx="94344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implements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873680" y="4579144"/>
              <a:ext cx="13896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Animal 与 IAnimal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533400" y="1524000"/>
              <a:ext cx="11125200" cy="336804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1641158" y="1524000"/>
              <a:ext cx="9525" cy="336804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3643312" y="1524000"/>
              <a:ext cx="9525" cy="336804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5646420" y="1524000"/>
              <a:ext cx="9525" cy="336804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8761095" y="1524000"/>
              <a:ext cx="9525" cy="336804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3" name="c1-callout-2"/>
          <p:cNvGrpSpPr/>
          <p:nvPr/>
        </p:nvGrpSpPr>
        <p:grpSpPr>
          <a:xfrm>
            <a:off x="533400" y="5082540"/>
            <a:ext cx="11125200" cy="533400"/>
            <a:chOff x="533400" y="5082540"/>
            <a:chExt cx="11125200" cy="533400"/>
          </a:xfrm>
        </p:grpSpPr>
        <p:sp>
          <p:nvSpPr>
            <p:cNvPr id="57" name="Rectangle 57"/>
            <p:cNvSpPr/>
            <p:nvPr/>
          </p:nvSpPr>
          <p:spPr>
            <a:xfrm>
              <a:off x="533400" y="508254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61" name="Group 61"/>
            <p:cNvGrpSpPr/>
            <p:nvPr/>
          </p:nvGrpSpPr>
          <p:grpSpPr>
            <a:xfrm>
              <a:off x="726129" y="5245536"/>
              <a:ext cx="224134" cy="192560"/>
              <a:chOff x="726129" y="5245536"/>
              <a:chExt cx="224134" cy="192560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838200" y="531590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726129" y="524553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838200" y="539369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62" name="TextBox 62"/>
            <p:cNvSpPr txBox="1"/>
            <p:nvPr/>
          </p:nvSpPr>
          <p:spPr>
            <a:xfrm>
              <a:off x="1040130" y="5244465"/>
              <a:ext cx="811263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考试最容易丢分的三处：三角箭头画反、菱形画在部分端、把"方法参数里出现"当成关联。</a:t>
              </a:r>
            </a:p>
          </p:txBody>
        </p:sp>
      </p:grpSp>
      <p:grpSp>
        <p:nvGrpSpPr>
          <p:cNvPr id="69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64" name="Rectangle 64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67" name="Group 67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8" name="TextBox 68"/>
            <p:cNvSpPr txBox="1"/>
            <p:nvPr/>
          </p:nvSpPr>
          <p:spPr>
            <a:xfrm>
              <a:off x="1040130" y="5991225"/>
              <a:ext cx="82943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聚合与组合在代码上都是字段，区别写在注释与文档里，靠的是谁创建、谁销毁、能否共享。</a:t>
              </a:r>
            </a:p>
          </p:txBody>
        </p:sp>
      </p:grpSp>
      <p:grpSp>
        <p:nvGrpSpPr>
          <p:cNvPr id="7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0" name="TextBox 70"/>
            <p:cNvSpPr txBox="1"/>
            <p:nvPr/>
          </p:nvSpPr>
          <p:spPr>
            <a:xfrm>
              <a:off x="528447" y="6581299"/>
              <a:ext cx="21849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UML 类图与类间关系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01 类图与关系 · 辨别与运用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拿到两个类，按这条路走一遍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61" name="c1-flow-1"/>
          <p:cNvGrpSpPr/>
          <p:nvPr/>
        </p:nvGrpSpPr>
        <p:grpSpPr>
          <a:xfrm>
            <a:off x="816292" y="1645920"/>
            <a:ext cx="5635943" cy="3851910"/>
            <a:chOff x="816292" y="1645920"/>
            <a:chExt cx="5635943" cy="3851910"/>
          </a:xfrm>
        </p:grpSpPr>
        <p:sp>
          <p:nvSpPr>
            <p:cNvPr id="7" name="Freeform 7"/>
            <p:cNvSpPr/>
            <p:nvPr/>
          </p:nvSpPr>
          <p:spPr>
            <a:xfrm>
              <a:off x="2553652" y="2084070"/>
              <a:ext cx="9525" cy="58102"/>
            </a:xfrm>
            <a:custGeom>
              <a:avLst/>
              <a:gdLst/>
              <a:ahLst/>
              <a:cxnLst/>
              <a:rect l="l" t="t" r="r" b="b"/>
              <a:pathLst>
                <a:path w="9525" h="58102">
                  <a:moveTo>
                    <a:pt x="0" y="0"/>
                  </a:moveTo>
                  <a:lnTo>
                    <a:pt x="0" y="5810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2501265" y="214217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4290060" y="2547938"/>
              <a:ext cx="320040" cy="9525"/>
            </a:xfrm>
            <a:custGeom>
              <a:avLst/>
              <a:gdLst/>
              <a:ahLst/>
              <a:cxnLst/>
              <a:rect l="l" t="t" r="r" b="b"/>
              <a:pathLst>
                <a:path w="320040" h="9525">
                  <a:moveTo>
                    <a:pt x="0" y="0"/>
                  </a:moveTo>
                  <a:lnTo>
                    <a:pt x="32004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4610100" y="249555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553652" y="2825115"/>
              <a:ext cx="9525" cy="23812"/>
            </a:xfrm>
            <a:custGeom>
              <a:avLst/>
              <a:gdLst/>
              <a:ahLst/>
              <a:cxnLst/>
              <a:rect l="l" t="t" r="r" b="b"/>
              <a:pathLst>
                <a:path w="9525" h="23812">
                  <a:moveTo>
                    <a:pt x="0" y="23812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2501265" y="282511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4290060" y="3230880"/>
              <a:ext cx="320040" cy="9525"/>
            </a:xfrm>
            <a:custGeom>
              <a:avLst/>
              <a:gdLst/>
              <a:ahLst/>
              <a:cxnLst/>
              <a:rect l="l" t="t" r="r" b="b"/>
              <a:pathLst>
                <a:path w="320040" h="9525">
                  <a:moveTo>
                    <a:pt x="0" y="0"/>
                  </a:moveTo>
                  <a:lnTo>
                    <a:pt x="32004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4610100" y="317849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2553652" y="3508058"/>
              <a:ext cx="9525" cy="22860"/>
            </a:xfrm>
            <a:custGeom>
              <a:avLst/>
              <a:gdLst/>
              <a:ahLst/>
              <a:cxnLst/>
              <a:rect l="l" t="t" r="r" b="b"/>
              <a:pathLst>
                <a:path w="9525" h="22860">
                  <a:moveTo>
                    <a:pt x="0" y="2286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2501265" y="350805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4290060" y="3912870"/>
              <a:ext cx="320040" cy="9525"/>
            </a:xfrm>
            <a:custGeom>
              <a:avLst/>
              <a:gdLst/>
              <a:ahLst/>
              <a:cxnLst/>
              <a:rect l="l" t="t" r="r" b="b"/>
              <a:pathLst>
                <a:path w="320040" h="9525">
                  <a:moveTo>
                    <a:pt x="0" y="0"/>
                  </a:moveTo>
                  <a:lnTo>
                    <a:pt x="32004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4610100" y="386048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2553652" y="4190048"/>
              <a:ext cx="9525" cy="23812"/>
            </a:xfrm>
            <a:custGeom>
              <a:avLst/>
              <a:gdLst/>
              <a:ahLst/>
              <a:cxnLst/>
              <a:rect l="l" t="t" r="r" b="b"/>
              <a:pathLst>
                <a:path w="9525" h="23812">
                  <a:moveTo>
                    <a:pt x="0" y="23812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2501265" y="419004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4290060" y="4595812"/>
              <a:ext cx="320040" cy="9525"/>
            </a:xfrm>
            <a:custGeom>
              <a:avLst/>
              <a:gdLst/>
              <a:ahLst/>
              <a:cxnLst/>
              <a:rect l="l" t="t" r="r" b="b"/>
              <a:pathLst>
                <a:path w="320040" h="9525">
                  <a:moveTo>
                    <a:pt x="0" y="0"/>
                  </a:moveTo>
                  <a:lnTo>
                    <a:pt x="32004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4610100" y="454342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3" name="Freeform 23"/>
            <p:cNvSpPr/>
            <p:nvPr/>
          </p:nvSpPr>
          <p:spPr>
            <a:xfrm>
              <a:off x="2553652" y="4896802"/>
              <a:ext cx="9525" cy="58103"/>
            </a:xfrm>
            <a:custGeom>
              <a:avLst/>
              <a:gdLst/>
              <a:ahLst/>
              <a:cxnLst/>
              <a:rect l="l" t="t" r="r" b="b"/>
              <a:pathLst>
                <a:path w="9525" h="58103">
                  <a:moveTo>
                    <a:pt x="0" y="0"/>
                  </a:moveTo>
                  <a:lnTo>
                    <a:pt x="0" y="5810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2501265" y="495490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816292" y="1645920"/>
              <a:ext cx="3473768" cy="438150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6" name="Freeform 26"/>
            <p:cNvSpPr/>
            <p:nvPr/>
          </p:nvSpPr>
          <p:spPr>
            <a:xfrm>
              <a:off x="816292" y="2246948"/>
              <a:ext cx="3473768" cy="601980"/>
            </a:xfrm>
            <a:custGeom>
              <a:avLst/>
              <a:gdLst/>
              <a:ahLst/>
              <a:cxnLst/>
              <a:rect l="l" t="t" r="r" b="b"/>
              <a:pathLst>
                <a:path w="3473768" h="601980">
                  <a:moveTo>
                    <a:pt x="1737360" y="0"/>
                  </a:moveTo>
                  <a:lnTo>
                    <a:pt x="3473768" y="300990"/>
                  </a:lnTo>
                  <a:lnTo>
                    <a:pt x="1737360" y="601980"/>
                  </a:lnTo>
                  <a:lnTo>
                    <a:pt x="0" y="30099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4714875" y="2328862"/>
              <a:ext cx="1737360" cy="438150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8" name="Freeform 28"/>
            <p:cNvSpPr/>
            <p:nvPr/>
          </p:nvSpPr>
          <p:spPr>
            <a:xfrm>
              <a:off x="816292" y="2929890"/>
              <a:ext cx="3473768" cy="601027"/>
            </a:xfrm>
            <a:custGeom>
              <a:avLst/>
              <a:gdLst/>
              <a:ahLst/>
              <a:cxnLst/>
              <a:rect l="l" t="t" r="r" b="b"/>
              <a:pathLst>
                <a:path w="3473768" h="601027">
                  <a:moveTo>
                    <a:pt x="1737360" y="0"/>
                  </a:moveTo>
                  <a:lnTo>
                    <a:pt x="3473768" y="300990"/>
                  </a:lnTo>
                  <a:lnTo>
                    <a:pt x="1737360" y="601027"/>
                  </a:lnTo>
                  <a:lnTo>
                    <a:pt x="0" y="30099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4714875" y="3011805"/>
              <a:ext cx="1737360" cy="438150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0" name="Freeform 30"/>
            <p:cNvSpPr/>
            <p:nvPr/>
          </p:nvSpPr>
          <p:spPr>
            <a:xfrm>
              <a:off x="816292" y="3612832"/>
              <a:ext cx="3473768" cy="601027"/>
            </a:xfrm>
            <a:custGeom>
              <a:avLst/>
              <a:gdLst/>
              <a:ahLst/>
              <a:cxnLst/>
              <a:rect l="l" t="t" r="r" b="b"/>
              <a:pathLst>
                <a:path w="3473768" h="601027">
                  <a:moveTo>
                    <a:pt x="1737360" y="0"/>
                  </a:moveTo>
                  <a:lnTo>
                    <a:pt x="3473768" y="300038"/>
                  </a:lnTo>
                  <a:lnTo>
                    <a:pt x="1737360" y="601027"/>
                  </a:lnTo>
                  <a:lnTo>
                    <a:pt x="0" y="300038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4714875" y="3693795"/>
              <a:ext cx="1737360" cy="438150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2" name="Freeform 32"/>
            <p:cNvSpPr/>
            <p:nvPr/>
          </p:nvSpPr>
          <p:spPr>
            <a:xfrm>
              <a:off x="816292" y="4294822"/>
              <a:ext cx="3473768" cy="601980"/>
            </a:xfrm>
            <a:custGeom>
              <a:avLst/>
              <a:gdLst/>
              <a:ahLst/>
              <a:cxnLst/>
              <a:rect l="l" t="t" r="r" b="b"/>
              <a:pathLst>
                <a:path w="3473768" h="601980">
                  <a:moveTo>
                    <a:pt x="1737360" y="0"/>
                  </a:moveTo>
                  <a:lnTo>
                    <a:pt x="3473768" y="300990"/>
                  </a:lnTo>
                  <a:lnTo>
                    <a:pt x="1737360" y="601980"/>
                  </a:lnTo>
                  <a:lnTo>
                    <a:pt x="0" y="30099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4714875" y="4376738"/>
              <a:ext cx="1737360" cy="438150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816292" y="5059680"/>
              <a:ext cx="3473768" cy="438150"/>
            </a:xfrm>
            <a:prstGeom prst="roundRect">
              <a:avLst>
                <a:gd name="adj" fmla="val 21739"/>
              </a:avLst>
            </a:prstGeom>
            <a:solidFill>
              <a:srgbClr val="EEEAF7"/>
            </a:solidFill>
            <a:ln w="19050">
              <a:solidFill>
                <a:srgbClr val="5B3FA0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2011378" y="1775936"/>
              <a:ext cx="10845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 与 B 有联系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848168" y="2458879"/>
              <a:ext cx="141097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是 A 的父类型？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127464" y="2458879"/>
              <a:ext cx="91027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泛化 / 实现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934324" y="3141821"/>
              <a:ext cx="123865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是 A 的字段？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403812" y="314182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依赖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675854" y="3823811"/>
              <a:ext cx="175559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与 B 是整体与部分？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5403812" y="382381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关联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762011" y="4506754"/>
              <a:ext cx="158328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销毁时 B 也销毁？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5403812" y="450675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聚合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2374862" y="518969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组合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4388168" y="2331720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4426458" y="2358390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2582228" y="2797492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2605468" y="2824162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388168" y="3014662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4426458" y="3041332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2582228" y="3479482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2605468" y="3506152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4388168" y="3696652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4426458" y="3723323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2582228" y="4162425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2605468" y="4189095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4388168" y="4379595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4426458" y="4406265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2582228" y="4886325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2605468" y="4912995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</p:grpSp>
      <p:grpSp>
        <p:nvGrpSpPr>
          <p:cNvPr id="67" name="c2-card-1"/>
          <p:cNvGrpSpPr/>
          <p:nvPr/>
        </p:nvGrpSpPr>
        <p:grpSpPr>
          <a:xfrm>
            <a:off x="6898005" y="1524000"/>
            <a:ext cx="4760595" cy="2274570"/>
            <a:chOff x="6898005" y="1524000"/>
            <a:chExt cx="4760595" cy="2274570"/>
          </a:xfrm>
        </p:grpSpPr>
        <p:sp>
          <p:nvSpPr>
            <p:cNvPr id="62" name="Rectangle 62"/>
            <p:cNvSpPr/>
            <p:nvPr/>
          </p:nvSpPr>
          <p:spPr>
            <a:xfrm>
              <a:off x="6898005" y="1524000"/>
              <a:ext cx="4760595" cy="2274570"/>
            </a:xfrm>
            <a:prstGeom prst="roundRect">
              <a:avLst>
                <a:gd name="adj" fmla="val 5863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7099935" y="175831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三个判断点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7099935" y="2112645"/>
              <a:ext cx="33966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第一刀砍在 </a:t>
              </a:r>
              <a:r>
                <a:rPr lang="zh-CN" sz="150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继承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上：extends 是泛化，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implements 是实现，后面都不用问了。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7099935" y="2733675"/>
              <a:ext cx="377113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第二刀砍在 </a:t>
              </a:r>
              <a:r>
                <a:rPr lang="zh-CN" sz="150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字段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上：不是字段就是依赖。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099935" y="3068955"/>
              <a:ext cx="41300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第三刀砍在 </a:t>
              </a:r>
              <a:r>
                <a:rPr lang="zh-CN" sz="150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语义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上：整体与部分，以及生命周期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是否绑定。</a:t>
              </a:r>
            </a:p>
          </p:txBody>
        </p:sp>
      </p:grpSp>
      <p:grpSp>
        <p:nvGrpSpPr>
          <p:cNvPr id="74" name="c2-card-2"/>
          <p:cNvGrpSpPr/>
          <p:nvPr/>
        </p:nvGrpSpPr>
        <p:grpSpPr>
          <a:xfrm>
            <a:off x="6898005" y="3989070"/>
            <a:ext cx="4760595" cy="1937385"/>
            <a:chOff x="6898005" y="3989070"/>
            <a:chExt cx="4760595" cy="1937385"/>
          </a:xfrm>
        </p:grpSpPr>
        <p:sp>
          <p:nvSpPr>
            <p:cNvPr id="68" name="Rectangle 68"/>
            <p:cNvSpPr/>
            <p:nvPr/>
          </p:nvSpPr>
          <p:spPr>
            <a:xfrm>
              <a:off x="6898005" y="3989070"/>
              <a:ext cx="4760595" cy="1937385"/>
            </a:xfrm>
            <a:prstGeom prst="roundRect">
              <a:avLst>
                <a:gd name="adj" fmla="val 688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9" name="Rectangle 69"/>
            <p:cNvSpPr/>
            <p:nvPr/>
          </p:nvSpPr>
          <p:spPr>
            <a:xfrm>
              <a:off x="6907530" y="4122420"/>
              <a:ext cx="47625" cy="167068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70" name="Rectangle 70"/>
            <p:cNvSpPr/>
            <p:nvPr/>
          </p:nvSpPr>
          <p:spPr>
            <a:xfrm>
              <a:off x="7145655" y="4198620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7219112" y="4234339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两个特殊情况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7138035" y="4575810"/>
              <a:ext cx="41205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两个类之间可以同时有多种关系，例如 Grid 既继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承 Rect 又组合 Shape，两条线都要画。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7138035" y="5196840"/>
              <a:ext cx="4015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起点与终点是同一个类时叫自身关系，依赖、关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联、聚合都可以自反。</a:t>
              </a:r>
            </a:p>
          </p:txBody>
        </p:sp>
      </p:grpSp>
      <p:grpSp>
        <p:nvGrpSpPr>
          <p:cNvPr id="7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5" name="TextBox 75"/>
            <p:cNvSpPr txBox="1"/>
            <p:nvPr/>
          </p:nvSpPr>
          <p:spPr>
            <a:xfrm>
              <a:off x="528447" y="6581299"/>
              <a:ext cx="21849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UML 类图与类间关系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801999" cy="909257"/>
            <a:chOff x="520446" y="342900"/>
            <a:chExt cx="38019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01 类图与关系 · 辨别与运用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8019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看代码判关系：六道小题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1" name="c1-code-1"/>
          <p:cNvGrpSpPr/>
          <p:nvPr/>
        </p:nvGrpSpPr>
        <p:grpSpPr>
          <a:xfrm>
            <a:off x="533400" y="1524000"/>
            <a:ext cx="5626418" cy="4559618"/>
            <a:chOff x="533400" y="1524000"/>
            <a:chExt cx="5626418" cy="455961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4559618"/>
            </a:xfrm>
            <a:prstGeom prst="roundRect">
              <a:avLst>
                <a:gd name="adj" fmla="val 2089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79831" y="1937861"/>
              <a:ext cx="167894" cy="40747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>
                <a:lnSpc>
                  <a:spcPts val="1598"/>
                </a:lnSpc>
              </a:pPr>
              <a:r>
                <a:rPr lang="zh-CN" sz="112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</a:t>
              </a:r>
              <a:br/>
              <a:r>
                <a:rPr lang="zh-CN" sz="112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2</a:t>
              </a:r>
              <a:br/>
              <a:r>
                <a:rPr lang="zh-CN" sz="112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3</a:t>
              </a:r>
              <a:br/>
              <a:r>
                <a:rPr lang="zh-CN" sz="112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4</a:t>
              </a:r>
              <a:br/>
              <a:r>
                <a:rPr lang="zh-CN" sz="112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5</a:t>
              </a:r>
              <a:br/>
              <a:r>
                <a:rPr lang="zh-CN" sz="112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6</a:t>
              </a:r>
              <a:br/>
              <a:r>
                <a:rPr lang="zh-CN" sz="112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7</a:t>
              </a:r>
              <a:br/>
              <a:r>
                <a:rPr lang="zh-CN" sz="112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8</a:t>
              </a:r>
              <a:br/>
              <a:r>
                <a:rPr lang="zh-CN" sz="112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9</a:t>
              </a:r>
              <a:br/>
              <a:r>
                <a:rPr lang="zh-CN" sz="112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10</a:t>
              </a:r>
              <a:br/>
              <a:r>
                <a:rPr lang="zh-CN" sz="112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11</a:t>
              </a:r>
              <a:br/>
              <a:r>
                <a:rPr lang="zh-CN" sz="112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12</a:t>
              </a:r>
              <a:br/>
              <a:r>
                <a:rPr lang="zh-CN" sz="112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13</a:t>
              </a:r>
              <a:br/>
              <a:r>
                <a:rPr lang="zh-CN" sz="112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14</a:t>
              </a:r>
              <a:br/>
              <a:r>
                <a:rPr lang="zh-CN" sz="112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15</a:t>
              </a:r>
              <a:br/>
              <a:r>
                <a:rPr lang="zh-CN" sz="112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16</a:t>
              </a:r>
              <a:br/>
              <a:r>
                <a:rPr lang="zh-CN" sz="112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17</a:t>
              </a:r>
              <a:br/>
              <a:r>
                <a:rPr lang="zh-CN" sz="112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18</a:t>
              </a:r>
              <a:br/>
              <a:r>
                <a:rPr lang="zh-CN" sz="112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19</a:t>
              </a:r>
              <a:br/>
              <a:r>
                <a:rPr lang="zh-CN" sz="112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20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50595" y="1937861"/>
              <a:ext cx="4627118" cy="40747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① A 与 B</a:t>
              </a:r>
              <a:br/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 {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f() { B b =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B(); b.g(); }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② C 与 D</a:t>
              </a:r>
              <a:br/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 {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D d; C(D d) {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.d = d; }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③ Team 与 Player</a:t>
              </a:r>
              <a:br/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Team {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List&lt;Player&gt; ps;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 Team(List&lt;Player&gt; ps) {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this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.ps = ps; }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④ House 与 Room</a:t>
              </a:r>
              <a:br/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House {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Room[] rs;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  House(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n) { rs =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Room[n];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   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i=0;i&lt;n;i++) rs[i]=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Room(); }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⑤ Cat 与 Animal</a:t>
              </a:r>
              <a:br/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Cat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extends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Animal {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⑥ Timer 与 Runnable</a:t>
              </a:r>
              <a:br/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Timer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implements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Runnable {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12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run() { } }</a:t>
              </a:r>
            </a:p>
          </p:txBody>
        </p:sp>
      </p:grpSp>
      <p:grpSp>
        <p:nvGrpSpPr>
          <p:cNvPr id="45" name="c2-table-1"/>
          <p:cNvGrpSpPr/>
          <p:nvPr/>
        </p:nvGrpSpPr>
        <p:grpSpPr>
          <a:xfrm>
            <a:off x="6464618" y="1524000"/>
            <a:ext cx="5193982" cy="3141346"/>
            <a:chOff x="6464618" y="1524000"/>
            <a:chExt cx="5193982" cy="3141346"/>
          </a:xfrm>
        </p:grpSpPr>
        <p:sp>
          <p:nvSpPr>
            <p:cNvPr id="12" name="Rectangle 12"/>
            <p:cNvSpPr/>
            <p:nvPr/>
          </p:nvSpPr>
          <p:spPr>
            <a:xfrm>
              <a:off x="6464618" y="1524000"/>
              <a:ext cx="5193982" cy="448628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59729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题号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32500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关系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437738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判断依据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719852" y="210835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①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325004" y="210835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026908" y="2108359"/>
              <a:ext cx="258010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只是局部变量，方法结束就没了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464618" y="241649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464618" y="2421255"/>
              <a:ext cx="519398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719852" y="255698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②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325004" y="255698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关联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026908" y="2556986"/>
              <a:ext cx="258010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 是字段，由外部传入，地位平等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464618" y="286607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719852" y="300561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③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325004" y="300561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聚合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026908" y="3005614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球员从外部传入，球队解散球员还在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464618" y="331470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6464618" y="3319462"/>
              <a:ext cx="519398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719852" y="345424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325004" y="345424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组合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026908" y="3454241"/>
              <a:ext cx="318144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房间由 House 自己创建，房子拆了就没了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464618" y="376332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719852" y="390382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⑤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325004" y="390382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泛化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026908" y="3903821"/>
              <a:ext cx="18825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extends，子类指向父类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464618" y="421195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464618" y="4216718"/>
              <a:ext cx="519398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719852" y="435244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⑥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325004" y="435244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026908" y="4352449"/>
              <a:ext cx="249427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implements，虚线三角指向接口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464618" y="1524000"/>
              <a:ext cx="5193982" cy="314134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7083742" y="1524000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7914322" y="1524000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2" name="c2-callout-2"/>
          <p:cNvGrpSpPr/>
          <p:nvPr/>
        </p:nvGrpSpPr>
        <p:grpSpPr>
          <a:xfrm>
            <a:off x="6464618" y="4855845"/>
            <a:ext cx="5193982" cy="1227772"/>
            <a:chOff x="6464618" y="4855845"/>
            <a:chExt cx="5193982" cy="1227772"/>
          </a:xfrm>
        </p:grpSpPr>
        <p:sp>
          <p:nvSpPr>
            <p:cNvPr id="46" name="Rectangle 46"/>
            <p:cNvSpPr/>
            <p:nvPr/>
          </p:nvSpPr>
          <p:spPr>
            <a:xfrm>
              <a:off x="6464618" y="4855845"/>
              <a:ext cx="5193982" cy="1227772"/>
            </a:xfrm>
            <a:prstGeom prst="roundRect">
              <a:avLst>
                <a:gd name="adj" fmla="val 9310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6669405" y="5370195"/>
              <a:ext cx="200026" cy="200025"/>
              <a:chOff x="6669405" y="5370195"/>
              <a:chExt cx="200026" cy="200025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6669405" y="537019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6709144" y="541464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6743859" y="552577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6971348" y="5227320"/>
              <a:ext cx="42824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②③ 的代码形态完全一样，差别只在语义：球队与球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员是整体与部分，C 与 D 不是。</a:t>
              </a:r>
            </a:p>
          </p:txBody>
        </p:sp>
      </p:grpSp>
      <p:grpSp>
        <p:nvGrpSpPr>
          <p:cNvPr id="5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3" name="TextBox 53"/>
            <p:cNvSpPr txBox="1"/>
            <p:nvPr/>
          </p:nvSpPr>
          <p:spPr>
            <a:xfrm>
              <a:off x="528447" y="6581299"/>
              <a:ext cx="21849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UML 类图与类间关系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162096" cy="909257"/>
            <a:chOff x="520446" y="342900"/>
            <a:chExt cx="616209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01 类图与关系 · 辨别与运用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16209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用关系模型适应变化：Some 类会怎么变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7710312" cy="264033"/>
            <a:chOff x="526542" y="1545907"/>
            <a:chExt cx="7710312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77103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假设已有 Some 类，它有 operA、operB 两个方法和一个 myData 字段，使用者已经在用它了。</a:t>
              </a:r>
            </a:p>
          </p:txBody>
        </p:sp>
      </p:grpSp>
      <p:grpSp>
        <p:nvGrpSpPr>
          <p:cNvPr id="12" name="c1-code-1"/>
          <p:cNvGrpSpPr/>
          <p:nvPr/>
        </p:nvGrpSpPr>
        <p:grpSpPr>
          <a:xfrm>
            <a:off x="533400" y="1928812"/>
            <a:ext cx="5410200" cy="1912620"/>
            <a:chOff x="533400" y="1928812"/>
            <a:chExt cx="5410200" cy="1912620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410200" cy="1912620"/>
            </a:xfrm>
            <a:prstGeom prst="roundRect">
              <a:avLst>
                <a:gd name="adj" fmla="val 498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080736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61797" y="2340769"/>
              <a:ext cx="1858137" cy="14241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Some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myData;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operA() {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operB() {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使用者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Some p = </a:t>
              </a:r>
              <a:r>
                <a:rPr lang="en-US" sz="98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Some();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p.operA();</a:t>
              </a:r>
            </a:p>
          </p:txBody>
        </p:sp>
      </p:grpSp>
      <p:grpSp>
        <p:nvGrpSpPr>
          <p:cNvPr id="20" name="c1-card-2"/>
          <p:cNvGrpSpPr/>
          <p:nvPr/>
        </p:nvGrpSpPr>
        <p:grpSpPr>
          <a:xfrm>
            <a:off x="533400" y="4006215"/>
            <a:ext cx="5410200" cy="1687830"/>
            <a:chOff x="533400" y="4006215"/>
            <a:chExt cx="5410200" cy="1687830"/>
          </a:xfrm>
        </p:grpSpPr>
        <p:sp>
          <p:nvSpPr>
            <p:cNvPr id="13" name="Rectangle 13"/>
            <p:cNvSpPr/>
            <p:nvPr/>
          </p:nvSpPr>
          <p:spPr>
            <a:xfrm>
              <a:off x="533400" y="4006215"/>
              <a:ext cx="5410200" cy="1687830"/>
            </a:xfrm>
            <a:prstGeom prst="roundRect">
              <a:avLst>
                <a:gd name="adj" fmla="val 790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542925" y="4139565"/>
              <a:ext cx="47625" cy="1421130"/>
            </a:xfrm>
            <a:prstGeom prst="roundRect">
              <a:avLst>
                <a:gd name="adj" fmla="val 500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52475" y="41871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45147" y="42200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18450" y="422671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两类变化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45998" y="4543901"/>
              <a:ext cx="472719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职责变化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：改的是对外的接口，增删方法、改名、改参数、改返回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类型都算。使用者必须跟着改。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45998" y="5071586"/>
              <a:ext cx="472719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实现变化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：接口原样不动，只换内部的数据表示或算法。使用者一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行不用动。</a:t>
              </a:r>
            </a:p>
          </p:txBody>
        </p:sp>
      </p:grpSp>
      <p:grpSp>
        <p:nvGrpSpPr>
          <p:cNvPr id="27" name="c1-callout-3"/>
          <p:cNvGrpSpPr/>
          <p:nvPr/>
        </p:nvGrpSpPr>
        <p:grpSpPr>
          <a:xfrm>
            <a:off x="533400" y="5858828"/>
            <a:ext cx="5410200" cy="467678"/>
            <a:chOff x="533400" y="5858828"/>
            <a:chExt cx="5410200" cy="467678"/>
          </a:xfrm>
        </p:grpSpPr>
        <p:sp>
          <p:nvSpPr>
            <p:cNvPr id="21" name="Rectangle 21"/>
            <p:cNvSpPr/>
            <p:nvPr/>
          </p:nvSpPr>
          <p:spPr>
            <a:xfrm>
              <a:off x="533400" y="5858828"/>
              <a:ext cx="5410200" cy="467678"/>
            </a:xfrm>
            <a:prstGeom prst="roundRect">
              <a:avLst>
                <a:gd name="adj" fmla="val 24440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738188" y="5993130"/>
              <a:ext cx="200026" cy="200025"/>
              <a:chOff x="738188" y="5993130"/>
              <a:chExt cx="200026" cy="200025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738188" y="599313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777926" y="603758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12642" y="614870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1041273" y="6004084"/>
              <a:ext cx="34592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先问一句：这次要改的东西使用者看得见吗？</a:t>
              </a:r>
            </a:p>
          </p:txBody>
        </p:sp>
      </p:grpSp>
      <p:grpSp>
        <p:nvGrpSpPr>
          <p:cNvPr id="68" name="c2-table-1"/>
          <p:cNvGrpSpPr/>
          <p:nvPr/>
        </p:nvGrpSpPr>
        <p:grpSpPr>
          <a:xfrm>
            <a:off x="6243447" y="1928812"/>
            <a:ext cx="5415153" cy="3314414"/>
            <a:chOff x="6243447" y="1928812"/>
            <a:chExt cx="5415153" cy="3314414"/>
          </a:xfrm>
        </p:grpSpPr>
        <p:sp>
          <p:nvSpPr>
            <p:cNvPr id="28" name="Rectangle 28"/>
            <p:cNvSpPr/>
            <p:nvPr/>
          </p:nvSpPr>
          <p:spPr>
            <a:xfrm>
              <a:off x="6248400" y="1928812"/>
              <a:ext cx="5410200" cy="381000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642735" y="204597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类别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394954" y="204597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具体改动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417683" y="204597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使用者要改吗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343079" y="242697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职责变化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425119" y="2426970"/>
              <a:ext cx="115342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增加新功能 operC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0130218" y="2426970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48400" y="268700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6248400" y="2691765"/>
              <a:ext cx="5410200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343079" y="2808923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职责变化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425119" y="2808923"/>
              <a:ext cx="72937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删掉 operA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0130218" y="2808923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48400" y="306800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343079" y="3189923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职责变化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425119" y="3189923"/>
              <a:ext cx="152427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operA 改名为 myOperA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130218" y="3189923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248400" y="344900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6248400" y="3453765"/>
              <a:ext cx="5410200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343079" y="357187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职责变化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425119" y="3571875"/>
              <a:ext cx="101207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operB 增加形参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0130218" y="3571875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248400" y="383095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343079" y="395287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职责变化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425119" y="3952875"/>
              <a:ext cx="115342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operB 改返回类型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0130218" y="3952875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6248400" y="421195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6248400" y="4216718"/>
              <a:ext cx="5410200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343079" y="433387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实现变化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425119" y="4333875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换一种数据表示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10045065" y="4226242"/>
              <a:ext cx="1604010" cy="36195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10130218" y="433387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不用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6248400" y="459390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343079" y="471582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实现变化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425119" y="4715828"/>
              <a:ext cx="14361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换一种算法实现 operA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10045065" y="4608195"/>
              <a:ext cx="1604010" cy="36195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10130218" y="471582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不用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6248400" y="1928812"/>
              <a:ext cx="5410200" cy="305085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5" name="Rectangle 65"/>
            <p:cNvSpPr/>
            <p:nvPr/>
          </p:nvSpPr>
          <p:spPr>
            <a:xfrm>
              <a:off x="7325678" y="1928812"/>
              <a:ext cx="9525" cy="305085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10030778" y="1928812"/>
              <a:ext cx="9525" cy="305085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6243447" y="5052536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一个类身上可能发生的变化</a:t>
              </a:r>
            </a:p>
          </p:txBody>
        </p:sp>
      </p:grpSp>
      <p:grpSp>
        <p:nvGrpSpPr>
          <p:cNvPr id="74" name="c2-callout-2"/>
          <p:cNvGrpSpPr/>
          <p:nvPr/>
        </p:nvGrpSpPr>
        <p:grpSpPr>
          <a:xfrm>
            <a:off x="6248400" y="5370195"/>
            <a:ext cx="5410200" cy="957262"/>
            <a:chOff x="6248400" y="5370195"/>
            <a:chExt cx="5410200" cy="957262"/>
          </a:xfrm>
        </p:grpSpPr>
        <p:sp>
          <p:nvSpPr>
            <p:cNvPr id="69" name="Rectangle 69"/>
            <p:cNvSpPr/>
            <p:nvPr/>
          </p:nvSpPr>
          <p:spPr>
            <a:xfrm>
              <a:off x="6248400" y="5370195"/>
              <a:ext cx="5410200" cy="957262"/>
            </a:xfrm>
            <a:prstGeom prst="roundRect">
              <a:avLst>
                <a:gd name="adj" fmla="val 11940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72" name="Group 72"/>
            <p:cNvGrpSpPr/>
            <p:nvPr/>
          </p:nvGrpSpPr>
          <p:grpSpPr>
            <a:xfrm>
              <a:off x="6453188" y="5748340"/>
              <a:ext cx="200023" cy="200023"/>
              <a:chOff x="6453188" y="5748340"/>
              <a:chExt cx="200023" cy="200023"/>
            </a:xfrm>
          </p:grpSpPr>
          <p:sp>
            <p:nvSpPr>
              <p:cNvPr id="70" name="Freeform 70"/>
              <p:cNvSpPr/>
              <p:nvPr/>
            </p:nvSpPr>
            <p:spPr>
              <a:xfrm>
                <a:off x="6453188" y="574834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71" name="Freeform 71"/>
              <p:cNvSpPr/>
              <p:nvPr/>
            </p:nvSpPr>
            <p:spPr>
              <a:xfrm>
                <a:off x="6586538" y="58150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3" name="TextBox 73"/>
            <p:cNvSpPr txBox="1"/>
            <p:nvPr/>
          </p:nvSpPr>
          <p:spPr>
            <a:xfrm>
              <a:off x="6756273" y="5642134"/>
              <a:ext cx="449961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分界线在 </a:t>
              </a:r>
              <a:r>
                <a:rPr lang="zh-CN" sz="128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对外可见</a:t>
              </a: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四个字：改了接口是职责变化，只改内部是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实现变化。</a:t>
              </a:r>
            </a:p>
          </p:txBody>
        </p:sp>
      </p:grpSp>
      <p:grpSp>
        <p:nvGrpSpPr>
          <p:cNvPr id="7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5" name="TextBox 75"/>
            <p:cNvSpPr txBox="1"/>
            <p:nvPr/>
          </p:nvSpPr>
          <p:spPr>
            <a:xfrm>
              <a:off x="528447" y="6581299"/>
              <a:ext cx="21849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UML 类图与类间关系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01 类图与关系 · 辨别与运用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两条路：派生子类，还是包一层委托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3" name="c1-uml-1"/>
          <p:cNvGrpSpPr/>
          <p:nvPr/>
        </p:nvGrpSpPr>
        <p:grpSpPr>
          <a:xfrm>
            <a:off x="863918" y="1709738"/>
            <a:ext cx="4749164" cy="2403157"/>
            <a:chOff x="863918" y="1709738"/>
            <a:chExt cx="4749164" cy="2403157"/>
          </a:xfrm>
        </p:grpSpPr>
        <p:sp>
          <p:nvSpPr>
            <p:cNvPr id="7" name="Freeform 7"/>
            <p:cNvSpPr/>
            <p:nvPr/>
          </p:nvSpPr>
          <p:spPr>
            <a:xfrm>
              <a:off x="1435418" y="2807018"/>
              <a:ext cx="1803082" cy="421958"/>
            </a:xfrm>
            <a:custGeom>
              <a:avLst/>
              <a:gdLst/>
              <a:ahLst/>
              <a:cxnLst/>
              <a:rect l="l" t="t" r="r" b="b"/>
              <a:pathLst>
                <a:path w="1803082" h="421958">
                  <a:moveTo>
                    <a:pt x="0" y="421958"/>
                  </a:moveTo>
                  <a:lnTo>
                    <a:pt x="0" y="148590"/>
                  </a:lnTo>
                  <a:lnTo>
                    <a:pt x="1803082" y="148590"/>
                  </a:lnTo>
                  <a:lnTo>
                    <a:pt x="1803082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3165158" y="2681288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2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3238500" y="2681288"/>
              <a:ext cx="1803082" cy="141922"/>
            </a:xfrm>
            <a:custGeom>
              <a:avLst/>
              <a:gdLst/>
              <a:ahLst/>
              <a:cxnLst/>
              <a:rect l="l" t="t" r="r" b="b"/>
              <a:pathLst>
                <a:path w="1803082" h="141922">
                  <a:moveTo>
                    <a:pt x="0" y="0"/>
                  </a:moveTo>
                  <a:lnTo>
                    <a:pt x="0" y="141922"/>
                  </a:lnTo>
                  <a:lnTo>
                    <a:pt x="1803082" y="141922"/>
                  </a:lnTo>
                  <a:lnTo>
                    <a:pt x="1803082" y="75247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4984432" y="2756535"/>
              <a:ext cx="115253" cy="209550"/>
            </a:xfrm>
            <a:custGeom>
              <a:avLst/>
              <a:gdLst/>
              <a:ahLst/>
              <a:cxnLst/>
              <a:rect l="l" t="t" r="r" b="b"/>
              <a:pathLst>
                <a:path w="115253" h="209550">
                  <a:moveTo>
                    <a:pt x="57150" y="209550"/>
                  </a:moveTo>
                  <a:lnTo>
                    <a:pt x="0" y="104775"/>
                  </a:lnTo>
                  <a:lnTo>
                    <a:pt x="57150" y="0"/>
                  </a:lnTo>
                  <a:lnTo>
                    <a:pt x="115253" y="104775"/>
                  </a:lnTo>
                  <a:close/>
                </a:path>
              </a:pathLst>
            </a:custGeom>
            <a:solidFill>
              <a:srgbClr val="1F2937"/>
            </a:solidFill>
            <a:ln w="15240">
              <a:solidFill>
                <a:srgbClr val="1F2937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2667000" y="1709738"/>
              <a:ext cx="1143000" cy="97155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2674620" y="1717358"/>
              <a:ext cx="1128712" cy="24574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2667000" y="195834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2667000" y="222980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863918" y="3228975"/>
              <a:ext cx="1143000" cy="62007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870585" y="3236595"/>
              <a:ext cx="1128712" cy="24574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863918" y="347757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863918" y="357282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4470082" y="2966085"/>
              <a:ext cx="1143000" cy="114681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4477702" y="2972752"/>
              <a:ext cx="1128712" cy="24574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4470082" y="321468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4470082" y="348519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3052543" y="1769745"/>
              <a:ext cx="37191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Some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738247" y="2029301"/>
              <a:ext cx="8861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myData: int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738247" y="2300764"/>
              <a:ext cx="594868" cy="3669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operA()</a:t>
              </a:r>
              <a:br/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operB()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80670" y="3288982"/>
              <a:ext cx="70949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SomeChild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5165" y="3643789"/>
              <a:ext cx="63698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operC()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715758" y="3026093"/>
              <a:ext cx="65164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SomeNew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541330" y="3285649"/>
              <a:ext cx="8735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some: Some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541330" y="3556159"/>
              <a:ext cx="594868" cy="5431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operA()</a:t>
              </a:r>
              <a:br/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operB()</a:t>
              </a:r>
              <a:br/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operC()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3968115" y="2617470"/>
              <a:ext cx="343852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4003637" y="264175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委托</a:t>
              </a:r>
            </a:p>
          </p:txBody>
        </p:sp>
      </p:grpSp>
      <p:grpSp>
        <p:nvGrpSpPr>
          <p:cNvPr id="37" name="c1-code-2"/>
          <p:cNvGrpSpPr/>
          <p:nvPr/>
        </p:nvGrpSpPr>
        <p:grpSpPr>
          <a:xfrm>
            <a:off x="533400" y="4386262"/>
            <a:ext cx="5410200" cy="1640205"/>
            <a:chOff x="533400" y="4386262"/>
            <a:chExt cx="5410200" cy="1640205"/>
          </a:xfrm>
        </p:grpSpPr>
        <p:sp>
          <p:nvSpPr>
            <p:cNvPr id="34" name="Rectangle 34"/>
            <p:cNvSpPr/>
            <p:nvPr/>
          </p:nvSpPr>
          <p:spPr>
            <a:xfrm>
              <a:off x="533400" y="4386262"/>
              <a:ext cx="5410200" cy="1640205"/>
            </a:xfrm>
            <a:prstGeom prst="roundRect">
              <a:avLst>
                <a:gd name="adj" fmla="val 5807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61797" y="4538186"/>
              <a:ext cx="3189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Java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61416" y="4799648"/>
              <a:ext cx="3124391" cy="11530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class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SomeNew {         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组合版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private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final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Some some =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Some();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operA() { some.operA();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operB() { some.operB();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public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r>
                <a:rPr lang="en-US" sz="1050" b="1" dirty="0">
                  <a:solidFill>
                    <a:srgbClr val="5B3FA0"/>
                  </a:solidFill>
                  <a:latin typeface="Consolas"/>
                  <a:ea typeface="Consolas"/>
                  <a:cs typeface="Consolas"/>
                </a:rPr>
                <a:t>void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operC() {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新功能 */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71" name="c2-table-1"/>
          <p:cNvGrpSpPr/>
          <p:nvPr/>
        </p:nvGrpSpPr>
        <p:grpSpPr>
          <a:xfrm>
            <a:off x="6248400" y="1524000"/>
            <a:ext cx="5410200" cy="2840355"/>
            <a:chOff x="6248400" y="1524000"/>
            <a:chExt cx="5410200" cy="2840355"/>
          </a:xfrm>
        </p:grpSpPr>
        <p:sp>
          <p:nvSpPr>
            <p:cNvPr id="38" name="Rectangle 38"/>
            <p:cNvSpPr/>
            <p:nvPr/>
          </p:nvSpPr>
          <p:spPr>
            <a:xfrm>
              <a:off x="6248400" y="1524000"/>
              <a:ext cx="5410200" cy="40576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849148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做法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580793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继承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528656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组合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348412" y="2054066"/>
              <a:ext cx="8013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增加 operC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862888" y="205406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子类里新增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810750" y="205406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新类里新增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248400" y="233076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6248400" y="2335530"/>
              <a:ext cx="5410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348412" y="2459831"/>
              <a:ext cx="8013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删掉 operA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862888" y="2459831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做不到，只能不用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810750" y="245983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不转发即可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6248400" y="273653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348412" y="2865596"/>
              <a:ext cx="8013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operA 改名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862888" y="2865596"/>
              <a:ext cx="13576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新增 myOperA 转调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810750" y="286559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只暴露新名字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248400" y="314229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6248400" y="3147060"/>
              <a:ext cx="5410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348412" y="3271361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改形参或返回类型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862888" y="327136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重载或新方法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9810750" y="3271361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新签名只写在外层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6248400" y="354806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348412" y="367712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换数据表示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862888" y="367712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子类另给一套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9810750" y="367712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新类另给一套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6248400" y="395382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4" name="Rectangle 64"/>
            <p:cNvSpPr/>
            <p:nvPr/>
          </p:nvSpPr>
          <p:spPr>
            <a:xfrm>
              <a:off x="6248400" y="3958590"/>
              <a:ext cx="5410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348412" y="408289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换算法实现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862888" y="408289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覆盖虚方法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9810750" y="408289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新类自己实现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6248400" y="1524000"/>
              <a:ext cx="5410200" cy="28403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9" name="Rectangle 69"/>
            <p:cNvSpPr/>
            <p:nvPr/>
          </p:nvSpPr>
          <p:spPr>
            <a:xfrm>
              <a:off x="7758112" y="1524000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0" name="Rectangle 70"/>
            <p:cNvSpPr/>
            <p:nvPr/>
          </p:nvSpPr>
          <p:spPr>
            <a:xfrm>
              <a:off x="9705975" y="1524000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6" name="c2-card-2"/>
          <p:cNvGrpSpPr/>
          <p:nvPr/>
        </p:nvGrpSpPr>
        <p:grpSpPr>
          <a:xfrm>
            <a:off x="6248400" y="4539615"/>
            <a:ext cx="5410200" cy="1754505"/>
            <a:chOff x="6248400" y="4539615"/>
            <a:chExt cx="5410200" cy="1754505"/>
          </a:xfrm>
        </p:grpSpPr>
        <p:sp>
          <p:nvSpPr>
            <p:cNvPr id="72" name="Rectangle 72"/>
            <p:cNvSpPr/>
            <p:nvPr/>
          </p:nvSpPr>
          <p:spPr>
            <a:xfrm>
              <a:off x="6248400" y="4539615"/>
              <a:ext cx="5410200" cy="1754505"/>
            </a:xfrm>
            <a:prstGeom prst="roundRect">
              <a:avLst>
                <a:gd name="adj" fmla="val 7600"/>
              </a:avLst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6433947" y="475392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怎么选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6433947" y="5073968"/>
              <a:ext cx="476288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继承版仍然是 Some，可以传给只认 Some 的老代码；组合版不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是 Some，接不上。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6433947" y="5634038"/>
              <a:ext cx="4814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组合版能挡住不想暴露的方法，继承版挡不住（子类删不掉父类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的接口）。</a:t>
              </a:r>
            </a:p>
          </p:txBody>
        </p:sp>
      </p:grpSp>
      <p:grpSp>
        <p:nvGrpSpPr>
          <p:cNvPr id="7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7" name="TextBox 77"/>
            <p:cNvSpPr txBox="1"/>
            <p:nvPr/>
          </p:nvSpPr>
          <p:spPr>
            <a:xfrm>
              <a:off x="528447" y="6581299"/>
              <a:ext cx="21849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UML 类图与类间关系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069782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7331" y="407194"/>
              <a:ext cx="19228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01 类图与关系 · 辨别与运用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多种变化同时出现时，组合优先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5626418" cy="1586865"/>
            <a:chOff x="533400" y="1524000"/>
            <a:chExt cx="5626418" cy="158686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1586865"/>
            </a:xfrm>
            <a:prstGeom prst="roundRect">
              <a:avLst>
                <a:gd name="adj" fmla="val 840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32016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9620" y="172212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1060" y="17564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问题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52931" y="1756886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只用继承会发生什么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2381" y="2100739"/>
              <a:ext cx="4955794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operA 有 3 种实现，operB 有 4 种实现，全靠派生子类就要写</a:t>
              </a:r>
              <a:br/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3 × 4 = 12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个子类。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62381" y="2690336"/>
              <a:ext cx="481029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再加一种 operA 的实现，子类数量按乘法增长到 16 个。</a:t>
              </a:r>
            </a:p>
          </p:txBody>
        </p:sp>
      </p:grpSp>
      <p:grpSp>
        <p:nvGrpSpPr>
          <p:cNvPr id="20" name="c1-card-2"/>
          <p:cNvGrpSpPr/>
          <p:nvPr/>
        </p:nvGrpSpPr>
        <p:grpSpPr>
          <a:xfrm>
            <a:off x="533400" y="3290888"/>
            <a:ext cx="5626418" cy="1838325"/>
            <a:chOff x="533400" y="3290888"/>
            <a:chExt cx="5626418" cy="1838325"/>
          </a:xfrm>
        </p:grpSpPr>
        <p:sp>
          <p:nvSpPr>
            <p:cNvPr id="15" name="Rectangle 15"/>
            <p:cNvSpPr/>
            <p:nvPr/>
          </p:nvSpPr>
          <p:spPr>
            <a:xfrm>
              <a:off x="533400" y="3290888"/>
              <a:ext cx="5626418" cy="1838325"/>
            </a:xfrm>
            <a:prstGeom prst="roundRect">
              <a:avLst>
                <a:gd name="adj" fmla="val 725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542925" y="3424238"/>
              <a:ext cx="47625" cy="157162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62381" y="3512344"/>
              <a:ext cx="28818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改成委托：两个维度各自独立变化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2381" y="3848576"/>
              <a:ext cx="4694301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 operA 的实现抽成接口 IOperA，operB 的实现抽成接口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IOperB。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62381" y="4437221"/>
              <a:ext cx="4879600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Some 持有这两个接口，3 + 4 = 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7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个实现类就够，新增一种只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加一个类。</a:t>
              </a:r>
            </a:p>
          </p:txBody>
        </p:sp>
      </p:grpSp>
      <p:grpSp>
        <p:nvGrpSpPr>
          <p:cNvPr id="28" name="c1-bullets-3"/>
          <p:cNvGrpSpPr/>
          <p:nvPr/>
        </p:nvGrpSpPr>
        <p:grpSpPr>
          <a:xfrm>
            <a:off x="526161" y="5333524"/>
            <a:ext cx="4135818" cy="940689"/>
            <a:chOff x="526161" y="5333524"/>
            <a:chExt cx="4135818" cy="940689"/>
          </a:xfrm>
        </p:grpSpPr>
        <p:sp>
          <p:nvSpPr>
            <p:cNvPr id="21" name="TextBox 21"/>
            <p:cNvSpPr txBox="1"/>
            <p:nvPr/>
          </p:nvSpPr>
          <p:spPr>
            <a:xfrm>
              <a:off x="526161" y="5333524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结论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533400" y="5656898"/>
              <a:ext cx="201930" cy="20193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91745" y="5696283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24293" y="5668804"/>
              <a:ext cx="383768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综合使用组合与继承，参照前面那些扩展形状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533400" y="5983605"/>
              <a:ext cx="201930" cy="201930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91745" y="6022991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24293" y="5995511"/>
              <a:ext cx="383768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组合优先：先想能不能委托出去，再考虑派生</a:t>
              </a:r>
            </a:p>
          </p:txBody>
        </p:sp>
      </p:grpSp>
      <p:grpSp>
        <p:nvGrpSpPr>
          <p:cNvPr id="66" name="c2-uml-1"/>
          <p:cNvGrpSpPr/>
          <p:nvPr/>
        </p:nvGrpSpPr>
        <p:grpSpPr>
          <a:xfrm>
            <a:off x="7191375" y="1595438"/>
            <a:ext cx="3740467" cy="3376612"/>
            <a:chOff x="7191375" y="1595438"/>
            <a:chExt cx="3740467" cy="3376612"/>
          </a:xfrm>
        </p:grpSpPr>
        <p:sp>
          <p:nvSpPr>
            <p:cNvPr id="29" name="Freeform 29"/>
            <p:cNvSpPr/>
            <p:nvPr/>
          </p:nvSpPr>
          <p:spPr>
            <a:xfrm>
              <a:off x="7762875" y="2952750"/>
              <a:ext cx="1299210" cy="210503"/>
            </a:xfrm>
            <a:custGeom>
              <a:avLst/>
              <a:gdLst/>
              <a:ahLst/>
              <a:cxnLst/>
              <a:rect l="l" t="t" r="r" b="b"/>
              <a:pathLst>
                <a:path w="1299210" h="210503">
                  <a:moveTo>
                    <a:pt x="0" y="210503"/>
                  </a:moveTo>
                  <a:lnTo>
                    <a:pt x="0" y="0"/>
                  </a:lnTo>
                  <a:lnTo>
                    <a:pt x="1299210" y="0"/>
                  </a:lnTo>
                  <a:lnTo>
                    <a:pt x="129921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9003982" y="2743200"/>
              <a:ext cx="115253" cy="209550"/>
            </a:xfrm>
            <a:custGeom>
              <a:avLst/>
              <a:gdLst/>
              <a:ahLst/>
              <a:cxnLst/>
              <a:rect l="l" t="t" r="r" b="b"/>
              <a:pathLst>
                <a:path w="115253" h="209550">
                  <a:moveTo>
                    <a:pt x="58103" y="0"/>
                  </a:moveTo>
                  <a:lnTo>
                    <a:pt x="115253" y="104775"/>
                  </a:lnTo>
                  <a:lnTo>
                    <a:pt x="58103" y="209550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9062085" y="2952750"/>
              <a:ext cx="1298258" cy="210503"/>
            </a:xfrm>
            <a:custGeom>
              <a:avLst/>
              <a:gdLst/>
              <a:ahLst/>
              <a:cxnLst/>
              <a:rect l="l" t="t" r="r" b="b"/>
              <a:pathLst>
                <a:path w="1298258" h="210503">
                  <a:moveTo>
                    <a:pt x="1298258" y="210503"/>
                  </a:moveTo>
                  <a:lnTo>
                    <a:pt x="1298258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9003982" y="2743200"/>
              <a:ext cx="115253" cy="209550"/>
            </a:xfrm>
            <a:custGeom>
              <a:avLst/>
              <a:gdLst/>
              <a:ahLst/>
              <a:cxnLst/>
              <a:rect l="l" t="t" r="r" b="b"/>
              <a:pathLst>
                <a:path w="115253" h="209550">
                  <a:moveTo>
                    <a:pt x="58103" y="0"/>
                  </a:moveTo>
                  <a:lnTo>
                    <a:pt x="115253" y="104775"/>
                  </a:lnTo>
                  <a:lnTo>
                    <a:pt x="58103" y="209550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7762875" y="3881438"/>
              <a:ext cx="9525" cy="646747"/>
            </a:xfrm>
            <a:custGeom>
              <a:avLst/>
              <a:gdLst/>
              <a:ahLst/>
              <a:cxnLst/>
              <a:rect l="l" t="t" r="r" b="b"/>
              <a:pathLst>
                <a:path w="9525" h="646747">
                  <a:moveTo>
                    <a:pt x="0" y="646747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34" name="Freeform 34"/>
            <p:cNvSpPr/>
            <p:nvPr/>
          </p:nvSpPr>
          <p:spPr>
            <a:xfrm>
              <a:off x="7689532" y="3755708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10360342" y="3881438"/>
              <a:ext cx="9525" cy="646747"/>
            </a:xfrm>
            <a:custGeom>
              <a:avLst/>
              <a:gdLst/>
              <a:ahLst/>
              <a:cxnLst/>
              <a:rect l="l" t="t" r="r" b="b"/>
              <a:pathLst>
                <a:path w="9525" h="646747">
                  <a:moveTo>
                    <a:pt x="0" y="646747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  <a:custDash>
                <a:ds d="375000" sp="250000"/>
              </a:custDash>
            </a:ln>
          </p:spPr>
        </p:sp>
        <p:sp>
          <p:nvSpPr>
            <p:cNvPr id="36" name="Freeform 36"/>
            <p:cNvSpPr/>
            <p:nvPr/>
          </p:nvSpPr>
          <p:spPr>
            <a:xfrm>
              <a:off x="10287000" y="3755708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3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8490585" y="1595438"/>
              <a:ext cx="1143000" cy="1146810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8497252" y="1603058"/>
              <a:ext cx="1128712" cy="24574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8490585" y="1844040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8490585" y="2290762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7191375" y="3163252"/>
              <a:ext cx="1143000" cy="592455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7198995" y="3170872"/>
              <a:ext cx="1128712" cy="39433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7191375" y="356044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7191375" y="365569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9788842" y="3163252"/>
              <a:ext cx="1143000" cy="592455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9795510" y="3170872"/>
              <a:ext cx="1128712" cy="39433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9788842" y="356044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9788842" y="3655695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7191375" y="4528185"/>
              <a:ext cx="1143000" cy="443865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7198995" y="4534852"/>
              <a:ext cx="1128712" cy="24574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7191375" y="477678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7191375" y="487203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9788842" y="4528185"/>
              <a:ext cx="1143000" cy="443865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5B3FA0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9795510" y="4534852"/>
              <a:ext cx="1128712" cy="245745"/>
            </a:xfrm>
            <a:prstGeom prst="rect">
              <a:avLst/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9788842" y="477678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9788842" y="4872038"/>
              <a:ext cx="1143000" cy="9525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8876128" y="1655445"/>
              <a:ext cx="37191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Some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561832" y="1915001"/>
              <a:ext cx="694436" cy="3669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a: IOperA</a:t>
              </a:r>
            </a:p>
            <a:p>
              <a:pPr algn="l">
                <a:lnSpc>
                  <a:spcPts val="1388"/>
                </a:lnSpc>
              </a:pPr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b: IOperB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561832" y="2361724"/>
              <a:ext cx="594868" cy="3669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operA()</a:t>
              </a:r>
              <a:br/>
              <a:r>
                <a:rPr lang="en-US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operB()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406754" y="3220402"/>
              <a:ext cx="7122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«interface»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509535" y="3371850"/>
              <a:ext cx="5066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IOperA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0004222" y="3220402"/>
              <a:ext cx="7122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«interface»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0107003" y="3371850"/>
              <a:ext cx="5066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IOperB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7491928" y="4588192"/>
              <a:ext cx="5418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OperA1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0089395" y="4588192"/>
              <a:ext cx="5418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462F80"/>
                  </a:solidFill>
                  <a:latin typeface="+mn-lt"/>
                  <a:ea typeface="+mn-ea"/>
                  <a:cs typeface="+mn-cs"/>
                </a:rPr>
                <a:t>OperB1</a:t>
              </a:r>
            </a:p>
          </p:txBody>
        </p:sp>
      </p:grpSp>
      <p:grpSp>
        <p:nvGrpSpPr>
          <p:cNvPr id="72" name="c2-callout-2"/>
          <p:cNvGrpSpPr/>
          <p:nvPr/>
        </p:nvGrpSpPr>
        <p:grpSpPr>
          <a:xfrm>
            <a:off x="6464618" y="5575935"/>
            <a:ext cx="5193982" cy="756285"/>
            <a:chOff x="6464618" y="5575935"/>
            <a:chExt cx="5193982" cy="756285"/>
          </a:xfrm>
        </p:grpSpPr>
        <p:sp>
          <p:nvSpPr>
            <p:cNvPr id="67" name="Rectangle 67"/>
            <p:cNvSpPr/>
            <p:nvPr/>
          </p:nvSpPr>
          <p:spPr>
            <a:xfrm>
              <a:off x="6464618" y="5575935"/>
              <a:ext cx="5193982" cy="756285"/>
            </a:xfrm>
            <a:prstGeom prst="roundRect">
              <a:avLst>
                <a:gd name="adj" fmla="val 15113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70" name="Group 70"/>
            <p:cNvGrpSpPr/>
            <p:nvPr/>
          </p:nvGrpSpPr>
          <p:grpSpPr>
            <a:xfrm>
              <a:off x="6669405" y="5854067"/>
              <a:ext cx="200023" cy="200023"/>
              <a:chOff x="6669405" y="5854067"/>
              <a:chExt cx="200023" cy="200023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6669405" y="585406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9" name="Freeform 69"/>
              <p:cNvSpPr/>
              <p:nvPr/>
            </p:nvSpPr>
            <p:spPr>
              <a:xfrm>
                <a:off x="6802755" y="592074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1" name="TextBox 71"/>
            <p:cNvSpPr txBox="1"/>
            <p:nvPr/>
          </p:nvSpPr>
          <p:spPr>
            <a:xfrm>
              <a:off x="6971729" y="5723096"/>
              <a:ext cx="4288536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谁来决定装配哪个实现？交给使用者或容器，Some 自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己不 new，这就是依赖注入的雏形。</a:t>
              </a:r>
            </a:p>
          </p:txBody>
        </p:sp>
      </p:grpSp>
      <p:grpSp>
        <p:nvGrpSpPr>
          <p:cNvPr id="7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3" name="TextBox 73"/>
            <p:cNvSpPr txBox="1"/>
            <p:nvPr/>
          </p:nvSpPr>
          <p:spPr>
            <a:xfrm>
              <a:off x="528447" y="6581299"/>
              <a:ext cx="21849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UML 类图与类间关系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801999" cy="909257"/>
            <a:chOff x="520446" y="342900"/>
            <a:chExt cx="38019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55149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52183" y="40719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8019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自测（一）：画法与方向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2739771" cy="264033"/>
            <a:chOff x="526542" y="1545907"/>
            <a:chExt cx="2739771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先自己在纸上画一遍，再看答案。</a:t>
              </a:r>
            </a:p>
          </p:txBody>
        </p:sp>
      </p:grpSp>
      <p:grpSp>
        <p:nvGrpSpPr>
          <p:cNvPr id="14" name="c1-card-1"/>
          <p:cNvGrpSpPr/>
          <p:nvPr/>
        </p:nvGrpSpPr>
        <p:grpSpPr>
          <a:xfrm>
            <a:off x="533400" y="1928812"/>
            <a:ext cx="5410200" cy="1428750"/>
            <a:chOff x="533400" y="1928812"/>
            <a:chExt cx="5410200" cy="1428750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410200" cy="1428750"/>
            </a:xfrm>
            <a:prstGeom prst="roundRect">
              <a:avLst>
                <a:gd name="adj" fmla="val 933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714375" y="2109788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803832" y="2142649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07898" y="2449354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实现关系的空心三角箭头指向哪一端？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07898" y="2735104"/>
              <a:ext cx="472719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指向接口。虚线从实现类出发，箭头落在接口上；泛化同理，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箭头落在父类上。</a:t>
              </a:r>
            </a:p>
          </p:txBody>
        </p:sp>
      </p:grpSp>
      <p:grpSp>
        <p:nvGrpSpPr>
          <p:cNvPr id="20" name="c1-card-2"/>
          <p:cNvGrpSpPr/>
          <p:nvPr/>
        </p:nvGrpSpPr>
        <p:grpSpPr>
          <a:xfrm>
            <a:off x="533400" y="3522345"/>
            <a:ext cx="5410200" cy="1185862"/>
            <a:chOff x="533400" y="3522345"/>
            <a:chExt cx="5410200" cy="1185862"/>
          </a:xfrm>
        </p:grpSpPr>
        <p:sp>
          <p:nvSpPr>
            <p:cNvPr id="15" name="Rectangle 15"/>
            <p:cNvSpPr/>
            <p:nvPr/>
          </p:nvSpPr>
          <p:spPr>
            <a:xfrm>
              <a:off x="533400" y="3522345"/>
              <a:ext cx="5410200" cy="1185862"/>
            </a:xfrm>
            <a:prstGeom prst="roundRect">
              <a:avLst>
                <a:gd name="adj" fmla="val 1124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4375" y="3703320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03832" y="3736181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07898" y="4043839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泛化与实现在图上怎么区分？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07898" y="4328636"/>
              <a:ext cx="483773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只看线型。实线是泛化，虚线是实现，箭头都是空心三角。</a:t>
              </a:r>
            </a:p>
          </p:txBody>
        </p:sp>
      </p:grpSp>
      <p:grpSp>
        <p:nvGrpSpPr>
          <p:cNvPr id="26" name="c1-card-3"/>
          <p:cNvGrpSpPr/>
          <p:nvPr/>
        </p:nvGrpSpPr>
        <p:grpSpPr>
          <a:xfrm>
            <a:off x="533400" y="4873942"/>
            <a:ext cx="5410200" cy="1428750"/>
            <a:chOff x="533400" y="4873942"/>
            <a:chExt cx="5410200" cy="1428750"/>
          </a:xfrm>
        </p:grpSpPr>
        <p:sp>
          <p:nvSpPr>
            <p:cNvPr id="21" name="Rectangle 21"/>
            <p:cNvSpPr/>
            <p:nvPr/>
          </p:nvSpPr>
          <p:spPr>
            <a:xfrm>
              <a:off x="533400" y="4873942"/>
              <a:ext cx="5410200" cy="1428750"/>
            </a:xfrm>
            <a:prstGeom prst="roundRect">
              <a:avLst>
                <a:gd name="adj" fmla="val 933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714375" y="5054918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03832" y="5087779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07898" y="5394484"/>
              <a:ext cx="262307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关联线上写的 1 和 1..* 是什么？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07898" y="5679281"/>
              <a:ext cx="472719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多重度，写在靠近对应类的那一端，表示这一端可以对应几个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对象。</a:t>
              </a:r>
            </a:p>
          </p:txBody>
        </p:sp>
      </p:grpSp>
      <p:grpSp>
        <p:nvGrpSpPr>
          <p:cNvPr id="32" name="c2-card-1"/>
          <p:cNvGrpSpPr/>
          <p:nvPr/>
        </p:nvGrpSpPr>
        <p:grpSpPr>
          <a:xfrm>
            <a:off x="6248400" y="1928812"/>
            <a:ext cx="5410200" cy="1185862"/>
            <a:chOff x="6248400" y="1928812"/>
            <a:chExt cx="5410200" cy="1185862"/>
          </a:xfrm>
        </p:grpSpPr>
        <p:sp>
          <p:nvSpPr>
            <p:cNvPr id="27" name="Rectangle 27"/>
            <p:cNvSpPr/>
            <p:nvPr/>
          </p:nvSpPr>
          <p:spPr>
            <a:xfrm>
              <a:off x="6248400" y="1928812"/>
              <a:ext cx="5410200" cy="1185862"/>
            </a:xfrm>
            <a:prstGeom prst="roundRect">
              <a:avLst>
                <a:gd name="adj" fmla="val 1124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29375" y="2109788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518832" y="2142649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22898" y="2449354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聚合的空心菱形画在整体端还是部分端？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22898" y="2735104"/>
              <a:ext cx="39761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整体端。菱形不是箭头，线的另一端才是部分。</a:t>
              </a:r>
            </a:p>
          </p:txBody>
        </p:sp>
      </p:grpSp>
      <p:grpSp>
        <p:nvGrpSpPr>
          <p:cNvPr id="38" name="c2-card-2"/>
          <p:cNvGrpSpPr/>
          <p:nvPr/>
        </p:nvGrpSpPr>
        <p:grpSpPr>
          <a:xfrm>
            <a:off x="6248400" y="3279458"/>
            <a:ext cx="5410200" cy="1185862"/>
            <a:chOff x="6248400" y="3279458"/>
            <a:chExt cx="5410200" cy="1185862"/>
          </a:xfrm>
        </p:grpSpPr>
        <p:sp>
          <p:nvSpPr>
            <p:cNvPr id="33" name="Rectangle 33"/>
            <p:cNvSpPr/>
            <p:nvPr/>
          </p:nvSpPr>
          <p:spPr>
            <a:xfrm>
              <a:off x="6248400" y="3279458"/>
              <a:ext cx="5410200" cy="1185862"/>
            </a:xfrm>
            <a:prstGeom prst="roundRect">
              <a:avLst>
                <a:gd name="adj" fmla="val 1124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429375" y="3460432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518832" y="3493294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22898" y="3800951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六种关系由弱到强怎么排？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22898" y="4085749"/>
              <a:ext cx="348507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 &lt; 关联 &lt; 聚合 &lt; 组合 &lt; 泛化/实现。</a:t>
              </a:r>
            </a:p>
          </p:txBody>
        </p:sp>
      </p:grpSp>
      <p:grpSp>
        <p:nvGrpSpPr>
          <p:cNvPr id="44" name="c2-card-3"/>
          <p:cNvGrpSpPr/>
          <p:nvPr/>
        </p:nvGrpSpPr>
        <p:grpSpPr>
          <a:xfrm>
            <a:off x="6248400" y="4631055"/>
            <a:ext cx="5410200" cy="1671638"/>
            <a:chOff x="6248400" y="4631055"/>
            <a:chExt cx="5410200" cy="1671638"/>
          </a:xfrm>
        </p:grpSpPr>
        <p:sp>
          <p:nvSpPr>
            <p:cNvPr id="39" name="Rectangle 39"/>
            <p:cNvSpPr/>
            <p:nvPr/>
          </p:nvSpPr>
          <p:spPr>
            <a:xfrm>
              <a:off x="6248400" y="4631055"/>
              <a:ext cx="5410200" cy="1671638"/>
            </a:xfrm>
            <a:prstGeom prst="roundRect">
              <a:avLst>
                <a:gd name="adj" fmla="val 7977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429375" y="4812030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518832" y="4844891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422898" y="5151596"/>
              <a:ext cx="39761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一个类既继承另一个类又把它当成员，图上怎么画？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422898" y="5436394"/>
              <a:ext cx="4670298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两条线都画，例如 Grid 与 Rect 之间是泛化，Grid 与 Shape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之间是组合。</a:t>
              </a:r>
            </a:p>
          </p:txBody>
        </p:sp>
      </p:grpSp>
      <p:grpSp>
        <p:nvGrpSpPr>
          <p:cNvPr id="4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5" name="TextBox 45"/>
            <p:cNvSpPr txBox="1"/>
            <p:nvPr/>
          </p:nvSpPr>
          <p:spPr>
            <a:xfrm>
              <a:off x="528447" y="6581299"/>
              <a:ext cx="21849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UML 类图与类间关系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801999" cy="909257"/>
            <a:chOff x="520446" y="342900"/>
            <a:chExt cx="38019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551498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52183" y="40719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8019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自测（二）：判别与例题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185862"/>
            <a:chOff x="533400" y="1524000"/>
            <a:chExt cx="5410200" cy="118586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185862"/>
            </a:xfrm>
            <a:prstGeom prst="roundRect">
              <a:avLst>
                <a:gd name="adj" fmla="val 1124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14375" y="1704975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03832" y="1737836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07898" y="2045494"/>
              <a:ext cx="479344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class A { void f(B b) { b.g(); } } 中 A 与 B 是什么关系？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07898" y="2330291"/>
              <a:ext cx="399567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依赖。B 只是形参，方法结束后 A 不再持有它。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2874645"/>
            <a:ext cx="5410200" cy="1428750"/>
            <a:chOff x="533400" y="2874645"/>
            <a:chExt cx="5410200" cy="1428750"/>
          </a:xfrm>
        </p:grpSpPr>
        <p:sp>
          <p:nvSpPr>
            <p:cNvPr id="13" name="Rectangle 13"/>
            <p:cNvSpPr/>
            <p:nvPr/>
          </p:nvSpPr>
          <p:spPr>
            <a:xfrm>
              <a:off x="533400" y="2874645"/>
              <a:ext cx="5410200" cy="1428750"/>
            </a:xfrm>
            <a:prstGeom prst="roundRect">
              <a:avLst>
                <a:gd name="adj" fmla="val 933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14375" y="3055620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03832" y="3088481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07898" y="3396139"/>
              <a:ext cx="249356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Grid 内部的矩形为什么算组合？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07898" y="3680936"/>
              <a:ext cx="4743450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它们在 Grid 的构造函数里创建，随 Grid 一起销毁，也不被别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的图元共享。</a:t>
              </a:r>
            </a:p>
          </p:txBody>
        </p:sp>
      </p:grpSp>
      <p:grpSp>
        <p:nvGrpSpPr>
          <p:cNvPr id="24" name="c1-card-3"/>
          <p:cNvGrpSpPr/>
          <p:nvPr/>
        </p:nvGrpSpPr>
        <p:grpSpPr>
          <a:xfrm>
            <a:off x="533400" y="4469130"/>
            <a:ext cx="5410200" cy="1185862"/>
            <a:chOff x="533400" y="4469130"/>
            <a:chExt cx="5410200" cy="1185862"/>
          </a:xfrm>
        </p:grpSpPr>
        <p:sp>
          <p:nvSpPr>
            <p:cNvPr id="19" name="Rectangle 19"/>
            <p:cNvSpPr/>
            <p:nvPr/>
          </p:nvSpPr>
          <p:spPr>
            <a:xfrm>
              <a:off x="533400" y="4469130"/>
              <a:ext cx="5410200" cy="1185862"/>
            </a:xfrm>
            <a:prstGeom prst="roundRect">
              <a:avLst>
                <a:gd name="adj" fmla="val 1124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14375" y="4650105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03832" y="4682966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07898" y="4989671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双向关联多出哪些负担？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07898" y="5275421"/>
              <a:ext cx="501004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两端要同步维护，解除关系要清空两边，两个类还互相依赖。</a:t>
              </a:r>
            </a:p>
          </p:txBody>
        </p:sp>
      </p:grpSp>
      <p:grpSp>
        <p:nvGrpSpPr>
          <p:cNvPr id="30" name="c2-card-1"/>
          <p:cNvGrpSpPr/>
          <p:nvPr/>
        </p:nvGrpSpPr>
        <p:grpSpPr>
          <a:xfrm>
            <a:off x="6248400" y="1524000"/>
            <a:ext cx="5410200" cy="1428750"/>
            <a:chOff x="6248400" y="1524000"/>
            <a:chExt cx="5410200" cy="1428750"/>
          </a:xfrm>
        </p:grpSpPr>
        <p:sp>
          <p:nvSpPr>
            <p:cNvPr id="25" name="Rectangle 25"/>
            <p:cNvSpPr/>
            <p:nvPr/>
          </p:nvSpPr>
          <p:spPr>
            <a:xfrm>
              <a:off x="6248400" y="1524000"/>
              <a:ext cx="5410200" cy="1428750"/>
            </a:xfrm>
            <a:prstGeom prst="roundRect">
              <a:avLst>
                <a:gd name="adj" fmla="val 933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29375" y="1704975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18832" y="1737836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22898" y="2045494"/>
              <a:ext cx="4809693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Dorm 里存着 Student 数组，删除宿舍时不销毁学生，是聚合还是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组合？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22898" y="2573179"/>
              <a:ext cx="38038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聚合。学生由外部创建，宿舍拆了学生仍在。</a:t>
              </a:r>
            </a:p>
          </p:txBody>
        </p:sp>
      </p:grpSp>
      <p:grpSp>
        <p:nvGrpSpPr>
          <p:cNvPr id="36" name="c2-card-2"/>
          <p:cNvGrpSpPr/>
          <p:nvPr/>
        </p:nvGrpSpPr>
        <p:grpSpPr>
          <a:xfrm>
            <a:off x="6248400" y="3117532"/>
            <a:ext cx="5410200" cy="1185862"/>
            <a:chOff x="6248400" y="3117532"/>
            <a:chExt cx="5410200" cy="1185862"/>
          </a:xfrm>
        </p:grpSpPr>
        <p:sp>
          <p:nvSpPr>
            <p:cNvPr id="31" name="Rectangle 31"/>
            <p:cNvSpPr/>
            <p:nvPr/>
          </p:nvSpPr>
          <p:spPr>
            <a:xfrm>
              <a:off x="6248400" y="3117532"/>
              <a:ext cx="5410200" cy="1185862"/>
            </a:xfrm>
            <a:prstGeom prst="roundRect">
              <a:avLst>
                <a:gd name="adj" fmla="val 1124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429375" y="3298508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18832" y="3331369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22898" y="3639026"/>
              <a:ext cx="345233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a(10,200,7,8) 打 b(10,180,8,7) 谁赢？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22898" y="3923824"/>
              <a:ext cx="327829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赢。b 要挨 26 击，a 只能挨 25 击。</a:t>
              </a:r>
            </a:p>
          </p:txBody>
        </p:sp>
      </p:grpSp>
      <p:grpSp>
        <p:nvGrpSpPr>
          <p:cNvPr id="42" name="c2-card-3"/>
          <p:cNvGrpSpPr/>
          <p:nvPr/>
        </p:nvGrpSpPr>
        <p:grpSpPr>
          <a:xfrm>
            <a:off x="6248400" y="4469130"/>
            <a:ext cx="5410200" cy="1185862"/>
            <a:chOff x="6248400" y="4469130"/>
            <a:chExt cx="5410200" cy="1185862"/>
          </a:xfrm>
        </p:grpSpPr>
        <p:sp>
          <p:nvSpPr>
            <p:cNvPr id="37" name="Rectangle 37"/>
            <p:cNvSpPr/>
            <p:nvPr/>
          </p:nvSpPr>
          <p:spPr>
            <a:xfrm>
              <a:off x="6248400" y="4469130"/>
              <a:ext cx="5410200" cy="1185862"/>
            </a:xfrm>
            <a:prstGeom prst="roundRect">
              <a:avLst>
                <a:gd name="adj" fmla="val 1124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429375" y="4650105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518832" y="4682966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22898" y="4989671"/>
              <a:ext cx="481921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operA 有 3 种实现、operB 有 4 种，继承和组合各要几个类？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22898" y="5275421"/>
              <a:ext cx="308875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继承 12 个子类，组合 7 个实现类。</a:t>
              </a:r>
            </a:p>
          </p:txBody>
        </p:sp>
      </p:grpSp>
      <p:grpSp>
        <p:nvGrpSpPr>
          <p:cNvPr id="49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43" name="Rectangle 43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738188" y="6028373"/>
              <a:ext cx="200026" cy="200025"/>
              <a:chOff x="738188" y="6028373"/>
              <a:chExt cx="200026" cy="200025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738188" y="602837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777926" y="607282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12642" y="618394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1041273" y="6039326"/>
              <a:ext cx="63885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第四题的快算法：先算每击伤害，再算各自能挨几击，最后按先手顺序比谁先耗完。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21849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UML 类图与类间关系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399032" cy="909257"/>
            <a:chOff x="520446" y="342900"/>
            <a:chExt cx="139903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186815" cy="266700"/>
            </a:xfrm>
            <a:prstGeom prst="roundRect">
              <a:avLst>
                <a:gd name="adj" fmla="val 50000"/>
              </a:avLst>
            </a:prstGeom>
            <a:solidFill>
              <a:srgbClr val="EEEAF7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3337" y="407194"/>
              <a:ext cx="9869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01 类图与关系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本讲小结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5B3FA0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5" name="c1-bullets-1"/>
          <p:cNvGrpSpPr/>
          <p:nvPr/>
        </p:nvGrpSpPr>
        <p:grpSpPr>
          <a:xfrm>
            <a:off x="533400" y="1533525"/>
            <a:ext cx="5193640" cy="1726215"/>
            <a:chOff x="533400" y="1533525"/>
            <a:chExt cx="5193640" cy="1726215"/>
          </a:xfrm>
        </p:grpSpPr>
        <p:sp>
          <p:nvSpPr>
            <p:cNvPr id="7" name="Ellipse 7"/>
            <p:cNvSpPr/>
            <p:nvPr/>
          </p:nvSpPr>
          <p:spPr>
            <a:xfrm>
              <a:off x="533400" y="1533525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585307" y="1569148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03148" y="1545431"/>
              <a:ext cx="492389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类画成三栏矩形，可见性 + - # ~，接口 «interface»，抽象斜体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1826895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85307" y="1862519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03148" y="1837849"/>
              <a:ext cx="44931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依赖最弱，只出现在参数、局部变量、返回值和静态调用里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533400" y="2120265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85307" y="2155888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03148" y="2131219"/>
              <a:ext cx="414848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关联是长期持有的字段，分单向、自身、双向三种形态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2413635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85307" y="2448306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03148" y="2424589"/>
              <a:ext cx="38038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聚合与组合都是整体与部分，菱形一律画在整体端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533400" y="2706052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85307" y="2741676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03148" y="2717006"/>
              <a:ext cx="44931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泛化与实现的箭头都指向父类型，实线是泛化，虚线是实现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533400" y="2999422"/>
              <a:ext cx="180975" cy="180975"/>
            </a:xfrm>
            <a:prstGeom prst="ellipse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85307" y="3035046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03148" y="3010376"/>
              <a:ext cx="44931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变化分职责与实现两类，继承与组合各有适用面，优先组合</a:t>
              </a:r>
            </a:p>
          </p:txBody>
        </p:sp>
      </p:grpSp>
      <p:grpSp>
        <p:nvGrpSpPr>
          <p:cNvPr id="43" name="c1-kv-2"/>
          <p:cNvGrpSpPr/>
          <p:nvPr/>
        </p:nvGrpSpPr>
        <p:grpSpPr>
          <a:xfrm>
            <a:off x="526923" y="3395186"/>
            <a:ext cx="5632895" cy="2120074"/>
            <a:chOff x="526923" y="3395186"/>
            <a:chExt cx="5632895" cy="2120074"/>
          </a:xfrm>
        </p:grpSpPr>
        <p:sp>
          <p:nvSpPr>
            <p:cNvPr id="26" name="TextBox 26"/>
            <p:cNvSpPr txBox="1"/>
            <p:nvPr/>
          </p:nvSpPr>
          <p:spPr>
            <a:xfrm>
              <a:off x="526923" y="339518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依赖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113663" y="3395186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方法参数、局部变量、返回值、静态调用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366712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526923" y="376951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关联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13663" y="3769519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字段，从外部获得，长期持有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404145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526923" y="414385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聚合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113663" y="4143851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字段，整体不负责销毁部分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441579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26923" y="45172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组合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113663" y="4517231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字段，整体创建并销毁部分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478917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26923" y="489156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泛化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13663" y="4891564"/>
              <a:ext cx="18825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extends，父类里有实现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33400" y="516350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526923" y="526589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5B3FA0"/>
                  </a:solidFill>
                  <a:latin typeface="+mn-lt"/>
                  <a:ea typeface="+mn-ea"/>
                  <a:cs typeface="+mn-cs"/>
                </a:rPr>
                <a:t>实现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13663" y="5265896"/>
              <a:ext cx="232195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implements，接口里只有签名</a:t>
              </a:r>
            </a:p>
          </p:txBody>
        </p:sp>
      </p:grpSp>
      <p:grpSp>
        <p:nvGrpSpPr>
          <p:cNvPr id="69" name="c2-table-1"/>
          <p:cNvGrpSpPr/>
          <p:nvPr/>
        </p:nvGrpSpPr>
        <p:grpSpPr>
          <a:xfrm>
            <a:off x="6464618" y="1524000"/>
            <a:ext cx="5193982" cy="2669858"/>
            <a:chOff x="6464618" y="1524000"/>
            <a:chExt cx="5193982" cy="2669858"/>
          </a:xfrm>
        </p:grpSpPr>
        <p:sp>
          <p:nvSpPr>
            <p:cNvPr id="44" name="Rectangle 44"/>
            <p:cNvSpPr/>
            <p:nvPr/>
          </p:nvSpPr>
          <p:spPr>
            <a:xfrm>
              <a:off x="6464618" y="1524000"/>
              <a:ext cx="5193982" cy="381000"/>
            </a:xfrm>
            <a:prstGeom prst="rect">
              <a:avLst/>
            </a:prstGeom>
            <a:solidFill>
              <a:srgbClr val="5B3FA0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733222" y="1641157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记住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330690" y="1641157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内容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559296" y="20231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线型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390829" y="2023110"/>
              <a:ext cx="34596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虚线管"临时"和"只有约定"，实线管"长期"和"有实现"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464618" y="228219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6464618" y="2286952"/>
              <a:ext cx="5193982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559296" y="24041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端点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390829" y="2404110"/>
              <a:ext cx="340309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开放箭头指使用者的对象，三角指父类型，菱形指整体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6464618" y="266319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559296" y="27851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判别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390829" y="2785110"/>
              <a:ext cx="283768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先看继承，再看字段，最后看语义和生命周期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6464618" y="304514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6464618" y="3049905"/>
              <a:ext cx="5193982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559296" y="316706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易错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7390829" y="3167062"/>
              <a:ext cx="312039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三角画反、菱形画在部分端、把方法参数当成关联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6464618" y="342614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6559296" y="354806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方向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7390829" y="3548062"/>
              <a:ext cx="36857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依赖与关联的箭头指向被用的一方，泛化与实现指向父类型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6464618" y="380714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4" name="Rectangle 64"/>
            <p:cNvSpPr/>
            <p:nvPr/>
          </p:nvSpPr>
          <p:spPr>
            <a:xfrm>
              <a:off x="6464618" y="3811905"/>
              <a:ext cx="5193982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559296" y="3930015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多重度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390829" y="3930015"/>
              <a:ext cx="280941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1、0..1、*、1..* 写在靠近对应类的那一端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6464618" y="1524000"/>
              <a:ext cx="5193982" cy="266985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8" name="Rectangle 68"/>
            <p:cNvSpPr/>
            <p:nvPr/>
          </p:nvSpPr>
          <p:spPr>
            <a:xfrm>
              <a:off x="7291388" y="1524000"/>
              <a:ext cx="9525" cy="266985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4" name="c2-card-2"/>
          <p:cNvGrpSpPr/>
          <p:nvPr/>
        </p:nvGrpSpPr>
        <p:grpSpPr>
          <a:xfrm>
            <a:off x="6464618" y="4358640"/>
            <a:ext cx="5193982" cy="1125855"/>
            <a:chOff x="6464618" y="4358640"/>
            <a:chExt cx="5193982" cy="1125855"/>
          </a:xfrm>
        </p:grpSpPr>
        <p:sp>
          <p:nvSpPr>
            <p:cNvPr id="70" name="Rectangle 70"/>
            <p:cNvSpPr/>
            <p:nvPr/>
          </p:nvSpPr>
          <p:spPr>
            <a:xfrm>
              <a:off x="6464618" y="4358640"/>
              <a:ext cx="5193982" cy="1125855"/>
            </a:xfrm>
            <a:prstGeom prst="roundRect">
              <a:avLst>
                <a:gd name="adj" fmla="val 1184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1" name="Rectangle 71"/>
            <p:cNvSpPr/>
            <p:nvPr/>
          </p:nvSpPr>
          <p:spPr>
            <a:xfrm>
              <a:off x="6474142" y="4491990"/>
              <a:ext cx="47625" cy="85915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6677216" y="456009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接下来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6677216" y="4862036"/>
              <a:ext cx="456463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第三讲的面向对象设计原则，讲的就是这六种关系该怎么挑：什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么时候用继承，什么时候改成组合，什么时候只留一条依赖。</a:t>
              </a:r>
            </a:p>
          </p:txBody>
        </p:sp>
      </p:grpSp>
      <p:grpSp>
        <p:nvGrpSpPr>
          <p:cNvPr id="80" name="c2-callout-3"/>
          <p:cNvGrpSpPr/>
          <p:nvPr/>
        </p:nvGrpSpPr>
        <p:grpSpPr>
          <a:xfrm>
            <a:off x="6464618" y="5649278"/>
            <a:ext cx="5193982" cy="702945"/>
            <a:chOff x="6464618" y="5649278"/>
            <a:chExt cx="5193982" cy="702945"/>
          </a:xfrm>
        </p:grpSpPr>
        <p:sp>
          <p:nvSpPr>
            <p:cNvPr id="75" name="Rectangle 75"/>
            <p:cNvSpPr/>
            <p:nvPr/>
          </p:nvSpPr>
          <p:spPr>
            <a:xfrm>
              <a:off x="6464618" y="5649278"/>
              <a:ext cx="5193982" cy="702945"/>
            </a:xfrm>
            <a:prstGeom prst="roundRect">
              <a:avLst>
                <a:gd name="adj" fmla="val 16260"/>
              </a:avLst>
            </a:prstGeom>
            <a:solidFill>
              <a:srgbClr val="5B3FA0"/>
            </a:solidFill>
            <a:ln>
              <a:noFill/>
            </a:ln>
          </p:spPr>
        </p:sp>
        <p:grpSp>
          <p:nvGrpSpPr>
            <p:cNvPr id="78" name="Group 78"/>
            <p:cNvGrpSpPr/>
            <p:nvPr/>
          </p:nvGrpSpPr>
          <p:grpSpPr>
            <a:xfrm>
              <a:off x="6669405" y="5900740"/>
              <a:ext cx="200023" cy="200023"/>
              <a:chOff x="6669405" y="5900740"/>
              <a:chExt cx="200023" cy="200023"/>
            </a:xfrm>
          </p:grpSpPr>
          <p:sp>
            <p:nvSpPr>
              <p:cNvPr id="76" name="Freeform 76"/>
              <p:cNvSpPr/>
              <p:nvPr/>
            </p:nvSpPr>
            <p:spPr>
              <a:xfrm>
                <a:off x="6669405" y="590074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77" name="Freeform 77"/>
              <p:cNvSpPr/>
              <p:nvPr/>
            </p:nvSpPr>
            <p:spPr>
              <a:xfrm>
                <a:off x="6802755" y="59674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9" name="TextBox 79"/>
            <p:cNvSpPr txBox="1"/>
            <p:nvPr/>
          </p:nvSpPr>
          <p:spPr>
            <a:xfrm>
              <a:off x="6972491" y="5794534"/>
              <a:ext cx="423951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后面每学一个模式，先看它的类图用了哪几种关系，模式的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结构就记住了一半。</a:t>
              </a:r>
            </a:p>
          </p:txBody>
        </p:sp>
      </p:grpSp>
      <p:grpSp>
        <p:nvGrpSpPr>
          <p:cNvPr id="8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1" name="TextBox 81"/>
            <p:cNvSpPr txBox="1"/>
            <p:nvPr/>
          </p:nvSpPr>
          <p:spPr>
            <a:xfrm>
              <a:off x="528447" y="6581299"/>
              <a:ext cx="21849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软件设计模式 · UML 类图与类间关系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sdp_01">
  <a:themeElements>
    <a:clrScheme name="sdp_01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dp_01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dp_0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44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2026-09-19T07:47:39Z</dcterms:created>
  <dcterms:modified xsi:type="dcterms:W3CDTF">2026-09-19T07:47:39Z</dcterms:modified>
  <cp:category/>
  <cp:contentStatus/>
</cp:coreProperties>
</file>