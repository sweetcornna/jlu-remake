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c80f0602c5d76c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088885d7bff501d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723329b3ae03d3f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359146" cy="3437763"/>
            <a:chOff x="666750" y="1619250"/>
            <a:chExt cx="535914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第二十讲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给一门小语言定下文法，让每条规则自己解释自己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文法规则与抽象语法树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数学运算解释器实例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与组合、访问者的分界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用户运行时输进来的一串字符，程序没法当算式算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文法与语法树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331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BNF 怎么写，终结符与非终结符怎么分，句子怎么变成树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四个角色加一个客户类，聚合菱形在非终结符一端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2407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骨架四个类，客户端建树后从根结点调 interpret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66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数学运算解释器，把 3 * 4 / 2 % 4 算成 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评价与分界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优缺点、适用环境，以及与组合、享元、访问者的关系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看到一段需求能判断它算不算一门小语言，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值不值得用解释器模式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会写三到五条 BNF 文法规则，并指出哪些是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终结符、哪些是非终结符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给定一个句子能画出它的抽象语法树，并说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出叶子结点对应哪个类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默画出标准类图，说清非终结符到抽象表达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式为什么是聚合而不是关联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写完整的数学运算解释器，并手推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一遍递归求值的调用顺序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821424" cy="3351847"/>
            <a:chOff x="667512" y="1835468"/>
            <a:chExt cx="68214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动机：字符串不会自己变成算式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从手机计算器和机器人控制指令说起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计算器读到的只是字符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机器人控制指令也要解析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编译与解释的一般过程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模式落在哪一段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动机：字符串不会自己变成算式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计算器里的表达式，程序拿到的只是一串字符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863993" cy="308039"/>
            <a:chOff x="525399" y="1550194"/>
            <a:chExt cx="986399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8639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手机计算器输入“1 + 2 + 3 - 4 + 1”，按一下就显示 3。这个结果是程序算出来的，不是编译器算出来的。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735002" cy="1516380"/>
            <a:chOff x="533400" y="1967865"/>
            <a:chExt cx="5735002" cy="151638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735002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两种表达式的差别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57733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 = 1 + 2 + 3 - 4 + 1;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写死在源码里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编译期就算完，r 等于 3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 = input.getText();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运行时才拿到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s 是 17 个字符，不是算式 */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674745"/>
            <a:ext cx="5735002" cy="1844040"/>
            <a:chOff x="533400" y="3674745"/>
            <a:chExt cx="5735002" cy="1844040"/>
          </a:xfrm>
        </p:grpSpPr>
        <p:sp>
          <p:nvSpPr>
            <p:cNvPr id="13" name="Rectangle 13"/>
            <p:cNvSpPr/>
            <p:nvPr/>
          </p:nvSpPr>
          <p:spPr>
            <a:xfrm>
              <a:off x="533400" y="3674745"/>
              <a:ext cx="5735002" cy="1844040"/>
            </a:xfrm>
            <a:prstGeom prst="roundRect">
              <a:avLst>
                <a:gd name="adj" fmla="val 72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808095"/>
              <a:ext cx="47625" cy="15773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88429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8457" y="39200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卡住的地方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8797" y="3919538"/>
              <a:ext cx="3177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不认识运行时才出现的表达式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280535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C++、Java、C# 都只在编译期处理源码里写死的算式。用户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运行时敲进来的字符串，语言本身没有任何办法直接求值。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573202" y="1967865"/>
            <a:ext cx="5085398" cy="2577465"/>
            <a:chOff x="6573202" y="1967865"/>
            <a:chExt cx="5085398" cy="2577465"/>
          </a:xfrm>
        </p:grpSpPr>
        <p:sp>
          <p:nvSpPr>
            <p:cNvPr id="20" name="Rectangle 20"/>
            <p:cNvSpPr/>
            <p:nvPr/>
          </p:nvSpPr>
          <p:spPr>
            <a:xfrm>
              <a:off x="6573202" y="1967865"/>
              <a:ext cx="5085398" cy="2577465"/>
            </a:xfrm>
            <a:prstGeom prst="roundRect">
              <a:avLst>
                <a:gd name="adj" fmla="val 517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82752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72961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82828" y="221265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自己定一套文法，再写一个解释器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782752" y="256032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44602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83742" y="257365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先规定这一小类表达式长什么样，写成几条文法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82752" y="318135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44602" y="32236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83742" y="319468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让每条规则对应一个类，类里只管这条规则怎么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解释。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782752" y="380238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44602" y="38446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83742" y="381571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把字符串按规则拼成一棵树，从树根开始逐层解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释下去。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573202" y="4735830"/>
            <a:ext cx="5085398" cy="782955"/>
            <a:chOff x="6573202" y="4735830"/>
            <a:chExt cx="5085398" cy="782955"/>
          </a:xfrm>
        </p:grpSpPr>
        <p:sp>
          <p:nvSpPr>
            <p:cNvPr id="34" name="Rectangle 34"/>
            <p:cNvSpPr/>
            <p:nvPr/>
          </p:nvSpPr>
          <p:spPr>
            <a:xfrm>
              <a:off x="6573202" y="4735830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777990" y="5027295"/>
              <a:ext cx="200026" cy="200025"/>
              <a:chOff x="6777990" y="5027295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77990" y="50272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17729" y="50717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852444" y="51828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079933" y="488442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这种自定义的小语言可以直接建在已有的面向对象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语言上，用类和对象来表示文法规则。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9304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某一类问题反复出现时，把这类问题的实例写成一门小语言里的句子，再建一个解释器去解释这些句子。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动机：字符串不会自己变成算式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第二个动机：图形界面生成的机器人控制指令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12883" cy="308039"/>
            <a:chOff x="525399" y="1550194"/>
            <a:chExt cx="1001288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128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用户在界面上点几下，生成一条控制指令发给机器人。机器人这边要按文法规则把指令拆开，再驱动电机。</a:t>
              </a:r>
            </a:p>
          </p:txBody>
        </p:sp>
      </p:grpSp>
      <p:grpSp>
        <p:nvGrpSpPr>
          <p:cNvPr id="24" name="c1-table-1"/>
          <p:cNvGrpSpPr/>
          <p:nvPr/>
        </p:nvGrpSpPr>
        <p:grpSpPr>
          <a:xfrm>
            <a:off x="533400" y="1967865"/>
            <a:ext cx="5410200" cy="2026920"/>
            <a:chOff x="533400" y="1967865"/>
            <a:chExt cx="5410200" cy="202692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940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输入的控制指令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60790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按文法怎么拆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46727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机器人的动作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664619"/>
              <a:ext cx="854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 move 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80500" y="2551271"/>
              <a:ext cx="11996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 + 动作 + 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03560" y="266461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向上移动 5 个单位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870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91815"/>
              <a:ext cx="5410200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340894"/>
              <a:ext cx="132725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 run 10 and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 move 20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80500" y="3340894"/>
              <a:ext cx="11427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两条指令用 and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连起来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03560" y="3227546"/>
              <a:ext cx="1589786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向下快速移动 10 个单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位，再向左移动 20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967865"/>
              <a:ext cx="5410200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67915" y="1967865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990975" y="1967865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ard-2"/>
          <p:cNvGrpSpPr/>
          <p:nvPr/>
        </p:nvGrpSpPr>
        <p:grpSpPr>
          <a:xfrm>
            <a:off x="533400" y="4184332"/>
            <a:ext cx="5410200" cy="1335405"/>
            <a:chOff x="533400" y="4184332"/>
            <a:chExt cx="5410200" cy="1335405"/>
          </a:xfrm>
        </p:grpSpPr>
        <p:sp>
          <p:nvSpPr>
            <p:cNvPr id="25" name="Rectangle 25"/>
            <p:cNvSpPr/>
            <p:nvPr/>
          </p:nvSpPr>
          <p:spPr>
            <a:xfrm>
              <a:off x="533400" y="4184332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317682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1050" y="439388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7308" y="44296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24000" y="44291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两个例子要解决的是同一件事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4790122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计算器要解析算式，机器人要解析控制指令。都是先定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一套文法规则，再按规则把一串字符拆开并执行。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6248400" y="1967865"/>
            <a:ext cx="5410200" cy="1719262"/>
            <a:chOff x="6248400" y="1967865"/>
            <a:chExt cx="5410200" cy="1719262"/>
          </a:xfrm>
        </p:grpSpPr>
        <p:sp>
          <p:nvSpPr>
            <p:cNvPr id="32" name="Rectangle 32"/>
            <p:cNvSpPr/>
            <p:nvPr/>
          </p:nvSpPr>
          <p:spPr>
            <a:xfrm>
              <a:off x="6248400" y="1967865"/>
              <a:ext cx="5410200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76797" y="211978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把这条需求写成文法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76035" y="2381726"/>
              <a:ext cx="3688334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expression ::= direction action distance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| composite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composite  ::= expression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'and'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expression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direction  ::=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'up'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'down'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'left'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'right'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action     ::=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'move'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'run'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distance   ::= an integer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3877628"/>
            <a:ext cx="5410200" cy="1643062"/>
            <a:chOff x="6248400" y="3877628"/>
            <a:chExt cx="5410200" cy="1643062"/>
          </a:xfrm>
        </p:grpSpPr>
        <p:sp>
          <p:nvSpPr>
            <p:cNvPr id="36" name="Rectangle 36"/>
            <p:cNvSpPr/>
            <p:nvPr/>
          </p:nvSpPr>
          <p:spPr>
            <a:xfrm>
              <a:off x="6248400" y="3877628"/>
              <a:ext cx="5410200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4010978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96050" y="40871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86258" y="41228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7078" y="41224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这五条规则是补出来的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8430" y="4483418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源课件只给了两条例句，没有写文法。上面的规则按课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件的文字描述整理，方向、动作、距离三个词都是终结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符，composite 是非终结符。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判断一门小语言值不值得做：问题实例是不是反复出现，且都能写成这门语言里的句子。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动机：字符串不会自己变成算式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编译与解释的一般过程，模式只管最后两段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90510" cy="293370"/>
            <a:chOff x="525780" y="1548765"/>
            <a:chExt cx="78905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一段语言文本要走完从文法到执行的整条链。解释器模式覆盖的只是其中靠后的一小段。</a:t>
              </a:r>
            </a:p>
          </p:txBody>
        </p:sp>
      </p:grpSp>
      <p:grpSp>
        <p:nvGrpSpPr>
          <p:cNvPr id="19" name="c1-flow-1"/>
          <p:cNvGrpSpPr/>
          <p:nvPr/>
        </p:nvGrpSpPr>
        <p:grpSpPr>
          <a:xfrm>
            <a:off x="666750" y="2096452"/>
            <a:ext cx="4602480" cy="603885"/>
            <a:chOff x="666750" y="2096452"/>
            <a:chExt cx="4602480" cy="603885"/>
          </a:xfrm>
        </p:grpSpPr>
        <p:sp>
          <p:nvSpPr>
            <p:cNvPr id="9" name="Freeform 9"/>
            <p:cNvSpPr/>
            <p:nvPr/>
          </p:nvSpPr>
          <p:spPr>
            <a:xfrm>
              <a:off x="2023110" y="239839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85035" y="23460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646170" y="239839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08095" y="23460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2185035"/>
              <a:ext cx="1356360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289810" y="2185035"/>
              <a:ext cx="1356360" cy="424815"/>
            </a:xfrm>
            <a:prstGeom prst="roundRect">
              <a:avLst>
                <a:gd name="adj" fmla="val 22422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912870" y="2096452"/>
              <a:ext cx="135636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5746" y="23145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语言文本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45918" y="2314575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 / 解释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27754" y="2211705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执行、优化、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格式化</a:t>
              </a:r>
            </a:p>
          </p:txBody>
        </p:sp>
      </p:grpSp>
      <p:grpSp>
        <p:nvGrpSpPr>
          <p:cNvPr id="38" name="c1-flow-2"/>
          <p:cNvGrpSpPr/>
          <p:nvPr/>
        </p:nvGrpSpPr>
        <p:grpSpPr>
          <a:xfrm>
            <a:off x="874395" y="3101340"/>
            <a:ext cx="4187190" cy="2724150"/>
            <a:chOff x="874395" y="3101340"/>
            <a:chExt cx="4187190" cy="2724150"/>
          </a:xfrm>
        </p:grpSpPr>
        <p:sp>
          <p:nvSpPr>
            <p:cNvPr id="20" name="Freeform 20"/>
            <p:cNvSpPr/>
            <p:nvPr/>
          </p:nvSpPr>
          <p:spPr>
            <a:xfrm>
              <a:off x="2967990" y="3527108"/>
              <a:ext cx="9525" cy="44767"/>
            </a:xfrm>
            <a:custGeom>
              <a:avLst/>
              <a:gdLst/>
              <a:ahLst/>
              <a:cxnLst/>
              <a:rect l="l" t="t" r="r" b="b"/>
              <a:pathLst>
                <a:path w="9525" h="44767">
                  <a:moveTo>
                    <a:pt x="0" y="0"/>
                  </a:moveTo>
                  <a:lnTo>
                    <a:pt x="0" y="447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915602" y="35718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967990" y="4101465"/>
              <a:ext cx="9525" cy="44767"/>
            </a:xfrm>
            <a:custGeom>
              <a:avLst/>
              <a:gdLst/>
              <a:ahLst/>
              <a:cxnLst/>
              <a:rect l="l" t="t" r="r" b="b"/>
              <a:pathLst>
                <a:path w="9525" h="44767">
                  <a:moveTo>
                    <a:pt x="0" y="0"/>
                  </a:moveTo>
                  <a:lnTo>
                    <a:pt x="0" y="447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915602" y="41462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967990" y="4675822"/>
              <a:ext cx="9525" cy="44768"/>
            </a:xfrm>
            <a:custGeom>
              <a:avLst/>
              <a:gdLst/>
              <a:ahLst/>
              <a:cxnLst/>
              <a:rect l="l" t="t" r="r" b="b"/>
              <a:pathLst>
                <a:path w="9525" h="44768">
                  <a:moveTo>
                    <a:pt x="0" y="0"/>
                  </a:moveTo>
                  <a:lnTo>
                    <a:pt x="0" y="447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915602" y="47205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967990" y="5251132"/>
              <a:ext cx="9525" cy="44768"/>
            </a:xfrm>
            <a:custGeom>
              <a:avLst/>
              <a:gdLst/>
              <a:ahLst/>
              <a:cxnLst/>
              <a:rect l="l" t="t" r="r" b="b"/>
              <a:pathLst>
                <a:path w="9525" h="44768">
                  <a:moveTo>
                    <a:pt x="0" y="0"/>
                  </a:moveTo>
                  <a:lnTo>
                    <a:pt x="0" y="447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915602" y="52959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74395" y="3101340"/>
              <a:ext cx="4187190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74395" y="3676650"/>
              <a:ext cx="4187190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74395" y="4251008"/>
              <a:ext cx="4187190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74395" y="4825365"/>
              <a:ext cx="4187190" cy="424815"/>
            </a:xfrm>
            <a:prstGeom prst="roundRect">
              <a:avLst>
                <a:gd name="adj" fmla="val 22422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74395" y="5400675"/>
              <a:ext cx="4187190" cy="424815"/>
            </a:xfrm>
            <a:prstGeom prst="roundRect">
              <a:avLst>
                <a:gd name="adj" fmla="val 22422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472385" y="3229927"/>
              <a:ext cx="991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BNF 文法规则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38806" y="38052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词法分析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38806" y="43795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语法分析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91613" y="4953952"/>
              <a:ext cx="1152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抽象语法树 AST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34946" y="552926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后续处理：解释执行</a:t>
              </a:r>
            </a:p>
          </p:txBody>
        </p:sp>
      </p:grpSp>
      <p:grpSp>
        <p:nvGrpSpPr>
          <p:cNvPr id="53" name="c2-kv-1"/>
          <p:cNvGrpSpPr/>
          <p:nvPr/>
        </p:nvGrpSpPr>
        <p:grpSpPr>
          <a:xfrm>
            <a:off x="5700141" y="1977866"/>
            <a:ext cx="5958459" cy="3037142"/>
            <a:chOff x="5700141" y="1977866"/>
            <a:chExt cx="5958459" cy="3037142"/>
          </a:xfrm>
        </p:grpSpPr>
        <p:sp>
          <p:nvSpPr>
            <p:cNvPr id="39" name="TextBox 39"/>
            <p:cNvSpPr txBox="1"/>
            <p:nvPr/>
          </p:nvSpPr>
          <p:spPr>
            <a:xfrm>
              <a:off x="5700141" y="1977866"/>
              <a:ext cx="1192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BNF 文法规则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84124" y="1977866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决定这门语言里有哪些语言单位，也就决定了将来要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写哪些表达式类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07380" y="255174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0141" y="26674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词法分析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84124" y="2667476"/>
              <a:ext cx="45736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把字符流切成一个个记号，例如把 </a:t>
              </a:r>
              <a:r>
                <a:rPr lang="zh-CN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3 * 4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切成三个记号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07380" y="29737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0141" y="30894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语法分析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84124" y="3089434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按文法规则把记号拼起来，这一段和下一段之间是模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式的入口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07380" y="36623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00141" y="377904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抽象语法树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84124" y="3779044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解释器模式真正的工作对象，树上每个结点都是一个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表达式对象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07380" y="43519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00141" y="446865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后续处理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84124" y="4468654"/>
              <a:ext cx="399999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从树根开始逐层调用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interpret()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，也可以换成打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印、优化等别的处理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5707380" y="5144452"/>
            <a:ext cx="5951220" cy="756285"/>
            <a:chOff x="5707380" y="5144452"/>
            <a:chExt cx="5951220" cy="756285"/>
          </a:xfrm>
        </p:grpSpPr>
        <p:sp>
          <p:nvSpPr>
            <p:cNvPr id="54" name="Rectangle 54"/>
            <p:cNvSpPr/>
            <p:nvPr/>
          </p:nvSpPr>
          <p:spPr>
            <a:xfrm>
              <a:off x="5707380" y="5144452"/>
              <a:ext cx="595122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900109" y="5418891"/>
              <a:ext cx="224134" cy="192560"/>
              <a:chOff x="5900109" y="5418891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012180" y="54892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900109" y="54188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012180" y="55670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214491" y="5291614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把字符串变成语法树的那两步不属于解释器模式，模式只负责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解释已经建好的树。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动机：字符串不会自己变成算式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文法规则怎么写：加法减法解释器的三条规则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819767" cy="264033"/>
            <a:chOff x="526542" y="1545907"/>
            <a:chExt cx="68197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819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表达式“1 + 2 + 3 - 4 + 1”里只有三种语言单位。三条规则就能把这门小语言描述完。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626418" cy="1561148"/>
            <a:chOff x="533400" y="1928812"/>
            <a:chExt cx="5626418" cy="156114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加法减法表达式的文法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2748026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expression ::= value | operation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operation  ::= expression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'+'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expression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| expression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'-'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expression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     ::= an integer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54742"/>
            <a:ext cx="5626418" cy="2133600"/>
            <a:chOff x="533400" y="3654742"/>
            <a:chExt cx="5626418" cy="2133600"/>
          </a:xfrm>
        </p:grpSpPr>
        <p:sp>
          <p:nvSpPr>
            <p:cNvPr id="13" name="Rectangle 13"/>
            <p:cNvSpPr/>
            <p:nvPr/>
          </p:nvSpPr>
          <p:spPr>
            <a:xfrm>
              <a:off x="533400" y="3654742"/>
              <a:ext cx="5626418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788092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38357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147" y="38685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8450" y="387524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每条规则说的是什么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419147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第一条说表达式要么是一个值，要么是一次运算。后两条分别给出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 和 value 的定义。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4720114"/>
              <a:ext cx="4381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符号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::=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读作“定义为”，左边的语言单位由右边来说明。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464618" y="1928812"/>
            <a:ext cx="5193982" cy="2287905"/>
            <a:chOff x="6464618" y="1928812"/>
            <a:chExt cx="5193982" cy="2287905"/>
          </a:xfrm>
        </p:grpSpPr>
        <p:sp>
          <p:nvSpPr>
            <p:cNvPr id="21" name="Rectangle 21"/>
            <p:cNvSpPr/>
            <p:nvPr/>
          </p:nvSpPr>
          <p:spPr>
            <a:xfrm>
              <a:off x="6464618" y="1928812"/>
              <a:ext cx="5193982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3322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769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6891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59296" y="242697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::=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90829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8231" y="2426970"/>
              <a:ext cx="1248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boolValue ::= 0 | 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2687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64618" y="2691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2701290"/>
              <a:ext cx="81153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9296" y="2808923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90829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8231" y="2808923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上面这条表示取值是 0 或者 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3068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9296" y="3189923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90829" y="318992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把若干项组合成一项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68231" y="3189923"/>
              <a:ext cx="844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'a' | 'b' }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3449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3453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9296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90829" y="3571875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前面那项出现 0 次或多次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68231" y="3571875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digit*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8309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9296" y="395287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 '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90829" y="395287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引号里的是字面量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68231" y="3952875"/>
              <a:ext cx="1289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'and' 只能原样出现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1928812"/>
              <a:ext cx="519398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29138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36879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6464618" y="4381500"/>
            <a:ext cx="5193982" cy="1406842"/>
            <a:chOff x="6464618" y="4381500"/>
            <a:chExt cx="5193982" cy="1406842"/>
          </a:xfrm>
        </p:grpSpPr>
        <p:sp>
          <p:nvSpPr>
            <p:cNvPr id="51" name="Rectangle 51"/>
            <p:cNvSpPr/>
            <p:nvPr/>
          </p:nvSpPr>
          <p:spPr>
            <a:xfrm>
              <a:off x="6464618" y="4381500"/>
              <a:ext cx="5193982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4514850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83692" y="4562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76364" y="4595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50620" y="46020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结合性要单独交代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77216" y="491918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上面三条规则没有说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-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谁先算。按源课件第 10 页画出的语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法树，加减是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从左向右结合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的，也就是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((((1+2)+3)-4)+1)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78359" y="5443538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更正：原课件的文法表漏掉了结合性这一条，只看规则会以为两种拆法都对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4737" cy="909257"/>
            <a:chOff x="520446" y="342900"/>
            <a:chExt cx="6944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动机：字符串不会自己变成算式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4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终结符和非终结符，按“还能不能继续拆”来分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949385" cy="308039"/>
            <a:chOff x="525399" y="1550194"/>
            <a:chExt cx="894938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9493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文法规则里每一个被定义的语言单位，将来都会变成一个类。分清这两类，才知道该写哪种类。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5780" y="1992630"/>
            <a:ext cx="5958840" cy="2019300"/>
            <a:chOff x="525780" y="1992630"/>
            <a:chExt cx="5958840" cy="201930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终结符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66862" y="1992630"/>
              <a:ext cx="46062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不能再分解的语言单位。加减法文法里的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value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就是终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结符，它的右边是一个具体的整数，拆不下去了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9461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714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非终结符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6862" y="2714625"/>
              <a:ext cx="458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还能继续分解的语言单位。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operation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是非终结符，它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的组成元素仍然是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expression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，可以一直拆下去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166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4366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怎么判断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6862" y="3436620"/>
              <a:ext cx="458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看这条规则的右边还出不出现语言单位。出现了就是非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终结符，只剩字面量就是终结符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143375"/>
            <a:ext cx="5951220" cy="2127885"/>
            <a:chOff x="533400" y="4143375"/>
            <a:chExt cx="5951220" cy="2127885"/>
          </a:xfrm>
        </p:grpSpPr>
        <p:sp>
          <p:nvSpPr>
            <p:cNvPr id="18" name="Rectangle 18"/>
            <p:cNvSpPr/>
            <p:nvPr/>
          </p:nvSpPr>
          <p:spPr>
            <a:xfrm>
              <a:off x="533400" y="4143375"/>
              <a:ext cx="5951220" cy="2127885"/>
            </a:xfrm>
            <a:prstGeom prst="roundRect">
              <a:avLst>
                <a:gd name="adj" fmla="val 6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276725"/>
              <a:ext cx="47625" cy="1861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35292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308" y="43886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练一下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24000" y="4388168"/>
              <a:ext cx="1871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boolValue ::= 0 |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749165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右边只有 0 和 1 两个字面量，没有别的语言单位，所以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boolValue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是终结符。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537019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一个文法里终结符类通常只有少数几个，非终结符类才是数量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多的那一批。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789420" y="1967865"/>
            <a:ext cx="4869180" cy="1956435"/>
            <a:chOff x="6789420" y="1967865"/>
            <a:chExt cx="4869180" cy="1956435"/>
          </a:xfrm>
        </p:grpSpPr>
        <p:sp>
          <p:nvSpPr>
            <p:cNvPr id="26" name="Rectangle 26"/>
            <p:cNvSpPr/>
            <p:nvPr/>
          </p:nvSpPr>
          <p:spPr>
            <a:xfrm>
              <a:off x="6789420" y="1967865"/>
              <a:ext cx="4869180" cy="1956435"/>
            </a:xfrm>
            <a:prstGeom prst="roundRect">
              <a:avLst>
                <a:gd name="adj" fmla="val 68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98970" y="217741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76376" y="22131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26718" y="221265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两类语言单位对应两种写法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1350" y="2573655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终结符表达式类的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interpret()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直接给出结果，不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再往下调。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91350" y="3194685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非终结符表达式类的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interpret()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要先让子表达式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解释，再把子结果合起来，所以一定是递归的。</a:t>
              </a:r>
            </a:p>
          </p:txBody>
        </p:sp>
      </p:grpSp>
      <p:grpSp>
        <p:nvGrpSpPr>
          <p:cNvPr id="35" name="c2-image-2"/>
          <p:cNvGrpSpPr/>
          <p:nvPr/>
        </p:nvGrpSpPr>
        <p:grpSpPr>
          <a:xfrm>
            <a:off x="6789420" y="4114800"/>
            <a:ext cx="4869180" cy="2181702"/>
            <a:chOff x="6789420" y="4114800"/>
            <a:chExt cx="4869180" cy="2181702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0" t="24439" r="0" b="24439"/>
            <a:stretch>
              <a:fillRect/>
            </a:stretch>
          </p:blipFill>
          <p:spPr>
            <a:xfrm>
              <a:off x="6789420" y="4114800"/>
              <a:ext cx="4869180" cy="1866900"/>
            </a:xfrm>
            <a:prstGeom prst="roundRect">
              <a:avLst>
                <a:gd name="adj" fmla="val 7142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7635164" y="607647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一条文法规则配一把模子，加一种句式就加一把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动机：字符串不会自己变成算式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抽象语法树：一棵树对应一个句子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895898" cy="308039"/>
            <a:chOff x="525399" y="1550194"/>
            <a:chExt cx="989589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8958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除了文法规则，还可以用抽象语法树直观表示语言的构成。句子“1 + 2 + 3 - 4 + 1”画出来是下面这棵树。</a:t>
              </a:r>
            </a:p>
          </p:txBody>
        </p:sp>
      </p:grpSp>
      <p:grpSp>
        <p:nvGrpSpPr>
          <p:cNvPr id="44" name="c1-graph-1"/>
          <p:cNvGrpSpPr/>
          <p:nvPr/>
        </p:nvGrpSpPr>
        <p:grpSpPr>
          <a:xfrm>
            <a:off x="650558" y="2119312"/>
            <a:ext cx="5872162" cy="4055459"/>
            <a:chOff x="650558" y="2119312"/>
            <a:chExt cx="5872162" cy="4055459"/>
          </a:xfrm>
        </p:grpSpPr>
        <p:sp>
          <p:nvSpPr>
            <p:cNvPr id="9" name="Freeform 9"/>
            <p:cNvSpPr/>
            <p:nvPr/>
          </p:nvSpPr>
          <p:spPr>
            <a:xfrm>
              <a:off x="3910965" y="2519362"/>
              <a:ext cx="768667" cy="522922"/>
            </a:xfrm>
            <a:custGeom>
              <a:avLst/>
              <a:gdLst/>
              <a:ahLst/>
              <a:cxnLst/>
              <a:rect l="l" t="t" r="r" b="b"/>
              <a:pathLst>
                <a:path w="768667" h="522922">
                  <a:moveTo>
                    <a:pt x="768667" y="0"/>
                  </a:moveTo>
                  <a:lnTo>
                    <a:pt x="0" y="5229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14938" y="2519362"/>
              <a:ext cx="628650" cy="522922"/>
            </a:xfrm>
            <a:custGeom>
              <a:avLst/>
              <a:gdLst/>
              <a:ahLst/>
              <a:cxnLst/>
              <a:rect l="l" t="t" r="r" b="b"/>
              <a:pathLst>
                <a:path w="628650" h="522922">
                  <a:moveTo>
                    <a:pt x="0" y="0"/>
                  </a:moveTo>
                  <a:lnTo>
                    <a:pt x="628650" y="5229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699385" y="3442335"/>
              <a:ext cx="663893" cy="522923"/>
            </a:xfrm>
            <a:custGeom>
              <a:avLst/>
              <a:gdLst/>
              <a:ahLst/>
              <a:cxnLst/>
              <a:rect l="l" t="t" r="r" b="b"/>
              <a:pathLst>
                <a:path w="663893" h="522923">
                  <a:moveTo>
                    <a:pt x="663893" y="0"/>
                  </a:moveTo>
                  <a:lnTo>
                    <a:pt x="0" y="5229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84295" y="3442335"/>
              <a:ext cx="699135" cy="522923"/>
            </a:xfrm>
            <a:custGeom>
              <a:avLst/>
              <a:gdLst/>
              <a:ahLst/>
              <a:cxnLst/>
              <a:rect l="l" t="t" r="r" b="b"/>
              <a:pathLst>
                <a:path w="699135" h="522923">
                  <a:moveTo>
                    <a:pt x="0" y="0"/>
                  </a:moveTo>
                  <a:lnTo>
                    <a:pt x="699135" y="5229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672590" y="4365308"/>
              <a:ext cx="559118" cy="522923"/>
            </a:xfrm>
            <a:custGeom>
              <a:avLst/>
              <a:gdLst/>
              <a:ahLst/>
              <a:cxnLst/>
              <a:rect l="l" t="t" r="r" b="b"/>
              <a:pathLst>
                <a:path w="559118" h="522923">
                  <a:moveTo>
                    <a:pt x="559118" y="0"/>
                  </a:moveTo>
                  <a:lnTo>
                    <a:pt x="0" y="5229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99385" y="4365308"/>
              <a:ext cx="663893" cy="522923"/>
            </a:xfrm>
            <a:custGeom>
              <a:avLst/>
              <a:gdLst/>
              <a:ahLst/>
              <a:cxnLst/>
              <a:rect l="l" t="t" r="r" b="b"/>
              <a:pathLst>
                <a:path w="663893" h="522923">
                  <a:moveTo>
                    <a:pt x="0" y="0"/>
                  </a:moveTo>
                  <a:lnTo>
                    <a:pt x="663893" y="5229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172528" y="5288280"/>
              <a:ext cx="201930" cy="479107"/>
            </a:xfrm>
            <a:custGeom>
              <a:avLst/>
              <a:gdLst/>
              <a:ahLst/>
              <a:cxnLst/>
              <a:rect l="l" t="t" r="r" b="b"/>
              <a:pathLst>
                <a:path w="201930" h="479107">
                  <a:moveTo>
                    <a:pt x="201930" y="0"/>
                  </a:moveTo>
                  <a:lnTo>
                    <a:pt x="0" y="4791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10690" y="5288280"/>
              <a:ext cx="605790" cy="479107"/>
            </a:xfrm>
            <a:custGeom>
              <a:avLst/>
              <a:gdLst/>
              <a:ahLst/>
              <a:cxnLst/>
              <a:rect l="l" t="t" r="r" b="b"/>
              <a:pathLst>
                <a:path w="605790" h="479107">
                  <a:moveTo>
                    <a:pt x="0" y="0"/>
                  </a:moveTo>
                  <a:lnTo>
                    <a:pt x="605790" y="4791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35805" y="2119312"/>
              <a:ext cx="876300" cy="400050"/>
            </a:xfrm>
            <a:prstGeom prst="roundRect">
              <a:avLst>
                <a:gd name="adj" fmla="val 2381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79445" y="3042285"/>
              <a:ext cx="876300" cy="400050"/>
            </a:xfrm>
            <a:prstGeom prst="roundRect">
              <a:avLst>
                <a:gd name="adj" fmla="val 2381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46420" y="3042285"/>
              <a:ext cx="8763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006918" y="3965258"/>
              <a:ext cx="876300" cy="400050"/>
            </a:xfrm>
            <a:prstGeom prst="roundRect">
              <a:avLst>
                <a:gd name="adj" fmla="val 2381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12932" y="3965258"/>
              <a:ext cx="8763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20128" y="4888230"/>
              <a:ext cx="876300" cy="400050"/>
            </a:xfrm>
            <a:prstGeom prst="roundRect">
              <a:avLst>
                <a:gd name="adj" fmla="val 2381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79445" y="4888230"/>
              <a:ext cx="8763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0558" y="5767388"/>
              <a:ext cx="8763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30742" y="5767388"/>
              <a:ext cx="8763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43471" y="2180749"/>
              <a:ext cx="660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30908" y="233600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87111" y="3103721"/>
              <a:ext cx="660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74548" y="32589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06462" y="3103721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41523" y="32589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14583" y="4026694"/>
              <a:ext cx="660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02020" y="418195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72975" y="4026694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08035" y="418195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7793" y="4949666"/>
              <a:ext cx="660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15230" y="51049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39487" y="4949666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74548" y="51049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0600" y="5828824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5660" y="59840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90785" y="5828824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25845" y="59840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58" name="c2-bullets-1"/>
          <p:cNvGrpSpPr/>
          <p:nvPr/>
        </p:nvGrpSpPr>
        <p:grpSpPr>
          <a:xfrm>
            <a:off x="6998018" y="1992630"/>
            <a:ext cx="4020480" cy="2103405"/>
            <a:chOff x="6998018" y="1992630"/>
            <a:chExt cx="4020480" cy="2103405"/>
          </a:xfrm>
        </p:grpSpPr>
        <p:sp>
          <p:nvSpPr>
            <p:cNvPr id="45" name="TextBox 45"/>
            <p:cNvSpPr txBox="1"/>
            <p:nvPr/>
          </p:nvSpPr>
          <p:spPr>
            <a:xfrm>
              <a:off x="6998018" y="1992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这棵树怎么看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011352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69468" y="234696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叶子结点全是终结符表达式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77088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61111" y="2639854"/>
              <a:ext cx="3657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五个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value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结点，对应句子里的 1、2、3、4、1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011352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69468" y="29498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非叶子结点全是非终结符表达式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77088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61111" y="3242786"/>
              <a:ext cx="2993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四个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operation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结点，各带一个运算符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011352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69468" y="3552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树的形状由结合性决定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177088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361111" y="384667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从左往右结合，所以树一路往左下长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7005638" y="4235768"/>
            <a:ext cx="4652962" cy="1621155"/>
            <a:chOff x="7005638" y="4235768"/>
            <a:chExt cx="4652962" cy="1621155"/>
          </a:xfrm>
        </p:grpSpPr>
        <p:sp>
          <p:nvSpPr>
            <p:cNvPr id="59" name="Rectangle 59"/>
            <p:cNvSpPr/>
            <p:nvPr/>
          </p:nvSpPr>
          <p:spPr>
            <a:xfrm>
              <a:off x="7005638" y="4235768"/>
              <a:ext cx="4652962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215188" y="4445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06348" y="4481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16215" y="448056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从树上读出要写哪些类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07568" y="4841558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每一条具体的句子都能画成这样一棵树。把树上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出现的结点种类数一遍，就知道这门语言需要几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个终结符类、几个非终结符类。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定义、结构与五个角色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类图只有五个框，难的是说清每条线为什么这么画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模式定义与四个术语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五个角色各管什么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一条规则对应一个类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定义、结构与五个角色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模式定义：定文法，建解释器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291715"/>
            <a:chOff x="533400" y="1524000"/>
            <a:chExt cx="5626418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551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解释器模式（Interpreter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定义一个语言的文法，并且建立一个解释器来解释该语言中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的句子。这里的“语言”指使用规定格式和语法的代码。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类行为型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它描述的是三件事：怎么为一门简单语言定义文法，怎么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在这门语言里表示一个句子，怎么解释这些句子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006215"/>
            <a:ext cx="5626418" cy="1754505"/>
            <a:chOff x="533400" y="4006215"/>
            <a:chExt cx="5626418" cy="1754505"/>
          </a:xfrm>
        </p:grpSpPr>
        <p:sp>
          <p:nvSpPr>
            <p:cNvPr id="18" name="Rectangle 18"/>
            <p:cNvSpPr/>
            <p:nvPr/>
          </p:nvSpPr>
          <p:spPr>
            <a:xfrm>
              <a:off x="533400" y="4006215"/>
              <a:ext cx="5626418" cy="1754505"/>
            </a:xfrm>
            <a:prstGeom prst="roundRect">
              <a:avLst>
                <a:gd name="adj" fmla="val 651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783455"/>
              <a:ext cx="200026" cy="200026"/>
              <a:chOff x="738188" y="4783455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7834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8501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48834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640580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和模板方法一样归在类行为型，因为职责是靠继承在编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译期分配到各个表达式类里的。</a:t>
              </a:r>
            </a:p>
          </p:txBody>
        </p:sp>
      </p:grpSp>
      <p:grpSp>
        <p:nvGrpSpPr>
          <p:cNvPr id="36" name="c2-kv-1"/>
          <p:cNvGrpSpPr/>
          <p:nvPr/>
        </p:nvGrpSpPr>
        <p:grpSpPr>
          <a:xfrm>
            <a:off x="6456998" y="1548765"/>
            <a:ext cx="5201602" cy="2459355"/>
            <a:chOff x="6456998" y="1548765"/>
            <a:chExt cx="5201602" cy="2459355"/>
          </a:xfrm>
        </p:grpSpPr>
        <p:sp>
          <p:nvSpPr>
            <p:cNvPr id="25" name="TextBox 25"/>
            <p:cNvSpPr txBox="1"/>
            <p:nvPr/>
          </p:nvSpPr>
          <p:spPr>
            <a:xfrm>
              <a:off x="6456998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语言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99960" y="1548765"/>
              <a:ext cx="4015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使用规定格式和语法的代码。不一定是编程语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言，一条控制指令、一行配置、一个正则表达式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64618" y="24326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56998" y="25527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文法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99960" y="25527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一组规则，说清这门语言里哪些句子是合法的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4618" y="28727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56998" y="2992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句子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9960" y="29927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符合文法的一串符号，对应一棵抽象语法树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33127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56998" y="34328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解释器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99960" y="3432810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按文法规则把句子的含义算出来的对象，一般一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个解释器对象负责一条文法规则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464618" y="4139565"/>
            <a:ext cx="5193982" cy="1621155"/>
            <a:chOff x="6464618" y="4139565"/>
            <a:chExt cx="5193982" cy="1621155"/>
          </a:xfrm>
        </p:grpSpPr>
        <p:sp>
          <p:nvSpPr>
            <p:cNvPr id="37" name="Rectangle 37"/>
            <p:cNvSpPr/>
            <p:nvPr/>
          </p:nvSpPr>
          <p:spPr>
            <a:xfrm>
              <a:off x="6464618" y="4139565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427291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12268" y="434911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90626" y="43848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学它的收获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40015" y="438435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使用频率低，但值得学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4648" y="474535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真正需要自己造一门语言的场合不多，所以这是一个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使用频率相对较低、学习难度却偏大的模式。学它的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价值在于看清文法规则是怎么被解释的。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定义、结构与五个角色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标准类图：四个角色加一个客户类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61432" cy="308039"/>
            <a:chOff x="525399" y="1550194"/>
            <a:chExt cx="686143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614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五个框里只有抽象表达式是必须有的，Context 在文法简单时可以省掉。</a:t>
              </a:r>
            </a:p>
          </p:txBody>
        </p:sp>
      </p:grpSp>
      <p:grpSp>
        <p:nvGrpSpPr>
          <p:cNvPr id="51" name="c1-uml-1"/>
          <p:cNvGrpSpPr/>
          <p:nvPr/>
        </p:nvGrpSpPr>
        <p:grpSpPr>
          <a:xfrm>
            <a:off x="692468" y="2218372"/>
            <a:ext cx="5755956" cy="3388044"/>
            <a:chOff x="692468" y="2218372"/>
            <a:chExt cx="5755956" cy="3388044"/>
          </a:xfrm>
        </p:grpSpPr>
        <p:sp>
          <p:nvSpPr>
            <p:cNvPr id="9" name="Freeform 9"/>
            <p:cNvSpPr/>
            <p:nvPr/>
          </p:nvSpPr>
          <p:spPr>
            <a:xfrm>
              <a:off x="1543050" y="3013710"/>
              <a:ext cx="4039552" cy="676275"/>
            </a:xfrm>
            <a:custGeom>
              <a:avLst/>
              <a:gdLst/>
              <a:ahLst/>
              <a:cxnLst/>
              <a:rect l="l" t="t" r="r" b="b"/>
              <a:pathLst>
                <a:path w="4039552" h="676275">
                  <a:moveTo>
                    <a:pt x="0" y="676275"/>
                  </a:moveTo>
                  <a:lnTo>
                    <a:pt x="0" y="338138"/>
                  </a:lnTo>
                  <a:lnTo>
                    <a:pt x="4039552" y="338138"/>
                  </a:lnTo>
                  <a:lnTo>
                    <a:pt x="40395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525452" y="3013710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115253" y="104775"/>
                  </a:moveTo>
                  <a:lnTo>
                    <a:pt x="5715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114550" y="3911918"/>
              <a:ext cx="597217" cy="9525"/>
            </a:xfrm>
            <a:custGeom>
              <a:avLst/>
              <a:gdLst/>
              <a:ahLst/>
              <a:cxnLst/>
              <a:rect l="l" t="t" r="r" b="b"/>
              <a:pathLst>
                <a:path w="597217" h="9525">
                  <a:moveTo>
                    <a:pt x="0" y="0"/>
                  </a:moveTo>
                  <a:lnTo>
                    <a:pt x="597217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06992" y="385476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43050" y="4348162"/>
              <a:ext cx="1925003" cy="550545"/>
            </a:xfrm>
            <a:custGeom>
              <a:avLst/>
              <a:gdLst/>
              <a:ahLst/>
              <a:cxnLst/>
              <a:rect l="l" t="t" r="r" b="b"/>
              <a:pathLst>
                <a:path w="1925003" h="550545">
                  <a:moveTo>
                    <a:pt x="0" y="550545"/>
                  </a:moveTo>
                  <a:lnTo>
                    <a:pt x="0" y="212408"/>
                  </a:lnTo>
                  <a:lnTo>
                    <a:pt x="1925003" y="212408"/>
                  </a:lnTo>
                  <a:lnTo>
                    <a:pt x="192500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94710" y="42224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658552" y="4348162"/>
              <a:ext cx="2019300" cy="462915"/>
            </a:xfrm>
            <a:custGeom>
              <a:avLst/>
              <a:gdLst/>
              <a:ahLst/>
              <a:cxnLst/>
              <a:rect l="l" t="t" r="r" b="b"/>
              <a:pathLst>
                <a:path w="2019300" h="462915">
                  <a:moveTo>
                    <a:pt x="2019300" y="462915"/>
                  </a:moveTo>
                  <a:lnTo>
                    <a:pt x="2019300" y="168592"/>
                  </a:lnTo>
                  <a:lnTo>
                    <a:pt x="0" y="16859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85210" y="422243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563302" y="3335655"/>
              <a:ext cx="1924050" cy="1265873"/>
            </a:xfrm>
            <a:custGeom>
              <a:avLst/>
              <a:gdLst/>
              <a:ahLst/>
              <a:cxnLst/>
              <a:rect l="l" t="t" r="r" b="b"/>
              <a:pathLst>
                <a:path w="1924050" h="1265873">
                  <a:moveTo>
                    <a:pt x="0" y="266700"/>
                  </a:moveTo>
                  <a:lnTo>
                    <a:pt x="0" y="0"/>
                  </a:lnTo>
                  <a:lnTo>
                    <a:pt x="1924050" y="0"/>
                  </a:lnTo>
                  <a:lnTo>
                    <a:pt x="1924050" y="126587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430202" y="4601528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5253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84420" y="2218372"/>
              <a:ext cx="1397318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891088" y="2225040"/>
              <a:ext cx="138303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84420" y="2466975"/>
              <a:ext cx="13973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84420" y="2562225"/>
              <a:ext cx="13973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71550" y="368998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79170" y="369760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71550" y="39385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71550" y="40338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711768" y="3602355"/>
              <a:ext cx="1702118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719388" y="3609975"/>
              <a:ext cx="1687830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711768" y="3850958"/>
              <a:ext cx="1702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711768" y="3946208"/>
              <a:ext cx="1702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2468" y="4898708"/>
              <a:ext cx="1702118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9135" y="4906328"/>
              <a:ext cx="168783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2468" y="5147310"/>
              <a:ext cx="1702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2468" y="5242560"/>
              <a:ext cx="17021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717732" y="4811078"/>
              <a:ext cx="1730692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724400" y="4818698"/>
              <a:ext cx="171640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717732" y="5059680"/>
              <a:ext cx="173069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717732" y="5331142"/>
              <a:ext cx="173069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9253" y="2278380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55667" y="2633186"/>
              <a:ext cx="1254506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lookup(key)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assign(key, value)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27970" y="3749993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37345" y="3662362"/>
              <a:ext cx="1451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AbstractExpression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83014" y="4017169"/>
              <a:ext cx="16572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interpret(Context ctx)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9495" y="4958715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TerminalExpression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3715" y="5313521"/>
              <a:ext cx="16572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interpret(Context ctx)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56566" y="4871085"/>
              <a:ext cx="1652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NonterminalExpression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88980" y="5130641"/>
              <a:ext cx="6365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children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88980" y="5402104"/>
              <a:ext cx="16572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interpret(Context ctx)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211002" y="3119438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237292" y="31461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子表达式</a:t>
              </a:r>
            </a:p>
          </p:txBody>
        </p:sp>
      </p:grpSp>
      <p:grpSp>
        <p:nvGrpSpPr>
          <p:cNvPr id="65" name="c2-bullets-1"/>
          <p:cNvGrpSpPr/>
          <p:nvPr/>
        </p:nvGrpSpPr>
        <p:grpSpPr>
          <a:xfrm>
            <a:off x="6890385" y="1992630"/>
            <a:ext cx="4500297" cy="2103405"/>
            <a:chOff x="6890385" y="1992630"/>
            <a:chExt cx="4500297" cy="2103405"/>
          </a:xfrm>
        </p:grpSpPr>
        <p:sp>
          <p:nvSpPr>
            <p:cNvPr id="52" name="TextBox 52"/>
            <p:cNvSpPr txBox="1"/>
            <p:nvPr/>
          </p:nvSpPr>
          <p:spPr>
            <a:xfrm>
              <a:off x="6890385" y="19926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三处要看清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03720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61835" y="234696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两个子类的方法签名完全一样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069455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53478" y="2639854"/>
              <a:ext cx="41372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都是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interpret(Context ctx)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，客户端才能一视同仁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903720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61835" y="29498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非终结符到抽象表达式是聚合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69455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53478" y="324278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空心菱形画在非终结符一端，它持有若干个子表达式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903720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61835" y="35528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聚合的目标是抽象类而不是具体类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069455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53478" y="384667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子表达式可以是终结符，也可以是另一个非终结符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898005" y="4235768"/>
            <a:ext cx="4760595" cy="1621155"/>
            <a:chOff x="6898005" y="4235768"/>
            <a:chExt cx="4760595" cy="1621155"/>
          </a:xfrm>
        </p:grpSpPr>
        <p:sp>
          <p:nvSpPr>
            <p:cNvPr id="66" name="Rectangle 66"/>
            <p:cNvSpPr/>
            <p:nvPr/>
          </p:nvSpPr>
          <p:spPr>
            <a:xfrm>
              <a:off x="6898005" y="4235768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107555" y="4445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97763" y="4481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07630" y="448056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这张图就是一棵组合结构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99935" y="4841558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非终结符表达式既继承抽象表达式，又聚合抽象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表达式。这两条线加在一起，才让表达式对象能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一层层套下去，拼出任意深的语法树。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定义、结构与五个角色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111740" cy="293370"/>
            <a:chOff x="525780" y="1548765"/>
            <a:chExt cx="101117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111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考题里给一段代码判断角色，看的就是下面这五条。一条文法规则对应一个表达式类，这是划分角色的唯一依据。</a:t>
              </a:r>
            </a:p>
          </p:txBody>
        </p:sp>
      </p:grpSp>
      <p:grpSp>
        <p:nvGrpSpPr>
          <p:cNvPr id="23" name="c1-kv-1"/>
          <p:cNvGrpSpPr/>
          <p:nvPr/>
        </p:nvGrpSpPr>
        <p:grpSpPr>
          <a:xfrm>
            <a:off x="526161" y="1977866"/>
            <a:ext cx="11132439" cy="2233232"/>
            <a:chOff x="526161" y="1977866"/>
            <a:chExt cx="11132439" cy="2233232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抽象表达式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9214" y="1977866"/>
              <a:ext cx="93451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AbstractExpression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。声明抽象的解释操作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interpret()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，是所有终结符表达式和非终结符表达式的公共父类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84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161" y="239982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终结符表达式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9214" y="2399824"/>
              <a:ext cx="90771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TerminalExpression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。实现与文法中终结符相关联的解释操作。句子里每出现一个终结符就是它的一个实例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051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161" y="282178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非终结符表达式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9214" y="2821781"/>
              <a:ext cx="90314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NonterminalExpression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。实现文法中非终结符的解释操作。里面可以装终结符，也可以继续装非终结符，解释操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作一般是递归的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3947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351043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环境类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9214" y="3510439"/>
              <a:ext cx="80204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Context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，又称上下文类。存储解释器之外的全局信息，通常临时存放待解释的语句和变量取值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8166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161" y="393239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客户类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89214" y="3932396"/>
              <a:ext cx="82931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。把符合文法的表达式转换成抽象语法树，再调用解释操作。建树也可以封装到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Context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</a:t>
              </a:r>
            </a:p>
          </p:txBody>
        </p:sp>
      </p:grpSp>
      <p:grpSp>
        <p:nvGrpSpPr>
          <p:cNvPr id="45" name="c1-table-2"/>
          <p:cNvGrpSpPr/>
          <p:nvPr/>
        </p:nvGrpSpPr>
        <p:grpSpPr>
          <a:xfrm>
            <a:off x="527685" y="4340542"/>
            <a:ext cx="11130915" cy="2015967"/>
            <a:chOff x="527685" y="4340542"/>
            <a:chExt cx="11130915" cy="2015967"/>
          </a:xfrm>
        </p:grpSpPr>
        <p:sp>
          <p:nvSpPr>
            <p:cNvPr id="24" name="Rectangle 24"/>
            <p:cNvSpPr/>
            <p:nvPr/>
          </p:nvSpPr>
          <p:spPr>
            <a:xfrm>
              <a:off x="533400" y="4340542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89722" y="44719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08323" y="447198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标准类图里的类名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05597" y="447198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数学运算解释器里对应谁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8746" y="49015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抽象表达式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86672" y="4901565"/>
              <a:ext cx="1580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AbstractExpression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46164" y="4901565"/>
              <a:ext cx="744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接口 </a:t>
              </a:r>
              <a:r>
                <a:rPr lang="en-US" sz="12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Node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1958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5200650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533209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终结符表达式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86672" y="5332095"/>
              <a:ext cx="1532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TerminalExpression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46164" y="5332095"/>
              <a:ext cx="780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ValueNode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6264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8746" y="57626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非终结符表达式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86672" y="5762625"/>
              <a:ext cx="17987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NonterminalExpression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50342" y="5640705"/>
              <a:ext cx="509873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46164" y="5762625"/>
              <a:ext cx="2214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MulNode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DivNode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ModNode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340542"/>
              <a:ext cx="11125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976562" y="434054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536055" y="434054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6136481"/>
              <a:ext cx="4848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环境类对应 Calculator（它同时负责建树），客户类就是那个 main 方法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定义、结构与五个角色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陈伟老师的例子：正则表达式的四条规则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852054" cy="278702"/>
            <a:chOff x="526161" y="1547336"/>
            <a:chExt cx="785205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852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一个简化的正则表达式语言有五条规则，其中四条各自变成一个类，第五条括号只影响建树。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4869180" cy="1829752"/>
            <a:chOff x="533400" y="1941195"/>
            <a:chExt cx="4869180" cy="182975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86918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正则表达式的文法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2724341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expr        ::= literal | alternation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| sequence | repetition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|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expr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alternation ::= expr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'|'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expr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sequence    ::= expr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'&amp;'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expr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repetition  ::= expr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'*'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literal     ::=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'b'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'c'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| ...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946208"/>
            <a:ext cx="4869180" cy="1535430"/>
            <a:chOff x="533400" y="3946208"/>
            <a:chExt cx="4869180" cy="1535430"/>
          </a:xfrm>
        </p:grpSpPr>
        <p:sp>
          <p:nvSpPr>
            <p:cNvPr id="13" name="Rectangle 13"/>
            <p:cNvSpPr/>
            <p:nvPr/>
          </p:nvSpPr>
          <p:spPr>
            <a:xfrm>
              <a:off x="533400" y="3946208"/>
              <a:ext cx="4869180" cy="1535430"/>
            </a:xfrm>
            <a:prstGeom prst="roundRect">
              <a:avLst>
                <a:gd name="adj" fmla="val 86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079558"/>
              <a:ext cx="47625" cy="12687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413861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" y="41729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7597" y="4178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源课件类图里的两处问题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3905" y="450056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583" y="45389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4702" y="4512945"/>
              <a:ext cx="4160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类名写作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ReeetitonExpr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，应为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RepetitionExpr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3905" y="480250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9583" y="484184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4702" y="4814887"/>
              <a:ext cx="3697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属性画在了操作下方，UML 规范是属性在上。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8190" y="5113496"/>
              <a:ext cx="3610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literal 规则跳过了 c、d，GoF 原例是 'a' | 'b' | 'c'</a:t>
              </a:r>
            </a:p>
          </p:txBody>
        </p:sp>
      </p:grpSp>
      <p:grpSp>
        <p:nvGrpSpPr>
          <p:cNvPr id="70" name="c2-uml-1"/>
          <p:cNvGrpSpPr/>
          <p:nvPr/>
        </p:nvGrpSpPr>
        <p:grpSpPr>
          <a:xfrm>
            <a:off x="6127432" y="2237422"/>
            <a:ext cx="5377816" cy="3110865"/>
            <a:chOff x="6127432" y="2237422"/>
            <a:chExt cx="5377816" cy="3110865"/>
          </a:xfrm>
        </p:grpSpPr>
        <p:sp>
          <p:nvSpPr>
            <p:cNvPr id="26" name="Freeform 26"/>
            <p:cNvSpPr/>
            <p:nvPr/>
          </p:nvSpPr>
          <p:spPr>
            <a:xfrm>
              <a:off x="6698932" y="2951798"/>
              <a:ext cx="1698308" cy="384810"/>
            </a:xfrm>
            <a:custGeom>
              <a:avLst/>
              <a:gdLst/>
              <a:ahLst/>
              <a:cxnLst/>
              <a:rect l="l" t="t" r="r" b="b"/>
              <a:pathLst>
                <a:path w="1698308" h="384810">
                  <a:moveTo>
                    <a:pt x="0" y="384810"/>
                  </a:moveTo>
                  <a:lnTo>
                    <a:pt x="0" y="129540"/>
                  </a:lnTo>
                  <a:lnTo>
                    <a:pt x="1698308" y="129540"/>
                  </a:lnTo>
                  <a:lnTo>
                    <a:pt x="169830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323898" y="28260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68740" y="2951798"/>
              <a:ext cx="1698308" cy="303848"/>
            </a:xfrm>
            <a:custGeom>
              <a:avLst/>
              <a:gdLst/>
              <a:ahLst/>
              <a:cxnLst/>
              <a:rect l="l" t="t" r="r" b="b"/>
              <a:pathLst>
                <a:path w="1698308" h="303848">
                  <a:moveTo>
                    <a:pt x="1698308" y="303848"/>
                  </a:moveTo>
                  <a:lnTo>
                    <a:pt x="1698308" y="88583"/>
                  </a:lnTo>
                  <a:lnTo>
                    <a:pt x="0" y="8858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895398" y="28260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698932" y="2951798"/>
              <a:ext cx="1888808" cy="1564958"/>
            </a:xfrm>
            <a:custGeom>
              <a:avLst/>
              <a:gdLst/>
              <a:ahLst/>
              <a:cxnLst/>
              <a:rect l="l" t="t" r="r" b="b"/>
              <a:pathLst>
                <a:path w="1888808" h="1564958">
                  <a:moveTo>
                    <a:pt x="0" y="1564958"/>
                  </a:moveTo>
                  <a:lnTo>
                    <a:pt x="0" y="719138"/>
                  </a:lnTo>
                  <a:lnTo>
                    <a:pt x="1888808" y="719138"/>
                  </a:lnTo>
                  <a:lnTo>
                    <a:pt x="188880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514398" y="28260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778240" y="2951798"/>
              <a:ext cx="1888808" cy="1483995"/>
            </a:xfrm>
            <a:custGeom>
              <a:avLst/>
              <a:gdLst/>
              <a:ahLst/>
              <a:cxnLst/>
              <a:rect l="l" t="t" r="r" b="b"/>
              <a:pathLst>
                <a:path w="1888808" h="1483995">
                  <a:moveTo>
                    <a:pt x="1888808" y="1483995"/>
                  </a:moveTo>
                  <a:lnTo>
                    <a:pt x="1888808" y="679133"/>
                  </a:lnTo>
                  <a:lnTo>
                    <a:pt x="0" y="67913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704898" y="28260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254490" y="2531745"/>
              <a:ext cx="2250758" cy="1180147"/>
            </a:xfrm>
            <a:custGeom>
              <a:avLst/>
              <a:gdLst/>
              <a:ahLst/>
              <a:cxnLst/>
              <a:rect l="l" t="t" r="r" b="b"/>
              <a:pathLst>
                <a:path w="2250758" h="1180147">
                  <a:moveTo>
                    <a:pt x="0" y="0"/>
                  </a:moveTo>
                  <a:lnTo>
                    <a:pt x="2250758" y="0"/>
                  </a:lnTo>
                  <a:lnTo>
                    <a:pt x="2250758" y="1180147"/>
                  </a:lnTo>
                  <a:lnTo>
                    <a:pt x="2193608" y="1180147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1238548" y="3653790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111490" y="223742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19110" y="2245042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11490" y="24679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11490" y="25631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27432" y="3336608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35052" y="334422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127432" y="35671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27432" y="38242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095548" y="3255645"/>
              <a:ext cx="114300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102215" y="326231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095548" y="34861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095548" y="39062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27432" y="4516755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35052" y="452342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127432" y="47472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127432" y="50044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065068" y="4435792"/>
              <a:ext cx="1203008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72688" y="4442460"/>
              <a:ext cx="118872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65068" y="4666298"/>
              <a:ext cx="120300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065068" y="5086350"/>
              <a:ext cx="120300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23504" y="229314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Expr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82928" y="2632710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05619" y="3392329"/>
              <a:ext cx="7866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LiteralExpr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98870" y="3636645"/>
              <a:ext cx="4880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literal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98870" y="3893820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00653" y="3311366"/>
              <a:ext cx="932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SequenceExpr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166985" y="3555682"/>
              <a:ext cx="42100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expr1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expr2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66985" y="397573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91261" y="4572476"/>
              <a:ext cx="10153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RepetitionExpr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98870" y="4816792"/>
              <a:ext cx="3790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rept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98870" y="5073967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21263" y="4491514"/>
              <a:ext cx="1091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AlternationExpr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36505" y="4735830"/>
              <a:ext cx="45529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alter1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alter2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136505" y="5155882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1" name="Rectangle 7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3610"/>
              <a:ext cx="6635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LiteralExpr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是唯一的终结符类，另外三个都聚合了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Expr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，所以都是非终结符类。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定义、结构与五个角色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环境类装什么，模式的边界在哪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99531" cy="308039"/>
            <a:chOff x="525399" y="1550194"/>
            <a:chExt cx="749953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995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Context 会被传给树上所有的解释器对象，它是这些对象之间唯一的公共通道。</a:t>
              </a:r>
            </a:p>
          </p:txBody>
        </p:sp>
      </p:grpSp>
      <p:grpSp>
        <p:nvGrpSpPr>
          <p:cNvPr id="25" name="c1-bullets-1"/>
          <p:cNvGrpSpPr/>
          <p:nvPr/>
        </p:nvGrpSpPr>
        <p:grpSpPr>
          <a:xfrm>
            <a:off x="525780" y="1992630"/>
            <a:ext cx="4304106" cy="2103405"/>
            <a:chOff x="525780" y="1992630"/>
            <a:chExt cx="4304106" cy="210340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环境类的三个用处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336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375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34696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存放解释器之间要传的状态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42010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" y="26398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前面的解释器写进去，后面的解释器读出来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2936558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5249" y="297884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4390" y="29498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带进解释器外部的数据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26033" y="324278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变量名到值的映射、全局配置、待解释的原始语句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53949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249" y="35817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4390" y="35528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提供所有解释器共用的功能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42010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6033" y="384667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靠对象组合拿到公共功能，不必让表达式类去继承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235768"/>
            <a:ext cx="5410200" cy="1499235"/>
            <a:chOff x="533400" y="4235768"/>
            <a:chExt cx="5410200" cy="1499235"/>
          </a:xfrm>
        </p:grpSpPr>
        <p:sp>
          <p:nvSpPr>
            <p:cNvPr id="26" name="Rectangle 26"/>
            <p:cNvSpPr/>
            <p:nvPr/>
          </p:nvSpPr>
          <p:spPr>
            <a:xfrm>
              <a:off x="533400" y="4235768"/>
              <a:ext cx="5410200" cy="1499235"/>
            </a:xfrm>
            <a:prstGeom prst="roundRect">
              <a:avLst>
                <a:gd name="adj" fmla="val 762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885373"/>
              <a:ext cx="200026" cy="200025"/>
              <a:chOff x="738188" y="4885373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885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4929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040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742498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文法很简单时环境类可以省掉，或者直接拿一个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HashMap 当环境类用。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967865"/>
            <a:ext cx="5410200" cy="1956435"/>
            <a:chOff x="6248400" y="1967865"/>
            <a:chExt cx="5410200" cy="1956435"/>
          </a:xfrm>
        </p:grpSpPr>
        <p:sp>
          <p:nvSpPr>
            <p:cNvPr id="33" name="Rectangle 33"/>
            <p:cNvSpPr/>
            <p:nvPr/>
          </p:nvSpPr>
          <p:spPr>
            <a:xfrm>
              <a:off x="6248400" y="1967865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210121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2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边界一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39000" y="221265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建树不算在模式里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25736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模式只负责解释已经建好的语法树。把字符串拆成记号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再拼成树，是客户端或环境类的活。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8430" y="319468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文法一复杂，建树的工作量会远远超过写解释器本身，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这时就不该再用这个模式。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4114800"/>
            <a:ext cx="5410200" cy="1621155"/>
            <a:chOff x="6248400" y="4114800"/>
            <a:chExt cx="5410200" cy="1621155"/>
          </a:xfrm>
        </p:grpSpPr>
        <p:sp>
          <p:nvSpPr>
            <p:cNvPr id="41" name="Rectangle 41"/>
            <p:cNvSpPr/>
            <p:nvPr/>
          </p:nvSpPr>
          <p:spPr>
            <a:xfrm>
              <a:off x="6248400" y="41148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42481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6050" y="43243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82308" y="43600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9000" y="43595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一条规则可以有多个解释器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8430" y="47205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一般一个解释器对象处理一条文法规则，但反过来不成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立。同一条规则可以有多种解释，例如求值、打印源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码、做类型检查，各写一个解释器对象。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代码实现：四个类的标准写法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先把骨架写熟，换成具体文法时只是改类名和合并方式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抽象表达式与终结符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非终结符与递归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客户端建树与调用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代码实现：四个类的标准写法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代码一：抽象表达式、终结符表达式与环境类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74511" cy="264033"/>
            <a:chOff x="526542" y="1545907"/>
            <a:chExt cx="637451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三个类里只有环境类有实际内容，另外两个是骨架，换成具体文法时再往里填。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6276022" cy="4374832"/>
            <a:chOff x="533400" y="1928812"/>
            <a:chExt cx="6276022" cy="43748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5167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AbstractExpression / TerminalExpression / Context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65557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534728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4117086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抽象表达式：终结符与非终结符的公共父类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AbstractExpression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interpret(Context ctx);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终结符表达式：处理不能再分解的语言单位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TerminalExpression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AbstractExpression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interpret(Context ctx)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直接给出解释结果，不再往下调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环境类：存放解释器之外的全局信息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Context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Map&lt;String, String&gt; map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assign(String key, String value)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map.put(key, value);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lookup(String key)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map.get(key);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7114222" y="1928812"/>
            <a:ext cx="4544378" cy="1202055"/>
            <a:chOff x="7114222" y="1928812"/>
            <a:chExt cx="4544378" cy="1202055"/>
          </a:xfrm>
        </p:grpSpPr>
        <p:sp>
          <p:nvSpPr>
            <p:cNvPr id="15" name="Rectangle 15"/>
            <p:cNvSpPr/>
            <p:nvPr/>
          </p:nvSpPr>
          <p:spPr>
            <a:xfrm>
              <a:off x="7114222" y="1928812"/>
              <a:ext cx="4544378" cy="1202055"/>
            </a:xfrm>
            <a:prstGeom prst="roundRect">
              <a:avLst>
                <a:gd name="adj" fmla="val 110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00912" y="21155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81430" y="21483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骨架的关键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39887" y="21507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抽象类里只留一个方法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4054" y="2476500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interpret()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的参数固定是环境类。返回值按文法需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要改，求值类的文法一般返回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int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double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7114222" y="3301365"/>
            <a:ext cx="4544378" cy="1459230"/>
            <a:chOff x="7114222" y="3301365"/>
            <a:chExt cx="4544378" cy="1459230"/>
          </a:xfrm>
        </p:grpSpPr>
        <p:sp>
          <p:nvSpPr>
            <p:cNvPr id="21" name="Rectangle 21"/>
            <p:cNvSpPr/>
            <p:nvPr/>
          </p:nvSpPr>
          <p:spPr>
            <a:xfrm>
              <a:off x="7114222" y="3301365"/>
              <a:ext cx="4544378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23748" y="343471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339012" y="34880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30732" y="35209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04607" y="35223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环境类的集合要带泛型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32154" y="3849052"/>
              <a:ext cx="39827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源课件写的是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 HashMap map = new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HashMap();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，用的是原始类型，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lookup()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取出来还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得强制转换。本讲改写成带泛型的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Map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4" name="c2-callout-3"/>
          <p:cNvGrpSpPr/>
          <p:nvPr/>
        </p:nvGrpSpPr>
        <p:grpSpPr>
          <a:xfrm>
            <a:off x="7114222" y="4930140"/>
            <a:ext cx="4544378" cy="1372552"/>
            <a:chOff x="7114222" y="4930140"/>
            <a:chExt cx="4544378" cy="1372552"/>
          </a:xfrm>
        </p:grpSpPr>
        <p:sp>
          <p:nvSpPr>
            <p:cNvPr id="28" name="Rectangle 28"/>
            <p:cNvSpPr/>
            <p:nvPr/>
          </p:nvSpPr>
          <p:spPr>
            <a:xfrm>
              <a:off x="7114222" y="4930140"/>
              <a:ext cx="4544378" cy="1372552"/>
            </a:xfrm>
            <a:prstGeom prst="roundRect">
              <a:avLst>
                <a:gd name="adj" fmla="val 832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06952" y="5513188"/>
              <a:ext cx="224134" cy="192560"/>
              <a:chOff x="7306952" y="5513188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419023" y="5583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06952" y="5513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419023" y="5661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621714" y="5397818"/>
              <a:ext cx="36055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Context 用到 java.util 下的两个类型，实际文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件里要补 import 语句。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代码实现：四个类的标准写法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代码二：非终结符表达式为什么一定是递归的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非终结符持有若干子表达式，解释自己之前得先让子表达式把结果解释出来。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67865"/>
            <a:ext cx="6167438" cy="4153852"/>
            <a:chOff x="533400" y="1967865"/>
            <a:chExt cx="6167438" cy="415385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167438" cy="4153852"/>
            </a:xfrm>
            <a:prstGeom prst="roundRect">
              <a:avLst>
                <a:gd name="adj" fmla="val 22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5418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NonterminalExpression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976812"/>
              <a:ext cx="612933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179695"/>
              <a:ext cx="612933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035" y="2381726"/>
              <a:ext cx="4940046" cy="3669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非终结符表达式：持有子表达式，解释操作递归下去 */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NonterminalExpression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AbstractExpression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AbstractExpression left;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左子表达式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AbstractExpression right;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右子表达式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NonterminalExpression(AbstractExpression left,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    AbstractExpression right)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.left = left;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.right = right;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interpret(Context ctx)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left.interpret(ctx);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先解释左边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right.interpret(ctx);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再解释右边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两个结果怎么合并，由本类代表的那条规则决定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2-image-1"/>
          <p:cNvGrpSpPr/>
          <p:nvPr/>
        </p:nvGrpSpPr>
        <p:grpSpPr>
          <a:xfrm>
            <a:off x="7005638" y="1967865"/>
            <a:ext cx="4652962" cy="2086452"/>
            <a:chOff x="7005638" y="1967865"/>
            <a:chExt cx="4652962" cy="2086452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rcRect l="0" t="24616" r="0" b="24616"/>
            <a:stretch>
              <a:fillRect/>
            </a:stretch>
          </p:blipFill>
          <p:spPr>
            <a:xfrm>
              <a:off x="7005638" y="1967865"/>
              <a:ext cx="4652962" cy="1771650"/>
            </a:xfrm>
            <a:prstGeom prst="roundRect">
              <a:avLst>
                <a:gd name="adj" fmla="val 7526"/>
              </a:avLst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442200" y="3834289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一层层打开，最里面那个不再套别人，递归就在那里停下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7005638" y="4219575"/>
            <a:ext cx="4652962" cy="1906905"/>
            <a:chOff x="7005638" y="4219575"/>
            <a:chExt cx="4652962" cy="1906905"/>
          </a:xfrm>
        </p:grpSpPr>
        <p:sp>
          <p:nvSpPr>
            <p:cNvPr id="18" name="Rectangle 18"/>
            <p:cNvSpPr/>
            <p:nvPr/>
          </p:nvSpPr>
          <p:spPr>
            <a:xfrm>
              <a:off x="7005638" y="4219575"/>
              <a:ext cx="4652962" cy="1906905"/>
            </a:xfrm>
            <a:prstGeom prst="roundRect">
              <a:avLst>
                <a:gd name="adj" fmla="val 699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15188" y="442912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93546" y="44648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递归的终点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2935" y="446436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递归一定停在终结符上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07568" y="4825365"/>
              <a:ext cx="4015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子表达式的静态类型是抽象表达式，运行时可能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是另一个非终结符，也可能是终结符。只要句子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合法，往下走总会走到终结符，那里不再往下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调，递归就结束了。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代码实现：四个类的标准写法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客户端做三件事：建环境、建树、调根结点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087413" cy="278702"/>
            <a:chOff x="526161" y="1547336"/>
            <a:chExt cx="708741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客户端把文法规则落实成一棵具体的对象树，之后只需要对树根说一句 interpret。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41195"/>
            <a:ext cx="5951220" cy="2966085"/>
            <a:chOff x="533400" y="1941195"/>
            <a:chExt cx="5951220" cy="296608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951220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208145"/>
              <a:ext cx="591312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54580"/>
              <a:ext cx="4677918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Context ctx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Context();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ctx.assign(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"10"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1. 准备环境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AbstractExpression a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TerminalExpression();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AbstractExpression b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TerminalExpression();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AbstractExpression root =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NonterminalExpression(a, b);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2. 建树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root.interpret(ctx);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3. 从根结点开始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5082540"/>
            <a:ext cx="5951220" cy="1226820"/>
            <a:chOff x="533400" y="5082540"/>
            <a:chExt cx="5951220" cy="1226820"/>
          </a:xfrm>
        </p:grpSpPr>
        <p:sp>
          <p:nvSpPr>
            <p:cNvPr id="14" name="Rectangle 14"/>
            <p:cNvSpPr/>
            <p:nvPr/>
          </p:nvSpPr>
          <p:spPr>
            <a:xfrm>
              <a:off x="533400" y="5082540"/>
              <a:ext cx="595122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521589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52749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5309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7597" y="53149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这里的建树是手写死的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5648325"/>
              <a:ext cx="523436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骨架代码直接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出两个终结符再包一层，真实程序里这一段要按用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户输入的字符串来建，写法见第四部分的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Calculator.build()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6789420" y="1950720"/>
            <a:ext cx="3809700" cy="2280762"/>
            <a:chOff x="6789420" y="1950720"/>
            <a:chExt cx="3809700" cy="2280762"/>
          </a:xfrm>
        </p:grpSpPr>
        <p:sp>
          <p:nvSpPr>
            <p:cNvPr id="21" name="Rectangle 21"/>
            <p:cNvSpPr/>
            <p:nvPr/>
          </p:nvSpPr>
          <p:spPr>
            <a:xfrm>
              <a:off x="6922770" y="2093595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789420" y="195072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304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789420" y="253841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8304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789420" y="312515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8304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789420" y="37118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83044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1662" y="19831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准备环境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02805" y="2250281"/>
              <a:ext cx="27530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把变量取值、待解释的语句放进 Context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1662" y="256984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按文法建树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2805" y="2837021"/>
              <a:ext cx="3396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叶子先 new 出来，再往上一层层包成非终结符对象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1662" y="315658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调根结点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2805" y="342471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只对根结点调一次 interpret()，其余全靠递归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01662" y="37433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取结果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02805" y="401145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结果从叶子逐层往上返回，或者写回环境类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789420" y="4400550"/>
            <a:ext cx="4869180" cy="1908810"/>
            <a:chOff x="6789420" y="4400550"/>
            <a:chExt cx="4869180" cy="1908810"/>
          </a:xfrm>
        </p:grpSpPr>
        <p:sp>
          <p:nvSpPr>
            <p:cNvPr id="39" name="Rectangle 39"/>
            <p:cNvSpPr/>
            <p:nvPr/>
          </p:nvSpPr>
          <p:spPr>
            <a:xfrm>
              <a:off x="6789420" y="4400550"/>
              <a:ext cx="4869180" cy="1908810"/>
            </a:xfrm>
            <a:prstGeom prst="roundRect">
              <a:avLst>
                <a:gd name="adj" fmla="val 6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98945" y="4533900"/>
              <a:ext cx="47625" cy="16421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19925" y="45929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11365" y="46272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03617" y="463200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建树的顺序和求值顺序相反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13067" y="496633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建树是从叶子往上包，求值是从根往下递归。考题里常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把这两个方向混在一起问。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2160" cy="3351847"/>
            <a:chOff x="667512" y="1835468"/>
            <a:chExt cx="58521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完整实例：数学运算解释器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输入“3 * 4 / 2 % 4”，输出 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需求与文法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类图与语法树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六个类的完整代码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递归求值的调用顺序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完整实例：数学运算解释器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实例需求：能算整数的乘、除、求模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13932" cy="278702"/>
            <a:chOff x="526161" y="1547336"/>
            <a:chExt cx="651393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要构造一个语言解释器，让系统可以执行整数之间的乘法、除法和求模运算。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41195"/>
            <a:ext cx="5193982" cy="1831658"/>
            <a:chOff x="533400" y="1941195"/>
            <a:chExt cx="5193982" cy="183165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数学运算解释器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用户输入表达式 </a:t>
              </a:r>
              <a:r>
                <a:rPr lang="zh-CN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3 * 4 / 2 % 4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，程序输出 </a:t>
              </a:r>
              <a:r>
                <a:rPr lang="zh-CN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。用解释器模式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实现这个功能。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1242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306800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三个运算符优先级相同，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从左向右结合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42614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336994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运算数都是整数，除法按整数除法算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948112"/>
            <a:ext cx="5193982" cy="1623060"/>
            <a:chOff x="533400" y="3948112"/>
            <a:chExt cx="5193982" cy="1623060"/>
          </a:xfrm>
        </p:grpSpPr>
        <p:sp>
          <p:nvSpPr>
            <p:cNvPr id="20" name="Rectangle 20"/>
            <p:cNvSpPr/>
            <p:nvPr/>
          </p:nvSpPr>
          <p:spPr>
            <a:xfrm>
              <a:off x="533400" y="3948112"/>
              <a:ext cx="5193982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99846" y="40724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61958" y="40724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35538" y="40724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3412" y="44781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80235" y="447817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* 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57638" y="447817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7548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759642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48839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80235" y="4883944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/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57638" y="48839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1606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52897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80235" y="5289709"/>
              <a:ext cx="380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6 % 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67150" y="5174932"/>
              <a:ext cx="185070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57638" y="52897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948112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775460" y="394811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852862" y="394811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ode-1"/>
          <p:cNvGrpSpPr/>
          <p:nvPr/>
        </p:nvGrpSpPr>
        <p:grpSpPr>
          <a:xfrm>
            <a:off x="6032182" y="1941195"/>
            <a:ext cx="5626418" cy="1829752"/>
            <a:chOff x="6032182" y="1941195"/>
            <a:chExt cx="5626418" cy="1829752"/>
          </a:xfrm>
        </p:grpSpPr>
        <p:sp>
          <p:nvSpPr>
            <p:cNvPr id="41" name="Rectangle 41"/>
            <p:cNvSpPr/>
            <p:nvPr/>
          </p:nvSpPr>
          <p:spPr>
            <a:xfrm>
              <a:off x="6032182" y="1941195"/>
              <a:ext cx="5626418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60580" y="209311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这门小语言的文法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60198" y="2354580"/>
              <a:ext cx="2944368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expression ::= value | operation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operation  ::= expression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'*'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expression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| expression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'/'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expression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| expression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'%'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expression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value      ::= an integer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032182" y="3946208"/>
            <a:ext cx="5626418" cy="1624965"/>
            <a:chOff x="6032182" y="3946208"/>
            <a:chExt cx="5626418" cy="1624965"/>
          </a:xfrm>
        </p:grpSpPr>
        <p:sp>
          <p:nvSpPr>
            <p:cNvPr id="45" name="Rectangle 45"/>
            <p:cNvSpPr/>
            <p:nvPr/>
          </p:nvSpPr>
          <p:spPr>
            <a:xfrm>
              <a:off x="6032182" y="3946208"/>
              <a:ext cx="5626418" cy="1624965"/>
            </a:xfrm>
            <a:prstGeom prst="roundRect">
              <a:avLst>
                <a:gd name="adj" fmla="val 820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24588" y="413861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12027" y="41729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先数类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41630" y="41786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从文法直接读出要写几个类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17730" y="4512945"/>
              <a:ext cx="49514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value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是终结符，对应一个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ValueNode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operation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有三种，对应</a:t>
              </a:r>
              <a:br/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MulNode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DivNode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ModNode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三个非终结符类，它们共用一个抽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象父类装左右两个子结点。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1" name="Rectangle 5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3610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三个运算符优先级相同是题目给的前提。要支持先乘除后加减，文法得多分一层，建树的办法也要跟着改。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02425" cy="909257"/>
            <a:chOff x="520446" y="342900"/>
            <a:chExt cx="54024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完整实例：数学运算解释器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024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实例类图：抽象表达式是接口 Node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202518" cy="308039"/>
            <a:chOff x="525399" y="1550194"/>
            <a:chExt cx="920251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2025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SymbolNode 是非终结符的公共父类，它既实现 Node 又聚合 Node，语法树靠这一对关系往下长。</a:t>
              </a:r>
            </a:p>
          </p:txBody>
        </p:sp>
      </p:grpSp>
      <p:grpSp>
        <p:nvGrpSpPr>
          <p:cNvPr id="73" name="c1-uml-1"/>
          <p:cNvGrpSpPr/>
          <p:nvPr/>
        </p:nvGrpSpPr>
        <p:grpSpPr>
          <a:xfrm>
            <a:off x="1057275" y="2061210"/>
            <a:ext cx="10118739" cy="2669858"/>
            <a:chOff x="1057275" y="2061210"/>
            <a:chExt cx="10118739" cy="2669858"/>
          </a:xfrm>
        </p:grpSpPr>
        <p:sp>
          <p:nvSpPr>
            <p:cNvPr id="9" name="Freeform 9"/>
            <p:cNvSpPr/>
            <p:nvPr/>
          </p:nvSpPr>
          <p:spPr>
            <a:xfrm>
              <a:off x="2790825" y="2756535"/>
              <a:ext cx="1284922" cy="9525"/>
            </a:xfrm>
            <a:custGeom>
              <a:avLst/>
              <a:gdLst/>
              <a:ahLst/>
              <a:cxnLst/>
              <a:rect l="l" t="t" r="r" b="b"/>
              <a:pathLst>
                <a:path w="1284922" h="9525">
                  <a:moveTo>
                    <a:pt x="0" y="0"/>
                  </a:moveTo>
                  <a:lnTo>
                    <a:pt x="128492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970972" y="2698432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24050" y="3266122"/>
              <a:ext cx="2781300" cy="669608"/>
            </a:xfrm>
            <a:custGeom>
              <a:avLst/>
              <a:gdLst/>
              <a:ahLst/>
              <a:cxnLst/>
              <a:rect l="l" t="t" r="r" b="b"/>
              <a:pathLst>
                <a:path w="2781300" h="669608">
                  <a:moveTo>
                    <a:pt x="0" y="669608"/>
                  </a:moveTo>
                  <a:lnTo>
                    <a:pt x="0" y="272415"/>
                  </a:lnTo>
                  <a:lnTo>
                    <a:pt x="2781300" y="272415"/>
                  </a:lnTo>
                  <a:lnTo>
                    <a:pt x="2781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632008" y="314039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460682" y="2756535"/>
              <a:ext cx="3944302" cy="9525"/>
            </a:xfrm>
            <a:custGeom>
              <a:avLst/>
              <a:gdLst/>
              <a:ahLst/>
              <a:cxnLst/>
              <a:rect l="l" t="t" r="r" b="b"/>
              <a:pathLst>
                <a:path w="3944302" h="9525">
                  <a:moveTo>
                    <a:pt x="394430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4952" y="2683192"/>
              <a:ext cx="125730" cy="146685"/>
            </a:xfrm>
            <a:custGeom>
              <a:avLst/>
              <a:gdLst/>
              <a:ahLst/>
              <a:cxnLst/>
              <a:rect l="l" t="t" r="r" b="b"/>
              <a:pathLst>
                <a:path w="125730" h="146685">
                  <a:moveTo>
                    <a:pt x="0" y="73342"/>
                  </a:moveTo>
                  <a:lnTo>
                    <a:pt x="125730" y="0"/>
                  </a:lnTo>
                  <a:lnTo>
                    <a:pt x="125730" y="14668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705350" y="2061210"/>
              <a:ext cx="5562600" cy="310515"/>
            </a:xfrm>
            <a:custGeom>
              <a:avLst/>
              <a:gdLst/>
              <a:ahLst/>
              <a:cxnLst/>
              <a:rect l="l" t="t" r="r" b="b"/>
              <a:pathLst>
                <a:path w="5562600" h="310515">
                  <a:moveTo>
                    <a:pt x="0" y="310515"/>
                  </a:moveTo>
                  <a:lnTo>
                    <a:pt x="0" y="100965"/>
                  </a:lnTo>
                  <a:lnTo>
                    <a:pt x="5562600" y="100965"/>
                  </a:lnTo>
                  <a:lnTo>
                    <a:pt x="5562600" y="0"/>
                  </a:lnTo>
                  <a:lnTo>
                    <a:pt x="55626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210800" y="2061210"/>
              <a:ext cx="114300" cy="209550"/>
            </a:xfrm>
            <a:custGeom>
              <a:avLst/>
              <a:gdLst/>
              <a:ahLst/>
              <a:cxnLst/>
              <a:rect l="l" t="t" r="r" b="b"/>
              <a:pathLst>
                <a:path w="114300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4300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05350" y="3368040"/>
              <a:ext cx="5372100" cy="656272"/>
            </a:xfrm>
            <a:custGeom>
              <a:avLst/>
              <a:gdLst/>
              <a:ahLst/>
              <a:cxnLst/>
              <a:rect l="l" t="t" r="r" b="b"/>
              <a:pathLst>
                <a:path w="5372100" h="656272">
                  <a:moveTo>
                    <a:pt x="0" y="656272"/>
                  </a:moveTo>
                  <a:lnTo>
                    <a:pt x="0" y="264795"/>
                  </a:lnTo>
                  <a:lnTo>
                    <a:pt x="5372100" y="264795"/>
                  </a:lnTo>
                  <a:lnTo>
                    <a:pt x="53721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004108" y="324231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486650" y="3368040"/>
              <a:ext cx="2781300" cy="656272"/>
            </a:xfrm>
            <a:custGeom>
              <a:avLst/>
              <a:gdLst/>
              <a:ahLst/>
              <a:cxnLst/>
              <a:rect l="l" t="t" r="r" b="b"/>
              <a:pathLst>
                <a:path w="2781300" h="656272">
                  <a:moveTo>
                    <a:pt x="0" y="656272"/>
                  </a:moveTo>
                  <a:lnTo>
                    <a:pt x="0" y="264795"/>
                  </a:lnTo>
                  <a:lnTo>
                    <a:pt x="2781300" y="264795"/>
                  </a:lnTo>
                  <a:lnTo>
                    <a:pt x="2781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194608" y="324231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0267950" y="3368040"/>
              <a:ext cx="190500" cy="656272"/>
            </a:xfrm>
            <a:custGeom>
              <a:avLst/>
              <a:gdLst/>
              <a:ahLst/>
              <a:cxnLst/>
              <a:rect l="l" t="t" r="r" b="b"/>
              <a:pathLst>
                <a:path w="190500" h="656272">
                  <a:moveTo>
                    <a:pt x="0" y="656272"/>
                  </a:moveTo>
                  <a:lnTo>
                    <a:pt x="0" y="264795"/>
                  </a:lnTo>
                  <a:lnTo>
                    <a:pt x="190500" y="264795"/>
                  </a:lnTo>
                  <a:lnTo>
                    <a:pt x="1905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385108" y="324231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57275" y="2183130"/>
              <a:ext cx="1732598" cy="11468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64895" y="2189798"/>
              <a:ext cx="171831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57275" y="2430780"/>
              <a:ext cx="17325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57275" y="2878455"/>
              <a:ext cx="17325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075748" y="2371725"/>
              <a:ext cx="1260158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082415" y="2379345"/>
              <a:ext cx="1245870" cy="39433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75748" y="2768918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75748" y="2864168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04985" y="2270760"/>
              <a:ext cx="1726882" cy="9715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411652" y="2277428"/>
              <a:ext cx="171259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404985" y="2519362"/>
              <a:ext cx="172688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404985" y="2966085"/>
              <a:ext cx="172688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294448" y="3935730"/>
              <a:ext cx="1260158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301115" y="3943350"/>
              <a:ext cx="124587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294448" y="4184332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294448" y="4455795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075748" y="4024312"/>
              <a:ext cx="1260158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082415" y="4030980"/>
              <a:ext cx="124587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75748" y="4272915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075748" y="4368165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57048" y="4024312"/>
              <a:ext cx="1260158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63715" y="4030980"/>
              <a:ext cx="124587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57048" y="4272915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57048" y="4368165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638348" y="4024312"/>
              <a:ext cx="1260158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645015" y="4030980"/>
              <a:ext cx="124587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638348" y="4272915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638348" y="4368165"/>
              <a:ext cx="1260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45569" y="2242185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Calculator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8522" y="2502694"/>
              <a:ext cx="1242060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statement: String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node: Node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8522" y="2949416"/>
              <a:ext cx="1590548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build(String statement)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compute(): int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349229" y="2428875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34445" y="2580323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Node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146994" y="2935129"/>
              <a:ext cx="1184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interpret(): int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53597" y="2330768"/>
              <a:ext cx="828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SymbolNode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76232" y="2590324"/>
              <a:ext cx="806450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left: Node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right: Node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76232" y="3037046"/>
              <a:ext cx="16997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SymbolNode(Node, Node)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565545" y="3995738"/>
              <a:ext cx="717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ValueNode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65694" y="4255294"/>
              <a:ext cx="7487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value: int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365694" y="4526756"/>
              <a:ext cx="1184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interpret(): int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413460" y="4084320"/>
              <a:ext cx="583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MulNode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146994" y="4439126"/>
              <a:ext cx="1184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interpret(): int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09842" y="4084320"/>
              <a:ext cx="5536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DivNode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28294" y="4439126"/>
              <a:ext cx="1184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interpret(): int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957208" y="4084320"/>
              <a:ext cx="621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ModNode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09594" y="4439126"/>
              <a:ext cx="1184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interpret(): int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238500" y="2540318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271990" y="256698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node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065645" y="2195512"/>
              <a:ext cx="84201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85533" y="2222182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left / right</a:t>
              </a:r>
            </a:p>
          </p:txBody>
        </p:sp>
      </p:grpSp>
      <p:grpSp>
        <p:nvGrpSpPr>
          <p:cNvPr id="80" name="c1-card-2"/>
          <p:cNvGrpSpPr/>
          <p:nvPr/>
        </p:nvGrpSpPr>
        <p:grpSpPr>
          <a:xfrm>
            <a:off x="533400" y="5313045"/>
            <a:ext cx="11125200" cy="1049655"/>
            <a:chOff x="533400" y="5313045"/>
            <a:chExt cx="11125200" cy="1049655"/>
          </a:xfrm>
        </p:grpSpPr>
        <p:sp>
          <p:nvSpPr>
            <p:cNvPr id="74" name="Rectangle 74"/>
            <p:cNvSpPr/>
            <p:nvPr/>
          </p:nvSpPr>
          <p:spPr>
            <a:xfrm>
              <a:off x="533400" y="5313045"/>
              <a:ext cx="11125200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542925" y="5446395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81050" y="55225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71258" y="55583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382078" y="555783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源课件把实现关系画成了实线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3430" y="5918835"/>
              <a:ext cx="805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原图里两个类指向接口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Node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的连线画成了实线加空心三角，规范画法是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虚线加空心三角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90687" cy="909257"/>
            <a:chOff x="520446" y="342900"/>
            <a:chExt cx="45906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完整实例：数学运算解释器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906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“3 * 4 / 2 % 4”建成的语法树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56561" cy="264033"/>
            <a:chOff x="526542" y="1545907"/>
            <a:chExt cx="585656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56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左结合的规则让树一路往左下长，最先输入的 3 反而落在最深的叶子上。</a:t>
              </a:r>
            </a:p>
          </p:txBody>
        </p:sp>
      </p:grpSp>
      <p:grpSp>
        <p:nvGrpSpPr>
          <p:cNvPr id="36" name="c1-graph-1"/>
          <p:cNvGrpSpPr/>
          <p:nvPr/>
        </p:nvGrpSpPr>
        <p:grpSpPr>
          <a:xfrm>
            <a:off x="800100" y="2193608"/>
            <a:ext cx="5086350" cy="3829049"/>
            <a:chOff x="800100" y="2193608"/>
            <a:chExt cx="5086350" cy="3829049"/>
          </a:xfrm>
        </p:grpSpPr>
        <p:sp>
          <p:nvSpPr>
            <p:cNvPr id="9" name="Freeform 9"/>
            <p:cNvSpPr/>
            <p:nvPr/>
          </p:nvSpPr>
          <p:spPr>
            <a:xfrm>
              <a:off x="3268980" y="2549842"/>
              <a:ext cx="951548" cy="797242"/>
            </a:xfrm>
            <a:custGeom>
              <a:avLst/>
              <a:gdLst/>
              <a:ahLst/>
              <a:cxnLst/>
              <a:rect l="l" t="t" r="r" b="b"/>
              <a:pathLst>
                <a:path w="951548" h="797242">
                  <a:moveTo>
                    <a:pt x="951548" y="0"/>
                  </a:moveTo>
                  <a:lnTo>
                    <a:pt x="0" y="7972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92955" y="2549842"/>
              <a:ext cx="712470" cy="797242"/>
            </a:xfrm>
            <a:custGeom>
              <a:avLst/>
              <a:gdLst/>
              <a:ahLst/>
              <a:cxnLst/>
              <a:rect l="l" t="t" r="r" b="b"/>
              <a:pathLst>
                <a:path w="712470" h="797242">
                  <a:moveTo>
                    <a:pt x="0" y="0"/>
                  </a:moveTo>
                  <a:lnTo>
                    <a:pt x="712470" y="7972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89772" y="3703320"/>
              <a:ext cx="872490" cy="796290"/>
            </a:xfrm>
            <a:custGeom>
              <a:avLst/>
              <a:gdLst/>
              <a:ahLst/>
              <a:cxnLst/>
              <a:rect l="l" t="t" r="r" b="b"/>
              <a:pathLst>
                <a:path w="872490" h="796290">
                  <a:moveTo>
                    <a:pt x="872490" y="0"/>
                  </a:moveTo>
                  <a:lnTo>
                    <a:pt x="0" y="796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33738" y="3703320"/>
              <a:ext cx="792480" cy="796290"/>
            </a:xfrm>
            <a:custGeom>
              <a:avLst/>
              <a:gdLst/>
              <a:ahLst/>
              <a:cxnLst/>
              <a:rect l="l" t="t" r="r" b="b"/>
              <a:pathLst>
                <a:path w="792480" h="796290">
                  <a:moveTo>
                    <a:pt x="0" y="0"/>
                  </a:moveTo>
                  <a:lnTo>
                    <a:pt x="792480" y="796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310640" y="4855845"/>
              <a:ext cx="396240" cy="796290"/>
            </a:xfrm>
            <a:custGeom>
              <a:avLst/>
              <a:gdLst/>
              <a:ahLst/>
              <a:cxnLst/>
              <a:rect l="l" t="t" r="r" b="b"/>
              <a:pathLst>
                <a:path w="396240" h="796290">
                  <a:moveTo>
                    <a:pt x="396240" y="0"/>
                  </a:moveTo>
                  <a:lnTo>
                    <a:pt x="0" y="796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72628" y="4855845"/>
              <a:ext cx="792480" cy="796290"/>
            </a:xfrm>
            <a:custGeom>
              <a:avLst/>
              <a:gdLst/>
              <a:ahLst/>
              <a:cxnLst/>
              <a:rect l="l" t="t" r="r" b="b"/>
              <a:pathLst>
                <a:path w="792480" h="796290">
                  <a:moveTo>
                    <a:pt x="0" y="0"/>
                  </a:moveTo>
                  <a:lnTo>
                    <a:pt x="792480" y="7962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011930" y="2193608"/>
              <a:ext cx="842010" cy="356235"/>
            </a:xfrm>
            <a:prstGeom prst="roundRect">
              <a:avLst>
                <a:gd name="adj" fmla="val 2673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35568" y="3347085"/>
              <a:ext cx="842010" cy="356235"/>
            </a:xfrm>
            <a:prstGeom prst="roundRect">
              <a:avLst>
                <a:gd name="adj" fmla="val 2673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044440" y="3347085"/>
              <a:ext cx="842010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74458" y="4499610"/>
              <a:ext cx="842010" cy="356235"/>
            </a:xfrm>
            <a:prstGeom prst="roundRect">
              <a:avLst>
                <a:gd name="adj" fmla="val 2673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82378" y="4499610"/>
              <a:ext cx="842010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00100" y="5652135"/>
              <a:ext cx="842010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21268" y="5652135"/>
              <a:ext cx="842010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66394" y="2245042"/>
              <a:ext cx="5330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ModNode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80467" y="2387918"/>
              <a:ext cx="104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19118" y="3397568"/>
              <a:ext cx="4749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DivNode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16826" y="35404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57965" y="3397568"/>
              <a:ext cx="6149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ValueNode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25698" y="35404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45081" y="4550092"/>
              <a:ext cx="5007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MulNode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55716" y="469296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95902" y="4550092"/>
              <a:ext cx="6149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ValueNode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63636" y="469296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3625" y="5703570"/>
              <a:ext cx="6149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ValueNode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81358" y="58464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34792" y="5703570"/>
              <a:ext cx="6149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ValueNode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02526" y="58464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54" name="c2-steps-1"/>
          <p:cNvGrpSpPr/>
          <p:nvPr/>
        </p:nvGrpSpPr>
        <p:grpSpPr>
          <a:xfrm>
            <a:off x="6573202" y="1938338"/>
            <a:ext cx="3536462" cy="2149411"/>
            <a:chOff x="6573202" y="1938338"/>
            <a:chExt cx="3536462" cy="2149411"/>
          </a:xfrm>
        </p:grpSpPr>
        <p:sp>
          <p:nvSpPr>
            <p:cNvPr id="37" name="Rectangle 37"/>
            <p:cNvSpPr/>
            <p:nvPr/>
          </p:nvSpPr>
          <p:spPr>
            <a:xfrm>
              <a:off x="6706552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573202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66826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73202" y="249078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66826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73202" y="30441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66826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73202" y="35975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66826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85826" y="19683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读第一个数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86969" y="2223135"/>
              <a:ext cx="2726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 3 包成一个 ValueNode，当作当前的树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85826" y="2521744"/>
              <a:ext cx="66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 * 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86969" y="2776538"/>
              <a:ext cx="31226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把当前的树当左孩子，4 当右孩子，包成 MulNode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85826" y="3075146"/>
              <a:ext cx="66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 / 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86969" y="3328988"/>
              <a:ext cx="2757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再把整棵 MulNode 当左孩子，包成 DivNode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85826" y="3627596"/>
              <a:ext cx="701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 %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86969" y="3882390"/>
              <a:ext cx="2473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同样往上包一层，得到根结点 ModNode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573202" y="4249102"/>
            <a:ext cx="5085398" cy="702945"/>
            <a:chOff x="6573202" y="4249102"/>
            <a:chExt cx="5085398" cy="702945"/>
          </a:xfrm>
        </p:grpSpPr>
        <p:sp>
          <p:nvSpPr>
            <p:cNvPr id="55" name="Rectangle 55"/>
            <p:cNvSpPr/>
            <p:nvPr/>
          </p:nvSpPr>
          <p:spPr>
            <a:xfrm>
              <a:off x="6573202" y="4249102"/>
              <a:ext cx="5085398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777990" y="4500565"/>
              <a:ext cx="200023" cy="200023"/>
              <a:chOff x="6777990" y="4500565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777990" y="45005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911340" y="45672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081076" y="4394359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每读到一个运算符就往上长一层，这就是左结合在建树时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的具体做法。</a:t>
              </a:r>
            </a:p>
          </p:txBody>
        </p:sp>
      </p:grpSp>
      <p:grpSp>
        <p:nvGrpSpPr>
          <p:cNvPr id="67" name="c2-card-3"/>
          <p:cNvGrpSpPr/>
          <p:nvPr/>
        </p:nvGrpSpPr>
        <p:grpSpPr>
          <a:xfrm>
            <a:off x="6573202" y="5116830"/>
            <a:ext cx="5085398" cy="1160145"/>
            <a:chOff x="6573202" y="5116830"/>
            <a:chExt cx="5085398" cy="1160145"/>
          </a:xfrm>
        </p:grpSpPr>
        <p:sp>
          <p:nvSpPr>
            <p:cNvPr id="61" name="Rectangle 61"/>
            <p:cNvSpPr/>
            <p:nvPr/>
          </p:nvSpPr>
          <p:spPr>
            <a:xfrm>
              <a:off x="6573202" y="5116830"/>
              <a:ext cx="508539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582728" y="525018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792278" y="52978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83997" y="53306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58253" y="53373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和加减法那棵树同一个形状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85801" y="565451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运算符优先级相同又从左向右结合时，树的形状只由输入顺序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97273" cy="909257"/>
            <a:chOff x="520446" y="342900"/>
            <a:chExt cx="74972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完整实例：数学运算解释器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972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实例代码一：Node、ValueNode 与 SymbolNode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抽象表达式在这里写成接口，因为它只有一个方法、没有任何字段要继承。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167438" cy="4198620"/>
            <a:chOff x="533400" y="1928812"/>
            <a:chExt cx="6167438" cy="41986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抽象表达式与终结符表达式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886200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774821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抽象表达式：语法树上的一个结点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interpret();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终结符表达式：一个整数，直接返回自己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ValueNode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ValueNode(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.value = value;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interpret()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非终结符的公共父类：装左右两个子结点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SymbolNode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left;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right;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SymbolNode(Node left, Node right)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.left = left;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.right = right;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bullets-1"/>
          <p:cNvGrpSpPr/>
          <p:nvPr/>
        </p:nvGrpSpPr>
        <p:grpSpPr>
          <a:xfrm>
            <a:off x="6998780" y="1950720"/>
            <a:ext cx="3691559" cy="1873092"/>
            <a:chOff x="6998780" y="1950720"/>
            <a:chExt cx="3691559" cy="1873092"/>
          </a:xfrm>
        </p:grpSpPr>
        <p:sp>
          <p:nvSpPr>
            <p:cNvPr id="14" name="TextBox 14"/>
            <p:cNvSpPr txBox="1"/>
            <p:nvPr/>
          </p:nvSpPr>
          <p:spPr>
            <a:xfrm>
              <a:off x="6998780" y="195072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三个设计决定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14210" y="23241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0230" y="226790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抽象表达式用接口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177088" y="259461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61872" y="253126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只有一个方法，没有共享字段，接口比抽象类干净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014210" y="286035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70230" y="2804160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返回值定成 int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77088" y="313086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61872" y="306752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这门语言只算整数，返回值直接带着结果往上走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014210" y="33966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0230" y="3340418"/>
              <a:ext cx="2524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SymbolNode 不实现 interpret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77088" y="366712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61872" y="360378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它只负责装左右孩子，怎么合并交给三个子类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7005638" y="3949065"/>
            <a:ext cx="4652962" cy="2177415"/>
            <a:chOff x="7005638" y="3949065"/>
            <a:chExt cx="4652962" cy="2177415"/>
          </a:xfrm>
        </p:grpSpPr>
        <p:sp>
          <p:nvSpPr>
            <p:cNvPr id="28" name="Rectangle 28"/>
            <p:cNvSpPr/>
            <p:nvPr/>
          </p:nvSpPr>
          <p:spPr>
            <a:xfrm>
              <a:off x="7005638" y="3949065"/>
              <a:ext cx="4652962" cy="2177415"/>
            </a:xfrm>
            <a:prstGeom prst="roundRect">
              <a:avLst>
                <a:gd name="adj" fmla="val 61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15162" y="4082415"/>
              <a:ext cx="47625" cy="19107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30428" y="41357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23099" y="41686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96974" y="4170998"/>
              <a:ext cx="29407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SymbolNode 是抽象类，不能实例化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23570" y="4496752"/>
              <a:ext cx="40256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它没有实现接口里的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interpret()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，所以必须声明成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。编译器会替你把关，漏掉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完整实例：数学运算解释器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实例代码二：三个运算结点，一条规则一个类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708773" cy="293370"/>
            <a:chOff x="525780" y="1548765"/>
            <a:chExt cx="770877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708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三个类的结构完全一样，差别只有中间那一个运算符。这正是“易于实现文法”的由来。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54530"/>
            <a:ext cx="6167438" cy="4291012"/>
            <a:chOff x="533400" y="1954530"/>
            <a:chExt cx="6167438" cy="429101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167438" cy="4291012"/>
            </a:xfrm>
            <a:prstGeom prst="roundRect">
              <a:avLst>
                <a:gd name="adj" fmla="val 22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945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MulNode / DivNode / ModNode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895600"/>
              <a:ext cx="612933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221480"/>
              <a:ext cx="612933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5547360"/>
              <a:ext cx="612933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416" y="2367915"/>
              <a:ext cx="4777931" cy="3806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MulNode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SymbolNode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MulNode(Node left, Node right)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(left, right);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interpret()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left.interpret() * right.interpret();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DivNode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SymbolNode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DivNode(Node left, Node right)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(left, right);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interpret()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left.interpret() / right.interpret();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ModNode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SymbolNode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ModNode(Node left, Node right)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(left, right);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interpret()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left.interpret() % right.interpret();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7005638" y="1954530"/>
            <a:ext cx="4652962" cy="1540192"/>
            <a:chOff x="7005638" y="1954530"/>
            <a:chExt cx="4652962" cy="1540192"/>
          </a:xfrm>
        </p:grpSpPr>
        <p:sp>
          <p:nvSpPr>
            <p:cNvPr id="16" name="Rectangle 16"/>
            <p:cNvSpPr/>
            <p:nvPr/>
          </p:nvSpPr>
          <p:spPr>
            <a:xfrm>
              <a:off x="7005638" y="1954530"/>
              <a:ext cx="4652962" cy="1540192"/>
            </a:xfrm>
            <a:prstGeom prst="roundRect">
              <a:avLst>
                <a:gd name="adj" fmla="val 865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03758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95198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87068" y="218741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加一种运算只要加一个类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96518" y="2531269"/>
              <a:ext cx="402704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要支持加法，新写一个 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AddNode extends</a:t>
              </a:r>
              <a:br/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SymbolNode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，把那一行改成 </a:t>
              </a:r>
              <a:r>
                <a:rPr lang="zh-CN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，再在 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build()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里补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一个分支。已有的三个结点类一行都不用改。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7005638" y="3674745"/>
            <a:ext cx="4652962" cy="1540192"/>
            <a:chOff x="7005638" y="3674745"/>
            <a:chExt cx="4652962" cy="1540192"/>
          </a:xfrm>
        </p:grpSpPr>
        <p:sp>
          <p:nvSpPr>
            <p:cNvPr id="22" name="Rectangle 22"/>
            <p:cNvSpPr/>
            <p:nvPr/>
          </p:nvSpPr>
          <p:spPr>
            <a:xfrm>
              <a:off x="7005638" y="3674745"/>
              <a:ext cx="4652962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15162" y="3808095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41858" y="387286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25297" y="39071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边界情况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91868" y="3908584"/>
              <a:ext cx="24790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除法和求模要防右操作数为 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34618" y="4251484"/>
              <a:ext cx="396392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DivNode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ModNode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在右操作数为 0 时会抛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ArithmeticException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。课件没有处理，实际写的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时候应在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interpret()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里先判断。</a:t>
              </a:r>
            </a:p>
          </p:txBody>
        </p:sp>
      </p:grpSp>
      <p:grpSp>
        <p:nvGrpSpPr>
          <p:cNvPr id="35" name="c2-callout-3"/>
          <p:cNvGrpSpPr/>
          <p:nvPr/>
        </p:nvGrpSpPr>
        <p:grpSpPr>
          <a:xfrm>
            <a:off x="7005638" y="5395912"/>
            <a:ext cx="4652962" cy="849630"/>
            <a:chOff x="7005638" y="5395912"/>
            <a:chExt cx="4652962" cy="849630"/>
          </a:xfrm>
        </p:grpSpPr>
        <p:sp>
          <p:nvSpPr>
            <p:cNvPr id="29" name="Rectangle 29"/>
            <p:cNvSpPr/>
            <p:nvPr/>
          </p:nvSpPr>
          <p:spPr>
            <a:xfrm>
              <a:off x="7005638" y="5395912"/>
              <a:ext cx="4652962" cy="849630"/>
            </a:xfrm>
            <a:prstGeom prst="roundRect">
              <a:avLst>
                <a:gd name="adj" fmla="val 1345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10425" y="5720715"/>
              <a:ext cx="200026" cy="200025"/>
              <a:chOff x="7210425" y="5720715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210425" y="57207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50164" y="57651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84879" y="58762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512748" y="5589746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三个类高度雷同，这类结点代码可以用工具按文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法自动生成。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96295" cy="909257"/>
            <a:chOff x="520446" y="342900"/>
            <a:chExt cx="70962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完整实例：数学运算解释器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962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实例代码三：Calculator 负责建树和发起解释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37985" cy="264033"/>
            <a:chOff x="526542" y="1545907"/>
            <a:chExt cx="6737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它同时扮演环境类和建树器。输入串按空格切开，每读到一个运算符就往上包一层。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6708458" cy="4198620"/>
            <a:chOff x="533400" y="1928812"/>
            <a:chExt cx="6708458" cy="41986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708458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7064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Calculator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534728"/>
              <a:ext cx="667035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644515"/>
              <a:ext cx="667035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4527804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statement;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待解释的表达式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node;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语法树的根结点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build(String statement)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.statement = statement;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String[] t = statement.split(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Node cur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ValueNode(Integer.parseInt(t[0]));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t.length; i += 2)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Node 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ValueNode(Integer.parseInt(t[i + 1]));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(t[i])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"*"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cur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MulNode(cur, r);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cur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DivNode(cur, r);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cur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ModNode(cur, r);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IllegalArgumentException(t[i]);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.node = cur;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compute()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node.interpret();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bullets-1"/>
          <p:cNvGrpSpPr/>
          <p:nvPr/>
        </p:nvGrpSpPr>
        <p:grpSpPr>
          <a:xfrm>
            <a:off x="7539799" y="1950720"/>
            <a:ext cx="2817068" cy="1873092"/>
            <a:chOff x="7539799" y="1950720"/>
            <a:chExt cx="2817068" cy="1873092"/>
          </a:xfrm>
        </p:grpSpPr>
        <p:sp>
          <p:nvSpPr>
            <p:cNvPr id="15" name="TextBox 15"/>
            <p:cNvSpPr txBox="1"/>
            <p:nvPr/>
          </p:nvSpPr>
          <p:spPr>
            <a:xfrm>
              <a:off x="7539799" y="195072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建树循环怎么走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555230" y="23241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11249" y="226790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先把第一个数变成叶子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718108" y="259461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2892" y="2531269"/>
              <a:ext cx="2114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cur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始终指向已经建好的那棵树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55230" y="286035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11249" y="280416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每次跨两个记号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18108" y="313086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02892" y="3067526"/>
              <a:ext cx="2453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t[i]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是运算符，</a:t>
              </a:r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t[i + 1]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是右操作数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55230" y="33966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11249" y="33404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旧树当左孩子往上包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718108" y="366712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02892" y="360378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这一步决定了树是左结合的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7546658" y="3949065"/>
            <a:ext cx="4111942" cy="2177415"/>
            <a:chOff x="7546658" y="3949065"/>
            <a:chExt cx="4111942" cy="2177415"/>
          </a:xfrm>
        </p:grpSpPr>
        <p:sp>
          <p:nvSpPr>
            <p:cNvPr id="29" name="Rectangle 29"/>
            <p:cNvSpPr/>
            <p:nvPr/>
          </p:nvSpPr>
          <p:spPr>
            <a:xfrm>
              <a:off x="7546658" y="3949065"/>
              <a:ext cx="4111942" cy="2177415"/>
            </a:xfrm>
            <a:prstGeom prst="roundRect">
              <a:avLst>
                <a:gd name="adj" fmla="val 61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56182" y="4082415"/>
              <a:ext cx="47625" cy="19107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771448" y="413575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56969" y="41686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写法差异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86597" y="41709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源课件用的是栈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4589" y="4496752"/>
              <a:ext cx="35027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课件示例代码里压了一个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Stack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来建树。这门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语言没有优先级差别，用一个变量记住当前的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树更短，建出来的树完全一样。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8063" cy="909257"/>
            <a:chOff x="520446" y="342900"/>
            <a:chExt cx="6168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完整实例：数学运算解释器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手推一遍递归求值：十次调用，结果是 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进入结点时先往左递归，两个孩子都回来了才轮到自己算。顺序是前序进入、后序返回。</a:t>
              </a:r>
            </a:p>
          </p:txBody>
        </p:sp>
      </p:grpSp>
      <p:grpSp>
        <p:nvGrpSpPr>
          <p:cNvPr id="75" name="c1-table-1"/>
          <p:cNvGrpSpPr/>
          <p:nvPr/>
        </p:nvGrpSpPr>
        <p:grpSpPr>
          <a:xfrm>
            <a:off x="533400" y="1928812"/>
            <a:ext cx="6276022" cy="4400550"/>
            <a:chOff x="533400" y="1928812"/>
            <a:chExt cx="6276022" cy="44005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5670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4904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当前结点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29621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做的事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810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555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8252" y="2450306"/>
              <a:ext cx="792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ModNode 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41345" y="24503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进入，先要左子树的值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76912" y="2450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挂起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241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289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8252" y="2850356"/>
              <a:ext cx="6932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DivNode 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41345" y="28503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进入，先要左子树的值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76912" y="28503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挂起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58252" y="3250406"/>
              <a:ext cx="723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MulNode *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41345" y="32504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进入，先要左子树的值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76912" y="3250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242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5290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58252" y="3650456"/>
              <a:ext cx="858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ValueNode 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41345" y="36504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叶子，直接返回自己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76912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243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58252" y="4050506"/>
              <a:ext cx="858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ValueNode 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41345" y="4050506"/>
              <a:ext cx="1242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MulNode 的右孩子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76912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3243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3291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555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58252" y="4450556"/>
              <a:ext cx="723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MulNode *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41345" y="445055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* 4，两个孩子都到齐了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689282" y="4338638"/>
              <a:ext cx="111061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76912" y="4450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7244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0555" y="4850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58252" y="4850606"/>
              <a:ext cx="858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ValueNode 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141345" y="4850606"/>
              <a:ext cx="12120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DivNode 的右孩子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76912" y="48506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1244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51292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0555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58252" y="5250656"/>
              <a:ext cx="6932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DivNode /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41345" y="5250656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/ 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689282" y="5138738"/>
              <a:ext cx="111061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776912" y="5250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55245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0555" y="5650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58252" y="5650706"/>
              <a:ext cx="858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ValueNode 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141345" y="5650706"/>
              <a:ext cx="1281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ModNode 的右孩子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776912" y="56507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59245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59293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0555" y="60507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58252" y="6050756"/>
              <a:ext cx="792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ModNode %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141345" y="6050756"/>
              <a:ext cx="380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6 % 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689282" y="5938838"/>
              <a:ext cx="111061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776912" y="60507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1928812"/>
              <a:ext cx="6276022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156335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3039428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674995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ode-1"/>
          <p:cNvGrpSpPr/>
          <p:nvPr/>
        </p:nvGrpSpPr>
        <p:grpSpPr>
          <a:xfrm>
            <a:off x="7114222" y="1928812"/>
            <a:ext cx="4544378" cy="1209675"/>
            <a:chOff x="7114222" y="1928812"/>
            <a:chExt cx="4544378" cy="1209675"/>
          </a:xfrm>
        </p:grpSpPr>
        <p:sp>
          <p:nvSpPr>
            <p:cNvPr id="76" name="Rectangle 76"/>
            <p:cNvSpPr/>
            <p:nvPr/>
          </p:nvSpPr>
          <p:spPr>
            <a:xfrm>
              <a:off x="7114222" y="1928812"/>
              <a:ext cx="4544378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242620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客户端调用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242620" y="2340769"/>
              <a:ext cx="2200402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Calculator c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Calculator();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c.build(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"3 * 4 / 2 % 4"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System.out.println(c.compute());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控制台输出：2 */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7114222" y="3308032"/>
            <a:ext cx="4544378" cy="1202055"/>
            <a:chOff x="7114222" y="3308032"/>
            <a:chExt cx="4544378" cy="1202055"/>
          </a:xfrm>
        </p:grpSpPr>
        <p:sp>
          <p:nvSpPr>
            <p:cNvPr id="80" name="Rectangle 80"/>
            <p:cNvSpPr/>
            <p:nvPr/>
          </p:nvSpPr>
          <p:spPr>
            <a:xfrm>
              <a:off x="7114222" y="3308032"/>
              <a:ext cx="4544378" cy="1202055"/>
            </a:xfrm>
            <a:prstGeom prst="roundRect">
              <a:avLst>
                <a:gd name="adj" fmla="val 110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300912" y="34947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392632" y="35275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66507" y="3529965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三步算下来正好是 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294054" y="3855720"/>
              <a:ext cx="39827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3 * 4 = 12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12 / 2 = 6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6 % 4 = 2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。和课件给的答案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一致。</a:t>
              </a:r>
            </a:p>
          </p:txBody>
        </p:sp>
      </p:grpSp>
      <p:grpSp>
        <p:nvGrpSpPr>
          <p:cNvPr id="92" name="c2-callout-3"/>
          <p:cNvGrpSpPr/>
          <p:nvPr/>
        </p:nvGrpSpPr>
        <p:grpSpPr>
          <a:xfrm>
            <a:off x="7114222" y="4680585"/>
            <a:ext cx="4544378" cy="1648778"/>
            <a:chOff x="7114222" y="4680585"/>
            <a:chExt cx="4544378" cy="1648778"/>
          </a:xfrm>
        </p:grpSpPr>
        <p:sp>
          <p:nvSpPr>
            <p:cNvPr id="86" name="Rectangle 86"/>
            <p:cNvSpPr/>
            <p:nvPr/>
          </p:nvSpPr>
          <p:spPr>
            <a:xfrm>
              <a:off x="7114222" y="4680585"/>
              <a:ext cx="4544378" cy="1648778"/>
            </a:xfrm>
            <a:prstGeom prst="roundRect">
              <a:avLst>
                <a:gd name="adj" fmla="val 693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06952" y="5400793"/>
              <a:ext cx="224134" cy="192560"/>
              <a:chOff x="7306952" y="5400793"/>
              <a:chExt cx="224134" cy="19256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419023" y="54711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306952" y="54007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419023" y="5548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7621714" y="5161598"/>
              <a:ext cx="34427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调用次数等于树上的结点数，七个结点却有十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行，是因为非终结符结点进入和返回各记了一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优缺点、适用环境与实际应用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92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优点全都来自“用类表示文法规则”，缺点也都来自这一条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三条优点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三条缺点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四条适用环境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实际应用与替代工具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优缺点、适用环境与实际应用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优点：文法规则一旦变成类，就能按类的办法扩展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30960" cy="308039"/>
            <a:chOff x="525399" y="1550194"/>
            <a:chExt cx="663096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3096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三条优点说的是同一件事的三个侧面，落脚点都在“一条规则一个类”。</a:t>
              </a:r>
            </a:p>
          </p:txBody>
        </p:sp>
      </p:grpSp>
      <p:grpSp>
        <p:nvGrpSpPr>
          <p:cNvPr id="22" name="c1-bullets-1"/>
          <p:cNvGrpSpPr/>
          <p:nvPr/>
        </p:nvGrpSpPr>
        <p:grpSpPr>
          <a:xfrm>
            <a:off x="525780" y="1992630"/>
            <a:ext cx="5459818" cy="2103405"/>
            <a:chOff x="525780" y="1992630"/>
            <a:chExt cx="5459818" cy="210340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三条优点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37839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3908" y="234696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易于改变和扩展文法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91528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555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规则由类表示，可以用继承等机制改变或扩展文法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298132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3908" y="29498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易于实现文法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91528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5550" y="324278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每个结点类的实现方式都相似，代码不复杂，还能用工具自动生成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358425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3908" y="35528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增加新的解释表达式方便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91528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5550" y="384667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只加一个终结符或非终结符类，原有类不改，符合开闭原则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235768"/>
            <a:ext cx="5626418" cy="1650682"/>
            <a:chOff x="533400" y="4235768"/>
            <a:chExt cx="5626418" cy="1650682"/>
          </a:xfrm>
        </p:grpSpPr>
        <p:sp>
          <p:nvSpPr>
            <p:cNvPr id="23" name="Rectangle 23"/>
            <p:cNvSpPr/>
            <p:nvPr/>
          </p:nvSpPr>
          <p:spPr>
            <a:xfrm>
              <a:off x="533400" y="4235768"/>
              <a:ext cx="5626418" cy="1650682"/>
            </a:xfrm>
            <a:prstGeom prst="roundRect">
              <a:avLst>
                <a:gd name="adj" fmla="val 692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961573"/>
              <a:ext cx="200026" cy="200025"/>
              <a:chOff x="738188" y="4961573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9615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0060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1171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81869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判断一个模式符不符合开闭原则，就看新增一种情况时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要不要动已有的类。</a:t>
              </a:r>
            </a:p>
          </p:txBody>
        </p:sp>
      </p:grpSp>
      <p:grpSp>
        <p:nvGrpSpPr>
          <p:cNvPr id="33" name="c2-code-1"/>
          <p:cNvGrpSpPr/>
          <p:nvPr/>
        </p:nvGrpSpPr>
        <p:grpSpPr>
          <a:xfrm>
            <a:off x="6464618" y="1967865"/>
            <a:ext cx="5193982" cy="2125028"/>
            <a:chOff x="6464618" y="1967865"/>
            <a:chExt cx="5193982" cy="2125028"/>
          </a:xfrm>
        </p:grpSpPr>
        <p:sp>
          <p:nvSpPr>
            <p:cNvPr id="30" name="Rectangle 30"/>
            <p:cNvSpPr/>
            <p:nvPr/>
          </p:nvSpPr>
          <p:spPr>
            <a:xfrm>
              <a:off x="6464618" y="1967865"/>
              <a:ext cx="5193982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3015" y="211978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给解释器加上加法，新增的全部代码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92252" y="2381726"/>
              <a:ext cx="4079494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AddNode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SymbolNode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AddNode(Node left, Node right)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(left, right);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interpret()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left.interpret() + right.interpret();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464618" y="4283392"/>
            <a:ext cx="5193982" cy="1604010"/>
            <a:chOff x="6464618" y="4283392"/>
            <a:chExt cx="5193982" cy="1604010"/>
          </a:xfrm>
        </p:grpSpPr>
        <p:sp>
          <p:nvSpPr>
            <p:cNvPr id="34" name="Rectangle 34"/>
            <p:cNvSpPr/>
            <p:nvPr/>
          </p:nvSpPr>
          <p:spPr>
            <a:xfrm>
              <a:off x="6464618" y="4283392"/>
              <a:ext cx="5193982" cy="1604010"/>
            </a:xfrm>
            <a:prstGeom prst="roundRect">
              <a:avLst>
                <a:gd name="adj" fmla="val 83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4416742"/>
              <a:ext cx="47625" cy="13373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04648" y="451770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已有的五个类一行都不用改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4648" y="4872038"/>
              <a:ext cx="4006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Node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ValueNode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SymbolNode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MulNode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DivNode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ModNode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全部保持原样，只需要在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Calculator.build()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里补一个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case "+"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分支。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优缺点、适用环境与实际应用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缺点与适用环境：四个条件都满足才用它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410200" cy="2863215"/>
            <a:chOff x="533400" y="1524000"/>
            <a:chExt cx="5410200" cy="2863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63215"/>
            </a:xfrm>
            <a:prstGeom prst="roundRect">
              <a:avLst>
                <a:gd name="adj" fmla="val 4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复杂文法难以维护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。每条规则至少一个类，规则一多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类的个数急剧增加，系统难以管理。这时应改用语法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分析程序。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02323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3065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30365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执行效率较低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。解释过程里有大量循环和递归调用，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句子一复杂速度就慢，调试也麻烦。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64426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6865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65760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应用场景很有限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。真正需要自造一门小语言的场合并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不多。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577715"/>
            <a:ext cx="5410200" cy="782955"/>
            <a:chOff x="533400" y="4577715"/>
            <a:chExt cx="5410200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457771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869180"/>
              <a:ext cx="200026" cy="200026"/>
              <a:chOff x="738188" y="486918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8691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9358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49691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72630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前两条是用类表示文法规则的直接代价，愿不愿意付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这个代价，要看第三部分的四个条件。</a:t>
              </a:r>
            </a:p>
          </p:txBody>
        </p:sp>
      </p:grpSp>
      <p:grpSp>
        <p:nvGrpSpPr>
          <p:cNvPr id="38" name="c2-bullets-1"/>
          <p:cNvGrpSpPr/>
          <p:nvPr/>
        </p:nvGrpSpPr>
        <p:grpSpPr>
          <a:xfrm>
            <a:off x="6240780" y="1548765"/>
            <a:ext cx="4715828" cy="1682115"/>
            <a:chOff x="6240780" y="1548765"/>
            <a:chExt cx="4715828" cy="1682115"/>
          </a:xfrm>
        </p:grpSpPr>
        <p:sp>
          <p:nvSpPr>
            <p:cNvPr id="29" name="TextBox 29"/>
            <p:cNvSpPr txBox="1"/>
            <p:nvPr/>
          </p:nvSpPr>
          <p:spPr>
            <a:xfrm>
              <a:off x="6240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248400" y="193452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98908" y="190309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需要解释执行的句子能表示成一棵抽象语法树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248400" y="2279332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98908" y="224790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一些重复出现的问题可以用一种简单的语言来表达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248400" y="262413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98908" y="25927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这门语言的文法比较简单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248400" y="2968942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98908" y="293751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执行效率不是关键问题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248400" y="3362325"/>
            <a:ext cx="5410200" cy="1998345"/>
            <a:chOff x="6248400" y="3362325"/>
            <a:chExt cx="5410200" cy="1998345"/>
          </a:xfrm>
        </p:grpSpPr>
        <p:sp>
          <p:nvSpPr>
            <p:cNvPr id="39" name="Rectangle 39"/>
            <p:cNvSpPr/>
            <p:nvPr/>
          </p:nvSpPr>
          <p:spPr>
            <a:xfrm>
              <a:off x="6248400" y="3362325"/>
              <a:ext cx="5410200" cy="1998345"/>
            </a:xfrm>
            <a:prstGeom prst="roundRect">
              <a:avLst>
                <a:gd name="adj" fmla="val 6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3495675"/>
              <a:ext cx="47625" cy="17316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96050" y="35718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86258" y="3607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7078" y="360711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四条里缺一条就别用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8430" y="396811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文法规则上百条、或者每秒要解释几万个句子，都应该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直接上成熟的语法分析工具，不要手写解释器类。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把需求写成文法试试：写得出十几条规则就能用，写着写着规则爆炸，就说明这不是解释器模式的活。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优缺点、适用环境与实际应用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实际应用，以及不必自己写的那些场合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模式的典型用武之地在编译器和源码处理工具。日常要解析数学公式时，直接用现成的包更划算。</a:t>
              </a:r>
            </a:p>
          </p:txBody>
        </p:sp>
      </p:grpSp>
      <p:grpSp>
        <p:nvGrpSpPr>
          <p:cNvPr id="25" name="c1-bullets-1"/>
          <p:cNvGrpSpPr/>
          <p:nvPr/>
        </p:nvGrpSpPr>
        <p:grpSpPr>
          <a:xfrm>
            <a:off x="526161" y="1977866"/>
            <a:ext cx="4616767" cy="2221135"/>
            <a:chOff x="526161" y="1977866"/>
            <a:chExt cx="4616767" cy="2221135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三类典型应用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0409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23444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231695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面向对象语言写的编译器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1532" y="266414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5936" y="2595562"/>
              <a:ext cx="3037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Smalltalk 的编译器就大量使用了这个模式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287750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1745" y="291784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4293" y="289036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基于语法树的源码处理工具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1532" y="323754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15936" y="3169920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Eclipse AST 属于 Eclipse JDT，用来表示 Java 语言的语法结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构，用户可以扩展出自己的文法规则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67188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1745" y="371222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293" y="368474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给语言加一点新语法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1532" y="403193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5936" y="396430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数学表达式解析器、正则表达式解析器都属于这一类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5923598" y="1954530"/>
            <a:ext cx="5735002" cy="2360295"/>
            <a:chOff x="5923598" y="1954530"/>
            <a:chExt cx="5735002" cy="2360295"/>
          </a:xfrm>
        </p:grpSpPr>
        <p:sp>
          <p:nvSpPr>
            <p:cNvPr id="26" name="Rectangle 26"/>
            <p:cNvSpPr/>
            <p:nvPr/>
          </p:nvSpPr>
          <p:spPr>
            <a:xfrm>
              <a:off x="5923598" y="1954530"/>
              <a:ext cx="5735002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0176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6879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28944" y="2622232"/>
              <a:ext cx="1100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Expression4J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20559" y="2515552"/>
              <a:ext cx="37917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Java 的开源数学公式解析框架。支持实数与复数运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算、自定义函数与文法、函数集和 XML 配置文件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923598" y="302323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923598" y="3027998"/>
              <a:ext cx="573500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28944" y="3266122"/>
              <a:ext cx="297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Jep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20559" y="3159442"/>
              <a:ext cx="38450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Mathematical Expression Parser。输入一个字符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串公式就能立即求解，支持自定义变量、常量和函数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23598" y="366712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8944" y="3803332"/>
              <a:ext cx="980694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JbcParser、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Symja、MESP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0559" y="3910012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同类的数学表达式解析器，功能和使用方式接近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923598" y="1954530"/>
              <a:ext cx="5735002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410450" y="195453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2"/>
          <p:cNvGrpSpPr/>
          <p:nvPr/>
        </p:nvGrpSpPr>
        <p:grpSpPr>
          <a:xfrm>
            <a:off x="5923598" y="4500562"/>
            <a:ext cx="5735002" cy="1564958"/>
            <a:chOff x="5923598" y="4500562"/>
            <a:chExt cx="5735002" cy="1564958"/>
          </a:xfrm>
        </p:grpSpPr>
        <p:sp>
          <p:nvSpPr>
            <p:cNvPr id="41" name="Rectangle 41"/>
            <p:cNvSpPr/>
            <p:nvPr/>
          </p:nvSpPr>
          <p:spPr>
            <a:xfrm>
              <a:off x="5923598" y="4500562"/>
              <a:ext cx="573500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33122" y="463391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65532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56693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66941" y="474392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解析数学公式不必自己写解释器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58294" y="5096351"/>
              <a:ext cx="509104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这几类工具统称数学表达式解析器（Math Expression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Parser，MEP）。它们能解释相当复杂的文法，用起来简单、效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率也好。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36792" cy="2997517"/>
            <a:chOff x="667512" y="1835468"/>
            <a:chExt cx="63367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与相关模式的分界，以及自测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语法树天然是组合结构，所以这几个模式常常一起出现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四个近邻的对比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四条易错点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自测十二题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36176" cy="909257"/>
            <a:chOff x="520446" y="342900"/>
            <a:chExt cx="2936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与相关模式的分界，以及自测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与四个近邻的分界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90510" cy="293370"/>
            <a:chOff x="525780" y="1548765"/>
            <a:chExt cx="78905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这四个模式不是和解释器二选一的关系，更多是配合着用。考题问的是各自负责哪一段。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33400" y="1954530"/>
            <a:ext cx="11125200" cy="2577465"/>
            <a:chOff x="533400" y="1954530"/>
            <a:chExt cx="11125200" cy="257746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828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9095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和解释器的关系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8149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分界在哪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622232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组合（第 22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63787" y="262223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抽象语法树就是一棵组合结构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773228" y="2394585"/>
              <a:ext cx="4875848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69049" y="2515552"/>
              <a:ext cx="43860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非终结符相当于 Composite，终结符相当于 Leaf。组合关心部分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与整体一致对待，解释器关心每个结点代表哪条文法规则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0232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02799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3159442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享元（第 26 讲）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63787" y="315944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用来共享终结符实例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69049" y="3159442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同一个终结符在长句子里反复出现，共享这些实例能省下大量对象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4537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589972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迭代器（第 33 讲）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63787" y="358997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用来遍历语法树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69049" y="358997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解释器负责解释单个结点，遍历顺序可以交给迭代器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883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888105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126230"/>
              <a:ext cx="1447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访问者（第 3A 讲）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63787" y="412623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把操作从结点类里搬出去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73228" y="3897630"/>
              <a:ext cx="4875848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9049" y="4019550"/>
              <a:ext cx="443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一棵树要做求值、打印、类型检查多种处理时，访问者比给每个结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点类都加方法省事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954530"/>
              <a:ext cx="11125200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53678" y="195453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58940" y="195453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ompare-2"/>
          <p:cNvGrpSpPr/>
          <p:nvPr/>
        </p:nvGrpSpPr>
        <p:grpSpPr>
          <a:xfrm>
            <a:off x="533400" y="4717732"/>
            <a:ext cx="11125200" cy="1644968"/>
            <a:chOff x="533400" y="4717732"/>
            <a:chExt cx="11125200" cy="1644968"/>
          </a:xfrm>
        </p:grpSpPr>
        <p:sp>
          <p:nvSpPr>
            <p:cNvPr id="36" name="Rectangle 36"/>
            <p:cNvSpPr/>
            <p:nvPr/>
          </p:nvSpPr>
          <p:spPr>
            <a:xfrm>
              <a:off x="533400" y="4717732"/>
              <a:ext cx="5314950" cy="1644968"/>
            </a:xfrm>
            <a:prstGeom prst="roundRect">
              <a:avLst>
                <a:gd name="adj" fmla="val 8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851082"/>
              <a:ext cx="47625" cy="13782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8096" y="49449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2955" y="53435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9546" y="528304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关心的是树形结构本身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82955" y="566356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9546" y="560308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叶子和容器对外表现一致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2955" y="598360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9546" y="59231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不关心结点代表什么含义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43650" y="4717732"/>
              <a:ext cx="5314950" cy="1644968"/>
            </a:xfrm>
            <a:prstGeom prst="roundRect">
              <a:avLst>
                <a:gd name="adj" fmla="val 8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53175" y="4851082"/>
              <a:ext cx="47625" cy="13782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8346" y="494490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解释器模式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93205" y="53435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9796" y="528304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关心的是句子的含义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93205" y="566356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796" y="560308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每个结点对应一条文法规则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93205" y="598360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9796" y="59231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树形结构是顺带用上的手段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895975" y="533971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49315" y="5474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易混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 · 与相关模式的分界，以及自测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四条容易记反的地方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93495"/>
            <a:chOff x="533400" y="1524000"/>
            <a:chExt cx="5410200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8666" y="176736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以为模式负责词法和语法分析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模式只解释已经建好的语法树。把字符串切成记号、再拼成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树，是客户端或环境类的事，不在模式的四个角色里。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002280"/>
            <a:ext cx="5410200" cy="1564958"/>
            <a:chOff x="533400" y="3002280"/>
            <a:chExt cx="5410200" cy="1564958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13563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2061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593" y="32418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8666" y="324659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把终结符和非终结符记反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096" y="359806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能继续分解的是非终结符，画在树的非叶子位置；不能再分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解的是终结符，画在叶子位置。终结符类的数量通常远少于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非终结符类。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752975"/>
            <a:ext cx="5410200" cy="1564958"/>
            <a:chOff x="533400" y="4752975"/>
            <a:chExt cx="5410200" cy="1564958"/>
          </a:xfrm>
        </p:grpSpPr>
        <p:sp>
          <p:nvSpPr>
            <p:cNvPr id="21" name="Rectangle 21"/>
            <p:cNvSpPr/>
            <p:nvPr/>
          </p:nvSpPr>
          <p:spPr>
            <a:xfrm>
              <a:off x="533400" y="4752975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886325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49568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5543" y="49925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76744" y="499633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环境类不是必须有的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096" y="5347811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五个角色里只有抽象表达式一定要写。文法简单、解释过程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不需要共享状态时，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Context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可以整个省掉，第四部分的实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例就把它并进了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Calculator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293495"/>
            <a:chOff x="6248400" y="1524000"/>
            <a:chExt cx="5410200" cy="129349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0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6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33666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把它归到对象行为型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3096" y="2119789"/>
              <a:ext cx="47484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解释器和模板方法是 GoF 二十三个模式里仅有的两个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类行为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模式，其余行为型模式都是对象行为型。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3002280"/>
            <a:ext cx="5410200" cy="1293495"/>
            <a:chOff x="6248400" y="3002280"/>
            <a:chExt cx="5410200" cy="1293495"/>
          </a:xfrm>
        </p:grpSpPr>
        <p:sp>
          <p:nvSpPr>
            <p:cNvPr id="35" name="Rectangle 35"/>
            <p:cNvSpPr/>
            <p:nvPr/>
          </p:nvSpPr>
          <p:spPr>
            <a:xfrm>
              <a:off x="6248400" y="300228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313563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0335" y="32061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6593" y="32418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易错四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33666" y="324659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以为一条规则只能有一个解释器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3096" y="359806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一个解释器对象一般处理一条文法规则，但一条规则可以有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多种解释，对应多个解释器对象。反过来的说法才是对的。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248400" y="4481512"/>
            <a:ext cx="5410200" cy="1836420"/>
            <a:chOff x="6248400" y="4481512"/>
            <a:chExt cx="5410200" cy="1836420"/>
          </a:xfrm>
        </p:grpSpPr>
        <p:sp>
          <p:nvSpPr>
            <p:cNvPr id="42" name="Rectangle 42"/>
            <p:cNvSpPr/>
            <p:nvPr/>
          </p:nvSpPr>
          <p:spPr>
            <a:xfrm>
              <a:off x="6248400" y="4481512"/>
              <a:ext cx="5410200" cy="1836420"/>
            </a:xfrm>
            <a:prstGeom prst="roundRect">
              <a:avLst>
                <a:gd name="adj" fmla="val 622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53188" y="5299712"/>
              <a:ext cx="200023" cy="200023"/>
              <a:chOff x="6453188" y="5299712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453188" y="52997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86538" y="53663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511" y="5168741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三句话判别：问题能不能写成小语言的句子，文法是不是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只有十几条规则，效率能不能让步。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解释器模式的定义怎么说？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定义一门语言的文法，并建解释器解释它的句子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抽象表达式、终结符、非终结符、环境类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非终结符的解释为什么递归？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它的组成元素还是表达式，要逐层解释下去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它按目的和范围各属哪一类？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 + 类模式，与模板方法同类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终结符和非终结符怎么分？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不能再分解的是终结符，还能分解的是非终结符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语法树的叶子结点是什么？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终结符表达式类的实例，非叶子是非终结符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答不上来的题，回到对应的正文页把那张类图或那段代码再读一遍。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环境类里存什么？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解释器之外的全局信息，如变量名到值的映射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新增一条文法规则要改哪些类？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只加一个表达式类，原有的都不改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类的个数为什么会膨胀？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每条文法规则至少要对应一个类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建语法树算模式的一部分吗？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不算，由客户端或环境类完成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两个主要缺点是什么？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复杂文法难维护，执行效率较低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语法树用到了哪个结构型模式？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509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组合模式，非终结符相当于 Composite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78465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判题题眼：看见“为一类反复出现的问题定一套语法，再按这套语法执行”，就该想到解释器模式。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解释器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7347560" cy="1432845"/>
            <a:chOff x="533400" y="1533525"/>
            <a:chExt cx="7347560" cy="143284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解释器模式为一门简单语言定义文法，并建一个解释器来解释这门语言里的句子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707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一条文法规则对应一个类：不能再分解的写成终结符表达式，还能分解的写成非终结符表达式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非终结符既继承抽象表达式又聚合抽象表达式，语法树靠这一对关系一层层长起来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客户端负责建树，之后只对根结点调一次解释操作，结果从叶子逐层返回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优点是文法易改易扩展，代价是类的个数膨胀和执行效率偏低，适用面因此很窄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923" y="3102769"/>
            <a:ext cx="11131677" cy="622744"/>
            <a:chOff x="526923" y="3102769"/>
            <a:chExt cx="11131677" cy="622744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31027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四个角色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51800" y="3102769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抽象表达式、终结符表达式、非终结符表达式、环境类，客户类负责把它们装配成一棵树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747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923" y="34761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四个近邻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51800" y="3476149"/>
              <a:ext cx="6198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组合（第 22 讲）、享元（第 26 讲）、迭代器（第 33 讲）、访问者（第 3A 讲）</a:t>
              </a:r>
            </a:p>
          </p:txBody>
        </p:sp>
      </p:grpSp>
      <p:grpSp>
        <p:nvGrpSpPr>
          <p:cNvPr id="46" name="c1-card-3"/>
          <p:cNvGrpSpPr/>
          <p:nvPr/>
        </p:nvGrpSpPr>
        <p:grpSpPr>
          <a:xfrm>
            <a:off x="533400" y="3840480"/>
            <a:ext cx="11125200" cy="1883092"/>
            <a:chOff x="533400" y="3840480"/>
            <a:chExt cx="11125200" cy="1883092"/>
          </a:xfrm>
        </p:grpSpPr>
        <p:sp>
          <p:nvSpPr>
            <p:cNvPr id="29" name="Rectangle 29"/>
            <p:cNvSpPr/>
            <p:nvPr/>
          </p:nvSpPr>
          <p:spPr>
            <a:xfrm>
              <a:off x="533400" y="3840480"/>
              <a:ext cx="11125200" cy="1883092"/>
            </a:xfrm>
            <a:prstGeom prst="roundRect">
              <a:avLst>
                <a:gd name="adj" fmla="val 7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973830"/>
              <a:ext cx="47625" cy="16163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02145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7044" y="405431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68006" y="406098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36626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4018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378166"/>
              <a:ext cx="6652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张欣佳第 27 页把两个类到接口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Node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的实现关系画成实线，规范画法是虚线加空心三角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65201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6866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662964"/>
              <a:ext cx="67794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陈伟第 5 页把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RepetitionExpr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ReeetitonExpr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，同一张图还把属性画在了操作下方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2475" y="493680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82" y="497243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2223" y="4947761"/>
              <a:ext cx="5464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陈伟第 4 页 literal 规则跳过了 c、d，按 GoF 原例应为 'a' | 'b' | 'c'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52475" y="522160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4382" y="52572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2223" y="5232559"/>
              <a:ext cx="5745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张欣佳第 6 页文法没交代结合性，第 21 页环境类用的是原始类型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HashMap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77670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用得上这个模式的入口条件：同一类问题反复出现，能写成小语言的句子，文法简单，效率可以让步。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解释器模式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2">
  <a:themeElements>
    <a:clrScheme name="sdp_3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2026-09-19T09:13:22Z</dcterms:created>
  <dcterms:modified xsi:type="dcterms:W3CDTF">2026-09-19T09:13:22Z</dcterms:modified>
  <cp:category/>
  <cp:contentStatus/>
</cp:coreProperties>
</file>